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74" r:id="rId27"/>
    <p:sldId id="275" r:id="rId28"/>
    <p:sldId id="276" r:id="rId29"/>
    <p:sldId id="258" r:id="rId7"/>
    <p:sldId id="259" r:id="rId8"/>
    <p:sldId id="260" r:id="rId9"/>
    <p:sldId id="261" r:id="rId10"/>
    <p:sldId id="262" r:id="rId11"/>
    <p:sldId id="263" r:id="rId12"/>
    <p:sldId id="264" r:id="rId13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 Planview (48)</c:v>
                </c:pt>
              </c:strCache>
            </c:strRef>
          </c:tx>
          <c:spPr>
            <a:solidFill>
              <a:srgbClr val="9FB8E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Compl.</c:v>
                </c:pt>
                <c:pt idx="4">
                  <c:v>Not Assd.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29-4DF8-9406-B0EAD8BAA1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10/9 (48)</c:v>
                </c:pt>
              </c:strCache>
            </c:strRef>
          </c:tx>
          <c:spPr>
            <a:solidFill>
              <a:srgbClr val="0047B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Compl.</c:v>
                </c:pt>
                <c:pt idx="4">
                  <c:v>Not Assd.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2</c:v>
                </c:pt>
                <c:pt idx="3">
                  <c:v>9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29-4DF8-9406-B0EAD8BAA1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0B-4CAB-A399-B8A4B170D376}"/>
              </c:ext>
            </c:extLst>
          </c:dPt>
          <c:dPt>
            <c:idx val="1"/>
            <c:bubble3D val="0"/>
            <c:spPr>
              <a:solidFill>
                <a:srgbClr val="E6A81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0B-4CAB-A399-B8A4B170D376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A0B-4CAB-A399-B8A4B170D376}"/>
              </c:ext>
            </c:extLst>
          </c:dPt>
          <c:dPt>
            <c:idx val="3"/>
            <c:bubble3D val="0"/>
            <c:spPr>
              <a:solidFill>
                <a:srgbClr val="0047B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A0B-4CAB-A399-B8A4B170D376}"/>
              </c:ext>
            </c:extLst>
          </c:dPt>
          <c:dPt>
            <c:idx val="4"/>
            <c:bubble3D val="0"/>
            <c:spPr>
              <a:solidFill>
                <a:srgbClr val="7A828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7A0B-4CAB-A399-B8A4B170D376}"/>
              </c:ext>
            </c:extLst>
          </c:dPt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Completed</c:v>
                </c:pt>
                <c:pt idx="4">
                  <c:v>Pipeline / 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2</c:v>
                </c:pt>
                <c:pt idx="3">
                  <c:v>9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0B-4CAB-A399-B8A4B170D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07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">
    <p:bg>
      <p:bgPr>
        <a:solidFill>
          <a:srgbClr val="0047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_sept/assets/nw_wordmark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927080" y="5989320"/>
            <a:ext cx="566928" cy="5577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— Monthly Build Portfolio Review  ·  September 2026 (status as of 10/9/2026)  ·  Nationwide Internal Use Only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_sept/assets/rock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0" y="1417320"/>
            <a:ext cx="3566160" cy="29352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914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BBD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13232" y="1371599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Build Portfolio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Review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31520" y="3456432"/>
            <a:ext cx="2194560" cy="0"/>
          </a:xfrm>
          <a:prstGeom prst="line">
            <a:avLst/>
          </a:prstGeom>
          <a:noFill/>
          <a:ln w="19050">
            <a:solidFill>
              <a:srgbClr val="7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 |  Monthly Delivery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4041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month: </a:t>
            </a:r>
            <a:r>
              <a:rPr lang="en-US" sz="1150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      </a:t>
            </a:r>
            <a:r>
              <a:rPr lang="en-US" sz="1150" b="1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date: </a:t>
            </a:r>
            <a:r>
              <a:rPr lang="en-US" sz="1150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10/9/2026 (10/12 weekly)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September go-lives landed on schedule, and Red projects fell from four to two.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MIX: SEPTEMBER VS. CURRENT (10/9)</a:t>
            </a:r>
            <a:endParaRPr lang="en-US" sz="9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463040"/>
          <a:ext cx="37490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310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48 Planview items. Current status from the 10/12 weekly; pipeline, closed and overhead items shown as Not Assd.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315968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DELIVERY RISKS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315968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(Red):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is 46% complete with 289 scenarios left, and Finance has 10 high defects open ahead of the 10/21 dark launch and 11/11 go-live.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/ Batch Stabilization (Red):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ECIF data-integrity work is paused until a revised estimate is approved; part of the work moves to early 2027.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Optimization (Yellow):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was paused over loss-ratio concerns; MVP1 and MVP2 now release together on 1/13/2027.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Medical on GIN (Yellow):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capacity across three delivery teams puts the 2/10/2027 release at risk.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Claims AI (Yellow):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dependent-team timing could compress testing before the 11/11 go-live.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813816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AND EARLY OCTOBER ACHIEVEMENTS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38160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 Improvements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went live 9/16.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Consultation File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delivered to ImageRight 9/16; project complete.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Questions MVP3 (Find a Vet)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went live 9/16, with warranty release 9/23.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Segmentation R9 (NV, AK, ND)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Model Law Reboot forms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went live 9/16.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email ingestion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went live 10/7, replacing the legacy ImageRight email process.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813816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GO-LIVES / MILESTONES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138160" y="40050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10/14: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Segmentation R10 (RI, DC, CT); GIN scalability Phase 1.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10/21: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dark launch.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Portal, TaiLWIND Phase 1, PEC, Multi Denial Code, 2026 GIN Update, Pricing R11, GIN API Claims.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12/9: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MPPC to MPI dark launch; GIN API Members and Accounts.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1/13/2027: 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Optimization MVP1 and MVP2.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502920" y="62362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 from the 10/12 weekly (status dates 9/25 to 10/9/2026); September Planview shown for comparison.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91" name="Text 11"/>
          <p:cNvSpPr/>
          <p:nvPr/>
        </p:nvSpPr>
        <p:spPr>
          <a:xfrm>
            <a:off x="50292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 UPDATES</a:t>
            </a:r>
            <a:endParaRPr lang="en-US" sz="950" dirty="0"/>
          </a:p>
        </p:txBody>
      </p:sp>
      <p:sp>
        <p:nvSpPr>
          <p:cNvPr id="92" name="Text 12"/>
          <p:cNvSpPr/>
          <p:nvPr/>
        </p:nvSpPr>
        <p:spPr>
          <a:xfrm>
            <a:off x="502920" y="40050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Portal: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IAM is green for the 10/15 release. Year-end spend is forecast at $3.7M, $0.4M under budget, and the underspend returns to the portfolio.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migration: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650,790 policies (86.6%, $599M original premium) are now on GIN; manual migration goes live 2/10/2027.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refresh complete:</a:t>
            </a:r>
            <a:r>
              <a:rPr lang="en-US" sz="830" dirty="0" b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71 servers upgraded by 9/29, ahead of Open Enrollment.</a:t>
            </a:r>
            <a:endParaRPr lang="en-US" sz="830" dirty="0"/>
          </a:p>
        </p:txBody>
      </p:sp>
      <p:sp>
        <p:nvSpPr>
          <p:cNvPr id="93" name="Text 11"/>
          <p:cNvSpPr/>
          <p:nvPr/>
        </p:nvSpPr>
        <p:spPr>
          <a:xfrm>
            <a:off x="4315968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950" dirty="0"/>
          </a:p>
        </p:txBody>
      </p:sp>
      <p:sp>
        <p:nvSpPr>
          <p:cNvPr id="94" name="Text 12"/>
          <p:cNvSpPr/>
          <p:nvPr/>
        </p:nvSpPr>
        <p:spPr>
          <a:xfrm>
            <a:off x="4315968" y="40050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 i="1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Cindy to provide the PPT and spend summary.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in September: eight releases reached production.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 Date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Statement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Leader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Add-A-Pet Improvements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b="1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Draft: </a:t>
                      </a:r>
                      <a:r>
                        <a:rPr lang="en-US" sz="800" dirty="0" b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Streamlines the add-a-pet quote flow to boost conversion by showing the right products and eliminating redundant data entry. </a:t>
                      </a:r>
                      <a:r>
                        <a:rPr lang="en-US" sz="800" dirty="0" b="1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Kothandaraman, Rekha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FirstVet Consultation File API (ImageRight change)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1031012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b="1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Draft: </a:t>
                      </a:r>
                      <a:r>
                        <a:rPr lang="en-US" sz="800" dirty="0" b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Delivers FirstVet telemedicine consultation files into ImageRight for claims use, supporting the September telemedicine launch. </a:t>
                      </a: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Kothandaraman, Rekha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Enhancement - MPPC UW Questions MVP3 (Find a Vet)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 (warranty 9/23)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b="1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provide value statement.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Barbour, Kinney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Pricing Segmentation Sophistication (R9: NV, AK, ND)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provide value statement.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Barbour, Kinney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Model Law Reboot (REN form updates)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1029817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Deployed; closed for 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b="1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the September Planview list. </a:t>
                      </a:r>
                      <a:r>
                        <a:rPr lang="en-US" sz="800" dirty="0" b="1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provide value statement.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Dinesh, Venkata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Portal Stability Work (reliability releases)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1029256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9/16, 9/23, 9/29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b="1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Draft: </a:t>
                      </a:r>
                      <a:r>
                        <a:rPr lang="en-US" sz="800" dirty="0" b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Fixes Member Portal login, payment and claim-submission reliability issues and removes redundant API calls. </a:t>
                      </a: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Dinesh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Payroll Billing Defect Fixes, Wave 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provide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9/8 and 9/17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b="1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Draft: </a:t>
                      </a:r>
                      <a:r>
                        <a:rPr lang="en-US" sz="800" dirty="0" b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3 planned 31 payroll billing defect fixes for production. </a:t>
                      </a:r>
                      <a:r>
                        <a:rPr lang="en-US" sz="800" dirty="0" b="1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count and value.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Kothandaraman, Rekha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Refresh the Windows 2016 Server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1029977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9/29/2026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b="1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Draft: </a:t>
                      </a:r>
                      <a:r>
                        <a:rPr lang="en-US" sz="800" dirty="0" b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71 servers upgraded ahead of Open Enrollment. </a:t>
                      </a: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Buddha, Chalam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status from the 10/12 weekly and its release calendar. Draft value statements come from PM descriptions; orange italic marks items for PM input.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and 2027 Pet portfolio roadmap.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i="1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Cindy to add the roadmap (from Sandy).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 program and portfolio spend.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AND SPEND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 i="1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Cindy to add the PPT and spend slide.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Red and seven Yellow projects need attention as of 10/9; Red fell from four to two.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47120" cy="512064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(10/9)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PPT Payroll Billing Employer Experience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1029802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46% complete (250 of 539 scenarios); 10 high Finance defects open; IAM green for 10/15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Dark launch 10/21; go-live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Portal and GIN Stability (GIN / Batch Stabilization)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ECIF data-integrity work on hold pending revised estimate approval; Kafka releases move to 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12/9/2026; Kafka 2/10 and 3/18/2027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Underwriting Question Optimization for MPI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1030240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MVP1 October release paused for loss-ratio review; MVP1 and MVP2 combined; holiday testing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MVP1/MVP2 1/13/2027; MVP3 3/10/2027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MPPC to MPI Conversion at Notice of Cancel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1031134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Holiday testing coverage; Steering Committee approved release plan 10/1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Dark launch 12/9/2026; go-live 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Portal Stability Work (Portal Stabilization)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1029256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scope delivered; Q4 scope awaiting funding decision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Cap/Scalability to 1.5-2M policies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built; performance and regression testing delayed by a resource gap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10/14/2026; Phase 2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Unapproved States Product Build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1030587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and TA roles pending; SOW leadership review 10/16; possible 2026 underspend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 (Cognizant kickoff 10/30)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– PPT – Major Medical – New Business on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1014368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 completion risk across EW, MiM and AT 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TaiLWIND Phase 1 (Claims AI)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1029859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Dependent-team timing; processing service about two weeks behind; phased testing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172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RAG = September Planview. Current = 10/12 weekly status (status dates 9/25 to 10/9/2026).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projects are on track, and PEC recovered from Yellow to Green.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(10/9)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- PPT - REN2GIN Policy migration-B2C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1014865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migration SOW final 9/11; 650,790 policies (86.6%) migrated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migration go-live 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MM to MM Non CA Migration Capability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1030589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discovery complete 10/6; development through 11/13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API v5 Upgrades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1029979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APIs in QA/E2E; Members and Accounts APIs in DDIT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11/11/2026; Members/Accounts 12/9/2026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PEC Product and Underwriting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validation complete 10/6; dark launch 10/9; E2E on track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Enhancement - MPPC UW Questions MVP3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MVP3 live 9/16, warranty 9/23; MVP3.5 in development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MVP3.5 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Enhance Multi Denial Code Claims Z160/Z151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and E2E testing complete 10/7; UAT by 10/30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Pricing Segmentation Sophistication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R9 live 9/16; R10 (RI, DC, CT) 10/14; R11 (AL) 11/11; other states to 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R10 10/14/2026; R11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Enhancement for Commission Reporting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1029608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Kickoff 8/26; E2E design due 10/23; line capacity moved target to January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1/22/2027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2026 GIN Upgrades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complete 10/10; single deployment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19048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RAG = September Planview. Current = 10/12 weekly status (status dates 9/25 to 10/9/2026).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projects are complete, including three that finished in September.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(10/9)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FirstVet Consultation File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1031012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8/19; ImageRight file transfer live 9/16; minor fixes 10/14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Add-A-Pet Improvements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release 9/16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Refresh the Windows 2016 Server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1029977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71 servers upgraded by 9/29, ahead of Open Enrollment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9/29/2026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Non-Insurance Pet Protection Bundle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1024485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release 7/15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7/15/2026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Paperless E-Delivery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1026960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MMP2 warranty and one-time data load complete 7/31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7/31/2026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Data Center Transition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1022011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cutover 7/24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7/24/2026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2026 Product Rate Refresh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1029254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10/12 weekly; September source reported DDIT, UAT and production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QEC A/B Testing &amp; Tool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1028060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10/12 weekly; treated as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NJ MPPC New Product and Rate Capping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1029148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10/12 weekly; treated as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19048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RAG = September Planview. Current = 10/12 weekly status (status dates 9/25 to 10/9/2026). Items not in the 10/12 weekly are treated as complete pending PM confirmation.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Overhead, on-hold, carryover, closed and reserve items are kept separate from delivery health.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(10/9)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– PPT Program (Program Overhead)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1014117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Overhead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overhead work item; Employer Portal status reported under 1029802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Move Informatica Powercenter, SQL &amp; Windows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 halt after September release; estimates under 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12/15/2026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Callback Widget for PET Tool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Carryover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Deferred to 2027 to avoid Open Enrollment operational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(TBD)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Small Projects allocation for MM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1015021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allocation bucket, not a delivery item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Data Quality Submission Chatbot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1032487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10/12 weekly; treated as closed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DNS &amp; Regi Updates Moniker to CSCglobal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1031784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10/12 weekly; treated as closed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Perks Page + uplift in Portal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10/12 weekly; treated as closed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i="1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IT Operational Risk Reserve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bucket, not a delivery item; not in 10/12 weekly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Portfolio Readiness OTL Reserve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bucket, not a delivery item; not in 10/12 weekly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190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RAG = September Planview. Current = 10/12 weekly status (status dates 9/25 to 10/9/2026). Items not in the 10/12 weekly are treated as closed pending PM confirmation.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funded pipeline items are in Plan to Build.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(10/9)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AR Report vs. GL inconsistencies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7/28; FinTech engaged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10/23/2026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Claims History Report for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7/28; GIN reporting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Enable PED Override for MPPC Payroll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1030826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Phone Quote Email (BPG2)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MA Junk Fee Regulation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1029723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 from the Compliance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10/2/2026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Unum Cobranding Capabilities for PET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1032297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10/9/2026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36752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RAG = September Planview. Current = 10/12 weekly status (status dates 9/25 to 10/9/2026). Pipeline stage from the 10/12 weekly backlog pages; no delivery RAG until build starts.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pipeline items are ready for hand-off to delivery teams.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(10/9)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Sales Conversion by Channel Reporting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for Hand-off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 Commission Reporting (1029608); likely carryover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8/21/2026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Analytics Model Outputs S3 Bucket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1030239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for Hand-off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8/21/2026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Enable Policy Search in EID in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for Hand-off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8/24/2026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BPG8 Task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for Hand-off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Hand-off to delivery scheduled 9/11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8/24/2026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MA MPPC Dec Page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for Hand-off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Remove MPPC Utilization Level Capping PA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for Hand-off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approved 7/28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to Build target 8/24/2026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36752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RAG = September Planview. Current = 10/12 weekly status (status dates 9/25 to 10/9/2026). Pipeline stage from the 10/12 weekly backlog pages; no delivery RAG until build starts.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improved: Red fell from four to two, and nine projects are now complete.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3152" cy="86868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0936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95728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95728" y="1188720"/>
            <a:ext cx="73152" cy="8686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05456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23744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88536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88536" y="1188720"/>
            <a:ext cx="73152" cy="86868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98264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A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16552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73152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072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74152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74152" y="1188720"/>
            <a:ext cx="73152" cy="86868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3880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02168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66960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66960" y="1188720"/>
            <a:ext cx="73152" cy="868680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76688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82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094976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Other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286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DISTRIBUTION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251460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502920" y="4892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MOVEMENT: SEPTEMBER TO 10/9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5120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Improved: </a:t>
            </a:r>
            <a:r>
              <a:rPr lang="en-US" sz="900" b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Declined: </a:t>
            </a:r>
            <a:r>
              <a:rPr lang="en-US" sz="900" b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Completed: </a:t>
            </a:r>
            <a:r>
              <a:rPr lang="en-US" sz="900" b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Unchanged: </a:t>
            </a:r>
            <a:r>
              <a:rPr lang="en-US" sz="900" b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Reclassified or not RAG-tracked: </a:t>
            </a:r>
            <a:r>
              <a:rPr lang="en-US" sz="900" b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2920" y="5715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September Planview with the 10/12 weekly for the same 48 items. Reclassified covers items Planview marked Completed that are still active, pipeline items, overhead, reserves, on-hold and closed items.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4343400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RISKS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343400" y="250545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/ Batch Stabilization: Green to Red (ECIF data integrity on hold).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Stability: Green to Yellow (Q4 scope decision).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MPPC to MPI and Major Medical on GIN: Green to Yellow (testing and line capacity).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43434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ITEMS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343400" y="373075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(PPT Payroll Billing Employer Experience)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/ Batch Stabilization (Portal and GIN Stability)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4343400" y="4846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YELLOW DELIVERY RISKS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343400" y="50566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Optimization: MVP1 and MVP2 combined for 1/13/2027.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Medical on GIN: line capacity for 2/10/2027.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TaiLWIND: dependent-team timing for 11/11.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8183880" y="22860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SUCCESSES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183880" y="250545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Add-A-Pet, FirstVet and MVP3 live 9/16.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R9 and Pet Model Law forms live 9/16.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email ingestion live 10/7.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dark launch 10/9; back to Green.</a:t>
            </a:r>
            <a:endParaRPr lang="en-US" sz="830" dirty="0"/>
          </a:p>
        </p:txBody>
      </p:sp>
      <p:sp>
        <p:nvSpPr>
          <p:cNvPr id="40" name="Text 37"/>
          <p:cNvSpPr/>
          <p:nvPr/>
        </p:nvSpPr>
        <p:spPr>
          <a:xfrm>
            <a:off x="8183880" y="3611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WATCHLIST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183880" y="382219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dark launch 10/21 and Finance production 10/23.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 release wave: seven projects scheduled.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testing coverage for Q1 2027 releases.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8183880" y="5166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IN FOCUS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183880" y="537667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Cindy to provide the PPT and spend summary.</a:t>
            </a:r>
            <a:endParaRPr lang="en-US" sz="8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hierarchy and reporting conventions keep the September view factual and auditable.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REFERENCES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1435608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Planview source (September comparison values)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https://nationwide-be.glean.com/api/v1/downloadchatfile/4a6d42aa59af4cfb915a23d20ee9a127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monthly deck (structure and August reference)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https://nationwide-be.glean.com/api/v1/downloadchatfile/7de8e6a82b7645d991dd40b812ae04bd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 weekly update (authoritative current status)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https://nationwide-be.glean.com/api/v1/downloadchatfile/bd397ec5813a4a798ef2bf594df7ff54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branding template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https://nationwide-be.glean.com/api/v1/downloadchatfile/6e51c3eb3505444c8de9c5104855bfdc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Build rocket logo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https://nationwide-be.glean.com/api/v1/downloadchatfile/85e0dcfcf8c34d26855c580f0365b378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38404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ASSUMPTIONS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041648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reporting month; current status from the 10/12 weekly (status dates 9/25 to 10/9/2026).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RAG = September Planview; Current = 10/12 weekly status.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not in the 10/12 weekly are shown as closed or completed and marked for PM confirmation.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items show their 10/12 backlog stage (Plan to Build, Ready for Hand-off, Carryover).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 (1014117) classified as program overhead per the 2027 annual planning workbook.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leads from the 10/12 weekly. Orange italic text marks placeholders.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309360" y="12344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DEFINITIONS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309360" y="1435608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track. Major milestones progressing as planned.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B58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completed successfully.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7A82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unavailable, planning-only, or data insufficient (supported source reasons only).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309360" y="324612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LEGEND &amp; DATA QUALITY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447288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statuses: Completed, In Progress, Upcoming. Dates appear only when supplied; none invented.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Planview items represented; nine current Red/Yellow projects have detail slides.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Detail-slide financials are as reported in the 10/12 weekly; not recalculated.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 September also lists weekly-tracked releases not in the September Planview list.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complete from September Planview where available; N/A where not supplied.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5486400"/>
            <a:ext cx="11247120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82296" cy="86868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55595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covers September 2026 with current status from the 10/12 weekly (status dates through 10/9/2026). Source fields are reported as supplied. Financial calculations are not modified or recalculated.      ·      Nationwide internal use only.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PPT Payroll Billing Employer Experience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administration for payroll employer groups, with payroll billing integrated into Finance (AR posting, GL posting and reconciliation).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Red. UAT is about two weeks behind plan. UAT is 46% complete (250 of 539 scenarios), with 68 defects closed in the past week. Finance testing improved to 50 passed, 0 failed and 10 pending, with 10 high defects open. IAM is green for the 10/15 release.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and Finance testing must finish ahead of the 10/21 portal dark launch and 10/23 Finance production deployment.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IAM, Finance and QE dependencies could delay testing further.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Should-have features moved to 6/30/2027 to protect the MVP.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9/18/2026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10/16/2026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10/16/2026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Revised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$4,111,000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$2,526,060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$1,162,654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Actuals +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$3,688,714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self-service administration for payroll employer groups.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2 to 4, Finance development and Bundle 5 and 6 DDIT complete (9/18).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testing and sign-offs complete for the 10/15 release.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spend forecast $3.7M, $0.4M under budget; underspend returns to the portfolio.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Dadgar, Ali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Nas, Victor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11/11/2026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195474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Portal and GIN Stability (GIN / Batch Stabilization)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GIN batch processing and ECIF data integrity, including moving agreement and party notifications from MQ to Kafka event streams.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Red. The Portal Stability and GIN batch hardening scope was completed by 9/30, and the budget overage was approved 9/25. The ECIF data-integrity effort is on hold until leadership approves a revised estimate. Data extract and ECN collapse work moves to 2027.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ECIF analysis delays hold up Kafka topic mapping, onboarding and development.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production releases move to 2/10/2027 and 3/18/2027.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ECIF estimate awaiting leadership approval (target 10/15).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$485,212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$134,110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stability and data integrity across GIN batch processing and ECIF.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Stability and GIN batch hardening scope completed 9/30.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overage approved 9/25.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ECIF confirmed the MQ-to-Kafka requirements phase can finish in 2026.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Wilson, Gary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12/9/2026 (Kafka work into 2027)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0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Underwriting Question Optimization for MPI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new business writings by simplifying point-of-sale underwriting and accelerating rule-based decisions.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Yellow. The business paused the MVP1 October release over loss-ratio concerns, then kept the original requirements and addressed the concern through business rules. MVP1 and MVP2 are now one release targeting production 1/13/2027; MVP3 targets 3/10/2027.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UAT and testing overlap Thanksgiving through New Year.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on the ESS team for Enterprise Authentication V3.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for remaining testing and release activities to be confirmed.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11/26/2026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11/26/2026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1/6/2027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1/6/2027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1/13/2027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$1,090,000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$529,525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$557,589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YE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$1,087,115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new business through simpler point-of-sale underwriting and faster rule-based decisions.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confirmed requirements unchanged; no scope change.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and MVP2 consolidated with the GIN Provider Information change for Claims.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MVP3 development progressing toward March 2027.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Kumar, Lalitha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Andrews, Sarah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1/13/2027 (MVP1/MVP2); 3/10/2027 (MVP3)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553919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MPPC to MPI Conversion at Notice of Cancel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1031134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cancelled MPPC policyholders conversion to MPI when their employer relationship ends.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Yellow. The team is working toward the 12/9/2026 dark launch and the 2/10/2027 production go-live. The Steering Committee approved the change requests, release plan and funding on 10/1. Holiday testing coverage and finalizing 2027 funding are the open risks.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testing overlaps and shared business and technology testers.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Authentication V3 needed for the UW Rules Engine API (not a release blocker).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funding beyond the approved amount still under evaluation.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10/28/2026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11/27/2026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1/29/2027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1/29/2027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12/9/2026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$441,003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$438,957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YE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$879,960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customers covered by offering MPI when MPPC coverage ends with an employer.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approved change requests, release plan and funding (10/1).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launch on track for 12/9/2026.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resource mitigation plan in progress.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Kumar, Lalitha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Wilson, Gary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2/10/2027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0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Portal Stability Work (Portal Stabilization)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1029256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Member Portal reliability: login, payments, claim submission, performance and code quality.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Yellow. All work identified for the current $75K budget was delivered by 9/30. Q4 scope (Portal on-premises database decommission) is defined but needs a funding decision, or a decision not to pursue Q4 work.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Q4 resources until scope and funding are decided.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 to plan resources for Q4.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resources allocated only through September.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9/29/2026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$74,653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reliable Member Portal login, payments and claim submission.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upgrade deployed 9/16.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payment and claim-submission reliability fixes deployed 9/16.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API calls removed 9/23; code cleanup and memory-leak fixes 9/29.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Gudino, Nidia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12/9/2026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0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GIN Cap/Scalability to 1.5-2M policies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1032177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GIN to support 1 to 2 million policies.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Yellow. Phase 1 development is complete. Performance and regression testing slipped because of an emergency offshore resource absence; an alternate team is helping finish by 10/12. Phase 2 long-term solutions target 11/11.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regression testing completion (10/12).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claim-transaction work pending business confirmation.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impact analysis in progress.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8/31/2026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10/12/2026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$172,318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$315,537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YE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growth to 1 to 2 million policies on GIN.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project plan and solution approach complete.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infrastructure upgrade and RS2SNF architecture complete.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lead identified (9/4).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Dinesh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Wilson, Gary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10/14/2026; 12/9/2026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0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Unapproved States Product Build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1030587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NY, unapproved migration states and legacy products in GIN.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Yellow. Staffing and the Cognizant start are delayed. An architect is assigned; PM and TA roles are pending. The SOW goes to leadership review 10/16, with the final SOW targeted 10/30. Part of this year's budget may return to the portfolio if work starts late.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2026 underspend of the $267K budget.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and TA roles not yet staffed.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 kickoff (10/30) depends on SOW approval.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10/30/2026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$216,571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Actuals +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$218,627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remaining states and legacy products onto GIN.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intake complete (8/10).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SOW complete (9/11).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assigned.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Dadgar, Ali (Interim)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Wilson, Gary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0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– Major Medical – New Business on GIN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1014368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Major Medical new business on GIN.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Yellow. DDIT completion across the EW, MiM and AT lines is at risk for the 2/10/2027 release. MiM committed based on a second developer. Delivery timing for change request Z-160 and reporting work is not yet final.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line capacity for the February 2027 timeline.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 capacity and commitment to the February release.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 prioritization.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12/23/2026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1/6/2027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1/29/2027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2/9/2027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$306,913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$502,717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Actuals +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$809,631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Major Medical new business onto the modern GIN platform.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 commitment received for the Partnership API workstream.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strategy prepared and being finalized.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Z-160 requirements being finalized.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Kulkarni, Shilpa Sachin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Wilson, Gary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0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TaiLWIND Phase 1 (Claims AI)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1029859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(10/9)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claims intake and document transformation across Pet claims workflows.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Yellow. Development continues with the REN, GIN, MiM, DMX and Portal teams. Dependent-team timing remains the risk: the GOP line committed to 10/15 and the processing service is trending about two weeks behind, so testing is phased.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Dependent-team timelines (SS, AT, GOP, DMX, MiM) to be agreed by 10/15.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metrics for leadership, model and operations to be defined by 10/30.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Cross-team access provisioning friction.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10/15/2026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10/15/2026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(10/12 WEEKLY, AS REPORTED)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 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$1,034,379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2026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$480,305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Actuals + 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$1,519,832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in the 10/12 weekly;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manual claims intake and builds a path to scalable claims automation.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(10/12 WEEKLY)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ingestion live 10/7, replacing the legacy ImageRight email process.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Transformation Service third production dark launch (10/8).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ingestion deployed (10/8); claim notification service 85% complete.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Kulkarni, Shilpa Sachin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dirty="0" b="1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Clausing, Dan (as of 10/9)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11/11/2026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285085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F0AB2B94E9164080AE6A7AF0D97188" ma:contentTypeVersion="9" ma:contentTypeDescription="Create a new document." ma:contentTypeScope="" ma:versionID="3b2a4e93513da2868a1dace0c5defd20">
  <xsd:schema xmlns:xsd="http://www.w3.org/2001/XMLSchema" xmlns:xs="http://www.w3.org/2001/XMLSchema" xmlns:p="http://schemas.microsoft.com/office/2006/metadata/properties" xmlns:ns2="2e1d4e07-6760-4f2a-9312-949aaba4a6da" xmlns:ns3="b7d811bb-603c-460a-9cfd-cf190d9133f6" targetNamespace="http://schemas.microsoft.com/office/2006/metadata/properties" ma:root="true" ma:fieldsID="0d96902118c4f37bde9f7d6f0bbef530" ns2:_="" ns3:_="">
    <xsd:import namespace="2e1d4e07-6760-4f2a-9312-949aaba4a6da"/>
    <xsd:import namespace="b7d811bb-603c-460a-9cfd-cf190d913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d4e07-6760-4f2a-9312-949aaba4a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b0a7d3-0568-4cb5-b861-555e3d3115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811bb-603c-460a-9cfd-cf190d9133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3a11e6-3e35-4797-b11b-7cd9f7711061}" ma:internalName="TaxCatchAll" ma:showField="CatchAllData" ma:web="b7d811bb-603c-460a-9cfd-cf190d913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1d4e07-6760-4f2a-9312-949aaba4a6da">
      <Terms xmlns="http://schemas.microsoft.com/office/infopath/2007/PartnerControls"/>
    </lcf76f155ced4ddcb4097134ff3c332f>
    <TaxCatchAll xmlns="b7d811bb-603c-460a-9cfd-cf190d9133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634689-1F3A-4C81-88D6-664DB581C4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1d4e07-6760-4f2a-9312-949aaba4a6da"/>
    <ds:schemaRef ds:uri="b7d811bb-603c-460a-9cfd-cf190d9133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CC4FA6-B659-4D45-A9D0-312F803D9C63}">
  <ds:schemaRefs>
    <ds:schemaRef ds:uri="http://schemas.microsoft.com/office/2006/metadata/properties"/>
    <ds:schemaRef ds:uri="http://schemas.microsoft.com/office/infopath/2007/PartnerControls"/>
    <ds:schemaRef ds:uri="2e1d4e07-6760-4f2a-9312-949aaba4a6da"/>
    <ds:schemaRef ds:uri="b7d811bb-603c-460a-9cfd-cf190d9133f6"/>
  </ds:schemaRefs>
</ds:datastoreItem>
</file>

<file path=customXml/itemProps3.xml><?xml version="1.0" encoding="utf-8"?>
<ds:datastoreItem xmlns:ds="http://schemas.openxmlformats.org/officeDocument/2006/customXml" ds:itemID="{610C8F09-B617-47B6-B32B-71FE1676B4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4045</Words>
  <Application>Microsoft Macintosh PowerPoint</Application>
  <PresentationFormat>Widescreen</PresentationFormat>
  <Paragraphs>899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September 2026 Pet Build Portfolio Monthly Delivery Review</dc:title>
  <dc:subject>PptxGenJS Presentation</dc:subject>
  <dc:creator>Nationwide Pet</dc:creator>
  <cp:lastModifiedBy>Paula Perreira</cp:lastModifiedBy>
  <cp:revision>4</cp:revision>
  <dcterms:created xsi:type="dcterms:W3CDTF">2026-10-14T15:24:36Z</dcterms:created>
  <dcterms:modified xsi:type="dcterms:W3CDTF">2026-10-14T21:50:48Z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2026-10-14T20:29:02Z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ee6ea047-0741-4ebc-8693-75a9f0f96c59</vt:lpwstr>
  </property>
  <property fmtid="{D5CDD505-2E9C-101B-9397-08002B2CF9AE}" pid="8" name="MSIP_Label_92ea8e88-16c4-4b55-a945-7bd6248db4bf_ContentBits">
    <vt:lpwstr>0</vt:lpwstr>
  </property>
  <property fmtid="{D5CDD505-2E9C-101B-9397-08002B2CF9AE}" pid="9" name="MSIP_Label_92ea8e88-16c4-4b55-a945-7bd6248db4bf_Tag">
    <vt:lpwstr>10, 3, 0, 1</vt:lpwstr>
  </property>
  <property fmtid="{D5CDD505-2E9C-101B-9397-08002B2CF9AE}" pid="10" name="ContentTypeId">
    <vt:lpwstr>0x01010089F0AB2B94E9164080AE6A7AF0D97188</vt:lpwstr>
  </property>
</Properties>
</file>
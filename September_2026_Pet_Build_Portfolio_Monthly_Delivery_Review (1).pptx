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5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August deck (43)</c:v>
                </c:pt>
              </c:strCache>
            </c:strRef>
          </c:tx>
          <c:spPr>
            <a:solidFill>
              <a:srgbClr val="9FB8E0"/>
            </a:solidFill>
            <a:effectLst/>
          </c:spPr>
          <c:invertIfNegative val="0"/>
          <c:dLbls>
            <c:numFmt formatCode="#,##0" sourceLinked="0"/>
            <c:spPr>
              <a:noFill/>
              <a:ln>
                <a:noFill/>
              </a:ln>
              <a:effectLst/>
            </c:spPr>
            <c:txPr>
              <a:bodyPr/>
              <a:lstStyle/>
              <a:p>
                <a:pPr>
                  <a:defRPr sz="700" b="0" i="0" u="none" strike="noStrike">
                    <a:solidFill>
                      <a:srgbClr val="2024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Green</c:v>
                </c:pt>
                <c:pt idx="1">
                  <c:v>Yellow</c:v>
                </c:pt>
                <c:pt idx="2">
                  <c:v>Red</c:v>
                </c:pt>
                <c:pt idx="3">
                  <c:v>Compl.</c:v>
                </c:pt>
                <c:pt idx="4">
                  <c:v>Not Assd.</c:v>
                </c:pt>
              </c:strCache>
            </c:strRef>
          </c:cat>
          <c:val>
            <c:numRef>
              <c:f>Sheet1!$B$2:$B$6</c:f>
              <c:numCache>
                <c:formatCode>General</c:formatCode>
                <c:ptCount val="5"/>
                <c:pt idx="0">
                  <c:v>25</c:v>
                </c:pt>
                <c:pt idx="1">
                  <c:v>9</c:v>
                </c:pt>
                <c:pt idx="2">
                  <c:v>3</c:v>
                </c:pt>
                <c:pt idx="3">
                  <c:v>5</c:v>
                </c:pt>
                <c:pt idx="4">
                  <c:v>1</c:v>
                </c:pt>
              </c:numCache>
            </c:numRef>
          </c:val>
          <c:extLst>
            <c:ext xmlns:c16="http://schemas.microsoft.com/office/drawing/2014/chart" uri="{C3380CC4-5D6E-409C-BE32-E72D297353CC}">
              <c16:uniqueId val="{00000000-8829-4DF8-9406-B0EAD8BAA1D8}"/>
            </c:ext>
          </c:extLst>
        </c:ser>
        <c:ser>
          <c:idx val="1"/>
          <c:order val="1"/>
          <c:tx>
            <c:strRef>
              <c:f>Sheet1!$C$1</c:f>
              <c:strCache>
                <c:ptCount val="1"/>
                <c:pt idx="0">
                  <c:v>September Planview (48)</c:v>
                </c:pt>
              </c:strCache>
            </c:strRef>
          </c:tx>
          <c:spPr>
            <a:solidFill>
              <a:srgbClr val="0047BB"/>
            </a:solidFill>
            <a:effectLst/>
          </c:spPr>
          <c:invertIfNegative val="0"/>
          <c:dLbls>
            <c:numFmt formatCode="#,##0" sourceLinked="0"/>
            <c:spPr>
              <a:noFill/>
              <a:ln>
                <a:noFill/>
              </a:ln>
              <a:effectLst/>
            </c:spPr>
            <c:txPr>
              <a:bodyPr/>
              <a:lstStyle/>
              <a:p>
                <a:pPr>
                  <a:defRPr sz="700" b="0" i="0" u="none" strike="noStrike">
                    <a:solidFill>
                      <a:srgbClr val="2024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Green</c:v>
                </c:pt>
                <c:pt idx="1">
                  <c:v>Yellow</c:v>
                </c:pt>
                <c:pt idx="2">
                  <c:v>Red</c:v>
                </c:pt>
                <c:pt idx="3">
                  <c:v>Compl.</c:v>
                </c:pt>
                <c:pt idx="4">
                  <c:v>Not Assd.</c:v>
                </c:pt>
              </c:strCache>
            </c:strRef>
          </c:cat>
          <c:val>
            <c:numRef>
              <c:f>Sheet1!$C$2:$C$6</c:f>
              <c:numCache>
                <c:formatCode>General</c:formatCode>
                <c:ptCount val="5"/>
                <c:pt idx="0">
                  <c:v>18</c:v>
                </c:pt>
                <c:pt idx="1">
                  <c:v>3</c:v>
                </c:pt>
                <c:pt idx="2">
                  <c:v>4</c:v>
                </c:pt>
                <c:pt idx="3">
                  <c:v>5</c:v>
                </c:pt>
                <c:pt idx="4">
                  <c:v>18</c:v>
                </c:pt>
              </c:numCache>
            </c:numRef>
          </c:val>
          <c:extLst>
            <c:ext xmlns:c16="http://schemas.microsoft.com/office/drawing/2014/chart" uri="{C3380CC4-5D6E-409C-BE32-E72D297353CC}">
              <c16:uniqueId val="{00000001-8829-4DF8-9406-B0EAD8BAA1D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5A647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700">
              <a:solidFill>
                <a:srgbClr val="20242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RAG</c:v>
                </c:pt>
              </c:strCache>
            </c:strRef>
          </c:tx>
          <c:spPr>
            <a:solidFill>
              <a:schemeClr val="accent1"/>
            </a:solidFill>
            <a:ln w="9525" cap="flat">
              <a:solidFill>
                <a:srgbClr val="F9F9F9"/>
              </a:solidFill>
              <a:prstDash val="solid"/>
              <a:round/>
            </a:ln>
            <a:effectLst/>
          </c:spPr>
          <c:dPt>
            <c:idx val="0"/>
            <c:bubble3D val="0"/>
            <c:spPr>
              <a:solidFill>
                <a:srgbClr val="2E7D32"/>
              </a:solidFill>
              <a:ln w="12700" cap="flat">
                <a:solidFill>
                  <a:srgbClr val="FFFFFF"/>
                </a:solidFill>
                <a:prstDash val="solid"/>
                <a:round/>
              </a:ln>
              <a:effectLst/>
            </c:spPr>
            <c:extLst>
              <c:ext xmlns:c16="http://schemas.microsoft.com/office/drawing/2014/chart" uri="{C3380CC4-5D6E-409C-BE32-E72D297353CC}">
                <c16:uniqueId val="{00000001-7A0B-4CAB-A399-B8A4B170D376}"/>
              </c:ext>
            </c:extLst>
          </c:dPt>
          <c:dPt>
            <c:idx val="1"/>
            <c:bubble3D val="0"/>
            <c:spPr>
              <a:solidFill>
                <a:srgbClr val="E6A817"/>
              </a:solidFill>
              <a:ln w="12700" cap="flat">
                <a:solidFill>
                  <a:srgbClr val="FFFFFF"/>
                </a:solidFill>
                <a:prstDash val="solid"/>
                <a:round/>
              </a:ln>
              <a:effectLst/>
            </c:spPr>
            <c:extLst>
              <c:ext xmlns:c16="http://schemas.microsoft.com/office/drawing/2014/chart" uri="{C3380CC4-5D6E-409C-BE32-E72D297353CC}">
                <c16:uniqueId val="{00000003-7A0B-4CAB-A399-B8A4B170D376}"/>
              </c:ext>
            </c:extLst>
          </c:dPt>
          <c:dPt>
            <c:idx val="2"/>
            <c:bubble3D val="0"/>
            <c:spPr>
              <a:solidFill>
                <a:srgbClr val="C0392B"/>
              </a:solidFill>
              <a:ln w="12700" cap="flat">
                <a:solidFill>
                  <a:srgbClr val="FFFFFF"/>
                </a:solidFill>
                <a:prstDash val="solid"/>
                <a:round/>
              </a:ln>
              <a:effectLst/>
            </c:spPr>
            <c:extLst>
              <c:ext xmlns:c16="http://schemas.microsoft.com/office/drawing/2014/chart" uri="{C3380CC4-5D6E-409C-BE32-E72D297353CC}">
                <c16:uniqueId val="{00000005-7A0B-4CAB-A399-B8A4B170D376}"/>
              </c:ext>
            </c:extLst>
          </c:dPt>
          <c:dPt>
            <c:idx val="3"/>
            <c:bubble3D val="0"/>
            <c:spPr>
              <a:solidFill>
                <a:srgbClr val="0047BB"/>
              </a:solidFill>
              <a:ln w="12700" cap="flat">
                <a:solidFill>
                  <a:srgbClr val="FFFFFF"/>
                </a:solidFill>
                <a:prstDash val="solid"/>
                <a:round/>
              </a:ln>
              <a:effectLst/>
            </c:spPr>
            <c:extLst>
              <c:ext xmlns:c16="http://schemas.microsoft.com/office/drawing/2014/chart" uri="{C3380CC4-5D6E-409C-BE32-E72D297353CC}">
                <c16:uniqueId val="{00000007-7A0B-4CAB-A399-B8A4B170D376}"/>
              </c:ext>
            </c:extLst>
          </c:dPt>
          <c:dPt>
            <c:idx val="4"/>
            <c:bubble3D val="0"/>
            <c:spPr>
              <a:solidFill>
                <a:srgbClr val="7A828E"/>
              </a:solidFill>
              <a:ln w="12700" cap="flat">
                <a:solidFill>
                  <a:srgbClr val="FFFFFF"/>
                </a:solidFill>
                <a:prstDash val="solid"/>
                <a:round/>
              </a:ln>
              <a:effectLst/>
            </c:spPr>
            <c:extLst>
              <c:ext xmlns:c16="http://schemas.microsoft.com/office/drawing/2014/chart" uri="{C3380CC4-5D6E-409C-BE32-E72D297353CC}">
                <c16:uniqueId val="{00000009-7A0B-4CAB-A399-B8A4B170D376}"/>
              </c:ext>
            </c:extLst>
          </c:dPt>
          <c:cat>
            <c:strRef>
              <c:f>Sheet1!$A$2:$A$6</c:f>
              <c:strCache>
                <c:ptCount val="5"/>
                <c:pt idx="0">
                  <c:v>Green</c:v>
                </c:pt>
                <c:pt idx="1">
                  <c:v>Yellow</c:v>
                </c:pt>
                <c:pt idx="2">
                  <c:v>Red</c:v>
                </c:pt>
                <c:pt idx="3">
                  <c:v>Completed</c:v>
                </c:pt>
                <c:pt idx="4">
                  <c:v>Not Assessed</c:v>
                </c:pt>
              </c:strCache>
            </c:strRef>
          </c:cat>
          <c:val>
            <c:numRef>
              <c:f>Sheet1!$B$2:$B$6</c:f>
              <c:numCache>
                <c:formatCode>General</c:formatCode>
                <c:ptCount val="5"/>
                <c:pt idx="0">
                  <c:v>18</c:v>
                </c:pt>
                <c:pt idx="1">
                  <c:v>3</c:v>
                </c:pt>
                <c:pt idx="2">
                  <c:v>4</c:v>
                </c:pt>
                <c:pt idx="3">
                  <c:v>5</c:v>
                </c:pt>
                <c:pt idx="4">
                  <c:v>18</c:v>
                </c:pt>
              </c:numCache>
            </c:numRef>
          </c:val>
          <c:extLst>
            <c:ext xmlns:c16="http://schemas.microsoft.com/office/drawing/2014/chart" uri="{C3380CC4-5D6E-409C-BE32-E72D297353CC}">
              <c16:uniqueId val="{0000000A-7A0B-4CAB-A399-B8A4B170D376}"/>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r"/>
      <c:overlay val="0"/>
      <c:txPr>
        <a:bodyPr/>
        <a:lstStyle/>
        <a:p>
          <a:pPr>
            <a:defRPr sz="750">
              <a:solidFill>
                <a:srgbClr val="20242E"/>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9073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M">
    <p:bg>
      <p:bgPr>
        <a:solidFill>
          <a:srgbClr val="0047BB"/>
        </a:solidFill>
        <a:effectLst/>
      </p:bgPr>
    </p:bg>
    <p:spTree>
      <p:nvGrpSpPr>
        <p:cNvPr id="1" name=""/>
        <p:cNvGrpSpPr/>
        <p:nvPr/>
      </p:nvGrpSpPr>
      <p:grpSpPr>
        <a:xfrm>
          <a:off x="0" y="0"/>
          <a:ext cx="0" cy="0"/>
          <a:chOff x="0" y="0"/>
          <a:chExt cx="0" cy="0"/>
        </a:xfrm>
      </p:grpSpPr>
      <p:pic>
        <p:nvPicPr>
          <p:cNvPr id="2" name="Image 0" descr="/home/user/work/build_sept/assets/nw_wordmark.png"/>
          <p:cNvPicPr>
            <a:picLocks noChangeAspect="1"/>
          </p:cNvPicPr>
          <p:nvPr/>
        </p:nvPicPr>
        <p:blipFill>
          <a:blip r:embed="rId2"/>
          <a:srcRect/>
          <a:stretch/>
        </p:blipFill>
        <p:spPr>
          <a:xfrm>
            <a:off x="10927080" y="5989320"/>
            <a:ext cx="566928" cy="55778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6510528"/>
            <a:ext cx="10058400" cy="274320"/>
          </a:xfrm>
          <a:prstGeom prst="rect">
            <a:avLst/>
          </a:prstGeom>
          <a:noFill/>
          <a:ln/>
        </p:spPr>
        <p:txBody>
          <a:bodyPr wrap="square" rtlCol="0" anchor="ctr"/>
          <a:lstStyle/>
          <a:p>
            <a:pPr marL="0" indent="0" algn="l">
              <a:buNone/>
            </a:pPr>
            <a:r>
              <a:rPr lang="en-US" sz="750" dirty="0">
                <a:solidFill>
                  <a:srgbClr val="5A6472"/>
                </a:solidFill>
                <a:latin typeface="Arial" pitchFamily="34" charset="0"/>
                <a:ea typeface="Arial" pitchFamily="34" charset="-122"/>
                <a:cs typeface="Arial" pitchFamily="34" charset="-120"/>
              </a:rPr>
              <a:t>Nationwide Pet — Monthly Build Portfolio Review  ·  September 2026 (status as of 9/30/2026)  ·  Nationwide Internal Use Only</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work/build_sept/assets/rocket.png"/>
          <p:cNvPicPr>
            <a:picLocks noChangeAspect="1"/>
          </p:cNvPicPr>
          <p:nvPr/>
        </p:nvPicPr>
        <p:blipFill>
          <a:blip r:embed="rId3"/>
          <a:srcRect/>
          <a:stretch/>
        </p:blipFill>
        <p:spPr>
          <a:xfrm>
            <a:off x="8001000" y="1417320"/>
            <a:ext cx="3566160" cy="2935224"/>
          </a:xfrm>
          <a:prstGeom prst="rect">
            <a:avLst/>
          </a:prstGeom>
        </p:spPr>
      </p:pic>
      <p:sp>
        <p:nvSpPr>
          <p:cNvPr id="3" name="Text 0"/>
          <p:cNvSpPr/>
          <p:nvPr/>
        </p:nvSpPr>
        <p:spPr>
          <a:xfrm>
            <a:off x="713232" y="914400"/>
            <a:ext cx="6583680" cy="457200"/>
          </a:xfrm>
          <a:prstGeom prst="rect">
            <a:avLst/>
          </a:prstGeom>
          <a:noFill/>
          <a:ln/>
        </p:spPr>
        <p:txBody>
          <a:bodyPr wrap="square" lIns="0" tIns="0" rIns="0" bIns="0" rtlCol="0" anchor="ctr"/>
          <a:lstStyle/>
          <a:p>
            <a:pPr marL="0" indent="0" algn="l">
              <a:buNone/>
            </a:pPr>
            <a:r>
              <a:rPr lang="en-US" sz="1500" b="1" kern="0" spc="100" dirty="0">
                <a:solidFill>
                  <a:srgbClr val="BBD0F2"/>
                </a:solidFill>
                <a:latin typeface="Arial" pitchFamily="34" charset="0"/>
                <a:ea typeface="Arial" pitchFamily="34" charset="-122"/>
                <a:cs typeface="Arial" pitchFamily="34" charset="-120"/>
              </a:rPr>
              <a:t>September 2026</a:t>
            </a:r>
            <a:endParaRPr lang="en-US" sz="1500" dirty="0"/>
          </a:p>
        </p:txBody>
      </p:sp>
      <p:sp>
        <p:nvSpPr>
          <p:cNvPr id="4" name="Text 1"/>
          <p:cNvSpPr/>
          <p:nvPr/>
        </p:nvSpPr>
        <p:spPr>
          <a:xfrm>
            <a:off x="713232" y="1371599"/>
            <a:ext cx="6949440" cy="1920240"/>
          </a:xfrm>
          <a:prstGeom prst="rect">
            <a:avLst/>
          </a:prstGeom>
          <a:noFill/>
          <a:ln/>
        </p:spPr>
        <p:txBody>
          <a:bodyPr wrap="square" lIns="0" tIns="0" rIns="0" bIns="0" rtlCol="0" anchor="t"/>
          <a:lstStyle/>
          <a:p>
            <a:pPr marL="0" indent="0" algn="l">
              <a:lnSpc>
                <a:spcPct val="100000"/>
              </a:lnSpc>
              <a:buNone/>
            </a:pPr>
            <a:r>
              <a:rPr lang="en-US" sz="4000" b="1" dirty="0">
                <a:solidFill>
                  <a:srgbClr val="FFFFFF"/>
                </a:solidFill>
                <a:latin typeface="Georgia" pitchFamily="34" charset="0"/>
                <a:ea typeface="Georgia" pitchFamily="34" charset="-122"/>
                <a:cs typeface="Georgia" pitchFamily="34" charset="-120"/>
              </a:rPr>
              <a:t>Pet Build Portfolio</a:t>
            </a:r>
            <a:endParaRPr lang="en-US" sz="4000" dirty="0"/>
          </a:p>
          <a:p>
            <a:pPr marL="0" indent="0" algn="l">
              <a:lnSpc>
                <a:spcPct val="100000"/>
              </a:lnSpc>
              <a:buNone/>
            </a:pPr>
            <a:r>
              <a:rPr lang="en-US" sz="4000" b="1" dirty="0">
                <a:solidFill>
                  <a:srgbClr val="FFFFFF"/>
                </a:solidFill>
                <a:latin typeface="Georgia" pitchFamily="34" charset="0"/>
                <a:ea typeface="Georgia" pitchFamily="34" charset="-122"/>
                <a:cs typeface="Georgia" pitchFamily="34" charset="-120"/>
              </a:rPr>
              <a:t>Delivery Review</a:t>
            </a:r>
            <a:endParaRPr lang="en-US" sz="4000" dirty="0"/>
          </a:p>
        </p:txBody>
      </p:sp>
      <p:sp>
        <p:nvSpPr>
          <p:cNvPr id="5" name="Shape 2"/>
          <p:cNvSpPr/>
          <p:nvPr/>
        </p:nvSpPr>
        <p:spPr>
          <a:xfrm>
            <a:off x="731520" y="3456432"/>
            <a:ext cx="2194560" cy="0"/>
          </a:xfrm>
          <a:prstGeom prst="line">
            <a:avLst/>
          </a:prstGeom>
          <a:noFill/>
          <a:ln w="19050">
            <a:solidFill>
              <a:srgbClr val="7FA8E8"/>
            </a:solidFill>
            <a:prstDash val="solid"/>
          </a:ln>
        </p:spPr>
        <p:txBody>
          <a:bodyPr/>
          <a:lstStyle/>
          <a:p>
            <a:endParaRPr lang="en-US"/>
          </a:p>
        </p:txBody>
      </p:sp>
      <p:sp>
        <p:nvSpPr>
          <p:cNvPr id="6" name="Text 3"/>
          <p:cNvSpPr/>
          <p:nvPr/>
        </p:nvSpPr>
        <p:spPr>
          <a:xfrm>
            <a:off x="713232" y="3611880"/>
            <a:ext cx="6858000" cy="365760"/>
          </a:xfrm>
          <a:prstGeom prst="rect">
            <a:avLst/>
          </a:prstGeom>
          <a:noFill/>
          <a:ln/>
        </p:spPr>
        <p:txBody>
          <a:bodyPr wrap="square" lIns="0" tIns="0" rIns="0" bIns="0" rtlCol="0" anchor="ctr"/>
          <a:lstStyle/>
          <a:p>
            <a:pPr marL="0" indent="0" algn="l">
              <a:buNone/>
            </a:pPr>
            <a:r>
              <a:rPr lang="en-US" sz="1400" dirty="0">
                <a:solidFill>
                  <a:srgbClr val="FFFFFF"/>
                </a:solidFill>
                <a:latin typeface="Arial" pitchFamily="34" charset="0"/>
                <a:ea typeface="Arial" pitchFamily="34" charset="-122"/>
                <a:cs typeface="Arial" pitchFamily="34" charset="-120"/>
              </a:rPr>
              <a:t>Nationwide Pet  |  Monthly Delivery Review</a:t>
            </a:r>
            <a:endParaRPr lang="en-US" sz="1400" dirty="0"/>
          </a:p>
        </p:txBody>
      </p:sp>
      <p:sp>
        <p:nvSpPr>
          <p:cNvPr id="7" name="Text 4"/>
          <p:cNvSpPr/>
          <p:nvPr/>
        </p:nvSpPr>
        <p:spPr>
          <a:xfrm>
            <a:off x="713232" y="4041648"/>
            <a:ext cx="6949440" cy="365760"/>
          </a:xfrm>
          <a:prstGeom prst="rect">
            <a:avLst/>
          </a:prstGeom>
          <a:noFill/>
          <a:ln/>
        </p:spPr>
        <p:txBody>
          <a:bodyPr wrap="square" lIns="0" tIns="0" rIns="0" bIns="0" rtlCol="0" anchor="ctr"/>
          <a:lstStyle/>
          <a:p>
            <a:pPr marL="0" indent="0" algn="l">
              <a:buNone/>
            </a:pPr>
            <a:r>
              <a:rPr lang="en-US" sz="1150" b="1" dirty="0">
                <a:solidFill>
                  <a:srgbClr val="DCE6F8"/>
                </a:solidFill>
                <a:latin typeface="Arial" pitchFamily="34" charset="0"/>
                <a:ea typeface="Arial" pitchFamily="34" charset="-122"/>
                <a:cs typeface="Arial" pitchFamily="34" charset="-120"/>
              </a:rPr>
              <a:t>Reporting month: </a:t>
            </a:r>
            <a:r>
              <a:rPr lang="en-US" sz="1150" dirty="0">
                <a:solidFill>
                  <a:srgbClr val="DCE6F8"/>
                </a:solidFill>
                <a:latin typeface="Arial" pitchFamily="34" charset="0"/>
                <a:ea typeface="Arial" pitchFamily="34" charset="-122"/>
                <a:cs typeface="Arial" pitchFamily="34" charset="-120"/>
              </a:rPr>
              <a:t>September 2026       </a:t>
            </a:r>
            <a:r>
              <a:rPr lang="en-US" sz="1150" b="1" dirty="0">
                <a:solidFill>
                  <a:srgbClr val="DCE6F8"/>
                </a:solidFill>
                <a:latin typeface="Arial" pitchFamily="34" charset="0"/>
                <a:ea typeface="Arial" pitchFamily="34" charset="-122"/>
                <a:cs typeface="Arial" pitchFamily="34" charset="-120"/>
              </a:rPr>
              <a:t>Snapshot date: </a:t>
            </a:r>
            <a:r>
              <a:rPr lang="en-US" sz="1150" dirty="0">
                <a:solidFill>
                  <a:srgbClr val="DCE6F8"/>
                </a:solidFill>
                <a:latin typeface="Arial" pitchFamily="34" charset="0"/>
                <a:ea typeface="Arial" pitchFamily="34" charset="-122"/>
                <a:cs typeface="Arial" pitchFamily="34" charset="-120"/>
              </a:rPr>
              <a:t>9/30/2026</a:t>
            </a:r>
            <a:endParaRPr lang="en-US" sz="1150" dirty="0"/>
          </a:p>
        </p:txBody>
      </p:sp>
      <p:sp>
        <p:nvSpPr>
          <p:cNvPr id="8" name="Rectangle 7">
            <a:extLst>
              <a:ext uri="{FF2B5EF4-FFF2-40B4-BE49-F238E27FC236}">
                <a16:creationId xmlns:a16="http://schemas.microsoft.com/office/drawing/2014/main" id="{3C7AB58C-F7E4-44F2-040D-A4CDF3C8875D}"/>
              </a:ext>
            </a:extLst>
          </p:cNvPr>
          <p:cNvSpPr/>
          <p:nvPr/>
        </p:nvSpPr>
        <p:spPr>
          <a:xfrm>
            <a:off x="713232" y="4476997"/>
            <a:ext cx="9861745" cy="20722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t>From Cindy our Director about this presentation: would not include that box on the first page as the audience is executives.  What is the value/relevance of including that information?  </a:t>
            </a:r>
            <a:r>
              <a:rPr lang="en-US" sz="1200" u="sng" dirty="0"/>
              <a:t>Read and validate the data,</a:t>
            </a:r>
            <a:r>
              <a:rPr lang="en-US" sz="1200" dirty="0"/>
              <a:t> and tell me if it tells a story to an audience that is not close to the work details (Misty) (achievements/milestones).  The timing of the meeting vs. the data in Planview is always a challenge.  I would remove decisions needed and funding requests awaiting action.  These are not valid, so why would we bring this to this group?  PPT program is noted as RED on slide 3, but I believe this is an overhead bucket and not a work item, or perhaps it is poorly named if it's Employer Portal.  It will raise questions as named. Where do we show the closed projects since last month and the value delivered?  Think about what story we want to tell the executive audience and determine what is missing.  I suggest brainstorming an outline and running it by me and see what gaps we have to fill in using the Planview data.  Good progress but more to do.  Look at the old documents, and if you have to do the update manually (without using Planview to Glean), please provide something I can review first thing tomorrow morning.  </a:t>
            </a:r>
          </a:p>
          <a:p>
            <a:br>
              <a:rPr lang="en-US" sz="1200" dirty="0"/>
            </a:br>
            <a:r>
              <a:rPr lang="en-US" sz="1200" dirty="0"/>
              <a:t>A coworker then made modifications based on her feedback but not sure it captured what Cindy is looking for.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800" b="1" dirty="0">
                <a:solidFill>
                  <a:srgbClr val="0047BB"/>
                </a:solidFill>
                <a:latin typeface="Georgia" pitchFamily="34" charset="0"/>
                <a:ea typeface="Georgia" pitchFamily="34" charset="-122"/>
                <a:cs typeface="Georgia" pitchFamily="34" charset="-120"/>
              </a:rPr>
              <a:t>September remains executable, but four Red projects concentrate the immediate risk.</a:t>
            </a:r>
            <a:endParaRPr lang="en-US" sz="1800" dirty="0"/>
          </a:p>
        </p:txBody>
      </p:sp>
      <p:sp>
        <p:nvSpPr>
          <p:cNvPr id="3" name="Text 1"/>
          <p:cNvSpPr/>
          <p:nvPr/>
        </p:nvSpPr>
        <p:spPr>
          <a:xfrm>
            <a:off x="502920" y="123444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MIX — SOURCE-SET COMPARISON</a:t>
            </a:r>
            <a:endParaRPr lang="en-US" sz="950" dirty="0"/>
          </a:p>
        </p:txBody>
      </p:sp>
      <p:graphicFrame>
        <p:nvGraphicFramePr>
          <p:cNvPr id="4" name="Chart 0"/>
          <p:cNvGraphicFramePr/>
          <p:nvPr/>
        </p:nvGraphicFramePr>
        <p:xfrm>
          <a:off x="411480" y="1463040"/>
          <a:ext cx="374904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02920" y="3310128"/>
            <a:ext cx="3566160" cy="365760"/>
          </a:xfrm>
          <a:prstGeom prst="rect">
            <a:avLst/>
          </a:prstGeom>
          <a:noFill/>
          <a:ln/>
        </p:spPr>
        <p:txBody>
          <a:bodyPr wrap="square" lIns="0" tIns="0" rIns="0" bIns="0" rtlCol="0" anchor="ctr"/>
          <a:lstStyle/>
          <a:p>
            <a:pPr marL="0" indent="0" algn="l">
              <a:buNone/>
            </a:pPr>
            <a:r>
              <a:rPr lang="en-US" sz="750" i="1" dirty="0">
                <a:solidFill>
                  <a:srgbClr val="5A6472"/>
                </a:solidFill>
                <a:latin typeface="Arial" pitchFamily="34" charset="0"/>
                <a:ea typeface="Arial" pitchFamily="34" charset="-122"/>
                <a:cs typeface="Arial" pitchFamily="34" charset="-120"/>
              </a:rPr>
              <a:t>Portfolio scope and source coverage changed; mix is directional, not like-for-like.</a:t>
            </a:r>
            <a:endParaRPr lang="en-US" sz="750" dirty="0"/>
          </a:p>
        </p:txBody>
      </p:sp>
      <p:sp>
        <p:nvSpPr>
          <p:cNvPr id="6" name="Text 3"/>
          <p:cNvSpPr/>
          <p:nvPr/>
        </p:nvSpPr>
        <p:spPr>
          <a:xfrm>
            <a:off x="502920" y="3767328"/>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FUNDING REQUESTS AWAITING APPROVAL</a:t>
            </a:r>
            <a:endParaRPr lang="en-US" sz="950" dirty="0"/>
          </a:p>
        </p:txBody>
      </p:sp>
      <p:sp>
        <p:nvSpPr>
          <p:cNvPr id="7" name="Text 4"/>
          <p:cNvSpPr/>
          <p:nvPr/>
        </p:nvSpPr>
        <p:spPr>
          <a:xfrm>
            <a:off x="502920" y="4005072"/>
            <a:ext cx="3566160" cy="2286000"/>
          </a:xfrm>
          <a:prstGeom prst="rect">
            <a:avLst/>
          </a:prstGeom>
          <a:noFill/>
          <a:ln/>
        </p:spPr>
        <p:txBody>
          <a:bodyPr wrap="square" lIns="0" tIns="0" rIns="0" bIns="0" rtlCol="0" anchor="t"/>
          <a:lstStyle/>
          <a:p>
            <a:pPr marL="0" indent="0" algn="l">
              <a:lnSpc>
                <a:spcPct val="105000"/>
              </a:lnSpc>
              <a:spcAft>
                <a:spcPts val="300"/>
              </a:spcAft>
              <a:buNone/>
            </a:pPr>
            <a:r>
              <a:rPr lang="en-US" sz="850" b="1" dirty="0">
                <a:solidFill>
                  <a:srgbClr val="20242E"/>
                </a:solidFill>
                <a:latin typeface="Arial" pitchFamily="34" charset="0"/>
                <a:ea typeface="Arial" pitchFamily="34" charset="-122"/>
                <a:cs typeface="Arial" pitchFamily="34" charset="-120"/>
              </a:rPr>
              <a:t>PPT Program — </a:t>
            </a:r>
            <a:r>
              <a:rPr lang="en-US" sz="850" dirty="0">
                <a:solidFill>
                  <a:srgbClr val="20242E"/>
                </a:solidFill>
                <a:latin typeface="Arial" pitchFamily="34" charset="0"/>
                <a:ea typeface="Arial" pitchFamily="34" charset="-122"/>
                <a:cs typeface="Arial" pitchFamily="34" charset="-120"/>
              </a:rPr>
              <a:t>additional $4M 2027 funding request.</a:t>
            </a:r>
            <a:endParaRPr lang="en-US" sz="850" dirty="0"/>
          </a:p>
          <a:p>
            <a:pPr marL="0" indent="0" algn="l">
              <a:lnSpc>
                <a:spcPct val="105000"/>
              </a:lnSpc>
              <a:spcAft>
                <a:spcPts val="300"/>
              </a:spcAft>
              <a:buNone/>
            </a:pPr>
            <a:r>
              <a:rPr lang="en-US" sz="850" b="1" dirty="0">
                <a:solidFill>
                  <a:srgbClr val="20242E"/>
                </a:solidFill>
                <a:latin typeface="Arial" pitchFamily="34" charset="0"/>
                <a:ea typeface="Arial" pitchFamily="34" charset="-122"/>
                <a:cs typeface="Arial" pitchFamily="34" charset="-120"/>
              </a:rPr>
              <a:t>FirstVet Consultation File API — </a:t>
            </a:r>
            <a:r>
              <a:rPr lang="en-US" sz="850" dirty="0">
                <a:solidFill>
                  <a:srgbClr val="20242E"/>
                </a:solidFill>
                <a:latin typeface="Arial" pitchFamily="34" charset="0"/>
                <a:ea typeface="Arial" pitchFamily="34" charset="-122"/>
                <a:cs typeface="Arial" pitchFamily="34" charset="-120"/>
              </a:rPr>
              <a:t>additional $16.5K pending BDE approval.</a:t>
            </a:r>
            <a:endParaRPr lang="en-US" sz="850" dirty="0"/>
          </a:p>
          <a:p>
            <a:pPr marL="0" indent="0" algn="l">
              <a:lnSpc>
                <a:spcPct val="105000"/>
              </a:lnSpc>
              <a:spcAft>
                <a:spcPts val="300"/>
              </a:spcAft>
              <a:buNone/>
            </a:pPr>
            <a:r>
              <a:rPr lang="en-US" sz="850" b="1" dirty="0">
                <a:solidFill>
                  <a:srgbClr val="20242E"/>
                </a:solidFill>
                <a:latin typeface="Arial" pitchFamily="34" charset="0"/>
                <a:ea typeface="Arial" pitchFamily="34" charset="-122"/>
                <a:cs typeface="Arial" pitchFamily="34" charset="-120"/>
              </a:rPr>
              <a:t>Underwriting Question Optimization — </a:t>
            </a:r>
            <a:r>
              <a:rPr lang="en-US" sz="850" dirty="0">
                <a:solidFill>
                  <a:srgbClr val="20242E"/>
                </a:solidFill>
                <a:latin typeface="Arial" pitchFamily="34" charset="0"/>
                <a:ea typeface="Arial" pitchFamily="34" charset="-122"/>
                <a:cs typeface="Arial" pitchFamily="34" charset="-120"/>
              </a:rPr>
              <a:t>additional $150K 2027 approval item.</a:t>
            </a:r>
            <a:endParaRPr lang="en-US" sz="850" dirty="0"/>
          </a:p>
          <a:p>
            <a:pPr marL="0" indent="0" algn="l">
              <a:lnSpc>
                <a:spcPct val="105000"/>
              </a:lnSpc>
              <a:spcAft>
                <a:spcPts val="300"/>
              </a:spcAft>
              <a:buNone/>
            </a:pPr>
            <a:r>
              <a:rPr lang="en-US" sz="850" i="1" dirty="0">
                <a:solidFill>
                  <a:srgbClr val="5A6472"/>
                </a:solidFill>
                <a:latin typeface="Arial" pitchFamily="34" charset="0"/>
                <a:ea typeface="Arial" pitchFamily="34" charset="-122"/>
                <a:cs typeface="Arial" pitchFamily="34" charset="-120"/>
              </a:rPr>
              <a:t>Any further detail: Not supplied.</a:t>
            </a:r>
            <a:endParaRPr lang="en-US" sz="850" dirty="0"/>
          </a:p>
        </p:txBody>
      </p:sp>
      <p:sp>
        <p:nvSpPr>
          <p:cNvPr id="8" name="Text 5"/>
          <p:cNvSpPr/>
          <p:nvPr/>
        </p:nvSpPr>
        <p:spPr>
          <a:xfrm>
            <a:off x="4315968" y="123444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TOP FIVE DELIVERY RISKS</a:t>
            </a:r>
            <a:endParaRPr lang="en-US" sz="950" dirty="0"/>
          </a:p>
        </p:txBody>
      </p:sp>
      <p:sp>
        <p:nvSpPr>
          <p:cNvPr id="9" name="Text 6"/>
          <p:cNvSpPr/>
          <p:nvPr/>
        </p:nvSpPr>
        <p:spPr>
          <a:xfrm>
            <a:off x="4315968" y="1463040"/>
            <a:ext cx="3566160" cy="2194560"/>
          </a:xfrm>
          <a:prstGeom prst="rect">
            <a:avLst/>
          </a:prstGeom>
          <a:noFill/>
          <a:ln/>
        </p:spPr>
        <p:txBody>
          <a:bodyPr wrap="square" lIns="0" tIns="0" rIns="0" bIns="0" rtlCol="0" anchor="t"/>
          <a:lstStyle/>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PPT Program — Bundle 4 testing delays hit Bundle 5 and overall schedule; 2027 funding noted.</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PPT Payroll Billing — UAT behind plan; no confirmed PDX dev/test and UAT timeline supplied.</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Underwriting Question Optimization — Red; MVP3 depends on DDIT, sequencing, +$150K 2027.</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FirstVet Consultation File API — Red; +$16.5K pending BDE and vendor integration activity.</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PEC / TaiLWIND — environment data reset threatens PEC E2E; TaiLWIND dependency / DDIT risk.</a:t>
            </a:r>
            <a:endParaRPr lang="en-US" sz="830" dirty="0"/>
          </a:p>
        </p:txBody>
      </p:sp>
      <p:sp>
        <p:nvSpPr>
          <p:cNvPr id="10" name="Text 7"/>
          <p:cNvSpPr/>
          <p:nvPr/>
        </p:nvSpPr>
        <p:spPr>
          <a:xfrm>
            <a:off x="4315968" y="3767328"/>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EXECUTIVE DECISIONS WITHIN 30 DAYS</a:t>
            </a:r>
            <a:endParaRPr lang="en-US" sz="950" dirty="0"/>
          </a:p>
        </p:txBody>
      </p:sp>
      <p:sp>
        <p:nvSpPr>
          <p:cNvPr id="11" name="Text 8"/>
          <p:cNvSpPr/>
          <p:nvPr/>
        </p:nvSpPr>
        <p:spPr>
          <a:xfrm>
            <a:off x="4315968" y="4005072"/>
            <a:ext cx="3566160" cy="2286000"/>
          </a:xfrm>
          <a:prstGeom prst="rect">
            <a:avLst/>
          </a:prstGeom>
          <a:noFill/>
          <a:ln/>
        </p:spPr>
        <p:txBody>
          <a:bodyPr wrap="square" lIns="0" tIns="0" rIns="0" bIns="0" rtlCol="0" anchor="t"/>
          <a:lstStyle/>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PPT Program — approve recovery path; resolve 2027 funding direction.</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PPT Payroll Billing — confirm UAT/recovery dates and resource coverage.</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FirstVet — approve/prioritize budget and vendor integration path.</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Underwriting Question Optimization — confirm funding and MVP sequencing.</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PEC — confirm QA data-reset recovery and revised E2E/UAT dates.</a:t>
            </a:r>
            <a:endParaRPr lang="en-US" sz="830" dirty="0"/>
          </a:p>
        </p:txBody>
      </p:sp>
      <p:sp>
        <p:nvSpPr>
          <p:cNvPr id="12" name="Text 9"/>
          <p:cNvSpPr/>
          <p:nvPr/>
        </p:nvSpPr>
        <p:spPr>
          <a:xfrm>
            <a:off x="8138160" y="123444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TOP FIVE ACHIEVEMENTS</a:t>
            </a:r>
            <a:endParaRPr lang="en-US" sz="950" dirty="0"/>
          </a:p>
        </p:txBody>
      </p:sp>
      <p:sp>
        <p:nvSpPr>
          <p:cNvPr id="13" name="Text 10"/>
          <p:cNvSpPr/>
          <p:nvPr/>
        </p:nvSpPr>
        <p:spPr>
          <a:xfrm>
            <a:off x="8138160" y="1463040"/>
            <a:ext cx="3566160" cy="2194560"/>
          </a:xfrm>
          <a:prstGeom prst="rect">
            <a:avLst/>
          </a:prstGeom>
          <a:noFill/>
          <a:ln/>
        </p:spPr>
        <p:txBody>
          <a:bodyPr wrap="square" lIns="0" tIns="0" rIns="0" bIns="0" rtlCol="0" anchor="t"/>
          <a:lstStyle/>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Add-A-Pet Improvements — production implementation completed 9/16 with monitoring/warranty.</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MPPC UW Questions MVP3 — MVP3 production release 9/16; warranty release 9/23.</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PPT REN2GIN Migration — SOW finalized; discovery and migration progress across lines.</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MM-to-MM Non-CA Migration — SOW finalized; kickoff, requirements, discovery underway.</a:t>
            </a:r>
            <a:endParaRPr lang="en-US" sz="830" dirty="0"/>
          </a:p>
          <a:p>
            <a:pPr marL="127000" indent="-127000" algn="l">
              <a:spcAft>
                <a:spcPts val="500"/>
              </a:spcAft>
              <a:buSzPct val="100000"/>
              <a:buChar char="•"/>
            </a:pPr>
            <a:r>
              <a:rPr lang="en-US" sz="830" dirty="0">
                <a:solidFill>
                  <a:srgbClr val="20242E"/>
                </a:solidFill>
                <a:latin typeface="Arial" pitchFamily="34" charset="0"/>
                <a:ea typeface="Arial" pitchFamily="34" charset="-122"/>
                <a:cs typeface="Arial" pitchFamily="34" charset="-120"/>
              </a:rPr>
              <a:t>GIN API v5 Upgrades — Claims DDIT in progress; added-API analysis complete.</a:t>
            </a:r>
            <a:endParaRPr lang="en-US" sz="830" dirty="0"/>
          </a:p>
        </p:txBody>
      </p:sp>
      <p:sp>
        <p:nvSpPr>
          <p:cNvPr id="14" name="Text 11"/>
          <p:cNvSpPr/>
          <p:nvPr/>
        </p:nvSpPr>
        <p:spPr>
          <a:xfrm>
            <a:off x="8138160" y="3767328"/>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UPCOMING GO-LIVES / MILESTONES</a:t>
            </a:r>
            <a:endParaRPr lang="en-US" sz="950" dirty="0"/>
          </a:p>
        </p:txBody>
      </p:sp>
      <p:sp>
        <p:nvSpPr>
          <p:cNvPr id="15" name="Text 12"/>
          <p:cNvSpPr/>
          <p:nvPr/>
        </p:nvSpPr>
        <p:spPr>
          <a:xfrm>
            <a:off x="8138160" y="4005072"/>
            <a:ext cx="3566160" cy="2286000"/>
          </a:xfrm>
          <a:prstGeom prst="rect">
            <a:avLst/>
          </a:prstGeom>
          <a:noFill/>
          <a:ln/>
        </p:spPr>
        <p:txBody>
          <a:bodyPr wrap="square" lIns="0" tIns="0" rIns="0" bIns="0" rtlCol="0" anchor="t"/>
          <a:lstStyle/>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FirstVet release milestones open — 10/12/2026 target dates in Planview.</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PPT Program Employer Portal go-live — 11/11/2026.</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PPT Payroll Billing Go Live — 11/11/2026.</a:t>
            </a:r>
            <a:endParaRPr lang="en-US" sz="830" dirty="0"/>
          </a:p>
          <a:p>
            <a:pPr marL="127000" indent="-127000" algn="l">
              <a:spcAft>
                <a:spcPts val="400"/>
              </a:spcAft>
              <a:buSzPct val="100000"/>
              <a:buChar char="•"/>
            </a:pPr>
            <a:r>
              <a:rPr lang="en-US" sz="830" dirty="0">
                <a:solidFill>
                  <a:srgbClr val="20242E"/>
                </a:solidFill>
                <a:latin typeface="Arial" pitchFamily="34" charset="0"/>
                <a:ea typeface="Arial" pitchFamily="34" charset="-122"/>
                <a:cs typeface="Arial" pitchFamily="34" charset="-120"/>
              </a:rPr>
              <a:t>Underwriting Opt. MVP3 production 2/10/2027; schedule finish 4/30/2027.</a:t>
            </a:r>
            <a:endParaRPr lang="en-US" sz="830" dirty="0"/>
          </a:p>
          <a:p>
            <a:pPr marL="0" indent="0" algn="l">
              <a:spcAft>
                <a:spcPts val="400"/>
              </a:spcAft>
              <a:buNone/>
            </a:pPr>
            <a:r>
              <a:rPr lang="en-US" sz="830" i="1" dirty="0">
                <a:solidFill>
                  <a:srgbClr val="5A6472"/>
                </a:solidFill>
                <a:latin typeface="Arial" pitchFamily="34" charset="0"/>
                <a:ea typeface="Arial" pitchFamily="34" charset="-122"/>
                <a:cs typeface="Arial" pitchFamily="34" charset="-120"/>
              </a:rPr>
              <a:t>Where no committed date is supplied: Not supplied.</a:t>
            </a:r>
            <a:endParaRPr lang="en-US" sz="830" dirty="0"/>
          </a:p>
        </p:txBody>
      </p:sp>
      <p:sp>
        <p:nvSpPr>
          <p:cNvPr id="16" name="Text 13"/>
          <p:cNvSpPr/>
          <p:nvPr/>
        </p:nvSpPr>
        <p:spPr>
          <a:xfrm>
            <a:off x="502920" y="6236208"/>
            <a:ext cx="11155680" cy="237744"/>
          </a:xfrm>
          <a:prstGeom prst="rect">
            <a:avLst/>
          </a:prstGeom>
          <a:noFill/>
          <a:ln/>
        </p:spPr>
        <p:txBody>
          <a:bodyPr wrap="square" lIns="0" tIns="0" rIns="0" bIns="0" rtlCol="0" anchor="ctr"/>
          <a:lstStyle/>
          <a:p>
            <a:pPr marL="0" indent="0" algn="l">
              <a:buNone/>
            </a:pPr>
            <a:r>
              <a:rPr lang="en-US" sz="750" i="1" dirty="0">
                <a:solidFill>
                  <a:srgbClr val="5A6472"/>
                </a:solidFill>
                <a:latin typeface="Arial" pitchFamily="34" charset="0"/>
                <a:ea typeface="Arial" pitchFamily="34" charset="-122"/>
                <a:cs typeface="Arial" pitchFamily="34" charset="-120"/>
              </a:rPr>
              <a:t>October 12 weekly update used only for supplemental context; September Planview remains authoritative.</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700" b="1" dirty="0">
                <a:solidFill>
                  <a:srgbClr val="0047BB"/>
                </a:solidFill>
                <a:latin typeface="Georgia" pitchFamily="34" charset="0"/>
                <a:ea typeface="Georgia" pitchFamily="34" charset="-122"/>
                <a:cs typeface="Georgia" pitchFamily="34" charset="-120"/>
              </a:rPr>
              <a:t>Four Red and three Yellow projects require active mitigation entering October.</a:t>
            </a:r>
            <a:endParaRPr lang="en-US" sz="1700" dirty="0"/>
          </a:p>
        </p:txBody>
      </p:sp>
      <p:sp>
        <p:nvSpPr>
          <p:cNvPr id="3" name="Shape 1"/>
          <p:cNvSpPr/>
          <p:nvPr/>
        </p:nvSpPr>
        <p:spPr>
          <a:xfrm>
            <a:off x="502920" y="1124712"/>
            <a:ext cx="146304" cy="146304"/>
          </a:xfrm>
          <a:prstGeom prst="rect">
            <a:avLst/>
          </a:prstGeom>
          <a:solidFill>
            <a:srgbClr val="C0392B"/>
          </a:solidFill>
          <a:ln/>
        </p:spPr>
        <p:txBody>
          <a:bodyPr/>
          <a:lstStyle/>
          <a:p>
            <a:endParaRPr lang="en-US"/>
          </a:p>
        </p:txBody>
      </p:sp>
      <p:sp>
        <p:nvSpPr>
          <p:cNvPr id="4" name="Text 2"/>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5" name="Shape 3"/>
          <p:cNvSpPr/>
          <p:nvPr/>
        </p:nvSpPr>
        <p:spPr>
          <a:xfrm>
            <a:off x="1303020" y="1124712"/>
            <a:ext cx="146304" cy="146304"/>
          </a:xfrm>
          <a:prstGeom prst="rect">
            <a:avLst/>
          </a:prstGeom>
          <a:solidFill>
            <a:srgbClr val="E6A817"/>
          </a:solidFill>
          <a:ln/>
        </p:spPr>
        <p:txBody>
          <a:bodyPr/>
          <a:lstStyle/>
          <a:p>
            <a:endParaRPr lang="en-US"/>
          </a:p>
        </p:txBody>
      </p:sp>
      <p:sp>
        <p:nvSpPr>
          <p:cNvPr id="6" name="Text 4"/>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7" name="Shape 5"/>
          <p:cNvSpPr/>
          <p:nvPr/>
        </p:nvSpPr>
        <p:spPr>
          <a:xfrm>
            <a:off x="2336292" y="1124712"/>
            <a:ext cx="146304" cy="146304"/>
          </a:xfrm>
          <a:prstGeom prst="rect">
            <a:avLst/>
          </a:prstGeom>
          <a:solidFill>
            <a:srgbClr val="2E7D32"/>
          </a:solidFill>
          <a:ln/>
        </p:spPr>
        <p:txBody>
          <a:bodyPr/>
          <a:lstStyle/>
          <a:p>
            <a:endParaRPr lang="en-US"/>
          </a:p>
        </p:txBody>
      </p:sp>
      <p:sp>
        <p:nvSpPr>
          <p:cNvPr id="8" name="Text 6"/>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9" name="Shape 7"/>
          <p:cNvSpPr/>
          <p:nvPr/>
        </p:nvSpPr>
        <p:spPr>
          <a:xfrm>
            <a:off x="3291840" y="1124712"/>
            <a:ext cx="146304" cy="146304"/>
          </a:xfrm>
          <a:prstGeom prst="rect">
            <a:avLst/>
          </a:prstGeom>
          <a:solidFill>
            <a:srgbClr val="0047BB"/>
          </a:solidFill>
          <a:ln/>
        </p:spPr>
        <p:txBody>
          <a:bodyPr/>
          <a:lstStyle/>
          <a:p>
            <a:endParaRPr lang="en-US"/>
          </a:p>
        </p:txBody>
      </p:sp>
      <p:sp>
        <p:nvSpPr>
          <p:cNvPr id="10" name="Text 8"/>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1" name="Shape 9"/>
          <p:cNvSpPr/>
          <p:nvPr/>
        </p:nvSpPr>
        <p:spPr>
          <a:xfrm>
            <a:off x="4558284" y="1124712"/>
            <a:ext cx="146304" cy="146304"/>
          </a:xfrm>
          <a:prstGeom prst="rect">
            <a:avLst/>
          </a:prstGeom>
          <a:solidFill>
            <a:srgbClr val="7A828E"/>
          </a:solidFill>
          <a:ln/>
        </p:spPr>
        <p:txBody>
          <a:bodyPr/>
          <a:lstStyle/>
          <a:p>
            <a:endParaRPr lang="en-US"/>
          </a:p>
        </p:txBody>
      </p:sp>
      <p:sp>
        <p:nvSpPr>
          <p:cNvPr id="12" name="Text 10"/>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640080">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 PPT Program</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1014117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Red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Employer Portal Bundle 4 testing delays; Bundle 5/6 and program schedule impact; 2027 funding request noted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Employer Portal go-live 11/11/2026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FirstVet Consultation File API</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1031012</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Red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Additional $16.5K budget request pending BDE; vendor integration and release readiness</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10/30/2026; open release milestones 10/12/2026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PPT Payroll Billing Employer Experience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1029802</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Red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UAT start behind plan; PDX development/testing and UAT dates not confirmed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Go Live 11/11/2026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Underwriting Question Optimization for MPI</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1030240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Red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September status Red; remaining DDIT and cross-team sequencing; $150K 2027 funding approval item</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4/30/2027; MVP3 production 2/10/2027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NJ MPPC New Product and Rate Capping</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1029148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Outstanding reporting work; rate-capping scope requires auditability and customer-service visibility</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10/12/2026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PEC Product and Underwriting Enhancements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1029313</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QA validation on hold until 9/30 environment reset; E2E timing at risk</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1/29/2027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64008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TaiLWIND Phase 1 (Claims AI)</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1029859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Cross-team dependency timing, DDIT completion risk, and phased testing</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9/30/2027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4" name="Text 11"/>
          <p:cNvSpPr/>
          <p:nvPr/>
        </p:nvSpPr>
        <p:spPr>
          <a:xfrm>
            <a:off x="502920" y="6272784"/>
            <a:ext cx="10972800" cy="237744"/>
          </a:xfrm>
          <a:prstGeom prst="rect">
            <a:avLst/>
          </a:prstGeom>
          <a:noFill/>
          <a:ln/>
        </p:spPr>
        <p:txBody>
          <a:bodyPr wrap="square" lIns="0" tIns="0" rIns="0" bIns="0" rtlCol="0" anchor="ctr"/>
          <a:lstStyle/>
          <a:p>
            <a:pPr marL="0" indent="0">
              <a:buNone/>
            </a:pPr>
            <a:r>
              <a:rPr lang="en-US" sz="750" i="1" dirty="0">
                <a:solidFill>
                  <a:srgbClr val="5A6472"/>
                </a:solidFill>
                <a:latin typeface="Arial" pitchFamily="34" charset="0"/>
                <a:ea typeface="Arial" pitchFamily="34" charset="-122"/>
                <a:cs typeface="Arial" pitchFamily="34" charset="-120"/>
              </a:rPr>
              <a:t>NR = Not Reported (no matching August source value).</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600" b="1" dirty="0">
                <a:solidFill>
                  <a:srgbClr val="0047BB"/>
                </a:solidFill>
                <a:latin typeface="Georgia" pitchFamily="34" charset="0"/>
                <a:ea typeface="Georgia" pitchFamily="34" charset="-122"/>
                <a:cs typeface="Georgia" pitchFamily="34" charset="-120"/>
              </a:rPr>
              <a:t>Green delivery remains concentrated in active modernization and migration work.</a:t>
            </a:r>
            <a:endParaRPr lang="en-US" sz="1600" dirty="0"/>
          </a:p>
        </p:txBody>
      </p:sp>
      <p:sp>
        <p:nvSpPr>
          <p:cNvPr id="3" name="Text 1"/>
          <p:cNvSpPr/>
          <p:nvPr/>
        </p:nvSpPr>
        <p:spPr>
          <a:xfrm>
            <a:off x="9509760" y="1115568"/>
            <a:ext cx="2194560" cy="274320"/>
          </a:xfrm>
          <a:prstGeom prst="rect">
            <a:avLst/>
          </a:prstGeom>
          <a:noFill/>
          <a:ln/>
        </p:spPr>
        <p:txBody>
          <a:bodyPr wrap="square" lIns="0" tIns="0" rIns="0" bIns="0" rtlCol="0" anchor="ctr"/>
          <a:lstStyle/>
          <a:p>
            <a:pPr marL="0" indent="0" algn="r">
              <a:buNone/>
            </a:pPr>
            <a:r>
              <a:rPr lang="en-US" sz="900" b="1" dirty="0">
                <a:solidFill>
                  <a:srgbClr val="5A6472"/>
                </a:solidFill>
                <a:latin typeface="Arial" pitchFamily="34" charset="0"/>
                <a:ea typeface="Arial" pitchFamily="34" charset="-122"/>
                <a:cs typeface="Arial" pitchFamily="34" charset="-120"/>
              </a:rPr>
              <a:t>Green — 1 of 2</a:t>
            </a:r>
            <a:endParaRPr lang="en-US" sz="900" dirty="0"/>
          </a:p>
        </p:txBody>
      </p:sp>
      <p:sp>
        <p:nvSpPr>
          <p:cNvPr id="4" name="Shape 2"/>
          <p:cNvSpPr/>
          <p:nvPr/>
        </p:nvSpPr>
        <p:spPr>
          <a:xfrm>
            <a:off x="502920" y="1124712"/>
            <a:ext cx="146304" cy="146304"/>
          </a:xfrm>
          <a:prstGeom prst="rect">
            <a:avLst/>
          </a:prstGeom>
          <a:solidFill>
            <a:srgbClr val="C0392B"/>
          </a:solidFill>
          <a:ln/>
        </p:spPr>
        <p:txBody>
          <a:bodyPr/>
          <a:lstStyle/>
          <a:p>
            <a:endParaRPr lang="en-US"/>
          </a:p>
        </p:txBody>
      </p:sp>
      <p:sp>
        <p:nvSpPr>
          <p:cNvPr id="5" name="Text 3"/>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6" name="Shape 4"/>
          <p:cNvSpPr/>
          <p:nvPr/>
        </p:nvSpPr>
        <p:spPr>
          <a:xfrm>
            <a:off x="1303020" y="1124712"/>
            <a:ext cx="146304" cy="146304"/>
          </a:xfrm>
          <a:prstGeom prst="rect">
            <a:avLst/>
          </a:prstGeom>
          <a:solidFill>
            <a:srgbClr val="E6A817"/>
          </a:solidFill>
          <a:ln/>
        </p:spPr>
        <p:txBody>
          <a:bodyPr/>
          <a:lstStyle/>
          <a:p>
            <a:endParaRPr lang="en-US"/>
          </a:p>
        </p:txBody>
      </p:sp>
      <p:sp>
        <p:nvSpPr>
          <p:cNvPr id="7" name="Text 5"/>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8" name="Shape 6"/>
          <p:cNvSpPr/>
          <p:nvPr/>
        </p:nvSpPr>
        <p:spPr>
          <a:xfrm>
            <a:off x="2336292" y="1124712"/>
            <a:ext cx="146304" cy="146304"/>
          </a:xfrm>
          <a:prstGeom prst="rect">
            <a:avLst/>
          </a:prstGeom>
          <a:solidFill>
            <a:srgbClr val="2E7D32"/>
          </a:solidFill>
          <a:ln/>
        </p:spPr>
        <p:txBody>
          <a:bodyPr/>
          <a:lstStyle/>
          <a:p>
            <a:endParaRPr lang="en-US"/>
          </a:p>
        </p:txBody>
      </p:sp>
      <p:sp>
        <p:nvSpPr>
          <p:cNvPr id="9" name="Text 7"/>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10" name="Shape 8"/>
          <p:cNvSpPr/>
          <p:nvPr/>
        </p:nvSpPr>
        <p:spPr>
          <a:xfrm>
            <a:off x="3291840" y="1124712"/>
            <a:ext cx="146304" cy="146304"/>
          </a:xfrm>
          <a:prstGeom prst="rect">
            <a:avLst/>
          </a:prstGeom>
          <a:solidFill>
            <a:srgbClr val="0047BB"/>
          </a:solidFill>
          <a:ln/>
        </p:spPr>
        <p:txBody>
          <a:bodyPr/>
          <a:lstStyle/>
          <a:p>
            <a:endParaRPr lang="en-US"/>
          </a:p>
        </p:txBody>
      </p:sp>
      <p:sp>
        <p:nvSpPr>
          <p:cNvPr id="11" name="Text 9"/>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2" name="Shape 10"/>
          <p:cNvSpPr/>
          <p:nvPr/>
        </p:nvSpPr>
        <p:spPr>
          <a:xfrm>
            <a:off x="4558284" y="1124712"/>
            <a:ext cx="146304" cy="146304"/>
          </a:xfrm>
          <a:prstGeom prst="rect">
            <a:avLst/>
          </a:prstGeom>
          <a:solidFill>
            <a:srgbClr val="7A828E"/>
          </a:solidFill>
          <a:ln/>
        </p:spPr>
        <p:txBody>
          <a:bodyPr/>
          <a:lstStyle/>
          <a:p>
            <a:endParaRPr lang="en-US"/>
          </a:p>
        </p:txBody>
      </p:sp>
      <p:sp>
        <p:nvSpPr>
          <p:cNvPr id="13" name="Text 11"/>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02920">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 PPT - REN2GIN Policy migration-B2C</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1014865</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SOW finalized; migration discovery and policy conversion progress</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Overall finish 4/10/2035; manual migration milestones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 PPT – Major Medical – New Business on GIN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1014368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MiM capacity commitment; refinement and DDIT progressing</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2/10/2027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2026 GIN Upgrades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1029587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Requirements/scope and line schedule being finalized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2/26/2027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2026 Product Rate Refresh</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1029254</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DDIT/UAT/production activity reported as complete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Overall finish 1/26/2027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Add-A-Pet Improvements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1029314</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Red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Production implementation completed 9/16; warranty monitoring</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Overall finish 6/21/2028</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Enhance Multi Denial Code Claims Z160/Z151</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1029586</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Requirements on hold / Nov release alignment; target 11/11</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GIN API v5 Upgrades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1029979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Claims DDIT in progress; additional API analysis complete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2/2/2027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Move Informatica Powercenter, SQL &amp; Windows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1029588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Migration planning and line engagement</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MPPC to MPI Conversion at Notice of Cancel</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1031134</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Design simplification and release planning</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Overall finish 1/14/2027; release milestones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5" name="Text 12"/>
          <p:cNvSpPr/>
          <p:nvPr/>
        </p:nvSpPr>
        <p:spPr>
          <a:xfrm>
            <a:off x="502920" y="6309360"/>
            <a:ext cx="10972800" cy="219456"/>
          </a:xfrm>
          <a:prstGeom prst="rect">
            <a:avLst/>
          </a:prstGeom>
          <a:noFill/>
          <a:ln/>
        </p:spPr>
        <p:txBody>
          <a:bodyPr wrap="square" lIns="0" tIns="0" rIns="0" bIns="0" rtlCol="0" anchor="ctr"/>
          <a:lstStyle/>
          <a:p>
            <a:pPr marL="0" indent="0">
              <a:buNone/>
            </a:pPr>
            <a:r>
              <a:rPr lang="en-US" sz="750" i="1" dirty="0">
                <a:solidFill>
                  <a:srgbClr val="5A6472"/>
                </a:solidFill>
                <a:latin typeface="Arial" pitchFamily="34" charset="0"/>
                <a:ea typeface="Arial" pitchFamily="34" charset="-122"/>
                <a:cs typeface="Arial" pitchFamily="34" charset="-120"/>
              </a:rPr>
              <a:t>NR = Not Reported (no matching August source value).</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600" b="1" dirty="0">
                <a:solidFill>
                  <a:srgbClr val="0047BB"/>
                </a:solidFill>
                <a:latin typeface="Georgia" pitchFamily="34" charset="0"/>
                <a:ea typeface="Georgia" pitchFamily="34" charset="-122"/>
                <a:cs typeface="Georgia" pitchFamily="34" charset="-120"/>
              </a:rPr>
              <a:t>Green projects also include completed releases and platform stability work moving through milestones.</a:t>
            </a:r>
            <a:endParaRPr lang="en-US" sz="1600" dirty="0"/>
          </a:p>
        </p:txBody>
      </p:sp>
      <p:sp>
        <p:nvSpPr>
          <p:cNvPr id="3" name="Text 1"/>
          <p:cNvSpPr/>
          <p:nvPr/>
        </p:nvSpPr>
        <p:spPr>
          <a:xfrm>
            <a:off x="9509760" y="1115568"/>
            <a:ext cx="2194560" cy="274320"/>
          </a:xfrm>
          <a:prstGeom prst="rect">
            <a:avLst/>
          </a:prstGeom>
          <a:noFill/>
          <a:ln/>
        </p:spPr>
        <p:txBody>
          <a:bodyPr wrap="square" lIns="0" tIns="0" rIns="0" bIns="0" rtlCol="0" anchor="ctr"/>
          <a:lstStyle/>
          <a:p>
            <a:pPr marL="0" indent="0" algn="r">
              <a:buNone/>
            </a:pPr>
            <a:r>
              <a:rPr lang="en-US" sz="900" b="1" dirty="0">
                <a:solidFill>
                  <a:srgbClr val="5A6472"/>
                </a:solidFill>
                <a:latin typeface="Arial" pitchFamily="34" charset="0"/>
                <a:ea typeface="Arial" pitchFamily="34" charset="-122"/>
                <a:cs typeface="Arial" pitchFamily="34" charset="-120"/>
              </a:rPr>
              <a:t>Green — 2 of 2</a:t>
            </a:r>
            <a:endParaRPr lang="en-US" sz="900" dirty="0"/>
          </a:p>
        </p:txBody>
      </p:sp>
      <p:sp>
        <p:nvSpPr>
          <p:cNvPr id="4" name="Shape 2"/>
          <p:cNvSpPr/>
          <p:nvPr/>
        </p:nvSpPr>
        <p:spPr>
          <a:xfrm>
            <a:off x="502920" y="1124712"/>
            <a:ext cx="146304" cy="146304"/>
          </a:xfrm>
          <a:prstGeom prst="rect">
            <a:avLst/>
          </a:prstGeom>
          <a:solidFill>
            <a:srgbClr val="C0392B"/>
          </a:solidFill>
          <a:ln/>
        </p:spPr>
        <p:txBody>
          <a:bodyPr/>
          <a:lstStyle/>
          <a:p>
            <a:endParaRPr lang="en-US"/>
          </a:p>
        </p:txBody>
      </p:sp>
      <p:sp>
        <p:nvSpPr>
          <p:cNvPr id="5" name="Text 3"/>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6" name="Shape 4"/>
          <p:cNvSpPr/>
          <p:nvPr/>
        </p:nvSpPr>
        <p:spPr>
          <a:xfrm>
            <a:off x="1303020" y="1124712"/>
            <a:ext cx="146304" cy="146304"/>
          </a:xfrm>
          <a:prstGeom prst="rect">
            <a:avLst/>
          </a:prstGeom>
          <a:solidFill>
            <a:srgbClr val="E6A817"/>
          </a:solidFill>
          <a:ln/>
        </p:spPr>
        <p:txBody>
          <a:bodyPr/>
          <a:lstStyle/>
          <a:p>
            <a:endParaRPr lang="en-US"/>
          </a:p>
        </p:txBody>
      </p:sp>
      <p:sp>
        <p:nvSpPr>
          <p:cNvPr id="7" name="Text 5"/>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8" name="Shape 6"/>
          <p:cNvSpPr/>
          <p:nvPr/>
        </p:nvSpPr>
        <p:spPr>
          <a:xfrm>
            <a:off x="2336292" y="1124712"/>
            <a:ext cx="146304" cy="146304"/>
          </a:xfrm>
          <a:prstGeom prst="rect">
            <a:avLst/>
          </a:prstGeom>
          <a:solidFill>
            <a:srgbClr val="2E7D32"/>
          </a:solidFill>
          <a:ln/>
        </p:spPr>
        <p:txBody>
          <a:bodyPr/>
          <a:lstStyle/>
          <a:p>
            <a:endParaRPr lang="en-US"/>
          </a:p>
        </p:txBody>
      </p:sp>
      <p:sp>
        <p:nvSpPr>
          <p:cNvPr id="9" name="Text 7"/>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10" name="Shape 8"/>
          <p:cNvSpPr/>
          <p:nvPr/>
        </p:nvSpPr>
        <p:spPr>
          <a:xfrm>
            <a:off x="3291840" y="1124712"/>
            <a:ext cx="146304" cy="146304"/>
          </a:xfrm>
          <a:prstGeom prst="rect">
            <a:avLst/>
          </a:prstGeom>
          <a:solidFill>
            <a:srgbClr val="0047BB"/>
          </a:solidFill>
          <a:ln/>
        </p:spPr>
        <p:txBody>
          <a:bodyPr/>
          <a:lstStyle/>
          <a:p>
            <a:endParaRPr lang="en-US"/>
          </a:p>
        </p:txBody>
      </p:sp>
      <p:sp>
        <p:nvSpPr>
          <p:cNvPr id="11" name="Text 9"/>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2" name="Shape 10"/>
          <p:cNvSpPr/>
          <p:nvPr/>
        </p:nvSpPr>
        <p:spPr>
          <a:xfrm>
            <a:off x="4558284" y="1124712"/>
            <a:ext cx="146304" cy="146304"/>
          </a:xfrm>
          <a:prstGeom prst="rect">
            <a:avLst/>
          </a:prstGeom>
          <a:solidFill>
            <a:srgbClr val="7A828E"/>
          </a:solidFill>
          <a:ln/>
        </p:spPr>
        <p:txBody>
          <a:bodyPr/>
          <a:lstStyle/>
          <a:p>
            <a:endParaRPr lang="en-US"/>
          </a:p>
        </p:txBody>
      </p:sp>
      <p:sp>
        <p:nvSpPr>
          <p:cNvPr id="13" name="Text 11"/>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02920">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Non-Insurance Pet Protection Bundle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1024485</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Production release complete; reporting follow-up remains</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10/30/2026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Paperless E-Delivery</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1026960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One-time data load and MMP2 warranty complete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10/29/2026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PET Enhancement - MPPC UW Questions MVP3</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1030950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MVP3 release 9/16 and warranty release 9/23</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Overall finish 3/10/2027; MVP3.5 production 2/10/2027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Portal and GIN Stability</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1031470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Stability work and platform hardening in progress</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3/31/2027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Portal Stability Work</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1029256</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3A2E00"/>
                          </a:solidFill>
                          <a:latin typeface="Arial" pitchFamily="34" charset="0"/>
                          <a:ea typeface="Arial" pitchFamily="34" charset="-122"/>
                          <a:cs typeface="Arial" pitchFamily="34" charset="-120"/>
                        </a:rPr>
                        <a:t>Yellow</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September scope delivered; source supports continued platform work</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Pricing Segmentation Sophistication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1024050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Release wave execution and state scope management</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1/13/2027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QEC A/B Testing &amp; Tool Enhancements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1028060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Funnel and experience optimization work</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Refresh the Windows 2016 Server</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1029977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Server OS upgrade delivery in progress</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Pet Data Center Transition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1022011</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Successful cutover / transition work reflected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10/12/2026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5" name="Text 12"/>
          <p:cNvSpPr/>
          <p:nvPr/>
        </p:nvSpPr>
        <p:spPr>
          <a:xfrm>
            <a:off x="502920" y="6309360"/>
            <a:ext cx="10972800" cy="219456"/>
          </a:xfrm>
          <a:prstGeom prst="rect">
            <a:avLst/>
          </a:prstGeom>
          <a:noFill/>
          <a:ln/>
        </p:spPr>
        <p:txBody>
          <a:bodyPr wrap="square" lIns="0" tIns="0" rIns="0" bIns="0" rtlCol="0" anchor="ctr"/>
          <a:lstStyle/>
          <a:p>
            <a:pPr marL="0" indent="0">
              <a:buNone/>
            </a:pPr>
            <a:r>
              <a:rPr lang="en-US" sz="750" i="1" dirty="0">
                <a:solidFill>
                  <a:srgbClr val="5A6472"/>
                </a:solidFill>
                <a:latin typeface="Arial" pitchFamily="34" charset="0"/>
                <a:ea typeface="Arial" pitchFamily="34" charset="-122"/>
                <a:cs typeface="Arial" pitchFamily="34" charset="-120"/>
              </a:rPr>
              <a:t>NR = Not Reported (no matching August source value).</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600" b="1" dirty="0">
                <a:solidFill>
                  <a:srgbClr val="0047BB"/>
                </a:solidFill>
                <a:latin typeface="Georgia" pitchFamily="34" charset="0"/>
                <a:ea typeface="Georgia" pitchFamily="34" charset="-122"/>
                <a:cs typeface="Georgia" pitchFamily="34" charset="-120"/>
              </a:rPr>
              <a:t>Five projects are classified Completed by the September Planview lifecycle field.</a:t>
            </a:r>
            <a:endParaRPr lang="en-US" sz="1600" dirty="0"/>
          </a:p>
        </p:txBody>
      </p:sp>
      <p:sp>
        <p:nvSpPr>
          <p:cNvPr id="3" name="Shape 1"/>
          <p:cNvSpPr/>
          <p:nvPr/>
        </p:nvSpPr>
        <p:spPr>
          <a:xfrm>
            <a:off x="502920" y="1124712"/>
            <a:ext cx="146304" cy="146304"/>
          </a:xfrm>
          <a:prstGeom prst="rect">
            <a:avLst/>
          </a:prstGeom>
          <a:solidFill>
            <a:srgbClr val="C0392B"/>
          </a:solidFill>
          <a:ln/>
        </p:spPr>
        <p:txBody>
          <a:bodyPr/>
          <a:lstStyle/>
          <a:p>
            <a:endParaRPr lang="en-US"/>
          </a:p>
        </p:txBody>
      </p:sp>
      <p:sp>
        <p:nvSpPr>
          <p:cNvPr id="4" name="Text 2"/>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5" name="Shape 3"/>
          <p:cNvSpPr/>
          <p:nvPr/>
        </p:nvSpPr>
        <p:spPr>
          <a:xfrm>
            <a:off x="1303020" y="1124712"/>
            <a:ext cx="146304" cy="146304"/>
          </a:xfrm>
          <a:prstGeom prst="rect">
            <a:avLst/>
          </a:prstGeom>
          <a:solidFill>
            <a:srgbClr val="E6A817"/>
          </a:solidFill>
          <a:ln/>
        </p:spPr>
        <p:txBody>
          <a:bodyPr/>
          <a:lstStyle/>
          <a:p>
            <a:endParaRPr lang="en-US"/>
          </a:p>
        </p:txBody>
      </p:sp>
      <p:sp>
        <p:nvSpPr>
          <p:cNvPr id="6" name="Text 4"/>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7" name="Shape 5"/>
          <p:cNvSpPr/>
          <p:nvPr/>
        </p:nvSpPr>
        <p:spPr>
          <a:xfrm>
            <a:off x="2336292" y="1124712"/>
            <a:ext cx="146304" cy="146304"/>
          </a:xfrm>
          <a:prstGeom prst="rect">
            <a:avLst/>
          </a:prstGeom>
          <a:solidFill>
            <a:srgbClr val="2E7D32"/>
          </a:solidFill>
          <a:ln/>
        </p:spPr>
        <p:txBody>
          <a:bodyPr/>
          <a:lstStyle/>
          <a:p>
            <a:endParaRPr lang="en-US"/>
          </a:p>
        </p:txBody>
      </p:sp>
      <p:sp>
        <p:nvSpPr>
          <p:cNvPr id="8" name="Text 6"/>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9" name="Shape 7"/>
          <p:cNvSpPr/>
          <p:nvPr/>
        </p:nvSpPr>
        <p:spPr>
          <a:xfrm>
            <a:off x="3291840" y="1124712"/>
            <a:ext cx="146304" cy="146304"/>
          </a:xfrm>
          <a:prstGeom prst="rect">
            <a:avLst/>
          </a:prstGeom>
          <a:solidFill>
            <a:srgbClr val="0047BB"/>
          </a:solidFill>
          <a:ln/>
        </p:spPr>
        <p:txBody>
          <a:bodyPr/>
          <a:lstStyle/>
          <a:p>
            <a:endParaRPr lang="en-US"/>
          </a:p>
        </p:txBody>
      </p:sp>
      <p:sp>
        <p:nvSpPr>
          <p:cNvPr id="10" name="Text 8"/>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1" name="Shape 9"/>
          <p:cNvSpPr/>
          <p:nvPr/>
        </p:nvSpPr>
        <p:spPr>
          <a:xfrm>
            <a:off x="4558284" y="1124712"/>
            <a:ext cx="146304" cy="146304"/>
          </a:xfrm>
          <a:prstGeom prst="rect">
            <a:avLst/>
          </a:prstGeom>
          <a:solidFill>
            <a:srgbClr val="7A828E"/>
          </a:solidFill>
          <a:ln/>
        </p:spPr>
        <p:txBody>
          <a:bodyPr/>
          <a:lstStyle/>
          <a:p>
            <a:endParaRPr lang="en-US"/>
          </a:p>
        </p:txBody>
      </p:sp>
      <p:sp>
        <p:nvSpPr>
          <p:cNvPr id="12" name="Text 10"/>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676656">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676656">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Callback Widget for PET Tool</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1032259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Lifecycle Stage = Completed; no current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76656">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Enhancement for Commission Reporting</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1029608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Lifecycle Stage = 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676656">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MM to MM Non CA Migration Capability</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1030589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Lifecycle Stage = 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4/30/2027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76656">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Unapproved States Product Build</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1030587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Green</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2E7D32"/>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Lifecycle Stage = 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12/31/2027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676656">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Pet Small Projects allocation for MM</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1015021</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Lifecycle Stage = Completed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Schedule finish 12/31/2026 in source</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Text 11"/>
          <p:cNvSpPr/>
          <p:nvPr/>
        </p:nvSpPr>
        <p:spPr>
          <a:xfrm>
            <a:off x="502920" y="5394960"/>
            <a:ext cx="10972800" cy="274320"/>
          </a:xfrm>
          <a:prstGeom prst="rect">
            <a:avLst/>
          </a:prstGeom>
          <a:noFill/>
          <a:ln/>
        </p:spPr>
        <p:txBody>
          <a:bodyPr wrap="square" lIns="0" tIns="0" rIns="0" bIns="0" rtlCol="0" anchor="ctr"/>
          <a:lstStyle/>
          <a:p>
            <a:pPr marL="0" indent="0">
              <a:buNone/>
            </a:pPr>
            <a:r>
              <a:rPr lang="en-US" sz="800" i="1" dirty="0">
                <a:solidFill>
                  <a:srgbClr val="5A6472"/>
                </a:solidFill>
                <a:latin typeface="Arial" pitchFamily="34" charset="0"/>
                <a:ea typeface="Arial" pitchFamily="34" charset="-122"/>
                <a:cs typeface="Arial" pitchFamily="34" charset="-120"/>
              </a:rPr>
              <a:t>Completed classification is based on the September Planview lifecycle field; no additional completion claims are added. NR = Not Reported.</a:t>
            </a:r>
            <a:endParaRPr lang="en-US" sz="80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500" b="1" dirty="0">
                <a:solidFill>
                  <a:srgbClr val="0047BB"/>
                </a:solidFill>
                <a:latin typeface="Georgia" pitchFamily="34" charset="0"/>
                <a:ea typeface="Georgia" pitchFamily="34" charset="-122"/>
                <a:cs typeface="Georgia" pitchFamily="34" charset="-120"/>
              </a:rPr>
              <a:t>Eighteen projects have no September overall RAG; visibility should not be confused with delivery health.</a:t>
            </a:r>
            <a:endParaRPr lang="en-US" sz="1500" dirty="0"/>
          </a:p>
        </p:txBody>
      </p:sp>
      <p:sp>
        <p:nvSpPr>
          <p:cNvPr id="3" name="Text 1"/>
          <p:cNvSpPr/>
          <p:nvPr/>
        </p:nvSpPr>
        <p:spPr>
          <a:xfrm>
            <a:off x="9144000" y="1115568"/>
            <a:ext cx="2560320" cy="274320"/>
          </a:xfrm>
          <a:prstGeom prst="rect">
            <a:avLst/>
          </a:prstGeom>
          <a:noFill/>
          <a:ln/>
        </p:spPr>
        <p:txBody>
          <a:bodyPr wrap="square" lIns="0" tIns="0" rIns="0" bIns="0" rtlCol="0" anchor="ctr"/>
          <a:lstStyle/>
          <a:p>
            <a:pPr marL="0" indent="0" algn="r">
              <a:buNone/>
            </a:pPr>
            <a:r>
              <a:rPr lang="en-US" sz="900" b="1" dirty="0">
                <a:solidFill>
                  <a:srgbClr val="5A6472"/>
                </a:solidFill>
                <a:latin typeface="Arial" pitchFamily="34" charset="0"/>
                <a:ea typeface="Arial" pitchFamily="34" charset="-122"/>
                <a:cs typeface="Arial" pitchFamily="34" charset="-120"/>
              </a:rPr>
              <a:t>Not Assessed — 1 of 2</a:t>
            </a:r>
            <a:endParaRPr lang="en-US" sz="900" dirty="0"/>
          </a:p>
        </p:txBody>
      </p:sp>
      <p:sp>
        <p:nvSpPr>
          <p:cNvPr id="4" name="Shape 2"/>
          <p:cNvSpPr/>
          <p:nvPr/>
        </p:nvSpPr>
        <p:spPr>
          <a:xfrm>
            <a:off x="502920" y="1124712"/>
            <a:ext cx="146304" cy="146304"/>
          </a:xfrm>
          <a:prstGeom prst="rect">
            <a:avLst/>
          </a:prstGeom>
          <a:solidFill>
            <a:srgbClr val="C0392B"/>
          </a:solidFill>
          <a:ln/>
        </p:spPr>
        <p:txBody>
          <a:bodyPr/>
          <a:lstStyle/>
          <a:p>
            <a:endParaRPr lang="en-US"/>
          </a:p>
        </p:txBody>
      </p:sp>
      <p:sp>
        <p:nvSpPr>
          <p:cNvPr id="5" name="Text 3"/>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6" name="Shape 4"/>
          <p:cNvSpPr/>
          <p:nvPr/>
        </p:nvSpPr>
        <p:spPr>
          <a:xfrm>
            <a:off x="1303020" y="1124712"/>
            <a:ext cx="146304" cy="146304"/>
          </a:xfrm>
          <a:prstGeom prst="rect">
            <a:avLst/>
          </a:prstGeom>
          <a:solidFill>
            <a:srgbClr val="E6A817"/>
          </a:solidFill>
          <a:ln/>
        </p:spPr>
        <p:txBody>
          <a:bodyPr/>
          <a:lstStyle/>
          <a:p>
            <a:endParaRPr lang="en-US"/>
          </a:p>
        </p:txBody>
      </p:sp>
      <p:sp>
        <p:nvSpPr>
          <p:cNvPr id="7" name="Text 5"/>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8" name="Shape 6"/>
          <p:cNvSpPr/>
          <p:nvPr/>
        </p:nvSpPr>
        <p:spPr>
          <a:xfrm>
            <a:off x="2336292" y="1124712"/>
            <a:ext cx="146304" cy="146304"/>
          </a:xfrm>
          <a:prstGeom prst="rect">
            <a:avLst/>
          </a:prstGeom>
          <a:solidFill>
            <a:srgbClr val="2E7D32"/>
          </a:solidFill>
          <a:ln/>
        </p:spPr>
        <p:txBody>
          <a:bodyPr/>
          <a:lstStyle/>
          <a:p>
            <a:endParaRPr lang="en-US"/>
          </a:p>
        </p:txBody>
      </p:sp>
      <p:sp>
        <p:nvSpPr>
          <p:cNvPr id="9" name="Text 7"/>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10" name="Shape 8"/>
          <p:cNvSpPr/>
          <p:nvPr/>
        </p:nvSpPr>
        <p:spPr>
          <a:xfrm>
            <a:off x="3291840" y="1124712"/>
            <a:ext cx="146304" cy="146304"/>
          </a:xfrm>
          <a:prstGeom prst="rect">
            <a:avLst/>
          </a:prstGeom>
          <a:solidFill>
            <a:srgbClr val="0047BB"/>
          </a:solidFill>
          <a:ln/>
        </p:spPr>
        <p:txBody>
          <a:bodyPr/>
          <a:lstStyle/>
          <a:p>
            <a:endParaRPr lang="en-US"/>
          </a:p>
        </p:txBody>
      </p:sp>
      <p:sp>
        <p:nvSpPr>
          <p:cNvPr id="11" name="Text 9"/>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2" name="Shape 10"/>
          <p:cNvSpPr/>
          <p:nvPr/>
        </p:nvSpPr>
        <p:spPr>
          <a:xfrm>
            <a:off x="4558284" y="1124712"/>
            <a:ext cx="146304" cy="146304"/>
          </a:xfrm>
          <a:prstGeom prst="rect">
            <a:avLst/>
          </a:prstGeom>
          <a:solidFill>
            <a:srgbClr val="7A828E"/>
          </a:solidFill>
          <a:ln/>
        </p:spPr>
        <p:txBody>
          <a:bodyPr/>
          <a:lstStyle/>
          <a:p>
            <a:endParaRPr lang="en-US"/>
          </a:p>
        </p:txBody>
      </p:sp>
      <p:sp>
        <p:nvSpPr>
          <p:cNvPr id="13" name="Text 11"/>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02920">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AR Report vs. GL inconsistencies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1031458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Planning / P2B work shown;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Claims History Report for GIN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1032289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Work description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Data Quality Submission Chatbot</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1032487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Data quality intake / agent concept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10/16/2026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DNS &amp; Regi Updates Moniker to CSCglobal</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1031784</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Intake limited to registration movement;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11/30/2026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Enable PED Override for MPPC Payroll</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1030826</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Work description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Enable Policy Search in EID in GIN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1032258</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Policy-search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11/30/2026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GIN BPG8 Task Update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1031455</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Task-date change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11/30/2026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GIN Cap/Scalability to 1.5-2M policies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1032177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Additional funding / scalability scope noted;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1/7/2027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IT Operational Risk Reserve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1032179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Reserve / OTL support item;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5" name="Text 12"/>
          <p:cNvSpPr/>
          <p:nvPr/>
        </p:nvSpPr>
        <p:spPr>
          <a:xfrm>
            <a:off x="502920" y="6309360"/>
            <a:ext cx="10972800" cy="219456"/>
          </a:xfrm>
          <a:prstGeom prst="rect">
            <a:avLst/>
          </a:prstGeom>
          <a:noFill/>
          <a:ln/>
        </p:spPr>
        <p:txBody>
          <a:bodyPr wrap="square" lIns="0" tIns="0" rIns="0" bIns="0" rtlCol="0" anchor="ctr"/>
          <a:lstStyle/>
          <a:p>
            <a:pPr marL="0" indent="0">
              <a:buNone/>
            </a:pPr>
            <a:r>
              <a:rPr lang="en-US" sz="750" i="1" dirty="0">
                <a:solidFill>
                  <a:srgbClr val="5A6472"/>
                </a:solidFill>
                <a:latin typeface="Arial" pitchFamily="34" charset="0"/>
                <a:ea typeface="Arial" pitchFamily="34" charset="-122"/>
                <a:cs typeface="Arial" pitchFamily="34" charset="-120"/>
              </a:rPr>
              <a:t>Not Assessed = September Planview supplied no overall RAG. NR = Not Reported.</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500" b="1" dirty="0">
                <a:solidFill>
                  <a:srgbClr val="0047BB"/>
                </a:solidFill>
                <a:latin typeface="Georgia" pitchFamily="34" charset="0"/>
                <a:ea typeface="Georgia" pitchFamily="34" charset="-122"/>
                <a:cs typeface="Georgia" pitchFamily="34" charset="-120"/>
              </a:rPr>
              <a:t>The remaining Not Assessed items are retained as source gaps, not inferred health ratings.</a:t>
            </a:r>
            <a:endParaRPr lang="en-US" sz="1500" dirty="0"/>
          </a:p>
        </p:txBody>
      </p:sp>
      <p:sp>
        <p:nvSpPr>
          <p:cNvPr id="3" name="Text 1"/>
          <p:cNvSpPr/>
          <p:nvPr/>
        </p:nvSpPr>
        <p:spPr>
          <a:xfrm>
            <a:off x="9144000" y="1115568"/>
            <a:ext cx="2560320" cy="274320"/>
          </a:xfrm>
          <a:prstGeom prst="rect">
            <a:avLst/>
          </a:prstGeom>
          <a:noFill/>
          <a:ln/>
        </p:spPr>
        <p:txBody>
          <a:bodyPr wrap="square" lIns="0" tIns="0" rIns="0" bIns="0" rtlCol="0" anchor="ctr"/>
          <a:lstStyle/>
          <a:p>
            <a:pPr marL="0" indent="0" algn="r">
              <a:buNone/>
            </a:pPr>
            <a:r>
              <a:rPr lang="en-US" sz="900" b="1" dirty="0">
                <a:solidFill>
                  <a:srgbClr val="5A6472"/>
                </a:solidFill>
                <a:latin typeface="Arial" pitchFamily="34" charset="0"/>
                <a:ea typeface="Arial" pitchFamily="34" charset="-122"/>
                <a:cs typeface="Arial" pitchFamily="34" charset="-120"/>
              </a:rPr>
              <a:t>Not Assessed — 2 of 2</a:t>
            </a:r>
            <a:endParaRPr lang="en-US" sz="900" dirty="0"/>
          </a:p>
        </p:txBody>
      </p:sp>
      <p:sp>
        <p:nvSpPr>
          <p:cNvPr id="4" name="Shape 2"/>
          <p:cNvSpPr/>
          <p:nvPr/>
        </p:nvSpPr>
        <p:spPr>
          <a:xfrm>
            <a:off x="502920" y="1124712"/>
            <a:ext cx="146304" cy="146304"/>
          </a:xfrm>
          <a:prstGeom prst="rect">
            <a:avLst/>
          </a:prstGeom>
          <a:solidFill>
            <a:srgbClr val="C0392B"/>
          </a:solidFill>
          <a:ln/>
        </p:spPr>
        <p:txBody>
          <a:bodyPr/>
          <a:lstStyle/>
          <a:p>
            <a:endParaRPr lang="en-US"/>
          </a:p>
        </p:txBody>
      </p:sp>
      <p:sp>
        <p:nvSpPr>
          <p:cNvPr id="5" name="Text 3"/>
          <p:cNvSpPr/>
          <p:nvPr/>
        </p:nvSpPr>
        <p:spPr>
          <a:xfrm>
            <a:off x="685800" y="1069848"/>
            <a:ext cx="507492"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Red</a:t>
            </a:r>
            <a:endParaRPr lang="en-US" sz="850" dirty="0"/>
          </a:p>
        </p:txBody>
      </p:sp>
      <p:sp>
        <p:nvSpPr>
          <p:cNvPr id="6" name="Shape 4"/>
          <p:cNvSpPr/>
          <p:nvPr/>
        </p:nvSpPr>
        <p:spPr>
          <a:xfrm>
            <a:off x="1303020" y="1124712"/>
            <a:ext cx="146304" cy="146304"/>
          </a:xfrm>
          <a:prstGeom prst="rect">
            <a:avLst/>
          </a:prstGeom>
          <a:solidFill>
            <a:srgbClr val="E6A817"/>
          </a:solidFill>
          <a:ln/>
        </p:spPr>
        <p:txBody>
          <a:bodyPr/>
          <a:lstStyle/>
          <a:p>
            <a:endParaRPr lang="en-US"/>
          </a:p>
        </p:txBody>
      </p:sp>
      <p:sp>
        <p:nvSpPr>
          <p:cNvPr id="7" name="Text 5"/>
          <p:cNvSpPr/>
          <p:nvPr/>
        </p:nvSpPr>
        <p:spPr>
          <a:xfrm>
            <a:off x="1485900" y="1069848"/>
            <a:ext cx="740664"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Yellow</a:t>
            </a:r>
            <a:endParaRPr lang="en-US" sz="850" dirty="0"/>
          </a:p>
        </p:txBody>
      </p:sp>
      <p:sp>
        <p:nvSpPr>
          <p:cNvPr id="8" name="Shape 6"/>
          <p:cNvSpPr/>
          <p:nvPr/>
        </p:nvSpPr>
        <p:spPr>
          <a:xfrm>
            <a:off x="2336292" y="1124712"/>
            <a:ext cx="146304" cy="146304"/>
          </a:xfrm>
          <a:prstGeom prst="rect">
            <a:avLst/>
          </a:prstGeom>
          <a:solidFill>
            <a:srgbClr val="2E7D32"/>
          </a:solidFill>
          <a:ln/>
        </p:spPr>
        <p:txBody>
          <a:bodyPr/>
          <a:lstStyle/>
          <a:p>
            <a:endParaRPr lang="en-US"/>
          </a:p>
        </p:txBody>
      </p:sp>
      <p:sp>
        <p:nvSpPr>
          <p:cNvPr id="9" name="Text 7"/>
          <p:cNvSpPr/>
          <p:nvPr/>
        </p:nvSpPr>
        <p:spPr>
          <a:xfrm>
            <a:off x="2519172" y="1069848"/>
            <a:ext cx="662940"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Green</a:t>
            </a:r>
            <a:endParaRPr lang="en-US" sz="850" dirty="0"/>
          </a:p>
        </p:txBody>
      </p:sp>
      <p:sp>
        <p:nvSpPr>
          <p:cNvPr id="10" name="Shape 8"/>
          <p:cNvSpPr/>
          <p:nvPr/>
        </p:nvSpPr>
        <p:spPr>
          <a:xfrm>
            <a:off x="3291840" y="1124712"/>
            <a:ext cx="146304" cy="146304"/>
          </a:xfrm>
          <a:prstGeom prst="rect">
            <a:avLst/>
          </a:prstGeom>
          <a:solidFill>
            <a:srgbClr val="0047BB"/>
          </a:solidFill>
          <a:ln/>
        </p:spPr>
        <p:txBody>
          <a:bodyPr/>
          <a:lstStyle/>
          <a:p>
            <a:endParaRPr lang="en-US"/>
          </a:p>
        </p:txBody>
      </p:sp>
      <p:sp>
        <p:nvSpPr>
          <p:cNvPr id="11" name="Text 9"/>
          <p:cNvSpPr/>
          <p:nvPr/>
        </p:nvSpPr>
        <p:spPr>
          <a:xfrm>
            <a:off x="3474720" y="1069848"/>
            <a:ext cx="973836"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Completed</a:t>
            </a:r>
            <a:endParaRPr lang="en-US" sz="850" dirty="0"/>
          </a:p>
        </p:txBody>
      </p:sp>
      <p:sp>
        <p:nvSpPr>
          <p:cNvPr id="12" name="Shape 10"/>
          <p:cNvSpPr/>
          <p:nvPr/>
        </p:nvSpPr>
        <p:spPr>
          <a:xfrm>
            <a:off x="4558284" y="1124712"/>
            <a:ext cx="146304" cy="146304"/>
          </a:xfrm>
          <a:prstGeom prst="rect">
            <a:avLst/>
          </a:prstGeom>
          <a:solidFill>
            <a:srgbClr val="7A828E"/>
          </a:solidFill>
          <a:ln/>
        </p:spPr>
        <p:txBody>
          <a:bodyPr/>
          <a:lstStyle/>
          <a:p>
            <a:endParaRPr lang="en-US"/>
          </a:p>
        </p:txBody>
      </p:sp>
      <p:sp>
        <p:nvSpPr>
          <p:cNvPr id="13" name="Text 11"/>
          <p:cNvSpPr/>
          <p:nvPr/>
        </p:nvSpPr>
        <p:spPr>
          <a:xfrm>
            <a:off x="4741164" y="1069848"/>
            <a:ext cx="1207008" cy="256032"/>
          </a:xfrm>
          <a:prstGeom prst="rect">
            <a:avLst/>
          </a:prstGeom>
          <a:noFill/>
          <a:ln/>
        </p:spPr>
        <p:txBody>
          <a:bodyPr wrap="square" lIns="0" tIns="0" rIns="0" bIns="0" rtlCol="0" anchor="ctr"/>
          <a:lstStyle/>
          <a:p>
            <a:pPr marL="0" indent="0" algn="l">
              <a:buNone/>
            </a:pPr>
            <a:r>
              <a:rPr lang="en-US" sz="850" dirty="0">
                <a:solidFill>
                  <a:srgbClr val="20242E"/>
                </a:solidFill>
                <a:latin typeface="Arial" pitchFamily="34" charset="0"/>
                <a:ea typeface="Arial" pitchFamily="34" charset="-122"/>
                <a:cs typeface="Arial" pitchFamily="34" charset="-120"/>
              </a:rPr>
              <a:t>Not Assessed</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247120" cy="914400"/>
        </p:xfrm>
        <a:graphic>
          <a:graphicData uri="http://schemas.openxmlformats.org/drawingml/2006/table">
            <a:tbl>
              <a:tblPr/>
              <a:tblGrid>
                <a:gridCol w="306324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28800">
                  <a:extLst>
                    <a:ext uri="{9D8B030D-6E8A-4147-A177-3AD203B41FA5}">
                      <a16:colId xmlns:a16="http://schemas.microsoft.com/office/drawing/2014/main" val="20005"/>
                    </a:ext>
                  </a:extLst>
                </a:gridCol>
              </a:tblGrid>
              <a:tr h="502920">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Project</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Work ID</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Prev.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Current RAG</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Key Driver</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900" b="1" dirty="0">
                          <a:solidFill>
                            <a:srgbClr val="FFFFFF"/>
                          </a:solidFill>
                          <a:latin typeface="Arial" pitchFamily="34" charset="0"/>
                          <a:ea typeface="Arial" pitchFamily="34" charset="-122"/>
                          <a:cs typeface="Arial" pitchFamily="34" charset="-120"/>
                        </a:rPr>
                        <a:t>Target Delivery</a:t>
                      </a:r>
                      <a:endParaRPr lang="en-US" sz="9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MA Junk Fee Regulation</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1029723</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Compliance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MA MPPC Dec Page Update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1032274</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Form-mapping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12/14/2026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Perks Page + uplift in Portal</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1031021</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Portal page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11/30/2026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Pet Analytics Model Outputs S3 Bucket</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1030239</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Governed analytics-output storage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12/8/2026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Phone Quote Email (BPG2) Enhancements</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1031457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Quote-email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Portfolio Readiness OTL Reserve</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1032181</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Reserve item for 2026/2027 readiness;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12/31/2026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Remove MPPC Utilization Level Capping PA</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1032273</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PA-specific cap removal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12/8/2026</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Sales Conversion by Channel Reporting Data</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1030930</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REN/GIN conversion data alignment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3/31/2027</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8"/>
                  </a:ext>
                </a:extLst>
              </a:tr>
              <a:tr h="502920">
                <a:tc>
                  <a:txBody>
                    <a:bodyPr/>
                    <a:lstStyle/>
                    <a:p>
                      <a:pPr marL="0" indent="0" algn="l">
                        <a:buNone/>
                      </a:pPr>
                      <a:r>
                        <a:rPr lang="en-US" sz="850" b="1" dirty="0">
                          <a:solidFill>
                            <a:srgbClr val="20242E"/>
                          </a:solidFill>
                          <a:latin typeface="Arial" pitchFamily="34" charset="0"/>
                          <a:ea typeface="Arial" pitchFamily="34" charset="-122"/>
                          <a:cs typeface="Arial" pitchFamily="34" charset="-120"/>
                        </a:rPr>
                        <a:t>NW Pet: Unum Cobranding Capabilities for PET</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50" dirty="0">
                          <a:solidFill>
                            <a:srgbClr val="5A6472"/>
                          </a:solidFill>
                          <a:latin typeface="Arial" pitchFamily="34" charset="0"/>
                          <a:ea typeface="Arial" pitchFamily="34" charset="-122"/>
                          <a:cs typeface="Arial" pitchFamily="34" charset="-120"/>
                        </a:rPr>
                        <a:t>1032297</a:t>
                      </a:r>
                      <a:endParaRPr lang="en-US" sz="85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5A6472"/>
                          </a:solidFill>
                          <a:latin typeface="Arial" pitchFamily="34" charset="0"/>
                          <a:ea typeface="Arial" pitchFamily="34" charset="-122"/>
                          <a:cs typeface="Arial" pitchFamily="34" charset="-120"/>
                        </a:rPr>
                        <a:t>NR</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4E7EC"/>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Not Assessed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7A828E"/>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Embedded/authenticated PET cobranding scope supplied; no overall RAG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l">
                        <a:buNone/>
                      </a:pPr>
                      <a:r>
                        <a:rPr lang="en-US" sz="800" dirty="0">
                          <a:solidFill>
                            <a:srgbClr val="20242E"/>
                          </a:solidFill>
                          <a:latin typeface="Arial" pitchFamily="34" charset="0"/>
                          <a:ea typeface="Arial" pitchFamily="34" charset="-122"/>
                          <a:cs typeface="Arial" pitchFamily="34" charset="-120"/>
                        </a:rPr>
                        <a:t>Not supplied</a:t>
                      </a:r>
                      <a:endParaRPr lang="en-US" sz="800" dirty="0">
                        <a:latin typeface="Arial" charset="0"/>
                        <a:ea typeface="Arial" charset="0"/>
                        <a:cs typeface="Arial" charset="0"/>
                      </a:endParaRPr>
                    </a:p>
                  </a:txBody>
                  <a:tcPr marL="38100" marR="38100" marT="25400" marB="254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5" name="Text 12"/>
          <p:cNvSpPr/>
          <p:nvPr/>
        </p:nvSpPr>
        <p:spPr>
          <a:xfrm>
            <a:off x="502920" y="6309360"/>
            <a:ext cx="10972800" cy="219456"/>
          </a:xfrm>
          <a:prstGeom prst="rect">
            <a:avLst/>
          </a:prstGeom>
          <a:noFill/>
          <a:ln/>
        </p:spPr>
        <p:txBody>
          <a:bodyPr wrap="square" lIns="0" tIns="0" rIns="0" bIns="0" rtlCol="0" anchor="ctr"/>
          <a:lstStyle/>
          <a:p>
            <a:pPr marL="0" indent="0">
              <a:buNone/>
            </a:pPr>
            <a:r>
              <a:rPr lang="en-US" sz="750" i="1" dirty="0">
                <a:solidFill>
                  <a:srgbClr val="5A6472"/>
                </a:solidFill>
                <a:latin typeface="Arial" pitchFamily="34" charset="0"/>
                <a:ea typeface="Arial" pitchFamily="34" charset="-122"/>
                <a:cs typeface="Arial" pitchFamily="34" charset="-120"/>
              </a:rPr>
              <a:t>Not Assessed = September Planview supplied no overall RAG. NR = Not Reported.</a:t>
            </a:r>
            <a:endParaRPr lang="en-US" sz="7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600" b="1" dirty="0">
                <a:solidFill>
                  <a:srgbClr val="0047BB"/>
                </a:solidFill>
                <a:latin typeface="Georgia" pitchFamily="34" charset="0"/>
                <a:ea typeface="Georgia" pitchFamily="34" charset="-122"/>
                <a:cs typeface="Georgia" pitchFamily="34" charset="-120"/>
              </a:rPr>
              <a:t>Health is mixed: Red concentration rose while the source set expanded and many remain unassessed.</a:t>
            </a:r>
            <a:endParaRPr lang="en-US" sz="1600" dirty="0"/>
          </a:p>
        </p:txBody>
      </p:sp>
      <p:sp>
        <p:nvSpPr>
          <p:cNvPr id="3" name="Shape 1"/>
          <p:cNvSpPr/>
          <p:nvPr/>
        </p:nvSpPr>
        <p:spPr>
          <a:xfrm>
            <a:off x="502920"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4" name="Shape 2"/>
          <p:cNvSpPr/>
          <p:nvPr/>
        </p:nvSpPr>
        <p:spPr>
          <a:xfrm>
            <a:off x="502920" y="1188720"/>
            <a:ext cx="73152" cy="868680"/>
          </a:xfrm>
          <a:prstGeom prst="rect">
            <a:avLst/>
          </a:prstGeom>
          <a:solidFill>
            <a:srgbClr val="141B4D"/>
          </a:solidFill>
          <a:ln/>
        </p:spPr>
        <p:txBody>
          <a:bodyPr/>
          <a:lstStyle/>
          <a:p>
            <a:endParaRPr lang="en-US"/>
          </a:p>
        </p:txBody>
      </p:sp>
      <p:sp>
        <p:nvSpPr>
          <p:cNvPr id="5" name="Text 3"/>
          <p:cNvSpPr/>
          <p:nvPr/>
        </p:nvSpPr>
        <p:spPr>
          <a:xfrm>
            <a:off x="612648" y="1225296"/>
            <a:ext cx="1618488" cy="512064"/>
          </a:xfrm>
          <a:prstGeom prst="rect">
            <a:avLst/>
          </a:prstGeom>
          <a:noFill/>
          <a:ln/>
        </p:spPr>
        <p:txBody>
          <a:bodyPr wrap="square" lIns="0" tIns="0" rIns="0" bIns="0" rtlCol="0" anchor="ctr"/>
          <a:lstStyle/>
          <a:p>
            <a:pPr marL="0" indent="0" algn="l">
              <a:buNone/>
            </a:pPr>
            <a:r>
              <a:rPr lang="en-US" sz="2600" b="1" dirty="0">
                <a:solidFill>
                  <a:srgbClr val="141B4D"/>
                </a:solidFill>
                <a:latin typeface="Georgia" pitchFamily="34" charset="0"/>
                <a:ea typeface="Georgia" pitchFamily="34" charset="-122"/>
                <a:cs typeface="Georgia" pitchFamily="34" charset="-120"/>
              </a:rPr>
              <a:t>48</a:t>
            </a:r>
            <a:endParaRPr lang="en-US" sz="2600" dirty="0"/>
          </a:p>
        </p:txBody>
      </p:sp>
      <p:sp>
        <p:nvSpPr>
          <p:cNvPr id="6" name="Text 4"/>
          <p:cNvSpPr/>
          <p:nvPr/>
        </p:nvSpPr>
        <p:spPr>
          <a:xfrm>
            <a:off x="630936"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Total</a:t>
            </a:r>
            <a:endParaRPr lang="en-US" sz="900" dirty="0"/>
          </a:p>
        </p:txBody>
      </p:sp>
      <p:sp>
        <p:nvSpPr>
          <p:cNvPr id="7" name="Shape 5"/>
          <p:cNvSpPr/>
          <p:nvPr/>
        </p:nvSpPr>
        <p:spPr>
          <a:xfrm>
            <a:off x="2395728"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8" name="Shape 6"/>
          <p:cNvSpPr/>
          <p:nvPr/>
        </p:nvSpPr>
        <p:spPr>
          <a:xfrm>
            <a:off x="2395728" y="1188720"/>
            <a:ext cx="73152" cy="868680"/>
          </a:xfrm>
          <a:prstGeom prst="rect">
            <a:avLst/>
          </a:prstGeom>
          <a:solidFill>
            <a:srgbClr val="2E7D32"/>
          </a:solidFill>
          <a:ln/>
        </p:spPr>
        <p:txBody>
          <a:bodyPr/>
          <a:lstStyle/>
          <a:p>
            <a:endParaRPr lang="en-US"/>
          </a:p>
        </p:txBody>
      </p:sp>
      <p:sp>
        <p:nvSpPr>
          <p:cNvPr id="9" name="Text 7"/>
          <p:cNvSpPr/>
          <p:nvPr/>
        </p:nvSpPr>
        <p:spPr>
          <a:xfrm>
            <a:off x="2505456" y="1225296"/>
            <a:ext cx="1618488" cy="512064"/>
          </a:xfrm>
          <a:prstGeom prst="rect">
            <a:avLst/>
          </a:prstGeom>
          <a:noFill/>
          <a:ln/>
        </p:spPr>
        <p:txBody>
          <a:bodyPr wrap="square" lIns="0" tIns="0" rIns="0" bIns="0" rtlCol="0" anchor="ctr"/>
          <a:lstStyle/>
          <a:p>
            <a:pPr marL="0" indent="0" algn="l">
              <a:buNone/>
            </a:pPr>
            <a:r>
              <a:rPr lang="en-US" sz="2600" b="1" dirty="0">
                <a:solidFill>
                  <a:srgbClr val="2E7D32"/>
                </a:solidFill>
                <a:latin typeface="Georgia" pitchFamily="34" charset="0"/>
                <a:ea typeface="Georgia" pitchFamily="34" charset="-122"/>
                <a:cs typeface="Georgia" pitchFamily="34" charset="-120"/>
              </a:rPr>
              <a:t>18</a:t>
            </a:r>
            <a:endParaRPr lang="en-US" sz="2600" dirty="0"/>
          </a:p>
        </p:txBody>
      </p:sp>
      <p:sp>
        <p:nvSpPr>
          <p:cNvPr id="10" name="Text 8"/>
          <p:cNvSpPr/>
          <p:nvPr/>
        </p:nvSpPr>
        <p:spPr>
          <a:xfrm>
            <a:off x="2523744"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Green</a:t>
            </a:r>
            <a:endParaRPr lang="en-US" sz="900" dirty="0"/>
          </a:p>
        </p:txBody>
      </p:sp>
      <p:sp>
        <p:nvSpPr>
          <p:cNvPr id="11" name="Shape 9"/>
          <p:cNvSpPr/>
          <p:nvPr/>
        </p:nvSpPr>
        <p:spPr>
          <a:xfrm>
            <a:off x="4288536"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12" name="Shape 10"/>
          <p:cNvSpPr/>
          <p:nvPr/>
        </p:nvSpPr>
        <p:spPr>
          <a:xfrm>
            <a:off x="4288536" y="1188720"/>
            <a:ext cx="73152" cy="868680"/>
          </a:xfrm>
          <a:prstGeom prst="rect">
            <a:avLst/>
          </a:prstGeom>
          <a:solidFill>
            <a:srgbClr val="E6A817"/>
          </a:solidFill>
          <a:ln/>
        </p:spPr>
        <p:txBody>
          <a:bodyPr/>
          <a:lstStyle/>
          <a:p>
            <a:endParaRPr lang="en-US"/>
          </a:p>
        </p:txBody>
      </p:sp>
      <p:sp>
        <p:nvSpPr>
          <p:cNvPr id="13" name="Text 11"/>
          <p:cNvSpPr/>
          <p:nvPr/>
        </p:nvSpPr>
        <p:spPr>
          <a:xfrm>
            <a:off x="4398264" y="1225296"/>
            <a:ext cx="1618488" cy="512064"/>
          </a:xfrm>
          <a:prstGeom prst="rect">
            <a:avLst/>
          </a:prstGeom>
          <a:noFill/>
          <a:ln/>
        </p:spPr>
        <p:txBody>
          <a:bodyPr wrap="square" lIns="0" tIns="0" rIns="0" bIns="0" rtlCol="0" anchor="ctr"/>
          <a:lstStyle/>
          <a:p>
            <a:pPr marL="0" indent="0" algn="l">
              <a:buNone/>
            </a:pPr>
            <a:r>
              <a:rPr lang="en-US" sz="2600" b="1" dirty="0">
                <a:solidFill>
                  <a:srgbClr val="E6A817"/>
                </a:solidFill>
                <a:latin typeface="Georgia" pitchFamily="34" charset="0"/>
                <a:ea typeface="Georgia" pitchFamily="34" charset="-122"/>
                <a:cs typeface="Georgia" pitchFamily="34" charset="-120"/>
              </a:rPr>
              <a:t>3</a:t>
            </a:r>
            <a:endParaRPr lang="en-US" sz="2600" dirty="0"/>
          </a:p>
        </p:txBody>
      </p:sp>
      <p:sp>
        <p:nvSpPr>
          <p:cNvPr id="14" name="Text 12"/>
          <p:cNvSpPr/>
          <p:nvPr/>
        </p:nvSpPr>
        <p:spPr>
          <a:xfrm>
            <a:off x="4416552"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Yellow</a:t>
            </a:r>
            <a:endParaRPr lang="en-US" sz="900" dirty="0"/>
          </a:p>
        </p:txBody>
      </p:sp>
      <p:sp>
        <p:nvSpPr>
          <p:cNvPr id="15" name="Shape 13"/>
          <p:cNvSpPr/>
          <p:nvPr/>
        </p:nvSpPr>
        <p:spPr>
          <a:xfrm>
            <a:off x="6181344"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16" name="Shape 14"/>
          <p:cNvSpPr/>
          <p:nvPr/>
        </p:nvSpPr>
        <p:spPr>
          <a:xfrm>
            <a:off x="6181344" y="1188720"/>
            <a:ext cx="73152" cy="868680"/>
          </a:xfrm>
          <a:prstGeom prst="rect">
            <a:avLst/>
          </a:prstGeom>
          <a:solidFill>
            <a:srgbClr val="C0392B"/>
          </a:solidFill>
          <a:ln/>
        </p:spPr>
        <p:txBody>
          <a:bodyPr/>
          <a:lstStyle/>
          <a:p>
            <a:endParaRPr lang="en-US"/>
          </a:p>
        </p:txBody>
      </p:sp>
      <p:sp>
        <p:nvSpPr>
          <p:cNvPr id="17" name="Text 15"/>
          <p:cNvSpPr/>
          <p:nvPr/>
        </p:nvSpPr>
        <p:spPr>
          <a:xfrm>
            <a:off x="6291072" y="1225296"/>
            <a:ext cx="1618488" cy="512064"/>
          </a:xfrm>
          <a:prstGeom prst="rect">
            <a:avLst/>
          </a:prstGeom>
          <a:noFill/>
          <a:ln/>
        </p:spPr>
        <p:txBody>
          <a:bodyPr wrap="square" lIns="0" tIns="0" rIns="0" bIns="0" rtlCol="0" anchor="ctr"/>
          <a:lstStyle/>
          <a:p>
            <a:pPr marL="0" indent="0" algn="l">
              <a:buNone/>
            </a:pPr>
            <a:r>
              <a:rPr lang="en-US" sz="2600" b="1" dirty="0">
                <a:solidFill>
                  <a:srgbClr val="C0392B"/>
                </a:solidFill>
                <a:latin typeface="Georgia" pitchFamily="34" charset="0"/>
                <a:ea typeface="Georgia" pitchFamily="34" charset="-122"/>
                <a:cs typeface="Georgia" pitchFamily="34" charset="-120"/>
              </a:rPr>
              <a:t>4</a:t>
            </a:r>
            <a:endParaRPr lang="en-US" sz="2600" dirty="0"/>
          </a:p>
        </p:txBody>
      </p:sp>
      <p:sp>
        <p:nvSpPr>
          <p:cNvPr id="18" name="Text 16"/>
          <p:cNvSpPr/>
          <p:nvPr/>
        </p:nvSpPr>
        <p:spPr>
          <a:xfrm>
            <a:off x="6309360"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Red</a:t>
            </a:r>
            <a:endParaRPr lang="en-US" sz="900" dirty="0"/>
          </a:p>
        </p:txBody>
      </p:sp>
      <p:sp>
        <p:nvSpPr>
          <p:cNvPr id="19" name="Shape 17"/>
          <p:cNvSpPr/>
          <p:nvPr/>
        </p:nvSpPr>
        <p:spPr>
          <a:xfrm>
            <a:off x="8074152"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20" name="Shape 18"/>
          <p:cNvSpPr/>
          <p:nvPr/>
        </p:nvSpPr>
        <p:spPr>
          <a:xfrm>
            <a:off x="8074152" y="1188720"/>
            <a:ext cx="73152" cy="868680"/>
          </a:xfrm>
          <a:prstGeom prst="rect">
            <a:avLst/>
          </a:prstGeom>
          <a:solidFill>
            <a:srgbClr val="0047BB"/>
          </a:solidFill>
          <a:ln/>
        </p:spPr>
        <p:txBody>
          <a:bodyPr/>
          <a:lstStyle/>
          <a:p>
            <a:endParaRPr lang="en-US"/>
          </a:p>
        </p:txBody>
      </p:sp>
      <p:sp>
        <p:nvSpPr>
          <p:cNvPr id="21" name="Text 19"/>
          <p:cNvSpPr/>
          <p:nvPr/>
        </p:nvSpPr>
        <p:spPr>
          <a:xfrm>
            <a:off x="8183880" y="1225296"/>
            <a:ext cx="1618488" cy="512064"/>
          </a:xfrm>
          <a:prstGeom prst="rect">
            <a:avLst/>
          </a:prstGeom>
          <a:noFill/>
          <a:ln/>
        </p:spPr>
        <p:txBody>
          <a:bodyPr wrap="square" lIns="0" tIns="0" rIns="0" bIns="0" rtlCol="0" anchor="ctr"/>
          <a:lstStyle/>
          <a:p>
            <a:pPr marL="0" indent="0" algn="l">
              <a:buNone/>
            </a:pPr>
            <a:r>
              <a:rPr lang="en-US" sz="2600" b="1" dirty="0">
                <a:solidFill>
                  <a:srgbClr val="0047BB"/>
                </a:solidFill>
                <a:latin typeface="Georgia" pitchFamily="34" charset="0"/>
                <a:ea typeface="Georgia" pitchFamily="34" charset="-122"/>
                <a:cs typeface="Georgia" pitchFamily="34" charset="-120"/>
              </a:rPr>
              <a:t>5</a:t>
            </a:r>
            <a:endParaRPr lang="en-US" sz="2600" dirty="0"/>
          </a:p>
        </p:txBody>
      </p:sp>
      <p:sp>
        <p:nvSpPr>
          <p:cNvPr id="22" name="Text 20"/>
          <p:cNvSpPr/>
          <p:nvPr/>
        </p:nvSpPr>
        <p:spPr>
          <a:xfrm>
            <a:off x="8202168"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Completed</a:t>
            </a:r>
            <a:endParaRPr lang="en-US" sz="900" dirty="0"/>
          </a:p>
        </p:txBody>
      </p:sp>
      <p:sp>
        <p:nvSpPr>
          <p:cNvPr id="23" name="Shape 21"/>
          <p:cNvSpPr/>
          <p:nvPr/>
        </p:nvSpPr>
        <p:spPr>
          <a:xfrm>
            <a:off x="9966960" y="1188720"/>
            <a:ext cx="1801368" cy="868680"/>
          </a:xfrm>
          <a:prstGeom prst="rect">
            <a:avLst/>
          </a:prstGeom>
          <a:solidFill>
            <a:srgbClr val="F2F5FA"/>
          </a:solidFill>
          <a:ln w="6350">
            <a:solidFill>
              <a:srgbClr val="D5DAE3"/>
            </a:solidFill>
            <a:prstDash val="solid"/>
          </a:ln>
        </p:spPr>
        <p:txBody>
          <a:bodyPr/>
          <a:lstStyle/>
          <a:p>
            <a:endParaRPr lang="en-US"/>
          </a:p>
        </p:txBody>
      </p:sp>
      <p:sp>
        <p:nvSpPr>
          <p:cNvPr id="24" name="Shape 22"/>
          <p:cNvSpPr/>
          <p:nvPr/>
        </p:nvSpPr>
        <p:spPr>
          <a:xfrm>
            <a:off x="9966960" y="1188720"/>
            <a:ext cx="73152" cy="868680"/>
          </a:xfrm>
          <a:prstGeom prst="rect">
            <a:avLst/>
          </a:prstGeom>
          <a:solidFill>
            <a:srgbClr val="7A828E"/>
          </a:solidFill>
          <a:ln/>
        </p:spPr>
        <p:txBody>
          <a:bodyPr/>
          <a:lstStyle/>
          <a:p>
            <a:endParaRPr lang="en-US"/>
          </a:p>
        </p:txBody>
      </p:sp>
      <p:sp>
        <p:nvSpPr>
          <p:cNvPr id="25" name="Text 23"/>
          <p:cNvSpPr/>
          <p:nvPr/>
        </p:nvSpPr>
        <p:spPr>
          <a:xfrm>
            <a:off x="10076688" y="1225296"/>
            <a:ext cx="1618488" cy="512064"/>
          </a:xfrm>
          <a:prstGeom prst="rect">
            <a:avLst/>
          </a:prstGeom>
          <a:noFill/>
          <a:ln/>
        </p:spPr>
        <p:txBody>
          <a:bodyPr wrap="square" lIns="0" tIns="0" rIns="0" bIns="0" rtlCol="0" anchor="ctr"/>
          <a:lstStyle/>
          <a:p>
            <a:pPr marL="0" indent="0" algn="l">
              <a:buNone/>
            </a:pPr>
            <a:r>
              <a:rPr lang="en-US" sz="2600" b="1" dirty="0">
                <a:solidFill>
                  <a:srgbClr val="7A828E"/>
                </a:solidFill>
                <a:latin typeface="Georgia" pitchFamily="34" charset="0"/>
                <a:ea typeface="Georgia" pitchFamily="34" charset="-122"/>
                <a:cs typeface="Georgia" pitchFamily="34" charset="-120"/>
              </a:rPr>
              <a:t>18</a:t>
            </a:r>
            <a:endParaRPr lang="en-US" sz="2600" dirty="0"/>
          </a:p>
        </p:txBody>
      </p:sp>
      <p:sp>
        <p:nvSpPr>
          <p:cNvPr id="26" name="Text 24"/>
          <p:cNvSpPr/>
          <p:nvPr/>
        </p:nvSpPr>
        <p:spPr>
          <a:xfrm>
            <a:off x="10094976" y="1700784"/>
            <a:ext cx="1618488" cy="292608"/>
          </a:xfrm>
          <a:prstGeom prst="rect">
            <a:avLst/>
          </a:prstGeom>
          <a:noFill/>
          <a:ln/>
        </p:spPr>
        <p:txBody>
          <a:bodyPr wrap="square" lIns="0" tIns="0" rIns="0" bIns="0" rtlCol="0" anchor="ctr"/>
          <a:lstStyle/>
          <a:p>
            <a:pPr marL="0" indent="0" algn="l">
              <a:buNone/>
            </a:pPr>
            <a:r>
              <a:rPr lang="en-US" sz="900" b="1" dirty="0">
                <a:solidFill>
                  <a:srgbClr val="20242E"/>
                </a:solidFill>
                <a:latin typeface="Arial" pitchFamily="34" charset="0"/>
                <a:ea typeface="Arial" pitchFamily="34" charset="-122"/>
                <a:cs typeface="Arial" pitchFamily="34" charset="-120"/>
              </a:rPr>
              <a:t>Not Assessed</a:t>
            </a:r>
            <a:endParaRPr lang="en-US" sz="900" dirty="0"/>
          </a:p>
        </p:txBody>
      </p:sp>
      <p:sp>
        <p:nvSpPr>
          <p:cNvPr id="27" name="Text 25"/>
          <p:cNvSpPr/>
          <p:nvPr/>
        </p:nvSpPr>
        <p:spPr>
          <a:xfrm>
            <a:off x="502920" y="2286000"/>
            <a:ext cx="347472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DISTRIBUTION</a:t>
            </a:r>
            <a:endParaRPr lang="en-US" sz="950" dirty="0"/>
          </a:p>
        </p:txBody>
      </p:sp>
      <p:graphicFrame>
        <p:nvGraphicFramePr>
          <p:cNvPr id="28" name="Chart 0"/>
          <p:cNvGraphicFramePr/>
          <p:nvPr/>
        </p:nvGraphicFramePr>
        <p:xfrm>
          <a:off x="365760" y="2514600"/>
          <a:ext cx="35661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 26"/>
          <p:cNvSpPr/>
          <p:nvPr/>
        </p:nvSpPr>
        <p:spPr>
          <a:xfrm>
            <a:off x="502920" y="4892040"/>
            <a:ext cx="347472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MONTH-OVER-MONTH MOVEMENT</a:t>
            </a:r>
            <a:endParaRPr lang="en-US" sz="950" dirty="0"/>
          </a:p>
        </p:txBody>
      </p:sp>
      <p:sp>
        <p:nvSpPr>
          <p:cNvPr id="30" name="Text 27"/>
          <p:cNvSpPr/>
          <p:nvPr/>
        </p:nvSpPr>
        <p:spPr>
          <a:xfrm>
            <a:off x="502920" y="5120640"/>
            <a:ext cx="3474720" cy="548640"/>
          </a:xfrm>
          <a:prstGeom prst="rect">
            <a:avLst/>
          </a:prstGeom>
          <a:noFill/>
          <a:ln/>
        </p:spPr>
        <p:txBody>
          <a:bodyPr wrap="square" lIns="0" tIns="0" rIns="0" bIns="0" rtlCol="0" anchor="t"/>
          <a:lstStyle/>
          <a:p>
            <a:pPr marL="0" indent="0" algn="l">
              <a:buNone/>
            </a:pPr>
            <a:r>
              <a:rPr lang="en-US" sz="900" b="1" dirty="0">
                <a:solidFill>
                  <a:srgbClr val="2E7D32"/>
                </a:solidFill>
                <a:latin typeface="Arial" pitchFamily="34" charset="0"/>
                <a:ea typeface="Arial" pitchFamily="34" charset="-122"/>
                <a:cs typeface="Arial" pitchFamily="34" charset="-120"/>
              </a:rPr>
              <a:t>Improved: </a:t>
            </a:r>
            <a:r>
              <a:rPr lang="en-US" sz="900" dirty="0">
                <a:solidFill>
                  <a:srgbClr val="20242E"/>
                </a:solidFill>
                <a:latin typeface="Arial" pitchFamily="34" charset="0"/>
                <a:ea typeface="Arial" pitchFamily="34" charset="-122"/>
                <a:cs typeface="Arial" pitchFamily="34" charset="-120"/>
              </a:rPr>
              <a:t>4  </a:t>
            </a:r>
            <a:r>
              <a:rPr lang="en-US" sz="900" b="1" dirty="0">
                <a:solidFill>
                  <a:srgbClr val="C0392B"/>
                </a:solidFill>
                <a:latin typeface="Arial" pitchFamily="34" charset="0"/>
                <a:ea typeface="Arial" pitchFamily="34" charset="-122"/>
                <a:cs typeface="Arial" pitchFamily="34" charset="-120"/>
              </a:rPr>
              <a:t>Declined: </a:t>
            </a:r>
            <a:r>
              <a:rPr lang="en-US" sz="900" dirty="0">
                <a:solidFill>
                  <a:srgbClr val="20242E"/>
                </a:solidFill>
                <a:latin typeface="Arial" pitchFamily="34" charset="0"/>
                <a:ea typeface="Arial" pitchFamily="34" charset="-122"/>
                <a:cs typeface="Arial" pitchFamily="34" charset="-120"/>
              </a:rPr>
              <a:t>5  </a:t>
            </a:r>
            <a:r>
              <a:rPr lang="en-US" sz="900" b="1" dirty="0">
                <a:solidFill>
                  <a:srgbClr val="20242E"/>
                </a:solidFill>
                <a:latin typeface="Arial" pitchFamily="34" charset="0"/>
                <a:ea typeface="Arial" pitchFamily="34" charset="-122"/>
                <a:cs typeface="Arial" pitchFamily="34" charset="-120"/>
              </a:rPr>
              <a:t>Unchanged: </a:t>
            </a:r>
            <a:r>
              <a:rPr lang="en-US" sz="900" dirty="0">
                <a:solidFill>
                  <a:srgbClr val="20242E"/>
                </a:solidFill>
                <a:latin typeface="Arial" pitchFamily="34" charset="0"/>
                <a:ea typeface="Arial" pitchFamily="34" charset="-122"/>
                <a:cs typeface="Arial" pitchFamily="34" charset="-120"/>
              </a:rPr>
              <a:t>13  </a:t>
            </a:r>
            <a:endParaRPr lang="en-US" sz="900" dirty="0"/>
          </a:p>
          <a:p>
            <a:pPr marL="0" indent="0" algn="l">
              <a:buNone/>
            </a:pPr>
            <a:r>
              <a:rPr lang="en-US" sz="900" b="1" dirty="0">
                <a:solidFill>
                  <a:srgbClr val="0047BB"/>
                </a:solidFill>
                <a:latin typeface="Arial" pitchFamily="34" charset="0"/>
                <a:ea typeface="Arial" pitchFamily="34" charset="-122"/>
                <a:cs typeface="Arial" pitchFamily="34" charset="-120"/>
              </a:rPr>
              <a:t>New / not previously reportable: </a:t>
            </a:r>
            <a:r>
              <a:rPr lang="en-US" sz="900" dirty="0">
                <a:solidFill>
                  <a:srgbClr val="20242E"/>
                </a:solidFill>
                <a:latin typeface="Arial" pitchFamily="34" charset="0"/>
                <a:ea typeface="Arial" pitchFamily="34" charset="-122"/>
                <a:cs typeface="Arial" pitchFamily="34" charset="-120"/>
              </a:rPr>
              <a:t>26</a:t>
            </a:r>
            <a:endParaRPr lang="en-US" sz="900" dirty="0"/>
          </a:p>
        </p:txBody>
      </p:sp>
      <p:sp>
        <p:nvSpPr>
          <p:cNvPr id="31" name="Text 28"/>
          <p:cNvSpPr/>
          <p:nvPr/>
        </p:nvSpPr>
        <p:spPr>
          <a:xfrm>
            <a:off x="502920" y="5715000"/>
            <a:ext cx="3474720" cy="731520"/>
          </a:xfrm>
          <a:prstGeom prst="rect">
            <a:avLst/>
          </a:prstGeom>
          <a:noFill/>
          <a:ln/>
        </p:spPr>
        <p:txBody>
          <a:bodyPr wrap="square" lIns="0" tIns="0" rIns="0" bIns="0" rtlCol="0" anchor="ctr"/>
          <a:lstStyle/>
          <a:p>
            <a:pPr marL="0" indent="0" algn="l">
              <a:buNone/>
            </a:pPr>
            <a:r>
              <a:rPr lang="en-US" sz="730" i="1" dirty="0">
                <a:solidFill>
                  <a:srgbClr val="5A6472"/>
                </a:solidFill>
                <a:latin typeface="Arial" pitchFamily="34" charset="0"/>
                <a:ea typeface="Arial" pitchFamily="34" charset="-122"/>
                <a:cs typeface="Arial" pitchFamily="34" charset="-120"/>
              </a:rPr>
              <a:t>Comparable RAG movements vs. the August reference; New includes projects newly present in September Planview, lifecycle-only Completed, and Not Assessed rows without an August RAG.</a:t>
            </a:r>
            <a:endParaRPr lang="en-US" sz="730" dirty="0"/>
          </a:p>
        </p:txBody>
      </p:sp>
      <p:sp>
        <p:nvSpPr>
          <p:cNvPr id="32" name="Text 29"/>
          <p:cNvSpPr/>
          <p:nvPr/>
        </p:nvSpPr>
        <p:spPr>
          <a:xfrm>
            <a:off x="4343400" y="228600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EMERGING RISKS</a:t>
            </a:r>
            <a:endParaRPr lang="en-US" sz="950" dirty="0"/>
          </a:p>
        </p:txBody>
      </p:sp>
      <p:sp>
        <p:nvSpPr>
          <p:cNvPr id="33" name="Text 30"/>
          <p:cNvSpPr/>
          <p:nvPr/>
        </p:nvSpPr>
        <p:spPr>
          <a:xfrm>
            <a:off x="4343400" y="2505456"/>
            <a:ext cx="3566160" cy="914400"/>
          </a:xfrm>
          <a:prstGeom prst="rect">
            <a:avLst/>
          </a:prstGeom>
          <a:noFill/>
          <a:ln/>
        </p:spPr>
        <p:txBody>
          <a:bodyPr wrap="square" lIns="0" tIns="0" rIns="0" bIns="0" rtlCol="0" anchor="t"/>
          <a:lstStyle/>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PEC — Green→Yellow (QA environment reset / E2E).</a:t>
            </a:r>
            <a:endParaRPr lang="en-US" sz="830" dirty="0"/>
          </a:p>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Underwriting Question Optimization — Green→Red.</a:t>
            </a:r>
            <a:endParaRPr lang="en-US" sz="830" dirty="0"/>
          </a:p>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Yellow→Red: PPT Program, FirstVet, PPT Payroll.</a:t>
            </a:r>
            <a:endParaRPr lang="en-US" sz="830" dirty="0"/>
          </a:p>
        </p:txBody>
      </p:sp>
      <p:sp>
        <p:nvSpPr>
          <p:cNvPr id="34" name="Text 31"/>
          <p:cNvSpPr/>
          <p:nvPr/>
        </p:nvSpPr>
        <p:spPr>
          <a:xfrm>
            <a:off x="4343400" y="352044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RED ITEMS</a:t>
            </a:r>
            <a:endParaRPr lang="en-US" sz="950" dirty="0"/>
          </a:p>
        </p:txBody>
      </p:sp>
      <p:sp>
        <p:nvSpPr>
          <p:cNvPr id="35" name="Text 32"/>
          <p:cNvSpPr/>
          <p:nvPr/>
        </p:nvSpPr>
        <p:spPr>
          <a:xfrm>
            <a:off x="4343400" y="3730752"/>
            <a:ext cx="3566160" cy="1005840"/>
          </a:xfrm>
          <a:prstGeom prst="rect">
            <a:avLst/>
          </a:prstGeom>
          <a:noFill/>
          <a:ln/>
        </p:spPr>
        <p:txBody>
          <a:bodyPr wrap="square" lIns="0" tIns="0" rIns="0" bIns="0" rtlCol="0" anchor="t"/>
          <a:lstStyle/>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PPT Program</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FirstVet Consultation File API</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PPT Payroll Billing Employer Experience</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Underwriting Question Optimization for MPI</a:t>
            </a:r>
            <a:endParaRPr lang="en-US" sz="830" dirty="0"/>
          </a:p>
        </p:txBody>
      </p:sp>
      <p:sp>
        <p:nvSpPr>
          <p:cNvPr id="36" name="Text 33"/>
          <p:cNvSpPr/>
          <p:nvPr/>
        </p:nvSpPr>
        <p:spPr>
          <a:xfrm>
            <a:off x="4343400" y="4846320"/>
            <a:ext cx="356616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TOP YELLOW DELIVERY RISKS</a:t>
            </a:r>
            <a:endParaRPr lang="en-US" sz="950" dirty="0"/>
          </a:p>
        </p:txBody>
      </p:sp>
      <p:sp>
        <p:nvSpPr>
          <p:cNvPr id="37" name="Text 34"/>
          <p:cNvSpPr/>
          <p:nvPr/>
        </p:nvSpPr>
        <p:spPr>
          <a:xfrm>
            <a:off x="4343400" y="5056632"/>
            <a:ext cx="3566160" cy="1005840"/>
          </a:xfrm>
          <a:prstGeom prst="rect">
            <a:avLst/>
          </a:prstGeom>
          <a:noFill/>
          <a:ln/>
        </p:spPr>
        <p:txBody>
          <a:bodyPr wrap="square" lIns="0" tIns="0" rIns="0" bIns="0" rtlCol="0" anchor="t"/>
          <a:lstStyle/>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PEC QA environment reset / E2E.</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TaiLWIND dependent-team timing and DDIT completion.</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NJ MPPC reporting work outstanding.</a:t>
            </a:r>
            <a:endParaRPr lang="en-US" sz="830" dirty="0"/>
          </a:p>
        </p:txBody>
      </p:sp>
      <p:sp>
        <p:nvSpPr>
          <p:cNvPr id="38" name="Text 35"/>
          <p:cNvSpPr/>
          <p:nvPr/>
        </p:nvSpPr>
        <p:spPr>
          <a:xfrm>
            <a:off x="8183880" y="2286000"/>
            <a:ext cx="352044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RECENT SUCCESSES</a:t>
            </a:r>
            <a:endParaRPr lang="en-US" sz="950" dirty="0"/>
          </a:p>
        </p:txBody>
      </p:sp>
      <p:sp>
        <p:nvSpPr>
          <p:cNvPr id="39" name="Text 36"/>
          <p:cNvSpPr/>
          <p:nvPr/>
        </p:nvSpPr>
        <p:spPr>
          <a:xfrm>
            <a:off x="8183880" y="2505456"/>
            <a:ext cx="3520440" cy="1005840"/>
          </a:xfrm>
          <a:prstGeom prst="rect">
            <a:avLst/>
          </a:prstGeom>
          <a:noFill/>
          <a:ln/>
        </p:spPr>
        <p:txBody>
          <a:bodyPr wrap="square" lIns="0" tIns="0" rIns="0" bIns="0" rtlCol="0" anchor="t"/>
          <a:lstStyle/>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Add-A-Pet implementation.</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PET Enhancement MVP3 and warranty.</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REN2GIN SOW / discovery.</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MM-to-MM SOW / discovery.</a:t>
            </a:r>
            <a:endParaRPr lang="en-US" sz="830" dirty="0"/>
          </a:p>
        </p:txBody>
      </p:sp>
      <p:sp>
        <p:nvSpPr>
          <p:cNvPr id="40" name="Text 37"/>
          <p:cNvSpPr/>
          <p:nvPr/>
        </p:nvSpPr>
        <p:spPr>
          <a:xfrm>
            <a:off x="8183880" y="3611880"/>
            <a:ext cx="352044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WATCHLIST</a:t>
            </a:r>
            <a:endParaRPr lang="en-US" sz="950" dirty="0"/>
          </a:p>
        </p:txBody>
      </p:sp>
      <p:sp>
        <p:nvSpPr>
          <p:cNvPr id="41" name="Text 38"/>
          <p:cNvSpPr/>
          <p:nvPr/>
        </p:nvSpPr>
        <p:spPr>
          <a:xfrm>
            <a:off x="8183880" y="3822192"/>
            <a:ext cx="3520440" cy="1188720"/>
          </a:xfrm>
          <a:prstGeom prst="rect">
            <a:avLst/>
          </a:prstGeom>
          <a:noFill/>
          <a:ln/>
        </p:spPr>
        <p:txBody>
          <a:bodyPr wrap="square" lIns="0" tIns="0" rIns="0" bIns="0" rtlCol="0" anchor="t"/>
          <a:lstStyle/>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PPT Program funding / recovery.</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PPT Payroll UAT and resource coverage.</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FirstVet budget / vendor integration.</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Underwriting $150K funding and sequencing.</a:t>
            </a:r>
            <a:endParaRPr lang="en-US" sz="830" dirty="0"/>
          </a:p>
          <a:p>
            <a:pPr marL="127000" indent="-127000">
              <a:spcAft>
                <a:spcPts val="200"/>
              </a:spcAft>
              <a:buSzPct val="100000"/>
              <a:buChar char="•"/>
            </a:pPr>
            <a:r>
              <a:rPr lang="en-US" sz="830" dirty="0">
                <a:solidFill>
                  <a:srgbClr val="20242E"/>
                </a:solidFill>
                <a:latin typeface="Arial" pitchFamily="34" charset="0"/>
                <a:ea typeface="Arial" pitchFamily="34" charset="-122"/>
                <a:cs typeface="Arial" pitchFamily="34" charset="-120"/>
              </a:rPr>
              <a:t>PEC environment reset; TaiLWIND cross-team commitments.</a:t>
            </a:r>
            <a:endParaRPr lang="en-US" sz="830" dirty="0"/>
          </a:p>
        </p:txBody>
      </p:sp>
      <p:sp>
        <p:nvSpPr>
          <p:cNvPr id="42" name="Text 39"/>
          <p:cNvSpPr/>
          <p:nvPr/>
        </p:nvSpPr>
        <p:spPr>
          <a:xfrm>
            <a:off x="8183880" y="5166360"/>
            <a:ext cx="352044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IN FOCUS</a:t>
            </a:r>
            <a:endParaRPr lang="en-US" sz="950" dirty="0"/>
          </a:p>
        </p:txBody>
      </p:sp>
      <p:sp>
        <p:nvSpPr>
          <p:cNvPr id="43" name="Text 40"/>
          <p:cNvSpPr/>
          <p:nvPr/>
        </p:nvSpPr>
        <p:spPr>
          <a:xfrm>
            <a:off x="8183880" y="5376672"/>
            <a:ext cx="3520440" cy="731520"/>
          </a:xfrm>
          <a:prstGeom prst="rect">
            <a:avLst/>
          </a:prstGeom>
          <a:noFill/>
          <a:ln/>
        </p:spPr>
        <p:txBody>
          <a:bodyPr wrap="square" lIns="0" tIns="0" rIns="0" bIns="0" rtlCol="0" anchor="t"/>
          <a:lstStyle/>
          <a:p>
            <a:pPr marL="0" indent="0">
              <a:buNone/>
            </a:pPr>
            <a:r>
              <a:rPr lang="en-US" sz="830" i="1" dirty="0">
                <a:solidFill>
                  <a:srgbClr val="5A6472"/>
                </a:solidFill>
                <a:latin typeface="Arial" pitchFamily="34" charset="0"/>
                <a:ea typeface="Arial" pitchFamily="34" charset="-122"/>
                <a:cs typeface="Arial" pitchFamily="34" charset="-120"/>
              </a:rPr>
              <a:t>Not supplied in September Planview detail records; no financial calculations were modified or recalculated.</a:t>
            </a:r>
            <a:endParaRPr lang="en-US" sz="830" dirty="0"/>
          </a:p>
        </p:txBody>
      </p:sp>
      <p:sp>
        <p:nvSpPr>
          <p:cNvPr id="4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2000" b="1" dirty="0">
                <a:solidFill>
                  <a:srgbClr val="0047BB"/>
                </a:solidFill>
                <a:latin typeface="Georgia" pitchFamily="34" charset="0"/>
                <a:ea typeface="Georgia" pitchFamily="34" charset="-122"/>
                <a:cs typeface="Georgia" pitchFamily="34" charset="-120"/>
              </a:rPr>
              <a:t>Five actions can protect the near-term release path.</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247120" cy="914400"/>
        </p:xfrm>
        <a:graphic>
          <a:graphicData uri="http://schemas.openxmlformats.org/drawingml/2006/table">
            <a:tbl>
              <a:tblPr/>
              <a:tblGrid>
                <a:gridCol w="23317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gridCol w="3749040">
                  <a:extLst>
                    <a:ext uri="{9D8B030D-6E8A-4147-A177-3AD203B41FA5}">
                      <a16:colId xmlns:a16="http://schemas.microsoft.com/office/drawing/2014/main" val="20003"/>
                    </a:ext>
                  </a:extLst>
                </a:gridCol>
              </a:tblGrid>
              <a:tr h="365760">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Project Name</a:t>
                      </a:r>
                      <a:endParaRPr lang="en-US" sz="100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Status</a:t>
                      </a:r>
                      <a:endParaRPr lang="en-US" sz="100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Required Leadership Action</a:t>
                      </a:r>
                      <a:endParaRPr lang="en-US" sz="100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tc>
                  <a:txBody>
                    <a:bodyPr/>
                    <a:lstStyle/>
                    <a:p>
                      <a:pPr marL="0" indent="0" algn="l">
                        <a:buNone/>
                      </a:pPr>
                      <a:r>
                        <a:rPr lang="en-US" sz="1000" b="1" dirty="0">
                          <a:solidFill>
                            <a:srgbClr val="FFFFFF"/>
                          </a:solidFill>
                          <a:latin typeface="Arial" pitchFamily="34" charset="0"/>
                          <a:ea typeface="Arial" pitchFamily="34" charset="-122"/>
                          <a:cs typeface="Arial" pitchFamily="34" charset="-120"/>
                        </a:rPr>
                        <a:t>Impact if Unresolved</a:t>
                      </a:r>
                      <a:endParaRPr lang="en-US" sz="100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0047BB"/>
                    </a:solidFill>
                  </a:tcPr>
                </a:tc>
                <a:extLst>
                  <a:ext uri="{0D108BD9-81ED-4DB2-BD59-A6C34878D82A}">
                    <a16:rowId xmlns:a16="http://schemas.microsoft.com/office/drawing/2014/main" val="10000"/>
                  </a:ext>
                </a:extLst>
              </a:tr>
              <a:tr h="914400">
                <a:tc>
                  <a:txBody>
                    <a:bodyPr/>
                    <a:lstStyle/>
                    <a:p>
                      <a:pPr marL="0" indent="0">
                        <a:buNone/>
                      </a:pPr>
                      <a:r>
                        <a:rPr lang="en-US" sz="950" b="1" dirty="0">
                          <a:solidFill>
                            <a:srgbClr val="20242E"/>
                          </a:solidFill>
                          <a:latin typeface="Arial" pitchFamily="34" charset="0"/>
                          <a:ea typeface="Arial" pitchFamily="34" charset="-122"/>
                          <a:cs typeface="Arial" pitchFamily="34" charset="-120"/>
                        </a:rPr>
                        <a:t>NW Pet – PPT Program</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Red</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Approve an integrated Employer Portal recovery plan and decide the 2027 funding direction; maintain daily defect and dependency governance.</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Bundle 5/6 timing and overall program schedule remain exposed; extended REN cost risk is noted in source.</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950" b="1" dirty="0">
                          <a:solidFill>
                            <a:srgbClr val="20242E"/>
                          </a:solidFill>
                          <a:latin typeface="Arial" pitchFamily="34" charset="0"/>
                          <a:ea typeface="Arial" pitchFamily="34" charset="-122"/>
                          <a:cs typeface="Arial" pitchFamily="34" charset="-120"/>
                        </a:rPr>
                        <a:t>NW Pet: PPT Payroll Billing Employer Experience</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Red</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Confirm firm PDX development/testing and UAT dates; secure IAM, Finance, QE, and test-data coverage.</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11/11 go-live and downstream billing / finance integration readiness remain at risk.</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822960">
                <a:tc>
                  <a:txBody>
                    <a:bodyPr/>
                    <a:lstStyle/>
                    <a:p>
                      <a:pPr marL="0" indent="0">
                        <a:buNone/>
                      </a:pPr>
                      <a:r>
                        <a:rPr lang="en-US" sz="950" b="1" dirty="0">
                          <a:solidFill>
                            <a:srgbClr val="20242E"/>
                          </a:solidFill>
                          <a:latin typeface="Arial" pitchFamily="34" charset="0"/>
                          <a:ea typeface="Arial" pitchFamily="34" charset="-122"/>
                          <a:cs typeface="Arial" pitchFamily="34" charset="-120"/>
                        </a:rPr>
                        <a:t>NW Pet: FirstVet Consultation File API</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Red</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Resolve the pending additional $16.5K BDE budget item and confirm vendor integration / release readiness.</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September release milestones and consultation-file transfer readiness could slip.</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7240">
                <a:tc>
                  <a:txBody>
                    <a:bodyPr/>
                    <a:lstStyle/>
                    <a:p>
                      <a:pPr marL="0" indent="0">
                        <a:buNone/>
                      </a:pPr>
                      <a:r>
                        <a:rPr lang="en-US" sz="950" b="1" dirty="0">
                          <a:solidFill>
                            <a:srgbClr val="20242E"/>
                          </a:solidFill>
                          <a:latin typeface="Arial" pitchFamily="34" charset="0"/>
                          <a:ea typeface="Arial" pitchFamily="34" charset="-122"/>
                          <a:cs typeface="Arial" pitchFamily="34" charset="-120"/>
                        </a:rPr>
                        <a:t>NW Pet: Underwriting Question Optimization for MPI</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Red</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C0392B"/>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Approve / confirm the $150K 2027 funding item and lock MVP sequencing across impacted lines.</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DDIT, testing, and February 2027 production readiness may move.</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731520">
                <a:tc>
                  <a:txBody>
                    <a:bodyPr/>
                    <a:lstStyle/>
                    <a:p>
                      <a:pPr marL="0" indent="0">
                        <a:buNone/>
                      </a:pPr>
                      <a:r>
                        <a:rPr lang="en-US" sz="950" b="1" dirty="0">
                          <a:solidFill>
                            <a:srgbClr val="20242E"/>
                          </a:solidFill>
                          <a:latin typeface="Arial" pitchFamily="34" charset="0"/>
                          <a:ea typeface="Arial" pitchFamily="34" charset="-122"/>
                          <a:cs typeface="Arial" pitchFamily="34" charset="-120"/>
                        </a:rPr>
                        <a:t>NW Pet: PEC Product and Underwriting Enhancements</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3A2E00"/>
                          </a:solidFill>
                          <a:latin typeface="Arial" pitchFamily="34" charset="0"/>
                          <a:ea typeface="Arial" pitchFamily="34" charset="-122"/>
                          <a:cs typeface="Arial" pitchFamily="34" charset="-120"/>
                        </a:rPr>
                        <a:t>Yellow</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6A817"/>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Confirm environment reset completion and revised E2E/UAT recovery dates.</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950" dirty="0">
                          <a:solidFill>
                            <a:srgbClr val="20242E"/>
                          </a:solidFill>
                          <a:latin typeface="Arial" pitchFamily="34" charset="0"/>
                          <a:ea typeface="Arial" pitchFamily="34" charset="-122"/>
                          <a:cs typeface="Arial" pitchFamily="34" charset="-120"/>
                        </a:rPr>
                        <a:t>QA delay can compress testing and put the 11/11 target at risk.</a:t>
                      </a:r>
                      <a:endParaRPr lang="en-US" sz="950" dirty="0">
                        <a:latin typeface="Arial" charset="0"/>
                        <a:ea typeface="Arial" charset="0"/>
                        <a:cs typeface="Arial" charset="0"/>
                      </a:endParaRPr>
                    </a:p>
                  </a:txBody>
                  <a:tcPr marL="50800" marR="50800" marT="38100" marB="3810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p:nvPr/>
        </p:nvSpPr>
        <p:spPr>
          <a:xfrm>
            <a:off x="502920" y="6172200"/>
            <a:ext cx="11155680" cy="274320"/>
          </a:xfrm>
          <a:prstGeom prst="rect">
            <a:avLst/>
          </a:prstGeom>
          <a:noFill/>
          <a:ln/>
        </p:spPr>
        <p:txBody>
          <a:bodyPr wrap="square" lIns="0" tIns="0" rIns="0" bIns="0" rtlCol="0" anchor="ctr"/>
          <a:lstStyle/>
          <a:p>
            <a:pPr marL="0" indent="0">
              <a:buNone/>
            </a:pPr>
            <a:r>
              <a:rPr lang="en-US" sz="800" i="1" dirty="0">
                <a:solidFill>
                  <a:srgbClr val="5A6472"/>
                </a:solidFill>
                <a:latin typeface="Arial" pitchFamily="34" charset="0"/>
                <a:ea typeface="Arial" pitchFamily="34" charset="-122"/>
                <a:cs typeface="Arial" pitchFamily="34" charset="-120"/>
              </a:rPr>
              <a:t>Monitor: TaiLWIND cross-team commitments and NJ reporting work remain Yellow watchpoints; no escalation is inferred beyond source facts.</a:t>
            </a:r>
            <a:endParaRPr lang="en-US" sz="80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2000" b="1" dirty="0">
                <a:solidFill>
                  <a:srgbClr val="0047BB"/>
                </a:solidFill>
                <a:latin typeface="Georgia" pitchFamily="34" charset="0"/>
                <a:ea typeface="Georgia" pitchFamily="34" charset="-122"/>
                <a:cs typeface="Georgia" pitchFamily="34" charset="-120"/>
              </a:rPr>
              <a:t>NW Pet – PPT Program</a:t>
            </a:r>
            <a:endParaRPr lang="en-US" sz="20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1014117</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E6A817"/>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9" name="Shape 7"/>
          <p:cNvSpPr/>
          <p:nvPr/>
        </p:nvSpPr>
        <p:spPr>
          <a:xfrm>
            <a:off x="10287000" y="804672"/>
            <a:ext cx="1417320" cy="384048"/>
          </a:xfrm>
          <a:prstGeom prst="rect">
            <a:avLst/>
          </a:prstGeom>
          <a:solidFill>
            <a:srgbClr val="C0392B"/>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Red</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Modernize Pet backend systems by replacing REN and other legacy systems with the GIN platform.</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Critical risk impacting delivery. Immediate mitigation and leadership support required. Employer Portal Bundle 4 testing delays are impacting Bundle 5 and the overall delivery schedule. Source notes an Employer Portal go-live milestone of 11/11/2026 and an additional $4M 2027 funding request.</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Bundle 4 testing delays.</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Bundle 5/6 schedule and Finance integration timing remain exposed.</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2027 funding / extended REN cost risk noted in source.</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r>
                        <a:rPr lang="en-US" sz="760" dirty="0">
                          <a:solidFill>
                            <a:srgbClr val="20242E"/>
                          </a:solidFill>
                          <a:latin typeface="Arial" pitchFamily="34" charset="0"/>
                          <a:ea typeface="Arial" pitchFamily="34" charset="-122"/>
                          <a:cs typeface="Arial" pitchFamily="34" charset="-120"/>
                        </a:rPr>
                        <a:t>11/11/2026</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1"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Modernized policy administration platform and reduced legacy dependency.</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Employer Portal MVP moved to 11/11/2026.</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Payroll Billing Defects Wave 1 (8 defects) deployed to production.</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MM-to-MM capability initiated and vendor SOW process underway.</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Dadgar, Ali</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4/10/2035</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3808476"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85%</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2000" b="1" dirty="0">
                <a:solidFill>
                  <a:srgbClr val="0047BB"/>
                </a:solidFill>
                <a:latin typeface="Georgia" pitchFamily="34" charset="0"/>
                <a:ea typeface="Georgia" pitchFamily="34" charset="-122"/>
                <a:cs typeface="Georgia" pitchFamily="34" charset="-120"/>
              </a:rPr>
              <a:t>NW Pet: FirstVet Consultation File API</a:t>
            </a:r>
            <a:endParaRPr lang="en-US" sz="20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1031012</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E6A817"/>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9" name="Shape 7"/>
          <p:cNvSpPr/>
          <p:nvPr/>
        </p:nvSpPr>
        <p:spPr>
          <a:xfrm>
            <a:off x="10287000" y="804672"/>
            <a:ext cx="1417320" cy="384048"/>
          </a:xfrm>
          <a:prstGeom prst="rect">
            <a:avLst/>
          </a:prstGeom>
          <a:solidFill>
            <a:srgbClr val="C0392B"/>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Red</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Configure a secure API integration to retrieve FirstVet consultation data and load it into downstream systems.</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Critical risk impacting delivery. Immediate mitigation and leadership support required. Requirements are reviewed and finalized; build approach and core team are defined. Source notes an additional $16.5K budget request pending BDE approval and vendor integration / transfer-file milestones.</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Additional $16.5K budget pending BDE approval.</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Vendor integration testing / access readiness.</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Compressed release readiness around 10/12/2026 milestone dates.</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r>
                        <a:rPr lang="en-US" sz="760" dirty="0">
                          <a:solidFill>
                            <a:srgbClr val="20242E"/>
                          </a:solidFill>
                          <a:latin typeface="Arial" pitchFamily="34" charset="0"/>
                          <a:ea typeface="Arial" pitchFamily="34" charset="-122"/>
                          <a:cs typeface="Arial" pitchFamily="34" charset="-120"/>
                        </a:rPr>
                        <a:t>10/12/2026</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Automated consultation-data ingestion with less manual handling and improved downstream availability.</a:t>
            </a:r>
            <a:endParaRPr lang="en-US" sz="880" dirty="0"/>
          </a:p>
        </p:txBody>
      </p:sp>
      <p:sp>
        <p:nvSpPr>
          <p:cNvPr id="21"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Requirements and epics reviewed.</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Build approach defined and core team staffed.</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Vendor data mapping and access planning progressed.</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Kothandaraman, Rekha</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10/30/2026</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2195474"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49%</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1700" b="1" dirty="0">
                <a:solidFill>
                  <a:srgbClr val="0047BB"/>
                </a:solidFill>
                <a:latin typeface="Georgia" pitchFamily="34" charset="0"/>
                <a:ea typeface="Georgia" pitchFamily="34" charset="-122"/>
                <a:cs typeface="Georgia" pitchFamily="34" charset="-120"/>
              </a:rPr>
              <a:t>NW Pet: PPT Payroll Billing Employer Experience</a:t>
            </a:r>
            <a:endParaRPr lang="en-US" sz="17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1029802</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E6A817"/>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9" name="Shape 7"/>
          <p:cNvSpPr/>
          <p:nvPr/>
        </p:nvSpPr>
        <p:spPr>
          <a:xfrm>
            <a:off x="10287000" y="804672"/>
            <a:ext cx="1417320" cy="384048"/>
          </a:xfrm>
          <a:prstGeom prst="rect">
            <a:avLst/>
          </a:prstGeom>
          <a:solidFill>
            <a:srgbClr val="C0392B"/>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Red</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Deliver employer onboarding and payroll-billing financial-operations integration, including AR posting, GL posting, and reconciliation reporting.</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Critical risk impacting delivery. Immediate mitigation and leadership support required. Source states the program is 1.5 weeks behind planned UAT start, remaining PDX development/testing and UAT dates are not confirmed, and the October 9 target is under review.</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IAM registration/authentication issue affected validation.</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Finance testing had open blockers around test data and invoice/payment creation.</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QE/resource capacity and UAT recovery dates require leadership attention.</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r>
                        <a:rPr lang="en-US" sz="760" dirty="0">
                          <a:solidFill>
                            <a:srgbClr val="20242E"/>
                          </a:solidFill>
                          <a:latin typeface="Arial" pitchFamily="34" charset="0"/>
                          <a:ea typeface="Arial" pitchFamily="34" charset="-122"/>
                          <a:cs typeface="Arial" pitchFamily="34" charset="-120"/>
                        </a:rPr>
                        <a:t>10/14/2026</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r>
                        <a:rPr lang="en-US" sz="760" dirty="0">
                          <a:solidFill>
                            <a:srgbClr val="20242E"/>
                          </a:solidFill>
                          <a:latin typeface="Arial" pitchFamily="34" charset="0"/>
                          <a:ea typeface="Arial" pitchFamily="34" charset="-122"/>
                          <a:cs typeface="Arial" pitchFamily="34" charset="-120"/>
                        </a:rPr>
                        <a:t>11/11/2026</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Improved employer onboarding and financial-operational accuracy.</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Bundles 1–4 marked Completed in the source milestone list.</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IAM issue mitigation complete and testing resumed.</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Core Finance scenarios prioritized for Cycle 2.</a:t>
            </a:r>
            <a:endParaRPr lang="en-US" sz="850" dirty="0"/>
          </a:p>
        </p:txBody>
      </p:sp>
      <p:sp>
        <p:nvSpPr>
          <p:cNvPr id="21"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Dadgar, Ali</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6/30/2027</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2195474"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49%</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1700" b="1" dirty="0">
                <a:solidFill>
                  <a:srgbClr val="0047BB"/>
                </a:solidFill>
                <a:latin typeface="Georgia" pitchFamily="34" charset="0"/>
                <a:ea typeface="Georgia" pitchFamily="34" charset="-122"/>
                <a:cs typeface="Georgia" pitchFamily="34" charset="-120"/>
              </a:rPr>
              <a:t>NW Pet: Underwriting Question Optimization for MPI</a:t>
            </a:r>
            <a:endParaRPr lang="en-US" sz="17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1030240</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2E7D32"/>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Green</a:t>
            </a:r>
            <a:endParaRPr lang="en-US" sz="1100" dirty="0"/>
          </a:p>
        </p:txBody>
      </p:sp>
      <p:sp>
        <p:nvSpPr>
          <p:cNvPr id="9" name="Shape 7"/>
          <p:cNvSpPr/>
          <p:nvPr/>
        </p:nvSpPr>
        <p:spPr>
          <a:xfrm>
            <a:off x="10287000" y="804672"/>
            <a:ext cx="1417320" cy="384048"/>
          </a:xfrm>
          <a:prstGeom prst="rect">
            <a:avLst/>
          </a:prstGeom>
          <a:solidFill>
            <a:srgbClr val="C0392B"/>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Red</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Reduce the number of MPI application questions while preserving response data, metadata, and traceability across binding channels.</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Critical risk impacting delivery. Immediate mitigation and leadership support required. September Planview history shows Red. Source describes MVP1/MVP2/MVP3 execution, remaining DDIT and cross-team sequencing, and a $150K 2027 funding approval item.</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MVP1 change request to remove one question.</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MVP2/MVP3 DDIT and sequencing across impacted lines.</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Additional $150K 2027 funding approval item.</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r>
                        <a:rPr lang="en-US" sz="760" dirty="0">
                          <a:solidFill>
                            <a:srgbClr val="20242E"/>
                          </a:solidFill>
                          <a:latin typeface="Arial" pitchFamily="34" charset="0"/>
                          <a:ea typeface="Arial" pitchFamily="34" charset="-122"/>
                          <a:cs typeface="Arial" pitchFamily="34" charset="-120"/>
                        </a:rPr>
                        <a:t>2/10/2027</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Lower customer question burden with preserved auditability and cross-channel consistency.</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Steering Committee approved the change request to remove one business question.</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Mockups received for E2E/business validation.</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MVP2 go-live risk assessment and target-date review completed.</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Lawson, Lalitha</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1"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4/30/2027</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2553919"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57%</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1700" b="1" dirty="0">
                <a:solidFill>
                  <a:srgbClr val="0047BB"/>
                </a:solidFill>
                <a:latin typeface="Georgia" pitchFamily="34" charset="0"/>
                <a:ea typeface="Georgia" pitchFamily="34" charset="-122"/>
                <a:cs typeface="Georgia" pitchFamily="34" charset="-120"/>
              </a:rPr>
              <a:t>NW Pet: NJ MPPC New Product and Rate Capping</a:t>
            </a:r>
            <a:endParaRPr lang="en-US" sz="17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1029148</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E6A817"/>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9" name="Shape 7"/>
          <p:cNvSpPr/>
          <p:nvPr/>
        </p:nvSpPr>
        <p:spPr>
          <a:xfrm>
            <a:off x="10287000" y="804672"/>
            <a:ext cx="1417320" cy="384048"/>
          </a:xfrm>
          <a:prstGeom prst="rect">
            <a:avLst/>
          </a:prstGeom>
          <a:solidFill>
            <a:srgbClr val="E6A817"/>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Turn on New Jersey new business and cap migrated-policy renewal increases for up to four renewals.</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At risk. Key dependency, schedule, funding, or resource concerns require monitoring. Source assessment is “Outstanding Reporting work”; the work description specifies a 19.9% cap, extensibility, auditability, reporting, and customer-service visibility.</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Reporting work remains outstanding.</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Target/release milestone dates are open in source.</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No additional CRID detail supplied.</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State-compliant rate capping with auditability and customer-service visibility.</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Not supplied in source.</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Kulkarni, Shilpa Sachin</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10/12/2026</a:t>
            </a:r>
            <a:endParaRPr lang="en-US" sz="850" dirty="0"/>
          </a:p>
        </p:txBody>
      </p:sp>
      <p:sp>
        <p:nvSpPr>
          <p:cNvPr id="2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3091586"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69%</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1700" b="1" dirty="0">
                <a:solidFill>
                  <a:srgbClr val="0047BB"/>
                </a:solidFill>
                <a:latin typeface="Georgia" pitchFamily="34" charset="0"/>
                <a:ea typeface="Georgia" pitchFamily="34" charset="-122"/>
                <a:cs typeface="Georgia" pitchFamily="34" charset="-120"/>
              </a:rPr>
              <a:t>NW Pet: PEC Product and Underwriting Enhancements</a:t>
            </a:r>
            <a:endParaRPr lang="en-US" sz="17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1029313</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2E7D32"/>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Green</a:t>
            </a:r>
            <a:endParaRPr lang="en-US" sz="1100" dirty="0"/>
          </a:p>
        </p:txBody>
      </p:sp>
      <p:sp>
        <p:nvSpPr>
          <p:cNvPr id="9" name="Shape 7"/>
          <p:cNvSpPr/>
          <p:nvPr/>
        </p:nvSpPr>
        <p:spPr>
          <a:xfrm>
            <a:off x="10287000" y="804672"/>
            <a:ext cx="1417320" cy="384048"/>
          </a:xfrm>
          <a:prstGeom prst="rect">
            <a:avLst/>
          </a:prstGeom>
          <a:solidFill>
            <a:srgbClr val="E6A817"/>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Prevent invalid PEC/coverage combinations and enable compliant mid-term correction of impacted coverage.</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At risk. Key dependency, schedule, funding, or resource concerns require monitoring. PEC-to-Coverage QA Validation is on hold until 9/30 because of an environment data reset; E2E scheduled for 10/1 is at risk.</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Environment reset blocks QA validation.</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E2E date may need to move.</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UAT and downstream release timing need recovery assessment.</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1E5720"/>
                          </a:solidFill>
                          <a:latin typeface="Arial" pitchFamily="34" charset="0"/>
                          <a:ea typeface="Arial" pitchFamily="34" charset="-122"/>
                          <a:cs typeface="Arial" pitchFamily="34" charset="-120"/>
                        </a:rPr>
                        <a:t>Completed</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E3F0E4"/>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Reduces customer harm, complaints, and regulatory risk from invalid coverage combinations.</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DDIT (SS) completed.</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Funding approved milestone completed.</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Path-to-green actions documented in the source.</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Barbour, Kinney L.</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1/29/2027</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2016252" cy="182880"/>
          </a:xfrm>
          <a:prstGeom prst="roundRect">
            <a:avLst>
              <a:gd name="adj" fmla="val 50000"/>
            </a:avLst>
          </a:prstGeom>
          <a:solidFill>
            <a:srgbClr val="0047BB"/>
          </a:solidFill>
          <a:ln/>
        </p:spPr>
        <p:txBody>
          <a:bodyPr/>
          <a:lstStyle/>
          <a:p>
            <a:endParaRPr lang="en-US"/>
          </a:p>
        </p:txBody>
      </p:sp>
      <p:sp>
        <p:nvSpPr>
          <p:cNvPr id="21"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45%</a:t>
            </a:r>
            <a:endParaRPr lang="en-US" sz="1100" dirty="0"/>
          </a:p>
        </p:txBody>
      </p:sp>
      <p:sp>
        <p:nvSpPr>
          <p:cNvPr id="34"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65760"/>
            <a:ext cx="8138160" cy="594360"/>
          </a:xfrm>
          <a:prstGeom prst="rect">
            <a:avLst/>
          </a:prstGeom>
          <a:noFill/>
          <a:ln/>
        </p:spPr>
        <p:txBody>
          <a:bodyPr wrap="square" lIns="0" tIns="0" rIns="0" bIns="0" rtlCol="0" anchor="ctr"/>
          <a:lstStyle/>
          <a:p>
            <a:pPr marL="0" indent="0" algn="l">
              <a:buNone/>
            </a:pPr>
            <a:r>
              <a:rPr lang="en-US" sz="2000" b="1" dirty="0">
                <a:solidFill>
                  <a:srgbClr val="0047BB"/>
                </a:solidFill>
                <a:latin typeface="Georgia" pitchFamily="34" charset="0"/>
                <a:ea typeface="Georgia" pitchFamily="34" charset="-122"/>
                <a:cs typeface="Georgia" pitchFamily="34" charset="-120"/>
              </a:rPr>
              <a:t>NW Pet: TaiLWIND Phase 1 (Claims AI)</a:t>
            </a:r>
            <a:endParaRPr lang="en-US" sz="2000" dirty="0"/>
          </a:p>
        </p:txBody>
      </p:sp>
      <p:sp>
        <p:nvSpPr>
          <p:cNvPr id="3" name="Text 1"/>
          <p:cNvSpPr/>
          <p:nvPr/>
        </p:nvSpPr>
        <p:spPr>
          <a:xfrm>
            <a:off x="502920" y="932688"/>
            <a:ext cx="4572000" cy="274320"/>
          </a:xfrm>
          <a:prstGeom prst="rect">
            <a:avLst/>
          </a:prstGeom>
          <a:noFill/>
          <a:ln/>
        </p:spPr>
        <p:txBody>
          <a:bodyPr wrap="square" lIns="0" tIns="0" rIns="0" bIns="0" rtlCol="0" anchor="ctr"/>
          <a:lstStyle/>
          <a:p>
            <a:pPr marL="0" indent="0" algn="l">
              <a:buNone/>
            </a:pPr>
            <a:r>
              <a:rPr lang="en-US" sz="1000" dirty="0">
                <a:solidFill>
                  <a:srgbClr val="5A6472"/>
                </a:solidFill>
                <a:latin typeface="Arial" pitchFamily="34" charset="0"/>
                <a:ea typeface="Arial" pitchFamily="34" charset="-122"/>
                <a:cs typeface="Arial" pitchFamily="34" charset="-120"/>
              </a:rPr>
              <a:t>Work ID </a:t>
            </a:r>
            <a:r>
              <a:rPr lang="en-US" sz="1000" b="1" dirty="0">
                <a:solidFill>
                  <a:srgbClr val="20242E"/>
                </a:solidFill>
                <a:latin typeface="Arial" pitchFamily="34" charset="0"/>
                <a:ea typeface="Arial" pitchFamily="34" charset="-122"/>
                <a:cs typeface="Arial" pitchFamily="34" charset="-120"/>
              </a:rPr>
              <a:t>1029859</a:t>
            </a:r>
            <a:endParaRPr lang="en-US" sz="1000" dirty="0"/>
          </a:p>
        </p:txBody>
      </p:sp>
      <p:sp>
        <p:nvSpPr>
          <p:cNvPr id="4" name="Text 2"/>
          <p:cNvSpPr/>
          <p:nvPr/>
        </p:nvSpPr>
        <p:spPr>
          <a:xfrm>
            <a:off x="8686800" y="384048"/>
            <a:ext cx="3017520" cy="219456"/>
          </a:xfrm>
          <a:prstGeom prst="rect">
            <a:avLst/>
          </a:prstGeom>
          <a:noFill/>
          <a:ln/>
        </p:spPr>
        <p:txBody>
          <a:bodyPr wrap="square" lIns="0" tIns="0" rIns="0" bIns="0" rtlCol="0" anchor="ctr"/>
          <a:lstStyle/>
          <a:p>
            <a:pPr marL="0" indent="0" algn="ctr">
              <a:buNone/>
            </a:pPr>
            <a:r>
              <a:rPr lang="en-US" sz="750" b="1" kern="0" spc="50" dirty="0">
                <a:solidFill>
                  <a:srgbClr val="5A6472"/>
                </a:solidFill>
                <a:latin typeface="Arial" pitchFamily="34" charset="0"/>
                <a:ea typeface="Arial" pitchFamily="34" charset="-122"/>
                <a:cs typeface="Arial" pitchFamily="34" charset="-120"/>
              </a:rPr>
              <a:t>OVERALL RAG · MONTH OVER MONTH</a:t>
            </a:r>
            <a:endParaRPr lang="en-US" sz="750" dirty="0"/>
          </a:p>
        </p:txBody>
      </p:sp>
      <p:sp>
        <p:nvSpPr>
          <p:cNvPr id="5" name="Text 3"/>
          <p:cNvSpPr/>
          <p:nvPr/>
        </p:nvSpPr>
        <p:spPr>
          <a:xfrm>
            <a:off x="86868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PREVIOUS</a:t>
            </a:r>
            <a:endParaRPr lang="en-US" sz="700" dirty="0"/>
          </a:p>
        </p:txBody>
      </p:sp>
      <p:sp>
        <p:nvSpPr>
          <p:cNvPr id="6" name="Text 4"/>
          <p:cNvSpPr/>
          <p:nvPr/>
        </p:nvSpPr>
        <p:spPr>
          <a:xfrm>
            <a:off x="10287000" y="621792"/>
            <a:ext cx="1417320" cy="182880"/>
          </a:xfrm>
          <a:prstGeom prst="rect">
            <a:avLst/>
          </a:prstGeom>
          <a:noFill/>
          <a:ln/>
        </p:spPr>
        <p:txBody>
          <a:bodyPr wrap="square" lIns="0" tIns="0" rIns="0" bIns="0" rtlCol="0" anchor="ctr"/>
          <a:lstStyle/>
          <a:p>
            <a:pPr marL="0" indent="0" algn="ctr">
              <a:buNone/>
            </a:pPr>
            <a:r>
              <a:rPr lang="en-US" sz="700" dirty="0">
                <a:solidFill>
                  <a:srgbClr val="5A6472"/>
                </a:solidFill>
                <a:latin typeface="Arial" pitchFamily="34" charset="0"/>
                <a:ea typeface="Arial" pitchFamily="34" charset="-122"/>
                <a:cs typeface="Arial" pitchFamily="34" charset="-120"/>
              </a:rPr>
              <a:t>SEPTEMBER</a:t>
            </a:r>
            <a:endParaRPr lang="en-US" sz="700" dirty="0"/>
          </a:p>
        </p:txBody>
      </p:sp>
      <p:sp>
        <p:nvSpPr>
          <p:cNvPr id="7" name="Shape 5"/>
          <p:cNvSpPr/>
          <p:nvPr/>
        </p:nvSpPr>
        <p:spPr>
          <a:xfrm>
            <a:off x="8686800" y="804672"/>
            <a:ext cx="1417320" cy="384048"/>
          </a:xfrm>
          <a:prstGeom prst="rect">
            <a:avLst/>
          </a:prstGeom>
          <a:solidFill>
            <a:srgbClr val="E6A817"/>
          </a:solidFill>
          <a:ln/>
        </p:spPr>
        <p:txBody>
          <a:bodyPr/>
          <a:lstStyle/>
          <a:p>
            <a:endParaRPr lang="en-US"/>
          </a:p>
        </p:txBody>
      </p:sp>
      <p:sp>
        <p:nvSpPr>
          <p:cNvPr id="8" name="Text 6"/>
          <p:cNvSpPr/>
          <p:nvPr/>
        </p:nvSpPr>
        <p:spPr>
          <a:xfrm>
            <a:off x="86868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9" name="Shape 7"/>
          <p:cNvSpPr/>
          <p:nvPr/>
        </p:nvSpPr>
        <p:spPr>
          <a:xfrm>
            <a:off x="10287000" y="804672"/>
            <a:ext cx="1417320" cy="384048"/>
          </a:xfrm>
          <a:prstGeom prst="rect">
            <a:avLst/>
          </a:prstGeom>
          <a:solidFill>
            <a:srgbClr val="E6A817"/>
          </a:solidFill>
          <a:ln/>
        </p:spPr>
        <p:txBody>
          <a:bodyPr/>
          <a:lstStyle/>
          <a:p>
            <a:endParaRPr lang="en-US"/>
          </a:p>
        </p:txBody>
      </p:sp>
      <p:sp>
        <p:nvSpPr>
          <p:cNvPr id="10" name="Text 8"/>
          <p:cNvSpPr/>
          <p:nvPr/>
        </p:nvSpPr>
        <p:spPr>
          <a:xfrm>
            <a:off x="10287000" y="804672"/>
            <a:ext cx="1417320" cy="384048"/>
          </a:xfrm>
          <a:prstGeom prst="rect">
            <a:avLst/>
          </a:prstGeom>
          <a:noFill/>
          <a:ln/>
        </p:spPr>
        <p:txBody>
          <a:bodyPr wrap="square" lIns="0" tIns="0" rIns="0" bIns="0" rtlCol="0" anchor="ctr"/>
          <a:lstStyle/>
          <a:p>
            <a:pPr marL="0" indent="0" algn="ctr">
              <a:buNone/>
            </a:pPr>
            <a:r>
              <a:rPr lang="en-US" sz="1100" b="1" dirty="0">
                <a:solidFill>
                  <a:srgbClr val="3A2E00"/>
                </a:solidFill>
                <a:latin typeface="Arial" pitchFamily="34" charset="0"/>
                <a:ea typeface="Arial" pitchFamily="34" charset="-122"/>
                <a:cs typeface="Arial" pitchFamily="34" charset="-120"/>
              </a:rPr>
              <a:t>Yellow</a:t>
            </a:r>
            <a:endParaRPr lang="en-US" sz="1100" dirty="0"/>
          </a:p>
        </p:txBody>
      </p:sp>
      <p:sp>
        <p:nvSpPr>
          <p:cNvPr id="11" name="Text 9"/>
          <p:cNvSpPr/>
          <p:nvPr/>
        </p:nvSpPr>
        <p:spPr>
          <a:xfrm>
            <a:off x="502920" y="1371600"/>
            <a:ext cx="11155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DESCRIPTION</a:t>
            </a:r>
            <a:endParaRPr lang="en-US" sz="950" dirty="0"/>
          </a:p>
        </p:txBody>
      </p:sp>
      <p:sp>
        <p:nvSpPr>
          <p:cNvPr id="12" name="Text 10"/>
          <p:cNvSpPr/>
          <p:nvPr/>
        </p:nvSpPr>
        <p:spPr>
          <a:xfrm>
            <a:off x="502920" y="1572768"/>
            <a:ext cx="11155680" cy="365760"/>
          </a:xfrm>
          <a:prstGeom prst="rect">
            <a:avLst/>
          </a:prstGeom>
          <a:noFill/>
          <a:ln/>
        </p:spPr>
        <p:txBody>
          <a:bodyPr wrap="square" lIns="0" tIns="0" rIns="0" bIns="0" rtlCol="0" anchor="t"/>
          <a:lstStyle/>
          <a:p>
            <a:pPr marL="0" indent="0" algn="l">
              <a:buNone/>
            </a:pPr>
            <a:r>
              <a:rPr lang="en-US" sz="950" dirty="0">
                <a:solidFill>
                  <a:srgbClr val="20242E"/>
                </a:solidFill>
                <a:latin typeface="Arial" pitchFamily="34" charset="0"/>
                <a:ea typeface="Arial" pitchFamily="34" charset="-122"/>
                <a:cs typeface="Arial" pitchFamily="34" charset="-120"/>
              </a:rPr>
              <a:t>Pilot AI-enabled claims intake and document transformation across Pet claims workflows.</a:t>
            </a:r>
            <a:endParaRPr lang="en-US" sz="950" dirty="0"/>
          </a:p>
        </p:txBody>
      </p:sp>
      <p:sp>
        <p:nvSpPr>
          <p:cNvPr id="13" name="Shape 11"/>
          <p:cNvSpPr/>
          <p:nvPr/>
        </p:nvSpPr>
        <p:spPr>
          <a:xfrm>
            <a:off x="502920" y="2029968"/>
            <a:ext cx="11247120" cy="0"/>
          </a:xfrm>
          <a:prstGeom prst="line">
            <a:avLst/>
          </a:prstGeom>
          <a:noFill/>
          <a:ln w="9525">
            <a:solidFill>
              <a:srgbClr val="D5DAE3"/>
            </a:solidFill>
            <a:prstDash val="solid"/>
          </a:ln>
        </p:spPr>
        <p:txBody>
          <a:bodyPr/>
          <a:lstStyle/>
          <a:p>
            <a:endParaRPr lang="en-US"/>
          </a:p>
        </p:txBody>
      </p:sp>
      <p:sp>
        <p:nvSpPr>
          <p:cNvPr id="14" name="Text 12"/>
          <p:cNvSpPr/>
          <p:nvPr/>
        </p:nvSpPr>
        <p:spPr>
          <a:xfrm>
            <a:off x="50292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ASSESSMENT</a:t>
            </a:r>
            <a:endParaRPr lang="en-US" sz="950" dirty="0"/>
          </a:p>
        </p:txBody>
      </p:sp>
      <p:sp>
        <p:nvSpPr>
          <p:cNvPr id="15" name="Text 13"/>
          <p:cNvSpPr/>
          <p:nvPr/>
        </p:nvSpPr>
        <p:spPr>
          <a:xfrm>
            <a:off x="502920" y="2377440"/>
            <a:ext cx="5440680" cy="1051560"/>
          </a:xfrm>
          <a:prstGeom prst="rect">
            <a:avLst/>
          </a:prstGeom>
          <a:noFill/>
          <a:ln/>
        </p:spPr>
        <p:txBody>
          <a:bodyPr wrap="square" lIns="0" tIns="0" rIns="0" bIns="0" rtlCol="0" anchor="t"/>
          <a:lstStyle/>
          <a:p>
            <a:pPr marL="0" indent="0" algn="l">
              <a:lnSpc>
                <a:spcPct val="102000"/>
              </a:lnSpc>
              <a:buNone/>
            </a:pPr>
            <a:r>
              <a:rPr lang="en-US" sz="880" dirty="0">
                <a:solidFill>
                  <a:srgbClr val="20242E"/>
                </a:solidFill>
                <a:latin typeface="Arial" pitchFamily="34" charset="0"/>
                <a:ea typeface="Arial" pitchFamily="34" charset="-122"/>
                <a:cs typeface="Arial" pitchFamily="34" charset="-120"/>
              </a:rPr>
              <a:t>At risk. Key dependency, schedule, funding, or resource concerns require monitoring. September source cites timing risk across REN, GIN, MIM, DMX, Portal, GOP, and Doodle Poodle dependencies; DDIT was not complete for all aspects by 10/1 and phased testing is being used.</a:t>
            </a:r>
            <a:endParaRPr lang="en-US" sz="880" dirty="0"/>
          </a:p>
        </p:txBody>
      </p:sp>
      <p:sp>
        <p:nvSpPr>
          <p:cNvPr id="16" name="Text 14"/>
          <p:cNvSpPr/>
          <p:nvPr/>
        </p:nvSpPr>
        <p:spPr>
          <a:xfrm>
            <a:off x="502920" y="3493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CHANGES / RISKS / ISSUES</a:t>
            </a:r>
            <a:endParaRPr lang="en-US" sz="950" dirty="0"/>
          </a:p>
        </p:txBody>
      </p:sp>
      <p:sp>
        <p:nvSpPr>
          <p:cNvPr id="17" name="Text 15"/>
          <p:cNvSpPr/>
          <p:nvPr/>
        </p:nvSpPr>
        <p:spPr>
          <a:xfrm>
            <a:off x="502920" y="3694176"/>
            <a:ext cx="5440680" cy="868680"/>
          </a:xfrm>
          <a:prstGeom prst="rect">
            <a:avLst/>
          </a:prstGeom>
          <a:noFill/>
          <a:ln/>
        </p:spPr>
        <p:txBody>
          <a:bodyPr wrap="square" lIns="0" tIns="0" rIns="0" bIns="0" rtlCol="0" anchor="t"/>
          <a:lstStyle/>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Cross-team dependency timing.</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DDIT completion / phased testing.</a:t>
            </a:r>
            <a:endParaRPr lang="en-US" sz="880" dirty="0"/>
          </a:p>
          <a:p>
            <a:pPr marL="127000" indent="-127000" algn="l">
              <a:spcAft>
                <a:spcPts val="300"/>
              </a:spcAft>
              <a:buSzPct val="100000"/>
              <a:buChar char="•"/>
            </a:pPr>
            <a:r>
              <a:rPr lang="en-US" sz="880" dirty="0">
                <a:solidFill>
                  <a:srgbClr val="20242E"/>
                </a:solidFill>
                <a:latin typeface="Arial" pitchFamily="34" charset="0"/>
                <a:ea typeface="Arial" pitchFamily="34" charset="-122"/>
                <a:cs typeface="Arial" pitchFamily="34" charset="-120"/>
              </a:rPr>
              <a:t>Doodle Poodle processing service timing and access/token-management friction.</a:t>
            </a:r>
            <a:endParaRPr lang="en-US" sz="880" dirty="0"/>
          </a:p>
        </p:txBody>
      </p:sp>
      <p:sp>
        <p:nvSpPr>
          <p:cNvPr id="18" name="Text 16"/>
          <p:cNvSpPr/>
          <p:nvPr/>
        </p:nvSpPr>
        <p:spPr>
          <a:xfrm>
            <a:off x="502920" y="464515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STANDARD MILESTONE TRACK (8 STAGES)</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4846320"/>
          <a:ext cx="544068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153619">
                <a:tc>
                  <a:txBody>
                    <a:bodyPr/>
                    <a:lstStyle/>
                    <a:p>
                      <a:pPr marL="0" indent="0">
                        <a:buNone/>
                      </a:pPr>
                      <a:r>
                        <a:rPr lang="en-US" sz="800" b="1" dirty="0">
                          <a:solidFill>
                            <a:srgbClr val="FFFFFF"/>
                          </a:solidFill>
                          <a:latin typeface="Arial" pitchFamily="34" charset="0"/>
                          <a:ea typeface="Arial" pitchFamily="34" charset="-122"/>
                          <a:cs typeface="Arial" pitchFamily="34" charset="-120"/>
                        </a:rPr>
                        <a:t>Stage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tc>
                  <a:txBody>
                    <a:bodyPr/>
                    <a:lstStyle/>
                    <a:p>
                      <a:pPr marL="0" indent="0" algn="ctr">
                        <a:buNone/>
                      </a:pPr>
                      <a:r>
                        <a:rPr lang="en-US" sz="800" b="1" dirty="0">
                          <a:solidFill>
                            <a:srgbClr val="FFFFFF"/>
                          </a:solidFill>
                          <a:latin typeface="Arial" pitchFamily="34" charset="0"/>
                          <a:ea typeface="Arial" pitchFamily="34" charset="-122"/>
                          <a:cs typeface="Arial" pitchFamily="34" charset="-120"/>
                        </a:rPr>
                        <a:t>Date</a:t>
                      </a:r>
                      <a:endParaRPr lang="en-US" sz="80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141B4D"/>
                    </a:solidFill>
                  </a:tcPr>
                </a:tc>
                <a:extLst>
                  <a:ext uri="{0D108BD9-81ED-4DB2-BD59-A6C34878D82A}">
                    <a16:rowId xmlns:a16="http://schemas.microsoft.com/office/drawing/2014/main" val="10000"/>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Planning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DDIT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E2E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B5200"/>
                          </a:solidFill>
                          <a:latin typeface="Arial" pitchFamily="34" charset="0"/>
                          <a:ea typeface="Arial" pitchFamily="34" charset="-122"/>
                          <a:cs typeface="Arial" pitchFamily="34" charset="-120"/>
                        </a:rPr>
                        <a:t>In Progress</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BF0D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Business UAT</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 Plan Review</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Go/No-Go</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Stage</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53619">
                <a:tc>
                  <a:txBody>
                    <a:bodyPr/>
                    <a:lstStyle/>
                    <a:p>
                      <a:pPr marL="0" indent="0">
                        <a:buNone/>
                      </a:pPr>
                      <a:r>
                        <a:rPr lang="en-US" sz="760" dirty="0">
                          <a:solidFill>
                            <a:srgbClr val="20242E"/>
                          </a:solidFill>
                          <a:latin typeface="Arial" pitchFamily="34" charset="0"/>
                          <a:ea typeface="Arial" pitchFamily="34" charset="-122"/>
                          <a:cs typeface="Arial" pitchFamily="34" charset="-120"/>
                        </a:rPr>
                        <a:t>Implementation</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lgn="ctr">
                        <a:buNone/>
                      </a:pPr>
                      <a:r>
                        <a:rPr lang="en-US" sz="760" b="1" dirty="0">
                          <a:solidFill>
                            <a:srgbClr val="6A7483"/>
                          </a:solidFill>
                          <a:latin typeface="Arial" pitchFamily="34" charset="0"/>
                          <a:ea typeface="Arial" pitchFamily="34" charset="-122"/>
                          <a:cs typeface="Arial" pitchFamily="34" charset="-120"/>
                        </a:rPr>
                        <a:t>Upcoming</a:t>
                      </a: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0F2F6"/>
                    </a:solidFill>
                  </a:tcPr>
                </a:tc>
                <a:tc>
                  <a:txBody>
                    <a:bodyPr/>
                    <a:lstStyle/>
                    <a:p>
                      <a:pPr marL="0" indent="0" algn="ctr">
                        <a:buNone/>
                      </a:pPr>
                      <a:endParaRPr lang="en-US" sz="760" dirty="0">
                        <a:latin typeface="Arial" charset="0"/>
                        <a:ea typeface="Arial" charset="0"/>
                        <a:cs typeface="Arial" charset="0"/>
                      </a:endParaRPr>
                    </a:p>
                  </a:txBody>
                  <a:tcPr marL="38100" marR="381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0" name="Text 17"/>
          <p:cNvSpPr/>
          <p:nvPr/>
        </p:nvSpPr>
        <p:spPr>
          <a:xfrm>
            <a:off x="6309360" y="217627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FINANCIALS (AS SUPPLIED BY SOURCE)</a:t>
            </a:r>
            <a:endParaRPr lang="en-US" sz="950" dirty="0"/>
          </a:p>
        </p:txBody>
      </p:sp>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309360" y="2377440"/>
          <a:ext cx="544068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Approved Budget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Actuals</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1"/>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Forecast</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2880">
                <a:tc>
                  <a:txBody>
                    <a:bodyPr/>
                    <a:lstStyle/>
                    <a:p>
                      <a:pPr marL="0" indent="0">
                        <a:buNone/>
                      </a:pPr>
                      <a:r>
                        <a:rPr lang="en-US" sz="850" dirty="0">
                          <a:solidFill>
                            <a:srgbClr val="20242E"/>
                          </a:solidFill>
                          <a:latin typeface="Arial" pitchFamily="34" charset="0"/>
                          <a:ea typeface="Arial" pitchFamily="34" charset="-122"/>
                          <a:cs typeface="Arial" pitchFamily="34" charset="-120"/>
                        </a:rPr>
                        <a:t>Variance</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tc>
                  <a:txBody>
                    <a:bodyPr/>
                    <a:lstStyle/>
                    <a:p>
                      <a:pPr marL="0" indent="0">
                        <a:buNone/>
                      </a:pPr>
                      <a:r>
                        <a:rPr lang="en-US" sz="850" i="1" dirty="0">
                          <a:solidFill>
                            <a:srgbClr val="5A6472"/>
                          </a:solidFill>
                          <a:latin typeface="Arial" pitchFamily="34" charset="0"/>
                          <a:ea typeface="Arial" pitchFamily="34" charset="-122"/>
                          <a:cs typeface="Arial" pitchFamily="34" charset="-120"/>
                        </a:rPr>
                        <a:t>Not supplied</a:t>
                      </a:r>
                      <a:endParaRPr lang="en-US" sz="850" dirty="0">
                        <a:latin typeface="Arial" charset="0"/>
                        <a:ea typeface="Arial" charset="0"/>
                        <a:cs typeface="Arial" charset="0"/>
                      </a:endParaRPr>
                    </a:p>
                  </a:txBody>
                  <a:tcPr marL="50800" marR="50800" marT="12700" marB="12700" anchor="ctr">
                    <a:lnL w="5080" cap="flat" cmpd="sng" algn="ctr">
                      <a:solidFill>
                        <a:srgbClr val="D5DAE3"/>
                      </a:solidFill>
                      <a:prstDash val="solid"/>
                      <a:round/>
                      <a:headEnd type="none" w="med" len="med"/>
                      <a:tailEnd type="none" w="med" len="med"/>
                    </a:lnL>
                    <a:lnR w="5080" cap="flat" cmpd="sng" algn="ctr">
                      <a:solidFill>
                        <a:srgbClr val="D5DAE3"/>
                      </a:solidFill>
                      <a:prstDash val="solid"/>
                      <a:round/>
                      <a:headEnd type="none" w="med" len="med"/>
                      <a:tailEnd type="none" w="med" len="med"/>
                    </a:lnR>
                    <a:lnT w="5080" cap="flat" cmpd="sng" algn="ctr">
                      <a:solidFill>
                        <a:srgbClr val="D5DAE3"/>
                      </a:solidFill>
                      <a:prstDash val="solid"/>
                      <a:round/>
                      <a:headEnd type="none" w="med" len="med"/>
                      <a:tailEnd type="none" w="med" len="med"/>
                    </a:lnT>
                    <a:lnB w="5080" cap="flat" cmpd="sng" algn="ctr">
                      <a:solidFill>
                        <a:srgbClr val="D5DAE3"/>
                      </a:solidFill>
                      <a:prstDash val="solid"/>
                      <a:round/>
                      <a:headEnd type="none" w="med" len="med"/>
                      <a:tailEnd type="none" w="med" len="med"/>
                    </a:lnB>
                    <a:solidFill>
                      <a:srgbClr val="F2F5FA"/>
                    </a:solidFill>
                  </a:tcPr>
                </a:tc>
                <a:extLst>
                  <a:ext uri="{0D108BD9-81ED-4DB2-BD59-A6C34878D82A}">
                    <a16:rowId xmlns:a16="http://schemas.microsoft.com/office/drawing/2014/main" val="10003"/>
                  </a:ext>
                </a:extLst>
              </a:tr>
            </a:tbl>
          </a:graphicData>
        </a:graphic>
      </p:graphicFrame>
      <p:sp>
        <p:nvSpPr>
          <p:cNvPr id="22" name="Text 18"/>
          <p:cNvSpPr/>
          <p:nvPr/>
        </p:nvSpPr>
        <p:spPr>
          <a:xfrm>
            <a:off x="6309360" y="3163824"/>
            <a:ext cx="5440680" cy="219456"/>
          </a:xfrm>
          <a:prstGeom prst="rect">
            <a:avLst/>
          </a:prstGeom>
          <a:noFill/>
          <a:ln/>
        </p:spPr>
        <p:txBody>
          <a:bodyPr wrap="square" lIns="0" tIns="0" rIns="0" bIns="0" rtlCol="0" anchor="ctr"/>
          <a:lstStyle/>
          <a:p>
            <a:pPr marL="0" indent="0">
              <a:buNone/>
            </a:pPr>
            <a:r>
              <a:rPr lang="en-US" sz="700" i="1" dirty="0">
                <a:solidFill>
                  <a:srgbClr val="5A6472"/>
                </a:solidFill>
                <a:latin typeface="Arial" pitchFamily="34" charset="0"/>
                <a:ea typeface="Arial" pitchFamily="34" charset="-122"/>
                <a:cs typeface="Arial" pitchFamily="34" charset="-120"/>
              </a:rPr>
              <a:t>Reported as supplied — blanks remain blank; financials are not recalculated.</a:t>
            </a:r>
            <a:endParaRPr lang="en-US" sz="700" dirty="0"/>
          </a:p>
        </p:txBody>
      </p:sp>
      <p:sp>
        <p:nvSpPr>
          <p:cNvPr id="23" name="Text 19"/>
          <p:cNvSpPr/>
          <p:nvPr/>
        </p:nvSpPr>
        <p:spPr>
          <a:xfrm>
            <a:off x="6309360" y="3419856"/>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BUSINESS VALUE / BENEFIT</a:t>
            </a:r>
            <a:endParaRPr lang="en-US" sz="950" dirty="0"/>
          </a:p>
        </p:txBody>
      </p:sp>
      <p:sp>
        <p:nvSpPr>
          <p:cNvPr id="24" name="Text 20"/>
          <p:cNvSpPr/>
          <p:nvPr/>
        </p:nvSpPr>
        <p:spPr>
          <a:xfrm>
            <a:off x="6309360" y="3621024"/>
            <a:ext cx="5440680" cy="457200"/>
          </a:xfrm>
          <a:prstGeom prst="rect">
            <a:avLst/>
          </a:prstGeom>
          <a:noFill/>
          <a:ln/>
        </p:spPr>
        <p:txBody>
          <a:bodyPr wrap="square" lIns="0" tIns="0" rIns="0" bIns="0" rtlCol="0" anchor="t"/>
          <a:lstStyle/>
          <a:p>
            <a:pPr marL="0" indent="0" algn="l">
              <a:buNone/>
            </a:pPr>
            <a:r>
              <a:rPr lang="en-US" sz="880" dirty="0">
                <a:solidFill>
                  <a:srgbClr val="20242E"/>
                </a:solidFill>
                <a:latin typeface="Arial" pitchFamily="34" charset="0"/>
                <a:ea typeface="Arial" pitchFamily="34" charset="-122"/>
                <a:cs typeface="Arial" pitchFamily="34" charset="-120"/>
              </a:rPr>
              <a:t>Reduces manual claims intake and establishes a path toward scalable claims automation.</a:t>
            </a:r>
            <a:endParaRPr lang="en-US" sz="880" dirty="0"/>
          </a:p>
        </p:txBody>
      </p:sp>
      <p:sp>
        <p:nvSpPr>
          <p:cNvPr id="25" name="Text 21"/>
          <p:cNvSpPr/>
          <p:nvPr/>
        </p:nvSpPr>
        <p:spPr>
          <a:xfrm>
            <a:off x="6309360" y="4169664"/>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ACCOMPLISHMENTS (LATEST AVAILABLE SOURCE)</a:t>
            </a:r>
            <a:endParaRPr lang="en-US" sz="950" dirty="0"/>
          </a:p>
        </p:txBody>
      </p:sp>
      <p:sp>
        <p:nvSpPr>
          <p:cNvPr id="26" name="Text 22"/>
          <p:cNvSpPr/>
          <p:nvPr/>
        </p:nvSpPr>
        <p:spPr>
          <a:xfrm>
            <a:off x="6309360" y="4370832"/>
            <a:ext cx="5440680" cy="868680"/>
          </a:xfrm>
          <a:prstGeom prst="rect">
            <a:avLst/>
          </a:prstGeom>
          <a:noFill/>
          <a:ln/>
        </p:spPr>
        <p:txBody>
          <a:bodyPr wrap="square" lIns="0" tIns="0" rIns="0" bIns="0" rtlCol="0" anchor="t"/>
          <a:lstStyle/>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Document Transformation Service production dark launch.</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E2E test strategy finalized and planning underway.</a:t>
            </a:r>
            <a:endParaRPr lang="en-US" sz="850" dirty="0"/>
          </a:p>
          <a:p>
            <a:pPr marL="127000" indent="-127000" algn="l">
              <a:spcAft>
                <a:spcPts val="200"/>
              </a:spcAft>
              <a:buSzPct val="100000"/>
              <a:buChar char="•"/>
            </a:pPr>
            <a:r>
              <a:rPr lang="en-US" sz="850" dirty="0">
                <a:solidFill>
                  <a:srgbClr val="20242E"/>
                </a:solidFill>
                <a:latin typeface="Arial" pitchFamily="34" charset="0"/>
                <a:ea typeface="Arial" pitchFamily="34" charset="-122"/>
                <a:cs typeface="Arial" pitchFamily="34" charset="-120"/>
              </a:rPr>
              <a:t>9/18 extraction and metrics demonstration completed with stakeholder questions captured.</a:t>
            </a:r>
            <a:endParaRPr lang="en-US" sz="850" dirty="0"/>
          </a:p>
        </p:txBody>
      </p:sp>
      <p:sp>
        <p:nvSpPr>
          <p:cNvPr id="27" name="Text 23"/>
          <p:cNvSpPr/>
          <p:nvPr/>
        </p:nvSpPr>
        <p:spPr>
          <a:xfrm>
            <a:off x="6309360" y="5285232"/>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LEADERSHIP CONTACTS</a:t>
            </a:r>
            <a:endParaRPr lang="en-US" sz="950" dirty="0"/>
          </a:p>
        </p:txBody>
      </p:sp>
      <p:sp>
        <p:nvSpPr>
          <p:cNvPr id="28" name="Text 24"/>
          <p:cNvSpPr/>
          <p:nvPr/>
        </p:nvSpPr>
        <p:spPr>
          <a:xfrm>
            <a:off x="6309360" y="5486400"/>
            <a:ext cx="544068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Delivery Leader  </a:t>
            </a:r>
            <a:r>
              <a:rPr lang="en-US" sz="850" b="1" dirty="0">
                <a:solidFill>
                  <a:srgbClr val="20242E"/>
                </a:solidFill>
                <a:latin typeface="Arial" pitchFamily="34" charset="0"/>
                <a:ea typeface="Arial" pitchFamily="34" charset="-122"/>
                <a:cs typeface="Arial" pitchFamily="34" charset="-120"/>
              </a:rPr>
              <a:t>Kulkarni, Shilpa Sachin</a:t>
            </a:r>
            <a:r>
              <a:rPr lang="en-US" sz="850" dirty="0">
                <a:solidFill>
                  <a:srgbClr val="5A6472"/>
                </a:solidFill>
                <a:latin typeface="Arial" pitchFamily="34" charset="0"/>
                <a:ea typeface="Arial" pitchFamily="34" charset="-122"/>
                <a:cs typeface="Arial" pitchFamily="34" charset="-120"/>
              </a:rPr>
              <a:t>      Business Lead  </a:t>
            </a:r>
            <a:r>
              <a:rPr lang="en-US" sz="850" i="1" dirty="0">
                <a:solidFill>
                  <a:srgbClr val="5A6472"/>
                </a:solidFill>
                <a:latin typeface="Arial" pitchFamily="34" charset="0"/>
                <a:ea typeface="Arial" pitchFamily="34" charset="-122"/>
                <a:cs typeface="Arial" pitchFamily="34" charset="-120"/>
              </a:rPr>
              <a:t>Not provided in source</a:t>
            </a:r>
            <a:endParaRPr lang="en-US" sz="850" dirty="0"/>
          </a:p>
        </p:txBody>
      </p:sp>
      <p:sp>
        <p:nvSpPr>
          <p:cNvPr id="29" name="Text 25"/>
          <p:cNvSpPr/>
          <p:nvPr/>
        </p:nvSpPr>
        <p:spPr>
          <a:xfrm>
            <a:off x="6309360" y="5779008"/>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TARGET / DELIVERY &amp; % COMPLETE</a:t>
            </a:r>
            <a:endParaRPr lang="en-US" sz="950" dirty="0"/>
          </a:p>
        </p:txBody>
      </p:sp>
      <p:sp>
        <p:nvSpPr>
          <p:cNvPr id="30" name="Text 26"/>
          <p:cNvSpPr/>
          <p:nvPr/>
        </p:nvSpPr>
        <p:spPr>
          <a:xfrm>
            <a:off x="6309360" y="5980176"/>
            <a:ext cx="3291840" cy="274320"/>
          </a:xfrm>
          <a:prstGeom prst="rect">
            <a:avLst/>
          </a:prstGeom>
          <a:noFill/>
          <a:ln/>
        </p:spPr>
        <p:txBody>
          <a:bodyPr wrap="square" lIns="0" tIns="0" rIns="0" bIns="0" rtlCol="0" anchor="ctr"/>
          <a:lstStyle/>
          <a:p>
            <a:pPr marL="0" indent="0" algn="l">
              <a:buNone/>
            </a:pPr>
            <a:r>
              <a:rPr lang="en-US" sz="850" dirty="0">
                <a:solidFill>
                  <a:srgbClr val="5A6472"/>
                </a:solidFill>
                <a:latin typeface="Arial" pitchFamily="34" charset="0"/>
                <a:ea typeface="Arial" pitchFamily="34" charset="-122"/>
                <a:cs typeface="Arial" pitchFamily="34" charset="-120"/>
              </a:rPr>
              <a:t>Target delivery  </a:t>
            </a:r>
            <a:r>
              <a:rPr lang="en-US" sz="850" b="1" dirty="0">
                <a:solidFill>
                  <a:srgbClr val="20242E"/>
                </a:solidFill>
                <a:latin typeface="Arial" pitchFamily="34" charset="0"/>
                <a:ea typeface="Arial" pitchFamily="34" charset="-122"/>
                <a:cs typeface="Arial" pitchFamily="34" charset="-120"/>
              </a:rPr>
              <a:t>9/30/2027</a:t>
            </a:r>
            <a:endParaRPr lang="en-US" sz="850" dirty="0"/>
          </a:p>
        </p:txBody>
      </p:sp>
      <p:sp>
        <p:nvSpPr>
          <p:cNvPr id="31" name="Shape 27"/>
          <p:cNvSpPr/>
          <p:nvPr/>
        </p:nvSpPr>
        <p:spPr>
          <a:xfrm>
            <a:off x="6309360" y="6309360"/>
            <a:ext cx="4480560" cy="182880"/>
          </a:xfrm>
          <a:prstGeom prst="roundRect">
            <a:avLst>
              <a:gd name="adj" fmla="val 50000"/>
            </a:avLst>
          </a:prstGeom>
          <a:solidFill>
            <a:srgbClr val="E4E7EC"/>
          </a:solidFill>
          <a:ln/>
        </p:spPr>
        <p:txBody>
          <a:bodyPr/>
          <a:lstStyle/>
          <a:p>
            <a:endParaRPr lang="en-US"/>
          </a:p>
        </p:txBody>
      </p:sp>
      <p:sp>
        <p:nvSpPr>
          <p:cNvPr id="32" name="Shape 28"/>
          <p:cNvSpPr/>
          <p:nvPr/>
        </p:nvSpPr>
        <p:spPr>
          <a:xfrm>
            <a:off x="6309360" y="6309360"/>
            <a:ext cx="2285086" cy="182880"/>
          </a:xfrm>
          <a:prstGeom prst="roundRect">
            <a:avLst>
              <a:gd name="adj" fmla="val 50000"/>
            </a:avLst>
          </a:prstGeom>
          <a:solidFill>
            <a:srgbClr val="0047BB"/>
          </a:solidFill>
          <a:ln/>
        </p:spPr>
        <p:txBody>
          <a:bodyPr/>
          <a:lstStyle/>
          <a:p>
            <a:endParaRPr lang="en-US"/>
          </a:p>
        </p:txBody>
      </p:sp>
      <p:sp>
        <p:nvSpPr>
          <p:cNvPr id="33" name="Text 29"/>
          <p:cNvSpPr/>
          <p:nvPr/>
        </p:nvSpPr>
        <p:spPr>
          <a:xfrm>
            <a:off x="10881360" y="6245352"/>
            <a:ext cx="822960" cy="310896"/>
          </a:xfrm>
          <a:prstGeom prst="rect">
            <a:avLst/>
          </a:prstGeom>
          <a:noFill/>
          <a:ln/>
        </p:spPr>
        <p:txBody>
          <a:bodyPr wrap="square" lIns="0" tIns="0" rIns="0" bIns="0" rtlCol="0" anchor="ctr"/>
          <a:lstStyle/>
          <a:p>
            <a:pPr marL="0" indent="0" algn="l">
              <a:buNone/>
            </a:pPr>
            <a:r>
              <a:rPr lang="en-US" sz="1100" b="1" dirty="0">
                <a:solidFill>
                  <a:srgbClr val="0047BB"/>
                </a:solidFill>
                <a:latin typeface="Arial" pitchFamily="34" charset="0"/>
                <a:ea typeface="Arial" pitchFamily="34" charset="-122"/>
                <a:cs typeface="Arial" pitchFamily="34" charset="-120"/>
              </a:rPr>
              <a:t>51%</a:t>
            </a:r>
            <a:endParaRPr lang="en-US" sz="1100" dirty="0"/>
          </a:p>
        </p:txBody>
      </p:sp>
      <p:sp>
        <p:nvSpPr>
          <p:cNvPr id="21"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84048"/>
            <a:ext cx="11155680" cy="658368"/>
          </a:xfrm>
          <a:prstGeom prst="rect">
            <a:avLst/>
          </a:prstGeom>
          <a:noFill/>
          <a:ln/>
        </p:spPr>
        <p:txBody>
          <a:bodyPr wrap="square" lIns="0" tIns="0" rIns="0" bIns="0" rtlCol="0" anchor="ctr"/>
          <a:lstStyle/>
          <a:p>
            <a:pPr marL="0" indent="0" algn="l">
              <a:buNone/>
            </a:pPr>
            <a:r>
              <a:rPr lang="en-US" sz="1500" b="1" dirty="0">
                <a:solidFill>
                  <a:srgbClr val="0047BB"/>
                </a:solidFill>
                <a:latin typeface="Georgia" pitchFamily="34" charset="0"/>
                <a:ea typeface="Georgia" pitchFamily="34" charset="-122"/>
                <a:cs typeface="Georgia" pitchFamily="34" charset="-120"/>
              </a:rPr>
              <a:t>Source hierarchy and reporting conventions keep the September view factual and auditable.</a:t>
            </a:r>
            <a:endParaRPr lang="en-US" sz="1500" dirty="0"/>
          </a:p>
        </p:txBody>
      </p:sp>
      <p:sp>
        <p:nvSpPr>
          <p:cNvPr id="3" name="Text 1"/>
          <p:cNvSpPr/>
          <p:nvPr/>
        </p:nvSpPr>
        <p:spPr>
          <a:xfrm>
            <a:off x="502920" y="1234440"/>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SOURCE REFERENCES</a:t>
            </a:r>
            <a:endParaRPr lang="en-US" sz="950" dirty="0"/>
          </a:p>
        </p:txBody>
      </p:sp>
      <p:sp>
        <p:nvSpPr>
          <p:cNvPr id="4" name="Text 2"/>
          <p:cNvSpPr/>
          <p:nvPr/>
        </p:nvSpPr>
        <p:spPr>
          <a:xfrm>
            <a:off x="502920" y="1435608"/>
            <a:ext cx="5440680" cy="2286000"/>
          </a:xfrm>
          <a:prstGeom prst="rect">
            <a:avLst/>
          </a:prstGeom>
          <a:noFill/>
          <a:ln/>
        </p:spPr>
        <p:txBody>
          <a:bodyPr wrap="square" lIns="0" tIns="0" rIns="0" bIns="0" rtlCol="0" anchor="t"/>
          <a:lstStyle/>
          <a:p>
            <a:pPr marL="0" indent="0" algn="l">
              <a:spcAft>
                <a:spcPts val="300"/>
              </a:spcAft>
              <a:buNone/>
            </a:pPr>
            <a:r>
              <a:rPr lang="en-US" sz="820" b="1" dirty="0">
                <a:solidFill>
                  <a:srgbClr val="20242E"/>
                </a:solidFill>
                <a:latin typeface="Arial" pitchFamily="34" charset="0"/>
                <a:ea typeface="Arial" pitchFamily="34" charset="-122"/>
                <a:cs typeface="Arial" pitchFamily="34" charset="-120"/>
              </a:rPr>
              <a:t>September Planview source (authoritative current values)</a:t>
            </a:r>
            <a:endParaRPr lang="en-US" sz="820" dirty="0"/>
          </a:p>
          <a:p>
            <a:pPr marL="0" indent="0" algn="l">
              <a:spcAft>
                <a:spcPts val="300"/>
              </a:spcAft>
              <a:buNone/>
            </a:pPr>
            <a:r>
              <a:rPr lang="en-US" sz="730" dirty="0">
                <a:solidFill>
                  <a:srgbClr val="0047BB"/>
                </a:solidFill>
                <a:latin typeface="Arial" pitchFamily="34" charset="0"/>
                <a:ea typeface="Arial" pitchFamily="34" charset="-122"/>
                <a:cs typeface="Arial" pitchFamily="34" charset="-120"/>
              </a:rPr>
              <a:t>https://nationwide-be.glean.com/api/v1/downloadchatfile/4a6d42aa59af4cfb915a23d20ee9a127</a:t>
            </a:r>
            <a:endParaRPr lang="en-US" sz="820" dirty="0"/>
          </a:p>
          <a:p>
            <a:pPr marL="0" indent="0" algn="l">
              <a:spcAft>
                <a:spcPts val="300"/>
              </a:spcAft>
              <a:buNone/>
            </a:pPr>
            <a:r>
              <a:rPr lang="en-US" sz="820" b="1" dirty="0">
                <a:solidFill>
                  <a:srgbClr val="20242E"/>
                </a:solidFill>
                <a:latin typeface="Arial" pitchFamily="34" charset="0"/>
                <a:ea typeface="Arial" pitchFamily="34" charset="-122"/>
                <a:cs typeface="Arial" pitchFamily="34" charset="-120"/>
              </a:rPr>
              <a:t>August monthly deck (prior-month RAG and structure)</a:t>
            </a:r>
            <a:endParaRPr lang="en-US" sz="820" dirty="0"/>
          </a:p>
          <a:p>
            <a:pPr marL="0" indent="0" algn="l">
              <a:spcAft>
                <a:spcPts val="300"/>
              </a:spcAft>
              <a:buNone/>
            </a:pPr>
            <a:r>
              <a:rPr lang="en-US" sz="730" dirty="0">
                <a:solidFill>
                  <a:srgbClr val="0047BB"/>
                </a:solidFill>
                <a:latin typeface="Arial" pitchFamily="34" charset="0"/>
                <a:ea typeface="Arial" pitchFamily="34" charset="-122"/>
                <a:cs typeface="Arial" pitchFamily="34" charset="-120"/>
              </a:rPr>
              <a:t>https://nationwide-be.glean.com/api/v1/downloadchatfile/7de8e6a82b7645d991dd40b812ae04bd</a:t>
            </a:r>
            <a:endParaRPr lang="en-US" sz="820" dirty="0"/>
          </a:p>
          <a:p>
            <a:pPr marL="0" indent="0" algn="l">
              <a:spcAft>
                <a:spcPts val="300"/>
              </a:spcAft>
              <a:buNone/>
            </a:pPr>
            <a:r>
              <a:rPr lang="en-US" sz="820" b="1" dirty="0">
                <a:solidFill>
                  <a:srgbClr val="20242E"/>
                </a:solidFill>
                <a:latin typeface="Arial" pitchFamily="34" charset="0"/>
                <a:ea typeface="Arial" pitchFamily="34" charset="-122"/>
                <a:cs typeface="Arial" pitchFamily="34" charset="-120"/>
              </a:rPr>
              <a:t>October 12 weekly update (supplemental context only)</a:t>
            </a:r>
            <a:endParaRPr lang="en-US" sz="820" dirty="0"/>
          </a:p>
          <a:p>
            <a:pPr marL="0" indent="0" algn="l">
              <a:spcAft>
                <a:spcPts val="300"/>
              </a:spcAft>
              <a:buNone/>
            </a:pPr>
            <a:r>
              <a:rPr lang="en-US" sz="730" dirty="0">
                <a:solidFill>
                  <a:srgbClr val="0047BB"/>
                </a:solidFill>
                <a:latin typeface="Arial" pitchFamily="34" charset="0"/>
                <a:ea typeface="Arial" pitchFamily="34" charset="-122"/>
                <a:cs typeface="Arial" pitchFamily="34" charset="-120"/>
              </a:rPr>
              <a:t>https://nationwide-be.glean.com/api/v1/downloadchatfile/bd397ec5813a4a798ef2bf594df7ff54</a:t>
            </a:r>
            <a:endParaRPr lang="en-US" sz="820" dirty="0"/>
          </a:p>
          <a:p>
            <a:pPr marL="0" indent="0" algn="l">
              <a:spcAft>
                <a:spcPts val="300"/>
              </a:spcAft>
              <a:buNone/>
            </a:pPr>
            <a:r>
              <a:rPr lang="en-US" sz="820" b="1" dirty="0">
                <a:solidFill>
                  <a:srgbClr val="20242E"/>
                </a:solidFill>
                <a:latin typeface="Arial" pitchFamily="34" charset="0"/>
                <a:ea typeface="Arial" pitchFamily="34" charset="-122"/>
                <a:cs typeface="Arial" pitchFamily="34" charset="-120"/>
              </a:rPr>
              <a:t>Nationwide branding template</a:t>
            </a:r>
            <a:endParaRPr lang="en-US" sz="820" dirty="0"/>
          </a:p>
          <a:p>
            <a:pPr marL="0" indent="0" algn="l">
              <a:spcAft>
                <a:spcPts val="300"/>
              </a:spcAft>
              <a:buNone/>
            </a:pPr>
            <a:r>
              <a:rPr lang="en-US" sz="730" dirty="0">
                <a:solidFill>
                  <a:srgbClr val="0047BB"/>
                </a:solidFill>
                <a:latin typeface="Arial" pitchFamily="34" charset="0"/>
                <a:ea typeface="Arial" pitchFamily="34" charset="-122"/>
                <a:cs typeface="Arial" pitchFamily="34" charset="-120"/>
              </a:rPr>
              <a:t>https://nationwide-be.glean.com/api/v1/downloadchatfile/6e51c3eb3505444c8de9c5104855bfdc</a:t>
            </a:r>
            <a:endParaRPr lang="en-US" sz="820" dirty="0"/>
          </a:p>
          <a:p>
            <a:pPr marL="0" indent="0" algn="l">
              <a:spcAft>
                <a:spcPts val="300"/>
              </a:spcAft>
              <a:buNone/>
            </a:pPr>
            <a:r>
              <a:rPr lang="en-US" sz="820" b="1" dirty="0">
                <a:solidFill>
                  <a:srgbClr val="20242E"/>
                </a:solidFill>
                <a:latin typeface="Arial" pitchFamily="34" charset="0"/>
                <a:ea typeface="Arial" pitchFamily="34" charset="-122"/>
                <a:cs typeface="Arial" pitchFamily="34" charset="-120"/>
              </a:rPr>
              <a:t>Pet Build rocket logo</a:t>
            </a:r>
            <a:endParaRPr lang="en-US" sz="820" dirty="0"/>
          </a:p>
          <a:p>
            <a:pPr marL="0" indent="0" algn="l">
              <a:spcAft>
                <a:spcPts val="300"/>
              </a:spcAft>
              <a:buNone/>
            </a:pPr>
            <a:r>
              <a:rPr lang="en-US" sz="730" dirty="0">
                <a:solidFill>
                  <a:srgbClr val="0047BB"/>
                </a:solidFill>
                <a:latin typeface="Arial" pitchFamily="34" charset="0"/>
                <a:ea typeface="Arial" pitchFamily="34" charset="-122"/>
                <a:cs typeface="Arial" pitchFamily="34" charset="-120"/>
              </a:rPr>
              <a:t>https://nationwide-be.glean.com/api/v1/downloadchatfile/85e0dcfcf8c34d26855c580f0365b378</a:t>
            </a:r>
            <a:endParaRPr lang="en-US" sz="820" dirty="0"/>
          </a:p>
        </p:txBody>
      </p:sp>
      <p:sp>
        <p:nvSpPr>
          <p:cNvPr id="5" name="Text 3"/>
          <p:cNvSpPr/>
          <p:nvPr/>
        </p:nvSpPr>
        <p:spPr>
          <a:xfrm>
            <a:off x="502920" y="3840480"/>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REPORTING ASSUMPTIONS</a:t>
            </a:r>
            <a:endParaRPr lang="en-US" sz="950" dirty="0"/>
          </a:p>
        </p:txBody>
      </p:sp>
      <p:sp>
        <p:nvSpPr>
          <p:cNvPr id="6" name="Text 4"/>
          <p:cNvSpPr/>
          <p:nvPr/>
        </p:nvSpPr>
        <p:spPr>
          <a:xfrm>
            <a:off x="502920" y="4041648"/>
            <a:ext cx="5440680" cy="1371600"/>
          </a:xfrm>
          <a:prstGeom prst="rect">
            <a:avLst/>
          </a:prstGeom>
          <a:noFill/>
          <a:ln/>
        </p:spPr>
        <p:txBody>
          <a:bodyPr wrap="square" lIns="0" tIns="0" rIns="0" bIns="0" rtlCol="0" anchor="t"/>
          <a:lstStyle/>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September 2026 reporting month; snapshot date 9/30/2026.</a:t>
            </a:r>
            <a:endParaRPr lang="en-US" sz="830" dirty="0"/>
          </a:p>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Prior month = August 2026 current RAG from the August monthly deck.</a:t>
            </a:r>
            <a:endParaRPr lang="en-US" sz="830" dirty="0"/>
          </a:p>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NR = Not Reported where no August source value exists.</a:t>
            </a:r>
            <a:endParaRPr lang="en-US" sz="830" dirty="0"/>
          </a:p>
          <a:p>
            <a:pPr marL="127000" indent="-127000">
              <a:spcAft>
                <a:spcPts val="300"/>
              </a:spcAft>
              <a:buSzPct val="100000"/>
              <a:buChar char="•"/>
            </a:pPr>
            <a:r>
              <a:rPr lang="en-US" sz="830" dirty="0">
                <a:solidFill>
                  <a:srgbClr val="20242E"/>
                </a:solidFill>
                <a:latin typeface="Arial" pitchFamily="34" charset="0"/>
                <a:ea typeface="Arial" pitchFamily="34" charset="-122"/>
                <a:cs typeface="Arial" pitchFamily="34" charset="-120"/>
              </a:rPr>
              <a:t>Not Assessed = September Planview supplied no overall RAG.</a:t>
            </a:r>
            <a:endParaRPr lang="en-US" sz="830" dirty="0"/>
          </a:p>
        </p:txBody>
      </p:sp>
      <p:sp>
        <p:nvSpPr>
          <p:cNvPr id="7" name="Text 5"/>
          <p:cNvSpPr/>
          <p:nvPr/>
        </p:nvSpPr>
        <p:spPr>
          <a:xfrm>
            <a:off x="6309360" y="1234440"/>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RAG DEFINITIONS</a:t>
            </a:r>
            <a:endParaRPr lang="en-US" sz="950" dirty="0"/>
          </a:p>
        </p:txBody>
      </p:sp>
      <p:sp>
        <p:nvSpPr>
          <p:cNvPr id="8" name="Text 6"/>
          <p:cNvSpPr/>
          <p:nvPr/>
        </p:nvSpPr>
        <p:spPr>
          <a:xfrm>
            <a:off x="6309360" y="1435608"/>
            <a:ext cx="5440680" cy="1737360"/>
          </a:xfrm>
          <a:prstGeom prst="rect">
            <a:avLst/>
          </a:prstGeom>
          <a:noFill/>
          <a:ln/>
        </p:spPr>
        <p:txBody>
          <a:bodyPr wrap="square" lIns="0" tIns="0" rIns="0" bIns="0" rtlCol="0" anchor="t"/>
          <a:lstStyle/>
          <a:p>
            <a:pPr marL="0" indent="0">
              <a:spcAft>
                <a:spcPts val="300"/>
              </a:spcAft>
              <a:buNone/>
            </a:pPr>
            <a:r>
              <a:rPr lang="en-US" sz="820" b="1" dirty="0">
                <a:solidFill>
                  <a:srgbClr val="2E7D32"/>
                </a:solidFill>
                <a:latin typeface="Arial" pitchFamily="34" charset="0"/>
                <a:ea typeface="Arial" pitchFamily="34" charset="-122"/>
                <a:cs typeface="Arial" pitchFamily="34" charset="-120"/>
              </a:rPr>
              <a:t>Green — </a:t>
            </a:r>
            <a:r>
              <a:rPr lang="en-US" sz="820" dirty="0">
                <a:solidFill>
                  <a:srgbClr val="20242E"/>
                </a:solidFill>
                <a:latin typeface="Arial" pitchFamily="34" charset="0"/>
                <a:ea typeface="Arial" pitchFamily="34" charset="-122"/>
                <a:cs typeface="Arial" pitchFamily="34" charset="-120"/>
              </a:rPr>
              <a:t>On track. Major milestones progressing as planned.</a:t>
            </a:r>
            <a:endParaRPr lang="en-US" sz="820" dirty="0"/>
          </a:p>
          <a:p>
            <a:pPr marL="0" indent="0">
              <a:spcAft>
                <a:spcPts val="300"/>
              </a:spcAft>
              <a:buNone/>
            </a:pPr>
            <a:r>
              <a:rPr lang="en-US" sz="820" b="1" dirty="0">
                <a:solidFill>
                  <a:srgbClr val="B5820B"/>
                </a:solidFill>
                <a:latin typeface="Arial" pitchFamily="34" charset="0"/>
                <a:ea typeface="Arial" pitchFamily="34" charset="-122"/>
                <a:cs typeface="Arial" pitchFamily="34" charset="-120"/>
              </a:rPr>
              <a:t>Yellow — </a:t>
            </a:r>
            <a:r>
              <a:rPr lang="en-US" sz="820" dirty="0">
                <a:solidFill>
                  <a:srgbClr val="20242E"/>
                </a:solidFill>
                <a:latin typeface="Arial" pitchFamily="34" charset="0"/>
                <a:ea typeface="Arial" pitchFamily="34" charset="-122"/>
                <a:cs typeface="Arial" pitchFamily="34" charset="-120"/>
              </a:rPr>
              <a:t>At risk. Key dependency, schedule, funding, or resource concerns require monitoring.</a:t>
            </a:r>
            <a:endParaRPr lang="en-US" sz="820" dirty="0"/>
          </a:p>
          <a:p>
            <a:pPr marL="0" indent="0">
              <a:spcAft>
                <a:spcPts val="300"/>
              </a:spcAft>
              <a:buNone/>
            </a:pPr>
            <a:r>
              <a:rPr lang="en-US" sz="820" b="1" dirty="0">
                <a:solidFill>
                  <a:srgbClr val="C0392B"/>
                </a:solidFill>
                <a:latin typeface="Arial" pitchFamily="34" charset="0"/>
                <a:ea typeface="Arial" pitchFamily="34" charset="-122"/>
                <a:cs typeface="Arial" pitchFamily="34" charset="-120"/>
              </a:rPr>
              <a:t>Red — </a:t>
            </a:r>
            <a:r>
              <a:rPr lang="en-US" sz="820" dirty="0">
                <a:solidFill>
                  <a:srgbClr val="20242E"/>
                </a:solidFill>
                <a:latin typeface="Arial" pitchFamily="34" charset="0"/>
                <a:ea typeface="Arial" pitchFamily="34" charset="-122"/>
                <a:cs typeface="Arial" pitchFamily="34" charset="-120"/>
              </a:rPr>
              <a:t>Critical risk impacting delivery. Immediate mitigation and leadership support required.</a:t>
            </a:r>
            <a:endParaRPr lang="en-US" sz="820" dirty="0"/>
          </a:p>
          <a:p>
            <a:pPr marL="0" indent="0">
              <a:spcAft>
                <a:spcPts val="300"/>
              </a:spcAft>
              <a:buNone/>
            </a:pPr>
            <a:r>
              <a:rPr lang="en-US" sz="820" b="1" dirty="0">
                <a:solidFill>
                  <a:srgbClr val="0047BB"/>
                </a:solidFill>
                <a:latin typeface="Arial" pitchFamily="34" charset="0"/>
                <a:ea typeface="Arial" pitchFamily="34" charset="-122"/>
                <a:cs typeface="Arial" pitchFamily="34" charset="-120"/>
              </a:rPr>
              <a:t>Completed — </a:t>
            </a:r>
            <a:r>
              <a:rPr lang="en-US" sz="820" dirty="0">
                <a:solidFill>
                  <a:srgbClr val="20242E"/>
                </a:solidFill>
                <a:latin typeface="Arial" pitchFamily="34" charset="0"/>
                <a:ea typeface="Arial" pitchFamily="34" charset="-122"/>
                <a:cs typeface="Arial" pitchFamily="34" charset="-120"/>
              </a:rPr>
              <a:t>Delivery completed successfully.</a:t>
            </a:r>
            <a:endParaRPr lang="en-US" sz="820" dirty="0"/>
          </a:p>
          <a:p>
            <a:pPr marL="0" indent="0">
              <a:spcAft>
                <a:spcPts val="300"/>
              </a:spcAft>
              <a:buNone/>
            </a:pPr>
            <a:r>
              <a:rPr lang="en-US" sz="820" b="1" dirty="0">
                <a:solidFill>
                  <a:srgbClr val="7A828E"/>
                </a:solidFill>
                <a:latin typeface="Arial" pitchFamily="34" charset="0"/>
                <a:ea typeface="Arial" pitchFamily="34" charset="-122"/>
                <a:cs typeface="Arial" pitchFamily="34" charset="-120"/>
              </a:rPr>
              <a:t>Not Assessed — </a:t>
            </a:r>
            <a:r>
              <a:rPr lang="en-US" sz="820" dirty="0">
                <a:solidFill>
                  <a:srgbClr val="20242E"/>
                </a:solidFill>
                <a:latin typeface="Arial" pitchFamily="34" charset="0"/>
                <a:ea typeface="Arial" pitchFamily="34" charset="-122"/>
                <a:cs typeface="Arial" pitchFamily="34" charset="-120"/>
              </a:rPr>
              <a:t>Status unavailable, planning-only, or data insufficient (supported source reasons only).</a:t>
            </a:r>
            <a:endParaRPr lang="en-US" sz="820" dirty="0"/>
          </a:p>
        </p:txBody>
      </p:sp>
      <p:sp>
        <p:nvSpPr>
          <p:cNvPr id="9" name="Text 7"/>
          <p:cNvSpPr/>
          <p:nvPr/>
        </p:nvSpPr>
        <p:spPr>
          <a:xfrm>
            <a:off x="6309360" y="3246120"/>
            <a:ext cx="5440680" cy="237744"/>
          </a:xfrm>
          <a:prstGeom prst="rect">
            <a:avLst/>
          </a:prstGeom>
          <a:noFill/>
          <a:ln/>
        </p:spPr>
        <p:txBody>
          <a:bodyPr wrap="square" lIns="0" tIns="0" rIns="0" bIns="0" rtlCol="0" anchor="ctr"/>
          <a:lstStyle/>
          <a:p>
            <a:pPr marL="0" indent="0" algn="l">
              <a:buNone/>
            </a:pPr>
            <a:r>
              <a:rPr lang="en-US" sz="950" b="1" kern="0" spc="100" dirty="0">
                <a:solidFill>
                  <a:srgbClr val="0047BB"/>
                </a:solidFill>
                <a:latin typeface="Arial" pitchFamily="34" charset="0"/>
                <a:ea typeface="Arial" pitchFamily="34" charset="-122"/>
                <a:cs typeface="Arial" pitchFamily="34" charset="-120"/>
              </a:rPr>
              <a:t>MILESTONE LEGEND &amp; DATA QUALITY</a:t>
            </a:r>
            <a:endParaRPr lang="en-US" sz="950" dirty="0"/>
          </a:p>
        </p:txBody>
      </p:sp>
      <p:sp>
        <p:nvSpPr>
          <p:cNvPr id="10" name="Text 8"/>
          <p:cNvSpPr/>
          <p:nvPr/>
        </p:nvSpPr>
        <p:spPr>
          <a:xfrm>
            <a:off x="6309360" y="3447288"/>
            <a:ext cx="5440680" cy="1828800"/>
          </a:xfrm>
          <a:prstGeom prst="rect">
            <a:avLst/>
          </a:prstGeom>
          <a:noFill/>
          <a:ln/>
        </p:spPr>
        <p:txBody>
          <a:bodyPr wrap="square" lIns="0" tIns="0" rIns="0" bIns="0" rtlCol="0" anchor="t"/>
          <a:lstStyle/>
          <a:p>
            <a:pPr marL="127000" indent="-127000">
              <a:spcAft>
                <a:spcPts val="200"/>
              </a:spcAft>
              <a:buSzPct val="100000"/>
              <a:buChar char="•"/>
            </a:pPr>
            <a:r>
              <a:rPr lang="en-US" sz="820" dirty="0">
                <a:solidFill>
                  <a:srgbClr val="20242E"/>
                </a:solidFill>
                <a:latin typeface="Arial" pitchFamily="34" charset="0"/>
                <a:ea typeface="Arial" pitchFamily="34" charset="-122"/>
                <a:cs typeface="Arial" pitchFamily="34" charset="-120"/>
              </a:rPr>
              <a:t>Milestone statuses: Completed, In Progress, Upcoming. Dates appear only when supplied; none invented.</a:t>
            </a:r>
            <a:endParaRPr lang="en-US" sz="820" dirty="0"/>
          </a:p>
          <a:p>
            <a:pPr marL="127000" indent="-127000">
              <a:spcAft>
                <a:spcPts val="200"/>
              </a:spcAft>
              <a:buSzPct val="100000"/>
              <a:buChar char="•"/>
            </a:pPr>
            <a:r>
              <a:rPr lang="en-US" sz="820" dirty="0">
                <a:solidFill>
                  <a:srgbClr val="20242E"/>
                </a:solidFill>
                <a:latin typeface="Arial" pitchFamily="34" charset="0"/>
                <a:ea typeface="Arial" pitchFamily="34" charset="-122"/>
                <a:cs typeface="Arial" pitchFamily="34" charset="-120"/>
              </a:rPr>
              <a:t>48 projects represented; all appear in the RAG snapshot; seven Red/Yellow projects have detail slides.</a:t>
            </a:r>
            <a:endParaRPr lang="en-US" sz="820" dirty="0"/>
          </a:p>
          <a:p>
            <a:pPr marL="127000" indent="-127000">
              <a:spcAft>
                <a:spcPts val="200"/>
              </a:spcAft>
              <a:buSzPct val="100000"/>
              <a:buChar char="•"/>
            </a:pPr>
            <a:r>
              <a:rPr lang="en-US" sz="820" dirty="0">
                <a:solidFill>
                  <a:srgbClr val="20242E"/>
                </a:solidFill>
                <a:latin typeface="Arial" pitchFamily="34" charset="0"/>
                <a:ea typeface="Arial" pitchFamily="34" charset="-122"/>
                <a:cs typeface="Arial" pitchFamily="34" charset="-120"/>
              </a:rPr>
              <a:t>Blank values remain blank; TBD remains TBD; financial values are not recalculated.</a:t>
            </a:r>
            <a:endParaRPr lang="en-US" sz="820" dirty="0"/>
          </a:p>
          <a:p>
            <a:pPr marL="127000" indent="-127000">
              <a:spcAft>
                <a:spcPts val="200"/>
              </a:spcAft>
              <a:buSzPct val="100000"/>
              <a:buChar char="•"/>
            </a:pPr>
            <a:r>
              <a:rPr lang="en-US" sz="820" dirty="0">
                <a:solidFill>
                  <a:srgbClr val="20242E"/>
                </a:solidFill>
                <a:latin typeface="Arial" pitchFamily="34" charset="0"/>
                <a:ea typeface="Arial" pitchFamily="34" charset="-122"/>
                <a:cs typeface="Arial" pitchFamily="34" charset="-120"/>
              </a:rPr>
              <a:t>September detail records for the seven Red/Yellow projects report no financial data → Not supplied.</a:t>
            </a:r>
            <a:endParaRPr lang="en-US" sz="820" dirty="0"/>
          </a:p>
          <a:p>
            <a:pPr marL="127000" indent="-127000">
              <a:spcAft>
                <a:spcPts val="200"/>
              </a:spcAft>
              <a:buSzPct val="100000"/>
              <a:buChar char="•"/>
            </a:pPr>
            <a:r>
              <a:rPr lang="en-US" sz="820" dirty="0">
                <a:solidFill>
                  <a:srgbClr val="20242E"/>
                </a:solidFill>
                <a:latin typeface="Arial" pitchFamily="34" charset="0"/>
                <a:ea typeface="Arial" pitchFamily="34" charset="-122"/>
                <a:cs typeface="Arial" pitchFamily="34" charset="-120"/>
              </a:rPr>
              <a:t>October 12 weekly context does not override September Planview values.</a:t>
            </a:r>
            <a:endParaRPr lang="en-US" sz="820" dirty="0"/>
          </a:p>
        </p:txBody>
      </p:sp>
      <p:sp>
        <p:nvSpPr>
          <p:cNvPr id="11" name="Shape 9"/>
          <p:cNvSpPr/>
          <p:nvPr/>
        </p:nvSpPr>
        <p:spPr>
          <a:xfrm>
            <a:off x="502920" y="5486400"/>
            <a:ext cx="11247120" cy="868680"/>
          </a:xfrm>
          <a:prstGeom prst="rect">
            <a:avLst/>
          </a:prstGeom>
          <a:solidFill>
            <a:srgbClr val="F2F5FA"/>
          </a:solidFill>
          <a:ln w="6350">
            <a:solidFill>
              <a:srgbClr val="D5DAE3"/>
            </a:solidFill>
            <a:prstDash val="solid"/>
          </a:ln>
        </p:spPr>
        <p:txBody>
          <a:bodyPr/>
          <a:lstStyle/>
          <a:p>
            <a:endParaRPr lang="en-US"/>
          </a:p>
        </p:txBody>
      </p:sp>
      <p:sp>
        <p:nvSpPr>
          <p:cNvPr id="12" name="Shape 10"/>
          <p:cNvSpPr/>
          <p:nvPr/>
        </p:nvSpPr>
        <p:spPr>
          <a:xfrm>
            <a:off x="502920" y="5486400"/>
            <a:ext cx="82296" cy="868680"/>
          </a:xfrm>
          <a:prstGeom prst="rect">
            <a:avLst/>
          </a:prstGeom>
          <a:solidFill>
            <a:srgbClr val="0047BB"/>
          </a:solidFill>
          <a:ln/>
        </p:spPr>
        <p:txBody>
          <a:bodyPr/>
          <a:lstStyle/>
          <a:p>
            <a:endParaRPr lang="en-US"/>
          </a:p>
        </p:txBody>
      </p:sp>
      <p:sp>
        <p:nvSpPr>
          <p:cNvPr id="13" name="Text 11"/>
          <p:cNvSpPr/>
          <p:nvPr/>
        </p:nvSpPr>
        <p:spPr>
          <a:xfrm>
            <a:off x="713232" y="5559552"/>
            <a:ext cx="10881360" cy="731520"/>
          </a:xfrm>
          <a:prstGeom prst="rect">
            <a:avLst/>
          </a:prstGeom>
          <a:noFill/>
          <a:ln/>
        </p:spPr>
        <p:txBody>
          <a:bodyPr wrap="square" lIns="0" tIns="0" rIns="0" bIns="0" rtlCol="0" anchor="ctr"/>
          <a:lstStyle/>
          <a:p>
            <a:pPr marL="0" indent="0" algn="l">
              <a:buNone/>
            </a:pPr>
            <a:r>
              <a:rPr lang="en-US" sz="850" i="1" dirty="0">
                <a:solidFill>
                  <a:srgbClr val="20242E"/>
                </a:solidFill>
                <a:latin typeface="Arial" pitchFamily="34" charset="0"/>
                <a:ea typeface="Arial" pitchFamily="34" charset="-122"/>
                <a:cs typeface="Arial" pitchFamily="34" charset="-120"/>
              </a:rPr>
              <a:t>This report reflects portfolio status as of 9/30/2026. Source fields are reported as supplied. Blank values remain blank. TBD values remain TBD. Financial calculations are not modified or recalculated.      ·      Nationwide internal use only.</a:t>
            </a:r>
            <a:endParaRPr lang="en-US" sz="850" dirty="0"/>
          </a:p>
        </p:txBody>
      </p:sp>
      <p:sp>
        <p:nvSpPr>
          <p:cNvPr id="25" name="Slide Number Placeholder 0"/>
          <p:cNvSpPr>
            <a:spLocks noGrp="1"/>
          </p:cNvSpPr>
          <p:nvPr>
            <p:ph type="sldNum" sz="quarter" idx="4294967295"/>
          </p:nvPr>
        </p:nvSpPr>
        <p:spPr>
          <a:xfrm>
            <a:off x="11658600" y="6492240"/>
            <a:ext cx="457200" cy="274320"/>
          </a:xfrm>
          <a:prstGeom prst="rect">
            <a:avLst/>
          </a:prstGeom>
          <a:extLst>
            <a:ext uri="{C572A759-6A51-4108-AA02-DFA0A04FC94B}">
              <ma14:wrappingTextBoxFlag xmlns="" xmlns:ma14="http://schemas.microsoft.com/office/mac/drawingml/2011/main" val="0"/>
            </a:ext>
          </a:extLst>
        </p:spPr>
        <p:txBody>
          <a:bodyPr/>
          <a:lstStyle>
            <a:lvl1pPr>
              <a:defRPr sz="800">
                <a:solidFill>
                  <a:srgbClr val="5A6472"/>
                </a:solidFill>
                <a:latin typeface="Arial"/>
                <a:ea typeface="Arial"/>
                <a:cs typeface="Aria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F0AB2B94E9164080AE6A7AF0D97188" ma:contentTypeVersion="9" ma:contentTypeDescription="Create a new document." ma:contentTypeScope="" ma:versionID="3b2a4e93513da2868a1dace0c5defd20">
  <xsd:schema xmlns:xsd="http://www.w3.org/2001/XMLSchema" xmlns:xs="http://www.w3.org/2001/XMLSchema" xmlns:p="http://schemas.microsoft.com/office/2006/metadata/properties" xmlns:ns2="2e1d4e07-6760-4f2a-9312-949aaba4a6da" xmlns:ns3="b7d811bb-603c-460a-9cfd-cf190d9133f6" targetNamespace="http://schemas.microsoft.com/office/2006/metadata/properties" ma:root="true" ma:fieldsID="0d96902118c4f37bde9f7d6f0bbef530" ns2:_="" ns3:_="">
    <xsd:import namespace="2e1d4e07-6760-4f2a-9312-949aaba4a6da"/>
    <xsd:import namespace="b7d811bb-603c-460a-9cfd-cf190d9133f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1d4e07-6760-4f2a-9312-949aaba4a6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b0a7d3-0568-4cb5-b861-555e3d31153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7d811bb-603c-460a-9cfd-cf190d9133f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3a11e6-3e35-4797-b11b-7cd9f7711061}" ma:internalName="TaxCatchAll" ma:showField="CatchAllData" ma:web="b7d811bb-603c-460a-9cfd-cf190d9133f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e1d4e07-6760-4f2a-9312-949aaba4a6da">
      <Terms xmlns="http://schemas.microsoft.com/office/infopath/2007/PartnerControls"/>
    </lcf76f155ced4ddcb4097134ff3c332f>
    <TaxCatchAll xmlns="b7d811bb-603c-460a-9cfd-cf190d9133f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634689-1F3A-4C81-88D6-664DB581C4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e1d4e07-6760-4f2a-9312-949aaba4a6da"/>
    <ds:schemaRef ds:uri="b7d811bb-603c-460a-9cfd-cf190d9133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0CC4FA6-B659-4D45-A9D0-312F803D9C63}">
  <ds:schemaRefs>
    <ds:schemaRef ds:uri="http://schemas.microsoft.com/office/2006/metadata/properties"/>
    <ds:schemaRef ds:uri="http://schemas.microsoft.com/office/infopath/2007/PartnerControls"/>
    <ds:schemaRef ds:uri="2e1d4e07-6760-4f2a-9312-949aaba4a6da"/>
    <ds:schemaRef ds:uri="b7d811bb-603c-460a-9cfd-cf190d9133f6"/>
  </ds:schemaRefs>
</ds:datastoreItem>
</file>

<file path=customXml/itemProps3.xml><?xml version="1.0" encoding="utf-8"?>
<ds:datastoreItem xmlns:ds="http://schemas.openxmlformats.org/officeDocument/2006/customXml" ds:itemID="{610C8F09-B617-47B6-B32B-71FE1676B4E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TotalTime>
  <Words>4658</Words>
  <Application>Microsoft Office PowerPoint</Application>
  <PresentationFormat>Widescreen</PresentationFormat>
  <Paragraphs>940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September 2026 Pet Build Portfolio Monthly Delivery Review</dc:title>
  <dc:subject>PptxGenJS Presentation</dc:subject>
  <dc:creator>Nationwide Pet</dc:creator>
  <cp:lastModifiedBy>Perreira, Paula</cp:lastModifiedBy>
  <cp:revision>3</cp:revision>
  <dcterms:created xsi:type="dcterms:W3CDTF">2026-10-14T15:24:36Z</dcterms:created>
  <dcterms:modified xsi:type="dcterms:W3CDTF">2026-10-14T21:35:21Z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ea8e88-16c4-4b55-a945-7bd6248db4bf_Enabled">
    <vt:lpwstr>true</vt:lpwstr>
  </property>
  <property fmtid="{D5CDD505-2E9C-101B-9397-08002B2CF9AE}" pid="3" name="MSIP_Label_92ea8e88-16c4-4b55-a945-7bd6248db4bf_SetDate">
    <vt:lpwstr>2026-10-14T20:29:02Z</vt:lpwstr>
  </property>
  <property fmtid="{D5CDD505-2E9C-101B-9397-08002B2CF9AE}" pid="4" name="MSIP_Label_92ea8e88-16c4-4b55-a945-7bd6248db4bf_Method">
    <vt:lpwstr>Standard</vt:lpwstr>
  </property>
  <property fmtid="{D5CDD505-2E9C-101B-9397-08002B2CF9AE}" pid="5" name="MSIP_Label_92ea8e88-16c4-4b55-a945-7bd6248db4bf_Name">
    <vt:lpwstr>Internal</vt:lpwstr>
  </property>
  <property fmtid="{D5CDD505-2E9C-101B-9397-08002B2CF9AE}" pid="6" name="MSIP_Label_92ea8e88-16c4-4b55-a945-7bd6248db4bf_SiteId">
    <vt:lpwstr>22140e4c-d390-45c2-b297-a26c516dc461</vt:lpwstr>
  </property>
  <property fmtid="{D5CDD505-2E9C-101B-9397-08002B2CF9AE}" pid="7" name="MSIP_Label_92ea8e88-16c4-4b55-a945-7bd6248db4bf_ActionId">
    <vt:lpwstr>ee6ea047-0741-4ebc-8693-75a9f0f96c59</vt:lpwstr>
  </property>
  <property fmtid="{D5CDD505-2E9C-101B-9397-08002B2CF9AE}" pid="8" name="MSIP_Label_92ea8e88-16c4-4b55-a945-7bd6248db4bf_ContentBits">
    <vt:lpwstr>0</vt:lpwstr>
  </property>
  <property fmtid="{D5CDD505-2E9C-101B-9397-08002B2CF9AE}" pid="9" name="MSIP_Label_92ea8e88-16c4-4b55-a945-7bd6248db4bf_Tag">
    <vt:lpwstr>10, 3, 0, 1</vt:lpwstr>
  </property>
  <property fmtid="{D5CDD505-2E9C-101B-9397-08002B2CF9AE}" pid="10" name="ContentTypeId">
    <vt:lpwstr>0x01010089F0AB2B94E9164080AE6A7AF0D97188</vt:lpwstr>
  </property>
</Properties>
</file>
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heme/theme5.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notesSlides/notesSlide21.xml" ContentType="application/vnd.openxmlformats-officedocument.presentationml.notesSlide+xml"/>
  <Override PartName="/ppt/tags/tag24.xml" ContentType="application/vnd.openxmlformats-officedocument.presentationml.tags+xml"/>
  <Override PartName="/ppt/notesSlides/notesSlide22.xml" ContentType="application/vnd.openxmlformats-officedocument.presentationml.notesSlide+xml"/>
  <Override PartName="/ppt/tags/tag25.xml" ContentType="application/vnd.openxmlformats-officedocument.presentationml.tags+xml"/>
  <Override PartName="/ppt/notesSlides/notesSlide23.xml" ContentType="application/vnd.openxmlformats-officedocument.presentationml.notesSlide+xml"/>
  <Override PartName="/ppt/tags/tag26.xml" ContentType="application/vnd.openxmlformats-officedocument.presentationml.tags+xml"/>
  <Override PartName="/ppt/notesSlides/notesSlide24.xml" ContentType="application/vnd.openxmlformats-officedocument.presentationml.notesSlide+xml"/>
  <Override PartName="/ppt/tags/tag27.xml" ContentType="application/vnd.openxmlformats-officedocument.presentationml.tags+xml"/>
  <Override PartName="/ppt/notesSlides/notesSlide25.xml" ContentType="application/vnd.openxmlformats-officedocument.presentationml.notesSlide+xml"/>
  <Override PartName="/ppt/tags/tag28.xml" ContentType="application/vnd.openxmlformats-officedocument.presentationml.tags+xml"/>
  <Override PartName="/ppt/notesSlides/notesSlide26.xml" ContentType="application/vnd.openxmlformats-officedocument.presentationml.notesSlide+xml"/>
  <Override PartName="/ppt/tags/tag29.xml" ContentType="application/vnd.openxmlformats-officedocument.presentationml.tags+xml"/>
  <Override PartName="/ppt/notesSlides/notesSlide27.xml" ContentType="application/vnd.openxmlformats-officedocument.presentationml.notesSlide+xml"/>
  <Override PartName="/ppt/tags/tag30.xml" ContentType="application/vnd.openxmlformats-officedocument.presentationml.tags+xml"/>
  <Override PartName="/ppt/notesSlides/notesSlide28.xml" ContentType="application/vnd.openxmlformats-officedocument.presentationml.notesSlide+xml"/>
  <Override PartName="/ppt/tags/tag31.xml" ContentType="application/vnd.openxmlformats-officedocument.presentationml.tags+xml"/>
  <Override PartName="/ppt/notesSlides/notesSlide29.xml" ContentType="application/vnd.openxmlformats-officedocument.presentationml.notesSlide+xml"/>
  <Override PartName="/ppt/tags/tag32.xml" ContentType="application/vnd.openxmlformats-officedocument.presentationml.tags+xml"/>
  <Override PartName="/ppt/notesSlides/notesSlide30.xml" ContentType="application/vnd.openxmlformats-officedocument.presentationml.notesSlide+xml"/>
  <Override PartName="/ppt/tags/tag33.xml" ContentType="application/vnd.openxmlformats-officedocument.presentationml.tags+xml"/>
  <Override PartName="/ppt/notesSlides/notesSlide31.xml" ContentType="application/vnd.openxmlformats-officedocument.presentationml.notesSlide+xml"/>
  <Override PartName="/ppt/tags/tag34.xml" ContentType="application/vnd.openxmlformats-officedocument.presentationml.tags+xml"/>
  <Override PartName="/ppt/notesSlides/notesSlide32.xml" ContentType="application/vnd.openxmlformats-officedocument.presentationml.notesSlide+xml"/>
  <Override PartName="/ppt/tags/tag35.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6" r:id="rId5"/>
    <p:sldMasterId id="2147483689" r:id="rId6"/>
    <p:sldMasterId id="2147483721" r:id="rId7"/>
  </p:sldMasterIdLst>
  <p:notesMasterIdLst>
    <p:notesMasterId r:id="rId62"/>
  </p:notesMasterIdLst>
  <p:sldIdLst>
    <p:sldId id="282" r:id="rId8"/>
    <p:sldId id="276" r:id="rId9"/>
    <p:sldId id="278" r:id="rId10"/>
    <p:sldId id="262" r:id="rId11"/>
    <p:sldId id="2147481525" r:id="rId12"/>
    <p:sldId id="2147483647" r:id="rId13"/>
    <p:sldId id="273" r:id="rId14"/>
    <p:sldId id="274" r:id="rId15"/>
    <p:sldId id="2147481495" r:id="rId16"/>
    <p:sldId id="2147483646" r:id="rId17"/>
    <p:sldId id="265" r:id="rId18"/>
    <p:sldId id="268" r:id="rId19"/>
    <p:sldId id="279" r:id="rId20"/>
    <p:sldId id="2147481526" r:id="rId21"/>
    <p:sldId id="2147481528" r:id="rId22"/>
    <p:sldId id="260" r:id="rId23"/>
    <p:sldId id="270" r:id="rId24"/>
    <p:sldId id="2147481534" r:id="rId25"/>
    <p:sldId id="2147481515" r:id="rId26"/>
    <p:sldId id="271" r:id="rId27"/>
    <p:sldId id="2147481533" r:id="rId28"/>
    <p:sldId id="2147481520" r:id="rId29"/>
    <p:sldId id="261" r:id="rId30"/>
    <p:sldId id="266" r:id="rId31"/>
    <p:sldId id="2147481541" r:id="rId32"/>
    <p:sldId id="267" r:id="rId33"/>
    <p:sldId id="277" r:id="rId34"/>
    <p:sldId id="2147481519" r:id="rId35"/>
    <p:sldId id="2147481531" r:id="rId36"/>
    <p:sldId id="2147481521" r:id="rId37"/>
    <p:sldId id="2147481484" r:id="rId38"/>
    <p:sldId id="2147481535" r:id="rId39"/>
    <p:sldId id="263" r:id="rId40"/>
    <p:sldId id="2147478231" r:id="rId41"/>
    <p:sldId id="2147481377" r:id="rId42"/>
    <p:sldId id="2147481532" r:id="rId43"/>
    <p:sldId id="264" r:id="rId44"/>
    <p:sldId id="2147483005" r:id="rId45"/>
    <p:sldId id="2147481536" r:id="rId46"/>
    <p:sldId id="2147481542" r:id="rId47"/>
    <p:sldId id="305" r:id="rId48"/>
    <p:sldId id="306" r:id="rId49"/>
    <p:sldId id="307" r:id="rId50"/>
    <p:sldId id="308" r:id="rId51"/>
    <p:sldId id="310" r:id="rId52"/>
    <p:sldId id="311" r:id="rId53"/>
    <p:sldId id="312" r:id="rId54"/>
    <p:sldId id="301" r:id="rId55"/>
    <p:sldId id="256" r:id="rId56"/>
    <p:sldId id="2147481524" r:id="rId57"/>
    <p:sldId id="258" r:id="rId58"/>
    <p:sldId id="257" r:id="rId59"/>
    <p:sldId id="2147478181" r:id="rId60"/>
    <p:sldId id="29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D0AC89-B3DF-54C9-5926-14731EBCC8A7}" name="Ciriaco, Leslie" initials="LC" userId="S::cirial1@nationwide.com::30687907-7d85-475d-8b18-d0db9bedb48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99999"/>
    <a:srgbClr val="ECEEFA"/>
    <a:srgbClr val="F2F7FC"/>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F60E11-2313-448E-B5FA-2127173D68A3}" v="52" dt="2026-10-12T17:23:25.947"/>
    <p1510:client id="{2BCA64EA-0256-4961-8638-245CA0D27F96}" v="31" dt="2026-10-12T18:11:09.031"/>
    <p1510:client id="{34A89DB0-4EAD-4619-AD6F-32238D288C70}" v="929" dt="2026-10-12T20:59:18.628"/>
    <p1510:client id="{4CD70E05-9EBB-DAC3-16BA-0012F0CA2CD9}" v="8" dt="2026-10-12T17:58:53.214"/>
    <p1510:client id="{5912EE16-AB92-4454-A471-F7AAB490C669}" v="1966" dt="2026-10-12T06:37:37.942"/>
    <p1510:client id="{9CD7201D-896E-44FB-87D5-4EBC9BF3797F}" v="27" dt="2026-10-12T21:53:46.672"/>
    <p1510:client id="{B2950E2B-3DCF-407F-B6B8-FEC8530BB16A}" v="59" dt="2026-10-12T21:29:24.197"/>
    <p1510:client id="{D293DA76-04C5-8103-8F24-51C989F5C74D}" v="326" dt="2026-10-12T21:29:12.397"/>
    <p1510:client id="{E6C46104-5C5A-42D0-85B0-D511B4316EB3}" v="7" dt="2026-10-12T18:19:51.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gar, Ali" userId="434344c2-e475-4cb2-9bd1-2b38f107d750" providerId="ADAL" clId="{BE3E8BDA-8A61-48C9-B701-6ECD4A7D106D}"/>
    <pc:docChg chg="undo custSel addSld delSld modSld">
      <pc:chgData name="Dadgar, Ali" userId="434344c2-e475-4cb2-9bd1-2b38f107d750" providerId="ADAL" clId="{BE3E8BDA-8A61-48C9-B701-6ECD4A7D106D}" dt="2026-10-08T20:49:26.300" v="445" actId="20577"/>
      <pc:docMkLst>
        <pc:docMk/>
      </pc:docMkLst>
      <pc:sldChg chg="modSp mod">
        <pc:chgData name="Dadgar, Ali" userId="434344c2-e475-4cb2-9bd1-2b38f107d750" providerId="ADAL" clId="{BE3E8BDA-8A61-48C9-B701-6ECD4A7D106D}" dt="2026-10-08T18:00:15.596" v="442" actId="20577"/>
        <pc:sldMkLst>
          <pc:docMk/>
          <pc:sldMk cId="1539424643" sldId="265"/>
        </pc:sldMkLst>
        <pc:spChg chg="mod">
          <ac:chgData name="Dadgar, Ali" userId="434344c2-e475-4cb2-9bd1-2b38f107d750" providerId="ADAL" clId="{BE3E8BDA-8A61-48C9-B701-6ECD4A7D106D}" dt="2026-10-08T18:00:07.068" v="438" actId="20577"/>
          <ac:spMkLst>
            <pc:docMk/>
            <pc:sldMk cId="1539424643" sldId="265"/>
            <ac:spMk id="5" creationId="{286AE69C-B04F-25E5-BE0C-149EF91035B4}"/>
          </ac:spMkLst>
        </pc:spChg>
        <pc:spChg chg="mod">
          <ac:chgData name="Dadgar, Ali" userId="434344c2-e475-4cb2-9bd1-2b38f107d750" providerId="ADAL" clId="{BE3E8BDA-8A61-48C9-B701-6ECD4A7D106D}" dt="2026-10-08T17:49:38.148" v="4" actId="1037"/>
          <ac:spMkLst>
            <pc:docMk/>
            <pc:sldMk cId="1539424643" sldId="265"/>
            <ac:spMk id="10" creationId="{2F49A4DC-56C5-C4A5-66CB-E57964BBCA97}"/>
          </ac:spMkLst>
        </pc:spChg>
        <pc:graphicFrameChg chg="modGraphic">
          <ac:chgData name="Dadgar, Ali" userId="434344c2-e475-4cb2-9bd1-2b38f107d750" providerId="ADAL" clId="{BE3E8BDA-8A61-48C9-B701-6ECD4A7D106D}" dt="2026-10-08T18:00:15.596" v="442" actId="20577"/>
          <ac:graphicFrameMkLst>
            <pc:docMk/>
            <pc:sldMk cId="1539424643" sldId="265"/>
            <ac:graphicFrameMk id="11" creationId="{62277E96-15BE-63C4-7149-95B6EE7D6B6F}"/>
          </ac:graphicFrameMkLst>
        </pc:graphicFrameChg>
        <pc:graphicFrameChg chg="modGraphic">
          <ac:chgData name="Dadgar, Ali" userId="434344c2-e475-4cb2-9bd1-2b38f107d750" providerId="ADAL" clId="{BE3E8BDA-8A61-48C9-B701-6ECD4A7D106D}" dt="2026-10-08T17:54:51.106" v="50" actId="20577"/>
          <ac:graphicFrameMkLst>
            <pc:docMk/>
            <pc:sldMk cId="1539424643" sldId="265"/>
            <ac:graphicFrameMk id="14" creationId="{84858545-F82E-FEB8-897F-EE6C5166452A}"/>
          </ac:graphicFrameMkLst>
        </pc:graphicFrameChg>
      </pc:sldChg>
      <pc:sldChg chg="modSp add mod">
        <pc:chgData name="Dadgar, Ali" userId="434344c2-e475-4cb2-9bd1-2b38f107d750" providerId="ADAL" clId="{BE3E8BDA-8A61-48C9-B701-6ECD4A7D106D}" dt="2026-10-08T17:49:26.916" v="2" actId="14100"/>
        <pc:sldMkLst>
          <pc:docMk/>
          <pc:sldMk cId="1260973889" sldId="278"/>
        </pc:sldMkLst>
        <pc:picChg chg="mod">
          <ac:chgData name="Dadgar, Ali" userId="434344c2-e475-4cb2-9bd1-2b38f107d750" providerId="ADAL" clId="{BE3E8BDA-8A61-48C9-B701-6ECD4A7D106D}" dt="2026-10-08T17:49:26.916" v="2" actId="14100"/>
          <ac:picMkLst>
            <pc:docMk/>
            <pc:sldMk cId="1260973889" sldId="278"/>
            <ac:picMk id="44" creationId="{A6CFA4E8-45AB-FC13-2F59-0C5EE1997AA0}"/>
          </ac:picMkLst>
        </pc:picChg>
      </pc:sldChg>
      <pc:sldChg chg="modSp mod">
        <pc:chgData name="Dadgar, Ali" userId="434344c2-e475-4cb2-9bd1-2b38f107d750" providerId="ADAL" clId="{BE3E8BDA-8A61-48C9-B701-6ECD4A7D106D}" dt="2026-10-08T20:49:26.300" v="445" actId="20577"/>
        <pc:sldMkLst>
          <pc:docMk/>
          <pc:sldMk cId="2180573008" sldId="282"/>
        </pc:sldMkLst>
        <pc:spChg chg="mod">
          <ac:chgData name="Dadgar, Ali" userId="434344c2-e475-4cb2-9bd1-2b38f107d750" providerId="ADAL" clId="{BE3E8BDA-8A61-48C9-B701-6ECD4A7D106D}" dt="2026-10-08T20:49:26.300" v="445" actId="20577"/>
          <ac:spMkLst>
            <pc:docMk/>
            <pc:sldMk cId="2180573008" sldId="282"/>
            <ac:spMk id="11" creationId="{F3074D63-196F-2446-ACC4-5020D61EDE04}"/>
          </ac:spMkLst>
        </pc:spChg>
      </pc:sldChg>
    </pc:docChg>
  </pc:docChgLst>
  <pc:docChgLst>
    <pc:chgData name="Joshi, Aastha" userId="S::josha3@nationwide.com::2c9ba31a-aae3-421b-90f8-8da7b196bf17" providerId="AD" clId="Web-{4CD70E05-9EBB-DAC3-16BA-0012F0CA2CD9}"/>
    <pc:docChg chg="modSld">
      <pc:chgData name="Joshi, Aastha" userId="S::josha3@nationwide.com::2c9ba31a-aae3-421b-90f8-8da7b196bf17" providerId="AD" clId="Web-{4CD70E05-9EBB-DAC3-16BA-0012F0CA2CD9}" dt="2026-10-12T17:58:49.574" v="3"/>
      <pc:docMkLst>
        <pc:docMk/>
      </pc:docMkLst>
      <pc:sldChg chg="modSp">
        <pc:chgData name="Joshi, Aastha" userId="S::josha3@nationwide.com::2c9ba31a-aae3-421b-90f8-8da7b196bf17" providerId="AD" clId="Web-{4CD70E05-9EBB-DAC3-16BA-0012F0CA2CD9}" dt="2026-10-12T17:58:49.574" v="3"/>
        <pc:sldMkLst>
          <pc:docMk/>
          <pc:sldMk cId="1260973889" sldId="278"/>
        </pc:sldMkLst>
        <pc:spChg chg="mod">
          <ac:chgData name="Joshi, Aastha" userId="S::josha3@nationwide.com::2c9ba31a-aae3-421b-90f8-8da7b196bf17" providerId="AD" clId="Web-{4CD70E05-9EBB-DAC3-16BA-0012F0CA2CD9}" dt="2026-10-12T17:58:35.933" v="2" actId="20577"/>
          <ac:spMkLst>
            <pc:docMk/>
            <pc:sldMk cId="1260973889" sldId="278"/>
            <ac:spMk id="5" creationId="{FB12DBC5-FE50-D649-59F3-F5DFE1A04FC0}"/>
          </ac:spMkLst>
        </pc:spChg>
        <pc:graphicFrameChg chg="mod modGraphic">
          <ac:chgData name="Joshi, Aastha" userId="S::josha3@nationwide.com::2c9ba31a-aae3-421b-90f8-8da7b196bf17" providerId="AD" clId="Web-{4CD70E05-9EBB-DAC3-16BA-0012F0CA2CD9}" dt="2026-10-12T17:58:17.714" v="1"/>
          <ac:graphicFrameMkLst>
            <pc:docMk/>
            <pc:sldMk cId="1260973889" sldId="278"/>
            <ac:graphicFrameMk id="11" creationId="{2B686D89-6C93-C803-3900-DD08FBD7BB43}"/>
          </ac:graphicFrameMkLst>
        </pc:graphicFrameChg>
        <pc:graphicFrameChg chg="modGraphic">
          <ac:chgData name="Joshi, Aastha" userId="S::josha3@nationwide.com::2c9ba31a-aae3-421b-90f8-8da7b196bf17" providerId="AD" clId="Web-{4CD70E05-9EBB-DAC3-16BA-0012F0CA2CD9}" dt="2026-10-12T17:58:49.574" v="3"/>
          <ac:graphicFrameMkLst>
            <pc:docMk/>
            <pc:sldMk cId="1260973889" sldId="278"/>
            <ac:graphicFrameMk id="27" creationId="{50D303B1-4685-BE6D-5075-97DA9E0010EB}"/>
          </ac:graphicFrameMkLst>
        </pc:graphicFrameChg>
      </pc:sldChg>
    </pc:docChg>
  </pc:docChgLst>
  <pc:docChgLst>
    <pc:chgData name="Konatalapalli, Venkata Dinesh" userId="d1d54421-a53d-48e9-bc3e-2f74d52f1d12" providerId="ADAL" clId="{670C8432-5EA3-4C05-8C52-BCF5D7B2EBF3}"/>
    <pc:docChg chg="undo custSel modSld sldOrd">
      <pc:chgData name="Konatalapalli, Venkata Dinesh" userId="d1d54421-a53d-48e9-bc3e-2f74d52f1d12" providerId="ADAL" clId="{670C8432-5EA3-4C05-8C52-BCF5D7B2EBF3}" dt="2026-10-12T20:59:18.628" v="2524" actId="6549"/>
      <pc:docMkLst>
        <pc:docMk/>
      </pc:docMkLst>
      <pc:sldChg chg="addSp delSp modSp mod">
        <pc:chgData name="Konatalapalli, Venkata Dinesh" userId="d1d54421-a53d-48e9-bc3e-2f74d52f1d12" providerId="ADAL" clId="{670C8432-5EA3-4C05-8C52-BCF5D7B2EBF3}" dt="2026-10-12T20:59:18.628" v="2524" actId="6549"/>
        <pc:sldMkLst>
          <pc:docMk/>
          <pc:sldMk cId="2555187516" sldId="262"/>
        </pc:sldMkLst>
        <pc:spChg chg="mod">
          <ac:chgData name="Konatalapalli, Venkata Dinesh" userId="d1d54421-a53d-48e9-bc3e-2f74d52f1d12" providerId="ADAL" clId="{670C8432-5EA3-4C05-8C52-BCF5D7B2EBF3}" dt="2026-10-12T20:56:23.723" v="2479" actId="20577"/>
          <ac:spMkLst>
            <pc:docMk/>
            <pc:sldMk cId="2555187516" sldId="262"/>
            <ac:spMk id="5" creationId="{46D265A6-898B-5B29-8291-73D3FF383985}"/>
          </ac:spMkLst>
        </pc:spChg>
        <pc:spChg chg="add mod">
          <ac:chgData name="Konatalapalli, Venkata Dinesh" userId="d1d54421-a53d-48e9-bc3e-2f74d52f1d12" providerId="ADAL" clId="{670C8432-5EA3-4C05-8C52-BCF5D7B2EBF3}" dt="2026-10-12T20:50:17.914" v="2387" actId="1076"/>
          <ac:spMkLst>
            <pc:docMk/>
            <pc:sldMk cId="2555187516" sldId="262"/>
            <ac:spMk id="8" creationId="{602A511B-C51A-6218-DCA7-8427299DAC23}"/>
          </ac:spMkLst>
        </pc:spChg>
        <pc:spChg chg="mod">
          <ac:chgData name="Konatalapalli, Venkata Dinesh" userId="d1d54421-a53d-48e9-bc3e-2f74d52f1d12" providerId="ADAL" clId="{670C8432-5EA3-4C05-8C52-BCF5D7B2EBF3}" dt="2026-10-12T20:48:15.105" v="2127" actId="1076"/>
          <ac:spMkLst>
            <pc:docMk/>
            <pc:sldMk cId="2555187516" sldId="262"/>
            <ac:spMk id="12" creationId="{B70318D7-962B-7565-D745-16B4DECB553C}"/>
          </ac:spMkLst>
        </pc:spChg>
        <pc:spChg chg="add mod">
          <ac:chgData name="Konatalapalli, Venkata Dinesh" userId="d1d54421-a53d-48e9-bc3e-2f74d52f1d12" providerId="ADAL" clId="{670C8432-5EA3-4C05-8C52-BCF5D7B2EBF3}" dt="2026-10-12T05:09:09.751" v="1477" actId="1076"/>
          <ac:spMkLst>
            <pc:docMk/>
            <pc:sldMk cId="2555187516" sldId="262"/>
            <ac:spMk id="13" creationId="{D955217A-ACD8-1884-27D4-879C89626D36}"/>
          </ac:spMkLst>
        </pc:spChg>
        <pc:spChg chg="del">
          <ac:chgData name="Konatalapalli, Venkata Dinesh" userId="d1d54421-a53d-48e9-bc3e-2f74d52f1d12" providerId="ADAL" clId="{670C8432-5EA3-4C05-8C52-BCF5D7B2EBF3}" dt="2026-10-11T03:23:59.628" v="469" actId="478"/>
          <ac:spMkLst>
            <pc:docMk/>
            <pc:sldMk cId="2555187516" sldId="262"/>
            <ac:spMk id="16" creationId="{9343888E-48A4-7A38-9747-FAA1CF2D49A2}"/>
          </ac:spMkLst>
        </pc:spChg>
        <pc:spChg chg="mod">
          <ac:chgData name="Konatalapalli, Venkata Dinesh" userId="d1d54421-a53d-48e9-bc3e-2f74d52f1d12" providerId="ADAL" clId="{670C8432-5EA3-4C05-8C52-BCF5D7B2EBF3}" dt="2026-10-12T20:48:18.460" v="2128" actId="1076"/>
          <ac:spMkLst>
            <pc:docMk/>
            <pc:sldMk cId="2555187516" sldId="262"/>
            <ac:spMk id="17" creationId="{413AAD4A-7D11-FA98-7AF4-87E0CEAA755E}"/>
          </ac:spMkLst>
        </pc:spChg>
        <pc:spChg chg="mod">
          <ac:chgData name="Konatalapalli, Venkata Dinesh" userId="d1d54421-a53d-48e9-bc3e-2f74d52f1d12" providerId="ADAL" clId="{670C8432-5EA3-4C05-8C52-BCF5D7B2EBF3}" dt="2026-10-12T20:48:22.575" v="2129" actId="1076"/>
          <ac:spMkLst>
            <pc:docMk/>
            <pc:sldMk cId="2555187516" sldId="262"/>
            <ac:spMk id="19" creationId="{C60FEC33-B1B5-918A-395F-D90397CE7903}"/>
          </ac:spMkLst>
        </pc:spChg>
        <pc:spChg chg="del">
          <ac:chgData name="Konatalapalli, Venkata Dinesh" userId="d1d54421-a53d-48e9-bc3e-2f74d52f1d12" providerId="ADAL" clId="{670C8432-5EA3-4C05-8C52-BCF5D7B2EBF3}" dt="2026-10-12T05:09:04.524" v="1476" actId="478"/>
          <ac:spMkLst>
            <pc:docMk/>
            <pc:sldMk cId="2555187516" sldId="262"/>
            <ac:spMk id="20" creationId="{7405812A-7D8D-2AEC-BB29-B67153335B3B}"/>
          </ac:spMkLst>
        </pc:spChg>
        <pc:spChg chg="del mod">
          <ac:chgData name="Konatalapalli, Venkata Dinesh" userId="d1d54421-a53d-48e9-bc3e-2f74d52f1d12" providerId="ADAL" clId="{670C8432-5EA3-4C05-8C52-BCF5D7B2EBF3}" dt="2026-10-12T04:59:35.391" v="1220" actId="478"/>
          <ac:spMkLst>
            <pc:docMk/>
            <pc:sldMk cId="2555187516" sldId="262"/>
            <ac:spMk id="28" creationId="{27CB774D-EFAA-F7B0-696F-E19274302CA9}"/>
          </ac:spMkLst>
        </pc:spChg>
        <pc:spChg chg="mod">
          <ac:chgData name="Konatalapalli, Venkata Dinesh" userId="d1d54421-a53d-48e9-bc3e-2f74d52f1d12" providerId="ADAL" clId="{670C8432-5EA3-4C05-8C52-BCF5D7B2EBF3}" dt="2026-10-12T20:41:14.768" v="1770" actId="1076"/>
          <ac:spMkLst>
            <pc:docMk/>
            <pc:sldMk cId="2555187516" sldId="262"/>
            <ac:spMk id="33" creationId="{BAFFCF7F-A135-CFB7-AA73-F679A319354B}"/>
          </ac:spMkLst>
        </pc:spChg>
        <pc:spChg chg="mod">
          <ac:chgData name="Konatalapalli, Venkata Dinesh" userId="d1d54421-a53d-48e9-bc3e-2f74d52f1d12" providerId="ADAL" clId="{670C8432-5EA3-4C05-8C52-BCF5D7B2EBF3}" dt="2026-10-12T20:41:12.186" v="1769" actId="1076"/>
          <ac:spMkLst>
            <pc:docMk/>
            <pc:sldMk cId="2555187516" sldId="262"/>
            <ac:spMk id="34" creationId="{E13FEC6D-9628-F984-DA15-8EE7F3E7B147}"/>
          </ac:spMkLst>
        </pc:spChg>
        <pc:spChg chg="mod">
          <ac:chgData name="Konatalapalli, Venkata Dinesh" userId="d1d54421-a53d-48e9-bc3e-2f74d52f1d12" providerId="ADAL" clId="{670C8432-5EA3-4C05-8C52-BCF5D7B2EBF3}" dt="2026-10-12T20:41:17.933" v="1771" actId="1076"/>
          <ac:spMkLst>
            <pc:docMk/>
            <pc:sldMk cId="2555187516" sldId="262"/>
            <ac:spMk id="36" creationId="{500FAF55-7EFF-3112-8E42-CF129A4E5B34}"/>
          </ac:spMkLst>
        </pc:spChg>
        <pc:graphicFrameChg chg="modGraphic">
          <ac:chgData name="Konatalapalli, Venkata Dinesh" userId="d1d54421-a53d-48e9-bc3e-2f74d52f1d12" providerId="ADAL" clId="{670C8432-5EA3-4C05-8C52-BCF5D7B2EBF3}" dt="2026-10-11T03:23:49.779" v="468" actId="20577"/>
          <ac:graphicFrameMkLst>
            <pc:docMk/>
            <pc:sldMk cId="2555187516" sldId="262"/>
            <ac:graphicFrameMk id="11" creationId="{1BDDA027-41B8-A277-632C-4FF24D80B817}"/>
          </ac:graphicFrameMkLst>
        </pc:graphicFrameChg>
        <pc:graphicFrameChg chg="mod modGraphic">
          <ac:chgData name="Konatalapalli, Venkata Dinesh" userId="d1d54421-a53d-48e9-bc3e-2f74d52f1d12" providerId="ADAL" clId="{670C8432-5EA3-4C05-8C52-BCF5D7B2EBF3}" dt="2026-10-12T20:59:18.628" v="2524" actId="6549"/>
          <ac:graphicFrameMkLst>
            <pc:docMk/>
            <pc:sldMk cId="2555187516" sldId="262"/>
            <ac:graphicFrameMk id="27" creationId="{1B4D048B-8EB6-A2B7-7F5D-76B7F6186060}"/>
          </ac:graphicFrameMkLst>
        </pc:graphicFrameChg>
        <pc:graphicFrameChg chg="mod modGraphic">
          <ac:chgData name="Konatalapalli, Venkata Dinesh" userId="d1d54421-a53d-48e9-bc3e-2f74d52f1d12" providerId="ADAL" clId="{670C8432-5EA3-4C05-8C52-BCF5D7B2EBF3}" dt="2026-10-12T20:46:46.423" v="2051" actId="1076"/>
          <ac:graphicFrameMkLst>
            <pc:docMk/>
            <pc:sldMk cId="2555187516" sldId="262"/>
            <ac:graphicFrameMk id="29" creationId="{3CAB6735-FCE3-FA60-EBEA-D0119FC54394}"/>
          </ac:graphicFrameMkLst>
        </pc:graphicFrameChg>
        <pc:graphicFrameChg chg="mod">
          <ac:chgData name="Konatalapalli, Venkata Dinesh" userId="d1d54421-a53d-48e9-bc3e-2f74d52f1d12" providerId="ADAL" clId="{670C8432-5EA3-4C05-8C52-BCF5D7B2EBF3}" dt="2026-10-12T15:01:25.718" v="1648" actId="1076"/>
          <ac:graphicFrameMkLst>
            <pc:docMk/>
            <pc:sldMk cId="2555187516" sldId="262"/>
            <ac:graphicFrameMk id="32" creationId="{E660F84A-0BB4-AA46-7EAC-DFC086AC6455}"/>
          </ac:graphicFrameMkLst>
        </pc:graphicFrameChg>
      </pc:sldChg>
      <pc:sldChg chg="delSp modSp mod">
        <pc:chgData name="Konatalapalli, Venkata Dinesh" userId="d1d54421-a53d-48e9-bc3e-2f74d52f1d12" providerId="ADAL" clId="{670C8432-5EA3-4C05-8C52-BCF5D7B2EBF3}" dt="2026-10-12T18:45:51.537" v="1768" actId="207"/>
        <pc:sldMkLst>
          <pc:docMk/>
          <pc:sldMk cId="3571483556" sldId="270"/>
        </pc:sldMkLst>
        <pc:spChg chg="mod">
          <ac:chgData name="Konatalapalli, Venkata Dinesh" userId="d1d54421-a53d-48e9-bc3e-2f74d52f1d12" providerId="ADAL" clId="{670C8432-5EA3-4C05-8C52-BCF5D7B2EBF3}" dt="2026-10-11T03:08:47.806" v="197" actId="20577"/>
          <ac:spMkLst>
            <pc:docMk/>
            <pc:sldMk cId="3571483556" sldId="270"/>
            <ac:spMk id="5" creationId="{F155568F-99E4-BDDE-4737-21815437582B}"/>
          </ac:spMkLst>
        </pc:spChg>
        <pc:spChg chg="del">
          <ac:chgData name="Konatalapalli, Venkata Dinesh" userId="d1d54421-a53d-48e9-bc3e-2f74d52f1d12" providerId="ADAL" clId="{670C8432-5EA3-4C05-8C52-BCF5D7B2EBF3}" dt="2026-10-12T18:45:42.615" v="1766" actId="478"/>
          <ac:spMkLst>
            <pc:docMk/>
            <pc:sldMk cId="3571483556" sldId="270"/>
            <ac:spMk id="22" creationId="{1AA3A462-4899-D797-8663-42AC201CDED1}"/>
          </ac:spMkLst>
        </pc:spChg>
        <pc:graphicFrameChg chg="modGraphic">
          <ac:chgData name="Konatalapalli, Venkata Dinesh" userId="d1d54421-a53d-48e9-bc3e-2f74d52f1d12" providerId="ADAL" clId="{670C8432-5EA3-4C05-8C52-BCF5D7B2EBF3}" dt="2026-10-11T03:09:59.103" v="214" actId="20577"/>
          <ac:graphicFrameMkLst>
            <pc:docMk/>
            <pc:sldMk cId="3571483556" sldId="270"/>
            <ac:graphicFrameMk id="11" creationId="{00FF6017-D73E-73BA-7DAB-87BC385B2E54}"/>
          </ac:graphicFrameMkLst>
        </pc:graphicFrameChg>
        <pc:graphicFrameChg chg="modGraphic">
          <ac:chgData name="Konatalapalli, Venkata Dinesh" userId="d1d54421-a53d-48e9-bc3e-2f74d52f1d12" providerId="ADAL" clId="{670C8432-5EA3-4C05-8C52-BCF5D7B2EBF3}" dt="2026-10-12T18:45:51.537" v="1768" actId="207"/>
          <ac:graphicFrameMkLst>
            <pc:docMk/>
            <pc:sldMk cId="3571483556" sldId="270"/>
            <ac:graphicFrameMk id="27" creationId="{866A5668-07FB-AA91-9A66-D5ED22CEB7C2}"/>
          </ac:graphicFrameMkLst>
        </pc:graphicFrameChg>
      </pc:sldChg>
      <pc:sldChg chg="modSp mod">
        <pc:chgData name="Konatalapalli, Venkata Dinesh" userId="d1d54421-a53d-48e9-bc3e-2f74d52f1d12" providerId="ADAL" clId="{670C8432-5EA3-4C05-8C52-BCF5D7B2EBF3}" dt="2026-10-12T15:05:05.267" v="1672" actId="400"/>
        <pc:sldMkLst>
          <pc:docMk/>
          <pc:sldMk cId="2712817689" sldId="2147481495"/>
        </pc:sldMkLst>
        <pc:graphicFrameChg chg="modGraphic">
          <ac:chgData name="Konatalapalli, Venkata Dinesh" userId="d1d54421-a53d-48e9-bc3e-2f74d52f1d12" providerId="ADAL" clId="{670C8432-5EA3-4C05-8C52-BCF5D7B2EBF3}" dt="2026-10-11T03:06:07.351" v="1" actId="20577"/>
          <ac:graphicFrameMkLst>
            <pc:docMk/>
            <pc:sldMk cId="2712817689" sldId="2147481495"/>
            <ac:graphicFrameMk id="11" creationId="{74EA47A9-D9EB-628C-0365-3568F9D882C3}"/>
          </ac:graphicFrameMkLst>
        </pc:graphicFrameChg>
        <pc:graphicFrameChg chg="modGraphic">
          <ac:chgData name="Konatalapalli, Venkata Dinesh" userId="d1d54421-a53d-48e9-bc3e-2f74d52f1d12" providerId="ADAL" clId="{670C8432-5EA3-4C05-8C52-BCF5D7B2EBF3}" dt="2026-10-12T15:05:05.267" v="1672" actId="400"/>
          <ac:graphicFrameMkLst>
            <pc:docMk/>
            <pc:sldMk cId="2712817689" sldId="2147481495"/>
            <ac:graphicFrameMk id="29" creationId="{62D7E36D-8964-12CA-6DF7-38CCCDF27BA3}"/>
          </ac:graphicFrameMkLst>
        </pc:graphicFrameChg>
      </pc:sldChg>
      <pc:sldChg chg="addSp delSp modSp mod ord">
        <pc:chgData name="Konatalapalli, Venkata Dinesh" userId="d1d54421-a53d-48e9-bc3e-2f74d52f1d12" providerId="ADAL" clId="{670C8432-5EA3-4C05-8C52-BCF5D7B2EBF3}" dt="2026-10-12T15:09:17.983" v="1765" actId="1076"/>
        <pc:sldMkLst>
          <pc:docMk/>
          <pc:sldMk cId="905492665" sldId="2147483646"/>
        </pc:sldMkLst>
        <pc:spChg chg="mod">
          <ac:chgData name="Konatalapalli, Venkata Dinesh" userId="d1d54421-a53d-48e9-bc3e-2f74d52f1d12" providerId="ADAL" clId="{670C8432-5EA3-4C05-8C52-BCF5D7B2EBF3}" dt="2026-10-12T15:05:49.441" v="1698" actId="20577"/>
          <ac:spMkLst>
            <pc:docMk/>
            <pc:sldMk cId="905492665" sldId="2147483646"/>
            <ac:spMk id="5" creationId="{318AAE5A-AC62-0488-871A-5961BB25E92A}"/>
          </ac:spMkLst>
        </pc:spChg>
        <pc:spChg chg="add mod">
          <ac:chgData name="Konatalapalli, Venkata Dinesh" userId="d1d54421-a53d-48e9-bc3e-2f74d52f1d12" providerId="ADAL" clId="{670C8432-5EA3-4C05-8C52-BCF5D7B2EBF3}" dt="2026-10-11T03:09:37.119" v="204" actId="1076"/>
          <ac:spMkLst>
            <pc:docMk/>
            <pc:sldMk cId="905492665" sldId="2147483646"/>
            <ac:spMk id="6" creationId="{16C93F9D-9C4A-AE49-5B4D-E827A4681D12}"/>
          </ac:spMkLst>
        </pc:spChg>
        <pc:spChg chg="add mod">
          <ac:chgData name="Konatalapalli, Venkata Dinesh" userId="d1d54421-a53d-48e9-bc3e-2f74d52f1d12" providerId="ADAL" clId="{670C8432-5EA3-4C05-8C52-BCF5D7B2EBF3}" dt="2026-10-12T15:09:17.983" v="1765" actId="1076"/>
          <ac:spMkLst>
            <pc:docMk/>
            <pc:sldMk cId="905492665" sldId="2147483646"/>
            <ac:spMk id="10" creationId="{897ACF88-B30A-D1DE-D1D3-A96BE1F4971E}"/>
          </ac:spMkLst>
        </pc:spChg>
        <pc:spChg chg="add mod">
          <ac:chgData name="Konatalapalli, Venkata Dinesh" userId="d1d54421-a53d-48e9-bc3e-2f74d52f1d12" providerId="ADAL" clId="{670C8432-5EA3-4C05-8C52-BCF5D7B2EBF3}" dt="2026-10-11T03:22:14.122" v="465" actId="1076"/>
          <ac:spMkLst>
            <pc:docMk/>
            <pc:sldMk cId="905492665" sldId="2147483646"/>
            <ac:spMk id="12" creationId="{E829360E-6D47-1720-BC06-E9AD65E106EF}"/>
          </ac:spMkLst>
        </pc:spChg>
        <pc:spChg chg="del">
          <ac:chgData name="Konatalapalli, Venkata Dinesh" userId="d1d54421-a53d-48e9-bc3e-2f74d52f1d12" providerId="ADAL" clId="{670C8432-5EA3-4C05-8C52-BCF5D7B2EBF3}" dt="2026-10-11T03:22:06.176" v="463" actId="478"/>
          <ac:spMkLst>
            <pc:docMk/>
            <pc:sldMk cId="905492665" sldId="2147483646"/>
            <ac:spMk id="28" creationId="{1BAE5C5A-1D27-3764-51C3-683D99D8C5F2}"/>
          </ac:spMkLst>
        </pc:spChg>
        <pc:spChg chg="mod">
          <ac:chgData name="Konatalapalli, Venkata Dinesh" userId="d1d54421-a53d-48e9-bc3e-2f74d52f1d12" providerId="ADAL" clId="{670C8432-5EA3-4C05-8C52-BCF5D7B2EBF3}" dt="2026-10-12T15:09:02.181" v="1762" actId="1076"/>
          <ac:spMkLst>
            <pc:docMk/>
            <pc:sldMk cId="905492665" sldId="2147483646"/>
            <ac:spMk id="33" creationId="{76BD5F50-9E1D-8D09-804F-0478CE349933}"/>
          </ac:spMkLst>
        </pc:spChg>
        <pc:spChg chg="mod">
          <ac:chgData name="Konatalapalli, Venkata Dinesh" userId="d1d54421-a53d-48e9-bc3e-2f74d52f1d12" providerId="ADAL" clId="{670C8432-5EA3-4C05-8C52-BCF5D7B2EBF3}" dt="2026-10-12T15:09:06.969" v="1763" actId="1076"/>
          <ac:spMkLst>
            <pc:docMk/>
            <pc:sldMk cId="905492665" sldId="2147483646"/>
            <ac:spMk id="34" creationId="{E37FAC63-BF14-56A8-4C9B-FCC5E9A3751A}"/>
          </ac:spMkLst>
        </pc:spChg>
        <pc:spChg chg="mod">
          <ac:chgData name="Konatalapalli, Venkata Dinesh" userId="d1d54421-a53d-48e9-bc3e-2f74d52f1d12" providerId="ADAL" clId="{670C8432-5EA3-4C05-8C52-BCF5D7B2EBF3}" dt="2026-10-12T15:09:12.745" v="1764" actId="1076"/>
          <ac:spMkLst>
            <pc:docMk/>
            <pc:sldMk cId="905492665" sldId="2147483646"/>
            <ac:spMk id="36" creationId="{1F9CA744-7FEC-AE93-7B98-511321688F09}"/>
          </ac:spMkLst>
        </pc:spChg>
        <pc:spChg chg="del">
          <ac:chgData name="Konatalapalli, Venkata Dinesh" userId="d1d54421-a53d-48e9-bc3e-2f74d52f1d12" providerId="ADAL" clId="{670C8432-5EA3-4C05-8C52-BCF5D7B2EBF3}" dt="2026-10-11T03:09:26.323" v="202" actId="478"/>
          <ac:spMkLst>
            <pc:docMk/>
            <pc:sldMk cId="905492665" sldId="2147483646"/>
            <ac:spMk id="46" creationId="{E0590FA4-E345-8902-5974-9B3AB6270E46}"/>
          </ac:spMkLst>
        </pc:spChg>
        <pc:graphicFrameChg chg="modGraphic">
          <ac:chgData name="Konatalapalli, Venkata Dinesh" userId="d1d54421-a53d-48e9-bc3e-2f74d52f1d12" providerId="ADAL" clId="{670C8432-5EA3-4C05-8C52-BCF5D7B2EBF3}" dt="2026-10-11T03:09:43.568" v="210" actId="20577"/>
          <ac:graphicFrameMkLst>
            <pc:docMk/>
            <pc:sldMk cId="905492665" sldId="2147483646"/>
            <ac:graphicFrameMk id="11" creationId="{D3C3A19E-988F-11EC-E82B-4267BA8D6F8E}"/>
          </ac:graphicFrameMkLst>
        </pc:graphicFrameChg>
        <pc:graphicFrameChg chg="mod">
          <ac:chgData name="Konatalapalli, Venkata Dinesh" userId="d1d54421-a53d-48e9-bc3e-2f74d52f1d12" providerId="ADAL" clId="{670C8432-5EA3-4C05-8C52-BCF5D7B2EBF3}" dt="2026-10-12T15:08:40.011" v="1758"/>
          <ac:graphicFrameMkLst>
            <pc:docMk/>
            <pc:sldMk cId="905492665" sldId="2147483646"/>
            <ac:graphicFrameMk id="27" creationId="{8524ED42-1B04-FD87-7CE2-6F9837B24058}"/>
          </ac:graphicFrameMkLst>
        </pc:graphicFrameChg>
        <pc:graphicFrameChg chg="mod modGraphic">
          <ac:chgData name="Konatalapalli, Venkata Dinesh" userId="d1d54421-a53d-48e9-bc3e-2f74d52f1d12" providerId="ADAL" clId="{670C8432-5EA3-4C05-8C52-BCF5D7B2EBF3}" dt="2026-10-12T15:08:43.665" v="1759" actId="108"/>
          <ac:graphicFrameMkLst>
            <pc:docMk/>
            <pc:sldMk cId="905492665" sldId="2147483646"/>
            <ac:graphicFrameMk id="29" creationId="{834A5C42-524C-1A36-F1D6-A89E382ED2A8}"/>
          </ac:graphicFrameMkLst>
        </pc:graphicFrameChg>
        <pc:graphicFrameChg chg="mod">
          <ac:chgData name="Konatalapalli, Venkata Dinesh" userId="d1d54421-a53d-48e9-bc3e-2f74d52f1d12" providerId="ADAL" clId="{670C8432-5EA3-4C05-8C52-BCF5D7B2EBF3}" dt="2026-10-12T15:08:52.921" v="1760" actId="1076"/>
          <ac:graphicFrameMkLst>
            <pc:docMk/>
            <pc:sldMk cId="905492665" sldId="2147483646"/>
            <ac:graphicFrameMk id="32" creationId="{3677BB71-7FF6-D9D5-5A73-AEE25D4C08B2}"/>
          </ac:graphicFrameMkLst>
        </pc:graphicFrameChg>
      </pc:sldChg>
    </pc:docChg>
  </pc:docChgLst>
  <pc:docChgLst>
    <pc:chgData name="Trudeau, Cindy" userId="5c28d3c8-596d-4cbf-a5ec-3ae932b156cd" providerId="ADAL" clId="{0FE9CF52-C380-40F0-BAA4-A99AFF84693D}"/>
    <pc:docChg chg="modSld">
      <pc:chgData name="Trudeau, Cindy" userId="5c28d3c8-596d-4cbf-a5ec-3ae932b156cd" providerId="ADAL" clId="{0FE9CF52-C380-40F0-BAA4-A99AFF84693D}" dt="2026-10-12T21:53:46.672" v="26" actId="6549"/>
      <pc:docMkLst>
        <pc:docMk/>
      </pc:docMkLst>
      <pc:sldChg chg="modSp mod">
        <pc:chgData name="Trudeau, Cindy" userId="5c28d3c8-596d-4cbf-a5ec-3ae932b156cd" providerId="ADAL" clId="{0FE9CF52-C380-40F0-BAA4-A99AFF84693D}" dt="2026-10-12T21:53:46.672" v="26" actId="6549"/>
        <pc:sldMkLst>
          <pc:docMk/>
          <pc:sldMk cId="2980477005" sldId="267"/>
        </pc:sldMkLst>
        <pc:graphicFrameChg chg="modGraphic">
          <ac:chgData name="Trudeau, Cindy" userId="5c28d3c8-596d-4cbf-a5ec-3ae932b156cd" providerId="ADAL" clId="{0FE9CF52-C380-40F0-BAA4-A99AFF84693D}" dt="2026-10-12T21:53:46.672" v="26" actId="6549"/>
          <ac:graphicFrameMkLst>
            <pc:docMk/>
            <pc:sldMk cId="2980477005" sldId="267"/>
            <ac:graphicFrameMk id="27" creationId="{E4812FB4-EC52-543D-0EBE-9C5346E9C391}"/>
          </ac:graphicFrameMkLst>
        </pc:graphicFrameChg>
      </pc:sldChg>
      <pc:sldChg chg="modSp mod">
        <pc:chgData name="Trudeau, Cindy" userId="5c28d3c8-596d-4cbf-a5ec-3ae932b156cd" providerId="ADAL" clId="{0FE9CF52-C380-40F0-BAA4-A99AFF84693D}" dt="2026-10-12T21:04:48.225" v="4" actId="1076"/>
        <pc:sldMkLst>
          <pc:docMk/>
          <pc:sldMk cId="1260973889" sldId="278"/>
        </pc:sldMkLst>
        <pc:spChg chg="mod">
          <ac:chgData name="Trudeau, Cindy" userId="5c28d3c8-596d-4cbf-a5ec-3ae932b156cd" providerId="ADAL" clId="{0FE9CF52-C380-40F0-BAA4-A99AFF84693D}" dt="2026-10-12T21:03:11.510" v="0" actId="1076"/>
          <ac:spMkLst>
            <pc:docMk/>
            <pc:sldMk cId="1260973889" sldId="278"/>
            <ac:spMk id="15" creationId="{A9B573FD-A674-F469-2D4F-68E292803D54}"/>
          </ac:spMkLst>
        </pc:spChg>
        <pc:spChg chg="mod">
          <ac:chgData name="Trudeau, Cindy" userId="5c28d3c8-596d-4cbf-a5ec-3ae932b156cd" providerId="ADAL" clId="{0FE9CF52-C380-40F0-BAA4-A99AFF84693D}" dt="2026-10-12T21:03:20.278" v="2" actId="1076"/>
          <ac:spMkLst>
            <pc:docMk/>
            <pc:sldMk cId="1260973889" sldId="278"/>
            <ac:spMk id="16" creationId="{F9297F10-7A9A-B51C-5D30-59D4DA9FF77F}"/>
          </ac:spMkLst>
        </pc:spChg>
        <pc:spChg chg="mod">
          <ac:chgData name="Trudeau, Cindy" userId="5c28d3c8-596d-4cbf-a5ec-3ae932b156cd" providerId="ADAL" clId="{0FE9CF52-C380-40F0-BAA4-A99AFF84693D}" dt="2026-10-12T21:04:48.225" v="4" actId="1076"/>
          <ac:spMkLst>
            <pc:docMk/>
            <pc:sldMk cId="1260973889" sldId="278"/>
            <ac:spMk id="18" creationId="{3A6780DC-24E1-B6C4-4307-BFF896EAD7B8}"/>
          </ac:spMkLst>
        </pc:spChg>
        <pc:spChg chg="mod">
          <ac:chgData name="Trudeau, Cindy" userId="5c28d3c8-596d-4cbf-a5ec-3ae932b156cd" providerId="ADAL" clId="{0FE9CF52-C380-40F0-BAA4-A99AFF84693D}" dt="2026-10-12T21:04:44.633" v="3" actId="1076"/>
          <ac:spMkLst>
            <pc:docMk/>
            <pc:sldMk cId="1260973889" sldId="278"/>
            <ac:spMk id="19" creationId="{412B5917-BE40-336F-EA5B-7DC322F91A4B}"/>
          </ac:spMkLst>
        </pc:spChg>
      </pc:sldChg>
      <pc:sldChg chg="modSp mod">
        <pc:chgData name="Trudeau, Cindy" userId="5c28d3c8-596d-4cbf-a5ec-3ae932b156cd" providerId="ADAL" clId="{0FE9CF52-C380-40F0-BAA4-A99AFF84693D}" dt="2026-10-12T21:49:27.011" v="6" actId="6549"/>
        <pc:sldMkLst>
          <pc:docMk/>
          <pc:sldMk cId="1819914217" sldId="2147481520"/>
        </pc:sldMkLst>
        <pc:graphicFrameChg chg="modGraphic">
          <ac:chgData name="Trudeau, Cindy" userId="5c28d3c8-596d-4cbf-a5ec-3ae932b156cd" providerId="ADAL" clId="{0FE9CF52-C380-40F0-BAA4-A99AFF84693D}" dt="2026-10-12T21:49:27.011" v="6" actId="6549"/>
          <ac:graphicFrameMkLst>
            <pc:docMk/>
            <pc:sldMk cId="1819914217" sldId="2147481520"/>
            <ac:graphicFrameMk id="29" creationId="{F3CDB105-699B-1CD3-CB09-22FD2C29BC95}"/>
          </ac:graphicFrameMkLst>
        </pc:graphicFrameChg>
      </pc:sldChg>
    </pc:docChg>
  </pc:docChgLst>
  <pc:docChgLst>
    <pc:chgData name="Babu Buddha, Chalam" userId="029206bb-cd9e-4563-bb7b-72254d21a3cf" providerId="ADAL" clId="{8B71F3F3-80F4-4B7B-A00F-315796F14B49}"/>
    <pc:docChg chg="custSel modSld">
      <pc:chgData name="Babu Buddha, Chalam" userId="029206bb-cd9e-4563-bb7b-72254d21a3cf" providerId="ADAL" clId="{8B71F3F3-80F4-4B7B-A00F-315796F14B49}" dt="2026-10-12T17:23:25.947" v="51" actId="20577"/>
      <pc:docMkLst>
        <pc:docMk/>
      </pc:docMkLst>
      <pc:sldChg chg="delSp modSp mod">
        <pc:chgData name="Babu Buddha, Chalam" userId="029206bb-cd9e-4563-bb7b-72254d21a3cf" providerId="ADAL" clId="{8B71F3F3-80F4-4B7B-A00F-315796F14B49}" dt="2026-10-12T17:09:18.262" v="43" actId="20577"/>
        <pc:sldMkLst>
          <pc:docMk/>
          <pc:sldMk cId="4215373585" sldId="261"/>
        </pc:sldMkLst>
        <pc:spChg chg="del">
          <ac:chgData name="Babu Buddha, Chalam" userId="029206bb-cd9e-4563-bb7b-72254d21a3cf" providerId="ADAL" clId="{8B71F3F3-80F4-4B7B-A00F-315796F14B49}" dt="2026-10-12T17:09:15.168" v="42" actId="478"/>
          <ac:spMkLst>
            <pc:docMk/>
            <pc:sldMk cId="4215373585" sldId="261"/>
            <ac:spMk id="8" creationId="{7BA67C6C-93E5-B2F9-63E4-7B2812646802}"/>
          </ac:spMkLst>
        </pc:spChg>
        <pc:graphicFrameChg chg="modGraphic">
          <ac:chgData name="Babu Buddha, Chalam" userId="029206bb-cd9e-4563-bb7b-72254d21a3cf" providerId="ADAL" clId="{8B71F3F3-80F4-4B7B-A00F-315796F14B49}" dt="2026-10-12T17:09:04.550" v="41" actId="20577"/>
          <ac:graphicFrameMkLst>
            <pc:docMk/>
            <pc:sldMk cId="4215373585" sldId="261"/>
            <ac:graphicFrameMk id="11" creationId="{A2B52C97-D713-F7E7-DCA4-315AE9BAAF69}"/>
          </ac:graphicFrameMkLst>
        </pc:graphicFrameChg>
        <pc:graphicFrameChg chg="modGraphic">
          <ac:chgData name="Babu Buddha, Chalam" userId="029206bb-cd9e-4563-bb7b-72254d21a3cf" providerId="ADAL" clId="{8B71F3F3-80F4-4B7B-A00F-315796F14B49}" dt="2026-10-12T17:09:18.262" v="43" actId="20577"/>
          <ac:graphicFrameMkLst>
            <pc:docMk/>
            <pc:sldMk cId="4215373585" sldId="261"/>
            <ac:graphicFrameMk id="27" creationId="{90249238-BC97-21B4-21E4-8C36E7E5BF0F}"/>
          </ac:graphicFrameMkLst>
        </pc:graphicFrameChg>
      </pc:sldChg>
      <pc:sldChg chg="modSp mod">
        <pc:chgData name="Babu Buddha, Chalam" userId="029206bb-cd9e-4563-bb7b-72254d21a3cf" providerId="ADAL" clId="{8B71F3F3-80F4-4B7B-A00F-315796F14B49}" dt="2026-10-12T17:23:16.555" v="47" actId="20577"/>
        <pc:sldMkLst>
          <pc:docMk/>
          <pc:sldMk cId="1157020178" sldId="266"/>
        </pc:sldMkLst>
        <pc:graphicFrameChg chg="modGraphic">
          <ac:chgData name="Babu Buddha, Chalam" userId="029206bb-cd9e-4563-bb7b-72254d21a3cf" providerId="ADAL" clId="{8B71F3F3-80F4-4B7B-A00F-315796F14B49}" dt="2026-10-12T17:23:16.555" v="47" actId="20577"/>
          <ac:graphicFrameMkLst>
            <pc:docMk/>
            <pc:sldMk cId="1157020178" sldId="266"/>
            <ac:graphicFrameMk id="11" creationId="{1F125BFF-AFAE-248A-4FCA-23B7B8B157B0}"/>
          </ac:graphicFrameMkLst>
        </pc:graphicFrameChg>
      </pc:sldChg>
      <pc:sldChg chg="modSp mod">
        <pc:chgData name="Babu Buddha, Chalam" userId="029206bb-cd9e-4563-bb7b-72254d21a3cf" providerId="ADAL" clId="{8B71F3F3-80F4-4B7B-A00F-315796F14B49}" dt="2026-10-12T17:08:36.665" v="37" actId="20577"/>
        <pc:sldMkLst>
          <pc:docMk/>
          <pc:sldMk cId="1819914217" sldId="2147481520"/>
        </pc:sldMkLst>
        <pc:graphicFrameChg chg="modGraphic">
          <ac:chgData name="Babu Buddha, Chalam" userId="029206bb-cd9e-4563-bb7b-72254d21a3cf" providerId="ADAL" clId="{8B71F3F3-80F4-4B7B-A00F-315796F14B49}" dt="2026-10-12T17:06:13.492" v="3" actId="20577"/>
          <ac:graphicFrameMkLst>
            <pc:docMk/>
            <pc:sldMk cId="1819914217" sldId="2147481520"/>
            <ac:graphicFrameMk id="11" creationId="{01DD775B-B1B3-036E-DAB4-1B32940EDE22}"/>
          </ac:graphicFrameMkLst>
        </pc:graphicFrameChg>
        <pc:graphicFrameChg chg="modGraphic">
          <ac:chgData name="Babu Buddha, Chalam" userId="029206bb-cd9e-4563-bb7b-72254d21a3cf" providerId="ADAL" clId="{8B71F3F3-80F4-4B7B-A00F-315796F14B49}" dt="2026-10-12T17:08:36.665" v="37" actId="20577"/>
          <ac:graphicFrameMkLst>
            <pc:docMk/>
            <pc:sldMk cId="1819914217" sldId="2147481520"/>
            <ac:graphicFrameMk id="14" creationId="{393E8E5E-A5C1-A064-9CB0-A0F5957D802C}"/>
          </ac:graphicFrameMkLst>
        </pc:graphicFrameChg>
      </pc:sldChg>
      <pc:sldChg chg="modSp mod">
        <pc:chgData name="Babu Buddha, Chalam" userId="029206bb-cd9e-4563-bb7b-72254d21a3cf" providerId="ADAL" clId="{8B71F3F3-80F4-4B7B-A00F-315796F14B49}" dt="2026-10-12T17:23:25.947" v="51" actId="20577"/>
        <pc:sldMkLst>
          <pc:docMk/>
          <pc:sldMk cId="3730648050" sldId="2147481541"/>
        </pc:sldMkLst>
        <pc:graphicFrameChg chg="modGraphic">
          <ac:chgData name="Babu Buddha, Chalam" userId="029206bb-cd9e-4563-bb7b-72254d21a3cf" providerId="ADAL" clId="{8B71F3F3-80F4-4B7B-A00F-315796F14B49}" dt="2026-10-12T17:23:25.947" v="51" actId="20577"/>
          <ac:graphicFrameMkLst>
            <pc:docMk/>
            <pc:sldMk cId="3730648050" sldId="2147481541"/>
            <ac:graphicFrameMk id="11" creationId="{CF5D9987-2924-45FB-C2E3-A69FA0B48A0B}"/>
          </ac:graphicFrameMkLst>
        </pc:graphicFrameChg>
      </pc:sldChg>
    </pc:docChg>
  </pc:docChgLst>
  <pc:docChgLst>
    <pc:chgData name="KOTHANDARAMAN, REKHA" userId="a97aa649-ebf2-4523-a6ef-d1dc0a0899cd" providerId="ADAL" clId="{D8F2733C-3F1C-4AF8-A0B2-6F65C4A075D9}"/>
    <pc:docChg chg="undo custSel modSld">
      <pc:chgData name="KOTHANDARAMAN, REKHA" userId="a97aa649-ebf2-4523-a6ef-d1dc0a0899cd" providerId="ADAL" clId="{D8F2733C-3F1C-4AF8-A0B2-6F65C4A075D9}" dt="2026-10-12T18:19:51.911" v="290" actId="207"/>
      <pc:docMkLst>
        <pc:docMk/>
      </pc:docMkLst>
      <pc:sldChg chg="delSp modSp mod">
        <pc:chgData name="KOTHANDARAMAN, REKHA" userId="a97aa649-ebf2-4523-a6ef-d1dc0a0899cd" providerId="ADAL" clId="{D8F2733C-3F1C-4AF8-A0B2-6F65C4A075D9}" dt="2026-10-12T18:19:51.911" v="290" actId="207"/>
        <pc:sldMkLst>
          <pc:docMk/>
          <pc:sldMk cId="2885855191" sldId="260"/>
        </pc:sldMkLst>
        <pc:spChg chg="del">
          <ac:chgData name="KOTHANDARAMAN, REKHA" userId="a97aa649-ebf2-4523-a6ef-d1dc0a0899cd" providerId="ADAL" clId="{D8F2733C-3F1C-4AF8-A0B2-6F65C4A075D9}" dt="2026-10-12T18:19:29.208" v="284" actId="478"/>
          <ac:spMkLst>
            <pc:docMk/>
            <pc:sldMk cId="2885855191" sldId="260"/>
            <ac:spMk id="2" creationId="{C1F53796-8DA2-5B56-5EDA-E5A7E5B9292B}"/>
          </ac:spMkLst>
        </pc:spChg>
        <pc:spChg chg="mod">
          <ac:chgData name="KOTHANDARAMAN, REKHA" userId="a97aa649-ebf2-4523-a6ef-d1dc0a0899cd" providerId="ADAL" clId="{D8F2733C-3F1C-4AF8-A0B2-6F65C4A075D9}" dt="2026-10-10T01:40:17.229" v="248" actId="12"/>
          <ac:spMkLst>
            <pc:docMk/>
            <pc:sldMk cId="2885855191" sldId="260"/>
            <ac:spMk id="7" creationId="{9D0FEF97-B29D-D759-41E3-5A1ABB688774}"/>
          </ac:spMkLst>
        </pc:spChg>
        <pc:graphicFrameChg chg="modGraphic">
          <ac:chgData name="KOTHANDARAMAN, REKHA" userId="a97aa649-ebf2-4523-a6ef-d1dc0a0899cd" providerId="ADAL" clId="{D8F2733C-3F1C-4AF8-A0B2-6F65C4A075D9}" dt="2026-10-10T01:38:05.085" v="191" actId="20577"/>
          <ac:graphicFrameMkLst>
            <pc:docMk/>
            <pc:sldMk cId="2885855191" sldId="260"/>
            <ac:graphicFrameMk id="11" creationId="{6CC5F58E-A991-87FE-D9F2-82B46BEA4524}"/>
          </ac:graphicFrameMkLst>
        </pc:graphicFrameChg>
        <pc:graphicFrameChg chg="modGraphic">
          <ac:chgData name="KOTHANDARAMAN, REKHA" userId="a97aa649-ebf2-4523-a6ef-d1dc0a0899cd" providerId="ADAL" clId="{D8F2733C-3F1C-4AF8-A0B2-6F65C4A075D9}" dt="2026-10-12T18:19:51.911" v="290" actId="207"/>
          <ac:graphicFrameMkLst>
            <pc:docMk/>
            <pc:sldMk cId="2885855191" sldId="260"/>
            <ac:graphicFrameMk id="27" creationId="{74A1B11F-D949-5ACA-C2EE-3141CC644E65}"/>
          </ac:graphicFrameMkLst>
        </pc:graphicFrameChg>
      </pc:sldChg>
      <pc:sldChg chg="modSp mod">
        <pc:chgData name="KOTHANDARAMAN, REKHA" userId="a97aa649-ebf2-4523-a6ef-d1dc0a0899cd" providerId="ADAL" clId="{D8F2733C-3F1C-4AF8-A0B2-6F65C4A075D9}" dt="2026-10-10T01:42:20.909" v="283" actId="20577"/>
        <pc:sldMkLst>
          <pc:docMk/>
          <pc:sldMk cId="3246649026" sldId="263"/>
        </pc:sldMkLst>
        <pc:graphicFrameChg chg="modGraphic">
          <ac:chgData name="KOTHANDARAMAN, REKHA" userId="a97aa649-ebf2-4523-a6ef-d1dc0a0899cd" providerId="ADAL" clId="{D8F2733C-3F1C-4AF8-A0B2-6F65C4A075D9}" dt="2026-10-10T01:42:20.909" v="283" actId="20577"/>
          <ac:graphicFrameMkLst>
            <pc:docMk/>
            <pc:sldMk cId="3246649026" sldId="263"/>
            <ac:graphicFrameMk id="11" creationId="{05C32E88-CCBE-B044-767A-2F65F050CBDB}"/>
          </ac:graphicFrameMkLst>
        </pc:graphicFrameChg>
      </pc:sldChg>
      <pc:sldChg chg="modSp mod">
        <pc:chgData name="KOTHANDARAMAN, REKHA" userId="a97aa649-ebf2-4523-a6ef-d1dc0a0899cd" providerId="ADAL" clId="{D8F2733C-3F1C-4AF8-A0B2-6F65C4A075D9}" dt="2026-10-10T01:41:29.802" v="261" actId="20577"/>
        <pc:sldMkLst>
          <pc:docMk/>
          <pc:sldMk cId="2980477005" sldId="267"/>
        </pc:sldMkLst>
        <pc:graphicFrameChg chg="modGraphic">
          <ac:chgData name="KOTHANDARAMAN, REKHA" userId="a97aa649-ebf2-4523-a6ef-d1dc0a0899cd" providerId="ADAL" clId="{D8F2733C-3F1C-4AF8-A0B2-6F65C4A075D9}" dt="2026-10-10T01:41:29.802" v="261" actId="20577"/>
          <ac:graphicFrameMkLst>
            <pc:docMk/>
            <pc:sldMk cId="2980477005" sldId="267"/>
            <ac:graphicFrameMk id="11" creationId="{02FE6EE0-C3DE-5674-5BEA-500C6EAF38E4}"/>
          </ac:graphicFrameMkLst>
        </pc:graphicFrameChg>
      </pc:sldChg>
      <pc:sldChg chg="addSp modSp mod">
        <pc:chgData name="KOTHANDARAMAN, REKHA" userId="a97aa649-ebf2-4523-a6ef-d1dc0a0899cd" providerId="ADAL" clId="{D8F2733C-3F1C-4AF8-A0B2-6F65C4A075D9}" dt="2026-10-10T01:37:47.067" v="182" actId="20577"/>
        <pc:sldMkLst>
          <pc:docMk/>
          <pc:sldMk cId="2984090048" sldId="2147481528"/>
        </pc:sldMkLst>
        <pc:spChg chg="mod">
          <ac:chgData name="KOTHANDARAMAN, REKHA" userId="a97aa649-ebf2-4523-a6ef-d1dc0a0899cd" providerId="ADAL" clId="{D8F2733C-3F1C-4AF8-A0B2-6F65C4A075D9}" dt="2026-10-10T01:32:03.651" v="49" actId="20577"/>
          <ac:spMkLst>
            <pc:docMk/>
            <pc:sldMk cId="2984090048" sldId="2147481528"/>
            <ac:spMk id="5" creationId="{FB12DBC5-FE50-D649-59F3-F5DFE1A04FC0}"/>
          </ac:spMkLst>
        </pc:spChg>
        <pc:spChg chg="add mod">
          <ac:chgData name="KOTHANDARAMAN, REKHA" userId="a97aa649-ebf2-4523-a6ef-d1dc0a0899cd" providerId="ADAL" clId="{D8F2733C-3F1C-4AF8-A0B2-6F65C4A075D9}" dt="2026-10-10T01:32:45.941" v="56" actId="1076"/>
          <ac:spMkLst>
            <pc:docMk/>
            <pc:sldMk cId="2984090048" sldId="2147481528"/>
            <ac:spMk id="7" creationId="{C2F3A75E-0989-6E46-5863-D8456C875F55}"/>
          </ac:spMkLst>
        </pc:spChg>
        <pc:spChg chg="add mod">
          <ac:chgData name="KOTHANDARAMAN, REKHA" userId="a97aa649-ebf2-4523-a6ef-d1dc0a0899cd" providerId="ADAL" clId="{D8F2733C-3F1C-4AF8-A0B2-6F65C4A075D9}" dt="2026-10-10T01:33:01.654" v="60" actId="1076"/>
          <ac:spMkLst>
            <pc:docMk/>
            <pc:sldMk cId="2984090048" sldId="2147481528"/>
            <ac:spMk id="10" creationId="{1E3B5BAE-DA09-A9B0-4105-A1F964ECFE24}"/>
          </ac:spMkLst>
        </pc:spChg>
        <pc:graphicFrameChg chg="modGraphic">
          <ac:chgData name="KOTHANDARAMAN, REKHA" userId="a97aa649-ebf2-4523-a6ef-d1dc0a0899cd" providerId="ADAL" clId="{D8F2733C-3F1C-4AF8-A0B2-6F65C4A075D9}" dt="2026-10-10T01:27:49.860" v="1" actId="20577"/>
          <ac:graphicFrameMkLst>
            <pc:docMk/>
            <pc:sldMk cId="2984090048" sldId="2147481528"/>
            <ac:graphicFrameMk id="11" creationId="{2B686D89-6C93-C803-3900-DD08FBD7BB43}"/>
          </ac:graphicFrameMkLst>
        </pc:graphicFrameChg>
        <pc:graphicFrameChg chg="modGraphic">
          <ac:chgData name="KOTHANDARAMAN, REKHA" userId="a97aa649-ebf2-4523-a6ef-d1dc0a0899cd" providerId="ADAL" clId="{D8F2733C-3F1C-4AF8-A0B2-6F65C4A075D9}" dt="2026-10-10T01:37:47.067" v="182" actId="20577"/>
          <ac:graphicFrameMkLst>
            <pc:docMk/>
            <pc:sldMk cId="2984090048" sldId="2147481528"/>
            <ac:graphicFrameMk id="12" creationId="{E921FFFE-697F-3E97-8AFA-4360FF21BDFC}"/>
          </ac:graphicFrameMkLst>
        </pc:graphicFrameChg>
        <pc:graphicFrameChg chg="modGraphic">
          <ac:chgData name="KOTHANDARAMAN, REKHA" userId="a97aa649-ebf2-4523-a6ef-d1dc0a0899cd" providerId="ADAL" clId="{D8F2733C-3F1C-4AF8-A0B2-6F65C4A075D9}" dt="2026-10-10T01:32:50.059" v="58" actId="20577"/>
          <ac:graphicFrameMkLst>
            <pc:docMk/>
            <pc:sldMk cId="2984090048" sldId="2147481528"/>
            <ac:graphicFrameMk id="27" creationId="{50D303B1-4685-BE6D-5075-97DA9E0010EB}"/>
          </ac:graphicFrameMkLst>
        </pc:graphicFrameChg>
        <pc:graphicFrameChg chg="mod modGraphic">
          <ac:chgData name="KOTHANDARAMAN, REKHA" userId="a97aa649-ebf2-4523-a6ef-d1dc0a0899cd" providerId="ADAL" clId="{D8F2733C-3F1C-4AF8-A0B2-6F65C4A075D9}" dt="2026-10-10T01:33:41.164" v="100" actId="20577"/>
          <ac:graphicFrameMkLst>
            <pc:docMk/>
            <pc:sldMk cId="2984090048" sldId="2147481528"/>
            <ac:graphicFrameMk id="29" creationId="{468E60D2-724C-D6AE-76B6-9F9029EB0EEE}"/>
          </ac:graphicFrameMkLst>
        </pc:graphicFrameChg>
      </pc:sldChg>
      <pc:sldChg chg="modSp mod">
        <pc:chgData name="KOTHANDARAMAN, REKHA" userId="a97aa649-ebf2-4523-a6ef-d1dc0a0899cd" providerId="ADAL" clId="{D8F2733C-3F1C-4AF8-A0B2-6F65C4A075D9}" dt="2026-10-10T01:42:11.141" v="274" actId="20577"/>
        <pc:sldMkLst>
          <pc:docMk/>
          <pc:sldMk cId="1951027285" sldId="2147481535"/>
        </pc:sldMkLst>
        <pc:graphicFrameChg chg="modGraphic">
          <ac:chgData name="KOTHANDARAMAN, REKHA" userId="a97aa649-ebf2-4523-a6ef-d1dc0a0899cd" providerId="ADAL" clId="{D8F2733C-3F1C-4AF8-A0B2-6F65C4A075D9}" dt="2026-10-10T01:42:11.141" v="274" actId="20577"/>
          <ac:graphicFrameMkLst>
            <pc:docMk/>
            <pc:sldMk cId="1951027285" sldId="2147481535"/>
            <ac:graphicFrameMk id="11" creationId="{96B48A6E-42B2-5CB0-E03F-4B0E19FF399D}"/>
          </ac:graphicFrameMkLst>
        </pc:graphicFrameChg>
      </pc:sldChg>
    </pc:docChg>
  </pc:docChgLst>
  <pc:docChgLst>
    <pc:chgData name="Barbour, Kinney L" userId="234f7b74-22d0-43e5-9391-e9a4c1232d9a" providerId="ADAL" clId="{058838B9-0EAB-4E39-B5BE-8C73DE4DB71D}"/>
    <pc:docChg chg="undo custSel modSld sldOrd">
      <pc:chgData name="Barbour, Kinney L" userId="234f7b74-22d0-43e5-9391-e9a4c1232d9a" providerId="ADAL" clId="{058838B9-0EAB-4E39-B5BE-8C73DE4DB71D}" dt="2026-10-12T06:37:37.942" v="1968" actId="20577"/>
      <pc:docMkLst>
        <pc:docMk/>
      </pc:docMkLst>
      <pc:sldChg chg="addSp delSp modSp mod">
        <pc:chgData name="Barbour, Kinney L" userId="234f7b74-22d0-43e5-9391-e9a4c1232d9a" providerId="ADAL" clId="{058838B9-0EAB-4E39-B5BE-8C73DE4DB71D}" dt="2026-10-12T06:23:48.827" v="1852" actId="20577"/>
        <pc:sldMkLst>
          <pc:docMk/>
          <pc:sldMk cId="4051436487" sldId="271"/>
        </pc:sldMkLst>
        <pc:spChg chg="add mod">
          <ac:chgData name="Barbour, Kinney L" userId="234f7b74-22d0-43e5-9391-e9a4c1232d9a" providerId="ADAL" clId="{058838B9-0EAB-4E39-B5BE-8C73DE4DB71D}" dt="2026-10-12T06:20:50.010" v="1787" actId="1037"/>
          <ac:spMkLst>
            <pc:docMk/>
            <pc:sldMk cId="4051436487" sldId="271"/>
            <ac:spMk id="4" creationId="{7D39FF97-617A-9785-8B6A-7A55F7D3729A}"/>
          </ac:spMkLst>
        </pc:spChg>
        <pc:spChg chg="mod">
          <ac:chgData name="Barbour, Kinney L" userId="234f7b74-22d0-43e5-9391-e9a4c1232d9a" providerId="ADAL" clId="{058838B9-0EAB-4E39-B5BE-8C73DE4DB71D}" dt="2026-10-12T06:23:48.827" v="1852" actId="20577"/>
          <ac:spMkLst>
            <pc:docMk/>
            <pc:sldMk cId="4051436487" sldId="271"/>
            <ac:spMk id="5" creationId="{088C6CC7-F1C2-7A00-9457-C8B600543DCA}"/>
          </ac:spMkLst>
        </pc:spChg>
        <pc:spChg chg="del">
          <ac:chgData name="Barbour, Kinney L" userId="234f7b74-22d0-43e5-9391-e9a4c1232d9a" providerId="ADAL" clId="{058838B9-0EAB-4E39-B5BE-8C73DE4DB71D}" dt="2026-10-12T06:22:27.704" v="1834" actId="478"/>
          <ac:spMkLst>
            <pc:docMk/>
            <pc:sldMk cId="4051436487" sldId="271"/>
            <ac:spMk id="6" creationId="{62AE20CF-9D15-AFF0-3140-B5FE2E273DE4}"/>
          </ac:spMkLst>
        </pc:spChg>
        <pc:graphicFrameChg chg="modGraphic">
          <ac:chgData name="Barbour, Kinney L" userId="234f7b74-22d0-43e5-9391-e9a4c1232d9a" providerId="ADAL" clId="{058838B9-0EAB-4E39-B5BE-8C73DE4DB71D}" dt="2026-10-12T06:19:55.854" v="1751" actId="20577"/>
          <ac:graphicFrameMkLst>
            <pc:docMk/>
            <pc:sldMk cId="4051436487" sldId="271"/>
            <ac:graphicFrameMk id="11" creationId="{9823D7A4-0B58-1F21-CEF5-419A9AD69829}"/>
          </ac:graphicFrameMkLst>
        </pc:graphicFrameChg>
        <pc:graphicFrameChg chg="modGraphic">
          <ac:chgData name="Barbour, Kinney L" userId="234f7b74-22d0-43e5-9391-e9a4c1232d9a" providerId="ADAL" clId="{058838B9-0EAB-4E39-B5BE-8C73DE4DB71D}" dt="2026-10-12T06:22:59.543" v="1841" actId="207"/>
          <ac:graphicFrameMkLst>
            <pc:docMk/>
            <pc:sldMk cId="4051436487" sldId="271"/>
            <ac:graphicFrameMk id="27" creationId="{F0090F6F-196A-9CC3-8F2A-1C1FC90914CE}"/>
          </ac:graphicFrameMkLst>
        </pc:graphicFrameChg>
      </pc:sldChg>
      <pc:sldChg chg="addSp modSp mod">
        <pc:chgData name="Barbour, Kinney L" userId="234f7b74-22d0-43e5-9391-e9a4c1232d9a" providerId="ADAL" clId="{058838B9-0EAB-4E39-B5BE-8C73DE4DB71D}" dt="2026-10-12T06:18:34.801" v="1749" actId="20577"/>
        <pc:sldMkLst>
          <pc:docMk/>
          <pc:sldMk cId="2020313600" sldId="2147481515"/>
        </pc:sldMkLst>
        <pc:spChg chg="mod">
          <ac:chgData name="Barbour, Kinney L" userId="234f7b74-22d0-43e5-9391-e9a4c1232d9a" providerId="ADAL" clId="{058838B9-0EAB-4E39-B5BE-8C73DE4DB71D}" dt="2026-10-12T06:18:34.801" v="1749" actId="20577"/>
          <ac:spMkLst>
            <pc:docMk/>
            <pc:sldMk cId="2020313600" sldId="2147481515"/>
            <ac:spMk id="5" creationId="{44D2CC87-946C-19E5-8C22-504B3023D9E1}"/>
          </ac:spMkLst>
        </pc:spChg>
        <pc:spChg chg="add mod">
          <ac:chgData name="Barbour, Kinney L" userId="234f7b74-22d0-43e5-9391-e9a4c1232d9a" providerId="ADAL" clId="{058838B9-0EAB-4E39-B5BE-8C73DE4DB71D}" dt="2026-10-12T06:13:03.849" v="1373" actId="1036"/>
          <ac:spMkLst>
            <pc:docMk/>
            <pc:sldMk cId="2020313600" sldId="2147481515"/>
            <ac:spMk id="6" creationId="{841F7435-0CD1-CBD9-5F28-3C3B7ECEAD79}"/>
          </ac:spMkLst>
        </pc:spChg>
        <pc:graphicFrameChg chg="modGraphic">
          <ac:chgData name="Barbour, Kinney L" userId="234f7b74-22d0-43e5-9391-e9a4c1232d9a" providerId="ADAL" clId="{058838B9-0EAB-4E39-B5BE-8C73DE4DB71D}" dt="2026-10-12T06:09:44.906" v="1211" actId="20577"/>
          <ac:graphicFrameMkLst>
            <pc:docMk/>
            <pc:sldMk cId="2020313600" sldId="2147481515"/>
            <ac:graphicFrameMk id="11" creationId="{BFC921B7-8473-F0B2-DE79-1DD183682645}"/>
          </ac:graphicFrameMkLst>
        </pc:graphicFrameChg>
        <pc:graphicFrameChg chg="mod modGraphic">
          <ac:chgData name="Barbour, Kinney L" userId="234f7b74-22d0-43e5-9391-e9a4c1232d9a" providerId="ADAL" clId="{058838B9-0EAB-4E39-B5BE-8C73DE4DB71D}" dt="2026-10-12T06:13:38.137" v="1436" actId="20577"/>
          <ac:graphicFrameMkLst>
            <pc:docMk/>
            <pc:sldMk cId="2020313600" sldId="2147481515"/>
            <ac:graphicFrameMk id="29" creationId="{4CB587BE-A2EE-21D7-2123-1DAB04D6EF69}"/>
          </ac:graphicFrameMkLst>
        </pc:graphicFrameChg>
      </pc:sldChg>
      <pc:sldChg chg="addSp modSp mod">
        <pc:chgData name="Barbour, Kinney L" userId="234f7b74-22d0-43e5-9391-e9a4c1232d9a" providerId="ADAL" clId="{058838B9-0EAB-4E39-B5BE-8C73DE4DB71D}" dt="2026-10-12T06:37:37.942" v="1968" actId="20577"/>
        <pc:sldMkLst>
          <pc:docMk/>
          <pc:sldMk cId="3130499962" sldId="2147481533"/>
        </pc:sldMkLst>
        <pc:spChg chg="mod">
          <ac:chgData name="Barbour, Kinney L" userId="234f7b74-22d0-43e5-9391-e9a4c1232d9a" providerId="ADAL" clId="{058838B9-0EAB-4E39-B5BE-8C73DE4DB71D}" dt="2026-10-12T06:37:37.942" v="1968" actId="20577"/>
          <ac:spMkLst>
            <pc:docMk/>
            <pc:sldMk cId="3130499962" sldId="2147481533"/>
            <ac:spMk id="5" creationId="{44D2CC87-946C-19E5-8C22-504B3023D9E1}"/>
          </ac:spMkLst>
        </pc:spChg>
        <pc:spChg chg="add mod">
          <ac:chgData name="Barbour, Kinney L" userId="234f7b74-22d0-43e5-9391-e9a4c1232d9a" providerId="ADAL" clId="{058838B9-0EAB-4E39-B5BE-8C73DE4DB71D}" dt="2026-10-12T06:36:36.913" v="1884" actId="1036"/>
          <ac:spMkLst>
            <pc:docMk/>
            <pc:sldMk cId="3130499962" sldId="2147481533"/>
            <ac:spMk id="8" creationId="{BA7861A5-1161-8E55-CFEC-6987224B8F6D}"/>
          </ac:spMkLst>
        </pc:spChg>
        <pc:graphicFrameChg chg="modGraphic">
          <ac:chgData name="Barbour, Kinney L" userId="234f7b74-22d0-43e5-9391-e9a4c1232d9a" providerId="ADAL" clId="{058838B9-0EAB-4E39-B5BE-8C73DE4DB71D}" dt="2026-10-12T06:35:56.869" v="1854" actId="20577"/>
          <ac:graphicFrameMkLst>
            <pc:docMk/>
            <pc:sldMk cId="3130499962" sldId="2147481533"/>
            <ac:graphicFrameMk id="11" creationId="{BFC921B7-8473-F0B2-DE79-1DD183682645}"/>
          </ac:graphicFrameMkLst>
        </pc:graphicFrameChg>
      </pc:sldChg>
      <pc:sldChg chg="addSp delSp modSp mod ord">
        <pc:chgData name="Barbour, Kinney L" userId="234f7b74-22d0-43e5-9391-e9a4c1232d9a" providerId="ADAL" clId="{058838B9-0EAB-4E39-B5BE-8C73DE4DB71D}" dt="2026-10-12T06:09:23.811" v="1209" actId="20577"/>
        <pc:sldMkLst>
          <pc:docMk/>
          <pc:sldMk cId="4091982537" sldId="2147481534"/>
        </pc:sldMkLst>
        <pc:spChg chg="del">
          <ac:chgData name="Barbour, Kinney L" userId="234f7b74-22d0-43e5-9391-e9a4c1232d9a" providerId="ADAL" clId="{058838B9-0EAB-4E39-B5BE-8C73DE4DB71D}" dt="2026-10-12T05:55:56.921" v="8" actId="478"/>
          <ac:spMkLst>
            <pc:docMk/>
            <pc:sldMk cId="4091982537" sldId="2147481534"/>
            <ac:spMk id="4" creationId="{EC7F13D9-2F7D-9562-47B8-B2086C3AA82E}"/>
          </ac:spMkLst>
        </pc:spChg>
        <pc:spChg chg="mod">
          <ac:chgData name="Barbour, Kinney L" userId="234f7b74-22d0-43e5-9391-e9a4c1232d9a" providerId="ADAL" clId="{058838B9-0EAB-4E39-B5BE-8C73DE4DB71D}" dt="2026-10-12T06:04:24.809" v="832" actId="20577"/>
          <ac:spMkLst>
            <pc:docMk/>
            <pc:sldMk cId="4091982537" sldId="2147481534"/>
            <ac:spMk id="5" creationId="{44D2CC87-946C-19E5-8C22-504B3023D9E1}"/>
          </ac:spMkLst>
        </pc:spChg>
        <pc:spChg chg="add mod">
          <ac:chgData name="Barbour, Kinney L" userId="234f7b74-22d0-43e5-9391-e9a4c1232d9a" providerId="ADAL" clId="{058838B9-0EAB-4E39-B5BE-8C73DE4DB71D}" dt="2026-10-12T05:56:04.469" v="58" actId="1038"/>
          <ac:spMkLst>
            <pc:docMk/>
            <pc:sldMk cId="4091982537" sldId="2147481534"/>
            <ac:spMk id="6" creationId="{576EBFF9-9FA9-5B09-69FF-5483AE50B5FF}"/>
          </ac:spMkLst>
        </pc:spChg>
        <pc:spChg chg="add mod">
          <ac:chgData name="Barbour, Kinney L" userId="234f7b74-22d0-43e5-9391-e9a4c1232d9a" providerId="ADAL" clId="{058838B9-0EAB-4E39-B5BE-8C73DE4DB71D}" dt="2026-10-12T06:06:51.742" v="1022" actId="1036"/>
          <ac:spMkLst>
            <pc:docMk/>
            <pc:sldMk cId="4091982537" sldId="2147481534"/>
            <ac:spMk id="12" creationId="{2483B88D-465A-A76E-7166-3FC49AD3A9BC}"/>
          </ac:spMkLst>
        </pc:spChg>
        <pc:spChg chg="del">
          <ac:chgData name="Barbour, Kinney L" userId="234f7b74-22d0-43e5-9391-e9a4c1232d9a" providerId="ADAL" clId="{058838B9-0EAB-4E39-B5BE-8C73DE4DB71D}" dt="2026-10-12T06:04:34.655" v="833" actId="478"/>
          <ac:spMkLst>
            <pc:docMk/>
            <pc:sldMk cId="4091982537" sldId="2147481534"/>
            <ac:spMk id="15" creationId="{CA2E5FCA-0CAE-4609-4E9B-D2D5037BB8B1}"/>
          </ac:spMkLst>
        </pc:spChg>
        <pc:spChg chg="del">
          <ac:chgData name="Barbour, Kinney L" userId="234f7b74-22d0-43e5-9391-e9a4c1232d9a" providerId="ADAL" clId="{058838B9-0EAB-4E39-B5BE-8C73DE4DB71D}" dt="2026-10-12T06:05:10.636" v="836" actId="478"/>
          <ac:spMkLst>
            <pc:docMk/>
            <pc:sldMk cId="4091982537" sldId="2147481534"/>
            <ac:spMk id="17" creationId="{9D0C7179-3653-2998-E0F2-021381EA92C4}"/>
          </ac:spMkLst>
        </pc:spChg>
        <pc:spChg chg="add del mod">
          <ac:chgData name="Barbour, Kinney L" userId="234f7b74-22d0-43e5-9391-e9a4c1232d9a" providerId="ADAL" clId="{058838B9-0EAB-4E39-B5BE-8C73DE4DB71D}" dt="2026-10-12T06:08:46.276" v="1163" actId="478"/>
          <ac:spMkLst>
            <pc:docMk/>
            <pc:sldMk cId="4091982537" sldId="2147481534"/>
            <ac:spMk id="19" creationId="{17F0CB8C-C913-2880-2671-93F6B47E7A54}"/>
          </ac:spMkLst>
        </pc:spChg>
        <pc:spChg chg="del">
          <ac:chgData name="Barbour, Kinney L" userId="234f7b74-22d0-43e5-9391-e9a4c1232d9a" providerId="ADAL" clId="{058838B9-0EAB-4E39-B5BE-8C73DE4DB71D}" dt="2026-10-12T06:08:03.827" v="1062" actId="478"/>
          <ac:spMkLst>
            <pc:docMk/>
            <pc:sldMk cId="4091982537" sldId="2147481534"/>
            <ac:spMk id="20" creationId="{2506B841-F04A-242D-28B8-5BC17EE054E6}"/>
          </ac:spMkLst>
        </pc:spChg>
        <pc:graphicFrameChg chg="modGraphic">
          <ac:chgData name="Barbour, Kinney L" userId="234f7b74-22d0-43e5-9391-e9a4c1232d9a" providerId="ADAL" clId="{058838B9-0EAB-4E39-B5BE-8C73DE4DB71D}" dt="2026-10-12T05:55:47.623" v="7" actId="20577"/>
          <ac:graphicFrameMkLst>
            <pc:docMk/>
            <pc:sldMk cId="4091982537" sldId="2147481534"/>
            <ac:graphicFrameMk id="11" creationId="{BFC921B7-8473-F0B2-DE79-1DD183682645}"/>
          </ac:graphicFrameMkLst>
        </pc:graphicFrameChg>
        <pc:graphicFrameChg chg="modGraphic">
          <ac:chgData name="Barbour, Kinney L" userId="234f7b74-22d0-43e5-9391-e9a4c1232d9a" providerId="ADAL" clId="{058838B9-0EAB-4E39-B5BE-8C73DE4DB71D}" dt="2026-10-12T06:09:23.811" v="1209" actId="20577"/>
          <ac:graphicFrameMkLst>
            <pc:docMk/>
            <pc:sldMk cId="4091982537" sldId="2147481534"/>
            <ac:graphicFrameMk id="27" creationId="{BA723C90-E347-BE4F-2081-3B1F7E848FD7}"/>
          </ac:graphicFrameMkLst>
        </pc:graphicFrameChg>
        <pc:graphicFrameChg chg="modGraphic">
          <ac:chgData name="Barbour, Kinney L" userId="234f7b74-22d0-43e5-9391-e9a4c1232d9a" providerId="ADAL" clId="{058838B9-0EAB-4E39-B5BE-8C73DE4DB71D}" dt="2026-10-12T06:08:55.480" v="1168" actId="6549"/>
          <ac:graphicFrameMkLst>
            <pc:docMk/>
            <pc:sldMk cId="4091982537" sldId="2147481534"/>
            <ac:graphicFrameMk id="29" creationId="{4CB587BE-A2EE-21D7-2123-1DAB04D6EF69}"/>
          </ac:graphicFrameMkLst>
        </pc:graphicFrameChg>
      </pc:sldChg>
    </pc:docChg>
  </pc:docChgLst>
  <pc:docChgLst>
    <pc:chgData name="Kulkarni, Shilpa S" userId="62812126-48b0-4ef8-a563-9f7efee3cd75" providerId="ADAL" clId="{2283985A-9C32-4E95-9E98-9E1D9ED4DACD}"/>
    <pc:docChg chg="undo custSel addSld delSld modSld sldOrd">
      <pc:chgData name="Kulkarni, Shilpa S" userId="62812126-48b0-4ef8-a563-9f7efee3cd75" providerId="ADAL" clId="{2283985A-9C32-4E95-9E98-9E1D9ED4DACD}" dt="2026-10-12T21:29:24.197" v="63" actId="20577"/>
      <pc:docMkLst>
        <pc:docMk/>
      </pc:docMkLst>
      <pc:sldChg chg="modSp mod ord">
        <pc:chgData name="Kulkarni, Shilpa S" userId="62812126-48b0-4ef8-a563-9f7efee3cd75" providerId="ADAL" clId="{2283985A-9C32-4E95-9E98-9E1D9ED4DACD}" dt="2026-10-12T16:55:31.281" v="39"/>
        <pc:sldMkLst>
          <pc:docMk/>
          <pc:sldMk cId="2885855191" sldId="260"/>
        </pc:sldMkLst>
        <pc:spChg chg="mod">
          <ac:chgData name="Kulkarni, Shilpa S" userId="62812126-48b0-4ef8-a563-9f7efee3cd75" providerId="ADAL" clId="{2283985A-9C32-4E95-9E98-9E1D9ED4DACD}" dt="2026-10-12T16:55:15.553" v="37" actId="20577"/>
          <ac:spMkLst>
            <pc:docMk/>
            <pc:sldMk cId="2885855191" sldId="260"/>
            <ac:spMk id="13" creationId="{5455D919-B98F-2AC8-83B0-2EF48271EF0D}"/>
          </ac:spMkLst>
        </pc:spChg>
      </pc:sldChg>
      <pc:sldChg chg="ord">
        <pc:chgData name="Kulkarni, Shilpa S" userId="62812126-48b0-4ef8-a563-9f7efee3cd75" providerId="ADAL" clId="{2283985A-9C32-4E95-9E98-9E1D9ED4DACD}" dt="2026-10-12T16:43:47.894" v="7"/>
        <pc:sldMkLst>
          <pc:docMk/>
          <pc:sldMk cId="1539424643" sldId="265"/>
        </pc:sldMkLst>
      </pc:sldChg>
      <pc:sldChg chg="addSp delSp modSp mod ord">
        <pc:chgData name="Kulkarni, Shilpa S" userId="62812126-48b0-4ef8-a563-9f7efee3cd75" providerId="ADAL" clId="{2283985A-9C32-4E95-9E98-9E1D9ED4DACD}" dt="2026-10-12T21:29:24.197" v="63" actId="20577"/>
        <pc:sldMkLst>
          <pc:docMk/>
          <pc:sldMk cId="1508035027" sldId="268"/>
        </pc:sldMkLst>
        <pc:spChg chg="mod">
          <ac:chgData name="Kulkarni, Shilpa S" userId="62812126-48b0-4ef8-a563-9f7efee3cd75" providerId="ADAL" clId="{2283985A-9C32-4E95-9E98-9E1D9ED4DACD}" dt="2026-10-12T16:53:26.937" v="22" actId="5793"/>
          <ac:spMkLst>
            <pc:docMk/>
            <pc:sldMk cId="1508035027" sldId="268"/>
            <ac:spMk id="5" creationId="{C256E7D1-9DFA-78F9-DC3F-DFA6FA949111}"/>
          </ac:spMkLst>
        </pc:spChg>
        <pc:graphicFrameChg chg="modGraphic">
          <ac:chgData name="Kulkarni, Shilpa S" userId="62812126-48b0-4ef8-a563-9f7efee3cd75" providerId="ADAL" clId="{2283985A-9C32-4E95-9E98-9E1D9ED4DACD}" dt="2026-10-12T16:44:33.378" v="13" actId="6549"/>
          <ac:graphicFrameMkLst>
            <pc:docMk/>
            <pc:sldMk cId="1508035027" sldId="268"/>
            <ac:graphicFrameMk id="11" creationId="{58E1C563-1183-E01F-6A88-FE555CF4697A}"/>
          </ac:graphicFrameMkLst>
        </pc:graphicFrameChg>
        <pc:graphicFrameChg chg="modGraphic">
          <ac:chgData name="Kulkarni, Shilpa S" userId="62812126-48b0-4ef8-a563-9f7efee3cd75" providerId="ADAL" clId="{2283985A-9C32-4E95-9E98-9E1D9ED4DACD}" dt="2026-10-12T21:29:24.197" v="63" actId="20577"/>
          <ac:graphicFrameMkLst>
            <pc:docMk/>
            <pc:sldMk cId="1508035027" sldId="268"/>
            <ac:graphicFrameMk id="14" creationId="{51835D6A-73B5-8A7B-0858-290E7990DCAB}"/>
          </ac:graphicFrameMkLst>
        </pc:graphicFrameChg>
        <pc:picChg chg="add del">
          <ac:chgData name="Kulkarni, Shilpa S" userId="62812126-48b0-4ef8-a563-9f7efee3cd75" providerId="ADAL" clId="{2283985A-9C32-4E95-9E98-9E1D9ED4DACD}" dt="2026-10-12T16:43:18.117" v="2" actId="22"/>
          <ac:picMkLst>
            <pc:docMk/>
            <pc:sldMk cId="1508035027" sldId="268"/>
            <ac:picMk id="8" creationId="{D7CDADBC-8BEE-4E84-36AD-6EB94233F864}"/>
          </ac:picMkLst>
        </pc:picChg>
      </pc:sldChg>
      <pc:sldChg chg="modSp add del mod ord">
        <pc:chgData name="Kulkarni, Shilpa S" userId="62812126-48b0-4ef8-a563-9f7efee3cd75" providerId="ADAL" clId="{2283985A-9C32-4E95-9E98-9E1D9ED4DACD}" dt="2026-10-12T16:44:14.051" v="11" actId="108"/>
        <pc:sldMkLst>
          <pc:docMk/>
          <pc:sldMk cId="1685563342" sldId="279"/>
        </pc:sldMkLst>
        <pc:graphicFrameChg chg="mod modGraphic">
          <ac:chgData name="Kulkarni, Shilpa S" userId="62812126-48b0-4ef8-a563-9f7efee3cd75" providerId="ADAL" clId="{2283985A-9C32-4E95-9E98-9E1D9ED4DACD}" dt="2026-10-12T16:44:14.051" v="11" actId="108"/>
          <ac:graphicFrameMkLst>
            <pc:docMk/>
            <pc:sldMk cId="1685563342" sldId="279"/>
            <ac:graphicFrameMk id="27" creationId="{8AFCCF80-BEAF-DD04-B95A-D15CFA8CC9A4}"/>
          </ac:graphicFrameMkLst>
        </pc:graphicFrameChg>
      </pc:sldChg>
      <pc:sldChg chg="modSp mod ord">
        <pc:chgData name="Kulkarni, Shilpa S" userId="62812126-48b0-4ef8-a563-9f7efee3cd75" providerId="ADAL" clId="{2283985A-9C32-4E95-9E98-9E1D9ED4DACD}" dt="2026-10-12T16:55:49.043" v="41"/>
        <pc:sldMkLst>
          <pc:docMk/>
          <pc:sldMk cId="2984090048" sldId="2147481528"/>
        </pc:sldMkLst>
        <pc:spChg chg="mod">
          <ac:chgData name="Kulkarni, Shilpa S" userId="62812126-48b0-4ef8-a563-9f7efee3cd75" providerId="ADAL" clId="{2283985A-9C32-4E95-9E98-9E1D9ED4DACD}" dt="2026-10-12T16:54:41.631" v="31" actId="6549"/>
          <ac:spMkLst>
            <pc:docMk/>
            <pc:sldMk cId="2984090048" sldId="2147481528"/>
            <ac:spMk id="4" creationId="{15680B60-9CDA-9824-877C-8B7D8C5E496E}"/>
          </ac:spMkLst>
        </pc:spChg>
      </pc:sldChg>
    </pc:docChg>
  </pc:docChgLst>
  <pc:docChgLst>
    <pc:chgData name="Joshi, Aastha" userId="2c9ba31a-aae3-421b-90f8-8da7b196bf17" providerId="ADAL" clId="{17485E79-539D-43A8-AD3F-772E0076C434}"/>
    <pc:docChg chg="custSel modSld">
      <pc:chgData name="Joshi, Aastha" userId="2c9ba31a-aae3-421b-90f8-8da7b196bf17" providerId="ADAL" clId="{17485E79-539D-43A8-AD3F-772E0076C434}" dt="2026-10-12T18:11:09.031" v="30" actId="20577"/>
      <pc:docMkLst>
        <pc:docMk/>
      </pc:docMkLst>
      <pc:sldChg chg="modSp mod">
        <pc:chgData name="Joshi, Aastha" userId="2c9ba31a-aae3-421b-90f8-8da7b196bf17" providerId="ADAL" clId="{17485E79-539D-43A8-AD3F-772E0076C434}" dt="2026-10-12T18:08:08.297" v="20" actId="1076"/>
        <pc:sldMkLst>
          <pc:docMk/>
          <pc:sldMk cId="2885855191" sldId="260"/>
        </pc:sldMkLst>
        <pc:spChg chg="mod">
          <ac:chgData name="Joshi, Aastha" userId="2c9ba31a-aae3-421b-90f8-8da7b196bf17" providerId="ADAL" clId="{17485E79-539D-43A8-AD3F-772E0076C434}" dt="2026-10-12T18:08:08.297" v="20" actId="1076"/>
          <ac:spMkLst>
            <pc:docMk/>
            <pc:sldMk cId="2885855191" sldId="260"/>
            <ac:spMk id="2" creationId="{C1F53796-8DA2-5B56-5EDA-E5A7E5B9292B}"/>
          </ac:spMkLst>
        </pc:spChg>
        <pc:spChg chg="mod">
          <ac:chgData name="Joshi, Aastha" userId="2c9ba31a-aae3-421b-90f8-8da7b196bf17" providerId="ADAL" clId="{17485E79-539D-43A8-AD3F-772E0076C434}" dt="2026-10-12T18:05:39.862" v="17" actId="1076"/>
          <ac:spMkLst>
            <pc:docMk/>
            <pc:sldMk cId="2885855191" sldId="260"/>
            <ac:spMk id="5" creationId="{02F79248-C613-2BA6-0E4E-07678C1BD6AB}"/>
          </ac:spMkLst>
        </pc:spChg>
        <pc:spChg chg="mod">
          <ac:chgData name="Joshi, Aastha" userId="2c9ba31a-aae3-421b-90f8-8da7b196bf17" providerId="ADAL" clId="{17485E79-539D-43A8-AD3F-772E0076C434}" dt="2026-10-12T18:05:47.556" v="19" actId="1076"/>
          <ac:spMkLst>
            <pc:docMk/>
            <pc:sldMk cId="2885855191" sldId="260"/>
            <ac:spMk id="6" creationId="{6DB81252-257F-22F1-2319-1AE03D849987}"/>
          </ac:spMkLst>
        </pc:spChg>
        <pc:spChg chg="mod">
          <ac:chgData name="Joshi, Aastha" userId="2c9ba31a-aae3-421b-90f8-8da7b196bf17" providerId="ADAL" clId="{17485E79-539D-43A8-AD3F-772E0076C434}" dt="2026-10-12T18:05:29.384" v="15" actId="1076"/>
          <ac:spMkLst>
            <pc:docMk/>
            <pc:sldMk cId="2885855191" sldId="260"/>
            <ac:spMk id="7" creationId="{9D0FEF97-B29D-D759-41E3-5A1ABB688774}"/>
          </ac:spMkLst>
        </pc:spChg>
        <pc:graphicFrameChg chg="mod modGraphic">
          <ac:chgData name="Joshi, Aastha" userId="2c9ba31a-aae3-421b-90f8-8da7b196bf17" providerId="ADAL" clId="{17485E79-539D-43A8-AD3F-772E0076C434}" dt="2026-10-12T18:05:36.374" v="16" actId="1076"/>
          <ac:graphicFrameMkLst>
            <pc:docMk/>
            <pc:sldMk cId="2885855191" sldId="260"/>
            <ac:graphicFrameMk id="27" creationId="{74A1B11F-D949-5ACA-C2EE-3141CC644E65}"/>
          </ac:graphicFrameMkLst>
        </pc:graphicFrameChg>
        <pc:graphicFrameChg chg="mod">
          <ac:chgData name="Joshi, Aastha" userId="2c9ba31a-aae3-421b-90f8-8da7b196bf17" providerId="ADAL" clId="{17485E79-539D-43A8-AD3F-772E0076C434}" dt="2026-10-12T18:05:45.380" v="18" actId="1076"/>
          <ac:graphicFrameMkLst>
            <pc:docMk/>
            <pc:sldMk cId="2885855191" sldId="260"/>
            <ac:graphicFrameMk id="29" creationId="{E3EA374E-339A-1A7D-4498-924BCC19BB9F}"/>
          </ac:graphicFrameMkLst>
        </pc:graphicFrameChg>
      </pc:sldChg>
      <pc:sldChg chg="modSp mod">
        <pc:chgData name="Joshi, Aastha" userId="2c9ba31a-aae3-421b-90f8-8da7b196bf17" providerId="ADAL" clId="{17485E79-539D-43A8-AD3F-772E0076C434}" dt="2026-10-12T18:10:41.707" v="26" actId="207"/>
        <pc:sldMkLst>
          <pc:docMk/>
          <pc:sldMk cId="4215373585" sldId="261"/>
        </pc:sldMkLst>
        <pc:graphicFrameChg chg="modGraphic">
          <ac:chgData name="Joshi, Aastha" userId="2c9ba31a-aae3-421b-90f8-8da7b196bf17" providerId="ADAL" clId="{17485E79-539D-43A8-AD3F-772E0076C434}" dt="2026-10-12T18:10:34.560" v="25" actId="20577"/>
          <ac:graphicFrameMkLst>
            <pc:docMk/>
            <pc:sldMk cId="4215373585" sldId="261"/>
            <ac:graphicFrameMk id="11" creationId="{A2B52C97-D713-F7E7-DCA4-315AE9BAAF69}"/>
          </ac:graphicFrameMkLst>
        </pc:graphicFrameChg>
        <pc:graphicFrameChg chg="modGraphic">
          <ac:chgData name="Joshi, Aastha" userId="2c9ba31a-aae3-421b-90f8-8da7b196bf17" providerId="ADAL" clId="{17485E79-539D-43A8-AD3F-772E0076C434}" dt="2026-10-12T18:10:41.707" v="26" actId="207"/>
          <ac:graphicFrameMkLst>
            <pc:docMk/>
            <pc:sldMk cId="4215373585" sldId="261"/>
            <ac:graphicFrameMk id="27" creationId="{90249238-BC97-21B4-21E4-8C36E7E5BF0F}"/>
          </ac:graphicFrameMkLst>
        </pc:graphicFrameChg>
      </pc:sldChg>
      <pc:sldChg chg="modSp mod">
        <pc:chgData name="Joshi, Aastha" userId="2c9ba31a-aae3-421b-90f8-8da7b196bf17" providerId="ADAL" clId="{17485E79-539D-43A8-AD3F-772E0076C434}" dt="2026-10-12T18:02:02.838" v="7" actId="207"/>
        <pc:sldMkLst>
          <pc:docMk/>
          <pc:sldMk cId="2555187516" sldId="262"/>
        </pc:sldMkLst>
        <pc:graphicFrameChg chg="modGraphic">
          <ac:chgData name="Joshi, Aastha" userId="2c9ba31a-aae3-421b-90f8-8da7b196bf17" providerId="ADAL" clId="{17485E79-539D-43A8-AD3F-772E0076C434}" dt="2026-10-12T18:02:02.838" v="7" actId="207"/>
          <ac:graphicFrameMkLst>
            <pc:docMk/>
            <pc:sldMk cId="2555187516" sldId="262"/>
            <ac:graphicFrameMk id="29" creationId="{3CAB6735-FCE3-FA60-EBEA-D0119FC54394}"/>
          </ac:graphicFrameMkLst>
        </pc:graphicFrameChg>
      </pc:sldChg>
      <pc:sldChg chg="modSp mod">
        <pc:chgData name="Joshi, Aastha" userId="2c9ba31a-aae3-421b-90f8-8da7b196bf17" providerId="ADAL" clId="{17485E79-539D-43A8-AD3F-772E0076C434}" dt="2026-10-12T18:10:59.850" v="28" actId="20577"/>
        <pc:sldMkLst>
          <pc:docMk/>
          <pc:sldMk cId="1157020178" sldId="266"/>
        </pc:sldMkLst>
        <pc:graphicFrameChg chg="modGraphic">
          <ac:chgData name="Joshi, Aastha" userId="2c9ba31a-aae3-421b-90f8-8da7b196bf17" providerId="ADAL" clId="{17485E79-539D-43A8-AD3F-772E0076C434}" dt="2026-10-12T18:10:59.850" v="28" actId="20577"/>
          <ac:graphicFrameMkLst>
            <pc:docMk/>
            <pc:sldMk cId="1157020178" sldId="266"/>
            <ac:graphicFrameMk id="11" creationId="{1F125BFF-AFAE-248A-4FCA-23B7B8B157B0}"/>
          </ac:graphicFrameMkLst>
        </pc:graphicFrameChg>
      </pc:sldChg>
      <pc:sldChg chg="modSp mod">
        <pc:chgData name="Joshi, Aastha" userId="2c9ba31a-aae3-421b-90f8-8da7b196bf17" providerId="ADAL" clId="{17485E79-539D-43A8-AD3F-772E0076C434}" dt="2026-10-12T18:03:01.357" v="9" actId="1076"/>
        <pc:sldMkLst>
          <pc:docMk/>
          <pc:sldMk cId="1742052064" sldId="274"/>
        </pc:sldMkLst>
        <pc:spChg chg="mod">
          <ac:chgData name="Joshi, Aastha" userId="2c9ba31a-aae3-421b-90f8-8da7b196bf17" providerId="ADAL" clId="{17485E79-539D-43A8-AD3F-772E0076C434}" dt="2026-10-12T18:03:01.357" v="9" actId="1076"/>
          <ac:spMkLst>
            <pc:docMk/>
            <pc:sldMk cId="1742052064" sldId="274"/>
            <ac:spMk id="4" creationId="{0FF6BAD6-5D3B-0717-2D10-31E38E17DDF9}"/>
          </ac:spMkLst>
        </pc:spChg>
      </pc:sldChg>
      <pc:sldChg chg="modSp mod">
        <pc:chgData name="Joshi, Aastha" userId="2c9ba31a-aae3-421b-90f8-8da7b196bf17" providerId="ADAL" clId="{17485E79-539D-43A8-AD3F-772E0076C434}" dt="2026-10-12T18:01:26.385" v="6" actId="1076"/>
        <pc:sldMkLst>
          <pc:docMk/>
          <pc:sldMk cId="1260973889" sldId="278"/>
        </pc:sldMkLst>
        <pc:spChg chg="mod">
          <ac:chgData name="Joshi, Aastha" userId="2c9ba31a-aae3-421b-90f8-8da7b196bf17" providerId="ADAL" clId="{17485E79-539D-43A8-AD3F-772E0076C434}" dt="2026-10-12T18:01:02.723" v="3" actId="1076"/>
          <ac:spMkLst>
            <pc:docMk/>
            <pc:sldMk cId="1260973889" sldId="278"/>
            <ac:spMk id="34" creationId="{AA1A590E-4223-D1C2-EBEA-F8F923823736}"/>
          </ac:spMkLst>
        </pc:spChg>
        <pc:spChg chg="mod">
          <ac:chgData name="Joshi, Aastha" userId="2c9ba31a-aae3-421b-90f8-8da7b196bf17" providerId="ADAL" clId="{17485E79-539D-43A8-AD3F-772E0076C434}" dt="2026-10-12T18:01:09.127" v="4" actId="1076"/>
          <ac:spMkLst>
            <pc:docMk/>
            <pc:sldMk cId="1260973889" sldId="278"/>
            <ac:spMk id="36" creationId="{1083ECDA-603E-138B-5ED0-21E5BF13731F}"/>
          </ac:spMkLst>
        </pc:spChg>
        <pc:graphicFrameChg chg="mod modGraphic">
          <ac:chgData name="Joshi, Aastha" userId="2c9ba31a-aae3-421b-90f8-8da7b196bf17" providerId="ADAL" clId="{17485E79-539D-43A8-AD3F-772E0076C434}" dt="2026-10-12T18:01:26.385" v="6" actId="1076"/>
          <ac:graphicFrameMkLst>
            <pc:docMk/>
            <pc:sldMk cId="1260973889" sldId="278"/>
            <ac:graphicFrameMk id="27" creationId="{50D303B1-4685-BE6D-5075-97DA9E0010EB}"/>
          </ac:graphicFrameMkLst>
        </pc:graphicFrameChg>
        <pc:graphicFrameChg chg="mod">
          <ac:chgData name="Joshi, Aastha" userId="2c9ba31a-aae3-421b-90f8-8da7b196bf17" providerId="ADAL" clId="{17485E79-539D-43A8-AD3F-772E0076C434}" dt="2026-10-12T18:01:19.634" v="5" actId="1076"/>
          <ac:graphicFrameMkLst>
            <pc:docMk/>
            <pc:sldMk cId="1260973889" sldId="278"/>
            <ac:graphicFrameMk id="29" creationId="{468E60D2-724C-D6AE-76B6-9F9029EB0EEE}"/>
          </ac:graphicFrameMkLst>
        </pc:graphicFrameChg>
        <pc:graphicFrameChg chg="mod">
          <ac:chgData name="Joshi, Aastha" userId="2c9ba31a-aae3-421b-90f8-8da7b196bf17" providerId="ADAL" clId="{17485E79-539D-43A8-AD3F-772E0076C434}" dt="2026-10-12T18:00:56.061" v="2" actId="1076"/>
          <ac:graphicFrameMkLst>
            <pc:docMk/>
            <pc:sldMk cId="1260973889" sldId="278"/>
            <ac:graphicFrameMk id="32" creationId="{EB976461-3F7B-A6CC-DFB3-748DCE1EE8B1}"/>
          </ac:graphicFrameMkLst>
        </pc:graphicFrameChg>
      </pc:sldChg>
      <pc:sldChg chg="modSp mod">
        <pc:chgData name="Joshi, Aastha" userId="2c9ba31a-aae3-421b-90f8-8da7b196bf17" providerId="ADAL" clId="{17485E79-539D-43A8-AD3F-772E0076C434}" dt="2026-10-12T18:04:21.189" v="12" actId="207"/>
        <pc:sldMkLst>
          <pc:docMk/>
          <pc:sldMk cId="1685563342" sldId="279"/>
        </pc:sldMkLst>
        <pc:graphicFrameChg chg="modGraphic">
          <ac:chgData name="Joshi, Aastha" userId="2c9ba31a-aae3-421b-90f8-8da7b196bf17" providerId="ADAL" clId="{17485E79-539D-43A8-AD3F-772E0076C434}" dt="2026-10-12T18:04:21.189" v="12" actId="207"/>
          <ac:graphicFrameMkLst>
            <pc:docMk/>
            <pc:sldMk cId="1685563342" sldId="279"/>
            <ac:graphicFrameMk id="27" creationId="{8AFCCF80-BEAF-DD04-B95A-D15CFA8CC9A4}"/>
          </ac:graphicFrameMkLst>
        </pc:graphicFrameChg>
      </pc:sldChg>
      <pc:sldChg chg="modSp mod">
        <pc:chgData name="Joshi, Aastha" userId="2c9ba31a-aae3-421b-90f8-8da7b196bf17" providerId="ADAL" clId="{17485E79-539D-43A8-AD3F-772E0076C434}" dt="2026-10-12T18:10:17.010" v="22" actId="20577"/>
        <pc:sldMkLst>
          <pc:docMk/>
          <pc:sldMk cId="1819914217" sldId="2147481520"/>
        </pc:sldMkLst>
        <pc:graphicFrameChg chg="modGraphic">
          <ac:chgData name="Joshi, Aastha" userId="2c9ba31a-aae3-421b-90f8-8da7b196bf17" providerId="ADAL" clId="{17485E79-539D-43A8-AD3F-772E0076C434}" dt="2026-10-12T18:10:17.010" v="22" actId="20577"/>
          <ac:graphicFrameMkLst>
            <pc:docMk/>
            <pc:sldMk cId="1819914217" sldId="2147481520"/>
            <ac:graphicFrameMk id="11" creationId="{01DD775B-B1B3-036E-DAB4-1B32940EDE22}"/>
          </ac:graphicFrameMkLst>
        </pc:graphicFrameChg>
      </pc:sldChg>
      <pc:sldChg chg="modSp mod">
        <pc:chgData name="Joshi, Aastha" userId="2c9ba31a-aae3-421b-90f8-8da7b196bf17" providerId="ADAL" clId="{17485E79-539D-43A8-AD3F-772E0076C434}" dt="2026-10-12T18:11:09.031" v="30" actId="20577"/>
        <pc:sldMkLst>
          <pc:docMk/>
          <pc:sldMk cId="3730648050" sldId="2147481541"/>
        </pc:sldMkLst>
        <pc:graphicFrameChg chg="modGraphic">
          <ac:chgData name="Joshi, Aastha" userId="2c9ba31a-aae3-421b-90f8-8da7b196bf17" providerId="ADAL" clId="{17485E79-539D-43A8-AD3F-772E0076C434}" dt="2026-10-12T18:11:09.031" v="30" actId="20577"/>
          <ac:graphicFrameMkLst>
            <pc:docMk/>
            <pc:sldMk cId="3730648050" sldId="2147481541"/>
            <ac:graphicFrameMk id="11" creationId="{CF5D9987-2924-45FB-C2E3-A69FA0B48A0B}"/>
          </ac:graphicFrameMkLst>
        </pc:graphicFrameChg>
      </pc:sldChg>
    </pc:docChg>
  </pc:docChgLst>
  <pc:docChgLst>
    <pc:chgData name="Kumar, Lalitha M" userId="S::lawsonl7@nationwide.com::befc93b4-711f-4485-8d29-0b724293f635" providerId="AD" clId="Web-{D293DA76-04C5-8103-8F24-51C989F5C74D}"/>
    <pc:docChg chg="modSld sldOrd">
      <pc:chgData name="Kumar, Lalitha M" userId="S::lawsonl7@nationwide.com::befc93b4-711f-4485-8d29-0b724293f635" providerId="AD" clId="Web-{D293DA76-04C5-8103-8F24-51C989F5C74D}" dt="2026-10-12T21:29:12.397" v="223"/>
      <pc:docMkLst>
        <pc:docMk/>
      </pc:docMkLst>
      <pc:sldChg chg="modSp">
        <pc:chgData name="Kumar, Lalitha M" userId="S::lawsonl7@nationwide.com::befc93b4-711f-4485-8d29-0b724293f635" providerId="AD" clId="Web-{D293DA76-04C5-8103-8F24-51C989F5C74D}" dt="2026-10-12T21:29:12.397" v="223"/>
        <pc:sldMkLst>
          <pc:docMk/>
          <pc:sldMk cId="3851900764" sldId="273"/>
        </pc:sldMkLst>
        <pc:spChg chg="mod">
          <ac:chgData name="Kumar, Lalitha M" userId="S::lawsonl7@nationwide.com::befc93b4-711f-4485-8d29-0b724293f635" providerId="AD" clId="Web-{D293DA76-04C5-8103-8F24-51C989F5C74D}" dt="2026-10-12T15:48:43.084" v="106" actId="20577"/>
          <ac:spMkLst>
            <pc:docMk/>
            <pc:sldMk cId="3851900764" sldId="273"/>
            <ac:spMk id="6" creationId="{24D4C3F4-2BC5-01CC-A548-E62174956F8F}"/>
          </ac:spMkLst>
        </pc:spChg>
        <pc:graphicFrameChg chg="mod modGraphic">
          <ac:chgData name="Kumar, Lalitha M" userId="S::lawsonl7@nationwide.com::befc93b4-711f-4485-8d29-0b724293f635" providerId="AD" clId="Web-{D293DA76-04C5-8103-8F24-51C989F5C74D}" dt="2026-10-12T15:28:18.195" v="5"/>
          <ac:graphicFrameMkLst>
            <pc:docMk/>
            <pc:sldMk cId="3851900764" sldId="273"/>
            <ac:graphicFrameMk id="11" creationId="{9429B040-A21B-D00A-515F-9E3171145D68}"/>
          </ac:graphicFrameMkLst>
        </pc:graphicFrameChg>
        <pc:graphicFrameChg chg="mod modGraphic">
          <ac:chgData name="Kumar, Lalitha M" userId="S::lawsonl7@nationwide.com::befc93b4-711f-4485-8d29-0b724293f635" providerId="AD" clId="Web-{D293DA76-04C5-8103-8F24-51C989F5C74D}" dt="2026-10-12T15:28:24.320" v="7"/>
          <ac:graphicFrameMkLst>
            <pc:docMk/>
            <pc:sldMk cId="3851900764" sldId="273"/>
            <ac:graphicFrameMk id="26" creationId="{2D080F49-F9D4-3CCD-F9AA-BA423FBD54EE}"/>
          </ac:graphicFrameMkLst>
        </pc:graphicFrameChg>
        <pc:graphicFrameChg chg="mod modGraphic">
          <ac:chgData name="Kumar, Lalitha M" userId="S::lawsonl7@nationwide.com::befc93b4-711f-4485-8d29-0b724293f635" providerId="AD" clId="Web-{D293DA76-04C5-8103-8F24-51C989F5C74D}" dt="2026-10-12T21:29:12.397" v="223"/>
          <ac:graphicFrameMkLst>
            <pc:docMk/>
            <pc:sldMk cId="3851900764" sldId="273"/>
            <ac:graphicFrameMk id="29" creationId="{6834A5AD-1FE8-EA37-DE5E-D92E6513433E}"/>
          </ac:graphicFrameMkLst>
        </pc:graphicFrameChg>
      </pc:sldChg>
      <pc:sldChg chg="addSp modSp ord">
        <pc:chgData name="Kumar, Lalitha M" userId="S::lawsonl7@nationwide.com::befc93b4-711f-4485-8d29-0b724293f635" providerId="AD" clId="Web-{D293DA76-04C5-8103-8F24-51C989F5C74D}" dt="2026-10-12T16:02:13.817" v="219" actId="20577"/>
        <pc:sldMkLst>
          <pc:docMk/>
          <pc:sldMk cId="1742052064" sldId="274"/>
        </pc:sldMkLst>
        <pc:spChg chg="mod">
          <ac:chgData name="Kumar, Lalitha M" userId="S::lawsonl7@nationwide.com::befc93b4-711f-4485-8d29-0b724293f635" providerId="AD" clId="Web-{D293DA76-04C5-8103-8F24-51C989F5C74D}" dt="2026-10-12T16:02:13.817" v="219" actId="20577"/>
          <ac:spMkLst>
            <pc:docMk/>
            <pc:sldMk cId="1742052064" sldId="274"/>
            <ac:spMk id="4" creationId="{0FF6BAD6-5D3B-0717-2D10-31E38E17DDF9}"/>
          </ac:spMkLst>
        </pc:spChg>
        <pc:spChg chg="add mod">
          <ac:chgData name="Kumar, Lalitha M" userId="S::lawsonl7@nationwide.com::befc93b4-711f-4485-8d29-0b724293f635" providerId="AD" clId="Web-{D293DA76-04C5-8103-8F24-51C989F5C74D}" dt="2026-10-12T15:30:39.632" v="18" actId="1076"/>
          <ac:spMkLst>
            <pc:docMk/>
            <pc:sldMk cId="1742052064" sldId="274"/>
            <ac:spMk id="5" creationId="{EB787042-7340-A618-4789-5E92279087A7}"/>
          </ac:spMkLst>
        </pc:spChg>
        <pc:spChg chg="add mod">
          <ac:chgData name="Kumar, Lalitha M" userId="S::lawsonl7@nationwide.com::befc93b4-711f-4485-8d29-0b724293f635" providerId="AD" clId="Web-{D293DA76-04C5-8103-8F24-51C989F5C74D}" dt="2026-10-12T15:31:15.382" v="21" actId="1076"/>
          <ac:spMkLst>
            <pc:docMk/>
            <pc:sldMk cId="1742052064" sldId="274"/>
            <ac:spMk id="6" creationId="{28882536-A5CD-4848-9509-0EAA846C260F}"/>
          </ac:spMkLst>
        </pc:spChg>
        <pc:spChg chg="mod">
          <ac:chgData name="Kumar, Lalitha M" userId="S::lawsonl7@nationwide.com::befc93b4-711f-4485-8d29-0b724293f635" providerId="AD" clId="Web-{D293DA76-04C5-8103-8F24-51C989F5C74D}" dt="2026-10-12T15:29:52.882" v="9"/>
          <ac:spMkLst>
            <pc:docMk/>
            <pc:sldMk cId="1742052064" sldId="274"/>
            <ac:spMk id="43" creationId="{01F3E451-53D3-0EFB-340A-171459EBEC52}"/>
          </ac:spMkLst>
        </pc:spChg>
        <pc:graphicFrameChg chg="mod modGraphic">
          <ac:chgData name="Kumar, Lalitha M" userId="S::lawsonl7@nationwide.com::befc93b4-711f-4485-8d29-0b724293f635" providerId="AD" clId="Web-{D293DA76-04C5-8103-8F24-51C989F5C74D}" dt="2026-10-12T15:30:01.945" v="13"/>
          <ac:graphicFrameMkLst>
            <pc:docMk/>
            <pc:sldMk cId="1742052064" sldId="274"/>
            <ac:graphicFrameMk id="11" creationId="{C41125A0-5513-43E6-E32D-E5E58DD29039}"/>
          </ac:graphicFrameMkLst>
        </pc:graphicFrameChg>
        <pc:graphicFrameChg chg="mod modGraphic">
          <ac:chgData name="Kumar, Lalitha M" userId="S::lawsonl7@nationwide.com::befc93b4-711f-4485-8d29-0b724293f635" providerId="AD" clId="Web-{D293DA76-04C5-8103-8F24-51C989F5C74D}" dt="2026-10-12T15:30:22.085" v="15"/>
          <ac:graphicFrameMkLst>
            <pc:docMk/>
            <pc:sldMk cId="1742052064" sldId="274"/>
            <ac:graphicFrameMk id="27" creationId="{87F5E52A-73F0-2D34-67D1-BD7421200705}"/>
          </ac:graphicFrameMkLst>
        </pc:graphicFrameChg>
        <pc:graphicFrameChg chg="mod modGraphic">
          <ac:chgData name="Kumar, Lalitha M" userId="S::lawsonl7@nationwide.com::befc93b4-711f-4485-8d29-0b724293f635" providerId="AD" clId="Web-{D293DA76-04C5-8103-8F24-51C989F5C74D}" dt="2026-10-12T15:31:28.616" v="27"/>
          <ac:graphicFrameMkLst>
            <pc:docMk/>
            <pc:sldMk cId="1742052064" sldId="274"/>
            <ac:graphicFrameMk id="29" creationId="{92E11616-CC4F-76E2-70B6-953971003B42}"/>
          </ac:graphicFrameMkLst>
        </pc:graphicFrameChg>
        <pc:graphicFrameChg chg="mod">
          <ac:chgData name="Kumar, Lalitha M" userId="S::lawsonl7@nationwide.com::befc93b4-711f-4485-8d29-0b724293f635" providerId="AD" clId="Web-{D293DA76-04C5-8103-8F24-51C989F5C74D}" dt="2026-10-12T15:52:29.099" v="134" actId="1076"/>
          <ac:graphicFrameMkLst>
            <pc:docMk/>
            <pc:sldMk cId="1742052064" sldId="274"/>
            <ac:graphicFrameMk id="32" creationId="{F4C26C91-4CCD-047D-D7E4-38902317086D}"/>
          </ac:graphicFrameMkLst>
        </pc:graphicFrameChg>
      </pc:sldChg>
      <pc:sldChg chg="modSp">
        <pc:chgData name="Kumar, Lalitha M" userId="S::lawsonl7@nationwide.com::befc93b4-711f-4485-8d29-0b724293f635" providerId="AD" clId="Web-{D293DA76-04C5-8103-8F24-51C989F5C74D}" dt="2026-10-12T15:57:59.927" v="187" actId="20577"/>
        <pc:sldMkLst>
          <pc:docMk/>
          <pc:sldMk cId="3732107178" sldId="2147483647"/>
        </pc:sldMkLst>
        <pc:spChg chg="mod">
          <ac:chgData name="Kumar, Lalitha M" userId="S::lawsonl7@nationwide.com::befc93b4-711f-4485-8d29-0b724293f635" providerId="AD" clId="Web-{D293DA76-04C5-8103-8F24-51C989F5C74D}" dt="2026-10-12T15:57:59.927" v="187" actId="20577"/>
          <ac:spMkLst>
            <pc:docMk/>
            <pc:sldMk cId="3732107178" sldId="2147483647"/>
            <ac:spMk id="5" creationId="{2EEB9CDF-3CB1-5B73-B142-A29F120416CE}"/>
          </ac:spMkLst>
        </pc:spChg>
        <pc:graphicFrameChg chg="mod modGraphic">
          <ac:chgData name="Kumar, Lalitha M" userId="S::lawsonl7@nationwide.com::befc93b4-711f-4485-8d29-0b724293f635" providerId="AD" clId="Web-{D293DA76-04C5-8103-8F24-51C989F5C74D}" dt="2026-10-12T15:27:43.492" v="1"/>
          <ac:graphicFrameMkLst>
            <pc:docMk/>
            <pc:sldMk cId="3732107178" sldId="2147483647"/>
            <ac:graphicFrameMk id="11" creationId="{4A50D08C-86AA-D1CE-4C4E-28F18B7CF4FE}"/>
          </ac:graphicFrameMkLst>
        </pc:graphicFrameChg>
        <pc:graphicFrameChg chg="mod modGraphic">
          <ac:chgData name="Kumar, Lalitha M" userId="S::lawsonl7@nationwide.com::befc93b4-711f-4485-8d29-0b724293f635" providerId="AD" clId="Web-{D293DA76-04C5-8103-8F24-51C989F5C74D}" dt="2026-10-12T15:42:41.178" v="83"/>
          <ac:graphicFrameMkLst>
            <pc:docMk/>
            <pc:sldMk cId="3732107178" sldId="2147483647"/>
            <ac:graphicFrameMk id="27" creationId="{5D24B6AB-2DD3-6F29-B6BA-A86B8504834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29356-C1FA-45A0-BCA7-659F2496F3ED}" type="datetimeFigureOut">
              <a:rPr lang="en-GB" smtClean="0"/>
              <a:t>12/10/2026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79E8F-4D26-495F-B929-7EA6B1E45931}" type="slidenum">
              <a:rPr lang="en-GB" smtClean="0"/>
              <a:t>‹#›</a:t>
            </a:fld>
            <a:endParaRPr lang="en-GB"/>
          </a:p>
        </p:txBody>
      </p:sp>
    </p:spTree>
    <p:extLst>
      <p:ext uri="{BB962C8B-B14F-4D97-AF65-F5344CB8AC3E}">
        <p14:creationId xmlns:p14="http://schemas.microsoft.com/office/powerpoint/2010/main" val="4226449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474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9042D-3F1B-0888-0E4B-B5787124F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AC3F8-63AE-354A-1FFD-31606D9B65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C59C66-D4E3-9BF6-4481-97D17A5885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C57B40-DE03-512F-3331-4C70DA11C60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479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39F18-1C01-56F7-69CF-00F1045A5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3E265-D1FA-CCE7-8C1F-A74D0F753B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799E9A-165E-FFBF-563B-D020791B0235}"/>
              </a:ext>
            </a:extLst>
          </p:cNvPr>
          <p:cNvSpPr>
            <a:spLocks noGrp="1"/>
          </p:cNvSpPr>
          <p:nvPr>
            <p:ph type="body" idx="1"/>
          </p:nvPr>
        </p:nvSpPr>
        <p:spPr/>
        <p:txBody>
          <a:bodyPr/>
          <a:lstStyle/>
          <a:p>
            <a:endParaRPr lang="en-US"/>
          </a:p>
          <a:p>
            <a:endParaRPr lang="en-US"/>
          </a:p>
          <a:p>
            <a:endParaRPr lang="en-US"/>
          </a:p>
          <a:p>
            <a:endParaRPr lang="en-US"/>
          </a:p>
          <a:p>
            <a:endParaRPr lang="en-US"/>
          </a:p>
          <a:p>
            <a:r>
              <a:rPr lang="en-US"/>
              <a:t>Chuck, Tamil, Victor</a:t>
            </a:r>
          </a:p>
        </p:txBody>
      </p:sp>
      <p:sp>
        <p:nvSpPr>
          <p:cNvPr id="4" name="Slide Number Placeholder 3">
            <a:extLst>
              <a:ext uri="{FF2B5EF4-FFF2-40B4-BE49-F238E27FC236}">
                <a16:creationId xmlns:a16="http://schemas.microsoft.com/office/drawing/2014/main" id="{BA31287E-3637-EACD-2F14-B3C5F7156F7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6119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A4CD-F439-312E-FD10-D42BDE2BB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4C027-624A-998A-796E-C2DD6D9AD9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F7F58D-A352-5F63-8A6A-E58AC88828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E2F8CF-DED4-47CC-1DFF-E9FAF422812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465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AED56-1EF8-53F2-E0F5-FB9636877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F6307-54EE-1745-388E-19BBE86004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E17C60-2A7E-273A-3EBA-45EAB7803DD1}"/>
              </a:ext>
            </a:extLst>
          </p:cNvPr>
          <p:cNvSpPr>
            <a:spLocks noGrp="1"/>
          </p:cNvSpPr>
          <p:nvPr>
            <p:ph type="body" idx="1"/>
          </p:nvPr>
        </p:nvSpPr>
        <p:spPr/>
        <p:txBody>
          <a:bodyPr/>
          <a:lstStyle/>
          <a:p>
            <a:endParaRPr lang="en-US"/>
          </a:p>
          <a:p>
            <a:endParaRPr lang="en-US"/>
          </a:p>
          <a:p>
            <a:endParaRPr lang="en-US"/>
          </a:p>
          <a:p>
            <a:endParaRPr lang="en-US"/>
          </a:p>
          <a:p>
            <a:r>
              <a:rPr lang="en-US"/>
              <a:t>Karthik S</a:t>
            </a:r>
          </a:p>
        </p:txBody>
      </p:sp>
      <p:sp>
        <p:nvSpPr>
          <p:cNvPr id="4" name="Slide Number Placeholder 3">
            <a:extLst>
              <a:ext uri="{FF2B5EF4-FFF2-40B4-BE49-F238E27FC236}">
                <a16:creationId xmlns:a16="http://schemas.microsoft.com/office/drawing/2014/main" id="{BEC78B02-0596-0E55-DC67-6C362095F7D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798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C37F-7B5C-BAA4-A513-62374E293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B5CCF-10F0-FE65-F1B1-E581E30494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A92307-CA1C-4265-0A6E-58889E01EF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D55083-E4F3-7B9A-EA1F-BB6A443D766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051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DAFD-F387-19FB-55DD-5EF5C8345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8C72D-E915-4082-F40C-E80E1A8442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9B7D4B-E08E-28E6-8537-A2765A86AF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0A0DCB-E5BC-8D5D-24C4-52054DC88B3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234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86105-B50D-5261-DE45-F94278121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56A5B-EF7E-6D62-855C-6B4A6D4B0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906029-50DE-F0FA-29F9-689FD7BD21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2E348D-EA5E-FD94-3BE8-057B605ADAF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5306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5C62A-3C89-5962-AB56-9B0B7405A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B0ED-C980-6802-C996-74173E9DF6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6581E5-8DED-05BC-BD57-6416F3A548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E13792-2306-DB35-1DD8-EF1EAA9173D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566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DE6E-9A6F-4CCB-53C7-872BCB300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30951-894F-1A8A-1662-9BE43E3124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11F976-5FBF-AD75-9114-F1F676A68F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0CF1A6-168F-EF21-89BE-7583353BD7E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4899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8350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F2C28-3B68-43D0-5C34-98DCDDB9B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4A19F-005C-3829-80B9-973DFD94DF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EA0E50-2729-B1CB-067E-231F68F418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583DCE-30B0-32C6-CF2A-4F9639CB39A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3381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E132-7D04-CBF6-A44A-3D1B60ACA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BB769-5363-82AF-2B12-EC8AFA5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507CA7-C163-8705-EC43-BC034DF850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4DECA2-DFB1-FAD9-D747-8EB93FE35C5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02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5046-50D0-631E-B411-E32CBD177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62C0A-A1FA-95C3-95DD-9B9413978B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280CD8-45D0-B4D5-77D8-925ED8D3C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C7B493-8B37-55B3-5462-C314B30C120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0580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A60D0-3E7B-FBE2-B141-81A3808F8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AC2AD-56F7-301B-8999-607179F8D5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B42585-2959-660A-7FC2-E51DFEB49F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D0540B-A5E4-AC17-326E-6B016EE0CAC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504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07CE-2B2B-F3C7-9F80-1B1B1808B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B4952-E2D8-09B4-F893-4DBF236AAB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F06CE5-3901-3531-1289-63A19E7716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08BA4E-8DE0-EB9A-509A-305BFEE02E2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221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5805-9445-C177-4BA8-9DBBEAD7D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C6415-DFD4-B78D-96DB-673508D60E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658FA4-487C-C80F-E4CA-4D203EF044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7F9B1D-D602-808D-76F0-30C745149FB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098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B6B1-1123-36AB-F220-6593274D7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ED03D-CD04-00BE-7B9C-36EA25531A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E93A9F-7AA4-63B8-5E4D-0738D0BAFF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A6B76E-B2FF-C1F4-8FDF-FC22C7C72C6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7835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A67E-3D15-2AD1-E31B-4385EE1C7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AD373-23EA-8994-7AB2-7C387D1F33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1BC99-12FD-6B03-783B-A6EB67A703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846378-77A0-9EB1-7663-9EAC902D0553}"/>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459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D92F-DD04-A69A-0B0C-087331A61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612E2-BAFA-A5A8-2A53-1279C92E67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F51175-D2D6-38C0-2172-1C0318D266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068347-19E2-34D8-8B61-2B4C9D2DC887}"/>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4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10EC-BCFC-F2BE-37FD-37BF46B7A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B536B-BFEA-F9F5-1313-32E891A411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75DFDE-5627-3151-FA64-C3E685D622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112DA5-6B7F-C608-FB07-F66C5ED2C8D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8021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5C24-89E7-9BF7-2308-20111C243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A35C-7CF9-FE5F-F59A-44438739BF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C5D3DB-0589-A76A-FBEB-B4780FF1B9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86091B-5E86-7312-C630-12E3547386C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5795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9BC9-C2C8-749D-BDC5-EE25E63E2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7ECCF-3E2A-7359-06DE-645082B3A4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0164AC-6708-30B3-4191-86710BD4B4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298716-0A9A-70A8-B37B-7F166FEE151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1202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B79C7-EADF-BC8B-8926-57212B23C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5191F-18BF-3945-682C-206CBC75D8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162FE-90F7-D2D3-7E55-9E516BC8B5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0C010A-3C4A-8759-717D-1195BA7B3F0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10482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4742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7208-6557-CC49-70E4-77242DB56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4D8F5-8B94-0C11-B1D1-551D05EA09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766ACD-4463-CD9A-FE7E-1A4AB1A13166}"/>
              </a:ext>
            </a:extLst>
          </p:cNvPr>
          <p:cNvSpPr>
            <a:spLocks noGrp="1"/>
          </p:cNvSpPr>
          <p:nvPr>
            <p:ph type="body" idx="1"/>
          </p:nvPr>
        </p:nvSpPr>
        <p:spPr/>
        <p:txBody>
          <a:bodyPr/>
          <a:lstStyle/>
          <a:p>
            <a:r>
              <a:rPr lang="en-US" sz="1200" kern="1200">
                <a:solidFill>
                  <a:schemeClr val="tx1"/>
                </a:solidFill>
                <a:effectLst/>
                <a:latin typeface="+mn-lt"/>
                <a:ea typeface="+mn-ea"/>
                <a:cs typeface="+mn-cs"/>
              </a:rPr>
              <a:t> </a:t>
            </a:r>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8CEB8D0-A602-FCAF-C55B-B1784C8B7CE9}"/>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2429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B79C7-EADF-BC8B-8926-57212B23C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5191F-18BF-3945-682C-206CBC75D8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162FE-90F7-D2D3-7E55-9E516BC8B5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0C010A-3C4A-8759-717D-1195BA7B3F0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86958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EA2D2-BDFC-32C7-9A70-6FA01F694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2C7FD-C105-3127-9A3F-3E801E23CF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C8B4EC-1CF1-B33E-CD03-6F89FFEE97F8}"/>
              </a:ext>
            </a:extLst>
          </p:cNvPr>
          <p:cNvSpPr>
            <a:spLocks noGrp="1"/>
          </p:cNvSpPr>
          <p:nvPr>
            <p:ph type="body" idx="1"/>
          </p:nvPr>
        </p:nvSpPr>
        <p:spPr/>
        <p:txBody>
          <a:bodyPr/>
          <a:lstStyle/>
          <a:p>
            <a:r>
              <a:rPr lang="en-US">
                <a:ea typeface="Calibri"/>
                <a:cs typeface="Calibri"/>
              </a:rPr>
              <a:t>Chuck for latest status</a:t>
            </a:r>
            <a:endParaRPr lang="en-US"/>
          </a:p>
        </p:txBody>
      </p:sp>
      <p:sp>
        <p:nvSpPr>
          <p:cNvPr id="4" name="Slide Number Placeholder 3">
            <a:extLst>
              <a:ext uri="{FF2B5EF4-FFF2-40B4-BE49-F238E27FC236}">
                <a16:creationId xmlns:a16="http://schemas.microsoft.com/office/drawing/2014/main" id="{4C70DD59-DB0A-5D5A-40A2-497A1DC962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F42730-5DAA-434A-85BA-BE3B747276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3787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73E10-DF75-BB1A-D4C6-4579D8A23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8A255-4B2D-0042-68ED-B1AE623C98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B8A5DA-3876-847B-F5E2-A071EF5454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8BA630-6751-CEEC-E3DD-B57172A7DE5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14599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Discovery Effort:</a:t>
            </a:r>
          </a:p>
          <a:p>
            <a:r>
              <a:rPr lang="en-US"/>
              <a:t>DL – 40 </a:t>
            </a:r>
            <a:r>
              <a:rPr lang="en-US" err="1"/>
              <a:t>hrs</a:t>
            </a:r>
            <a:endParaRPr lang="en-US"/>
          </a:p>
          <a:p>
            <a:r>
              <a:rPr lang="en-US"/>
              <a:t>TA - 40</a:t>
            </a:r>
          </a:p>
          <a:p>
            <a:r>
              <a:rPr lang="en-US"/>
              <a:t>TL -40</a:t>
            </a:r>
          </a:p>
          <a:p>
            <a:r>
              <a:rPr lang="en-US"/>
              <a:t>Arch - 40</a:t>
            </a:r>
          </a:p>
          <a:p>
            <a:r>
              <a:rPr lang="en-US"/>
              <a:t>QE - 40</a:t>
            </a:r>
          </a:p>
          <a:p>
            <a:r>
              <a:rPr lang="en-US"/>
              <a:t>TIA – 40 (NB)</a:t>
            </a:r>
          </a:p>
          <a:p>
            <a:r>
              <a:rPr lang="en-US"/>
              <a:t>Total = 200 hours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88761A-50C6-4AFA-B868-0229D5E5243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62840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5D17-C385-F834-C87F-95C083EE5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B50FF-CF49-663E-66E5-7BDA40CA21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FDC997-382C-27B0-6B08-FF78A7EFE2DB}"/>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FA365EA0-7671-15D9-9A83-899F075279E0}"/>
              </a:ext>
            </a:extLst>
          </p:cNvPr>
          <p:cNvSpPr>
            <a:spLocks noGrp="1"/>
          </p:cNvSpPr>
          <p:nvPr>
            <p:ph type="sldNum" sz="quarter" idx="5"/>
          </p:nvPr>
        </p:nvSpPr>
        <p:spPr/>
        <p:txBody>
          <a:bodyPr/>
          <a:lstStyle/>
          <a:p>
            <a:pPr marL="0" marR="0" lvl="0" indent="0" algn="r" defTabSz="949200" rtl="0" eaLnBrk="1" fontAlgn="auto" latinLnBrk="0" hangingPunct="1">
              <a:lnSpc>
                <a:spcPct val="100000"/>
              </a:lnSpc>
              <a:spcBef>
                <a:spcPts val="0"/>
              </a:spcBef>
              <a:spcAft>
                <a:spcPts val="0"/>
              </a:spcAft>
              <a:buClrTx/>
              <a:buSzTx/>
              <a:buFontTx/>
              <a:buNone/>
              <a:tabLst/>
              <a:defRPr/>
            </a:pPr>
            <a:fld id="{06F2C892-76EC-9D4C-8CE2-2A5FA350851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9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790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pic>
        <p:nvPicPr>
          <p:cNvPr id="24" name="Background image">
            <a:extLst>
              <a:ext uri="{FF2B5EF4-FFF2-40B4-BE49-F238E27FC236}">
                <a16:creationId xmlns:a16="http://schemas.microsoft.com/office/drawing/2014/main" id="{679CA6D4-DB00-455E-AC6F-BE50491FE77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8" name="Title 1">
            <a:extLst>
              <a:ext uri="{FF2B5EF4-FFF2-40B4-BE49-F238E27FC236}">
                <a16:creationId xmlns:a16="http://schemas.microsoft.com/office/drawing/2014/main" id="{01BB3325-8865-A24E-9E0E-637AE1E66BD2}"/>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30" name="Subtitle or Presenter">
            <a:extLst>
              <a:ext uri="{FF2B5EF4-FFF2-40B4-BE49-F238E27FC236}">
                <a16:creationId xmlns:a16="http://schemas.microsoft.com/office/drawing/2014/main" id="{D204E043-1025-EC48-829B-ABB5DBC0382E}"/>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31" name="Date">
            <a:extLst>
              <a:ext uri="{FF2B5EF4-FFF2-40B4-BE49-F238E27FC236}">
                <a16:creationId xmlns:a16="http://schemas.microsoft.com/office/drawing/2014/main" id="{9773E334-7E20-F144-8F18-14E3714D2AFC}"/>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32" name="Text Placeholder 2">
            <a:extLst>
              <a:ext uri="{FF2B5EF4-FFF2-40B4-BE49-F238E27FC236}">
                <a16:creationId xmlns:a16="http://schemas.microsoft.com/office/drawing/2014/main" id="{7E85BCEA-7262-134E-BA8E-1744D7C90553}"/>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pic>
        <p:nvPicPr>
          <p:cNvPr id="3" name="Picture 2" descr="Nationwide reversed color version logo&#10;">
            <a:extLst>
              <a:ext uri="{FF2B5EF4-FFF2-40B4-BE49-F238E27FC236}">
                <a16:creationId xmlns:a16="http://schemas.microsoft.com/office/drawing/2014/main" id="{83B21408-DA39-E372-9ABA-32E7F837B77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5495" y="4023363"/>
            <a:ext cx="2410477" cy="2369965"/>
          </a:xfrm>
          <a:prstGeom prst="rect">
            <a:avLst/>
          </a:prstGeom>
        </p:spPr>
      </p:pic>
    </p:spTree>
    <p:extLst>
      <p:ext uri="{BB962C8B-B14F-4D97-AF65-F5344CB8AC3E}">
        <p14:creationId xmlns:p14="http://schemas.microsoft.com/office/powerpoint/2010/main" val="3046624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064BF798-CC9D-1541-AE53-488C61F2485D}"/>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47108310-CF70-E041-8559-0BBAF0A3E134}"/>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A038E46F-6542-8F48-8D1E-77199F5A3A3A}"/>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ABC9D15F-1D25-9E4E-B017-768D600F683C}"/>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B0236B60-1C06-F348-8743-A7C0E65DF510}"/>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E1C17EF2-C7D9-9344-BDB1-DDA24E4F190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CCA3B6EB-815A-334B-8E70-FB8652A02710}"/>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27A18704-879D-8744-9C0D-F54620CCA762}"/>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F5E330D9-FE00-A242-BEC0-C973C41E8D0B}"/>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A2D8D6AA-29B1-A049-A99F-0AA28E5F7D7A}"/>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49A31F80-755A-1941-8AA3-AAAA2F4557B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C7694B31-931B-F648-8678-62120664A596}"/>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CBC5FEF1-7BF4-A748-BB3A-66A641499B4E}"/>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93802D51-B7EE-2847-9135-A91396ADE95E}"/>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0B104E08-0240-0A4C-8DC6-02A087EB8856}"/>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576B74ED-9E8B-1F46-9FE9-A8B1E73E4571}"/>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030EBA72-A689-6944-90E7-3CCAAB129BDE}"/>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8621F305-98E4-E64E-9F5B-71DA3F4C5C35}"/>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B04C2562-36C8-8645-A4B2-E7406D4114B4}"/>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51" name="Subtitle or Presenter">
            <a:extLst>
              <a:ext uri="{FF2B5EF4-FFF2-40B4-BE49-F238E27FC236}">
                <a16:creationId xmlns:a16="http://schemas.microsoft.com/office/drawing/2014/main" id="{789D8E62-33B3-2045-8FEF-D6793724C3D6}"/>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52" name="Date">
            <a:extLst>
              <a:ext uri="{FF2B5EF4-FFF2-40B4-BE49-F238E27FC236}">
                <a16:creationId xmlns:a16="http://schemas.microsoft.com/office/drawing/2014/main" id="{95F79650-8182-B543-B527-F522E2826479}"/>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53" name="Text Placeholder 2">
            <a:extLst>
              <a:ext uri="{FF2B5EF4-FFF2-40B4-BE49-F238E27FC236}">
                <a16:creationId xmlns:a16="http://schemas.microsoft.com/office/drawing/2014/main" id="{0339F107-8E86-5543-A4D9-13E4466695F4}"/>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spTree>
    <p:extLst>
      <p:ext uri="{BB962C8B-B14F-4D97-AF65-F5344CB8AC3E}">
        <p14:creationId xmlns:p14="http://schemas.microsoft.com/office/powerpoint/2010/main" val="1466983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746CECC4-0A48-724D-9DE8-9BE917B1CCF3}"/>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19422B8E-4042-CB44-9F86-7E9AD2FC0571}"/>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4EEF6F4E-A015-DF4B-940D-0C781730157B}"/>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33E57ED8-1DDF-334D-BC51-56C7A35A5D58}"/>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A2091A0A-1651-184C-B7E6-735099B4FAB3}"/>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B305946B-C562-4B4E-9AC0-91E41860A4F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FB9DAA7A-7179-D14A-AE50-DEF5D04F4FA9}"/>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BC13DBEE-C770-7041-AFA2-0C237AE02B77}"/>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25F55F6D-AE97-BC48-8FF0-AD9F705F70D3}"/>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98642F33-A329-514A-A85F-671C5B468823}"/>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6D7E342B-147E-9F46-B8ED-31FC0595270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BC4714C2-C589-7440-8B2D-CDE7ECF95AB1}"/>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756C9AE0-AC13-5044-BB09-DE4242EA4E39}"/>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DE12E4C2-A267-0F4B-96D4-B4D8191D7249}"/>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F5F7AF99-A6E7-8E44-B8C3-C6EA336293D4}"/>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BA6B4724-173F-A148-A58A-7BD739179432}"/>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73690B43-7688-2046-B603-45F20CD5DA0C}"/>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A01F9FB1-2BA6-E94F-BB12-01CB2F12C7BC}"/>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FCA2CDB4-E17C-E649-820E-BCA39DB9E25F}"/>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51" name="Subtitle or Presenter">
            <a:extLst>
              <a:ext uri="{FF2B5EF4-FFF2-40B4-BE49-F238E27FC236}">
                <a16:creationId xmlns:a16="http://schemas.microsoft.com/office/drawing/2014/main" id="{F57DE6AE-F7B2-2647-BC16-ADFAC4A6A310}"/>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52" name="Date">
            <a:extLst>
              <a:ext uri="{FF2B5EF4-FFF2-40B4-BE49-F238E27FC236}">
                <a16:creationId xmlns:a16="http://schemas.microsoft.com/office/drawing/2014/main" id="{10EE96C6-ECE4-6B40-BA70-0D1A7DC61388}"/>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53" name="Text Placeholder 2">
            <a:extLst>
              <a:ext uri="{FF2B5EF4-FFF2-40B4-BE49-F238E27FC236}">
                <a16:creationId xmlns:a16="http://schemas.microsoft.com/office/drawing/2014/main" id="{6C0B8880-10E0-6F45-8BA1-F5BBCB515580}"/>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spTree>
    <p:extLst>
      <p:ext uri="{BB962C8B-B14F-4D97-AF65-F5344CB8AC3E}">
        <p14:creationId xmlns:p14="http://schemas.microsoft.com/office/powerpoint/2010/main" val="238129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6A3F484B-733E-DD40-9856-D3480EB05B8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Nationwide logo" descr="Nationwide is on your side">
            <a:extLst>
              <a:ext uri="{FF2B5EF4-FFF2-40B4-BE49-F238E27FC236}">
                <a16:creationId xmlns:a16="http://schemas.microsoft.com/office/drawing/2014/main" id="{958F4D21-EEDA-41F1-870B-3790AF38A4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800" y="2369017"/>
            <a:ext cx="2138400" cy="2334271"/>
          </a:xfrm>
          <a:prstGeom prst="rect">
            <a:avLst/>
          </a:prstGeom>
        </p:spPr>
      </p:pic>
    </p:spTree>
    <p:extLst>
      <p:ext uri="{BB962C8B-B14F-4D97-AF65-F5344CB8AC3E}">
        <p14:creationId xmlns:p14="http://schemas.microsoft.com/office/powerpoint/2010/main" val="394986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
            <a:extLst>
              <a:ext uri="{FF2B5EF4-FFF2-40B4-BE49-F238E27FC236}">
                <a16:creationId xmlns:a16="http://schemas.microsoft.com/office/drawing/2014/main" id="{136940F4-4C25-4D67-9351-D7D2C1C1BDA3}"/>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9" name="Text Placeholder 1">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4" name="Text Placeholder 2">
            <a:extLst>
              <a:ext uri="{FF2B5EF4-FFF2-40B4-BE49-F238E27FC236}">
                <a16:creationId xmlns:a16="http://schemas.microsoft.com/office/drawing/2014/main" id="{C137E720-7C19-45D8-93AC-F3C347EBF28C}"/>
              </a:ext>
            </a:extLst>
          </p:cNvPr>
          <p:cNvSpPr>
            <a:spLocks noGrp="1"/>
          </p:cNvSpPr>
          <p:nvPr>
            <p:ph type="body" sz="quarter" idx="14"/>
          </p:nvPr>
        </p:nvSpPr>
        <p:spPr>
          <a:xfrm>
            <a:off x="4374584" y="1595120"/>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5" name="Text Placeholder 3">
            <a:extLst>
              <a:ext uri="{FF2B5EF4-FFF2-40B4-BE49-F238E27FC236}">
                <a16:creationId xmlns:a16="http://schemas.microsoft.com/office/drawing/2014/main" id="{AAE46DAB-D2A9-4816-A4C7-0D70ED515CDD}"/>
              </a:ext>
            </a:extLst>
          </p:cNvPr>
          <p:cNvSpPr>
            <a:spLocks noGrp="1"/>
          </p:cNvSpPr>
          <p:nvPr>
            <p:ph type="body" sz="quarter" idx="15"/>
          </p:nvPr>
        </p:nvSpPr>
        <p:spPr>
          <a:xfrm>
            <a:off x="8244342"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3" name="Footnotes Placeholder">
            <a:extLst>
              <a:ext uri="{FF2B5EF4-FFF2-40B4-BE49-F238E27FC236}">
                <a16:creationId xmlns:a16="http://schemas.microsoft.com/office/drawing/2014/main" id="{0EDDB71E-0C28-EF43-91D0-41503962A117}"/>
              </a:ext>
            </a:extLst>
          </p:cNvPr>
          <p:cNvSpPr>
            <a:spLocks noGrp="1"/>
          </p:cNvSpPr>
          <p:nvPr>
            <p:ph type="body" sz="quarter" idx="19" hasCustomPrompt="1"/>
          </p:nvPr>
        </p:nvSpPr>
        <p:spPr>
          <a:xfrm>
            <a:off x="503238" y="6073775"/>
            <a:ext cx="11183937" cy="371475"/>
          </a:xfrm>
        </p:spPr>
        <p:txBody>
          <a:bodyPr/>
          <a:lstStyle>
            <a:lvl1pPr>
              <a:spcAft>
                <a:spcPts val="0"/>
              </a:spcAft>
              <a:defRPr sz="800"/>
            </a:lvl1pPr>
          </a:lstStyle>
          <a:p>
            <a:pPr lvl="0"/>
            <a:r>
              <a:rPr lang="en-US" sz="800"/>
              <a:t> * Tied directly to information on page</a:t>
            </a:r>
            <a:br>
              <a:rPr lang="en-US" sz="800"/>
            </a:br>
            <a:r>
              <a:rPr lang="en-US" sz="800"/>
              <a:t>** Tied directly to information on page</a:t>
            </a:r>
            <a:br>
              <a:rPr lang="en-US" sz="800"/>
            </a:br>
            <a:r>
              <a:rPr lang="en-US" sz="800"/>
              <a:t>Source: Source information goes here</a:t>
            </a:r>
          </a:p>
        </p:txBody>
      </p:sp>
      <p:sp>
        <p:nvSpPr>
          <p:cNvPr id="10" name="Date Placeholder ">
            <a:extLst>
              <a:ext uri="{FF2B5EF4-FFF2-40B4-BE49-F238E27FC236}">
                <a16:creationId xmlns:a16="http://schemas.microsoft.com/office/drawing/2014/main" id="{A2836D8F-646B-402F-9B80-2A2AE690B7C1}"/>
              </a:ext>
            </a:extLst>
          </p:cNvPr>
          <p:cNvSpPr>
            <a:spLocks noGrp="1"/>
          </p:cNvSpPr>
          <p:nvPr>
            <p:ph type="dt" sz="half" idx="16"/>
          </p:nvPr>
        </p:nvSpPr>
        <p:spPr/>
        <p:txBody>
          <a:bodyPr/>
          <a:lstStyle/>
          <a:p>
            <a:pPr algn="l"/>
            <a:r>
              <a:rPr lang="en-US"/>
              <a:t>6/14/21</a:t>
            </a:r>
            <a:endParaRPr lang="en-GB"/>
          </a:p>
        </p:txBody>
      </p:sp>
      <p:sp>
        <p:nvSpPr>
          <p:cNvPr id="16" name="Footer Placeholder ">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r>
              <a:rPr lang="en-GB"/>
              <a:t>To create or edit a header or footer, go to Insert &gt; Header &amp; Footer</a:t>
            </a:r>
          </a:p>
        </p:txBody>
      </p:sp>
      <p:sp>
        <p:nvSpPr>
          <p:cNvPr id="17" name="Slide Number Placeholder ">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2626658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5" y="1595121"/>
            <a:ext cx="11182350" cy="43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notes Placeholder ">
            <a:extLst>
              <a:ext uri="{FF2B5EF4-FFF2-40B4-BE49-F238E27FC236}">
                <a16:creationId xmlns:a16="http://schemas.microsoft.com/office/drawing/2014/main" id="{AF40312D-E56F-914A-9CC0-AC4F5923B2CB}"/>
              </a:ext>
            </a:extLst>
          </p:cNvPr>
          <p:cNvSpPr>
            <a:spLocks noGrp="1"/>
          </p:cNvSpPr>
          <p:nvPr>
            <p:ph type="body" sz="quarter" idx="13" hasCustomPrompt="1"/>
          </p:nvPr>
        </p:nvSpPr>
        <p:spPr>
          <a:xfrm>
            <a:off x="504000" y="6055361"/>
            <a:ext cx="11183175" cy="381107"/>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7" name="Date Placeholder ">
            <a:extLst>
              <a:ext uri="{FF2B5EF4-FFF2-40B4-BE49-F238E27FC236}">
                <a16:creationId xmlns:a16="http://schemas.microsoft.com/office/drawing/2014/main" id="{9434DF19-C9BA-D048-9E40-3B3C63627094}"/>
              </a:ext>
            </a:extLst>
          </p:cNvPr>
          <p:cNvSpPr>
            <a:spLocks noGrp="1"/>
          </p:cNvSpPr>
          <p:nvPr>
            <p:ph type="dt" sz="half" idx="10"/>
          </p:nvPr>
        </p:nvSpPr>
        <p:spPr/>
        <p:txBody>
          <a:bodyPr/>
          <a:lstStyle/>
          <a:p>
            <a:pPr algn="l"/>
            <a:r>
              <a:rPr lang="en-US"/>
              <a:t>6/14/21</a:t>
            </a:r>
            <a:endParaRPr lang="en-GB"/>
          </a:p>
        </p:txBody>
      </p:sp>
      <p:sp>
        <p:nvSpPr>
          <p:cNvPr id="8" name="Footer Placeholder ">
            <a:extLst>
              <a:ext uri="{FF2B5EF4-FFF2-40B4-BE49-F238E27FC236}">
                <a16:creationId xmlns:a16="http://schemas.microsoft.com/office/drawing/2014/main" id="{CCADF828-A606-B144-B40B-41CC623EF845}"/>
              </a:ext>
            </a:extLst>
          </p:cNvPr>
          <p:cNvSpPr>
            <a:spLocks noGrp="1"/>
          </p:cNvSpPr>
          <p:nvPr>
            <p:ph type="ftr" sz="quarter" idx="11"/>
          </p:nvPr>
        </p:nvSpPr>
        <p:spPr/>
        <p:txBody>
          <a:bodyPr/>
          <a:lstStyle/>
          <a:p>
            <a:r>
              <a:rPr lang="en-GB"/>
              <a:t>To create or edit a header or footer, go to Insert &gt; Header &amp; Footer</a:t>
            </a:r>
          </a:p>
        </p:txBody>
      </p:sp>
      <p:sp>
        <p:nvSpPr>
          <p:cNvPr id="9" name="Slide Number Placeholder ">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990185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Blocks of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6275388"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notes Placeholder">
            <a:extLst>
              <a:ext uri="{FF2B5EF4-FFF2-40B4-BE49-F238E27FC236}">
                <a16:creationId xmlns:a16="http://schemas.microsoft.com/office/drawing/2014/main" id="{B8E57C51-F7D5-CC49-A6F0-37AE2CCB95B8}"/>
              </a:ext>
            </a:extLst>
          </p:cNvPr>
          <p:cNvSpPr>
            <a:spLocks noGrp="1"/>
          </p:cNvSpPr>
          <p:nvPr>
            <p:ph type="body" sz="quarter" idx="13" hasCustomPrompt="1"/>
          </p:nvPr>
        </p:nvSpPr>
        <p:spPr>
          <a:xfrm>
            <a:off x="503238" y="6065838"/>
            <a:ext cx="11182350" cy="358111"/>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8" name="Date Placeholder ">
            <a:extLst>
              <a:ext uri="{FF2B5EF4-FFF2-40B4-BE49-F238E27FC236}">
                <a16:creationId xmlns:a16="http://schemas.microsoft.com/office/drawing/2014/main" id="{2DBAA558-0E78-C349-9E01-07AEEEEBFDB4}"/>
              </a:ext>
            </a:extLst>
          </p:cNvPr>
          <p:cNvSpPr>
            <a:spLocks noGrp="1"/>
          </p:cNvSpPr>
          <p:nvPr>
            <p:ph type="dt" sz="half" idx="10"/>
          </p:nvPr>
        </p:nvSpPr>
        <p:spPr/>
        <p:txBody>
          <a:bodyPr/>
          <a:lstStyle/>
          <a:p>
            <a:pPr algn="l"/>
            <a:r>
              <a:rPr lang="en-US"/>
              <a:t>6/14/21</a:t>
            </a:r>
            <a:endParaRPr lang="en-GB"/>
          </a:p>
        </p:txBody>
      </p:sp>
      <p:sp>
        <p:nvSpPr>
          <p:cNvPr id="9" name="Footer Placeholder ">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r>
              <a:rPr lang="en-GB"/>
              <a:t>To create or edit a header or footer, go to Insert &gt; Header &amp; Footer</a:t>
            </a:r>
          </a:p>
        </p:txBody>
      </p:sp>
      <p:sp>
        <p:nvSpPr>
          <p:cNvPr id="10" name="Slide Number Placeholder ">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69115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Blocks of Content and Subheadin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hasCustomPrompt="1"/>
          </p:nvPr>
        </p:nvSpPr>
        <p:spPr>
          <a:xfrm>
            <a:off x="504000" y="550798"/>
            <a:ext cx="11183175" cy="932562"/>
          </a:xfrm>
        </p:spPr>
        <p:txBody>
          <a:bodyPr/>
          <a:lstStyle/>
          <a:p>
            <a:r>
              <a:rPr lang="en-GB"/>
              <a:t>Click to </a:t>
            </a:r>
            <a:br>
              <a:rPr lang="en-GB"/>
            </a:br>
            <a:r>
              <a:rPr lang="en-GB"/>
              <a:t>edit Master title style</a:t>
            </a:r>
          </a:p>
        </p:txBody>
      </p:sp>
      <p:sp>
        <p:nvSpPr>
          <p:cNvPr id="10" name="Subtitle">
            <a:extLst>
              <a:ext uri="{FF2B5EF4-FFF2-40B4-BE49-F238E27FC236}">
                <a16:creationId xmlns:a16="http://schemas.microsoft.com/office/drawing/2014/main" id="{6C76187D-BF9E-C24D-AE49-F93C909EFA87}"/>
              </a:ext>
            </a:extLst>
          </p:cNvPr>
          <p:cNvSpPr>
            <a:spLocks noGrp="1"/>
          </p:cNvSpPr>
          <p:nvPr>
            <p:ph type="body" sz="quarter" idx="14"/>
          </p:nvPr>
        </p:nvSpPr>
        <p:spPr>
          <a:xfrm>
            <a:off x="504826" y="1595121"/>
            <a:ext cx="11182350" cy="457200"/>
          </a:xfrm>
        </p:spPr>
        <p:txBody>
          <a:bodyPr/>
          <a:lstStyle>
            <a:lvl1pPr>
              <a:defRPr sz="1700" b="1" i="0">
                <a:latin typeface="+mn-lt"/>
                <a:cs typeface="Gotham-Medium" pitchFamily="2" charset="0"/>
              </a:defRPr>
            </a:lvl1pPr>
            <a:lvl2pPr>
              <a:defRPr sz="1500"/>
            </a:lvl2pPr>
            <a:lvl3pPr>
              <a:defRPr sz="1500"/>
            </a:lvl3pPr>
            <a:lvl4pPr>
              <a:defRPr sz="1500"/>
            </a:lvl4pPr>
            <a:lvl5pPr>
              <a:defRPr sz="1500"/>
            </a:lvl5pPr>
          </a:lstStyle>
          <a:p>
            <a:pPr lvl="0"/>
            <a:r>
              <a:rPr lang="en-US"/>
              <a:t>Click to edit Master text styles</a:t>
            </a:r>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44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2"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notes Placeholder ">
            <a:extLst>
              <a:ext uri="{FF2B5EF4-FFF2-40B4-BE49-F238E27FC236}">
                <a16:creationId xmlns:a16="http://schemas.microsoft.com/office/drawing/2014/main" id="{6A107447-0C54-2D43-A0FB-6E3797B1D8B1}"/>
              </a:ext>
            </a:extLst>
          </p:cNvPr>
          <p:cNvSpPr>
            <a:spLocks noGrp="1"/>
          </p:cNvSpPr>
          <p:nvPr>
            <p:ph type="body" sz="quarter" idx="18" hasCustomPrompt="1"/>
          </p:nvPr>
        </p:nvSpPr>
        <p:spPr>
          <a:xfrm>
            <a:off x="503238" y="6065134"/>
            <a:ext cx="11183937" cy="381704"/>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1" name="Date Placeholder ">
            <a:extLst>
              <a:ext uri="{FF2B5EF4-FFF2-40B4-BE49-F238E27FC236}">
                <a16:creationId xmlns:a16="http://schemas.microsoft.com/office/drawing/2014/main" id="{78CADE54-A192-C146-97A9-D92CB40BA643}"/>
              </a:ext>
            </a:extLst>
          </p:cNvPr>
          <p:cNvSpPr>
            <a:spLocks noGrp="1"/>
          </p:cNvSpPr>
          <p:nvPr>
            <p:ph type="dt" sz="half" idx="15"/>
          </p:nvPr>
        </p:nvSpPr>
        <p:spPr/>
        <p:txBody>
          <a:bodyPr/>
          <a:lstStyle/>
          <a:p>
            <a:pPr algn="l"/>
            <a:r>
              <a:rPr lang="en-US"/>
              <a:t>6/14/21</a:t>
            </a:r>
            <a:endParaRPr lang="en-GB"/>
          </a:p>
        </p:txBody>
      </p:sp>
      <p:sp>
        <p:nvSpPr>
          <p:cNvPr id="12" name="Footer Placeholder ">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r>
              <a:rPr lang="en-GB"/>
              <a:t>To create or edit a header or footer, go to Insert &gt; Header &amp; Footer</a:t>
            </a:r>
          </a:p>
        </p:txBody>
      </p:sp>
      <p:sp>
        <p:nvSpPr>
          <p:cNvPr id="13" name="Slide Number Placeholder ">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018340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7307"/>
            <a:ext cx="4140000" cy="435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599532"/>
            <a:ext cx="6609600" cy="4349856"/>
          </a:xfrm>
          <a:solidFill>
            <a:schemeClr val="bg1">
              <a:lumMod val="85000"/>
            </a:schemeClr>
          </a:solidFill>
        </p:spPr>
        <p:txBody>
          <a:bodyPr/>
          <a:lstStyle/>
          <a:p>
            <a:r>
              <a:rPr lang="en-US"/>
              <a:t>Click icon to add picture</a:t>
            </a:r>
            <a:endParaRPr lang="en-GB"/>
          </a:p>
        </p:txBody>
      </p:sp>
      <p:sp>
        <p:nvSpPr>
          <p:cNvPr id="5" name="Footnotes Placeholder ">
            <a:extLst>
              <a:ext uri="{FF2B5EF4-FFF2-40B4-BE49-F238E27FC236}">
                <a16:creationId xmlns:a16="http://schemas.microsoft.com/office/drawing/2014/main" id="{DD958A66-9BD1-0543-9A79-17815FB38C1E}"/>
              </a:ext>
            </a:extLst>
          </p:cNvPr>
          <p:cNvSpPr>
            <a:spLocks noGrp="1"/>
          </p:cNvSpPr>
          <p:nvPr>
            <p:ph type="body" sz="quarter" idx="17" hasCustomPrompt="1"/>
          </p:nvPr>
        </p:nvSpPr>
        <p:spPr>
          <a:xfrm>
            <a:off x="503238" y="6065838"/>
            <a:ext cx="11183937"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8" name="Date Placeholder ">
            <a:extLst>
              <a:ext uri="{FF2B5EF4-FFF2-40B4-BE49-F238E27FC236}">
                <a16:creationId xmlns:a16="http://schemas.microsoft.com/office/drawing/2014/main" id="{2D6CA709-9FB5-6845-95C1-FC8B4536BEEC}"/>
              </a:ext>
            </a:extLst>
          </p:cNvPr>
          <p:cNvSpPr>
            <a:spLocks noGrp="1"/>
          </p:cNvSpPr>
          <p:nvPr>
            <p:ph type="dt" sz="half" idx="14"/>
          </p:nvPr>
        </p:nvSpPr>
        <p:spPr/>
        <p:txBody>
          <a:bodyPr/>
          <a:lstStyle/>
          <a:p>
            <a:pPr algn="l"/>
            <a:r>
              <a:rPr lang="en-US"/>
              <a:t>6/14/21</a:t>
            </a:r>
            <a:endParaRPr lang="en-GB"/>
          </a:p>
        </p:txBody>
      </p:sp>
      <p:sp>
        <p:nvSpPr>
          <p:cNvPr id="9" name="Footer Placeholder ">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r>
              <a:rPr lang="en-GB"/>
              <a:t>To create or edit a header or footer, go to Insert &gt; Header &amp; Footer</a:t>
            </a:r>
          </a:p>
        </p:txBody>
      </p:sp>
      <p:sp>
        <p:nvSpPr>
          <p:cNvPr id="10" name="Slide Number Placeholder ">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934470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8537"/>
            <a:ext cx="414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600562"/>
            <a:ext cx="3240000" cy="2124000"/>
          </a:xfrm>
          <a:solidFill>
            <a:schemeClr val="bg1">
              <a:lumMod val="85000"/>
            </a:schemeClr>
          </a:solidFill>
        </p:spPr>
        <p:txBody>
          <a:bodyPr/>
          <a:lstStyle/>
          <a:p>
            <a:r>
              <a:rPr lang="en-US"/>
              <a:t>Click icon to add picture</a:t>
            </a:r>
            <a:endParaRPr lang="en-GB"/>
          </a:p>
        </p:txBody>
      </p:sp>
      <p:sp>
        <p:nvSpPr>
          <p:cNvPr id="8" name="Picture Placeholder 2">
            <a:extLst>
              <a:ext uri="{FF2B5EF4-FFF2-40B4-BE49-F238E27FC236}">
                <a16:creationId xmlns:a16="http://schemas.microsoft.com/office/drawing/2014/main" id="{6D7E614C-60AC-6F42-A716-A5BA95111F5C}"/>
              </a:ext>
            </a:extLst>
          </p:cNvPr>
          <p:cNvSpPr>
            <a:spLocks noGrp="1"/>
          </p:cNvSpPr>
          <p:nvPr>
            <p:ph type="pic" sz="quarter" idx="14"/>
          </p:nvPr>
        </p:nvSpPr>
        <p:spPr>
          <a:xfrm>
            <a:off x="8439322" y="1600562"/>
            <a:ext cx="3240000" cy="2124000"/>
          </a:xfrm>
          <a:solidFill>
            <a:schemeClr val="bg1">
              <a:lumMod val="85000"/>
            </a:schemeClr>
          </a:solidFill>
        </p:spPr>
        <p:txBody>
          <a:bodyPr/>
          <a:lstStyle/>
          <a:p>
            <a:r>
              <a:rPr lang="en-US"/>
              <a:t>Click icon to add picture</a:t>
            </a:r>
            <a:endParaRPr lang="en-GB"/>
          </a:p>
        </p:txBody>
      </p:sp>
      <p:sp>
        <p:nvSpPr>
          <p:cNvPr id="9" name="Picture Placeholder 3">
            <a:extLst>
              <a:ext uri="{FF2B5EF4-FFF2-40B4-BE49-F238E27FC236}">
                <a16:creationId xmlns:a16="http://schemas.microsoft.com/office/drawing/2014/main" id="{81CF12D5-ACD0-964B-8F86-2EC87E6AD044}"/>
              </a:ext>
            </a:extLst>
          </p:cNvPr>
          <p:cNvSpPr>
            <a:spLocks noGrp="1"/>
          </p:cNvSpPr>
          <p:nvPr>
            <p:ph type="pic" sz="quarter" idx="15"/>
          </p:nvPr>
        </p:nvSpPr>
        <p:spPr>
          <a:xfrm>
            <a:off x="5077575" y="3829486"/>
            <a:ext cx="3240000" cy="2124000"/>
          </a:xfrm>
          <a:solidFill>
            <a:schemeClr val="bg1">
              <a:lumMod val="85000"/>
            </a:schemeClr>
          </a:solidFill>
        </p:spPr>
        <p:txBody>
          <a:bodyPr/>
          <a:lstStyle/>
          <a:p>
            <a:r>
              <a:rPr lang="en-US"/>
              <a:t>Click icon to add picture</a:t>
            </a:r>
            <a:endParaRPr lang="en-GB"/>
          </a:p>
        </p:txBody>
      </p:sp>
      <p:sp>
        <p:nvSpPr>
          <p:cNvPr id="10" name="Picture Placeholder 4">
            <a:extLst>
              <a:ext uri="{FF2B5EF4-FFF2-40B4-BE49-F238E27FC236}">
                <a16:creationId xmlns:a16="http://schemas.microsoft.com/office/drawing/2014/main" id="{58187A2F-D967-034D-8415-3B08E9F0D4D5}"/>
              </a:ext>
            </a:extLst>
          </p:cNvPr>
          <p:cNvSpPr>
            <a:spLocks noGrp="1"/>
          </p:cNvSpPr>
          <p:nvPr>
            <p:ph type="pic" sz="quarter" idx="16"/>
          </p:nvPr>
        </p:nvSpPr>
        <p:spPr>
          <a:xfrm>
            <a:off x="8439322" y="3829486"/>
            <a:ext cx="3240000" cy="2124000"/>
          </a:xfrm>
          <a:solidFill>
            <a:schemeClr val="bg1">
              <a:lumMod val="85000"/>
            </a:schemeClr>
          </a:solidFill>
        </p:spPr>
        <p:txBody>
          <a:bodyPr/>
          <a:lstStyle/>
          <a:p>
            <a:r>
              <a:rPr lang="en-US"/>
              <a:t>Click icon to add picture</a:t>
            </a:r>
            <a:endParaRPr lang="en-GB"/>
          </a:p>
        </p:txBody>
      </p:sp>
      <p:sp>
        <p:nvSpPr>
          <p:cNvPr id="5" name="Footnotes Placeholder ">
            <a:extLst>
              <a:ext uri="{FF2B5EF4-FFF2-40B4-BE49-F238E27FC236}">
                <a16:creationId xmlns:a16="http://schemas.microsoft.com/office/drawing/2014/main" id="{638510F2-A410-4248-9971-F02E7C4DD885}"/>
              </a:ext>
            </a:extLst>
          </p:cNvPr>
          <p:cNvSpPr>
            <a:spLocks noGrp="1"/>
          </p:cNvSpPr>
          <p:nvPr>
            <p:ph type="body" sz="quarter" idx="20" hasCustomPrompt="1"/>
          </p:nvPr>
        </p:nvSpPr>
        <p:spPr>
          <a:xfrm>
            <a:off x="503238" y="6065838"/>
            <a:ext cx="11183937" cy="404812"/>
          </a:xfrm>
        </p:spPr>
        <p:txBody>
          <a:bodyPr/>
          <a:lstStyle>
            <a:lvl1pPr marL="0">
              <a:spcAft>
                <a:spcPts val="0"/>
              </a:spcAft>
              <a:defRPr sz="800"/>
            </a:lvl1pPr>
            <a:lvl2pPr marL="0">
              <a:defRPr sz="800"/>
            </a:lvl2pPr>
            <a:lvl3pPr marL="0">
              <a:defRPr sz="800"/>
            </a:lvl3pPr>
            <a:lvl4pPr marL="0">
              <a:defRPr sz="800"/>
            </a:lvl4pPr>
            <a:lvl5pPr marL="0">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1" name="Date Placeholder ">
            <a:extLst>
              <a:ext uri="{FF2B5EF4-FFF2-40B4-BE49-F238E27FC236}">
                <a16:creationId xmlns:a16="http://schemas.microsoft.com/office/drawing/2014/main" id="{F77ECADA-054B-264C-AE18-329A92B8B773}"/>
              </a:ext>
            </a:extLst>
          </p:cNvPr>
          <p:cNvSpPr>
            <a:spLocks noGrp="1"/>
          </p:cNvSpPr>
          <p:nvPr>
            <p:ph type="dt" sz="half" idx="17"/>
          </p:nvPr>
        </p:nvSpPr>
        <p:spPr/>
        <p:txBody>
          <a:bodyPr/>
          <a:lstStyle/>
          <a:p>
            <a:pPr algn="l"/>
            <a:r>
              <a:rPr lang="en-US"/>
              <a:t>6/14/21</a:t>
            </a:r>
            <a:endParaRPr lang="en-GB"/>
          </a:p>
        </p:txBody>
      </p:sp>
      <p:sp>
        <p:nvSpPr>
          <p:cNvPr id="12" name="Footer Placeholder ">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r>
              <a:rPr lang="en-GB"/>
              <a:t>To create or edit a header or footer, go to Insert &gt; Header &amp; Footer</a:t>
            </a:r>
          </a:p>
        </p:txBody>
      </p:sp>
      <p:sp>
        <p:nvSpPr>
          <p:cNvPr id="13" name="Slide Number Placeholder ">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285421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Images and Capti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4000" y="1630103"/>
            <a:ext cx="3301200" cy="2548800"/>
          </a:xfrm>
          <a:solidFill>
            <a:schemeClr val="bg1">
              <a:lumMod val="85000"/>
            </a:schemeClr>
          </a:solidFill>
        </p:spPr>
        <p:txBody>
          <a:bodyPr/>
          <a:lstStyle/>
          <a:p>
            <a:r>
              <a:rPr lang="en-US"/>
              <a:t>Click icon to add picture</a:t>
            </a:r>
            <a:endParaRPr lang="en-GB"/>
          </a:p>
        </p:txBody>
      </p:sp>
      <p:sp>
        <p:nvSpPr>
          <p:cNvPr id="21" name="Content Placeholder 1">
            <a:extLst>
              <a:ext uri="{FF2B5EF4-FFF2-40B4-BE49-F238E27FC236}">
                <a16:creationId xmlns:a16="http://schemas.microsoft.com/office/drawing/2014/main" id="{AF30AE00-BBC7-4641-A388-21B7636095A6}"/>
              </a:ext>
            </a:extLst>
          </p:cNvPr>
          <p:cNvSpPr>
            <a:spLocks noGrp="1"/>
          </p:cNvSpPr>
          <p:nvPr>
            <p:ph idx="1"/>
          </p:nvPr>
        </p:nvSpPr>
        <p:spPr>
          <a:xfrm>
            <a:off x="504825" y="4462005"/>
            <a:ext cx="3309053" cy="150892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Picture Placeholder 2">
            <a:extLst>
              <a:ext uri="{FF2B5EF4-FFF2-40B4-BE49-F238E27FC236}">
                <a16:creationId xmlns:a16="http://schemas.microsoft.com/office/drawing/2014/main" id="{7A529A3E-FB3D-DF4A-A2F9-E775C7360C50}"/>
              </a:ext>
            </a:extLst>
          </p:cNvPr>
          <p:cNvSpPr>
            <a:spLocks noGrp="1"/>
          </p:cNvSpPr>
          <p:nvPr>
            <p:ph type="pic" sz="quarter" idx="15"/>
          </p:nvPr>
        </p:nvSpPr>
        <p:spPr>
          <a:xfrm>
            <a:off x="4445400" y="1624053"/>
            <a:ext cx="3301200" cy="2548800"/>
          </a:xfrm>
          <a:solidFill>
            <a:schemeClr val="bg1">
              <a:lumMod val="85000"/>
            </a:schemeClr>
          </a:solidFill>
        </p:spPr>
        <p:txBody>
          <a:bodyPr/>
          <a:lstStyle/>
          <a:p>
            <a:r>
              <a:rPr lang="en-US"/>
              <a:t>Click icon to add picture</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47" y="4455201"/>
            <a:ext cx="3309053" cy="151572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Picture Placeholder 3">
            <a:extLst>
              <a:ext uri="{FF2B5EF4-FFF2-40B4-BE49-F238E27FC236}">
                <a16:creationId xmlns:a16="http://schemas.microsoft.com/office/drawing/2014/main" id="{E8E75C81-FAFA-444F-AFA7-F038111B6D4C}"/>
              </a:ext>
            </a:extLst>
          </p:cNvPr>
          <p:cNvSpPr>
            <a:spLocks noGrp="1"/>
          </p:cNvSpPr>
          <p:nvPr>
            <p:ph type="pic" sz="quarter" idx="17"/>
          </p:nvPr>
        </p:nvSpPr>
        <p:spPr>
          <a:xfrm>
            <a:off x="8378122" y="1618003"/>
            <a:ext cx="3301200" cy="2548800"/>
          </a:xfrm>
          <a:solidFill>
            <a:schemeClr val="bg1">
              <a:lumMod val="85000"/>
            </a:schemeClr>
          </a:solidFill>
        </p:spPr>
        <p:txBody>
          <a:bodyPr/>
          <a:lstStyle/>
          <a:p>
            <a:r>
              <a:rPr lang="en-US"/>
              <a:t>Click icon to add picture</a:t>
            </a:r>
            <a:endParaRPr lang="en-GB"/>
          </a:p>
        </p:txBody>
      </p:sp>
      <p:sp>
        <p:nvSpPr>
          <p:cNvPr id="23" name="Content Placeholder 3">
            <a:extLst>
              <a:ext uri="{FF2B5EF4-FFF2-40B4-BE49-F238E27FC236}">
                <a16:creationId xmlns:a16="http://schemas.microsoft.com/office/drawing/2014/main" id="{9924B702-C920-CC4C-AB9B-E5241B2248FA}"/>
              </a:ext>
            </a:extLst>
          </p:cNvPr>
          <p:cNvSpPr>
            <a:spLocks noGrp="1"/>
          </p:cNvSpPr>
          <p:nvPr>
            <p:ph idx="16"/>
          </p:nvPr>
        </p:nvSpPr>
        <p:spPr>
          <a:xfrm>
            <a:off x="8370269" y="4448397"/>
            <a:ext cx="3309053" cy="1522532"/>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notes Placeholder">
            <a:extLst>
              <a:ext uri="{FF2B5EF4-FFF2-40B4-BE49-F238E27FC236}">
                <a16:creationId xmlns:a16="http://schemas.microsoft.com/office/drawing/2014/main" id="{4B6290AF-84B3-0E45-B74E-11CAD69E8F0E}"/>
              </a:ext>
            </a:extLst>
          </p:cNvPr>
          <p:cNvSpPr>
            <a:spLocks noGrp="1"/>
          </p:cNvSpPr>
          <p:nvPr>
            <p:ph type="body" sz="quarter" idx="21" hasCustomPrompt="1"/>
          </p:nvPr>
        </p:nvSpPr>
        <p:spPr>
          <a:xfrm>
            <a:off x="503238" y="6065838"/>
            <a:ext cx="11183937" cy="4048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5" name="Date Placeholder ">
            <a:extLst>
              <a:ext uri="{FF2B5EF4-FFF2-40B4-BE49-F238E27FC236}">
                <a16:creationId xmlns:a16="http://schemas.microsoft.com/office/drawing/2014/main" id="{E46A8604-D063-734E-A923-17DCF3C818E6}"/>
              </a:ext>
            </a:extLst>
          </p:cNvPr>
          <p:cNvSpPr>
            <a:spLocks noGrp="1"/>
          </p:cNvSpPr>
          <p:nvPr>
            <p:ph type="dt" sz="half" idx="18"/>
          </p:nvPr>
        </p:nvSpPr>
        <p:spPr/>
        <p:txBody>
          <a:bodyPr/>
          <a:lstStyle/>
          <a:p>
            <a:pPr algn="l"/>
            <a:r>
              <a:rPr lang="en-US"/>
              <a:t>6/14/21</a:t>
            </a:r>
            <a:endParaRPr lang="en-GB"/>
          </a:p>
        </p:txBody>
      </p:sp>
      <p:sp>
        <p:nvSpPr>
          <p:cNvPr id="16" name="Footer Placeholder ">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r>
              <a:rPr lang="en-GB"/>
              <a:t>To create or edit a header or footer, go to Insert &gt; Header &amp; Footer</a:t>
            </a:r>
          </a:p>
        </p:txBody>
      </p:sp>
      <p:sp>
        <p:nvSpPr>
          <p:cNvPr id="17" name="Slide Number Placeholder ">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1000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F2126D46-BC5D-46ED-8980-6E82FDD288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2" name="Title ">
            <a:extLst>
              <a:ext uri="{FF2B5EF4-FFF2-40B4-BE49-F238E27FC236}">
                <a16:creationId xmlns:a16="http://schemas.microsoft.com/office/drawing/2014/main" id="{C4443FCA-9294-41A7-A9C0-27EAD67AF2F9}"/>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126129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F52CA24D-5DF8-48B0-AB39-60E2BA9FD5F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
            <a:extLst>
              <a:ext uri="{FF2B5EF4-FFF2-40B4-BE49-F238E27FC236}">
                <a16:creationId xmlns:a16="http://schemas.microsoft.com/office/drawing/2014/main" id="{7703DDDC-291A-3043-A7B8-C2944D8C2F1F}"/>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13599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A0A5400D-7B89-4AEF-AD2F-C4EC4B24DD4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
            <a:extLst>
              <a:ext uri="{FF2B5EF4-FFF2-40B4-BE49-F238E27FC236}">
                <a16:creationId xmlns:a16="http://schemas.microsoft.com/office/drawing/2014/main" id="{3CADD10B-5351-EC45-9D04-9E2F2AED4960}"/>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4877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4" name="Footnotes Placeholder">
            <a:extLst>
              <a:ext uri="{FF2B5EF4-FFF2-40B4-BE49-F238E27FC236}">
                <a16:creationId xmlns:a16="http://schemas.microsoft.com/office/drawing/2014/main" id="{FCCE450D-EA91-9A43-A0FC-465E3D334758}"/>
              </a:ext>
            </a:extLst>
          </p:cNvPr>
          <p:cNvSpPr>
            <a:spLocks noGrp="1"/>
          </p:cNvSpPr>
          <p:nvPr>
            <p:ph type="body" sz="quarter" idx="13" hasCustomPrompt="1"/>
          </p:nvPr>
        </p:nvSpPr>
        <p:spPr>
          <a:xfrm>
            <a:off x="503999" y="6065838"/>
            <a:ext cx="11183176"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6" name="Date Placeholder ">
            <a:extLst>
              <a:ext uri="{FF2B5EF4-FFF2-40B4-BE49-F238E27FC236}">
                <a16:creationId xmlns:a16="http://schemas.microsoft.com/office/drawing/2014/main" id="{BAB7DA8D-25AF-774D-BDBF-FFABEF37DF62}"/>
              </a:ext>
            </a:extLst>
          </p:cNvPr>
          <p:cNvSpPr>
            <a:spLocks noGrp="1"/>
          </p:cNvSpPr>
          <p:nvPr>
            <p:ph type="dt" sz="half" idx="10"/>
          </p:nvPr>
        </p:nvSpPr>
        <p:spPr/>
        <p:txBody>
          <a:bodyPr/>
          <a:lstStyle/>
          <a:p>
            <a:pPr algn="l"/>
            <a:r>
              <a:rPr lang="en-US"/>
              <a:t>6/14/21</a:t>
            </a:r>
            <a:endParaRPr lang="en-GB"/>
          </a:p>
        </p:txBody>
      </p:sp>
      <p:sp>
        <p:nvSpPr>
          <p:cNvPr id="7" name="Footer Placeholder ">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r>
              <a:rPr lang="en-GB"/>
              <a:t>To create or edit a header or footer, go to Insert &gt; Header &amp; Footer</a:t>
            </a:r>
          </a:p>
        </p:txBody>
      </p:sp>
      <p:sp>
        <p:nvSpPr>
          <p:cNvPr id="8" name="Slide Number Placeholder ">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894959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notes Placeholder ">
            <a:extLst>
              <a:ext uri="{FF2B5EF4-FFF2-40B4-BE49-F238E27FC236}">
                <a16:creationId xmlns:a16="http://schemas.microsoft.com/office/drawing/2014/main" id="{3FAC3B17-C3C6-2240-9EBB-956BE767199B}"/>
              </a:ext>
            </a:extLst>
          </p:cNvPr>
          <p:cNvSpPr>
            <a:spLocks noGrp="1"/>
          </p:cNvSpPr>
          <p:nvPr>
            <p:ph type="body" sz="quarter" idx="13" hasCustomPrompt="1"/>
          </p:nvPr>
        </p:nvSpPr>
        <p:spPr>
          <a:xfrm>
            <a:off x="500811" y="6065838"/>
            <a:ext cx="11085447"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5" name="Date Placeholder ">
            <a:extLst>
              <a:ext uri="{FF2B5EF4-FFF2-40B4-BE49-F238E27FC236}">
                <a16:creationId xmlns:a16="http://schemas.microsoft.com/office/drawing/2014/main" id="{60E09F45-A703-9F41-A7AC-D760BBC32423}"/>
              </a:ext>
            </a:extLst>
          </p:cNvPr>
          <p:cNvSpPr>
            <a:spLocks noGrp="1"/>
          </p:cNvSpPr>
          <p:nvPr>
            <p:ph type="dt" sz="half" idx="10"/>
          </p:nvPr>
        </p:nvSpPr>
        <p:spPr/>
        <p:txBody>
          <a:bodyPr/>
          <a:lstStyle/>
          <a:p>
            <a:pPr algn="l"/>
            <a:r>
              <a:rPr lang="en-US"/>
              <a:t>6/14/21</a:t>
            </a:r>
            <a:endParaRPr lang="en-GB"/>
          </a:p>
        </p:txBody>
      </p:sp>
      <p:sp>
        <p:nvSpPr>
          <p:cNvPr id="6" name="Footer Placeholder ">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r>
              <a:rPr lang="en-GB"/>
              <a:t>To create or edit a header or footer, go to Insert &gt; Header &amp; Footer</a:t>
            </a:r>
          </a:p>
        </p:txBody>
      </p:sp>
      <p:sp>
        <p:nvSpPr>
          <p:cNvPr id="7" name="Slide Number Placeholder ">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72219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go on White">
    <p:spTree>
      <p:nvGrpSpPr>
        <p:cNvPr id="1" name=""/>
        <p:cNvGrpSpPr/>
        <p:nvPr/>
      </p:nvGrpSpPr>
      <p:grpSpPr>
        <a:xfrm>
          <a:off x="0" y="0"/>
          <a:ext cx="0" cy="0"/>
          <a:chOff x="0" y="0"/>
          <a:chExt cx="0" cy="0"/>
        </a:xfrm>
      </p:grpSpPr>
      <p:pic>
        <p:nvPicPr>
          <p:cNvPr id="9" name="Nationwide logo" descr="Nationwide is on your side">
            <a:extLst>
              <a:ext uri="{FF2B5EF4-FFF2-40B4-BE49-F238E27FC236}">
                <a16:creationId xmlns:a16="http://schemas.microsoft.com/office/drawing/2014/main" id="{735E16E3-4132-AC44-AF78-D6413EE326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1958" y="1510145"/>
            <a:ext cx="2748084" cy="3079470"/>
          </a:xfrm>
          <a:prstGeom prst="rect">
            <a:avLst/>
          </a:prstGeom>
        </p:spPr>
      </p:pic>
      <p:sp>
        <p:nvSpPr>
          <p:cNvPr id="10" name="Disclosure">
            <a:extLst>
              <a:ext uri="{FF2B5EF4-FFF2-40B4-BE49-F238E27FC236}">
                <a16:creationId xmlns:a16="http://schemas.microsoft.com/office/drawing/2014/main" id="{99DF508A-52F7-2F45-A298-5B4B4AE865F3}"/>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a:solidFill>
                  <a:schemeClr val="tx1"/>
                </a:solidFill>
              </a:rPr>
              <a:t>Nationwide, the Nationwide N and Eagle and Nationwide is on your side are service marks of Nationwide Mutual Insurance Company. © 2021 Nationwide</a:t>
            </a:r>
          </a:p>
        </p:txBody>
      </p:sp>
    </p:spTree>
    <p:extLst>
      <p:ext uri="{BB962C8B-B14F-4D97-AF65-F5344CB8AC3E}">
        <p14:creationId xmlns:p14="http://schemas.microsoft.com/office/powerpoint/2010/main" val="3780969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on Vibrant Blue">
    <p:spTree>
      <p:nvGrpSpPr>
        <p:cNvPr id="1" name=""/>
        <p:cNvGrpSpPr/>
        <p:nvPr/>
      </p:nvGrpSpPr>
      <p:grpSpPr>
        <a:xfrm>
          <a:off x="0" y="0"/>
          <a:ext cx="0" cy="0"/>
          <a:chOff x="0" y="0"/>
          <a:chExt cx="0" cy="0"/>
        </a:xfrm>
      </p:grpSpPr>
      <p:sp>
        <p:nvSpPr>
          <p:cNvPr id="3" name="Vibrant Blue Rectangle">
            <a:extLst>
              <a:ext uri="{FF2B5EF4-FFF2-40B4-BE49-F238E27FC236}">
                <a16:creationId xmlns:a16="http://schemas.microsoft.com/office/drawing/2014/main" id="{974E5EC6-32D6-5C47-8639-E32AAB21827A}"/>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err="1">
              <a:solidFill>
                <a:schemeClr val="bg1"/>
              </a:solidFill>
            </a:endParaRPr>
          </a:p>
        </p:txBody>
      </p:sp>
      <p:pic>
        <p:nvPicPr>
          <p:cNvPr id="6" name="Nationwide logo" descr="Nationwide is on your side">
            <a:extLst>
              <a:ext uri="{FF2B5EF4-FFF2-40B4-BE49-F238E27FC236}">
                <a16:creationId xmlns:a16="http://schemas.microsoft.com/office/drawing/2014/main" id="{B7F4BB52-368D-0E44-B23C-28DF8ABEDF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4540" y="1496143"/>
            <a:ext cx="2742919" cy="3065615"/>
          </a:xfrm>
          <a:prstGeom prst="rect">
            <a:avLst/>
          </a:prstGeom>
        </p:spPr>
      </p:pic>
      <p:sp>
        <p:nvSpPr>
          <p:cNvPr id="4" name="Disclosure">
            <a:extLst>
              <a:ext uri="{FF2B5EF4-FFF2-40B4-BE49-F238E27FC236}">
                <a16:creationId xmlns:a16="http://schemas.microsoft.com/office/drawing/2014/main" id="{9D53D93B-2993-314E-A94A-47414D98DE59}"/>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a:solidFill>
                  <a:schemeClr val="bg1"/>
                </a:solidFill>
              </a:rPr>
              <a:t>Nationwide, the Nationwide N and Eagle and Nationwide is on your side are service marks of Nationwide Mutual Insurance Company. © 2022 Nationwide</a:t>
            </a:r>
          </a:p>
        </p:txBody>
      </p:sp>
    </p:spTree>
    <p:extLst>
      <p:ext uri="{BB962C8B-B14F-4D97-AF65-F5344CB8AC3E}">
        <p14:creationId xmlns:p14="http://schemas.microsoft.com/office/powerpoint/2010/main" val="350844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228600"/>
            <a:ext cx="11176000" cy="561974"/>
          </a:xfrm>
        </p:spPr>
        <p:txBody>
          <a:bodyPr bIns="0" anchor="b" anchorCtr="0">
            <a:normAutofit/>
          </a:bodyPr>
          <a:lstStyle>
            <a:lvl1pPr algn="l">
              <a:lnSpc>
                <a:spcPts val="2680"/>
              </a:lnSpc>
              <a:defRPr sz="2400" b="1" baseline="0">
                <a:solidFill>
                  <a:srgbClr val="000000"/>
                </a:solidFill>
                <a:latin typeface="Arial" pitchFamily="34" charset="0"/>
                <a:cs typeface="Arial" pitchFamily="34" charset="0"/>
              </a:defRPr>
            </a:lvl1pPr>
          </a:lstStyle>
          <a:p>
            <a:r>
              <a:rPr lang="en-US"/>
              <a:t>Headline (24 pt, Arial, Bold) </a:t>
            </a:r>
            <a:br>
              <a:rPr lang="en-US"/>
            </a:br>
            <a:r>
              <a:rPr lang="en-US"/>
              <a:t>headline can wrap if necessary</a:t>
            </a:r>
          </a:p>
        </p:txBody>
      </p:sp>
      <p:sp>
        <p:nvSpPr>
          <p:cNvPr id="3" name="Content Placeholder 2"/>
          <p:cNvSpPr>
            <a:spLocks noGrp="1"/>
          </p:cNvSpPr>
          <p:nvPr>
            <p:ph idx="1"/>
          </p:nvPr>
        </p:nvSpPr>
        <p:spPr>
          <a:xfrm>
            <a:off x="304800" y="1066800"/>
            <a:ext cx="11582400" cy="4343400"/>
          </a:xfrm>
        </p:spPr>
        <p:txBody>
          <a:bodyPr>
            <a:normAutofit/>
          </a:bodyPr>
          <a:lstStyle>
            <a:lvl1pPr>
              <a:defRPr sz="1600" baseline="0">
                <a:latin typeface="Arial" pitchFamily="34" charset="0"/>
                <a:cs typeface="Arial" pitchFamily="34" charset="0"/>
              </a:defRPr>
            </a:lvl1pPr>
            <a:lvl2pPr>
              <a:defRPr sz="1600" baseline="0">
                <a:latin typeface="Arial" pitchFamily="34" charset="0"/>
                <a:cs typeface="Arial" pitchFamily="34" charset="0"/>
              </a:defRPr>
            </a:lvl2pPr>
            <a:lvl3pPr>
              <a:defRPr sz="1600" baseline="0">
                <a:latin typeface="Arial" pitchFamily="34" charset="0"/>
                <a:cs typeface="Arial" pitchFamily="34" charset="0"/>
              </a:defRPr>
            </a:lvl3pPr>
            <a:lvl4pPr>
              <a:defRPr sz="1600" baseline="0">
                <a:latin typeface="Arial" pitchFamily="34" charset="0"/>
                <a:cs typeface="Arial" pitchFamily="34" charset="0"/>
              </a:defRPr>
            </a:lvl4pPr>
            <a:lvl5pPr>
              <a:defRPr sz="1600" baseline="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304800" y="836612"/>
            <a:ext cx="11582400" cy="1588"/>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Picture 12" descr="NandEagle-Vert-NW-3C_600.png">
            <a:extLst>
              <a:ext uri="{FF2B5EF4-FFF2-40B4-BE49-F238E27FC236}">
                <a16:creationId xmlns:a16="http://schemas.microsoft.com/office/drawing/2014/main" id="{448C193B-BEEC-454B-AEFC-4CCB8C26EDB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602880"/>
            <a:ext cx="173159" cy="173736"/>
          </a:xfrm>
          <a:prstGeom prst="rect">
            <a:avLst/>
          </a:prstGeom>
        </p:spPr>
      </p:pic>
      <p:sp>
        <p:nvSpPr>
          <p:cNvPr id="15" name="Slide Number Placeholder 5">
            <a:extLst>
              <a:ext uri="{FF2B5EF4-FFF2-40B4-BE49-F238E27FC236}">
                <a16:creationId xmlns:a16="http://schemas.microsoft.com/office/drawing/2014/main" id="{380D7736-C904-42A3-919A-029F734C5948}"/>
              </a:ext>
            </a:extLst>
          </p:cNvPr>
          <p:cNvSpPr>
            <a:spLocks noGrp="1"/>
          </p:cNvSpPr>
          <p:nvPr>
            <p:ph type="sldNum" sz="quarter" idx="12"/>
          </p:nvPr>
        </p:nvSpPr>
        <p:spPr>
          <a:xfrm>
            <a:off x="11074400" y="6598920"/>
            <a:ext cx="812800" cy="182880"/>
          </a:xfrm>
          <a:prstGeom prst="rect">
            <a:avLst/>
          </a:prstGeom>
        </p:spPr>
        <p:txBody>
          <a:bodyPr anchor="t" anchorCtr="0"/>
          <a:lstStyle>
            <a:lvl1pPr>
              <a:defRPr sz="800" b="1">
                <a:solidFill>
                  <a:schemeClr val="tx1"/>
                </a:solidFill>
                <a:latin typeface="Arial" pitchFamily="34" charset="0"/>
                <a:cs typeface="Arial" pitchFamily="34" charset="0"/>
              </a:defRPr>
            </a:lvl1pPr>
          </a:lstStyle>
          <a:p>
            <a:r>
              <a:rPr lang="en-US"/>
              <a:t>1</a:t>
            </a:r>
          </a:p>
        </p:txBody>
      </p:sp>
    </p:spTree>
    <p:extLst>
      <p:ext uri="{BB962C8B-B14F-4D97-AF65-F5344CB8AC3E}">
        <p14:creationId xmlns:p14="http://schemas.microsoft.com/office/powerpoint/2010/main" val="180683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576982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Blank with Title">
    <p:spTree>
      <p:nvGrpSpPr>
        <p:cNvPr id="1" name=""/>
        <p:cNvGrpSpPr/>
        <p:nvPr/>
      </p:nvGrpSpPr>
      <p:grpSpPr>
        <a:xfrm>
          <a:off x="0" y="0"/>
          <a:ext cx="0" cy="0"/>
          <a:chOff x="0" y="0"/>
          <a:chExt cx="0" cy="0"/>
        </a:xfrm>
      </p:grpSpPr>
      <p:sp>
        <p:nvSpPr>
          <p:cNvPr id="5" name="Title 4"/>
          <p:cNvSpPr>
            <a:spLocks noGrp="1"/>
          </p:cNvSpPr>
          <p:nvPr>
            <p:ph type="title"/>
          </p:nvPr>
        </p:nvSpPr>
        <p:spPr>
          <a:xfrm>
            <a:off x="304802" y="428276"/>
            <a:ext cx="9395791" cy="369332"/>
          </a:xfrm>
          <a:prstGeom prst="rect">
            <a:avLst/>
          </a:prstGeo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3930547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39360-9BBF-A8AF-B4A3-BBB50A611F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2DD264-5A56-760E-0E94-2CD9D794BB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61E5E5-1AAF-BED0-EB47-8DD4D82E24ED}"/>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BB27E4C6-55BE-4857-6459-725A1A880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FA6C5-EB89-87D4-31DF-5D49A97BB64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0185424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D5A3F-CCD5-C107-6B30-E2E809F808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2FCE-DB21-6B7C-F7BA-F455F0B3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68547-2423-6001-BB44-9961F28B2FB5}"/>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192EFBCF-DD46-E101-948B-B1BC46A16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7E51A-45F7-2E57-D744-11C051982CAF}"/>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529371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521D8-48DF-0C82-7F2F-09102B78D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38FE54-B525-A67A-AD50-827BC90847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E9FA0D-B4EF-4D90-17AA-B9C71F281816}"/>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43E77794-EFB6-A8D8-83B1-C28823C64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4CFD09-621B-FA19-C35E-DBDCD5D65482}"/>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4631367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B1D1-9D20-9273-CE58-84703FBF75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5E9BC9-4B1F-4284-A2CE-11C54BCD09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8C5AE0-2E69-1424-0531-970A0DCD95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2F868D-5587-D4E3-1765-70A369E6D783}"/>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6" name="Footer Placeholder 5">
            <a:extLst>
              <a:ext uri="{FF2B5EF4-FFF2-40B4-BE49-F238E27FC236}">
                <a16:creationId xmlns:a16="http://schemas.microsoft.com/office/drawing/2014/main" id="{00E013D8-B366-2FDD-148E-BB31B3FA51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CA13AE-1914-939E-50FF-F9DEA2C98BD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285890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F56F-3FA0-FA17-47C3-BBF4F2378A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D191C9-9A74-5022-18C9-032BD8DB0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766B45-3F18-1380-E04A-3167BF1FB1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3DAF49-F0B6-595A-17E0-2FAF8D058A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A414B5-79CA-F639-9312-682B847FE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F7E758-C4F8-9532-D582-C037A182C2BE}"/>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8" name="Footer Placeholder 7">
            <a:extLst>
              <a:ext uri="{FF2B5EF4-FFF2-40B4-BE49-F238E27FC236}">
                <a16:creationId xmlns:a16="http://schemas.microsoft.com/office/drawing/2014/main" id="{7A593B55-7727-BFD3-49F8-E760DC6A7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48C33A-C3D2-8F69-4684-3D90C2E46448}"/>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348387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5A6CD-2240-23C1-F99B-3A4A3EF8C5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CA8C23-D702-AA2E-E2C9-44F58C9D91AD}"/>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4" name="Footer Placeholder 3">
            <a:extLst>
              <a:ext uri="{FF2B5EF4-FFF2-40B4-BE49-F238E27FC236}">
                <a16:creationId xmlns:a16="http://schemas.microsoft.com/office/drawing/2014/main" id="{D6AAC626-A85B-0AE0-C6F8-F57F0303B2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24BE3F-719B-9287-0D0C-070647FF1B3B}"/>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9634619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2869DF-36A9-2E59-161C-D93F61D21145}"/>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3" name="Footer Placeholder 2">
            <a:extLst>
              <a:ext uri="{FF2B5EF4-FFF2-40B4-BE49-F238E27FC236}">
                <a16:creationId xmlns:a16="http://schemas.microsoft.com/office/drawing/2014/main" id="{A5D51DEE-A15D-A85E-5103-1AF80F0F8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7B08E6-55C7-500C-EDBF-7B88E6BDB0BD}"/>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643258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E8DE-CF7C-6098-F6D8-44AAA85137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8C6091-9CAA-0104-DB6A-A11373BA2F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69F0BD-EE11-CBC4-2976-1F6727EA20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2D98C-2C28-C2C7-3E6E-173E7620BE60}"/>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6" name="Footer Placeholder 5">
            <a:extLst>
              <a:ext uri="{FF2B5EF4-FFF2-40B4-BE49-F238E27FC236}">
                <a16:creationId xmlns:a16="http://schemas.microsoft.com/office/drawing/2014/main" id="{58603A90-43B8-D86F-67B5-F5BA112E8F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5BC94-E5AB-2D1C-CA9C-49A5500D6CB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037535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82B25-0B7E-95FD-5BDE-26F8E2E72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14344E-9522-074B-DCA1-018AE0A3E0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53FEA2-7975-AC60-5A87-50718167F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E1B681-842B-016B-0BE3-966A7DB78B5C}"/>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6" name="Footer Placeholder 5">
            <a:extLst>
              <a:ext uri="{FF2B5EF4-FFF2-40B4-BE49-F238E27FC236}">
                <a16:creationId xmlns:a16="http://schemas.microsoft.com/office/drawing/2014/main" id="{A1384B68-4B25-8845-229D-E1DFEC48C1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A238B-6343-A003-3DA4-DABFF50022E9}"/>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916884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8D287-32DC-257D-0B37-79345EE341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E8A1F6-8AD7-1AE6-30DE-0461786DD3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C3C29A-0A16-0CF0-933A-C09EEF350FDE}"/>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3558B0E2-CFEA-DC97-20DC-4105D6F3DE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9F184-3AE1-EEB8-3E31-4C87757A1F23}"/>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627765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137C3-E634-3526-77A8-01392291D5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11600A-504D-0432-A2EA-A784FA480B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736EF4-4A3B-2560-E687-94485E79122B}"/>
              </a:ext>
            </a:extLst>
          </p:cNvPr>
          <p:cNvSpPr>
            <a:spLocks noGrp="1"/>
          </p:cNvSpPr>
          <p:nvPr>
            <p:ph type="dt" sz="half" idx="10"/>
          </p:nvPr>
        </p:nvSpPr>
        <p:spPr/>
        <p:txBody>
          <a:body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9AB17A24-340A-03F9-C14B-3099998C5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E0F94-A820-0FFA-ECF1-84F810DF6938}"/>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759097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7689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49459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2000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1" y="2369022"/>
            <a:ext cx="2138401" cy="2334271"/>
          </a:xfrm>
          <a:prstGeom prst="rect">
            <a:avLst/>
          </a:prstGeom>
        </p:spPr>
      </p:pic>
    </p:spTree>
    <p:extLst>
      <p:ext uri="{BB962C8B-B14F-4D97-AF65-F5344CB8AC3E}">
        <p14:creationId xmlns:p14="http://schemas.microsoft.com/office/powerpoint/2010/main" val="2534975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le Slide">
    <p:bg>
      <p:bgPr>
        <a:solidFill>
          <a:schemeClr val="tx2"/>
        </a:solidFill>
        <a:effectLst/>
      </p:bgPr>
    </p:bg>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1135900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916293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le Slide 3">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566154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Cover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1" y="2369022"/>
            <a:ext cx="2138401" cy="2334271"/>
          </a:xfrm>
          <a:prstGeom prst="rect">
            <a:avLst/>
          </a:prstGeom>
        </p:spPr>
      </p:pic>
    </p:spTree>
    <p:extLst>
      <p:ext uri="{BB962C8B-B14F-4D97-AF65-F5344CB8AC3E}">
        <p14:creationId xmlns:p14="http://schemas.microsoft.com/office/powerpoint/2010/main" val="41508677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8"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4"/>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8" y="6597655"/>
            <a:ext cx="790213" cy="260349"/>
          </a:xfrm>
          <a:prstGeom prst="rect">
            <a:avLst/>
          </a:prstGeom>
        </p:spPr>
        <p:txBody>
          <a:bodyPr/>
          <a:lstStyle/>
          <a:p>
            <a:fld id="{A965E180-303A-4E15-80BE-2F286FBCA33E}" type="datetimeFigureOut">
              <a:rPr lang="en-US" smtClean="0"/>
              <a:t>10/12/2026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9850152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3"/>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7" y="6597655"/>
            <a:ext cx="790213" cy="260349"/>
          </a:xfrm>
          <a:prstGeom prst="rect">
            <a:avLst/>
          </a:prstGeom>
        </p:spPr>
        <p:txBody>
          <a:bodyPr/>
          <a:lstStyle/>
          <a:p>
            <a:fld id="{A965E180-303A-4E15-80BE-2F286FBCA33E}" type="datetimeFigureOut">
              <a:rPr lang="en-US" smtClean="0"/>
              <a:t>10/12/2026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9135423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a:extLst>
              <a:ext uri="{FF2B5EF4-FFF2-40B4-BE49-F238E27FC236}">
                <a16:creationId xmlns:a16="http://schemas.microsoft.com/office/drawing/2014/main" id="{CCADF828-A606-B144-B40B-41CC623EF845}"/>
              </a:ext>
            </a:extLst>
          </p:cNvPr>
          <p:cNvSpPr>
            <a:spLocks noGrp="1"/>
          </p:cNvSpPr>
          <p:nvPr>
            <p:ph type="ftr" sz="quarter" idx="11"/>
          </p:nvPr>
        </p:nvSpPr>
        <p:spPr>
          <a:xfrm>
            <a:off x="1004480" y="6574834"/>
            <a:ext cx="4406400" cy="260351"/>
          </a:xfrm>
        </p:spPr>
        <p:txBody>
          <a:bodyPr/>
          <a:lstStyle>
            <a:lvl1pPr>
              <a:defRPr sz="675"/>
            </a:lvl1pPr>
          </a:lstStyle>
          <a:p>
            <a:endParaRPr lang="en-US"/>
          </a:p>
        </p:txBody>
      </p:sp>
      <p:sp>
        <p:nvSpPr>
          <p:cNvPr id="9" name="Slide Number Placeholder 8">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6452902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Blocks o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4"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6275389"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2DBAA558-0E78-C349-9E01-07AEEEEBFDB4}"/>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9" name="Footer Placeholder 8">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15207251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ree Blocks of Content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hasCustomPrompt="1"/>
          </p:nvPr>
        </p:nvSpPr>
        <p:spPr/>
        <p:txBody>
          <a:bodyPr/>
          <a:lstStyle/>
          <a:p>
            <a:r>
              <a:rPr lang="en-GB"/>
              <a:t>Click to </a:t>
            </a:r>
            <a:br>
              <a:rPr lang="en-GB"/>
            </a:br>
            <a:r>
              <a:rPr lang="en-GB"/>
              <a:t>edit Master title style</a:t>
            </a:r>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1"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4404001"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5"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C76187D-BF9E-C24D-AE49-F93C909EFA87}"/>
              </a:ext>
            </a:extLst>
          </p:cNvPr>
          <p:cNvSpPr>
            <a:spLocks noGrp="1"/>
          </p:cNvSpPr>
          <p:nvPr>
            <p:ph type="body" sz="quarter" idx="14"/>
          </p:nvPr>
        </p:nvSpPr>
        <p:spPr>
          <a:xfrm>
            <a:off x="504827" y="2028826"/>
            <a:ext cx="11182350" cy="442526"/>
          </a:xfrm>
        </p:spPr>
        <p:txBody>
          <a:bodyPr/>
          <a:lstStyle>
            <a:lvl1pPr>
              <a:defRPr sz="1275" b="1" i="0">
                <a:latin typeface="+mn-lt"/>
                <a:cs typeface="Gotham-Medium" pitchFamily="2" charset="0"/>
              </a:defRPr>
            </a:lvl1pPr>
            <a:lvl2pPr>
              <a:defRPr sz="1125"/>
            </a:lvl2pPr>
            <a:lvl3pPr>
              <a:defRPr sz="1125"/>
            </a:lvl3pPr>
            <a:lvl4pPr>
              <a:defRPr sz="1125"/>
            </a:lvl4pPr>
            <a:lvl5pPr>
              <a:defRPr sz="1125"/>
            </a:lvl5pPr>
          </a:lstStyle>
          <a:p>
            <a:pPr lvl="0"/>
            <a:r>
              <a:rPr lang="en-US"/>
              <a:t>Click to edit Master text styles</a:t>
            </a:r>
          </a:p>
        </p:txBody>
      </p:sp>
      <p:sp>
        <p:nvSpPr>
          <p:cNvPr id="11" name="Date Placeholder 10">
            <a:extLst>
              <a:ext uri="{FF2B5EF4-FFF2-40B4-BE49-F238E27FC236}">
                <a16:creationId xmlns:a16="http://schemas.microsoft.com/office/drawing/2014/main" id="{78CADE54-A192-C146-97A9-D92CB40BA643}"/>
              </a:ext>
            </a:extLst>
          </p:cNvPr>
          <p:cNvSpPr>
            <a:spLocks noGrp="1"/>
          </p:cNvSpPr>
          <p:nvPr>
            <p:ph type="dt" sz="half" idx="15"/>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12" name="Footer Placeholder 11">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17754593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7"/>
            <a:ext cx="4140001" cy="4354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7" y="2028832"/>
            <a:ext cx="6609600" cy="4352924"/>
          </a:xfrm>
          <a:solidFill>
            <a:schemeClr val="bg1">
              <a:lumMod val="85000"/>
            </a:schemeClr>
          </a:solidFill>
        </p:spPr>
        <p:txBody>
          <a:bodyPr/>
          <a:lstStyle/>
          <a:p>
            <a:r>
              <a:rPr lang="en-US"/>
              <a:t>Click icon to add picture</a:t>
            </a:r>
            <a:endParaRPr lang="en-GB"/>
          </a:p>
        </p:txBody>
      </p:sp>
      <p:sp>
        <p:nvSpPr>
          <p:cNvPr id="8" name="Date Placeholder 7">
            <a:extLst>
              <a:ext uri="{FF2B5EF4-FFF2-40B4-BE49-F238E27FC236}">
                <a16:creationId xmlns:a16="http://schemas.microsoft.com/office/drawing/2014/main" id="{2D6CA709-9FB5-6845-95C1-FC8B4536BEEC}"/>
              </a:ext>
            </a:extLst>
          </p:cNvPr>
          <p:cNvSpPr>
            <a:spLocks noGrp="1"/>
          </p:cNvSpPr>
          <p:nvPr>
            <p:ph type="dt" sz="half" idx="14"/>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9" name="Footer Placeholder 8">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9784217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1"/>
            <a:ext cx="4140001"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6" y="2028826"/>
            <a:ext cx="3240000" cy="2124000"/>
          </a:xfr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6D7E614C-60AC-6F42-A716-A5BA95111F5C}"/>
              </a:ext>
            </a:extLst>
          </p:cNvPr>
          <p:cNvSpPr>
            <a:spLocks noGrp="1"/>
          </p:cNvSpPr>
          <p:nvPr>
            <p:ph type="pic" sz="quarter" idx="14"/>
          </p:nvPr>
        </p:nvSpPr>
        <p:spPr>
          <a:xfrm>
            <a:off x="8439324" y="2028826"/>
            <a:ext cx="3240000" cy="2124000"/>
          </a:xfr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81CF12D5-ACD0-964B-8F86-2EC87E6AD044}"/>
              </a:ext>
            </a:extLst>
          </p:cNvPr>
          <p:cNvSpPr>
            <a:spLocks noGrp="1"/>
          </p:cNvSpPr>
          <p:nvPr>
            <p:ph type="pic" sz="quarter" idx="15"/>
          </p:nvPr>
        </p:nvSpPr>
        <p:spPr>
          <a:xfrm>
            <a:off x="5077576" y="4257750"/>
            <a:ext cx="3240000" cy="2124000"/>
          </a:xfrm>
          <a:solidFill>
            <a:schemeClr val="bg1">
              <a:lumMod val="85000"/>
            </a:schemeClr>
          </a:solidFill>
        </p:spPr>
        <p:txBody>
          <a:bodyPr/>
          <a:lstStyle/>
          <a:p>
            <a:r>
              <a:rPr lang="en-US"/>
              <a:t>Click icon to add picture</a:t>
            </a:r>
            <a:endParaRPr lang="en-GB"/>
          </a:p>
        </p:txBody>
      </p:sp>
      <p:sp>
        <p:nvSpPr>
          <p:cNvPr id="10" name="Picture Placeholder 6">
            <a:extLst>
              <a:ext uri="{FF2B5EF4-FFF2-40B4-BE49-F238E27FC236}">
                <a16:creationId xmlns:a16="http://schemas.microsoft.com/office/drawing/2014/main" id="{58187A2F-D967-034D-8415-3B08E9F0D4D5}"/>
              </a:ext>
            </a:extLst>
          </p:cNvPr>
          <p:cNvSpPr>
            <a:spLocks noGrp="1"/>
          </p:cNvSpPr>
          <p:nvPr>
            <p:ph type="pic" sz="quarter" idx="16"/>
          </p:nvPr>
        </p:nvSpPr>
        <p:spPr>
          <a:xfrm>
            <a:off x="8439324" y="4257750"/>
            <a:ext cx="3240000" cy="2124000"/>
          </a:xfrm>
          <a:solidFill>
            <a:schemeClr val="bg1">
              <a:lumMod val="85000"/>
            </a:schemeClr>
          </a:solidFill>
        </p:spPr>
        <p:txBody>
          <a:bodyPr/>
          <a:lstStyle/>
          <a:p>
            <a:r>
              <a:rPr lang="en-US"/>
              <a:t>Click icon to add picture</a:t>
            </a:r>
            <a:endParaRPr lang="en-GB"/>
          </a:p>
        </p:txBody>
      </p:sp>
      <p:sp>
        <p:nvSpPr>
          <p:cNvPr id="11" name="Date Placeholder 10">
            <a:extLst>
              <a:ext uri="{FF2B5EF4-FFF2-40B4-BE49-F238E27FC236}">
                <a16:creationId xmlns:a16="http://schemas.microsoft.com/office/drawing/2014/main" id="{F77ECADA-054B-264C-AE18-329A92B8B773}"/>
              </a:ext>
            </a:extLst>
          </p:cNvPr>
          <p:cNvSpPr>
            <a:spLocks noGrp="1"/>
          </p:cNvSpPr>
          <p:nvPr>
            <p:ph type="dt" sz="half" idx="17"/>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12" name="Footer Placeholder 11">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endParaRPr lang="en-US"/>
          </a:p>
        </p:txBody>
      </p:sp>
      <p:sp>
        <p:nvSpPr>
          <p:cNvPr id="13" name="Slide Number Placeholder 12">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8927987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2" y="550800"/>
            <a:ext cx="11183175" cy="1187450"/>
          </a:xfrm>
        </p:spPr>
        <p:txBody>
          <a:bodyPr/>
          <a:lstStyle/>
          <a:p>
            <a:r>
              <a:rPr lang="en-US"/>
              <a:t>Click to edit Master title style</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4004" y="2040925"/>
            <a:ext cx="3301200" cy="2548800"/>
          </a:xfr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7A529A3E-FB3D-DF4A-A2F9-E775C7360C50}"/>
              </a:ext>
            </a:extLst>
          </p:cNvPr>
          <p:cNvSpPr>
            <a:spLocks noGrp="1"/>
          </p:cNvSpPr>
          <p:nvPr>
            <p:ph type="pic" sz="quarter" idx="15"/>
          </p:nvPr>
        </p:nvSpPr>
        <p:spPr>
          <a:xfrm>
            <a:off x="4445407" y="2034875"/>
            <a:ext cx="3301200" cy="2548800"/>
          </a:xfr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E8E75C81-FAFA-444F-AFA7-F038111B6D4C}"/>
              </a:ext>
            </a:extLst>
          </p:cNvPr>
          <p:cNvSpPr>
            <a:spLocks noGrp="1"/>
          </p:cNvSpPr>
          <p:nvPr>
            <p:ph type="pic" sz="quarter" idx="17"/>
          </p:nvPr>
        </p:nvSpPr>
        <p:spPr>
          <a:xfrm>
            <a:off x="8378127" y="2028825"/>
            <a:ext cx="3301200" cy="2548800"/>
          </a:xfrm>
          <a:solidFill>
            <a:schemeClr val="bg1">
              <a:lumMod val="85000"/>
            </a:schemeClr>
          </a:solidFill>
        </p:spPr>
        <p:txBody>
          <a:bodyPr/>
          <a:lstStyle/>
          <a:p>
            <a:r>
              <a:rPr lang="en-US"/>
              <a:t>Click icon to add picture</a:t>
            </a:r>
            <a:endParaRPr lang="en-GB"/>
          </a:p>
        </p:txBody>
      </p:sp>
      <p:sp>
        <p:nvSpPr>
          <p:cNvPr id="15" name="Date Placeholder 14">
            <a:extLst>
              <a:ext uri="{FF2B5EF4-FFF2-40B4-BE49-F238E27FC236}">
                <a16:creationId xmlns:a16="http://schemas.microsoft.com/office/drawing/2014/main" id="{E46A8604-D063-734E-A923-17DCF3C818E6}"/>
              </a:ext>
            </a:extLst>
          </p:cNvPr>
          <p:cNvSpPr>
            <a:spLocks noGrp="1"/>
          </p:cNvSpPr>
          <p:nvPr>
            <p:ph type="dt" sz="half" idx="18"/>
          </p:nvPr>
        </p:nvSpPr>
        <p:spPr>
          <a:xfrm>
            <a:off x="5126408" y="6597656"/>
            <a:ext cx="790213" cy="260349"/>
          </a:xfrm>
          <a:prstGeom prst="rect">
            <a:avLst/>
          </a:prstGeom>
        </p:spPr>
        <p:txBody>
          <a:bodyPr/>
          <a:lstStyle/>
          <a:p>
            <a:fld id="{A965E180-303A-4E15-80BE-2F286FBCA33E}" type="datetimeFigureOut">
              <a:rPr lang="en-US" smtClean="0"/>
              <a:t>10/12/2026</a:t>
            </a:fld>
            <a:endParaRPr lang="en-US"/>
          </a:p>
        </p:txBody>
      </p:sp>
      <p:sp>
        <p:nvSpPr>
          <p:cNvPr id="16" name="Footer Placeholder 15">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endParaRPr lang="en-US"/>
          </a:p>
        </p:txBody>
      </p:sp>
      <p:sp>
        <p:nvSpPr>
          <p:cNvPr id="17" name="Slide Number Placeholder 16">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26E2892A-E12F-44F8-9FFC-8CD84CE31763}" type="slidenum">
              <a:rPr lang="en-US" smtClean="0"/>
              <a:t>‹#›</a:t>
            </a:fld>
            <a:endParaRPr lang="en-US"/>
          </a:p>
        </p:txBody>
      </p:sp>
      <p:sp>
        <p:nvSpPr>
          <p:cNvPr id="21" name="Content Placeholder 2">
            <a:extLst>
              <a:ext uri="{FF2B5EF4-FFF2-40B4-BE49-F238E27FC236}">
                <a16:creationId xmlns:a16="http://schemas.microsoft.com/office/drawing/2014/main" id="{AF30AE00-BBC7-4641-A388-21B7636095A6}"/>
              </a:ext>
            </a:extLst>
          </p:cNvPr>
          <p:cNvSpPr>
            <a:spLocks noGrp="1"/>
          </p:cNvSpPr>
          <p:nvPr>
            <p:ph idx="1"/>
          </p:nvPr>
        </p:nvSpPr>
        <p:spPr>
          <a:xfrm>
            <a:off x="504829" y="4872832"/>
            <a:ext cx="3309051" cy="1508924"/>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52" y="4866024"/>
            <a:ext cx="3309051" cy="1515728"/>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Content Placeholder 2">
            <a:extLst>
              <a:ext uri="{FF2B5EF4-FFF2-40B4-BE49-F238E27FC236}">
                <a16:creationId xmlns:a16="http://schemas.microsoft.com/office/drawing/2014/main" id="{9924B702-C920-CC4C-AB9B-E5241B2248FA}"/>
              </a:ext>
            </a:extLst>
          </p:cNvPr>
          <p:cNvSpPr>
            <a:spLocks noGrp="1"/>
          </p:cNvSpPr>
          <p:nvPr>
            <p:ph idx="16"/>
          </p:nvPr>
        </p:nvSpPr>
        <p:spPr>
          <a:xfrm>
            <a:off x="8370273" y="4859224"/>
            <a:ext cx="3309051" cy="1522532"/>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69938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2753247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939132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150009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7706344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Section Header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452630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Section Header 3">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7917460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6918518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0E09F45-A703-9F41-A7AC-D760BBC32423}"/>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10/12/2026</a:t>
            </a:fld>
            <a:endParaRPr lang="en-US"/>
          </a:p>
        </p:txBody>
      </p:sp>
      <p:sp>
        <p:nvSpPr>
          <p:cNvPr id="6" name="Footer Placeholder 5">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1709266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cxnSp>
        <p:nvCxnSpPr>
          <p:cNvPr id="21" name="Straight Connector 20"/>
          <p:cNvCxnSpPr/>
          <p:nvPr/>
        </p:nvCxnSpPr>
        <p:spPr>
          <a:xfrm>
            <a:off x="508002" y="6357591"/>
            <a:ext cx="11277601" cy="0"/>
          </a:xfrm>
          <a:prstGeom prst="line">
            <a:avLst/>
          </a:prstGeom>
          <a:ln w="6350">
            <a:solidFill>
              <a:srgbClr val="C9CAC8"/>
            </a:solidFill>
            <a:prstDash val="solid"/>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hasCustomPrompt="1"/>
          </p:nvPr>
        </p:nvSpPr>
        <p:spPr>
          <a:xfrm>
            <a:off x="406402" y="-18468"/>
            <a:ext cx="11176001" cy="780471"/>
          </a:xfrm>
          <a:prstGeom prst="rect">
            <a:avLst/>
          </a:prstGeom>
        </p:spPr>
        <p:txBody>
          <a:bodyPr bIns="0" anchor="b" anchorCtr="0">
            <a:noAutofit/>
          </a:bodyPr>
          <a:lstStyle>
            <a:lvl1pPr algn="l">
              <a:lnSpc>
                <a:spcPts val="2100"/>
              </a:lnSpc>
              <a:spcAft>
                <a:spcPts val="0"/>
              </a:spcAft>
              <a:defRPr sz="2100" b="0" baseline="0">
                <a:solidFill>
                  <a:srgbClr val="000000"/>
                </a:solidFill>
                <a:latin typeface="Arial" pitchFamily="34" charset="0"/>
                <a:cs typeface="Arial" pitchFamily="34" charset="0"/>
              </a:defRPr>
            </a:lvl1pPr>
          </a:lstStyle>
          <a:p>
            <a:r>
              <a:rPr lang="en-US"/>
              <a:t>Headline (28 pt, Arial) </a:t>
            </a:r>
            <a:br>
              <a:rPr lang="en-US"/>
            </a:br>
            <a:r>
              <a:rPr lang="en-US"/>
              <a:t>(headline can wrap)</a:t>
            </a:r>
          </a:p>
        </p:txBody>
      </p:sp>
      <p:sp>
        <p:nvSpPr>
          <p:cNvPr id="13" name="Slide Number Placeholder 5">
            <a:extLst>
              <a:ext uri="{FF2B5EF4-FFF2-40B4-BE49-F238E27FC236}">
                <a16:creationId xmlns:a16="http://schemas.microsoft.com/office/drawing/2014/main" id="{717B8F22-75CC-6744-9FFA-54DE8F643DE9}"/>
              </a:ext>
            </a:extLst>
          </p:cNvPr>
          <p:cNvSpPr>
            <a:spLocks noGrp="1"/>
          </p:cNvSpPr>
          <p:nvPr>
            <p:ph type="sldNum" sz="quarter" idx="13"/>
          </p:nvPr>
        </p:nvSpPr>
        <p:spPr>
          <a:xfrm>
            <a:off x="10972800" y="6406831"/>
            <a:ext cx="812800" cy="259080"/>
          </a:xfrm>
          <a:prstGeom prst="rect">
            <a:avLst/>
          </a:prstGeom>
        </p:spPr>
        <p:txBody>
          <a:bodyPr anchor="t" anchorCtr="0"/>
          <a:lstStyle>
            <a:lvl1pPr>
              <a:defRPr sz="900" b="0">
                <a:solidFill>
                  <a:srgbClr val="747678"/>
                </a:solidFill>
                <a:latin typeface="Arial" pitchFamily="34" charset="0"/>
                <a:cs typeface="Arial" pitchFamily="34" charset="0"/>
              </a:defRPr>
            </a:lvl1pPr>
          </a:lstStyle>
          <a:p>
            <a:fld id="{26E2892A-E12F-44F8-9FFC-8CD84CE31763}" type="slidenum">
              <a:rPr lang="en-US" smtClean="0"/>
              <a:t>‹#›</a:t>
            </a:fld>
            <a:endParaRPr lang="en-US"/>
          </a:p>
        </p:txBody>
      </p:sp>
      <p:cxnSp>
        <p:nvCxnSpPr>
          <p:cNvPr id="3" name="Straight Connector 2">
            <a:extLst>
              <a:ext uri="{FF2B5EF4-FFF2-40B4-BE49-F238E27FC236}">
                <a16:creationId xmlns:a16="http://schemas.microsoft.com/office/drawing/2014/main" id="{2E92D43E-8CBB-446E-81E5-DFE00FD985A7}"/>
              </a:ext>
            </a:extLst>
          </p:cNvPr>
          <p:cNvCxnSpPr/>
          <p:nvPr/>
        </p:nvCxnSpPr>
        <p:spPr>
          <a:xfrm>
            <a:off x="526473" y="766619"/>
            <a:ext cx="111575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8106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6E2892A-E12F-44F8-9FFC-8CD84CE31763}"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812660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68B6A2-1488-4577-BAB5-E2A0A9091E4C}"/>
              </a:ext>
            </a:extLst>
          </p:cNvPr>
          <p:cNvGrpSpPr/>
          <p:nvPr/>
        </p:nvGrpSpPr>
        <p:grpSpPr>
          <a:xfrm>
            <a:off x="0" y="6789946"/>
            <a:ext cx="12192000" cy="77821"/>
            <a:chOff x="0" y="6780111"/>
            <a:chExt cx="9144000" cy="77821"/>
          </a:xfrm>
        </p:grpSpPr>
        <p:sp>
          <p:nvSpPr>
            <p:cNvPr id="9" name="Rectangle 8"/>
            <p:cNvSpPr/>
            <p:nvPr/>
          </p:nvSpPr>
          <p:spPr>
            <a:xfrm>
              <a:off x="0" y="6780112"/>
              <a:ext cx="2383277" cy="778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sp>
          <p:nvSpPr>
            <p:cNvPr id="10" name="Rectangle 9"/>
            <p:cNvSpPr/>
            <p:nvPr/>
          </p:nvSpPr>
          <p:spPr>
            <a:xfrm>
              <a:off x="2383277" y="6780111"/>
              <a:ext cx="6760723" cy="77821"/>
            </a:xfrm>
            <a:prstGeom prst="rect">
              <a:avLst/>
            </a:prstGeom>
            <a:gradFill flip="none" rotWithShape="1">
              <a:gsLst>
                <a:gs pos="77000">
                  <a:srgbClr val="00B0F0"/>
                </a:gs>
                <a:gs pos="0">
                  <a:srgbClr val="0092DA"/>
                </a:gs>
                <a:gs pos="10000">
                  <a:srgbClr val="94DEF9"/>
                </a:gs>
                <a:gs pos="2100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grpSp>
      <p:sp>
        <p:nvSpPr>
          <p:cNvPr id="5" name="Title 1"/>
          <p:cNvSpPr>
            <a:spLocks noGrp="1"/>
          </p:cNvSpPr>
          <p:nvPr>
            <p:ph type="title" hasCustomPrompt="1"/>
          </p:nvPr>
        </p:nvSpPr>
        <p:spPr>
          <a:xfrm>
            <a:off x="153602" y="158744"/>
            <a:ext cx="11886461" cy="439200"/>
          </a:xfrm>
        </p:spPr>
        <p:txBody>
          <a:bodyPr>
            <a:noAutofit/>
          </a:bodyPr>
          <a:lstStyle>
            <a:lvl1pPr>
              <a:defRPr sz="2600" b="1"/>
            </a:lvl1pPr>
          </a:lstStyle>
          <a:p>
            <a:r>
              <a:rPr lang="en-US"/>
              <a:t>CLICK TO EDIT MASTER TITLE STYLE</a:t>
            </a:r>
          </a:p>
        </p:txBody>
      </p:sp>
      <p:sp>
        <p:nvSpPr>
          <p:cNvPr id="6" name="Text Placeholder 6"/>
          <p:cNvSpPr>
            <a:spLocks noGrp="1"/>
          </p:cNvSpPr>
          <p:nvPr>
            <p:ph type="body" sz="quarter" idx="13" hasCustomPrompt="1"/>
          </p:nvPr>
        </p:nvSpPr>
        <p:spPr>
          <a:xfrm>
            <a:off x="151942" y="583128"/>
            <a:ext cx="11886461" cy="583200"/>
          </a:xfrm>
        </p:spPr>
        <p:txBody>
          <a:bodyPr>
            <a:normAutofit/>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6902797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10B4-46ED-489D-9711-3C3102552793}"/>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A43AC688-7CA0-49B7-BE5C-14D7BE087CEB}"/>
              </a:ext>
            </a:extLst>
          </p:cNvPr>
          <p:cNvSpPr>
            <a:spLocks noGrp="1"/>
          </p:cNvSpPr>
          <p:nvPr>
            <p:ph type="dt" sz="half" idx="14"/>
          </p:nvPr>
        </p:nvSpPr>
        <p:spPr/>
        <p:txBody>
          <a:bodyPr/>
          <a:lstStyle/>
          <a:p>
            <a:fld id="{A965E180-303A-4E15-80BE-2F286FBCA33E}" type="datetimeFigureOut">
              <a:rPr lang="en-US" smtClean="0"/>
              <a:t>10/12/2026</a:t>
            </a:fld>
            <a:endParaRPr lang="en-US"/>
          </a:p>
        </p:txBody>
      </p:sp>
      <p:sp>
        <p:nvSpPr>
          <p:cNvPr id="8" name="Footer Placeholder 7">
            <a:extLst>
              <a:ext uri="{FF2B5EF4-FFF2-40B4-BE49-F238E27FC236}">
                <a16:creationId xmlns:a16="http://schemas.microsoft.com/office/drawing/2014/main" id="{F99F8086-45FF-4FA5-8AC3-05C610A4838B}"/>
              </a:ext>
            </a:extLst>
          </p:cNvPr>
          <p:cNvSpPr>
            <a:spLocks noGrp="1"/>
          </p:cNvSpPr>
          <p:nvPr>
            <p:ph type="ftr" sz="quarter" idx="15"/>
          </p:nvPr>
        </p:nvSpPr>
        <p:spPr/>
        <p:txBody>
          <a:bodyPr/>
          <a:lstStyle/>
          <a:p>
            <a:endParaRPr lang="en-US"/>
          </a:p>
        </p:txBody>
      </p:sp>
      <p:sp>
        <p:nvSpPr>
          <p:cNvPr id="11" name="Picture Placeholder 10">
            <a:extLst>
              <a:ext uri="{FF2B5EF4-FFF2-40B4-BE49-F238E27FC236}">
                <a16:creationId xmlns:a16="http://schemas.microsoft.com/office/drawing/2014/main" id="{9B9D6AD1-AE5B-E83C-5FCC-323CCA0795F9}"/>
              </a:ext>
            </a:extLst>
          </p:cNvPr>
          <p:cNvSpPr>
            <a:spLocks noGrp="1"/>
          </p:cNvSpPr>
          <p:nvPr>
            <p:ph type="pic" sz="quarter" idx="17"/>
          </p:nvPr>
        </p:nvSpPr>
        <p:spPr>
          <a:xfrm>
            <a:off x="0" y="4587547"/>
            <a:ext cx="12192000" cy="1889453"/>
          </a:xfrm>
          <a:custGeom>
            <a:avLst/>
            <a:gdLst>
              <a:gd name="connsiteX0" fmla="*/ 0 w 12192000"/>
              <a:gd name="connsiteY0" fmla="*/ 0 h 1889453"/>
              <a:gd name="connsiteX1" fmla="*/ 12192000 w 12192000"/>
              <a:gd name="connsiteY1" fmla="*/ 0 h 1889453"/>
              <a:gd name="connsiteX2" fmla="*/ 12192000 w 12192000"/>
              <a:gd name="connsiteY2" fmla="*/ 1889453 h 1889453"/>
              <a:gd name="connsiteX3" fmla="*/ 0 w 12192000"/>
              <a:gd name="connsiteY3" fmla="*/ 1889453 h 1889453"/>
            </a:gdLst>
            <a:ahLst/>
            <a:cxnLst>
              <a:cxn ang="0">
                <a:pos x="connsiteX0" y="connsiteY0"/>
              </a:cxn>
              <a:cxn ang="0">
                <a:pos x="connsiteX1" y="connsiteY1"/>
              </a:cxn>
              <a:cxn ang="0">
                <a:pos x="connsiteX2" y="connsiteY2"/>
              </a:cxn>
              <a:cxn ang="0">
                <a:pos x="connsiteX3" y="connsiteY3"/>
              </a:cxn>
            </a:cxnLst>
            <a:rect l="l" t="t" r="r" b="b"/>
            <a:pathLst>
              <a:path w="12192000" h="1889453">
                <a:moveTo>
                  <a:pt x="0" y="0"/>
                </a:moveTo>
                <a:lnTo>
                  <a:pt x="12192000" y="0"/>
                </a:lnTo>
                <a:lnTo>
                  <a:pt x="12192000" y="1889453"/>
                </a:lnTo>
                <a:lnTo>
                  <a:pt x="0" y="1889453"/>
                </a:lnTo>
                <a:close/>
              </a:path>
            </a:pathLst>
          </a:custGeom>
        </p:spPr>
        <p:txBody>
          <a:bodyPr wrap="square">
            <a:noAutofit/>
          </a:bodyPr>
          <a:lstStyle/>
          <a:p>
            <a:r>
              <a:rPr lang="en-US"/>
              <a:t>Click icon to add picture</a:t>
            </a:r>
          </a:p>
        </p:txBody>
      </p:sp>
      <p:sp>
        <p:nvSpPr>
          <p:cNvPr id="10" name="Text Placeholder 6">
            <a:extLst>
              <a:ext uri="{FF2B5EF4-FFF2-40B4-BE49-F238E27FC236}">
                <a16:creationId xmlns:a16="http://schemas.microsoft.com/office/drawing/2014/main" id="{64FD1521-7001-6B38-057F-3A0C646ED1DD}"/>
              </a:ext>
            </a:extLst>
          </p:cNvPr>
          <p:cNvSpPr>
            <a:spLocks noGrp="1"/>
          </p:cNvSpPr>
          <p:nvPr>
            <p:ph type="body" sz="quarter" idx="13"/>
          </p:nvPr>
        </p:nvSpPr>
        <p:spPr>
          <a:xfrm>
            <a:off x="190500" y="795868"/>
            <a:ext cx="11811000" cy="226714"/>
          </a:xfrm>
        </p:spPr>
        <p:txBody>
          <a:bodyPr anchor="t">
            <a:noAutofit/>
          </a:bodyPr>
          <a:lstStyle>
            <a:lvl1pPr marL="0" indent="0" algn="l">
              <a:lnSpc>
                <a:spcPct val="100000"/>
              </a:lnSpc>
              <a:spcBef>
                <a:spcPts val="0"/>
              </a:spcBef>
              <a:buFontTx/>
              <a:buNone/>
              <a:defRPr sz="1000">
                <a:solidFill>
                  <a:schemeClr val="tx2">
                    <a:lumMod val="50000"/>
                    <a:lumOff val="50000"/>
                  </a:schemeClr>
                </a:solidFill>
                <a:latin typeface="Arial" panose="020B0604020202020204" pitchFamily="34" charset="0"/>
                <a:cs typeface="Arial" panose="020B0604020202020204" pitchFamily="34" charset="0"/>
              </a:defRPr>
            </a:lvl1pPr>
            <a:lvl2pPr marL="457177" indent="0">
              <a:buFontTx/>
              <a:buNone/>
              <a:defRPr/>
            </a:lvl2pPr>
            <a:lvl3pPr marL="914353" indent="0">
              <a:buFontTx/>
              <a:buNone/>
              <a:defRPr/>
            </a:lvl3pPr>
            <a:lvl4pPr marL="1371530" indent="0">
              <a:buFontTx/>
              <a:buNone/>
              <a:defRPr/>
            </a:lvl4pPr>
            <a:lvl5pPr marL="1828706" indent="0">
              <a:buFontTx/>
              <a:buNone/>
              <a:defRPr/>
            </a:lvl5pPr>
          </a:lstStyle>
          <a:p>
            <a:pPr lvl="0"/>
            <a:r>
              <a:rPr lang="en-US"/>
              <a:t>Click to edit Master text styles</a:t>
            </a:r>
          </a:p>
        </p:txBody>
      </p:sp>
    </p:spTree>
    <p:extLst>
      <p:ext uri="{BB962C8B-B14F-4D97-AF65-F5344CB8AC3E}">
        <p14:creationId xmlns:p14="http://schemas.microsoft.com/office/powerpoint/2010/main" val="20841998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0" name="Title ">
            <a:extLst>
              <a:ext uri="{FF2B5EF4-FFF2-40B4-BE49-F238E27FC236}">
                <a16:creationId xmlns:a16="http://schemas.microsoft.com/office/drawing/2014/main" id="{A34371E6-E4E5-D745-9264-8EA9C0BE58EE}"/>
              </a:ext>
            </a:extLst>
          </p:cNvPr>
          <p:cNvSpPr>
            <a:spLocks noGrp="1"/>
          </p:cNvSpPr>
          <p:nvPr>
            <p:ph type="title"/>
          </p:nvPr>
        </p:nvSpPr>
        <p:spPr>
          <a:xfrm>
            <a:off x="431801" y="368299"/>
            <a:ext cx="11328399" cy="1102692"/>
          </a:xfrm>
          <a:prstGeom prst="rect">
            <a:avLst/>
          </a:prstGeom>
        </p:spPr>
        <p:txBody>
          <a:bodyPr vert="horz" lIns="0" tIns="0" rIns="0" bIns="0" rtlCol="0" anchor="t" anchorCtr="0">
            <a:noAutofit/>
          </a:bodyPr>
          <a:lstStyle/>
          <a:p>
            <a:r>
              <a:rPr lang="en-US"/>
              <a:t>Click to edit Master title style</a:t>
            </a:r>
            <a:endParaRPr lang="en-GB"/>
          </a:p>
        </p:txBody>
      </p:sp>
      <p:sp>
        <p:nvSpPr>
          <p:cNvPr id="14" name="Content Placeholder 1">
            <a:extLst>
              <a:ext uri="{FF2B5EF4-FFF2-40B4-BE49-F238E27FC236}">
                <a16:creationId xmlns:a16="http://schemas.microsoft.com/office/drawing/2014/main" id="{52B3A6DB-7A6D-8F4B-9781-155B17631561}"/>
              </a:ext>
            </a:extLst>
          </p:cNvPr>
          <p:cNvSpPr>
            <a:spLocks noGrp="1"/>
          </p:cNvSpPr>
          <p:nvPr>
            <p:ph idx="13"/>
          </p:nvPr>
        </p:nvSpPr>
        <p:spPr>
          <a:xfrm>
            <a:off x="431802" y="1577010"/>
            <a:ext cx="11328397" cy="439972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notes Placeholder ">
            <a:extLst>
              <a:ext uri="{FF2B5EF4-FFF2-40B4-BE49-F238E27FC236}">
                <a16:creationId xmlns:a16="http://schemas.microsoft.com/office/drawing/2014/main" id="{3BA9D919-C329-9440-8087-E6F1BDD2F0CE}"/>
              </a:ext>
            </a:extLst>
          </p:cNvPr>
          <p:cNvSpPr>
            <a:spLocks noGrp="1"/>
          </p:cNvSpPr>
          <p:nvPr>
            <p:ph type="body" sz="quarter" idx="14" hasCustomPrompt="1"/>
          </p:nvPr>
        </p:nvSpPr>
        <p:spPr>
          <a:xfrm>
            <a:off x="431800" y="6109253"/>
            <a:ext cx="11328400" cy="393701"/>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p>
          <a:p>
            <a:pPr lvl="0"/>
            <a:r>
              <a:rPr lang="en-US"/>
              <a:t>** Tied directly to information on page</a:t>
            </a:r>
          </a:p>
          <a:p>
            <a:pPr lvl="0"/>
            <a:r>
              <a:rPr lang="en-US"/>
              <a:t>Source: Source information goes here</a:t>
            </a:r>
          </a:p>
        </p:txBody>
      </p:sp>
      <p:sp>
        <p:nvSpPr>
          <p:cNvPr id="11" name="Slide Number Placeholder ">
            <a:extLst>
              <a:ext uri="{FF2B5EF4-FFF2-40B4-BE49-F238E27FC236}">
                <a16:creationId xmlns:a16="http://schemas.microsoft.com/office/drawing/2014/main" id="{65EB6EC4-FA42-5E40-B0BC-3A5BE65BF8BC}"/>
              </a:ext>
            </a:extLst>
          </p:cNvPr>
          <p:cNvSpPr>
            <a:spLocks noGrp="1"/>
          </p:cNvSpPr>
          <p:nvPr>
            <p:ph type="sldNum" sz="quarter" idx="4"/>
          </p:nvPr>
        </p:nvSpPr>
        <p:spPr>
          <a:xfrm>
            <a:off x="193290" y="6623436"/>
            <a:ext cx="238511" cy="234564"/>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5B4A74C5-79B0-4340-9A8D-1CCBE3E8C644}" type="slidenum">
              <a:rPr lang="en-GB" smtClean="0"/>
              <a:pPr/>
              <a:t>‹#›</a:t>
            </a:fld>
            <a:endParaRPr lang="en-GB"/>
          </a:p>
        </p:txBody>
      </p:sp>
      <p:sp>
        <p:nvSpPr>
          <p:cNvPr id="12" name="Footer Placeholder ">
            <a:extLst>
              <a:ext uri="{FF2B5EF4-FFF2-40B4-BE49-F238E27FC236}">
                <a16:creationId xmlns:a16="http://schemas.microsoft.com/office/drawing/2014/main" id="{9C469A68-DF3A-2E44-A7F3-5C0FEC2DA65A}"/>
              </a:ext>
            </a:extLst>
          </p:cNvPr>
          <p:cNvSpPr>
            <a:spLocks noGrp="1"/>
          </p:cNvSpPr>
          <p:nvPr>
            <p:ph type="ftr" sz="quarter" idx="3"/>
          </p:nvPr>
        </p:nvSpPr>
        <p:spPr>
          <a:xfrm>
            <a:off x="720000" y="6669087"/>
            <a:ext cx="4406400" cy="188914"/>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r>
              <a:rPr lang="en-GB"/>
              <a:t>To create or edit a header or footer, go to Insert &gt; Header &amp; Footer</a:t>
            </a:r>
          </a:p>
        </p:txBody>
      </p:sp>
      <p:sp>
        <p:nvSpPr>
          <p:cNvPr id="13" name="Date Placeholder ">
            <a:extLst>
              <a:ext uri="{FF2B5EF4-FFF2-40B4-BE49-F238E27FC236}">
                <a16:creationId xmlns:a16="http://schemas.microsoft.com/office/drawing/2014/main" id="{CC789C5C-FE34-1B4F-AA9C-D124CF5FD550}"/>
              </a:ext>
            </a:extLst>
          </p:cNvPr>
          <p:cNvSpPr>
            <a:spLocks noGrp="1"/>
          </p:cNvSpPr>
          <p:nvPr>
            <p:ph type="dt" sz="half" idx="2"/>
          </p:nvPr>
        </p:nvSpPr>
        <p:spPr>
          <a:xfrm>
            <a:off x="5126400" y="6669089"/>
            <a:ext cx="790213" cy="188912"/>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fld id="{99FB4F80-B509-4318-AEA2-271565442194}" type="datetime1">
              <a:rPr lang="en-GB" smtClean="0"/>
              <a:pPr/>
              <a:t>12/10/2026</a:t>
            </a:fld>
            <a:endParaRPr lang="en-GB"/>
          </a:p>
        </p:txBody>
      </p:sp>
    </p:spTree>
    <p:extLst>
      <p:ext uri="{BB962C8B-B14F-4D97-AF65-F5344CB8AC3E}">
        <p14:creationId xmlns:p14="http://schemas.microsoft.com/office/powerpoint/2010/main" val="28769031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0FBC-A2A5-725A-6954-CE829B121ADC}"/>
              </a:ext>
            </a:extLst>
          </p:cNvPr>
          <p:cNvSpPr>
            <a:spLocks noGrp="1"/>
          </p:cNvSpPr>
          <p:nvPr>
            <p:ph type="title"/>
          </p:nvPr>
        </p:nvSpPr>
        <p:spPr>
          <a:xfrm>
            <a:off x="993341" y="174100"/>
            <a:ext cx="10205317" cy="930761"/>
          </a:xfrm>
        </p:spPr>
        <p:txBody>
          <a:bodyPr anchor="ctr" anchorCtr="0"/>
          <a:lstStyle>
            <a:lvl1pPr>
              <a:defRPr>
                <a:solidFill>
                  <a:schemeClr val="bg2"/>
                </a:solidFill>
              </a:defRPr>
            </a:lvl1pPr>
          </a:lstStyle>
          <a:p>
            <a:r>
              <a:rPr lang="en-US"/>
              <a:t>Click to edit Master title style</a:t>
            </a:r>
          </a:p>
        </p:txBody>
      </p:sp>
      <p:sp>
        <p:nvSpPr>
          <p:cNvPr id="3" name="Date Placeholder 2">
            <a:extLst>
              <a:ext uri="{FF2B5EF4-FFF2-40B4-BE49-F238E27FC236}">
                <a16:creationId xmlns:a16="http://schemas.microsoft.com/office/drawing/2014/main" id="{8DE59F68-16F4-E4FE-48E8-EBDEABE0DCC7}"/>
              </a:ext>
            </a:extLst>
          </p:cNvPr>
          <p:cNvSpPr>
            <a:spLocks noGrp="1"/>
          </p:cNvSpPr>
          <p:nvPr>
            <p:ph type="dt" sz="half" idx="10"/>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6/14/21</a:t>
            </a:r>
            <a:endParaRPr kumimoji="0" lang="en-GB" sz="600" b="0" i="0" u="none" strike="noStrike" kern="1200" cap="none" spc="0" normalizeH="0" baseline="0" noProof="0">
              <a:ln>
                <a:noFill/>
              </a:ln>
              <a:solidFill>
                <a:srgbClr val="000000"/>
              </a:solidFill>
              <a:effectLst/>
              <a:uLnTx/>
              <a:uFillTx/>
              <a:latin typeface="Arial"/>
              <a:ea typeface="+mn-ea"/>
              <a:cs typeface="+mn-cs"/>
            </a:endParaRPr>
          </a:p>
        </p:txBody>
      </p:sp>
      <p:sp>
        <p:nvSpPr>
          <p:cNvPr id="4" name="Footer Placeholder 3">
            <a:extLst>
              <a:ext uri="{FF2B5EF4-FFF2-40B4-BE49-F238E27FC236}">
                <a16:creationId xmlns:a16="http://schemas.microsoft.com/office/drawing/2014/main" id="{08CD889A-C72B-6FBA-BF11-B41A732064DE}"/>
              </a:ext>
            </a:extLst>
          </p:cNvPr>
          <p:cNvSpPr>
            <a:spLocks noGrp="1"/>
          </p:cNvSpPr>
          <p:nvPr>
            <p:ph type="ftr" sz="quarter" idx="11"/>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Arial"/>
                <a:ea typeface="+mn-ea"/>
                <a:cs typeface="+mn-cs"/>
              </a:rPr>
              <a:t>To create or edit a header or footer, go to Insert &gt; Header &amp; Footer</a:t>
            </a:r>
          </a:p>
        </p:txBody>
      </p:sp>
      <p:sp>
        <p:nvSpPr>
          <p:cNvPr id="5" name="Slide Number Placeholder 4">
            <a:extLst>
              <a:ext uri="{FF2B5EF4-FFF2-40B4-BE49-F238E27FC236}">
                <a16:creationId xmlns:a16="http://schemas.microsoft.com/office/drawing/2014/main" id="{437F6E30-1295-1DF6-75CB-BABA2534518C}"/>
              </a:ext>
            </a:extLst>
          </p:cNvPr>
          <p:cNvSpPr>
            <a:spLocks noGrp="1"/>
          </p:cNvSpPr>
          <p:nvPr>
            <p:ph type="sldNum" sz="quarter" idx="12"/>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fld id="{5B4A74C5-79B0-4340-9A8D-1CCBE3E8C644}" type="slidenum">
              <a:rPr kumimoji="0" lang="en-GB" sz="1000" b="0" i="0" u="none" strike="noStrike" kern="1200" cap="none" spc="0" normalizeH="0" baseline="0" noProof="0" smtClean="0">
                <a:ln>
                  <a:noFill/>
                </a:ln>
                <a:solidFill>
                  <a:srgbClr val="999999"/>
                </a:solidFill>
                <a:effectLst/>
                <a:uLnTx/>
                <a:uFillTx/>
                <a:latin typeface="Arial"/>
                <a:ea typeface="+mn-ea"/>
                <a:cs typeface="+mn-cs"/>
              </a:rPr>
              <a:pPr marL="0" marR="0" lvl="0" indent="0" algn="l" defTabSz="914400" rtl="0" eaLnBrk="1" fontAlgn="auto" latinLnBrk="0" hangingPunct="1">
                <a:lnSpc>
                  <a:spcPct val="90000"/>
                </a:lnSpc>
                <a:spcBef>
                  <a:spcPts val="0"/>
                </a:spcBef>
                <a:spcAft>
                  <a:spcPts val="0"/>
                </a:spcAft>
                <a:buClrTx/>
                <a:buSzTx/>
                <a:buFontTx/>
                <a:buNone/>
                <a:tabLst/>
                <a:defRPr/>
              </a:pPr>
              <a:t>‹#›</a:t>
            </a:fld>
            <a:endParaRPr kumimoji="0" lang="en-GB" sz="1000" b="0" i="0" u="none" strike="noStrike" kern="1200" cap="none" spc="0" normalizeH="0" baseline="0" noProof="0">
              <a:ln>
                <a:noFill/>
              </a:ln>
              <a:solidFill>
                <a:srgbClr val="999999"/>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CD86577F-B6F0-B6B6-E35B-393116BD756A}"/>
              </a:ext>
            </a:extLst>
          </p:cNvPr>
          <p:cNvSpPr/>
          <p:nvPr userDrawn="1"/>
        </p:nvSpPr>
        <p:spPr>
          <a:xfrm>
            <a:off x="0" y="-1"/>
            <a:ext cx="12192000" cy="13617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81828713-7617-95D7-2175-8A7D902CA769}"/>
              </a:ext>
            </a:extLst>
          </p:cNvPr>
          <p:cNvSpPr/>
          <p:nvPr userDrawn="1"/>
        </p:nvSpPr>
        <p:spPr>
          <a:xfrm>
            <a:off x="0" y="0"/>
            <a:ext cx="10858774" cy="136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3" name="Right Triangle 22">
            <a:extLst>
              <a:ext uri="{FF2B5EF4-FFF2-40B4-BE49-F238E27FC236}">
                <a16:creationId xmlns:a16="http://schemas.microsoft.com/office/drawing/2014/main" id="{B354DB66-56F0-A8A7-21B7-7A16B2063555}"/>
              </a:ext>
            </a:extLst>
          </p:cNvPr>
          <p:cNvSpPr/>
          <p:nvPr userDrawn="1"/>
        </p:nvSpPr>
        <p:spPr>
          <a:xfrm flipV="1">
            <a:off x="10858774" y="0"/>
            <a:ext cx="914400" cy="136173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25" name="Picture 24" descr="A white bird with a black background&#10;&#10;AI-generated content may be incorrect.">
            <a:extLst>
              <a:ext uri="{FF2B5EF4-FFF2-40B4-BE49-F238E27FC236}">
                <a16:creationId xmlns:a16="http://schemas.microsoft.com/office/drawing/2014/main" id="{FAAAC8E8-C4BC-CA54-4710-D1248598217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0774" y="639480"/>
            <a:ext cx="304800" cy="365760"/>
          </a:xfrm>
          <a:prstGeom prst="rect">
            <a:avLst/>
          </a:prstGeom>
        </p:spPr>
      </p:pic>
    </p:spTree>
    <p:custDataLst>
      <p:tags r:id="rId1"/>
    </p:custDataLst>
    <p:extLst>
      <p:ext uri="{BB962C8B-B14F-4D97-AF65-F5344CB8AC3E}">
        <p14:creationId xmlns:p14="http://schemas.microsoft.com/office/powerpoint/2010/main" val="19777696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3568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7581-42EF-49CD-857A-42D138B6C7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F7E34F-A216-4971-AC93-C1676FC32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2C2AAB-CE79-4203-84CD-19820EF01D3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32E8C0D-E4B8-42EE-ACEF-D516AF4B1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23CE9-A4AF-42A8-BACE-796708064786}"/>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7617551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48FB-5C5E-4AA3-89EA-75C0D26F17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AEBFC0-D79B-42C4-A1C2-DB5D845D7F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E02479-18C8-4E6C-B2AD-BA26A6CC8A1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0676FC6-58A3-4F1C-8F8D-B926A91DE7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2C44E-4602-4996-AFA9-D6F137FD6D47}"/>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3076593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BE51-0535-47B1-ABBE-79231C0A92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2C6A69-E536-4835-B663-3D5747F58A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69EAB5-9443-4291-ABE3-8EB5D825E47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E41668-E0D8-4598-9089-64EBB0A46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8E8945-4954-419F-830D-0DCA5F9E3081}"/>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7621794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A8F4E-4222-48AF-BB92-2C43CC4DDF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3FCA8F-010D-41B7-998B-2FA16F113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BD319A-E4DC-471A-8034-FF57835B4C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F0C625-D79B-4CA0-9C55-0981BD32C37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626314F-50D5-4C52-81E0-2B08C6CB5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E7514-0785-437A-A7AB-0F9F2487ADE9}"/>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8980523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3F7B-42BB-4BA1-85CC-9AF3AE3B82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BD6F22-10C2-4F74-BA15-21C9812B9E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68E84-28E0-422B-80FE-48FF877DAF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AA6AB5-03FD-4BB9-8F8D-4A022180FC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16BFEC-B3B2-47EC-83E9-4FED7B1255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CA64B0-F0BE-446C-9CAD-EB8FD257461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EFD8D84-7842-4A78-BB88-C72B0B0A0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41B2CE-A177-4AB0-B197-322D5A7B4045}"/>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912608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3DFB-3FD1-4240-99C6-309987C669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CAA22A-686A-4F17-9DD5-19B80521B32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EE369C4-91B1-4B22-89A3-A556A99383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38AAB2-FE28-42D3-9FB3-2B90C244674E}"/>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8116932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AE7D0-8A17-4F36-AC7B-03FC2E00F794}"/>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F2D9AEF-851C-4372-9147-ED44BEF26C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304BB6-6AE6-44F7-A60B-72911B54443C}"/>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0915183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E322-4CBF-499F-84A7-E8BA18258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5A5637-5A70-46B1-A4E0-4B17F38552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D716FA-F820-4E04-A784-5BB215CB6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3D617-3278-4A8C-ACB0-B2976420C54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FBFF09A-BD80-4BB2-B9EE-83F62365E9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321FEF-40AF-478B-BEBF-3157716CADB0}"/>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50848468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749F-4F93-4786-8A47-AE40DDBC4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9583A3-BB74-48D6-9B46-EBF15CC8A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F38AF1-61C5-4E92-96A5-A0C197851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A3A4A-D5D2-4CCE-8A6B-CA4D47B9035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E5702-C63D-4A5C-AD34-6EF6F02D8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6FD1A-07CB-490C-9BCE-A9FCB55DFEFA}"/>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597712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548E-FA00-4DE8-B443-CA21021891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B4AD29-A3CA-4453-A44C-0A7156EDF1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B8A0B-E49F-4AF0-B529-FE38A3E1D02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75E416C-F394-40BD-BA13-4C1B899F7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ACB15-3F11-4354-A0DD-2C8C02736837}"/>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4406089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33590D-02FD-4681-B6E5-E1FBEC4295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D4B17-D6D1-4B15-BE30-8D87456655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03E23A-F235-45C5-AD9F-1E13C4C9A2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14F79E5-2E6E-40AA-8C16-372459769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B4A2E-9B25-4DDA-9F5E-44709525E99B}"/>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43539455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7906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theme" Target="../theme/theme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4.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6" Type="http://schemas.openxmlformats.org/officeDocument/2006/relationships/image" Target="../media/image16.emf"/><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oleObject" Target="../embeddings/oleObject1.bin"/><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47D5398-7070-473B-A412-A9AEA384C93D}"/>
              </a:ext>
            </a:extLst>
          </p:cNvPr>
          <p:cNvSpPr>
            <a:spLocks noGrp="1"/>
          </p:cNvSpPr>
          <p:nvPr>
            <p:ph type="title"/>
          </p:nvPr>
        </p:nvSpPr>
        <p:spPr>
          <a:xfrm>
            <a:off x="504000" y="550798"/>
            <a:ext cx="11183175" cy="930761"/>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1">
            <a:extLst>
              <a:ext uri="{FF2B5EF4-FFF2-40B4-BE49-F238E27FC236}">
                <a16:creationId xmlns:a16="http://schemas.microsoft.com/office/drawing/2014/main" id="{ED47719C-7D6E-4EC3-9B77-5FE8197F9D7B}"/>
              </a:ext>
            </a:extLst>
          </p:cNvPr>
          <p:cNvSpPr>
            <a:spLocks noGrp="1"/>
          </p:cNvSpPr>
          <p:nvPr>
            <p:ph type="body" idx="1"/>
          </p:nvPr>
        </p:nvSpPr>
        <p:spPr>
          <a:xfrm>
            <a:off x="504825" y="1597307"/>
            <a:ext cx="11182350" cy="436322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
            <a:extLst>
              <a:ext uri="{FF2B5EF4-FFF2-40B4-BE49-F238E27FC236}">
                <a16:creationId xmlns:a16="http://schemas.microsoft.com/office/drawing/2014/main" id="{771E4EEA-1D06-4A33-84C5-C0AB423854A0}"/>
              </a:ext>
            </a:extLst>
          </p:cNvPr>
          <p:cNvSpPr>
            <a:spLocks noGrp="1"/>
          </p:cNvSpPr>
          <p:nvPr>
            <p:ph type="dt" sz="half" idx="2"/>
          </p:nvPr>
        </p:nvSpPr>
        <p:spPr>
          <a:xfrm>
            <a:off x="5126400" y="6597651"/>
            <a:ext cx="790213" cy="260349"/>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pPr algn="l"/>
            <a:r>
              <a:rPr lang="en-US"/>
              <a:t>6/14/21</a:t>
            </a:r>
            <a:endParaRPr lang="en-GB"/>
          </a:p>
        </p:txBody>
      </p:sp>
      <p:sp>
        <p:nvSpPr>
          <p:cNvPr id="5" name="Footer Placeholder ">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49"/>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r>
              <a:rPr lang="en-GB"/>
              <a:t>To create or edit a header or footer, go to Insert &gt; Header &amp; Footer</a:t>
            </a:r>
          </a:p>
        </p:txBody>
      </p:sp>
      <p:sp>
        <p:nvSpPr>
          <p:cNvPr id="6" name="Slide Number Placeholder ">
            <a:extLst>
              <a:ext uri="{FF2B5EF4-FFF2-40B4-BE49-F238E27FC236}">
                <a16:creationId xmlns:a16="http://schemas.microsoft.com/office/drawing/2014/main" id="{B3B18286-AFC3-45C1-9396-A22798BC906A}"/>
              </a:ext>
            </a:extLst>
          </p:cNvPr>
          <p:cNvSpPr>
            <a:spLocks noGrp="1"/>
          </p:cNvSpPr>
          <p:nvPr>
            <p:ph type="sldNum" sz="quarter" idx="4"/>
          </p:nvPr>
        </p:nvSpPr>
        <p:spPr>
          <a:xfrm>
            <a:off x="216001" y="6552000"/>
            <a:ext cx="238510" cy="306000"/>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5B4A74C5-79B0-4340-9A8D-1CCBE3E8C644}" type="slidenum">
              <a:rPr lang="en-GB" smtClean="0"/>
              <a:pPr/>
              <a:t>‹#›</a:t>
            </a:fld>
            <a:endParaRPr lang="en-GB"/>
          </a:p>
        </p:txBody>
      </p:sp>
    </p:spTree>
    <p:extLst>
      <p:ext uri="{BB962C8B-B14F-4D97-AF65-F5344CB8AC3E}">
        <p14:creationId xmlns:p14="http://schemas.microsoft.com/office/powerpoint/2010/main" val="1132594695"/>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72" r:id="rId3"/>
    <p:sldLayoutId id="2147483670" r:id="rId4"/>
    <p:sldLayoutId id="2147483669" r:id="rId5"/>
    <p:sldLayoutId id="2147483650" r:id="rId6"/>
    <p:sldLayoutId id="2147483652" r:id="rId7"/>
    <p:sldLayoutId id="2147483663" r:id="rId8"/>
    <p:sldLayoutId id="2147483659" r:id="rId9"/>
    <p:sldLayoutId id="2147483661" r:id="rId10"/>
    <p:sldLayoutId id="2147483662" r:id="rId11"/>
    <p:sldLayoutId id="2147483651" r:id="rId12"/>
    <p:sldLayoutId id="2147483657" r:id="rId13"/>
    <p:sldLayoutId id="2147483658" r:id="rId14"/>
    <p:sldLayoutId id="2147483654" r:id="rId15"/>
    <p:sldLayoutId id="2147483655" r:id="rId16"/>
    <p:sldLayoutId id="2147483673" r:id="rId17"/>
    <p:sldLayoutId id="2147483674" r:id="rId18"/>
    <p:sldLayoutId id="2147483675" r:id="rId19"/>
    <p:sldLayoutId id="2147483688" r:id="rId20"/>
    <p:sldLayoutId id="2147483734" r:id="rId21"/>
  </p:sldLayoutIdLst>
  <p:hf hdr="0" dt="0"/>
  <p:txStyles>
    <p:titleStyle>
      <a:lvl1pPr algn="l" defTabSz="914400" rtl="0" eaLnBrk="1" latinLnBrk="0" hangingPunct="1">
        <a:lnSpc>
          <a:spcPct val="90000"/>
        </a:lnSpc>
        <a:spcBef>
          <a:spcPts val="0"/>
        </a:spcBef>
        <a:buNone/>
        <a:defRPr sz="2400" b="1" kern="1200">
          <a:solidFill>
            <a:schemeClr val="bg2"/>
          </a:solidFill>
          <a:latin typeface="+mj-lt"/>
          <a:ea typeface="+mj-ea"/>
          <a:cs typeface="+mj-cs"/>
        </a:defRPr>
      </a:lvl1pPr>
    </p:titleStyle>
    <p:bodyStyle>
      <a:lvl1pPr marL="0" indent="0" algn="l" defTabSz="914400" rtl="0" eaLnBrk="1" latinLnBrk="0" hangingPunct="1">
        <a:lnSpc>
          <a:spcPct val="112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12000"/>
        </a:lnSpc>
        <a:spcBef>
          <a:spcPts val="0"/>
        </a:spcBef>
        <a:buFont typeface="Arial" panose="020B0604020202020204" pitchFamily="34" charset="0"/>
        <a:buNone/>
        <a:defRPr sz="1400" b="1" kern="1200">
          <a:solidFill>
            <a:schemeClr val="tx1"/>
          </a:solidFill>
          <a:latin typeface="+mn-lt"/>
          <a:ea typeface="+mn-ea"/>
          <a:cs typeface="Gotham Bold" pitchFamily="50" charset="0"/>
        </a:defRPr>
      </a:lvl2pPr>
      <a:lvl3pPr marL="180000" indent="-180000" algn="l" defTabSz="914400" rtl="0" eaLnBrk="1" latinLnBrk="0" hangingPunct="1">
        <a:lnSpc>
          <a:spcPct val="112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3pPr>
      <a:lvl4pPr marL="360000" indent="-180000" algn="l" defTabSz="914400" rtl="0" eaLnBrk="1" latinLnBrk="0" hangingPunct="1">
        <a:lnSpc>
          <a:spcPct val="112000"/>
        </a:lnSpc>
        <a:spcBef>
          <a:spcPts val="0"/>
        </a:spcBef>
        <a:spcAft>
          <a:spcPts val="1200"/>
        </a:spcAft>
        <a:buFont typeface="Courier New" panose="02070309020205020404" pitchFamily="49" charset="0"/>
        <a:buChar char="o"/>
        <a:defRPr sz="1400" kern="1200">
          <a:solidFill>
            <a:schemeClr val="tx1"/>
          </a:solidFill>
          <a:latin typeface="+mn-lt"/>
          <a:ea typeface="+mn-ea"/>
          <a:cs typeface="+mn-cs"/>
        </a:defRPr>
      </a:lvl4pPr>
      <a:lvl5pPr marL="540000" indent="-180000" algn="l" defTabSz="914400" rtl="0" eaLnBrk="1" latinLnBrk="0" hangingPunct="1">
        <a:lnSpc>
          <a:spcPct val="112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18" userDrawn="1">
          <p15:clr>
            <a:srgbClr val="F26B43"/>
          </p15:clr>
        </p15:guide>
        <p15:guide id="4" pos="7362" userDrawn="1">
          <p15:clr>
            <a:srgbClr val="F26B43"/>
          </p15:clr>
        </p15:guide>
        <p15:guide id="5" orient="horz" pos="346" userDrawn="1">
          <p15:clr>
            <a:srgbClr val="F26B43"/>
          </p15:clr>
        </p15:guide>
        <p15:guide id="6" orient="horz" pos="4156" userDrawn="1">
          <p15:clr>
            <a:srgbClr val="F26B43"/>
          </p15:clr>
        </p15:guide>
        <p15:guide id="7" orient="horz" pos="1278" userDrawn="1">
          <p15:clr>
            <a:srgbClr val="F26B43"/>
          </p15:clr>
        </p15:guide>
        <p15:guide id="8" pos="3727" userDrawn="1">
          <p15:clr>
            <a:srgbClr val="F26B43"/>
          </p15:clr>
        </p15:guide>
        <p15:guide id="9" pos="3953" userDrawn="1">
          <p15:clr>
            <a:srgbClr val="F26B43"/>
          </p15:clr>
        </p15:guide>
        <p15:guide id="10"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731CED-3CC3-FA73-7E6A-2F42863A1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6998FF-D8FB-6572-254F-17DA73BDD2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9F96F-3BC7-6820-B3C6-169791F7D9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C66F3F-3937-4267-85C4-09A8DBA433E1}" type="datetimeFigureOut">
              <a:rPr lang="en-US" smtClean="0"/>
              <a:t>10/12/2026</a:t>
            </a:fld>
            <a:endParaRPr lang="en-US"/>
          </a:p>
        </p:txBody>
      </p:sp>
      <p:sp>
        <p:nvSpPr>
          <p:cNvPr id="5" name="Footer Placeholder 4">
            <a:extLst>
              <a:ext uri="{FF2B5EF4-FFF2-40B4-BE49-F238E27FC236}">
                <a16:creationId xmlns:a16="http://schemas.microsoft.com/office/drawing/2014/main" id="{34E3D88D-8AD8-FD20-7D32-E511E1A976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5E7B90-CC72-DBC8-93CE-6EA782029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159209-E10C-4C7C-9E44-A25BAD9EEF6C}" type="slidenum">
              <a:rPr lang="en-US" smtClean="0"/>
              <a:t>‹#›</a:t>
            </a:fld>
            <a:endParaRPr lang="en-US"/>
          </a:p>
        </p:txBody>
      </p:sp>
    </p:spTree>
    <p:extLst>
      <p:ext uri="{BB962C8B-B14F-4D97-AF65-F5344CB8AC3E}">
        <p14:creationId xmlns:p14="http://schemas.microsoft.com/office/powerpoint/2010/main" val="225834923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7D5398-7070-473B-A412-A9AEA384C93D}"/>
              </a:ext>
            </a:extLst>
          </p:cNvPr>
          <p:cNvSpPr>
            <a:spLocks noGrp="1"/>
          </p:cNvSpPr>
          <p:nvPr>
            <p:ph type="title"/>
          </p:nvPr>
        </p:nvSpPr>
        <p:spPr>
          <a:xfrm>
            <a:off x="504001" y="550798"/>
            <a:ext cx="11183175" cy="13680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47719C-7D6E-4EC3-9B77-5FE8197F9D7B}"/>
              </a:ext>
            </a:extLst>
          </p:cNvPr>
          <p:cNvSpPr>
            <a:spLocks noGrp="1"/>
          </p:cNvSpPr>
          <p:nvPr>
            <p:ph type="body" idx="1"/>
          </p:nvPr>
        </p:nvSpPr>
        <p:spPr>
          <a:xfrm>
            <a:off x="504825" y="2026807"/>
            <a:ext cx="11182350" cy="435494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57"/>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3B18286-AFC3-45C1-9396-A22798BC906A}"/>
              </a:ext>
            </a:extLst>
          </p:cNvPr>
          <p:cNvSpPr>
            <a:spLocks noGrp="1"/>
          </p:cNvSpPr>
          <p:nvPr>
            <p:ph type="sldNum" sz="quarter" idx="4"/>
          </p:nvPr>
        </p:nvSpPr>
        <p:spPr>
          <a:xfrm>
            <a:off x="216006" y="6552000"/>
            <a:ext cx="238510" cy="306000"/>
          </a:xfrm>
          <a:prstGeom prst="rect">
            <a:avLst/>
          </a:prstGeom>
        </p:spPr>
        <p:txBody>
          <a:bodyPr vert="horz" lIns="0" tIns="0" rIns="0" bIns="0" rtlCol="0" anchor="t" anchorCtr="0">
            <a:noAutofit/>
          </a:bodyPr>
          <a:lstStyle>
            <a:lvl1pPr algn="l">
              <a:lnSpc>
                <a:spcPct val="90000"/>
              </a:lnSpc>
              <a:spcBef>
                <a:spcPts val="0"/>
              </a:spcBef>
              <a:defRPr sz="751">
                <a:solidFill>
                  <a:srgbClr val="999999"/>
                </a:solidFill>
              </a:defRPr>
            </a:lvl1pPr>
          </a:lstStyle>
          <a:p>
            <a:fld id="{26E2892A-E12F-44F8-9FFC-8CD84CE31763}" type="slidenum">
              <a:rPr lang="en-US" smtClean="0"/>
              <a:t>‹#›</a:t>
            </a:fld>
            <a:endParaRPr lang="en-US"/>
          </a:p>
        </p:txBody>
      </p:sp>
    </p:spTree>
    <p:extLst>
      <p:ext uri="{BB962C8B-B14F-4D97-AF65-F5344CB8AC3E}">
        <p14:creationId xmlns:p14="http://schemas.microsoft.com/office/powerpoint/2010/main" val="93160277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718" r:id="rId29"/>
    <p:sldLayoutId id="2147483719" r:id="rId30"/>
    <p:sldLayoutId id="2147483720" r:id="rId31"/>
  </p:sldLayoutIdLst>
  <p:txStyles>
    <p:title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p:titleStyle>
    <p:bodyStyle>
      <a:lvl1pPr marL="0" indent="0" algn="l" defTabSz="685858" rtl="0" eaLnBrk="1" latinLnBrk="0" hangingPunct="1">
        <a:lnSpc>
          <a:spcPct val="112000"/>
        </a:lnSpc>
        <a:spcBef>
          <a:spcPts val="0"/>
        </a:spcBef>
        <a:spcAft>
          <a:spcPts val="900"/>
        </a:spcAft>
        <a:buFont typeface="Arial" panose="020B0604020202020204" pitchFamily="34" charset="0"/>
        <a:buNone/>
        <a:defRPr sz="1050" kern="1200">
          <a:solidFill>
            <a:schemeClr val="tx1"/>
          </a:solidFill>
          <a:latin typeface="+mn-lt"/>
          <a:ea typeface="+mn-ea"/>
          <a:cs typeface="+mn-cs"/>
        </a:defRPr>
      </a:lvl1pPr>
      <a:lvl2pPr marL="0" indent="0" algn="l" defTabSz="685858" rtl="0" eaLnBrk="1" latinLnBrk="0" hangingPunct="1">
        <a:lnSpc>
          <a:spcPct val="112000"/>
        </a:lnSpc>
        <a:spcBef>
          <a:spcPts val="0"/>
        </a:spcBef>
        <a:buFont typeface="Arial" panose="020B0604020202020204" pitchFamily="34" charset="0"/>
        <a:buNone/>
        <a:defRPr sz="1050" b="1" kern="1200">
          <a:solidFill>
            <a:schemeClr val="tx1"/>
          </a:solidFill>
          <a:latin typeface="+mn-lt"/>
          <a:ea typeface="+mn-ea"/>
          <a:cs typeface="Gotham Bold" pitchFamily="50" charset="0"/>
        </a:defRPr>
      </a:lvl2pPr>
      <a:lvl3pPr marL="135013" indent="-135013" algn="l" defTabSz="685858" rtl="0" eaLnBrk="1" latinLnBrk="0" hangingPunct="1">
        <a:lnSpc>
          <a:spcPct val="112000"/>
        </a:lnSpc>
        <a:spcBef>
          <a:spcPts val="0"/>
        </a:spcBef>
        <a:spcAft>
          <a:spcPts val="900"/>
        </a:spcAft>
        <a:buFont typeface="Arial" panose="020B0604020202020204" pitchFamily="34" charset="0"/>
        <a:buChar char="•"/>
        <a:defRPr sz="1050" kern="1200">
          <a:solidFill>
            <a:schemeClr val="tx1"/>
          </a:solidFill>
          <a:latin typeface="+mn-lt"/>
          <a:ea typeface="+mn-ea"/>
          <a:cs typeface="+mn-cs"/>
        </a:defRPr>
      </a:lvl3pPr>
      <a:lvl4pPr marL="270023" indent="-135013" algn="l" defTabSz="685858" rtl="0" eaLnBrk="1" latinLnBrk="0" hangingPunct="1">
        <a:lnSpc>
          <a:spcPct val="112000"/>
        </a:lnSpc>
        <a:spcBef>
          <a:spcPts val="0"/>
        </a:spcBef>
        <a:spcAft>
          <a:spcPts val="900"/>
        </a:spcAft>
        <a:buFont typeface="Courier New" panose="02070309020205020404" pitchFamily="49" charset="0"/>
        <a:buChar char="o"/>
        <a:defRPr sz="1050" kern="1200">
          <a:solidFill>
            <a:schemeClr val="tx1"/>
          </a:solidFill>
          <a:latin typeface="+mn-lt"/>
          <a:ea typeface="+mn-ea"/>
          <a:cs typeface="+mn-cs"/>
        </a:defRPr>
      </a:lvl4pPr>
      <a:lvl5pPr marL="405034" indent="-135013" algn="l" defTabSz="685858" rtl="0" eaLnBrk="1" latinLnBrk="0" hangingPunct="1">
        <a:lnSpc>
          <a:spcPct val="112000"/>
        </a:lnSpc>
        <a:spcBef>
          <a:spcPts val="0"/>
        </a:spcBef>
        <a:spcAft>
          <a:spcPts val="900"/>
        </a:spcAft>
        <a:buFont typeface="Wingdings" pitchFamily="2" charset="2"/>
        <a:buChar char="§"/>
        <a:defRPr sz="1050" kern="1200">
          <a:solidFill>
            <a:schemeClr val="tx1"/>
          </a:solidFill>
          <a:latin typeface="+mn-lt"/>
          <a:ea typeface="+mn-ea"/>
          <a:cs typeface="+mn-cs"/>
        </a:defRPr>
      </a:lvl5pPr>
      <a:lvl6pPr marL="1886108"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9037"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964"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892"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858" rtl="0" eaLnBrk="1" latinLnBrk="0" hangingPunct="1">
        <a:defRPr sz="900" kern="1200">
          <a:solidFill>
            <a:schemeClr val="tx1"/>
          </a:solidFill>
          <a:latin typeface="+mn-lt"/>
          <a:ea typeface="+mn-ea"/>
          <a:cs typeface="+mn-cs"/>
        </a:defRPr>
      </a:lvl1pPr>
      <a:lvl2pPr marL="342929" algn="l" defTabSz="685858" rtl="0" eaLnBrk="1" latinLnBrk="0" hangingPunct="1">
        <a:defRPr sz="900" kern="1200">
          <a:solidFill>
            <a:schemeClr val="tx1"/>
          </a:solidFill>
          <a:latin typeface="+mn-lt"/>
          <a:ea typeface="+mn-ea"/>
          <a:cs typeface="+mn-cs"/>
        </a:defRPr>
      </a:lvl2pPr>
      <a:lvl3pPr marL="685858" algn="l" defTabSz="685858" rtl="0" eaLnBrk="1" latinLnBrk="0" hangingPunct="1">
        <a:defRPr sz="900" kern="1200">
          <a:solidFill>
            <a:schemeClr val="tx1"/>
          </a:solidFill>
          <a:latin typeface="+mn-lt"/>
          <a:ea typeface="+mn-ea"/>
          <a:cs typeface="+mn-cs"/>
        </a:defRPr>
      </a:lvl3pPr>
      <a:lvl4pPr marL="1028785" algn="l" defTabSz="685858" rtl="0" eaLnBrk="1" latinLnBrk="0" hangingPunct="1">
        <a:defRPr sz="900" kern="1200">
          <a:solidFill>
            <a:schemeClr val="tx1"/>
          </a:solidFill>
          <a:latin typeface="+mn-lt"/>
          <a:ea typeface="+mn-ea"/>
          <a:cs typeface="+mn-cs"/>
        </a:defRPr>
      </a:lvl4pPr>
      <a:lvl5pPr marL="1371715" algn="l" defTabSz="685858" rtl="0" eaLnBrk="1" latinLnBrk="0" hangingPunct="1">
        <a:defRPr sz="900" kern="1200">
          <a:solidFill>
            <a:schemeClr val="tx1"/>
          </a:solidFill>
          <a:latin typeface="+mn-lt"/>
          <a:ea typeface="+mn-ea"/>
          <a:cs typeface="+mn-cs"/>
        </a:defRPr>
      </a:lvl5pPr>
      <a:lvl6pPr marL="1714642" algn="l" defTabSz="685858" rtl="0" eaLnBrk="1" latinLnBrk="0" hangingPunct="1">
        <a:defRPr sz="900" kern="1200">
          <a:solidFill>
            <a:schemeClr val="tx1"/>
          </a:solidFill>
          <a:latin typeface="+mn-lt"/>
          <a:ea typeface="+mn-ea"/>
          <a:cs typeface="+mn-cs"/>
        </a:defRPr>
      </a:lvl6pPr>
      <a:lvl7pPr marL="2057571" algn="l" defTabSz="685858" rtl="0" eaLnBrk="1" latinLnBrk="0" hangingPunct="1">
        <a:defRPr sz="900" kern="1200">
          <a:solidFill>
            <a:schemeClr val="tx1"/>
          </a:solidFill>
          <a:latin typeface="+mn-lt"/>
          <a:ea typeface="+mn-ea"/>
          <a:cs typeface="+mn-cs"/>
        </a:defRPr>
      </a:lvl7pPr>
      <a:lvl8pPr marL="2400500" algn="l" defTabSz="685858" rtl="0" eaLnBrk="1" latinLnBrk="0" hangingPunct="1">
        <a:defRPr sz="900" kern="1200">
          <a:solidFill>
            <a:schemeClr val="tx1"/>
          </a:solidFill>
          <a:latin typeface="+mn-lt"/>
          <a:ea typeface="+mn-ea"/>
          <a:cs typeface="+mn-cs"/>
        </a:defRPr>
      </a:lvl8pPr>
      <a:lvl9pPr marL="2743429" algn="l" defTabSz="685858"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120">
          <p15:clr>
            <a:srgbClr val="F26B43"/>
          </p15:clr>
        </p15:guide>
        <p15:guide id="3" pos="424">
          <p15:clr>
            <a:srgbClr val="F26B43"/>
          </p15:clr>
        </p15:guide>
        <p15:guide id="4" pos="9816">
          <p15:clr>
            <a:srgbClr val="F26B43"/>
          </p15:clr>
        </p15:guide>
        <p15:guide id="5" orient="horz" pos="346">
          <p15:clr>
            <a:srgbClr val="F26B43"/>
          </p15:clr>
        </p15:guide>
        <p15:guide id="6" orient="horz" pos="4156">
          <p15:clr>
            <a:srgbClr val="F26B43"/>
          </p15:clr>
        </p15:guide>
        <p15:guide id="7" orient="horz" pos="1278">
          <p15:clr>
            <a:srgbClr val="F26B43"/>
          </p15:clr>
        </p15:guide>
        <p15:guide id="8" pos="4968">
          <p15:clr>
            <a:srgbClr val="F26B43"/>
          </p15:clr>
        </p15:guide>
        <p15:guide id="9" pos="5272">
          <p15:clr>
            <a:srgbClr val="F26B43"/>
          </p15:clr>
        </p15:guide>
        <p15:guide id="10" orient="horz" pos="40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B8A1960-DEBC-AA38-3680-B6DB3EEAF80D}"/>
              </a:ext>
            </a:extLst>
          </p:cNvPr>
          <p:cNvGraphicFramePr>
            <a:graphicFrameLocks noChangeAspect="1"/>
          </p:cNvGraphicFramePr>
          <p:nvPr userDrawn="1">
            <p:custDataLst>
              <p:tags r:id="rId14"/>
            </p:custDataLst>
            <p:extLst>
              <p:ext uri="{D42A27DB-BD31-4B8C-83A1-F6EECF244321}">
                <p14:modId xmlns:p14="http://schemas.microsoft.com/office/powerpoint/2010/main" val="941807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624" imgH="623" progId="TCLayout.ActiveDocument.1">
                  <p:embed/>
                </p:oleObj>
              </mc:Choice>
              <mc:Fallback>
                <p:oleObj name="think-cell Slide" r:id="rId15" imgW="624" imgH="623" progId="TCLayout.ActiveDocument.1">
                  <p:embed/>
                  <p:pic>
                    <p:nvPicPr>
                      <p:cNvPr id="8" name="think-cell data - do not delete" hidden="1">
                        <a:extLst>
                          <a:ext uri="{FF2B5EF4-FFF2-40B4-BE49-F238E27FC236}">
                            <a16:creationId xmlns:a16="http://schemas.microsoft.com/office/drawing/2014/main" id="{2B8A1960-DEBC-AA38-3680-B6DB3EEAF80D}"/>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B429A1C-9F41-481F-97D9-82E7EEC99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AC58B8-489E-4225-8299-F09941F2D5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62428B-4320-4B38-8754-A36A60650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105626D2-DE46-4802-97C4-FA250DC7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E823ED-83C0-471E-9C25-51B395BC73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54EDE-1844-45C5-B77B-942F00315BA8}" type="slidenum">
              <a:rPr lang="en-US" smtClean="0"/>
              <a:t>‹#›</a:t>
            </a:fld>
            <a:endParaRPr lang="en-US"/>
          </a:p>
        </p:txBody>
      </p:sp>
    </p:spTree>
    <p:extLst>
      <p:ext uri="{BB962C8B-B14F-4D97-AF65-F5344CB8AC3E}">
        <p14:creationId xmlns:p14="http://schemas.microsoft.com/office/powerpoint/2010/main" val="167085999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9.png"/><Relationship Id="rId2" Type="http://schemas.openxmlformats.org/officeDocument/2006/relationships/slideLayout" Target="../slideLayouts/slideLayout23.xml"/><Relationship Id="rId1" Type="http://schemas.openxmlformats.org/officeDocument/2006/relationships/tags" Target="../tags/tag3.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5.xml"/><Relationship Id="rId1" Type="http://schemas.openxmlformats.org/officeDocument/2006/relationships/tags" Target="../tags/tag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9.xml"/><Relationship Id="rId1" Type="http://schemas.openxmlformats.org/officeDocument/2006/relationships/tags" Target="../tags/tag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5.xml"/><Relationship Id="rId1" Type="http://schemas.openxmlformats.org/officeDocument/2006/relationships/tags" Target="../tags/tag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5.xml"/><Relationship Id="rId1" Type="http://schemas.openxmlformats.org/officeDocument/2006/relationships/tags" Target="../tags/tag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5.xml"/><Relationship Id="rId1" Type="http://schemas.openxmlformats.org/officeDocument/2006/relationships/tags" Target="../tags/tag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5.xml"/><Relationship Id="rId1" Type="http://schemas.openxmlformats.org/officeDocument/2006/relationships/tags" Target="../tags/tag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3.xml"/><Relationship Id="rId1" Type="http://schemas.openxmlformats.org/officeDocument/2006/relationships/tags" Target="../tags/tag1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3.xml"/><Relationship Id="rId1" Type="http://schemas.openxmlformats.org/officeDocument/2006/relationships/tags" Target="../tags/tag1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5.xml"/><Relationship Id="rId1" Type="http://schemas.openxmlformats.org/officeDocument/2006/relationships/tags" Target="../tags/tag1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3.xml"/><Relationship Id="rId1" Type="http://schemas.openxmlformats.org/officeDocument/2006/relationships/tags" Target="../tags/tag1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3.xml"/><Relationship Id="rId1" Type="http://schemas.openxmlformats.org/officeDocument/2006/relationships/tags" Target="../tags/tag1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5.xml"/><Relationship Id="rId1" Type="http://schemas.openxmlformats.org/officeDocument/2006/relationships/tags" Target="../tags/tag1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9.xml"/><Relationship Id="rId1" Type="http://schemas.openxmlformats.org/officeDocument/2006/relationships/tags" Target="../tags/tag1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9.xml"/><Relationship Id="rId1" Type="http://schemas.openxmlformats.org/officeDocument/2006/relationships/tags" Target="../tags/tag1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9.xml"/><Relationship Id="rId1" Type="http://schemas.openxmlformats.org/officeDocument/2006/relationships/tags" Target="../tags/tag1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1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5.xml"/><Relationship Id="rId1" Type="http://schemas.openxmlformats.org/officeDocument/2006/relationships/tags" Target="../tags/tag2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5.xml"/><Relationship Id="rId1" Type="http://schemas.openxmlformats.org/officeDocument/2006/relationships/tags" Target="../tags/tag2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5.xml"/><Relationship Id="rId1" Type="http://schemas.openxmlformats.org/officeDocument/2006/relationships/tags" Target="../tags/tag2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5.xml"/><Relationship Id="rId1" Type="http://schemas.openxmlformats.org/officeDocument/2006/relationships/tags" Target="../tags/tag2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3.xml"/><Relationship Id="rId1" Type="http://schemas.openxmlformats.org/officeDocument/2006/relationships/tags" Target="../tags/tag2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5.xml"/><Relationship Id="rId1" Type="http://schemas.openxmlformats.org/officeDocument/2006/relationships/tags" Target="../tags/tag2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hyperlink" Target="https://nationwide.service-now.com/change_request.do?sys_id=96ca1f979f13c79089b89a129724abb2&amp;sysparm_record_target=change_request&amp;sysparm_record_row=1&amp;sysparm_record_rows=5&amp;sysparm_record_list=active%3Dtrue%5Eassignment_groupDYNAMICd6435e965f510100a9ad2572f2b47744%5EORDERBYDESCnumber" TargetMode="External"/><Relationship Id="rId2" Type="http://schemas.openxmlformats.org/officeDocument/2006/relationships/slideLayout" Target="../slideLayouts/slideLayout55.xml"/><Relationship Id="rId1" Type="http://schemas.openxmlformats.org/officeDocument/2006/relationships/tags" Target="../tags/tag26.xml"/><Relationship Id="rId6" Type="http://schemas.openxmlformats.org/officeDocument/2006/relationships/hyperlink" Target="https://nationwide.service-now.com/now/nav/ui/classic/params/target/change_request.do%3Fsys_id%3D473ed35a839f0350cd94c672ddda1e44%26sysparm_stack%3D%26sysparm_view%3D" TargetMode="Externa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tags" Target="../tags/tag2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5.xml"/><Relationship Id="rId1" Type="http://schemas.openxmlformats.org/officeDocument/2006/relationships/tags" Target="../tags/tag2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5.xml"/><Relationship Id="rId1" Type="http://schemas.openxmlformats.org/officeDocument/2006/relationships/tags" Target="../tags/tag2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9.xml"/><Relationship Id="rId1" Type="http://schemas.openxmlformats.org/officeDocument/2006/relationships/tags" Target="../tags/tag3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3.xml"/><Relationship Id="rId1" Type="http://schemas.openxmlformats.org/officeDocument/2006/relationships/tags" Target="../tags/tag3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9.xml"/><Relationship Id="rId1" Type="http://schemas.openxmlformats.org/officeDocument/2006/relationships/tags" Target="../tags/tag3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0.xml"/><Relationship Id="rId1" Type="http://schemas.openxmlformats.org/officeDocument/2006/relationships/tags" Target="../tags/tag3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1.xml"/><Relationship Id="rId1" Type="http://schemas.openxmlformats.org/officeDocument/2006/relationships/tags" Target="../tags/tag34.xml"/><Relationship Id="rId5" Type="http://schemas.openxmlformats.org/officeDocument/2006/relationships/image" Target="../media/image20.emf"/><Relationship Id="rId4" Type="http://schemas.openxmlformats.org/officeDocument/2006/relationships/oleObject" Target="../embeddings/oleObject3.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0.xml"/><Relationship Id="rId1" Type="http://schemas.openxmlformats.org/officeDocument/2006/relationships/tags" Target="../tags/tag3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3.emf"/></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4.emf"/></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9.xml"/><Relationship Id="rId5" Type="http://schemas.openxmlformats.org/officeDocument/2006/relationships/image" Target="../media/image25.emf"/><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6.emf"/></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7.emf"/></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8.emf"/></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9.emf"/></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30.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3C479C-CC25-654E-B9F8-6BF1D7E8E718}"/>
              </a:ext>
            </a:extLst>
          </p:cNvPr>
          <p:cNvSpPr>
            <a:spLocks noGrp="1"/>
          </p:cNvSpPr>
          <p:nvPr>
            <p:ph type="title"/>
          </p:nvPr>
        </p:nvSpPr>
        <p:spPr/>
        <p:txBody>
          <a:bodyPr/>
          <a:lstStyle/>
          <a:p>
            <a:r>
              <a:rPr lang="en-US"/>
              <a:t>2026 Weekly Portfolio Status</a:t>
            </a:r>
          </a:p>
        </p:txBody>
      </p:sp>
      <p:sp>
        <p:nvSpPr>
          <p:cNvPr id="10" name="Text Placeholder 9">
            <a:extLst>
              <a:ext uri="{FF2B5EF4-FFF2-40B4-BE49-F238E27FC236}">
                <a16:creationId xmlns:a16="http://schemas.microsoft.com/office/drawing/2014/main" id="{4AE516F1-C650-D241-B4B4-325C346925E8}"/>
              </a:ext>
            </a:extLst>
          </p:cNvPr>
          <p:cNvSpPr>
            <a:spLocks noGrp="1"/>
          </p:cNvSpPr>
          <p:nvPr>
            <p:ph type="body" sz="quarter" idx="12"/>
          </p:nvPr>
        </p:nvSpPr>
        <p:spPr/>
        <p:txBody>
          <a:bodyPr/>
          <a:lstStyle/>
          <a:p>
            <a:r>
              <a:rPr lang="en-US"/>
              <a:t>Cindy Trudeau &amp; Delivery Leads</a:t>
            </a:r>
          </a:p>
          <a:p>
            <a:endParaRPr lang="en-US"/>
          </a:p>
        </p:txBody>
      </p:sp>
      <p:sp>
        <p:nvSpPr>
          <p:cNvPr id="11" name="Text Placeholder 10">
            <a:extLst>
              <a:ext uri="{FF2B5EF4-FFF2-40B4-BE49-F238E27FC236}">
                <a16:creationId xmlns:a16="http://schemas.microsoft.com/office/drawing/2014/main" id="{F3074D63-196F-2446-ACC4-5020D61EDE04}"/>
              </a:ext>
            </a:extLst>
          </p:cNvPr>
          <p:cNvSpPr>
            <a:spLocks noGrp="1"/>
          </p:cNvSpPr>
          <p:nvPr>
            <p:ph type="body" sz="quarter" idx="13"/>
          </p:nvPr>
        </p:nvSpPr>
        <p:spPr/>
        <p:txBody>
          <a:bodyPr/>
          <a:lstStyle/>
          <a:p>
            <a:r>
              <a:rPr lang="en-US"/>
              <a:t>Oct 12, 2026</a:t>
            </a:r>
          </a:p>
        </p:txBody>
      </p:sp>
      <p:sp>
        <p:nvSpPr>
          <p:cNvPr id="12" name="Text Placeholder 11">
            <a:extLst>
              <a:ext uri="{FF2B5EF4-FFF2-40B4-BE49-F238E27FC236}">
                <a16:creationId xmlns:a16="http://schemas.microsoft.com/office/drawing/2014/main" id="{4FB5C958-1BC8-6245-92E1-79E2A30BF6C3}"/>
              </a:ext>
            </a:extLst>
          </p:cNvPr>
          <p:cNvSpPr>
            <a:spLocks noGrp="1"/>
          </p:cNvSpPr>
          <p:nvPr>
            <p:ph type="body" sz="quarter" idx="14"/>
          </p:nvPr>
        </p:nvSpPr>
        <p:spPr/>
        <p:txBody>
          <a:bodyPr/>
          <a:lstStyle/>
          <a:p>
            <a:r>
              <a:rPr lang="en-US"/>
              <a:t>Pet Tech Delivery</a:t>
            </a:r>
          </a:p>
        </p:txBody>
      </p:sp>
    </p:spTree>
    <p:extLst>
      <p:ext uri="{BB962C8B-B14F-4D97-AF65-F5344CB8AC3E}">
        <p14:creationId xmlns:p14="http://schemas.microsoft.com/office/powerpoint/2010/main" val="2180573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565F-450F-D5FF-644D-B9AEB40C5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F2040-5540-415B-35A8-E674F87F54C1}"/>
              </a:ext>
            </a:extLst>
          </p:cNvPr>
          <p:cNvSpPr>
            <a:spLocks noGrp="1"/>
          </p:cNvSpPr>
          <p:nvPr>
            <p:ph type="title"/>
          </p:nvPr>
        </p:nvSpPr>
        <p:spPr/>
        <p:txBody>
          <a:bodyPr/>
          <a:lstStyle/>
          <a:p>
            <a:r>
              <a:rPr lang="en-US"/>
              <a:t>Red Projects</a:t>
            </a:r>
          </a:p>
        </p:txBody>
      </p:sp>
    </p:spTree>
    <p:extLst>
      <p:ext uri="{BB962C8B-B14F-4D97-AF65-F5344CB8AC3E}">
        <p14:creationId xmlns:p14="http://schemas.microsoft.com/office/powerpoint/2010/main" val="3829379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extLst>
              <p:ext uri="{D42A27DB-BD31-4B8C-83A1-F6EECF244321}">
                <p14:modId xmlns:p14="http://schemas.microsoft.com/office/powerpoint/2010/main" val="891245120"/>
              </p:ext>
            </p:extLst>
          </p:nvPr>
        </p:nvGraphicFramePr>
        <p:xfrm>
          <a:off x="5901289" y="6536481"/>
          <a:ext cx="6203676" cy="310524"/>
        </p:xfrm>
        <a:graphic>
          <a:graphicData uri="http://schemas.openxmlformats.org/drawingml/2006/table">
            <a:tbl>
              <a:tblPr/>
              <a:tblGrid>
                <a:gridCol w="519705">
                  <a:extLst>
                    <a:ext uri="{9D8B030D-6E8A-4147-A177-3AD203B41FA5}">
                      <a16:colId xmlns:a16="http://schemas.microsoft.com/office/drawing/2014/main" val="20000"/>
                    </a:ext>
                  </a:extLst>
                </a:gridCol>
                <a:gridCol w="263408">
                  <a:extLst>
                    <a:ext uri="{9D8B030D-6E8A-4147-A177-3AD203B41FA5}">
                      <a16:colId xmlns:a16="http://schemas.microsoft.com/office/drawing/2014/main" val="20001"/>
                    </a:ext>
                  </a:extLst>
                </a:gridCol>
                <a:gridCol w="649245">
                  <a:extLst>
                    <a:ext uri="{9D8B030D-6E8A-4147-A177-3AD203B41FA5}">
                      <a16:colId xmlns:a16="http://schemas.microsoft.com/office/drawing/2014/main" val="20002"/>
                    </a:ext>
                  </a:extLst>
                </a:gridCol>
                <a:gridCol w="259508">
                  <a:extLst>
                    <a:ext uri="{9D8B030D-6E8A-4147-A177-3AD203B41FA5}">
                      <a16:colId xmlns:a16="http://schemas.microsoft.com/office/drawing/2014/main" val="20003"/>
                    </a:ext>
                  </a:extLst>
                </a:gridCol>
                <a:gridCol w="570172">
                  <a:extLst>
                    <a:ext uri="{9D8B030D-6E8A-4147-A177-3AD203B41FA5}">
                      <a16:colId xmlns:a16="http://schemas.microsoft.com/office/drawing/2014/main" val="20004"/>
                    </a:ext>
                  </a:extLst>
                </a:gridCol>
                <a:gridCol w="443945">
                  <a:extLst>
                    <a:ext uri="{9D8B030D-6E8A-4147-A177-3AD203B41FA5}">
                      <a16:colId xmlns:a16="http://schemas.microsoft.com/office/drawing/2014/main" val="20005"/>
                    </a:ext>
                  </a:extLst>
                </a:gridCol>
                <a:gridCol w="487176">
                  <a:extLst>
                    <a:ext uri="{9D8B030D-6E8A-4147-A177-3AD203B41FA5}">
                      <a16:colId xmlns:a16="http://schemas.microsoft.com/office/drawing/2014/main" val="20006"/>
                    </a:ext>
                  </a:extLst>
                </a:gridCol>
                <a:gridCol w="316216">
                  <a:extLst>
                    <a:ext uri="{9D8B030D-6E8A-4147-A177-3AD203B41FA5}">
                      <a16:colId xmlns:a16="http://schemas.microsoft.com/office/drawing/2014/main" val="20007"/>
                    </a:ext>
                  </a:extLst>
                </a:gridCol>
                <a:gridCol w="1175803">
                  <a:extLst>
                    <a:ext uri="{9D8B030D-6E8A-4147-A177-3AD203B41FA5}">
                      <a16:colId xmlns:a16="http://schemas.microsoft.com/office/drawing/2014/main" val="20008"/>
                    </a:ext>
                  </a:extLst>
                </a:gridCol>
                <a:gridCol w="324125">
                  <a:extLst>
                    <a:ext uri="{9D8B030D-6E8A-4147-A177-3AD203B41FA5}">
                      <a16:colId xmlns:a16="http://schemas.microsoft.com/office/drawing/2014/main" val="20009"/>
                    </a:ext>
                  </a:extLst>
                </a:gridCol>
                <a:gridCol w="1194373">
                  <a:extLst>
                    <a:ext uri="{9D8B030D-6E8A-4147-A177-3AD203B41FA5}">
                      <a16:colId xmlns:a16="http://schemas.microsoft.com/office/drawing/2014/main" val="20010"/>
                    </a:ext>
                  </a:extLst>
                </a:gridCol>
              </a:tblGrid>
              <a:tr h="25779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732020348"/>
              </p:ext>
            </p:extLst>
          </p:nvPr>
        </p:nvGraphicFramePr>
        <p:xfrm>
          <a:off x="197511" y="635042"/>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1050" b="1" i="0" u="none" strike="noStrike" cap="none" normalizeH="0" baseline="0">
                          <a:ln>
                            <a:noFill/>
                          </a:ln>
                          <a:solidFill>
                            <a:schemeClr val="tx1"/>
                          </a:solidFill>
                          <a:effectLst/>
                          <a:latin typeface="Arial"/>
                        </a:rPr>
                        <a:t>10/09/2026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nvGraphicFramePr>
        <p:xfrm>
          <a:off x="6679775" y="642550"/>
          <a:ext cx="5352360" cy="730385"/>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54378">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76007">
                <a:tc>
                  <a:txBody>
                    <a:bodyPr/>
                    <a:lstStyle/>
                    <a:p>
                      <a:pPr marL="0" marR="0" lvl="0" indent="0" algn="ctr" rtl="0" eaLnBrk="1" fontAlgn="ctr" latinLnBrk="0" hangingPunct="1">
                        <a:lnSpc>
                          <a:spcPct val="95000"/>
                        </a:lnSpc>
                        <a:spcBef>
                          <a:spcPct val="0"/>
                        </a:spcBef>
                        <a:spcAft>
                          <a:spcPct val="50000"/>
                        </a:spcAft>
                        <a:buClrTx/>
                        <a:buSzTx/>
                        <a:buFontTx/>
                        <a:buNone/>
                      </a:pPr>
                      <a:r>
                        <a:rPr lang="en-US" sz="900">
                          <a:latin typeface="+mn-lt"/>
                          <a:cs typeface="Arial" panose="020B0604020202020204" pitchFamily="34" charset="0"/>
                        </a:rPr>
                        <a:t>$4,111,000</a:t>
                      </a:r>
                      <a:endParaRPr lang="en-US" sz="900" b="1" kern="1200">
                        <a:solidFill>
                          <a:schemeClr val="tx1"/>
                        </a:solidFill>
                        <a:effectLst/>
                        <a:latin typeface="+mn-lt"/>
                        <a:ea typeface="+mn-ea"/>
                        <a:cs typeface="Arial" panose="020B0604020202020204" pitchFamily="34" charset="0"/>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$2,526,060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$1,162,654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$3,688,714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900">
                          <a:latin typeface="+mn-lt"/>
                          <a:cs typeface="Arial" panose="020B0604020202020204" pitchFamily="34" charset="0"/>
                        </a:rPr>
                        <a:t>$6,200,000</a:t>
                      </a:r>
                      <a:endParaRPr lang="en-US" sz="900" b="1" kern="1200">
                        <a:solidFill>
                          <a:schemeClr val="tx1"/>
                        </a:solidFill>
                        <a:effectLst/>
                        <a:latin typeface="+mn-lt"/>
                        <a:ea typeface="+mn-ea"/>
                        <a:cs typeface="Arial" panose="020B0604020202020204" pitchFamily="34" charset="0"/>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811025" y="637202"/>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nvGraphicFramePr>
        <p:xfrm>
          <a:off x="204245" y="988487"/>
          <a:ext cx="2581575" cy="395688"/>
        </p:xfrm>
        <a:graphic>
          <a:graphicData uri="http://schemas.openxmlformats.org/drawingml/2006/table">
            <a:tbl>
              <a:tblPr/>
              <a:tblGrid>
                <a:gridCol w="978010">
                  <a:extLst>
                    <a:ext uri="{9D8B030D-6E8A-4147-A177-3AD203B41FA5}">
                      <a16:colId xmlns:a16="http://schemas.microsoft.com/office/drawing/2014/main" val="20000"/>
                    </a:ext>
                  </a:extLst>
                </a:gridCol>
                <a:gridCol w="1603565">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Dark Launch: Oct 21</a:t>
                      </a:r>
                    </a:p>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Go live: Nov </a:t>
                      </a:r>
                      <a:r>
                        <a:rPr lang="en-US" sz="900" b="1" i="1" u="none" strike="noStrike" kern="1200" cap="none" normalizeH="0" baseline="0">
                          <a:ln>
                            <a:noFill/>
                          </a:ln>
                          <a:solidFill>
                            <a:schemeClr val="tx1"/>
                          </a:solidFill>
                          <a:effectLst/>
                          <a:latin typeface="+mn-lt"/>
                          <a:ea typeface="+mn-ea"/>
                          <a:cs typeface="+mn-cs"/>
                        </a:rPr>
                        <a:t>11</a:t>
                      </a:r>
                      <a:endParaRPr kumimoji="0" lang="en-US" sz="900" b="1" strike="noStrike">
                        <a:solidFill>
                          <a:schemeClr val="tx1"/>
                        </a:solidFill>
                        <a:highlight>
                          <a:srgbClr val="FFFF99"/>
                        </a:highlight>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1924540994"/>
              </p:ext>
            </p:extLst>
          </p:nvPr>
        </p:nvGraphicFramePr>
        <p:xfrm>
          <a:off x="5849438" y="1346034"/>
          <a:ext cx="6234000" cy="4086427"/>
        </p:xfrm>
        <a:graphic>
          <a:graphicData uri="http://schemas.openxmlformats.org/drawingml/2006/table">
            <a:tbl>
              <a:tblPr>
                <a:tableStyleId>{5C22544A-7EE6-4342-B048-85BDC9FD1C3A}</a:tableStyleId>
              </a:tblPr>
              <a:tblGrid>
                <a:gridCol w="2281769">
                  <a:extLst>
                    <a:ext uri="{9D8B030D-6E8A-4147-A177-3AD203B41FA5}">
                      <a16:colId xmlns:a16="http://schemas.microsoft.com/office/drawing/2014/main" val="2456552316"/>
                    </a:ext>
                  </a:extLst>
                </a:gridCol>
                <a:gridCol w="469697">
                  <a:extLst>
                    <a:ext uri="{9D8B030D-6E8A-4147-A177-3AD203B41FA5}">
                      <a16:colId xmlns:a16="http://schemas.microsoft.com/office/drawing/2014/main" val="1100051595"/>
                    </a:ext>
                  </a:extLst>
                </a:gridCol>
                <a:gridCol w="586670">
                  <a:extLst>
                    <a:ext uri="{9D8B030D-6E8A-4147-A177-3AD203B41FA5}">
                      <a16:colId xmlns:a16="http://schemas.microsoft.com/office/drawing/2014/main" val="2042261034"/>
                    </a:ext>
                  </a:extLst>
                </a:gridCol>
                <a:gridCol w="2895864">
                  <a:extLst>
                    <a:ext uri="{9D8B030D-6E8A-4147-A177-3AD203B41FA5}">
                      <a16:colId xmlns:a16="http://schemas.microsoft.com/office/drawing/2014/main" val="2815874248"/>
                    </a:ext>
                  </a:extLst>
                </a:gridCol>
              </a:tblGrid>
              <a:tr h="28876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2 (Communication and Servicing))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64978745"/>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3 (VBO admin)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5/27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2323326"/>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4 (Billing)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8/18</a:t>
                      </a:r>
                      <a:endParaRPr lang="en-US" sz="800" strike="sngStrike">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590502"/>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Finance Schedule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6224152"/>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76205636"/>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Finance Development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31025449"/>
                  </a:ext>
                </a:extLst>
              </a:tr>
              <a:tr h="2097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5 &amp; 6 DDIT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9/18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25275584"/>
                  </a:ext>
                </a:extLst>
              </a:tr>
              <a:tr h="233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E2E Testing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10/02</a:t>
                      </a:r>
                    </a:p>
                    <a:p>
                      <a:pPr algn="ctr"/>
                      <a:r>
                        <a:rPr lang="en-US" sz="850" strike="noStrike">
                          <a:latin typeface="+mn-lt"/>
                        </a:rPr>
                        <a:t>10/16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645152"/>
                  </a:ext>
                </a:extLst>
              </a:tr>
              <a:tr h="233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IAM 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10/15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i="0">
                          <a:solidFill>
                            <a:srgbClr val="000000"/>
                          </a:solidFill>
                          <a:effectLst/>
                          <a:latin typeface="+mn-lt"/>
                          <a:cs typeface="Times New Roman"/>
                        </a:rPr>
                        <a:t>IAM GO/No GO 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5697369"/>
                  </a:ext>
                </a:extLst>
              </a:tr>
              <a:tr h="233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UAT Validation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10/09</a:t>
                      </a:r>
                    </a:p>
                    <a:p>
                      <a:pPr algn="ctr"/>
                      <a:r>
                        <a:rPr lang="en-US" sz="850" strike="noStrike">
                          <a:latin typeface="+mn-lt"/>
                        </a:rPr>
                        <a:t>10/16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i="0">
                          <a:solidFill>
                            <a:srgbClr val="000000"/>
                          </a:solidFill>
                          <a:effectLst/>
                          <a:latin typeface="+mn-lt"/>
                          <a:cs typeface="Times New Roman"/>
                        </a:rPr>
                        <a:t>Dates were adjusted to allow additional testing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259184"/>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Portal 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10/21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1238048"/>
                  </a:ext>
                </a:extLst>
              </a:tr>
              <a:tr h="19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Finance Prod Deployment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10/23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i="0">
                          <a:solidFill>
                            <a:srgbClr val="000000"/>
                          </a:solidFill>
                          <a:effectLst/>
                          <a:latin typeface="+mn-lt"/>
                          <a:cs typeface="Times New Roman"/>
                        </a:rPr>
                        <a:t>Red due to open defect and risk of testing completion by 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0719525"/>
                  </a:ext>
                </a:extLst>
              </a:tr>
              <a:tr h="199667">
                <a:tc>
                  <a:txBody>
                    <a:bodyPr/>
                    <a:lstStyle/>
                    <a:p>
                      <a:pPr lvl="0" algn="l"/>
                      <a:r>
                        <a:rPr lang="en-US" sz="850" b="0" kern="1200">
                          <a:solidFill>
                            <a:schemeClr val="tx1"/>
                          </a:solidFill>
                          <a:effectLst/>
                          <a:latin typeface="+mn-lt"/>
                          <a:ea typeface="+mn-ea"/>
                          <a:cs typeface="+mn-cs"/>
                        </a:rPr>
                        <a:t>Go Live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3584286"/>
                  </a:ext>
                </a:extLst>
              </a:tr>
              <a:tr h="196486">
                <a:tc>
                  <a:txBody>
                    <a:bodyPr/>
                    <a:lstStyle/>
                    <a:p>
                      <a:pPr lvl="0" algn="l"/>
                      <a:r>
                        <a:rPr lang="en-US" sz="850" b="0" kern="1200">
                          <a:solidFill>
                            <a:schemeClr val="tx1"/>
                          </a:solidFill>
                          <a:effectLst/>
                          <a:latin typeface="+mn-lt"/>
                          <a:ea typeface="+mn-ea"/>
                          <a:cs typeface="+mn-cs"/>
                        </a:rPr>
                        <a:t>Warranty</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085306"/>
                  </a:ext>
                </a:extLst>
              </a:tr>
              <a:tr h="196486">
                <a:tc>
                  <a:txBody>
                    <a:bodyPr/>
                    <a:lstStyle/>
                    <a:p>
                      <a:pPr lvl="0" algn="l"/>
                      <a:r>
                        <a:rPr lang="en-US" sz="850" b="0" kern="1200">
                          <a:solidFill>
                            <a:schemeClr val="tx1"/>
                          </a:solidFill>
                          <a:effectLst/>
                          <a:latin typeface="+mn-lt"/>
                          <a:ea typeface="+mn-ea"/>
                          <a:cs typeface="+mn-cs"/>
                        </a:rPr>
                        <a:t>Onboarding, stability and user experience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mn-lt"/>
                        </a:rPr>
                        <a:t>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3275921"/>
                  </a:ext>
                </a:extLst>
              </a:tr>
              <a:tr h="274366">
                <a:tc>
                  <a:txBody>
                    <a:bodyPr/>
                    <a:lstStyle/>
                    <a:p>
                      <a:pPr lvl="0" algn="l"/>
                      <a:r>
                        <a:rPr lang="en-US" sz="850" b="0" kern="1200">
                          <a:solidFill>
                            <a:schemeClr val="tx1"/>
                          </a:solidFill>
                          <a:effectLst/>
                          <a:latin typeface="+mn-lt"/>
                          <a:ea typeface="+mn-ea"/>
                          <a:cs typeface="+mn-cs"/>
                        </a:rPr>
                        <a:t>“Should Have” Features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5/31/27</a:t>
                      </a:r>
                    </a:p>
                    <a:p>
                      <a:pPr algn="ctr"/>
                      <a:r>
                        <a:rPr lang="en-US" sz="850" strike="noStrike">
                          <a:latin typeface="+mn-lt"/>
                        </a:rPr>
                        <a:t>6/30/27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i="0">
                          <a:solidFill>
                            <a:srgbClr val="000000"/>
                          </a:solidFill>
                          <a:effectLst/>
                          <a:latin typeface="+mn-lt"/>
                          <a:cs typeface="Times New Roman"/>
                        </a:rPr>
                        <a:t>Dates were adjusted to allow additional  time for MVP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857999"/>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extLst>
              <p:ext uri="{D42A27DB-BD31-4B8C-83A1-F6EECF244321}">
                <p14:modId xmlns:p14="http://schemas.microsoft.com/office/powerpoint/2010/main" val="4227924956"/>
              </p:ext>
            </p:extLst>
          </p:nvPr>
        </p:nvGraphicFramePr>
        <p:xfrm>
          <a:off x="5851674" y="5451825"/>
          <a:ext cx="6272582" cy="1038398"/>
        </p:xfrm>
        <a:graphic>
          <a:graphicData uri="http://schemas.openxmlformats.org/drawingml/2006/table">
            <a:tbl>
              <a:tblPr>
                <a:tableStyleId>{5C22544A-7EE6-4342-B048-85BDC9FD1C3A}</a:tableStyleId>
              </a:tblPr>
              <a:tblGrid>
                <a:gridCol w="2324262">
                  <a:extLst>
                    <a:ext uri="{9D8B030D-6E8A-4147-A177-3AD203B41FA5}">
                      <a16:colId xmlns:a16="http://schemas.microsoft.com/office/drawing/2014/main" val="2456552316"/>
                    </a:ext>
                  </a:extLst>
                </a:gridCol>
                <a:gridCol w="450054">
                  <a:extLst>
                    <a:ext uri="{9D8B030D-6E8A-4147-A177-3AD203B41FA5}">
                      <a16:colId xmlns:a16="http://schemas.microsoft.com/office/drawing/2014/main" val="1100051595"/>
                    </a:ext>
                  </a:extLst>
                </a:gridCol>
                <a:gridCol w="514346">
                  <a:extLst>
                    <a:ext uri="{9D8B030D-6E8A-4147-A177-3AD203B41FA5}">
                      <a16:colId xmlns:a16="http://schemas.microsoft.com/office/drawing/2014/main" val="2042261034"/>
                    </a:ext>
                  </a:extLst>
                </a:gridCol>
                <a:gridCol w="2983920">
                  <a:extLst>
                    <a:ext uri="{9D8B030D-6E8A-4147-A177-3AD203B41FA5}">
                      <a16:colId xmlns:a16="http://schemas.microsoft.com/office/drawing/2014/main" val="2815874248"/>
                    </a:ext>
                  </a:extLst>
                </a:gridCol>
              </a:tblGrid>
              <a:tr h="290879">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charset="0"/>
                        <a:ea typeface="+mn-ea"/>
                        <a:cs typeface="+mn-cs"/>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93320">
                <a:tc>
                  <a:txBody>
                    <a:bodyPr/>
                    <a:lstStyle/>
                    <a:p>
                      <a:r>
                        <a:rPr lang="en-US" sz="800"/>
                        <a:t>EP remains </a:t>
                      </a:r>
                      <a:r>
                        <a:rPr lang="en-US" sz="800" b="1"/>
                        <a:t>Red</a:t>
                      </a:r>
                      <a:r>
                        <a:rPr lang="en-US" sz="800"/>
                        <a:t> because UAT is 2 weeks behind plan, remaining PDX development/testing and UAT dates are not confirmed, and IAM, Finance, and QE dependencies could further delay testing and threaten the October 9 target, October 21 dark launch, and October 23 production date</a:t>
                      </a:r>
                    </a:p>
                  </a:txBody>
                  <a:tcPr marR="9525" marT="865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600" b="0" kern="1200">
                        <a:solidFill>
                          <a:schemeClr val="tx1"/>
                        </a:solidFill>
                        <a:effectLst/>
                        <a:latin typeface="+mn-lt"/>
                        <a:ea typeface="+mn-ea"/>
                        <a:cs typeface="+mn-cs"/>
                      </a:endParaRPr>
                    </a:p>
                  </a:txBody>
                  <a:tcPr marL="9525" marR="9525" marT="8659" marB="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600" b="0" strike="noStrike" kern="1200">
                        <a:solidFill>
                          <a:schemeClr val="tx1"/>
                        </a:solidFill>
                        <a:effectLst/>
                        <a:latin typeface="+mn-lt"/>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endParaRPr lang="en-US" sz="600" b="0" strike="noStrike" kern="1200">
                        <a:solidFill>
                          <a:schemeClr val="tx1"/>
                        </a:solidFill>
                        <a:effectLst/>
                        <a:latin typeface="+mn-lt"/>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mn-lt"/>
                          <a:ea typeface="+mn-ea"/>
                          <a:cs typeface="+mn-cs"/>
                        </a:rPr>
                        <a:t>9/30</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10/30</a:t>
                      </a:r>
                    </a:p>
                  </a:txBody>
                  <a:tcPr marL="9525" marR="9525" marT="8659" marB="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Execute one integrated recovery plan with firm development-completion and UAT start/finish dates; resume IAM testing, prioritize critical Finance Cycle 1 scenarios, secure/replace QE capacity, and track daily progress, defects, retesting, and release readiness against the October 8, October 9, October 21, and October 23 milestones.</a:t>
                      </a:r>
                    </a:p>
                  </a:txBody>
                  <a:tcPr marR="9525" marT="865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379506" y="6563533"/>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327853" y="6609103"/>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193840" y="6609103"/>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03638" y="1110723"/>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0000"/>
              </a:highlight>
              <a:uLnTx/>
              <a:uFillTx/>
              <a:latin typeface="Aptos" panose="02110004020202020204"/>
              <a:ea typeface="+mn-ea"/>
              <a:cs typeface="+mn-cs"/>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86105" y="1110723"/>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143033" y="1110723"/>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78524" y="1101487"/>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FB12DBC5-FE50-D649-59F3-F5DFE1A04FC0}"/>
              </a:ext>
            </a:extLst>
          </p:cNvPr>
          <p:cNvSpPr txBox="1"/>
          <p:nvPr/>
        </p:nvSpPr>
        <p:spPr>
          <a:xfrm>
            <a:off x="56630" y="1428787"/>
            <a:ext cx="5806158" cy="5216813"/>
          </a:xfrm>
          <a:prstGeom prst="rect">
            <a:avLst/>
          </a:prstGeom>
          <a:noFill/>
        </p:spPr>
        <p:txBody>
          <a:bodyPr wrap="square" lIns="91440" tIns="45720" rIns="91440" bIns="45720" anchor="t">
            <a:spAutoFit/>
          </a:bodyPr>
          <a:lstStyle/>
          <a:p>
            <a:r>
              <a:rPr lang="en-US" sz="850"/>
              <a:t>Overall status remains </a:t>
            </a:r>
            <a:r>
              <a:rPr lang="en-US" sz="850" b="1"/>
              <a:t>Red </a:t>
            </a:r>
            <a:r>
              <a:rPr lang="en-US" sz="850"/>
              <a:t>. The team is making solid progress in UAT, Finance, IAM, and core role-based testing. The immediate focus is converting the </a:t>
            </a:r>
            <a:r>
              <a:rPr lang="en-US" sz="850" b="1"/>
              <a:t>Highest/High validation </a:t>
            </a:r>
            <a:r>
              <a:rPr lang="en-US" sz="850"/>
              <a:t>queue into confirmed closures while maintaining momentum toward the October 21 dark launch and November 11 go-live. </a:t>
            </a:r>
          </a:p>
          <a:p>
            <a:endParaRPr lang="en-US" sz="850"/>
          </a:p>
          <a:p>
            <a:r>
              <a:rPr lang="en-US" sz="850"/>
              <a:t>Since October 1, the team has made measurable progress across testing and readiness:</a:t>
            </a:r>
            <a:endParaRPr lang="en-US" sz="850" b="1" i="0" u="none" strike="noStrike" kern="1200" cap="none" spc="0" normalizeH="0" baseline="0" noProof="0">
              <a:ln>
                <a:noFill/>
              </a:ln>
              <a:solidFill>
                <a:prstClr val="black"/>
              </a:solidFill>
              <a:effectLst/>
              <a:uLnTx/>
              <a:uFillTx/>
              <a:cs typeface="Arial" panose="020B0604020202020204" pitchFamily="34" charset="0"/>
            </a:endParaRPr>
          </a:p>
          <a:p>
            <a:pPr marL="171450" indent="-171450">
              <a:buFont typeface="Arial" panose="020B0604020202020204" pitchFamily="34" charset="0"/>
              <a:buChar char="•"/>
            </a:pPr>
            <a:r>
              <a:rPr lang="en-US" sz="850" b="1"/>
              <a:t>IAM is green for the October 15 release.</a:t>
            </a:r>
            <a:r>
              <a:rPr lang="en-US" sz="850"/>
              <a:t> Testing and signoffs are complete, with no remaining release blockers identified. Go/No Go is scheduled for 10/9.</a:t>
            </a:r>
          </a:p>
          <a:p>
            <a:pPr marL="171450" indent="-171450">
              <a:buFont typeface="Arial" panose="020B0604020202020204" pitchFamily="34" charset="0"/>
              <a:buChar char="•"/>
            </a:pPr>
            <a:endParaRPr lang="en-US" sz="850" b="1"/>
          </a:p>
          <a:p>
            <a:pPr marL="171450" indent="-171450">
              <a:buFont typeface="Arial" panose="020B0604020202020204" pitchFamily="34" charset="0"/>
              <a:buChar char="•"/>
            </a:pPr>
            <a:r>
              <a:rPr lang="en-US" sz="850" b="1"/>
              <a:t>Finance:</a:t>
            </a:r>
            <a:r>
              <a:rPr lang="en-US" sz="850"/>
              <a:t> Improved from </a:t>
            </a:r>
            <a:r>
              <a:rPr lang="en-US" sz="850" b="1"/>
              <a:t>41 passed / 3 failed / 18 pending</a:t>
            </a:r>
            <a:r>
              <a:rPr lang="en-US" sz="850"/>
              <a:t> to </a:t>
            </a:r>
            <a:r>
              <a:rPr lang="en-US" sz="850" b="1"/>
              <a:t>50 passed / 0 failed / 10 pending</a:t>
            </a:r>
            <a:r>
              <a:rPr lang="en-US" sz="850"/>
              <a:t>. Finance remains an execution risk against the October 9 testing completion date. There are currently 10 high defects: 4 in backlog, 3 ready for testing , 1 in development and 2 in testing. </a:t>
            </a:r>
          </a:p>
          <a:p>
            <a:pPr marL="171450" indent="-171450">
              <a:buFont typeface="Arial" panose="020B0604020202020204" pitchFamily="34" charset="0"/>
              <a:buChar char="•"/>
            </a:pPr>
            <a:endParaRPr lang="en-US" sz="850" b="1"/>
          </a:p>
          <a:p>
            <a:pPr marL="171450" indent="-171450">
              <a:buFont typeface="Arial" panose="020B0604020202020204" pitchFamily="34" charset="0"/>
              <a:buChar char="•"/>
            </a:pPr>
            <a:r>
              <a:rPr lang="en-US" sz="850" b="1"/>
              <a:t>UAT execution increased</a:t>
            </a:r>
            <a:r>
              <a:rPr lang="en-US" sz="850"/>
              <a:t> from 168 of 551 scenarios completed (</a:t>
            </a:r>
            <a:r>
              <a:rPr lang="en-US" sz="850" b="1"/>
              <a:t>30%</a:t>
            </a:r>
            <a:r>
              <a:rPr lang="en-US" sz="850"/>
              <a:t>) to 250 of 539 (</a:t>
            </a:r>
            <a:r>
              <a:rPr lang="en-US" sz="850" b="1"/>
              <a:t>46%</a:t>
            </a:r>
            <a:r>
              <a:rPr lang="en-US" sz="850"/>
              <a:t>), with 289 scenarios remaining. 68 defects closed since last week.</a:t>
            </a:r>
          </a:p>
          <a:p>
            <a:pPr marL="171450" indent="-171450">
              <a:buFont typeface="Arial" panose="020B0604020202020204" pitchFamily="34" charset="0"/>
              <a:buChar char="•"/>
            </a:pPr>
            <a:endParaRPr lang="en-US" sz="850"/>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lang="en-US" sz="900" b="1">
              <a:solidFill>
                <a:prstClr val="black"/>
              </a:solidFill>
              <a:cs typeface="Arial" panose="020B0604020202020204" pitchFamily="34" charset="0"/>
            </a:endParaRPr>
          </a:p>
          <a:p>
            <a:endParaRPr kumimoji="0" lang="en-US" sz="900" b="1" i="0" u="none" strike="noStrike" kern="1200" cap="none" spc="0" normalizeH="0" baseline="0" noProof="0">
              <a:ln>
                <a:noFill/>
              </a:ln>
              <a:solidFill>
                <a:prstClr val="black"/>
              </a:solidFill>
              <a:effectLst/>
              <a:uLnTx/>
              <a:uFillTx/>
              <a:cs typeface="Arial" panose="020B0604020202020204" pitchFamily="34" charset="0"/>
            </a:endParaRPr>
          </a:p>
          <a:p>
            <a:endParaRPr kumimoji="0" lang="en-US" sz="900" b="1" i="0" u="none" strike="noStrike" kern="1200" cap="none" spc="0" normalizeH="0" baseline="0" noProof="0">
              <a:ln>
                <a:noFill/>
              </a:ln>
              <a:solidFill>
                <a:prstClr val="black"/>
              </a:solidFill>
              <a:effectLst/>
              <a:uLnTx/>
              <a:uFillTx/>
              <a:cs typeface="Arial" panose="020B0604020202020204" pitchFamily="34" charset="0"/>
            </a:endParaRPr>
          </a:p>
          <a:p>
            <a:r>
              <a:rPr kumimoji="0" lang="en-US" sz="900" b="1" i="0" u="none" strike="noStrike" kern="1200" cap="none" spc="0" normalizeH="0" baseline="0" noProof="0">
                <a:ln>
                  <a:noFill/>
                </a:ln>
                <a:solidFill>
                  <a:prstClr val="black"/>
                </a:solidFill>
                <a:effectLst/>
                <a:uLnTx/>
                <a:uFillTx/>
                <a:cs typeface="Arial" panose="020B0604020202020204" pitchFamily="34" charset="0"/>
              </a:rPr>
              <a:t>Financial </a:t>
            </a:r>
          </a:p>
          <a:p>
            <a:pPr marL="628650" lvl="1" indent="-171450">
              <a:buFont typeface="Arial" panose="020B0604020202020204" pitchFamily="34" charset="0"/>
              <a:buChar char="•"/>
              <a:defRPr/>
            </a:pPr>
            <a:r>
              <a:rPr lang="en-US" sz="900" b="1"/>
              <a:t>Sept month-end:</a:t>
            </a:r>
            <a:r>
              <a:rPr lang="en-US" sz="900"/>
              <a:t> YTD spend is $2.5M, down $67K month over month. Year-end spend is forecast at $3.7M, $0.4M below approved budget due to delays in filing additional Phase 2 resources. The $0.4M underspend will be released back to the Portfolio.</a:t>
            </a:r>
            <a:endParaRPr kumimoji="0" lang="en-US" sz="900" b="0" i="0" u="none" strike="noStrike" kern="1200" cap="none" spc="0" normalizeH="0" baseline="0" noProof="0">
              <a:ln>
                <a:noFill/>
              </a:ln>
              <a:solidFill>
                <a:prstClr val="black"/>
              </a:solidFill>
              <a:effectLst/>
              <a:uLnTx/>
              <a:uFillTx/>
              <a:cs typeface="Arial" panose="020B0604020202020204" pitchFamily="34" charset="0"/>
            </a:endParaRPr>
          </a:p>
        </p:txBody>
      </p:sp>
      <p:sp>
        <p:nvSpPr>
          <p:cNvPr id="12" name="Title 1">
            <a:extLst>
              <a:ext uri="{FF2B5EF4-FFF2-40B4-BE49-F238E27FC236}">
                <a16:creationId xmlns:a16="http://schemas.microsoft.com/office/drawing/2014/main" id="{7BBD4E6B-B33A-73EE-7ED8-B0110D0AB05F}"/>
              </a:ext>
            </a:extLst>
          </p:cNvPr>
          <p:cNvSpPr>
            <a:spLocks noGrp="1"/>
          </p:cNvSpPr>
          <p:nvPr/>
        </p:nvSpPr>
        <p:spPr>
          <a:xfrm>
            <a:off x="252469" y="94811"/>
            <a:ext cx="11652110" cy="517320"/>
          </a:xfrm>
          <a:prstGeom prst="rect">
            <a:avLst/>
          </a:prstGeom>
        </p:spPr>
        <p:txBody>
          <a:bodyPr vert="horz" lIns="0" tIns="0" rIns="0" bIns="0" rtlCol="0" anchor="t" anchorCtr="0">
            <a:normAutofit/>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pPr marL="0" marR="0" lvl="0" indent="0" algn="l" defTabSz="685858" rtl="0" eaLnBrk="1" fontAlgn="auto" latinLnBrk="0" hangingPunct="1">
              <a:lnSpc>
                <a:spcPct val="90000"/>
              </a:lnSpc>
              <a:spcBef>
                <a:spcPts val="0"/>
              </a:spcBef>
              <a:spcAft>
                <a:spcPts val="0"/>
              </a:spcAft>
              <a:buClrTx/>
              <a:buSzTx/>
              <a:buFontTx/>
              <a:buNone/>
              <a:tabLst/>
              <a:defRPr/>
            </a:pPr>
            <a:r>
              <a:rPr kumimoji="0" sz="2100" b="1" i="0" u="none" strike="noStrike" kern="1200" cap="none" spc="0" normalizeH="0" baseline="0" noProof="0">
                <a:ln>
                  <a:noFill/>
                </a:ln>
                <a:solidFill>
                  <a:srgbClr val="0070C0"/>
                </a:solidFill>
                <a:effectLst/>
                <a:uLnTx/>
                <a:uFillTx/>
                <a:latin typeface="Aptos Display" panose="02110004020202020204"/>
                <a:ea typeface="+mj-ea"/>
                <a:cs typeface="+mj-cs"/>
              </a:rPr>
              <a:t>Payroll Billing Employer Portal</a:t>
            </a:r>
            <a:br>
              <a:rPr kumimoji="0" lang="en-US" sz="2100" b="1" i="0" u="none" strike="noStrike" kern="1200" cap="none" spc="0" normalizeH="0" baseline="0" noProof="0">
                <a:ln>
                  <a:noFill/>
                </a:ln>
                <a:solidFill>
                  <a:srgbClr val="0070C0"/>
                </a:solidFill>
                <a:effectLst/>
                <a:uLnTx/>
                <a:uFillTx/>
                <a:latin typeface="Aptos Display" panose="02110004020202020204"/>
                <a:ea typeface="+mj-ea"/>
                <a:cs typeface="+mj-cs"/>
              </a:rPr>
            </a:br>
            <a:r>
              <a:rPr kumimoji="0" lang="en-US" sz="1600" b="1" i="0" u="none" strike="noStrike" kern="1200" cap="none" spc="0" normalizeH="0" baseline="0" noProof="0">
                <a:ln>
                  <a:noFill/>
                </a:ln>
                <a:solidFill>
                  <a:srgbClr val="0070C0"/>
                </a:solidFill>
                <a:effectLst/>
                <a:uLnTx/>
                <a:uFillTx/>
                <a:latin typeface="Aptos Display" panose="02110004020202020204"/>
                <a:ea typeface="+mj-ea"/>
                <a:cs typeface="+mj-cs"/>
              </a:rPr>
              <a:t>Seamless Self-Service Administration for Payroll Employer Groups</a:t>
            </a:r>
          </a:p>
        </p:txBody>
      </p:sp>
      <p:sp>
        <p:nvSpPr>
          <p:cNvPr id="13" name="TextBox 2">
            <a:extLst>
              <a:ext uri="{FF2B5EF4-FFF2-40B4-BE49-F238E27FC236}">
                <a16:creationId xmlns:a16="http://schemas.microsoft.com/office/drawing/2014/main" id="{3B5DD81F-5E27-F227-89D2-4C402E932192}"/>
              </a:ext>
            </a:extLst>
          </p:cNvPr>
          <p:cNvSpPr txBox="1"/>
          <p:nvPr/>
        </p:nvSpPr>
        <p:spPr>
          <a:xfrm>
            <a:off x="9459190" y="94811"/>
            <a:ext cx="2676180" cy="51732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Delivery Leader: Ali Dadgar</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Victor Nas</a:t>
            </a:r>
          </a:p>
        </p:txBody>
      </p:sp>
      <p:sp>
        <p:nvSpPr>
          <p:cNvPr id="4" name="Flowchart: Connector 3">
            <a:extLst>
              <a:ext uri="{FF2B5EF4-FFF2-40B4-BE49-F238E27FC236}">
                <a16:creationId xmlns:a16="http://schemas.microsoft.com/office/drawing/2014/main" id="{AA785469-178F-35C4-565A-76AF57759350}"/>
              </a:ext>
            </a:extLst>
          </p:cNvPr>
          <p:cNvSpPr/>
          <p:nvPr/>
        </p:nvSpPr>
        <p:spPr>
          <a:xfrm>
            <a:off x="8366548" y="5947509"/>
            <a:ext cx="134946" cy="149629"/>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lowchart: Connector 17">
            <a:extLst>
              <a:ext uri="{FF2B5EF4-FFF2-40B4-BE49-F238E27FC236}">
                <a16:creationId xmlns:a16="http://schemas.microsoft.com/office/drawing/2014/main" id="{3A6780DC-24E1-B6C4-4307-BFF896EAD7B8}"/>
              </a:ext>
            </a:extLst>
          </p:cNvPr>
          <p:cNvSpPr/>
          <p:nvPr/>
        </p:nvSpPr>
        <p:spPr>
          <a:xfrm>
            <a:off x="8355718" y="3753422"/>
            <a:ext cx="134946" cy="123660"/>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lowchart: Connector 21">
            <a:extLst>
              <a:ext uri="{FF2B5EF4-FFF2-40B4-BE49-F238E27FC236}">
                <a16:creationId xmlns:a16="http://schemas.microsoft.com/office/drawing/2014/main" id="{7236B0E6-FCA3-F213-5E4D-5B5C9E79163C}"/>
              </a:ext>
            </a:extLst>
          </p:cNvPr>
          <p:cNvSpPr/>
          <p:nvPr/>
        </p:nvSpPr>
        <p:spPr>
          <a:xfrm>
            <a:off x="8355718" y="4011485"/>
            <a:ext cx="134946" cy="123660"/>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lowchart: Connector 15">
            <a:extLst>
              <a:ext uri="{FF2B5EF4-FFF2-40B4-BE49-F238E27FC236}">
                <a16:creationId xmlns:a16="http://schemas.microsoft.com/office/drawing/2014/main" id="{F9297F10-7A9A-B51C-5D30-59D4DA9FF77F}"/>
              </a:ext>
            </a:extLst>
          </p:cNvPr>
          <p:cNvSpPr/>
          <p:nvPr/>
        </p:nvSpPr>
        <p:spPr>
          <a:xfrm>
            <a:off x="8370679" y="3470400"/>
            <a:ext cx="134946" cy="123660"/>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Flowchart: Connector 2">
            <a:extLst>
              <a:ext uri="{FF2B5EF4-FFF2-40B4-BE49-F238E27FC236}">
                <a16:creationId xmlns:a16="http://schemas.microsoft.com/office/drawing/2014/main" id="{045942D9-B757-1973-26B8-B1432998E8EB}"/>
              </a:ext>
            </a:extLst>
          </p:cNvPr>
          <p:cNvSpPr/>
          <p:nvPr/>
        </p:nvSpPr>
        <p:spPr>
          <a:xfrm>
            <a:off x="8362234" y="4227856"/>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Flowchart: Connector 14">
            <a:extLst>
              <a:ext uri="{FF2B5EF4-FFF2-40B4-BE49-F238E27FC236}">
                <a16:creationId xmlns:a16="http://schemas.microsoft.com/office/drawing/2014/main" id="{A9B573FD-A674-F469-2D4F-68E292803D54}"/>
              </a:ext>
            </a:extLst>
          </p:cNvPr>
          <p:cNvSpPr/>
          <p:nvPr/>
        </p:nvSpPr>
        <p:spPr>
          <a:xfrm>
            <a:off x="8355718" y="4521160"/>
            <a:ext cx="134946" cy="123660"/>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lowchart: Connector 18">
            <a:extLst>
              <a:ext uri="{FF2B5EF4-FFF2-40B4-BE49-F238E27FC236}">
                <a16:creationId xmlns:a16="http://schemas.microsoft.com/office/drawing/2014/main" id="{412B5917-BE40-336F-EA5B-7DC322F91A4B}"/>
              </a:ext>
            </a:extLst>
          </p:cNvPr>
          <p:cNvSpPr/>
          <p:nvPr/>
        </p:nvSpPr>
        <p:spPr>
          <a:xfrm>
            <a:off x="8370679" y="3238926"/>
            <a:ext cx="134946" cy="123660"/>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4" name="Picture 43">
            <a:extLst>
              <a:ext uri="{FF2B5EF4-FFF2-40B4-BE49-F238E27FC236}">
                <a16:creationId xmlns:a16="http://schemas.microsoft.com/office/drawing/2014/main" id="{A6CFA4E8-45AB-FC13-2F59-0C5EE1997AA0}"/>
              </a:ext>
            </a:extLst>
          </p:cNvPr>
          <p:cNvPicPr>
            <a:picLocks noChangeAspect="1"/>
          </p:cNvPicPr>
          <p:nvPr/>
        </p:nvPicPr>
        <p:blipFill>
          <a:blip r:embed="rId6"/>
          <a:stretch>
            <a:fillRect/>
          </a:stretch>
        </p:blipFill>
        <p:spPr>
          <a:xfrm>
            <a:off x="2723774" y="4940189"/>
            <a:ext cx="2982081" cy="1082134"/>
          </a:xfrm>
          <a:prstGeom prst="rect">
            <a:avLst/>
          </a:prstGeom>
        </p:spPr>
      </p:pic>
      <p:pic>
        <p:nvPicPr>
          <p:cNvPr id="49" name="Picture 48">
            <a:extLst>
              <a:ext uri="{FF2B5EF4-FFF2-40B4-BE49-F238E27FC236}">
                <a16:creationId xmlns:a16="http://schemas.microsoft.com/office/drawing/2014/main" id="{3E90DDBB-8D9F-A66F-5BDB-0F88CEEAFBEB}"/>
              </a:ext>
            </a:extLst>
          </p:cNvPr>
          <p:cNvPicPr>
            <a:picLocks noChangeAspect="1"/>
          </p:cNvPicPr>
          <p:nvPr/>
        </p:nvPicPr>
        <p:blipFill>
          <a:blip r:embed="rId7"/>
          <a:stretch>
            <a:fillRect/>
          </a:stretch>
        </p:blipFill>
        <p:spPr>
          <a:xfrm>
            <a:off x="204245" y="3519134"/>
            <a:ext cx="3423168" cy="1417443"/>
          </a:xfrm>
          <a:prstGeom prst="rect">
            <a:avLst/>
          </a:prstGeom>
        </p:spPr>
      </p:pic>
    </p:spTree>
    <p:extLst>
      <p:ext uri="{BB962C8B-B14F-4D97-AF65-F5344CB8AC3E}">
        <p14:creationId xmlns:p14="http://schemas.microsoft.com/office/powerpoint/2010/main" val="126097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E190-6FAA-DDD5-C9F0-DB7429CEEFE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9A2F30-BC8F-9CE9-C300-1989B74D23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879A2F30-BC8F-9CE9-C300-1989B74D23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660F84A-0BB4-AA46-7EAC-DFC086AC6455}"/>
              </a:ext>
            </a:extLst>
          </p:cNvPr>
          <p:cNvGraphicFramePr>
            <a:graphicFrameLocks noGrp="1"/>
          </p:cNvGraphicFramePr>
          <p:nvPr>
            <p:extLst>
              <p:ext uri="{D42A27DB-BD31-4B8C-83A1-F6EECF244321}">
                <p14:modId xmlns:p14="http://schemas.microsoft.com/office/powerpoint/2010/main" val="1181296194"/>
              </p:ext>
            </p:extLst>
          </p:nvPr>
        </p:nvGraphicFramePr>
        <p:xfrm>
          <a:off x="4962401" y="6497818"/>
          <a:ext cx="7136859" cy="31052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230293">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BC3CA7F3-B696-E88B-35F3-A81A38AAF467}"/>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 Batch Stabilization</a:t>
            </a:r>
            <a:br>
              <a:rPr lang="en-US"/>
            </a:br>
            <a:endParaRPr sz="1800" b="0"/>
          </a:p>
        </p:txBody>
      </p:sp>
      <p:graphicFrame>
        <p:nvGraphicFramePr>
          <p:cNvPr id="11" name="Group 513">
            <a:extLst>
              <a:ext uri="{FF2B5EF4-FFF2-40B4-BE49-F238E27FC236}">
                <a16:creationId xmlns:a16="http://schemas.microsoft.com/office/drawing/2014/main" id="{1BDDA027-41B8-A277-632C-4FF24D80B817}"/>
              </a:ext>
            </a:extLst>
          </p:cNvPr>
          <p:cNvGraphicFramePr>
            <a:graphicFrameLocks noGrp="1"/>
          </p:cNvGraphicFramePr>
          <p:nvPr>
            <p:extLst>
              <p:ext uri="{D42A27DB-BD31-4B8C-83A1-F6EECF244321}">
                <p14:modId xmlns:p14="http://schemas.microsoft.com/office/powerpoint/2010/main" val="2399388900"/>
              </p:ext>
            </p:extLst>
          </p:nvPr>
        </p:nvGraphicFramePr>
        <p:xfrm>
          <a:off x="216820" y="690665"/>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D8265E6-4817-193A-F0C4-3A24A6F72856}"/>
              </a:ext>
            </a:extLst>
          </p:cNvPr>
          <p:cNvGraphicFramePr>
            <a:graphicFrameLocks noGrp="1"/>
          </p:cNvGraphicFramePr>
          <p:nvPr>
            <p:extLst>
              <p:ext uri="{D42A27DB-BD31-4B8C-83A1-F6EECF244321}">
                <p14:modId xmlns:p14="http://schemas.microsoft.com/office/powerpoint/2010/main" val="50397729"/>
              </p:ext>
            </p:extLst>
          </p:nvPr>
        </p:nvGraphicFramePr>
        <p:xfrm>
          <a:off x="6622665" y="685508"/>
          <a:ext cx="5474160" cy="745146"/>
        </p:xfrm>
        <a:graphic>
          <a:graphicData uri="http://schemas.openxmlformats.org/drawingml/2006/table">
            <a:tbl>
              <a:tblPr>
                <a:tableStyleId>{5C22544A-7EE6-4342-B048-85BDC9FD1C3A}</a:tableStyleId>
              </a:tblPr>
              <a:tblGrid>
                <a:gridCol w="1289290">
                  <a:extLst>
                    <a:ext uri="{9D8B030D-6E8A-4147-A177-3AD203B41FA5}">
                      <a16:colId xmlns:a16="http://schemas.microsoft.com/office/drawing/2014/main" val="2456552316"/>
                    </a:ext>
                  </a:extLst>
                </a:gridCol>
                <a:gridCol w="1142732">
                  <a:extLst>
                    <a:ext uri="{9D8B030D-6E8A-4147-A177-3AD203B41FA5}">
                      <a16:colId xmlns:a16="http://schemas.microsoft.com/office/drawing/2014/main" val="2327174630"/>
                    </a:ext>
                  </a:extLst>
                </a:gridCol>
                <a:gridCol w="1868521">
                  <a:extLst>
                    <a:ext uri="{9D8B030D-6E8A-4147-A177-3AD203B41FA5}">
                      <a16:colId xmlns:a16="http://schemas.microsoft.com/office/drawing/2014/main" val="1100051595"/>
                    </a:ext>
                  </a:extLst>
                </a:gridCol>
                <a:gridCol w="1173617">
                  <a:extLst>
                    <a:ext uri="{9D8B030D-6E8A-4147-A177-3AD203B41FA5}">
                      <a16:colId xmlns:a16="http://schemas.microsoft.com/office/drawing/2014/main" val="2815874248"/>
                    </a:ext>
                  </a:extLst>
                </a:gridCol>
              </a:tblGrid>
              <a:tr h="38924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89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$595,000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$485,212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$134,110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$670,000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0B16CE86-785B-5D2E-E23C-55B960B47886}"/>
              </a:ext>
            </a:extLst>
          </p:cNvPr>
          <p:cNvGraphicFramePr>
            <a:graphicFrameLocks noGrp="1"/>
          </p:cNvGraphicFramePr>
          <p:nvPr>
            <p:extLst>
              <p:ext uri="{D42A27DB-BD31-4B8C-83A1-F6EECF244321}">
                <p14:modId xmlns:p14="http://schemas.microsoft.com/office/powerpoint/2010/main" val="2739833196"/>
              </p:ext>
            </p:extLst>
          </p:nvPr>
        </p:nvGraphicFramePr>
        <p:xfrm>
          <a:off x="2793390" y="683682"/>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63F0AD4-0A37-1C5D-68BE-D9BEC0BD6A22}"/>
              </a:ext>
            </a:extLst>
          </p:cNvPr>
          <p:cNvGraphicFramePr>
            <a:graphicFrameLocks noGrp="1"/>
          </p:cNvGraphicFramePr>
          <p:nvPr>
            <p:extLst>
              <p:ext uri="{D42A27DB-BD31-4B8C-83A1-F6EECF244321}">
                <p14:modId xmlns:p14="http://schemas.microsoft.com/office/powerpoint/2010/main" val="625919575"/>
              </p:ext>
            </p:extLst>
          </p:nvPr>
        </p:nvGraphicFramePr>
        <p:xfrm>
          <a:off x="214318" y="1034966"/>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12/09/2026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1B4D048B-8EB6-A2B7-7F5D-76B7F6186060}"/>
              </a:ext>
            </a:extLst>
          </p:cNvPr>
          <p:cNvGraphicFramePr>
            <a:graphicFrameLocks noGrp="1"/>
          </p:cNvGraphicFramePr>
          <p:nvPr>
            <p:extLst>
              <p:ext uri="{D42A27DB-BD31-4B8C-83A1-F6EECF244321}">
                <p14:modId xmlns:p14="http://schemas.microsoft.com/office/powerpoint/2010/main" val="3322268111"/>
              </p:ext>
            </p:extLst>
          </p:nvPr>
        </p:nvGraphicFramePr>
        <p:xfrm>
          <a:off x="4962401" y="1465832"/>
          <a:ext cx="7152058" cy="2715842"/>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72336">
                  <a:extLst>
                    <a:ext uri="{9D8B030D-6E8A-4147-A177-3AD203B41FA5}">
                      <a16:colId xmlns:a16="http://schemas.microsoft.com/office/drawing/2014/main" val="2042261034"/>
                    </a:ext>
                  </a:extLst>
                </a:gridCol>
                <a:gridCol w="3420173">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ECIF Data Integrity – </a:t>
                      </a:r>
                      <a:r>
                        <a:rPr lang="en-US" sz="850">
                          <a:latin typeface="Aptos" panose="020B0004020202020204" pitchFamily="34" charset="0"/>
                        </a:rPr>
                        <a:t>Convert CEM to Java Golden Path – Analysis &amp; DDIT</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Aptos" panose="020B0004020202020204" pitchFamily="34" charset="0"/>
                        </a:rPr>
                        <a:t>10/14/26</a:t>
                      </a:r>
                    </a:p>
                    <a:p>
                      <a:pPr algn="ctr"/>
                      <a:r>
                        <a:rPr lang="en-US" sz="850">
                          <a:latin typeface="Aptos" panose="020B0004020202020204" pitchFamily="34" charset="0"/>
                        </a:rPr>
                        <a:t>11/11/26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MiM team confirmed that this effort will be delivered for 11/11</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DDIT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751613"/>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Migrate MQ to Kafka event streams for Agreement notifications - no new functionality </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Aptos" panose="020B0004020202020204" pitchFamily="34" charset="0"/>
                        </a:rPr>
                        <a:t>12/09/26</a:t>
                      </a:r>
                    </a:p>
                    <a:p>
                      <a:pPr algn="ctr"/>
                      <a:r>
                        <a:rPr lang="en-US" sz="850" strike="noStrike">
                          <a:latin typeface="Aptos" panose="020B0004020202020204" pitchFamily="34" charset="0"/>
                        </a:rPr>
                        <a:t>02/10/27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a:latin typeface="Aptos" panose="020B0004020202020204" pitchFamily="34" charset="0"/>
                        </a:rPr>
                        <a:t>DDIT is planned to be completed in 2026</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QA/E2E will be carry forward to 2027 </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Prod Release – 02/10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11160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Migrate MQ to Kafka event streams for Party notifications – no new functionality </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Aptos" panose="020B0004020202020204" pitchFamily="34" charset="0"/>
                        </a:rPr>
                        <a:t>12/09/26</a:t>
                      </a:r>
                    </a:p>
                    <a:p>
                      <a:pPr algn="ctr"/>
                      <a:r>
                        <a:rPr lang="en-US" sz="850">
                          <a:latin typeface="Aptos" panose="020B0004020202020204" pitchFamily="34" charset="0"/>
                        </a:rPr>
                        <a:t>02/10/27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a:latin typeface="Aptos" panose="020B0004020202020204" pitchFamily="34" charset="0"/>
                        </a:rPr>
                        <a:t>DDIT is planned to be completed in 2026</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QA/E2E will be carry forward to 2027 </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Prod Release – 02/10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19202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Add Party notification event stream – consume ECN changes &amp; registration email </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Aptos" panose="020B0004020202020204" pitchFamily="34" charset="0"/>
                        </a:rPr>
                        <a:t>12/09/26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03/18/27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a:latin typeface="Aptos" panose="020B0004020202020204" pitchFamily="34" charset="0"/>
                        </a:rPr>
                        <a:t>DDIT to start in Jan 2027</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Prod Release – 03/18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1827052"/>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Modify GIN Resource APIs to enable ECN update</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12/09/26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SS team is reviewing the requirements if the dark launch of the changes can be completed along with V2-V5 upgrade in Dec</a:t>
                      </a:r>
                    </a:p>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QA/E2E will depend and done along with above ECN changes &amp; Registration email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839655"/>
                  </a:ext>
                </a:extLst>
              </a:tr>
            </a:tbl>
          </a:graphicData>
        </a:graphic>
      </p:graphicFrame>
      <p:graphicFrame>
        <p:nvGraphicFramePr>
          <p:cNvPr id="29" name="Table 28">
            <a:extLst>
              <a:ext uri="{FF2B5EF4-FFF2-40B4-BE49-F238E27FC236}">
                <a16:creationId xmlns:a16="http://schemas.microsoft.com/office/drawing/2014/main" id="{3CAB6735-FCE3-FA60-EBEA-D0119FC54394}"/>
              </a:ext>
            </a:extLst>
          </p:cNvPr>
          <p:cNvGraphicFramePr>
            <a:graphicFrameLocks noGrp="1"/>
          </p:cNvGraphicFramePr>
          <p:nvPr>
            <p:extLst>
              <p:ext uri="{D42A27DB-BD31-4B8C-83A1-F6EECF244321}">
                <p14:modId xmlns:p14="http://schemas.microsoft.com/office/powerpoint/2010/main" val="2037995340"/>
              </p:ext>
            </p:extLst>
          </p:nvPr>
        </p:nvGraphicFramePr>
        <p:xfrm>
          <a:off x="4970000" y="4251292"/>
          <a:ext cx="7144459" cy="2276388"/>
        </p:xfrm>
        <a:graphic>
          <a:graphicData uri="http://schemas.openxmlformats.org/drawingml/2006/table">
            <a:tbl>
              <a:tblPr>
                <a:tableStyleId>{5C22544A-7EE6-4342-B048-85BDC9FD1C3A}</a:tableStyleId>
              </a:tblPr>
              <a:tblGrid>
                <a:gridCol w="2636203">
                  <a:extLst>
                    <a:ext uri="{9D8B030D-6E8A-4147-A177-3AD203B41FA5}">
                      <a16:colId xmlns:a16="http://schemas.microsoft.com/office/drawing/2014/main" val="2456552316"/>
                    </a:ext>
                  </a:extLst>
                </a:gridCol>
                <a:gridCol w="517675">
                  <a:extLst>
                    <a:ext uri="{9D8B030D-6E8A-4147-A177-3AD203B41FA5}">
                      <a16:colId xmlns:a16="http://schemas.microsoft.com/office/drawing/2014/main" val="1100051595"/>
                    </a:ext>
                  </a:extLst>
                </a:gridCol>
                <a:gridCol w="574949">
                  <a:extLst>
                    <a:ext uri="{9D8B030D-6E8A-4147-A177-3AD203B41FA5}">
                      <a16:colId xmlns:a16="http://schemas.microsoft.com/office/drawing/2014/main" val="2042261034"/>
                    </a:ext>
                  </a:extLst>
                </a:gridCol>
                <a:gridCol w="3415632">
                  <a:extLst>
                    <a:ext uri="{9D8B030D-6E8A-4147-A177-3AD203B41FA5}">
                      <a16:colId xmlns:a16="http://schemas.microsoft.com/office/drawing/2014/main" val="2815874248"/>
                    </a:ext>
                  </a:extLst>
                </a:gridCol>
              </a:tblGrid>
              <a:tr h="27541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306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remains yellow on the budget overage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09/25/2026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kern="1200">
                          <a:solidFill>
                            <a:schemeClr val="dk1"/>
                          </a:solidFill>
                          <a:latin typeface="Aptos" panose="020B0004020202020204" pitchFamily="34" charset="0"/>
                          <a:ea typeface="+mn-ea"/>
                          <a:cs typeface="+mn-cs"/>
                        </a:rPr>
                        <a:t>Budget Overage is approved.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35531996"/>
                  </a:ext>
                </a:extLst>
              </a:tr>
              <a:tr h="46668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1" kern="1200">
                          <a:solidFill>
                            <a:schemeClr val="dk1"/>
                          </a:solidFill>
                          <a:latin typeface="Aptos" panose="020B0004020202020204" pitchFamily="34" charset="0"/>
                          <a:ea typeface="+mn-ea"/>
                          <a:cs typeface="+mn-cs"/>
                        </a:rPr>
                        <a:t>ECIF Dependency delays  and Dec 2026 target –</a:t>
                      </a:r>
                    </a:p>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Kafka topic mapping, onboarding activities, and development cannot proceed until ECIF analysis is 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10/09/26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kern="1200">
                          <a:solidFill>
                            <a:schemeClr val="dk1"/>
                          </a:solidFill>
                          <a:latin typeface="Aptos" panose="020B0004020202020204" pitchFamily="34" charset="0"/>
                          <a:ea typeface="+mn-ea"/>
                          <a:cs typeface="+mn-cs"/>
                        </a:rPr>
                        <a:t>Complete re-estimation and roadmap planning immediately.</a:t>
                      </a:r>
                    </a:p>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kern="1200">
                          <a:solidFill>
                            <a:schemeClr val="dk1"/>
                          </a:solidFill>
                          <a:latin typeface="Aptos" panose="020B0004020202020204" pitchFamily="34" charset="0"/>
                          <a:ea typeface="+mn-ea"/>
                          <a:cs typeface="+mn-cs"/>
                        </a:rPr>
                        <a:t>Implement a phased delivery strategy to maximize 2026 outcomes while sequencing remaining work into 2027 if necessary.</a:t>
                      </a:r>
                    </a:p>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kern="1200">
                          <a:solidFill>
                            <a:schemeClr val="dk1"/>
                          </a:solidFill>
                          <a:latin typeface="Aptos" panose="020B0004020202020204" pitchFamily="34" charset="0"/>
                          <a:ea typeface="+mn-ea"/>
                          <a:cs typeface="+mn-cs"/>
                        </a:rPr>
                        <a:t>Accelerate ECIF requirements analysis and onboarding sessions.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282417"/>
                  </a:ext>
                </a:extLst>
              </a:tr>
              <a:tr h="19440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The additional funding of approx. $100K (The revised ECIF estimate of $82,460 increases project costs by approximately $50K over the previous estimate and additional $50K for MiM/</a:t>
                      </a:r>
                      <a:r>
                        <a:rPr lang="en-US" sz="850">
                          <a:latin typeface="Aptos" panose="020B0004020202020204" pitchFamily="34" charset="0"/>
                        </a:rPr>
                        <a:t>E2E testing teams </a:t>
                      </a:r>
                      <a:r>
                        <a:rPr lang="en-US" sz="850" kern="1200">
                          <a:solidFill>
                            <a:schemeClr val="dk1"/>
                          </a:solidFill>
                          <a:latin typeface="Aptos" panose="020B0004020202020204" pitchFamily="34" charset="0"/>
                          <a:ea typeface="+mn-ea"/>
                          <a:cs typeface="+mn-cs"/>
                        </a:rPr>
                        <a:t>team extending into year 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10/15/26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kern="1200">
                          <a:solidFill>
                            <a:schemeClr val="dk1"/>
                          </a:solidFill>
                          <a:latin typeface="Aptos" panose="020B0004020202020204" pitchFamily="34" charset="0"/>
                          <a:ea typeface="+mn-ea"/>
                          <a:cs typeface="+mn-cs"/>
                        </a:rPr>
                        <a:t>Obtain leadership approval for the revised estimate.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3910772"/>
                  </a:ext>
                </a:extLst>
              </a:tr>
            </a:tbl>
          </a:graphicData>
        </a:graphic>
      </p:graphicFrame>
      <p:sp>
        <p:nvSpPr>
          <p:cNvPr id="33" name="Flowchart: Connector 32">
            <a:extLst>
              <a:ext uri="{FF2B5EF4-FFF2-40B4-BE49-F238E27FC236}">
                <a16:creationId xmlns:a16="http://schemas.microsoft.com/office/drawing/2014/main" id="{BAFFCF7F-A135-CFB7-AA73-F679A319354B}"/>
              </a:ext>
            </a:extLst>
          </p:cNvPr>
          <p:cNvSpPr/>
          <p:nvPr/>
        </p:nvSpPr>
        <p:spPr>
          <a:xfrm>
            <a:off x="6691431" y="657078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E13FEC6D-9628-F984-DA15-8EE7F3E7B147}"/>
              </a:ext>
            </a:extLst>
          </p:cNvPr>
          <p:cNvSpPr/>
          <p:nvPr/>
        </p:nvSpPr>
        <p:spPr>
          <a:xfrm>
            <a:off x="7764752" y="657078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500FAF55-7EFF-3112-8E42-CF129A4E5B34}"/>
              </a:ext>
            </a:extLst>
          </p:cNvPr>
          <p:cNvSpPr/>
          <p:nvPr/>
        </p:nvSpPr>
        <p:spPr>
          <a:xfrm>
            <a:off x="8777041" y="656965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D265A6-898B-5B29-8291-73D3FF383985}"/>
              </a:ext>
            </a:extLst>
          </p:cNvPr>
          <p:cNvSpPr txBox="1"/>
          <p:nvPr/>
        </p:nvSpPr>
        <p:spPr>
          <a:xfrm>
            <a:off x="87414" y="1431289"/>
            <a:ext cx="4743293" cy="5640006"/>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r>
              <a:rPr lang="en-US" sz="850" kern="100">
                <a:latin typeface="Aptos" panose="020B0004020202020204" pitchFamily="34" charset="0"/>
                <a:cs typeface="Times New Roman"/>
              </a:rPr>
              <a:t>Portal Stability and GIN Batch Hardening work – Completed the identified scope by 09/30/26</a:t>
            </a:r>
          </a:p>
          <a:p>
            <a:pPr marL="171450" indent="-171450">
              <a:buFont typeface="Arial" panose="020B0604020202020204" pitchFamily="34" charset="0"/>
              <a:buChar char="•"/>
            </a:pPr>
            <a:r>
              <a:rPr lang="en-US" sz="850" kern="100">
                <a:latin typeface="Aptos" panose="020B0004020202020204" pitchFamily="34" charset="0"/>
                <a:cs typeface="Times New Roman"/>
              </a:rPr>
              <a:t>Received the approval for budget overage of $170K</a:t>
            </a:r>
          </a:p>
          <a:p>
            <a:r>
              <a:rPr lang="en-US" sz="900" b="1" kern="100">
                <a:latin typeface="Aptos" panose="020B0004020202020204" pitchFamily="34" charset="0"/>
                <a:cs typeface="Times New Roman"/>
              </a:rPr>
              <a:t>ECIF Data Integrity effort -</a:t>
            </a:r>
          </a:p>
          <a:p>
            <a:r>
              <a:rPr lang="en-US" sz="850" kern="100">
                <a:latin typeface="Aptos" panose="020B0004020202020204" pitchFamily="34" charset="0"/>
                <a:cs typeface="Times New Roman"/>
              </a:rPr>
              <a:t>Overall Status: </a:t>
            </a:r>
            <a:r>
              <a:rPr lang="en-US" sz="850" b="1" kern="100">
                <a:highlight>
                  <a:srgbClr val="FF0000"/>
                </a:highlight>
                <a:latin typeface="Aptos" panose="020B0004020202020204" pitchFamily="34" charset="0"/>
                <a:cs typeface="Times New Roman"/>
              </a:rPr>
              <a:t>RED–</a:t>
            </a:r>
            <a:endParaRPr lang="en-US" sz="850">
              <a:latin typeface="Aptos" panose="020B0004020202020204" pitchFamily="34" charset="0"/>
            </a:endParaRPr>
          </a:p>
          <a:p>
            <a:pPr algn="just"/>
            <a:r>
              <a:rPr lang="en-US" sz="850" b="1">
                <a:latin typeface="Aptos" panose="020B0004020202020204" pitchFamily="34" charset="0"/>
              </a:rPr>
              <a:t>ECIF Risk: </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The ECIF team has confirmed that the Requirements phase for the MQ-to-Kafka integration for MPN and MASN can be completed within 2026.</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ECIF will fulfill all onboarding requirements and provide consultation and testing support as needed, subject to resource availability and established priorities.</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Due to resource constraints, the enterprise change freeze, and planned team vacations, the Data Extract and ECN Collapse components are now targeted for completion in 2027.</a:t>
            </a:r>
          </a:p>
          <a:p>
            <a:pPr marL="171450" indent="-171450" algn="just" fontAlgn="t">
              <a:buFont typeface="Arial" panose="020B0604020202020204" pitchFamily="34" charset="0"/>
              <a:buChar char="•"/>
            </a:pPr>
            <a:r>
              <a:rPr lang="en-US" sz="850">
                <a:highlight>
                  <a:srgbClr val="FFFF00"/>
                </a:highlight>
                <a:latin typeface="Aptos" panose="020B0004020202020204" pitchFamily="34" charset="0"/>
              </a:rPr>
              <a:t>The ECIF effort is currently on hold pending approval of the revised estimate</a:t>
            </a:r>
          </a:p>
          <a:p>
            <a:pPr marL="171450" indent="-171450" algn="just" fontAlgn="t">
              <a:buFont typeface="Arial" panose="020B0604020202020204" pitchFamily="34" charset="0"/>
              <a:buChar char="•"/>
            </a:pPr>
            <a:r>
              <a:rPr lang="en-US" sz="850">
                <a:latin typeface="Aptos" panose="020B0004020202020204" pitchFamily="34" charset="0"/>
              </a:rPr>
              <a:t>ECIF re-estimated the effort and provided a revised cost estimate of $82,460, representing an increase of approximately $50K compared to the previous estimate.</a:t>
            </a:r>
            <a:endParaRPr lang="en-US" sz="850">
              <a:highlight>
                <a:srgbClr val="FFFF00"/>
              </a:highlight>
              <a:latin typeface="Aptos" panose="020B0004020202020204" pitchFamily="34" charset="0"/>
            </a:endParaRPr>
          </a:p>
          <a:p>
            <a:pPr marL="171450" indent="-171450" algn="just" fontAlgn="t">
              <a:lnSpc>
                <a:spcPct val="100000"/>
              </a:lnSpc>
              <a:buFont typeface="Arial" panose="020B0604020202020204" pitchFamily="34" charset="0"/>
              <a:buChar char="•"/>
            </a:pPr>
            <a:r>
              <a:rPr lang="en-US" sz="850">
                <a:latin typeface="Aptos" panose="020B0004020202020204" pitchFamily="34" charset="0"/>
              </a:rPr>
              <a:t>Due to the scope shift into 2027, the </a:t>
            </a:r>
            <a:r>
              <a:rPr lang="en-US" sz="850" err="1">
                <a:latin typeface="Aptos" panose="020B0004020202020204" pitchFamily="34" charset="0"/>
              </a:rPr>
              <a:t>MiM</a:t>
            </a:r>
            <a:r>
              <a:rPr lang="en-US" sz="850">
                <a:latin typeface="Aptos" panose="020B0004020202020204" pitchFamily="34" charset="0"/>
              </a:rPr>
              <a:t>/E2E testing teams has incurred additional effort requirements, resulting in a need for $50K in incremental funding.</a:t>
            </a:r>
          </a:p>
          <a:p>
            <a:pPr marL="171450" indent="-171450" algn="just">
              <a:buFont typeface="Arial" panose="020B0604020202020204" pitchFamily="34" charset="0"/>
              <a:buChar char="•"/>
            </a:pPr>
            <a:r>
              <a:rPr lang="en-US" sz="1100" b="1"/>
              <a:t>Path to Green</a:t>
            </a:r>
          </a:p>
          <a:p>
            <a:pPr marL="171450" indent="-171450" algn="just" fontAlgn="t">
              <a:buFont typeface="Arial" panose="020B0604020202020204" pitchFamily="34" charset="0"/>
              <a:buChar char="•"/>
            </a:pPr>
            <a:r>
              <a:rPr lang="en-US" sz="850">
                <a:latin typeface="Aptos" panose="020B0004020202020204" pitchFamily="34" charset="0"/>
              </a:rPr>
              <a:t>Review and approve revised ECIF estimate representing an increase of $50K asap to avoid the delays in gathering requirements from ECIF team</a:t>
            </a:r>
          </a:p>
          <a:p>
            <a:pPr marL="171450" indent="-171450" algn="just" fontAlgn="t">
              <a:buFont typeface="Arial" panose="020B0604020202020204" pitchFamily="34" charset="0"/>
              <a:buChar char="•"/>
            </a:pPr>
            <a:r>
              <a:rPr lang="en-US" sz="850">
                <a:latin typeface="Aptos" panose="020B0004020202020204" pitchFamily="34" charset="0"/>
              </a:rPr>
              <a:t>Confirm 2026 scope is limited to MQ-to-Kafka Requirements for MPN and MASN</a:t>
            </a:r>
          </a:p>
          <a:p>
            <a:pPr marL="171450" indent="-171450" algn="just" fontAlgn="t">
              <a:buFont typeface="Arial" panose="020B0604020202020204" pitchFamily="34" charset="0"/>
              <a:buChar char="•"/>
            </a:pPr>
            <a:r>
              <a:rPr lang="en-US" sz="850">
                <a:latin typeface="Aptos" panose="020B0004020202020204" pitchFamily="34" charset="0"/>
              </a:rPr>
              <a:t>Secure funding and resource commitments for 2027 scope</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MQ-to-Kafka Requirements and DDIT efforts for MPN and MASN completed in 2026</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Integration readiness achieved for testing and demonstrations</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Resource and testing support aligned</a:t>
            </a:r>
          </a:p>
          <a:p>
            <a:pPr marL="171450" lvl="0" indent="-171450" algn="just" fontAlgn="t">
              <a:lnSpc>
                <a:spcPct val="100000"/>
              </a:lnSpc>
              <a:buFont typeface="Arial" panose="020B0604020202020204" pitchFamily="34" charset="0"/>
              <a:buChar char="•"/>
            </a:pPr>
            <a:r>
              <a:rPr lang="en-US" sz="850">
                <a:latin typeface="Aptos" panose="020B0004020202020204" pitchFamily="34" charset="0"/>
              </a:rPr>
              <a:t>Data Extract and ECN Collapse roadmap approved for 2027</a:t>
            </a:r>
          </a:p>
          <a:p>
            <a:pPr marL="171450" lvl="0" indent="-171450" algn="just" fontAlgn="t">
              <a:lnSpc>
                <a:spcPct val="100000"/>
              </a:lnSpc>
              <a:buFont typeface="Arial" panose="020B0604020202020204" pitchFamily="34" charset="0"/>
              <a:buChar char="•"/>
            </a:pPr>
            <a:endParaRPr lang="en-US" sz="850">
              <a:latin typeface="Aptos" panose="020B0004020202020204" pitchFamily="34" charset="0"/>
            </a:endParaRPr>
          </a:p>
          <a:p>
            <a:pPr fontAlgn="t">
              <a:lnSpc>
                <a:spcPct val="100000"/>
              </a:lnSpc>
              <a:buNone/>
            </a:pPr>
            <a:r>
              <a:rPr lang="en-US" sz="850" kern="100">
                <a:latin typeface="Aptos" panose="020B0004020202020204" pitchFamily="34" charset="0"/>
                <a:cs typeface="Times New Roman"/>
              </a:rPr>
              <a:t>The </a:t>
            </a:r>
            <a:r>
              <a:rPr lang="en-US" sz="850" kern="100" err="1">
                <a:latin typeface="Aptos" panose="020B0004020202020204" pitchFamily="34" charset="0"/>
                <a:cs typeface="Times New Roman"/>
              </a:rPr>
              <a:t>MiM</a:t>
            </a:r>
            <a:r>
              <a:rPr lang="en-US" sz="850" kern="100">
                <a:latin typeface="Aptos" panose="020B0004020202020204" pitchFamily="34" charset="0"/>
                <a:cs typeface="Times New Roman"/>
              </a:rPr>
              <a:t> team, with support from Ronda, established the timeline below considering ECIF resource availability and anticipated year-end holiday staffing constraints.</a:t>
            </a:r>
          </a:p>
          <a:p>
            <a:r>
              <a:rPr lang="en-US" sz="850" b="1" kern="100">
                <a:latin typeface="Aptos" panose="020B0004020202020204" pitchFamily="34" charset="0"/>
                <a:cs typeface="Times New Roman"/>
              </a:rPr>
              <a:t>GIN / REN / ECIF data integrity –  Original Release Plan</a:t>
            </a:r>
          </a:p>
          <a:p>
            <a:pPr marL="285750" indent="-285750">
              <a:buFont typeface="Arial" panose="020B0604020202020204" pitchFamily="34" charset="0"/>
              <a:buChar char="•"/>
            </a:pPr>
            <a:r>
              <a:rPr lang="en-US" sz="850">
                <a:latin typeface="Aptos" panose="020B0004020202020204" pitchFamily="34" charset="0"/>
              </a:rPr>
              <a:t>Convert CEM to Java Golden Path </a:t>
            </a:r>
            <a:r>
              <a:rPr lang="en-US" sz="850" b="1">
                <a:latin typeface="Aptos" panose="020B0004020202020204" pitchFamily="34" charset="0"/>
              </a:rPr>
              <a:t> –  </a:t>
            </a:r>
            <a:r>
              <a:rPr lang="en-US" sz="850" b="1" err="1">
                <a:latin typeface="Aptos" panose="020B0004020202020204" pitchFamily="34" charset="0"/>
              </a:rPr>
              <a:t>MiM</a:t>
            </a:r>
            <a:r>
              <a:rPr lang="en-US" sz="850" b="1">
                <a:latin typeface="Aptos" panose="020B0004020202020204" pitchFamily="34" charset="0"/>
              </a:rPr>
              <a:t> - 11/11/26 release</a:t>
            </a:r>
          </a:p>
          <a:p>
            <a:pPr marL="285750" indent="-285750">
              <a:buFont typeface="Arial" panose="020B0604020202020204" pitchFamily="34" charset="0"/>
              <a:buChar char="•"/>
            </a:pPr>
            <a:r>
              <a:rPr lang="en-US" sz="850">
                <a:latin typeface="Aptos" panose="020B0004020202020204" pitchFamily="34" charset="0"/>
              </a:rPr>
              <a:t>Migrate MQ to Kafka event streams for Agreement notifications - no new functionality </a:t>
            </a:r>
            <a:r>
              <a:rPr lang="en-US" sz="850" b="1">
                <a:latin typeface="Aptos" panose="020B0004020202020204" pitchFamily="34" charset="0"/>
              </a:rPr>
              <a:t> </a:t>
            </a:r>
            <a:r>
              <a:rPr lang="en-US" sz="850" b="1" err="1">
                <a:latin typeface="Aptos" panose="020B0004020202020204" pitchFamily="34" charset="0"/>
              </a:rPr>
              <a:t>MiM</a:t>
            </a:r>
            <a:r>
              <a:rPr lang="en-US" sz="850" b="1">
                <a:latin typeface="Aptos" panose="020B0004020202020204" pitchFamily="34" charset="0"/>
              </a:rPr>
              <a:t>/ECIF - Feb 2027(02/10) release</a:t>
            </a:r>
          </a:p>
          <a:p>
            <a:pPr marL="742950" lvl="1" indent="-285750">
              <a:buFont typeface="Arial" panose="020B0604020202020204" pitchFamily="34" charset="0"/>
              <a:buChar char="•"/>
            </a:pPr>
            <a:r>
              <a:rPr lang="en-US" sz="850" b="1">
                <a:latin typeface="Aptos" panose="020B0004020202020204" pitchFamily="34" charset="0"/>
              </a:rPr>
              <a:t>DDIT to be completed in 2026</a:t>
            </a:r>
            <a:endParaRPr lang="en-US" sz="850">
              <a:latin typeface="Aptos" panose="020B0004020202020204" pitchFamily="34" charset="0"/>
            </a:endParaRPr>
          </a:p>
          <a:p>
            <a:pPr marL="285750" indent="-285750">
              <a:buFont typeface="Arial" panose="020B0604020202020204" pitchFamily="34" charset="0"/>
              <a:buChar char="•"/>
            </a:pPr>
            <a:r>
              <a:rPr lang="en-US" sz="850">
                <a:latin typeface="Aptos" panose="020B0004020202020204" pitchFamily="34" charset="0"/>
              </a:rPr>
              <a:t>Migrate MQ to Kafka event streams for Party notifications – no new functionality – </a:t>
            </a:r>
          </a:p>
          <a:p>
            <a:r>
              <a:rPr lang="en-US" sz="850" b="1">
                <a:latin typeface="Aptos" panose="020B0004020202020204" pitchFamily="34" charset="0"/>
              </a:rPr>
              <a:t>            </a:t>
            </a:r>
            <a:r>
              <a:rPr lang="en-US" sz="850" b="1" err="1">
                <a:latin typeface="Aptos" panose="020B0004020202020204" pitchFamily="34" charset="0"/>
              </a:rPr>
              <a:t>MiM</a:t>
            </a:r>
            <a:r>
              <a:rPr lang="en-US" sz="850" b="1">
                <a:latin typeface="Aptos" panose="020B0004020202020204" pitchFamily="34" charset="0"/>
              </a:rPr>
              <a:t>/ECIF – Feb 2027 (02/10) release</a:t>
            </a:r>
          </a:p>
          <a:p>
            <a:pPr marL="742950" lvl="1" indent="-285750">
              <a:buFont typeface="Arial" panose="020B0604020202020204" pitchFamily="34" charset="0"/>
              <a:buChar char="•"/>
            </a:pPr>
            <a:r>
              <a:rPr lang="en-US" sz="850" b="1">
                <a:latin typeface="Aptos" panose="020B0004020202020204" pitchFamily="34" charset="0"/>
              </a:rPr>
              <a:t>DDIT to be completed in 2026</a:t>
            </a:r>
            <a:endParaRPr lang="en-US" sz="850">
              <a:latin typeface="Aptos" panose="020B0004020202020204" pitchFamily="34" charset="0"/>
            </a:endParaRPr>
          </a:p>
          <a:p>
            <a:pPr marL="285750" indent="-285750">
              <a:buFont typeface="Arial" panose="020B0604020202020204" pitchFamily="34" charset="0"/>
              <a:buChar char="•"/>
            </a:pPr>
            <a:r>
              <a:rPr lang="en-US" sz="850">
                <a:latin typeface="Aptos" panose="020B0004020202020204" pitchFamily="34" charset="0"/>
              </a:rPr>
              <a:t>Add Party notification event stream – consume ECN changes &amp; registration email (January) – </a:t>
            </a:r>
            <a:r>
              <a:rPr lang="en-US" sz="850" b="1" err="1">
                <a:latin typeface="Aptos" panose="020B0004020202020204" pitchFamily="34" charset="0"/>
              </a:rPr>
              <a:t>MiM</a:t>
            </a:r>
            <a:r>
              <a:rPr lang="en-US" sz="850" b="1">
                <a:latin typeface="Aptos" panose="020B0004020202020204" pitchFamily="34" charset="0"/>
              </a:rPr>
              <a:t>/ECIF  –  Mar 2027 (03/18) release</a:t>
            </a:r>
            <a:endParaRPr lang="en-US" sz="850">
              <a:latin typeface="Aptos" panose="020B0004020202020204" pitchFamily="34" charset="0"/>
            </a:endParaRPr>
          </a:p>
          <a:p>
            <a:pPr marL="285750" indent="-285750">
              <a:buFont typeface="Arial" panose="020B0604020202020204" pitchFamily="34" charset="0"/>
              <a:buChar char="•"/>
            </a:pPr>
            <a:r>
              <a:rPr lang="en-US" sz="850">
                <a:latin typeface="Aptos" panose="020B0004020202020204" pitchFamily="34" charset="0"/>
              </a:rPr>
              <a:t>Modify GIN Resource APIs to enable ECN update (January) (dependent on V2 to V5) – </a:t>
            </a:r>
          </a:p>
          <a:p>
            <a:r>
              <a:rPr lang="en-US" sz="850" b="1">
                <a:latin typeface="Aptos" panose="020B0004020202020204" pitchFamily="34" charset="0"/>
              </a:rPr>
              <a:t>             SS – Dark Launch for Dec (12/09/26) release – SS team is exploring the possibility of dark launch for Dec 2026</a:t>
            </a:r>
            <a:endParaRPr lang="en-US" sz="850">
              <a:latin typeface="Aptos" panose="020B0004020202020204" pitchFamily="34" charset="0"/>
            </a:endParaRPr>
          </a:p>
          <a:p>
            <a:pPr lvl="0"/>
            <a:endParaRPr lang="en-US" sz="900" kern="100">
              <a:cs typeface="Times New Roman"/>
            </a:endParaRPr>
          </a:p>
        </p:txBody>
      </p:sp>
      <p:sp>
        <p:nvSpPr>
          <p:cNvPr id="3" name="TextBox 2">
            <a:extLst>
              <a:ext uri="{FF2B5EF4-FFF2-40B4-BE49-F238E27FC236}">
                <a16:creationId xmlns:a16="http://schemas.microsoft.com/office/drawing/2014/main" id="{66F4CFBF-286F-3582-1184-708E9D63E1E7}"/>
              </a:ext>
            </a:extLst>
          </p:cNvPr>
          <p:cNvSpPr txBox="1"/>
          <p:nvPr/>
        </p:nvSpPr>
        <p:spPr>
          <a:xfrm>
            <a:off x="9839358" y="173345"/>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4" name="Flowchart: Connector 3">
            <a:extLst>
              <a:ext uri="{FF2B5EF4-FFF2-40B4-BE49-F238E27FC236}">
                <a16:creationId xmlns:a16="http://schemas.microsoft.com/office/drawing/2014/main" id="{6E9404D7-CC30-6E3A-A6FA-86DE7242AFED}"/>
              </a:ext>
            </a:extLst>
          </p:cNvPr>
          <p:cNvSpPr/>
          <p:nvPr/>
        </p:nvSpPr>
        <p:spPr>
          <a:xfrm>
            <a:off x="3286003" y="116634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lowchart: Connector 23">
            <a:extLst>
              <a:ext uri="{FF2B5EF4-FFF2-40B4-BE49-F238E27FC236}">
                <a16:creationId xmlns:a16="http://schemas.microsoft.com/office/drawing/2014/main" id="{928BE9E8-C9B2-0534-5DEE-AB2280063234}"/>
              </a:ext>
            </a:extLst>
          </p:cNvPr>
          <p:cNvSpPr/>
          <p:nvPr/>
        </p:nvSpPr>
        <p:spPr>
          <a:xfrm>
            <a:off x="7764755" y="188572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Connector 39">
            <a:extLst>
              <a:ext uri="{FF2B5EF4-FFF2-40B4-BE49-F238E27FC236}">
                <a16:creationId xmlns:a16="http://schemas.microsoft.com/office/drawing/2014/main" id="{28B47C5E-1F2B-BB71-6E00-3E1D82291E79}"/>
              </a:ext>
            </a:extLst>
          </p:cNvPr>
          <p:cNvSpPr/>
          <p:nvPr/>
        </p:nvSpPr>
        <p:spPr>
          <a:xfrm>
            <a:off x="4205700" y="116634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F374367D-1062-AE63-F2D3-9B6378B67E4C}"/>
              </a:ext>
            </a:extLst>
          </p:cNvPr>
          <p:cNvSpPr/>
          <p:nvPr/>
        </p:nvSpPr>
        <p:spPr>
          <a:xfrm>
            <a:off x="5117516" y="115051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B70318D7-962B-7565-D745-16B4DECB553C}"/>
              </a:ext>
            </a:extLst>
          </p:cNvPr>
          <p:cNvSpPr/>
          <p:nvPr/>
        </p:nvSpPr>
        <p:spPr>
          <a:xfrm>
            <a:off x="7764751" y="2340855"/>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413AAD4A-7D11-FA98-7AF4-87E0CEAA755E}"/>
              </a:ext>
            </a:extLst>
          </p:cNvPr>
          <p:cNvSpPr/>
          <p:nvPr/>
        </p:nvSpPr>
        <p:spPr>
          <a:xfrm>
            <a:off x="7764751" y="2870948"/>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C60FEC33-B1B5-918A-395F-D90397CE7903}"/>
              </a:ext>
            </a:extLst>
          </p:cNvPr>
          <p:cNvSpPr/>
          <p:nvPr/>
        </p:nvSpPr>
        <p:spPr>
          <a:xfrm>
            <a:off x="7756448" y="3318745"/>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602A511B-C51A-6218-DCA7-8427299DAC23}"/>
              </a:ext>
            </a:extLst>
          </p:cNvPr>
          <p:cNvSpPr/>
          <p:nvPr/>
        </p:nvSpPr>
        <p:spPr>
          <a:xfrm>
            <a:off x="7764751" y="596854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D955217A-ACD8-1884-27D4-879C89626D36}"/>
              </a:ext>
            </a:extLst>
          </p:cNvPr>
          <p:cNvSpPr/>
          <p:nvPr/>
        </p:nvSpPr>
        <p:spPr>
          <a:xfrm>
            <a:off x="6025858" y="1153116"/>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18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D440-9B18-4E22-43F5-C94AC80A65DA}"/>
              </a:ext>
            </a:extLst>
          </p:cNvPr>
          <p:cNvSpPr>
            <a:spLocks noGrp="1"/>
          </p:cNvSpPr>
          <p:nvPr>
            <p:ph type="title"/>
          </p:nvPr>
        </p:nvSpPr>
        <p:spPr/>
        <p:txBody>
          <a:bodyPr/>
          <a:lstStyle/>
          <a:p>
            <a:r>
              <a:rPr lang="en-US"/>
              <a:t>Yellow Projects</a:t>
            </a:r>
          </a:p>
        </p:txBody>
      </p:sp>
    </p:spTree>
    <p:extLst>
      <p:ext uri="{BB962C8B-B14F-4D97-AF65-F5344CB8AC3E}">
        <p14:creationId xmlns:p14="http://schemas.microsoft.com/office/powerpoint/2010/main" val="182651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C975-91B0-6365-C72B-F4D7AC7CEF8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712ACC55-93C0-446D-D562-9794B59495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712ACC55-93C0-446D-D562-9794B59495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502FF96-42CA-8D88-E76D-969DDD78A761}"/>
              </a:ext>
            </a:extLst>
          </p:cNvPr>
          <p:cNvGraphicFramePr>
            <a:graphicFrameLocks noGrp="1"/>
          </p:cNvGraphicFramePr>
          <p:nvPr/>
        </p:nvGraphicFramePr>
        <p:xfrm>
          <a:off x="4963885" y="6531428"/>
          <a:ext cx="7166325" cy="310524"/>
        </p:xfrm>
        <a:graphic>
          <a:graphicData uri="http://schemas.openxmlformats.org/drawingml/2006/table">
            <a:tbl>
              <a:tblPr/>
              <a:tblGrid>
                <a:gridCol w="608374">
                  <a:extLst>
                    <a:ext uri="{9D8B030D-6E8A-4147-A177-3AD203B41FA5}">
                      <a16:colId xmlns:a16="http://schemas.microsoft.com/office/drawing/2014/main" val="20000"/>
                    </a:ext>
                  </a:extLst>
                </a:gridCol>
                <a:gridCol w="308349">
                  <a:extLst>
                    <a:ext uri="{9D8B030D-6E8A-4147-A177-3AD203B41FA5}">
                      <a16:colId xmlns:a16="http://schemas.microsoft.com/office/drawing/2014/main" val="20001"/>
                    </a:ext>
                  </a:extLst>
                </a:gridCol>
                <a:gridCol w="760019">
                  <a:extLst>
                    <a:ext uri="{9D8B030D-6E8A-4147-A177-3AD203B41FA5}">
                      <a16:colId xmlns:a16="http://schemas.microsoft.com/office/drawing/2014/main" val="20002"/>
                    </a:ext>
                  </a:extLst>
                </a:gridCol>
                <a:gridCol w="303785">
                  <a:extLst>
                    <a:ext uri="{9D8B030D-6E8A-4147-A177-3AD203B41FA5}">
                      <a16:colId xmlns:a16="http://schemas.microsoft.com/office/drawing/2014/main" val="20003"/>
                    </a:ext>
                  </a:extLst>
                </a:gridCol>
                <a:gridCol w="667455">
                  <a:extLst>
                    <a:ext uri="{9D8B030D-6E8A-4147-A177-3AD203B41FA5}">
                      <a16:colId xmlns:a16="http://schemas.microsoft.com/office/drawing/2014/main" val="20004"/>
                    </a:ext>
                  </a:extLst>
                </a:gridCol>
                <a:gridCol w="519690">
                  <a:extLst>
                    <a:ext uri="{9D8B030D-6E8A-4147-A177-3AD203B41FA5}">
                      <a16:colId xmlns:a16="http://schemas.microsoft.com/office/drawing/2014/main" val="20005"/>
                    </a:ext>
                  </a:extLst>
                </a:gridCol>
                <a:gridCol w="570296">
                  <a:extLst>
                    <a:ext uri="{9D8B030D-6E8A-4147-A177-3AD203B41FA5}">
                      <a16:colId xmlns:a16="http://schemas.microsoft.com/office/drawing/2014/main" val="20006"/>
                    </a:ext>
                  </a:extLst>
                </a:gridCol>
                <a:gridCol w="370169">
                  <a:extLst>
                    <a:ext uri="{9D8B030D-6E8A-4147-A177-3AD203B41FA5}">
                      <a16:colId xmlns:a16="http://schemas.microsoft.com/office/drawing/2014/main" val="20007"/>
                    </a:ext>
                  </a:extLst>
                </a:gridCol>
                <a:gridCol w="1376415">
                  <a:extLst>
                    <a:ext uri="{9D8B030D-6E8A-4147-A177-3AD203B41FA5}">
                      <a16:colId xmlns:a16="http://schemas.microsoft.com/office/drawing/2014/main" val="20008"/>
                    </a:ext>
                  </a:extLst>
                </a:gridCol>
                <a:gridCol w="379427">
                  <a:extLst>
                    <a:ext uri="{9D8B030D-6E8A-4147-A177-3AD203B41FA5}">
                      <a16:colId xmlns:a16="http://schemas.microsoft.com/office/drawing/2014/main" val="20009"/>
                    </a:ext>
                  </a:extLst>
                </a:gridCol>
                <a:gridCol w="1302346">
                  <a:extLst>
                    <a:ext uri="{9D8B030D-6E8A-4147-A177-3AD203B41FA5}">
                      <a16:colId xmlns:a16="http://schemas.microsoft.com/office/drawing/2014/main" val="20010"/>
                    </a:ext>
                  </a:extLst>
                </a:gridCol>
              </a:tblGrid>
              <a:tr h="229348">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67D89F8-13AA-146D-3FD8-FB73092110EB}"/>
              </a:ext>
            </a:extLst>
          </p:cNvPr>
          <p:cNvSpPr>
            <a:spLocks noGrp="1"/>
          </p:cNvSpPr>
          <p:nvPr>
            <p:ph type="title"/>
          </p:nvPr>
        </p:nvSpPr>
        <p:spPr>
          <a:xfrm>
            <a:off x="182423" y="86954"/>
            <a:ext cx="8976236" cy="748378"/>
          </a:xfrm>
        </p:spPr>
        <p:txBody>
          <a:bodyPr vert="horz">
            <a:normAutofit fontScale="90000"/>
          </a:bodyPr>
          <a:lstStyle/>
          <a:p>
            <a:r>
              <a:rPr lang="en-US" sz="2700">
                <a:solidFill>
                  <a:srgbClr val="29389F"/>
                </a:solidFill>
                <a:latin typeface="Arial"/>
                <a:cs typeface="Arial"/>
              </a:rPr>
              <a:t>MPI Underwriting Optimization MVP1 &amp; MVP2 </a:t>
            </a:r>
            <a:br>
              <a:rPr lang="en-US" sz="2700">
                <a:latin typeface="Arial"/>
                <a:cs typeface="Arial"/>
              </a:rPr>
            </a:br>
            <a:r>
              <a:rPr lang="en-US" sz="1600">
                <a:solidFill>
                  <a:srgbClr val="0070C0"/>
                </a:solidFill>
                <a:latin typeface="Arial"/>
                <a:cs typeface="Arial"/>
              </a:rPr>
              <a:t>I</a:t>
            </a:r>
            <a:r>
              <a:rPr lang="en-US" sz="1600" b="0">
                <a:solidFill>
                  <a:srgbClr val="0070C0"/>
                </a:solidFill>
                <a:latin typeface="Arial"/>
                <a:cs typeface="Arial"/>
              </a:rPr>
              <a:t>ncrease new business writings by simplifying point-of-sale underwriting and accelerating rule-based decisions</a:t>
            </a:r>
            <a:endParaRPr lang="en-US" sz="1600" b="0">
              <a:latin typeface="Arial"/>
              <a:cs typeface="Arial"/>
            </a:endParaRPr>
          </a:p>
        </p:txBody>
      </p:sp>
      <p:graphicFrame>
        <p:nvGraphicFramePr>
          <p:cNvPr id="11" name="Group 513">
            <a:extLst>
              <a:ext uri="{FF2B5EF4-FFF2-40B4-BE49-F238E27FC236}">
                <a16:creationId xmlns:a16="http://schemas.microsoft.com/office/drawing/2014/main" id="{4A50D08C-86AA-D1CE-4C4E-28F18B7CF4FE}"/>
              </a:ext>
            </a:extLst>
          </p:cNvPr>
          <p:cNvGraphicFramePr>
            <a:graphicFrameLocks noGrp="1"/>
          </p:cNvGraphicFramePr>
          <p:nvPr>
            <p:extLst>
              <p:ext uri="{D42A27DB-BD31-4B8C-83A1-F6EECF244321}">
                <p14:modId xmlns:p14="http://schemas.microsoft.com/office/powerpoint/2010/main" val="1766473178"/>
              </p:ext>
            </p:extLst>
          </p:nvPr>
        </p:nvGraphicFramePr>
        <p:xfrm>
          <a:off x="232717" y="871428"/>
          <a:ext cx="2580811" cy="395688"/>
        </p:xfrm>
        <a:graphic>
          <a:graphicData uri="http://schemas.openxmlformats.org/drawingml/2006/table">
            <a:tbl>
              <a:tblPr/>
              <a:tblGrid>
                <a:gridCol w="999034">
                  <a:extLst>
                    <a:ext uri="{9D8B030D-6E8A-4147-A177-3AD203B41FA5}">
                      <a16:colId xmlns:a16="http://schemas.microsoft.com/office/drawing/2014/main" val="20000"/>
                    </a:ext>
                  </a:extLst>
                </a:gridCol>
                <a:gridCol w="1581777">
                  <a:extLst>
                    <a:ext uri="{9D8B030D-6E8A-4147-A177-3AD203B41FA5}">
                      <a16:colId xmlns:a16="http://schemas.microsoft.com/office/drawing/2014/main" val="20001"/>
                    </a:ext>
                  </a:extLst>
                </a:gridCol>
              </a:tblGrid>
              <a:tr h="395688">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cap="none" normalizeH="0" baseline="0">
                          <a:ln>
                            <a:noFill/>
                          </a:ln>
                          <a:solidFill>
                            <a:schemeClr val="tx1"/>
                          </a:solidFill>
                          <a:effectLst/>
                          <a:latin typeface="Aptos"/>
                        </a:rPr>
                        <a:t>10/09/2026</a:t>
                      </a:r>
                      <a:endParaRPr kumimoji="0" lang="en-GB" sz="850" b="1" i="0" u="none" strike="noStrike" cap="none" normalizeH="0" baseline="0">
                        <a:ln>
                          <a:noFill/>
                        </a:ln>
                        <a:solidFill>
                          <a:schemeClr val="tx1"/>
                        </a:solidFill>
                        <a:effectLst/>
                        <a:latin typeface="Apto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CAACCCB-3443-BEB4-AAE6-89CB62C5DF8A}"/>
              </a:ext>
            </a:extLst>
          </p:cNvPr>
          <p:cNvGraphicFramePr>
            <a:graphicFrameLocks noGrp="1"/>
          </p:cNvGraphicFramePr>
          <p:nvPr>
            <p:extLst>
              <p:ext uri="{D42A27DB-BD31-4B8C-83A1-F6EECF244321}">
                <p14:modId xmlns:p14="http://schemas.microsoft.com/office/powerpoint/2010/main" val="2691696055"/>
              </p:ext>
            </p:extLst>
          </p:nvPr>
        </p:nvGraphicFramePr>
        <p:xfrm>
          <a:off x="6642804" y="864934"/>
          <a:ext cx="5475523" cy="826969"/>
        </p:xfrm>
        <a:graphic>
          <a:graphicData uri="http://schemas.openxmlformats.org/drawingml/2006/table">
            <a:tbl>
              <a:tblPr>
                <a:tableStyleId>{5C22544A-7EE6-4342-B048-85BDC9FD1C3A}</a:tableStyleId>
              </a:tblPr>
              <a:tblGrid>
                <a:gridCol w="1069391">
                  <a:extLst>
                    <a:ext uri="{9D8B030D-6E8A-4147-A177-3AD203B41FA5}">
                      <a16:colId xmlns:a16="http://schemas.microsoft.com/office/drawing/2014/main" val="2456552316"/>
                    </a:ext>
                  </a:extLst>
                </a:gridCol>
                <a:gridCol w="947831">
                  <a:extLst>
                    <a:ext uri="{9D8B030D-6E8A-4147-A177-3AD203B41FA5}">
                      <a16:colId xmlns:a16="http://schemas.microsoft.com/office/drawing/2014/main" val="2327174630"/>
                    </a:ext>
                  </a:extLst>
                </a:gridCol>
                <a:gridCol w="1549831">
                  <a:extLst>
                    <a:ext uri="{9D8B030D-6E8A-4147-A177-3AD203B41FA5}">
                      <a16:colId xmlns:a16="http://schemas.microsoft.com/office/drawing/2014/main" val="1100051595"/>
                    </a:ext>
                  </a:extLst>
                </a:gridCol>
                <a:gridCol w="935023">
                  <a:extLst>
                    <a:ext uri="{9D8B030D-6E8A-4147-A177-3AD203B41FA5}">
                      <a16:colId xmlns:a16="http://schemas.microsoft.com/office/drawing/2014/main" val="2042261034"/>
                    </a:ext>
                  </a:extLst>
                </a:gridCol>
                <a:gridCol w="973447">
                  <a:extLst>
                    <a:ext uri="{9D8B030D-6E8A-4147-A177-3AD203B41FA5}">
                      <a16:colId xmlns:a16="http://schemas.microsoft.com/office/drawing/2014/main" val="2815874248"/>
                    </a:ext>
                  </a:extLst>
                </a:gridCol>
              </a:tblGrid>
              <a:tr h="430884">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96085">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$1,090,000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$529,525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r>
                        <a:rPr lang="en-US" sz="850" b="1" i="0" u="none" strike="noStrike" kern="1200" cap="none" normalizeH="0" baseline="0">
                          <a:ln>
                            <a:noFill/>
                          </a:ln>
                          <a:solidFill>
                            <a:schemeClr val="tx1"/>
                          </a:solidFill>
                          <a:effectLst/>
                          <a:latin typeface="Aptos"/>
                          <a:ea typeface="+mn-ea"/>
                          <a:cs typeface="+mn-cs"/>
                        </a:rPr>
                        <a:t>$557,589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$1,087,115</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$1,380,137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3CEECBC6-6574-2610-96D7-EB30356B0689}"/>
              </a:ext>
            </a:extLst>
          </p:cNvPr>
          <p:cNvGraphicFramePr>
            <a:graphicFrameLocks noGrp="1"/>
          </p:cNvGraphicFramePr>
          <p:nvPr>
            <p:extLst>
              <p:ext uri="{D42A27DB-BD31-4B8C-83A1-F6EECF244321}">
                <p14:modId xmlns:p14="http://schemas.microsoft.com/office/powerpoint/2010/main" val="1685064472"/>
              </p:ext>
            </p:extLst>
          </p:nvPr>
        </p:nvGraphicFramePr>
        <p:xfrm>
          <a:off x="2813529" y="884610"/>
          <a:ext cx="3829275" cy="780582"/>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2577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81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4469025-E89B-A945-DDF7-AD32332B6CD0}"/>
              </a:ext>
            </a:extLst>
          </p:cNvPr>
          <p:cNvGraphicFramePr>
            <a:graphicFrameLocks noGrp="1"/>
          </p:cNvGraphicFramePr>
          <p:nvPr>
            <p:extLst>
              <p:ext uri="{D42A27DB-BD31-4B8C-83A1-F6EECF244321}">
                <p14:modId xmlns:p14="http://schemas.microsoft.com/office/powerpoint/2010/main" val="3140387047"/>
              </p:ext>
            </p:extLst>
          </p:nvPr>
        </p:nvGraphicFramePr>
        <p:xfrm>
          <a:off x="232717" y="1272246"/>
          <a:ext cx="2581576" cy="395688"/>
        </p:xfrm>
        <a:graphic>
          <a:graphicData uri="http://schemas.openxmlformats.org/drawingml/2006/table">
            <a:tbl>
              <a:tblPr/>
              <a:tblGrid>
                <a:gridCol w="998603">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a:lnSpc>
                          <a:spcPct val="95000"/>
                        </a:lnSpc>
                        <a:spcBef>
                          <a:spcPct val="0"/>
                        </a:spcBef>
                        <a:spcAft>
                          <a:spcPct val="50000"/>
                        </a:spcAft>
                        <a:buNone/>
                      </a:pPr>
                      <a:r>
                        <a:rPr lang="en-US" sz="850" b="1" i="0" u="none" strike="noStrike" kern="1200" cap="none" normalizeH="0" baseline="0">
                          <a:ln>
                            <a:noFill/>
                          </a:ln>
                          <a:solidFill>
                            <a:schemeClr val="tx1"/>
                          </a:solidFill>
                          <a:effectLst/>
                          <a:latin typeface="Aptos"/>
                          <a:ea typeface="+mn-ea"/>
                          <a:cs typeface="+mn-cs"/>
                        </a:rPr>
                        <a:t>01/13/2026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D24B6AB-2DD3-6F29-B6BA-A86B85048342}"/>
              </a:ext>
            </a:extLst>
          </p:cNvPr>
          <p:cNvGraphicFramePr>
            <a:graphicFrameLocks noGrp="1"/>
          </p:cNvGraphicFramePr>
          <p:nvPr>
            <p:extLst>
              <p:ext uri="{D42A27DB-BD31-4B8C-83A1-F6EECF244321}">
                <p14:modId xmlns:p14="http://schemas.microsoft.com/office/powerpoint/2010/main" val="2126261719"/>
              </p:ext>
            </p:extLst>
          </p:nvPr>
        </p:nvGraphicFramePr>
        <p:xfrm>
          <a:off x="4966269" y="1669552"/>
          <a:ext cx="7152058" cy="2560696"/>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3469">
                  <a:extLst>
                    <a:ext uri="{9D8B030D-6E8A-4147-A177-3AD203B41FA5}">
                      <a16:colId xmlns:a16="http://schemas.microsoft.com/office/drawing/2014/main" val="2042261034"/>
                    </a:ext>
                  </a:extLst>
                </a:gridCol>
                <a:gridCol w="3439040">
                  <a:extLst>
                    <a:ext uri="{9D8B030D-6E8A-4147-A177-3AD203B41FA5}">
                      <a16:colId xmlns:a16="http://schemas.microsoft.com/office/drawing/2014/main" val="2815874248"/>
                    </a:ext>
                  </a:extLst>
                </a:gridCol>
              </a:tblGrid>
              <a:tr h="35933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983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a:ea typeface="+mn-ea"/>
                          <a:cs typeface="+mn-cs"/>
                        </a:rPr>
                        <a:t>MVP1 DDIT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40993">
                <a:tc>
                  <a:txBody>
                    <a:bodyPr/>
                    <a:lstStyle/>
                    <a:p>
                      <a:pPr marL="114300" marR="0" lvl="0" indent="0" algn="l" rtl="0">
                        <a:lnSpc>
                          <a:spcPct val="95000"/>
                        </a:lnSpc>
                        <a:spcBef>
                          <a:spcPct val="0"/>
                        </a:spcBef>
                        <a:spcAft>
                          <a:spcPct val="50000"/>
                        </a:spcAft>
                        <a:buClrTx/>
                        <a:buSzTx/>
                        <a:buFontTx/>
                        <a:buNone/>
                      </a:pPr>
                      <a:r>
                        <a:rPr lang="en-US" sz="850" b="0" kern="1200">
                          <a:solidFill>
                            <a:schemeClr val="tx1"/>
                          </a:solidFill>
                          <a:effectLst/>
                          <a:latin typeface="Aptos"/>
                          <a:ea typeface="+mn-ea"/>
                          <a:cs typeface="+mn-cs"/>
                        </a:rPr>
                        <a:t>MVP1/MVP2 DDIT start - complete</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lnSpc>
                          <a:spcPct val="95000"/>
                        </a:lnSpc>
                        <a:spcBef>
                          <a:spcPct val="0"/>
                        </a:spcBef>
                        <a:spcAft>
                          <a:spcPct val="50000"/>
                        </a:spcAft>
                        <a:buClrTx/>
                        <a:buSzTx/>
                        <a:buFontTx/>
                        <a:buNone/>
                      </a:pPr>
                      <a:r>
                        <a:rPr lang="en-US" sz="850" b="0" strike="sngStrike" kern="1200">
                          <a:solidFill>
                            <a:schemeClr val="tx1"/>
                          </a:solidFill>
                          <a:effectLst/>
                          <a:latin typeface="Aptos"/>
                          <a:ea typeface="+mn-ea"/>
                          <a:cs typeface="+mn-cs"/>
                        </a:rPr>
                        <a:t>6/24- 9/2</a:t>
                      </a:r>
                      <a:endParaRPr lang="en-US" strike="sngStrike"/>
                    </a:p>
                    <a:p>
                      <a:pPr marL="0" marR="0" lvl="0" indent="0" algn="ctr">
                        <a:lnSpc>
                          <a:spcPct val="95000"/>
                        </a:lnSpc>
                        <a:spcBef>
                          <a:spcPct val="0"/>
                        </a:spcBef>
                        <a:spcAft>
                          <a:spcPct val="50000"/>
                        </a:spcAft>
                        <a:buClrTx/>
                        <a:buSzTx/>
                        <a:buFontTx/>
                        <a:buNone/>
                      </a:pPr>
                      <a:r>
                        <a:rPr lang="en-US" sz="850" b="0" strike="noStrike" kern="1200">
                          <a:solidFill>
                            <a:schemeClr val="tx1"/>
                          </a:solidFill>
                          <a:effectLst/>
                          <a:latin typeface="Aptos"/>
                          <a:ea typeface="+mn-ea"/>
                          <a:cs typeface="+mn-cs"/>
                        </a:rPr>
                        <a:t>11/26/26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600"/>
                        </a:lnSpc>
                        <a:spcBef>
                          <a:spcPts val="300"/>
                        </a:spcBef>
                        <a:buNone/>
                      </a:pPr>
                      <a:r>
                        <a:rPr lang="en-US" sz="850" b="0" i="0">
                          <a:solidFill>
                            <a:srgbClr val="000000"/>
                          </a:solidFill>
                          <a:effectLst/>
                          <a:latin typeface="Aptos"/>
                        </a:rPr>
                        <a:t>New revised timeline, at risk due to dependency on ESS team to complete their EUA to version 3</a:t>
                      </a: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1099244465"/>
                  </a:ext>
                </a:extLst>
              </a:tr>
              <a:tr h="28111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MVP1 / MVP2 E2E</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11/26/26 - 12/9/26</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b="0" i="0" kern="1200" noProof="0">
                          <a:solidFill>
                            <a:srgbClr val="000000"/>
                          </a:solidFill>
                          <a:effectLst/>
                          <a:latin typeface="Aptos"/>
                          <a:ea typeface="+mn-ea"/>
                          <a:cs typeface="+mn-cs"/>
                        </a:rPr>
                        <a:t>On Hold - Business decision made to pause MVP1 October release due to loss ratio concerns identified during risk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276287">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MVP1/ MVP2  </a:t>
                      </a:r>
                      <a:r>
                        <a:rPr lang="en-US" sz="850" b="0" i="0" u="none" strike="noStrike" kern="1200" noProof="0">
                          <a:solidFill>
                            <a:schemeClr val="dk1"/>
                          </a:solidFill>
                          <a:latin typeface="Aptos"/>
                          <a:ea typeface="+mn-ea"/>
                          <a:cs typeface="+mn-cs"/>
                        </a:rPr>
                        <a:t>Business UAT/Sign off Complete</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12/10/26 - 1/1/27</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Tx/>
                        <a:buNone/>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9181009"/>
                  </a:ext>
                </a:extLst>
              </a:tr>
              <a:tr h="25520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Implementation Plan Review</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732389"/>
                  </a:ext>
                </a:extLst>
              </a:tr>
              <a:tr h="236980">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MVP1/ MVP2  Go No/Go</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1/6/27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3945">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Stage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1/4/27-1/6/27</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53500">
                <a:tc>
                  <a:txBody>
                    <a:bodyPr/>
                    <a:lstStyle/>
                    <a:p>
                      <a:pPr marL="114300" marR="0" lvl="0" indent="0" algn="l" rtl="0">
                        <a:lnSpc>
                          <a:spcPct val="95000"/>
                        </a:lnSpc>
                        <a:spcBef>
                          <a:spcPct val="0"/>
                        </a:spcBef>
                        <a:spcAft>
                          <a:spcPct val="50000"/>
                        </a:spcAft>
                        <a:buClrTx/>
                        <a:buSzTx/>
                        <a:buFontTx/>
                        <a:buNone/>
                      </a:pPr>
                      <a:r>
                        <a:rPr lang="en-US" sz="850" b="0" i="0" u="none" strike="noStrike" kern="1200" noProof="0">
                          <a:solidFill>
                            <a:schemeClr val="dk1"/>
                          </a:solidFill>
                          <a:latin typeface="Aptos"/>
                          <a:ea typeface="+mn-ea"/>
                          <a:cs typeface="+mn-cs"/>
                        </a:rPr>
                        <a:t>Implementation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1/13/27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28197"/>
                  </a:ext>
                </a:extLst>
              </a:tr>
            </a:tbl>
          </a:graphicData>
        </a:graphic>
      </p:graphicFrame>
      <p:graphicFrame>
        <p:nvGraphicFramePr>
          <p:cNvPr id="29" name="Table 28">
            <a:extLst>
              <a:ext uri="{FF2B5EF4-FFF2-40B4-BE49-F238E27FC236}">
                <a16:creationId xmlns:a16="http://schemas.microsoft.com/office/drawing/2014/main" id="{F837AD31-EDF2-164B-25A9-7EC1D616A6AA}"/>
              </a:ext>
            </a:extLst>
          </p:cNvPr>
          <p:cNvGraphicFramePr>
            <a:graphicFrameLocks noGrp="1"/>
          </p:cNvGraphicFramePr>
          <p:nvPr>
            <p:extLst>
              <p:ext uri="{D42A27DB-BD31-4B8C-83A1-F6EECF244321}">
                <p14:modId xmlns:p14="http://schemas.microsoft.com/office/powerpoint/2010/main" val="727998546"/>
              </p:ext>
            </p:extLst>
          </p:nvPr>
        </p:nvGraphicFramePr>
        <p:xfrm>
          <a:off x="4953859" y="4237180"/>
          <a:ext cx="7159657" cy="2205037"/>
        </p:xfrm>
        <a:graphic>
          <a:graphicData uri="http://schemas.openxmlformats.org/drawingml/2006/table">
            <a:tbl>
              <a:tblPr>
                <a:tableStyleId>{5C22544A-7EE6-4342-B048-85BDC9FD1C3A}</a:tableStyleId>
              </a:tblPr>
              <a:tblGrid>
                <a:gridCol w="2641812">
                  <a:extLst>
                    <a:ext uri="{9D8B030D-6E8A-4147-A177-3AD203B41FA5}">
                      <a16:colId xmlns:a16="http://schemas.microsoft.com/office/drawing/2014/main" val="2456552316"/>
                    </a:ext>
                  </a:extLst>
                </a:gridCol>
                <a:gridCol w="518775">
                  <a:extLst>
                    <a:ext uri="{9D8B030D-6E8A-4147-A177-3AD203B41FA5}">
                      <a16:colId xmlns:a16="http://schemas.microsoft.com/office/drawing/2014/main" val="1100051595"/>
                    </a:ext>
                  </a:extLst>
                </a:gridCol>
                <a:gridCol w="596746">
                  <a:extLst>
                    <a:ext uri="{9D8B030D-6E8A-4147-A177-3AD203B41FA5}">
                      <a16:colId xmlns:a16="http://schemas.microsoft.com/office/drawing/2014/main" val="2042261034"/>
                    </a:ext>
                  </a:extLst>
                </a:gridCol>
                <a:gridCol w="3402324">
                  <a:extLst>
                    <a:ext uri="{9D8B030D-6E8A-4147-A177-3AD203B41FA5}">
                      <a16:colId xmlns:a16="http://schemas.microsoft.com/office/drawing/2014/main" val="2815874248"/>
                    </a:ext>
                  </a:extLst>
                </a:gridCol>
              </a:tblGrid>
              <a:tr h="2974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905952">
                <a:tc>
                  <a:txBody>
                    <a:bodyPr/>
                    <a:lstStyle/>
                    <a:p>
                      <a:pPr marL="0" lvl="0" indent="0" algn="l">
                        <a:lnSpc>
                          <a:spcPct val="100000"/>
                        </a:lnSpc>
                        <a:buNone/>
                      </a:pPr>
                      <a:r>
                        <a:rPr lang="en-US" sz="850" b="0" i="0" u="none" strike="noStrike" baseline="0" noProof="0">
                          <a:solidFill>
                            <a:srgbClr val="000000"/>
                          </a:solidFill>
                          <a:latin typeface="Aptos"/>
                          <a:cs typeface="Segoe UI"/>
                        </a:rPr>
                        <a:t>Risks</a:t>
                      </a:r>
                      <a:endParaRPr lang="en-US"/>
                    </a:p>
                    <a:p>
                      <a:pPr marL="171450" lvl="0" indent="-171450" algn="l">
                        <a:lnSpc>
                          <a:spcPct val="100000"/>
                        </a:lnSpc>
                        <a:buFont typeface="Arial"/>
                        <a:buChar char="•"/>
                      </a:pPr>
                      <a:r>
                        <a:rPr lang="en-US" sz="850" b="0" i="0" u="none" strike="noStrike" baseline="0" noProof="0">
                          <a:solidFill>
                            <a:srgbClr val="000000"/>
                          </a:solidFill>
                          <a:latin typeface="Aptos"/>
                          <a:cs typeface="Segoe UI"/>
                        </a:rPr>
                        <a:t>Holiday UAT and testing period overlaps with Thanksgiving, Christmas, and New Year holidays.</a:t>
                      </a:r>
                      <a:endParaRPr lang="en-US"/>
                    </a:p>
                    <a:p>
                      <a:pPr marL="171450" lvl="0" indent="-171450" algn="l">
                        <a:lnSpc>
                          <a:spcPct val="100000"/>
                        </a:lnSpc>
                        <a:buFont typeface="Arial"/>
                        <a:buChar char="•"/>
                      </a:pPr>
                      <a:r>
                        <a:rPr lang="en-US" sz="850" b="0" i="0" u="none" strike="noStrike" baseline="0" noProof="0">
                          <a:solidFill>
                            <a:srgbClr val="000000"/>
                          </a:solidFill>
                          <a:latin typeface="Aptos"/>
                          <a:cs typeface="Segoe UI"/>
                        </a:rPr>
                        <a:t>Shared business and technology testing resources across concurrent initiatives.</a:t>
                      </a:r>
                      <a:endParaRPr lang="en-US"/>
                    </a:p>
                    <a:p>
                      <a:pPr marL="171450" lvl="0" indent="-171450" algn="l">
                        <a:lnSpc>
                          <a:spcPct val="100000"/>
                        </a:lnSpc>
                        <a:buFont typeface="Arial"/>
                        <a:buChar char="•"/>
                      </a:pPr>
                      <a:r>
                        <a:rPr lang="en-US" sz="850" b="0" i="0" u="none" strike="noStrike" baseline="0" noProof="0">
                          <a:solidFill>
                            <a:srgbClr val="000000"/>
                          </a:solidFill>
                          <a:latin typeface="Aptos"/>
                          <a:cs typeface="Segoe UI"/>
                        </a:rPr>
                        <a:t>Enterprise Authentication V3 dependency by ESS.</a:t>
                      </a:r>
                      <a:endParaRPr lang="en-US"/>
                    </a:p>
                    <a:p>
                      <a:pPr marL="0" lvl="0" indent="0" algn="l">
                        <a:lnSpc>
                          <a:spcPct val="100000"/>
                        </a:lnSpc>
                        <a:buNone/>
                      </a:pPr>
                      <a:endParaRPr lang="en-US" sz="850" b="0" i="0" u="none" strike="noStrike" noProof="0">
                        <a:latin typeface="Aptos"/>
                        <a:cs typeface="Segoe UI"/>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0" strike="noStrike" kern="1200">
                          <a:solidFill>
                            <a:schemeClr val="tx1"/>
                          </a:solidFill>
                          <a:effectLst/>
                          <a:latin typeface="Aptos"/>
                          <a:ea typeface="+mn-ea"/>
                          <a:cs typeface="+mn-cs"/>
                        </a:rPr>
                        <a:t>11/15</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a:lnSpc>
                          <a:spcPct val="100000"/>
                        </a:lnSpc>
                        <a:buNone/>
                      </a:pPr>
                      <a:r>
                        <a:rPr lang="en-US" sz="850" b="0" i="0" u="none" strike="noStrike" baseline="0" noProof="0">
                          <a:solidFill>
                            <a:srgbClr val="000000"/>
                          </a:solidFill>
                          <a:latin typeface="Aptos"/>
                          <a:cs typeface="Segoe UI"/>
                        </a:rPr>
                        <a:t>Mitigations</a:t>
                      </a:r>
                    </a:p>
                    <a:p>
                      <a:pPr marL="171450" lvl="0" indent="-171450" algn="l">
                        <a:lnSpc>
                          <a:spcPct val="100000"/>
                        </a:lnSpc>
                        <a:buFont typeface="Arial"/>
                        <a:buChar char="•"/>
                      </a:pPr>
                      <a:r>
                        <a:rPr lang="en-US" sz="850" b="0" i="0" u="none" strike="noStrike" baseline="0" noProof="0">
                          <a:solidFill>
                            <a:srgbClr val="000000"/>
                          </a:solidFill>
                          <a:latin typeface="Aptos"/>
                          <a:cs typeface="Segoe UI"/>
                        </a:rPr>
                        <a:t>Assign dedicated primary and backup testers.</a:t>
                      </a:r>
                    </a:p>
                    <a:p>
                      <a:pPr marL="171450" lvl="0" indent="-171450" algn="l">
                        <a:lnSpc>
                          <a:spcPct val="100000"/>
                        </a:lnSpc>
                        <a:buFont typeface="Arial"/>
                        <a:buChar char="•"/>
                      </a:pPr>
                      <a:r>
                        <a:rPr lang="en-US" sz="850" b="0" i="0" u="none" strike="noStrike" baseline="0" noProof="0">
                          <a:solidFill>
                            <a:srgbClr val="000000"/>
                          </a:solidFill>
                          <a:latin typeface="Aptos"/>
                          <a:cs typeface="Segoe UI"/>
                        </a:rPr>
                        <a:t>Prioritize critical business scenarios and testing coverage.</a:t>
                      </a:r>
                    </a:p>
                    <a:p>
                      <a:pPr marL="171450" lvl="0" indent="-171450" algn="l">
                        <a:lnSpc>
                          <a:spcPct val="100000"/>
                        </a:lnSpc>
                        <a:buFont typeface="Arial"/>
                        <a:buChar char="•"/>
                      </a:pPr>
                      <a:r>
                        <a:rPr lang="en-US" sz="850" b="0" i="0" u="none" strike="noStrike" baseline="0" noProof="0">
                          <a:solidFill>
                            <a:srgbClr val="000000"/>
                          </a:solidFill>
                          <a:latin typeface="Aptos"/>
                          <a:cs typeface="Segoe UI"/>
                        </a:rPr>
                        <a:t>Develop a coordinated Q1 testing strategy.</a:t>
                      </a:r>
                    </a:p>
                    <a:p>
                      <a:pPr marL="171450" marR="0" lvl="0" indent="-171450" algn="l">
                        <a:lnSpc>
                          <a:spcPct val="100000"/>
                        </a:lnSpc>
                        <a:spcBef>
                          <a:spcPts val="0"/>
                        </a:spcBef>
                        <a:spcAft>
                          <a:spcPts val="0"/>
                        </a:spcAft>
                        <a:buFont typeface="Arial"/>
                        <a:buChar char="•"/>
                      </a:pPr>
                      <a:r>
                        <a:rPr lang="en-US" sz="850" b="0" i="0" u="none" strike="noStrike" baseline="0" noProof="0">
                          <a:solidFill>
                            <a:srgbClr val="000000"/>
                          </a:solidFill>
                          <a:latin typeface="Aptos"/>
                          <a:cs typeface="Segoe UI"/>
                        </a:rPr>
                        <a:t>Complete Authentication V3 integration activities early.</a:t>
                      </a:r>
                      <a:endParaRPr lang="en-US"/>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C543E80-4753-D25D-CEFB-9731713CF7AE}"/>
              </a:ext>
            </a:extLst>
          </p:cNvPr>
          <p:cNvSpPr/>
          <p:nvPr/>
        </p:nvSpPr>
        <p:spPr>
          <a:xfrm>
            <a:off x="6688469" y="659635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F8358FAE-9186-AA89-B4A8-04090F4E2091}"/>
              </a:ext>
            </a:extLst>
          </p:cNvPr>
          <p:cNvSpPr/>
          <p:nvPr/>
        </p:nvSpPr>
        <p:spPr>
          <a:xfrm>
            <a:off x="7751771" y="660439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BC7CAE9-16F9-9034-CA89-91E765F08300}"/>
              </a:ext>
            </a:extLst>
          </p:cNvPr>
          <p:cNvSpPr/>
          <p:nvPr/>
        </p:nvSpPr>
        <p:spPr>
          <a:xfrm>
            <a:off x="8815074" y="660439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8DEE2BD8-B31B-C761-15F2-FFF67921B613}"/>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10F38D3F-DB7C-FC02-FCD0-4F534285AC29}"/>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2EEB9CDF-3CB1-5B73-B142-A29F120416CE}"/>
              </a:ext>
            </a:extLst>
          </p:cNvPr>
          <p:cNvSpPr txBox="1"/>
          <p:nvPr/>
        </p:nvSpPr>
        <p:spPr>
          <a:xfrm>
            <a:off x="159545" y="1777635"/>
            <a:ext cx="4743293" cy="5062924"/>
          </a:xfrm>
          <a:prstGeom prst="rect">
            <a:avLst/>
          </a:prstGeom>
          <a:noFill/>
        </p:spPr>
        <p:txBody>
          <a:bodyPr wrap="square" lIns="91440" tIns="45720" rIns="91440" bIns="45720" anchor="t">
            <a:spAutoFit/>
          </a:bodyPr>
          <a:lstStyle/>
          <a:p>
            <a:pPr>
              <a:defRPr/>
            </a:pPr>
            <a:r>
              <a:rPr kumimoji="0" lang="en-US" sz="850" b="1" i="0" u="none" strike="noStrike" kern="1200" cap="none" spc="0" normalizeH="0" baseline="0" noProof="0">
                <a:ln>
                  <a:noFill/>
                </a:ln>
                <a:solidFill>
                  <a:srgbClr val="000000"/>
                </a:solidFill>
                <a:effectLst/>
                <a:uLnTx/>
                <a:uFillTx/>
                <a:latin typeface="Aptos Display"/>
              </a:rPr>
              <a:t>Status:</a:t>
            </a:r>
            <a:r>
              <a:rPr lang="en-US" sz="850" b="1">
                <a:solidFill>
                  <a:srgbClr val="000000"/>
                </a:solidFill>
                <a:latin typeface="Aptos Display"/>
              </a:rPr>
              <a:t> </a:t>
            </a:r>
            <a:endParaRPr lang="en-US" sz="850" kern="100">
              <a:solidFill>
                <a:srgbClr val="000000"/>
              </a:solidFill>
              <a:latin typeface="Aptos Display"/>
              <a:cs typeface="Times New Roman"/>
            </a:endParaRPr>
          </a:p>
          <a:p>
            <a:pPr>
              <a:defRPr/>
            </a:pPr>
            <a:r>
              <a:rPr lang="en-US" sz="850">
                <a:solidFill>
                  <a:srgbClr val="000000"/>
                </a:solidFill>
                <a:latin typeface="Aptos Display"/>
                <a:cs typeface="Segoe UI"/>
              </a:rPr>
              <a:t>Business requirements have been confirmed with no scope changes, as the business elected to address loss ratio concerns through business rules. MVP1 and MVP2 have been consolidated into a single release, which also includes the Provider Information change request in GIN for Claims. The team is currently targeting January 13, 2027 for production deployment and is progressing with planning and delivery activities aligned to that date.</a:t>
            </a:r>
            <a:endParaRPr lang="en-US" sz="850">
              <a:latin typeface="Aptos Display"/>
            </a:endParaRPr>
          </a:p>
          <a:p>
            <a:pPr>
              <a:defRPr/>
            </a:pPr>
            <a:r>
              <a:rPr lang="en-US" sz="850" b="1">
                <a:solidFill>
                  <a:srgbClr val="000000"/>
                </a:solidFill>
                <a:latin typeface="Aptos Display"/>
                <a:cs typeface="Segoe UI"/>
              </a:rPr>
              <a:t>Path to Green</a:t>
            </a:r>
            <a:endParaRPr lang="en-US" sz="850">
              <a:solidFill>
                <a:srgbClr val="000000"/>
              </a:solidFill>
              <a:latin typeface="Aptos Display"/>
              <a:cs typeface="Segoe UI"/>
            </a:endParaRPr>
          </a:p>
          <a:p>
            <a:pPr marL="171450" indent="-171450">
              <a:buFont typeface="Arial,Sans-Serif"/>
              <a:buChar char="•"/>
              <a:defRPr/>
            </a:pPr>
            <a:r>
              <a:rPr lang="en-US" sz="850">
                <a:solidFill>
                  <a:srgbClr val="000000"/>
                </a:solidFill>
                <a:latin typeface="Aptos Display"/>
                <a:cs typeface="Segoe UI"/>
              </a:rPr>
              <a:t>Secure $260K leadership funding approval to support remaining delivery, testing, and release activities.</a:t>
            </a:r>
          </a:p>
          <a:p>
            <a:pPr marL="171450" indent="-171450">
              <a:buFont typeface="Arial,Sans-Serif"/>
              <a:buChar char="•"/>
              <a:defRPr/>
            </a:pPr>
            <a:r>
              <a:rPr lang="en-US" sz="850">
                <a:solidFill>
                  <a:srgbClr val="000000"/>
                </a:solidFill>
                <a:latin typeface="Aptos Display"/>
                <a:cs typeface="Segoe UI"/>
              </a:rPr>
              <a:t>Maintain approved scope and avoid additional requirement changes.</a:t>
            </a:r>
          </a:p>
          <a:p>
            <a:pPr marL="171450" indent="-171450">
              <a:buFont typeface="Arial,Sans-Serif"/>
              <a:buChar char="•"/>
              <a:defRPr/>
            </a:pPr>
            <a:r>
              <a:rPr lang="en-US" sz="850">
                <a:solidFill>
                  <a:srgbClr val="000000"/>
                </a:solidFill>
                <a:latin typeface="Aptos Display"/>
                <a:cs typeface="Segoe UI"/>
              </a:rPr>
              <a:t>Complete SIT/E2E testing and aggressively manage defect resolution.</a:t>
            </a:r>
          </a:p>
          <a:p>
            <a:pPr marL="171450" indent="-171450">
              <a:buFont typeface="Arial,Sans-Serif"/>
              <a:buChar char="•"/>
              <a:defRPr/>
            </a:pPr>
            <a:r>
              <a:rPr lang="en-US" sz="850">
                <a:solidFill>
                  <a:srgbClr val="000000"/>
                </a:solidFill>
                <a:latin typeface="Aptos Display"/>
                <a:cs typeface="Segoe UI"/>
              </a:rPr>
              <a:t>Execute holiday resource mitigation plan to ensure coverage through release.</a:t>
            </a:r>
          </a:p>
          <a:p>
            <a:pPr>
              <a:defRPr/>
            </a:pPr>
            <a:endParaRPr lang="en-US" sz="850">
              <a:solidFill>
                <a:srgbClr val="000000"/>
              </a:solidFill>
              <a:latin typeface="Aptos Display"/>
              <a:cs typeface="Segoe UI"/>
            </a:endParaRPr>
          </a:p>
          <a:p>
            <a:pPr>
              <a:defRPr/>
            </a:pPr>
            <a:r>
              <a:rPr lang="en-US" sz="850" b="1">
                <a:solidFill>
                  <a:srgbClr val="000000"/>
                </a:solidFill>
                <a:latin typeface="Aptos Display"/>
                <a:cs typeface="Segoe UI"/>
              </a:rPr>
              <a:t>Highlights</a:t>
            </a:r>
          </a:p>
          <a:p>
            <a:pPr marL="171450" indent="-171450">
              <a:buFont typeface="Arial"/>
              <a:buChar char="•"/>
              <a:defRPr/>
            </a:pPr>
            <a:r>
              <a:rPr lang="en-US" sz="850">
                <a:solidFill>
                  <a:srgbClr val="000000"/>
                </a:solidFill>
                <a:latin typeface="Aptos Display"/>
                <a:cs typeface="Segoe UI"/>
              </a:rPr>
              <a:t>Business confirmed the original requirements will remain unchanged, with loss ratio concerns to be managed through business rules rather than scope changes.</a:t>
            </a:r>
            <a:endParaRPr lang="en-US" sz="850">
              <a:latin typeface="Aptos Display"/>
              <a:cs typeface="Arial"/>
            </a:endParaRPr>
          </a:p>
          <a:p>
            <a:pPr marL="171450" indent="-171450">
              <a:buFont typeface="Arial"/>
              <a:buChar char="•"/>
              <a:defRPr/>
            </a:pPr>
            <a:r>
              <a:rPr lang="en-US" sz="850">
                <a:solidFill>
                  <a:srgbClr val="000000"/>
                </a:solidFill>
                <a:latin typeface="Aptos Display"/>
                <a:cs typeface="Segoe UI"/>
              </a:rPr>
              <a:t>MVP1 and MVP2 have been consolidated into a single release, which also includes the Provider Information change request in GIN for Claims.</a:t>
            </a:r>
            <a:endParaRPr lang="en-US" sz="850">
              <a:latin typeface="Aptos Display"/>
              <a:cs typeface="Arial"/>
            </a:endParaRPr>
          </a:p>
          <a:p>
            <a:pPr marL="171450" indent="-171450">
              <a:buFont typeface="Arial"/>
              <a:buChar char="•"/>
              <a:defRPr/>
            </a:pPr>
            <a:r>
              <a:rPr lang="en-US" sz="850">
                <a:solidFill>
                  <a:srgbClr val="000000"/>
                </a:solidFill>
                <a:latin typeface="Aptos Display"/>
                <a:cs typeface="Segoe UI"/>
              </a:rPr>
              <a:t>The team will reintroduce previously shelved code and launch with a limited set of underwriting rules, expanding incrementally based on production performance.</a:t>
            </a:r>
            <a:endParaRPr lang="en-US" sz="850">
              <a:latin typeface="Aptos Display"/>
              <a:cs typeface="Arial"/>
            </a:endParaRPr>
          </a:p>
          <a:p>
            <a:pPr marL="171450" indent="-171450">
              <a:buFont typeface="Arial"/>
              <a:buChar char="•"/>
              <a:defRPr/>
            </a:pPr>
            <a:r>
              <a:rPr lang="en-US" sz="850">
                <a:solidFill>
                  <a:srgbClr val="000000"/>
                </a:solidFill>
                <a:latin typeface="Aptos Display"/>
                <a:cs typeface="Segoe UI"/>
              </a:rPr>
              <a:t>Current production target for the combined MVP1/MVP2 release remains January 13, 2027.</a:t>
            </a:r>
            <a:endParaRPr lang="en-US" sz="850">
              <a:latin typeface="Aptos Display"/>
              <a:cs typeface="Arial"/>
            </a:endParaRPr>
          </a:p>
          <a:p>
            <a:pPr marL="171450" indent="-171450">
              <a:buFont typeface="Arial"/>
              <a:buChar char="•"/>
              <a:defRPr/>
            </a:pPr>
            <a:r>
              <a:rPr lang="en-US" sz="850">
                <a:solidFill>
                  <a:srgbClr val="000000"/>
                </a:solidFill>
                <a:latin typeface="Aptos Display"/>
                <a:cs typeface="Segoe UI"/>
              </a:rPr>
              <a:t>Key upcoming milestones include Test Strategy Review (Oct 28), Test Planning Sessions (Oct 29-30), E2E Testing (Dec 1-9), and UAT (Dec 10-Jan 1).</a:t>
            </a:r>
            <a:endParaRPr lang="en-US" sz="850">
              <a:latin typeface="Aptos Display"/>
              <a:cs typeface="Arial"/>
            </a:endParaRPr>
          </a:p>
          <a:p>
            <a:pPr>
              <a:defRPr/>
            </a:pPr>
            <a:endParaRPr lang="en-US" sz="850" b="1">
              <a:solidFill>
                <a:srgbClr val="000000"/>
              </a:solidFill>
              <a:latin typeface="Aptos Display"/>
              <a:cs typeface="Segoe UI"/>
            </a:endParaRPr>
          </a:p>
          <a:p>
            <a:pPr>
              <a:defRPr/>
            </a:pPr>
            <a:r>
              <a:rPr lang="en-US" sz="850" b="1">
                <a:solidFill>
                  <a:srgbClr val="000000"/>
                </a:solidFill>
                <a:latin typeface="Aptos Display"/>
                <a:cs typeface="Segoe UI"/>
              </a:rPr>
              <a:t>Next Steps</a:t>
            </a:r>
            <a:endParaRPr lang="en-US" sz="850" b="1">
              <a:latin typeface="Aptos Display"/>
              <a:cs typeface="Segoe UI"/>
            </a:endParaRPr>
          </a:p>
          <a:p>
            <a:pPr marL="171450" indent="-171450">
              <a:buFont typeface="Arial"/>
              <a:buChar char="•"/>
              <a:defRPr/>
            </a:pPr>
            <a:r>
              <a:rPr lang="en-US" sz="850">
                <a:latin typeface="Aptos Display"/>
                <a:cs typeface="Segoe UI"/>
              </a:rPr>
              <a:t>Oct 28: Conduct Master Test Strategy Review. (Project Team / Test Leads)</a:t>
            </a:r>
          </a:p>
          <a:p>
            <a:pPr marL="171450" indent="-171450">
              <a:buFont typeface="Arial"/>
              <a:buChar char="•"/>
              <a:defRPr/>
            </a:pPr>
            <a:r>
              <a:rPr lang="en-US" sz="850">
                <a:latin typeface="Aptos Display"/>
                <a:cs typeface="Segoe UI"/>
              </a:rPr>
              <a:t>Oct 29-30: Complete Test Planning Sessions. (Emmanuel, Vamsi)</a:t>
            </a:r>
            <a:endParaRPr lang="en-US" sz="850">
              <a:latin typeface="Aptos Display"/>
            </a:endParaRPr>
          </a:p>
          <a:p>
            <a:pPr marL="171450" indent="-171450">
              <a:buFont typeface="Arial"/>
              <a:buChar char="•"/>
              <a:defRPr/>
            </a:pPr>
            <a:r>
              <a:rPr lang="en-US" sz="850">
                <a:latin typeface="Aptos Display"/>
                <a:cs typeface="Segoe UI"/>
              </a:rPr>
              <a:t>By Oct 30: Finalize launch underwriting business rules. (Sarah &amp; Business SMEs)</a:t>
            </a:r>
            <a:endParaRPr lang="en-US" sz="850">
              <a:latin typeface="Aptos Display"/>
            </a:endParaRPr>
          </a:p>
          <a:p>
            <a:pPr marL="171450" indent="-171450">
              <a:buFont typeface="Arial"/>
              <a:buChar char="•"/>
              <a:defRPr/>
            </a:pPr>
            <a:r>
              <a:rPr lang="en-US" sz="850">
                <a:latin typeface="Aptos Display"/>
                <a:cs typeface="Segoe UI"/>
              </a:rPr>
              <a:t>By Oct 30: Publish testing and environment calendar. (Lalitha &amp; Sireesha)</a:t>
            </a:r>
            <a:endParaRPr lang="en-US" sz="850">
              <a:latin typeface="Aptos Display"/>
            </a:endParaRPr>
          </a:p>
          <a:p>
            <a:pPr marL="171450" indent="-171450">
              <a:buFont typeface="Arial"/>
              <a:buChar char="•"/>
              <a:defRPr/>
            </a:pPr>
            <a:r>
              <a:rPr lang="en-US" sz="850">
                <a:latin typeface="Aptos Display"/>
                <a:cs typeface="Segoe UI"/>
              </a:rPr>
              <a:t>By Oct 16: Resolve Enterprise Auth migration approach and confirm path forward. (Kiran, Jagan)</a:t>
            </a:r>
            <a:endParaRPr lang="en-US" sz="850">
              <a:latin typeface="Aptos Display"/>
            </a:endParaRPr>
          </a:p>
          <a:p>
            <a:pPr marL="171450" indent="-171450">
              <a:buFont typeface="Arial"/>
              <a:buChar char="•"/>
              <a:defRPr/>
            </a:pPr>
            <a:r>
              <a:rPr lang="en-US" sz="850">
                <a:latin typeface="Aptos Display"/>
                <a:cs typeface="Segoe UI"/>
              </a:rPr>
              <a:t>By Nov 13: Finalize MVP1/MVP2 environment readiness and deployment plan. (Sireesha &amp; </a:t>
            </a:r>
            <a:r>
              <a:rPr lang="en-US" sz="850" err="1">
                <a:latin typeface="Aptos Display"/>
                <a:cs typeface="Segoe UI"/>
              </a:rPr>
              <a:t>TLeads</a:t>
            </a:r>
            <a:r>
              <a:rPr lang="en-US" sz="850">
                <a:latin typeface="Aptos Display"/>
                <a:cs typeface="Segoe UI"/>
              </a:rPr>
              <a:t>)</a:t>
            </a:r>
            <a:endParaRPr lang="en-US" sz="850">
              <a:latin typeface="Aptos Display"/>
            </a:endParaRPr>
          </a:p>
          <a:p>
            <a:pPr marL="171450" indent="-171450">
              <a:buFont typeface="Arial"/>
              <a:buChar char="•"/>
              <a:defRPr/>
            </a:pPr>
            <a:r>
              <a:rPr lang="en-US" sz="850">
                <a:latin typeface="Aptos Display"/>
                <a:cs typeface="Segoe UI"/>
              </a:rPr>
              <a:t>By Nov 7: Confirm holiday support coverage for testing, UAT, deployment, and stabilization activities. (Gary, Sarah &amp; Business Team)</a:t>
            </a:r>
            <a:endParaRPr lang="en-US" sz="850">
              <a:latin typeface="Aptos Display"/>
            </a:endParaRPr>
          </a:p>
          <a:p>
            <a:pPr marL="171450" indent="-171450">
              <a:buFont typeface="Arial"/>
              <a:buChar char="•"/>
              <a:defRPr/>
            </a:pPr>
            <a:r>
              <a:rPr lang="en-US" sz="850">
                <a:latin typeface="Aptos Display"/>
                <a:cs typeface="Segoe UI"/>
              </a:rPr>
              <a:t>Dec 1-9: Execute End-to-End (E2E) Testing.</a:t>
            </a:r>
            <a:endParaRPr lang="en-US" sz="850">
              <a:latin typeface="Aptos Display"/>
            </a:endParaRPr>
          </a:p>
          <a:p>
            <a:pPr marL="171450" indent="-171450">
              <a:buFont typeface="Arial"/>
              <a:buChar char="•"/>
              <a:defRPr/>
            </a:pPr>
            <a:r>
              <a:rPr lang="en-US" sz="850">
                <a:latin typeface="Aptos Display"/>
                <a:cs typeface="Segoe UI"/>
              </a:rPr>
              <a:t>Dec 10-Jan 1: Complete User Acceptance Testing (UAT).</a:t>
            </a:r>
            <a:endParaRPr lang="en-US" sz="850">
              <a:latin typeface="Aptos Display"/>
            </a:endParaRPr>
          </a:p>
          <a:p>
            <a:pPr marL="171450" indent="-171450">
              <a:buFont typeface="Arial"/>
              <a:buChar char="•"/>
              <a:defRPr/>
            </a:pPr>
            <a:r>
              <a:rPr lang="en-US" sz="850">
                <a:latin typeface="Aptos Display"/>
                <a:cs typeface="Segoe UI"/>
              </a:rPr>
              <a:t>Jan 6: Final Go/No-Go review and deployment readiness assessment.</a:t>
            </a:r>
          </a:p>
          <a:p>
            <a:pPr marL="171450" indent="-171450">
              <a:buFont typeface="Arial"/>
              <a:buChar char="•"/>
              <a:defRPr/>
            </a:pPr>
            <a:r>
              <a:rPr lang="en-US" sz="850">
                <a:latin typeface="Aptos Display"/>
                <a:cs typeface="Segoe UI"/>
              </a:rPr>
              <a:t>Jan 13, 2027: Production deployment of the combined MVP1 &amp; MVP2 release.</a:t>
            </a:r>
            <a:endParaRPr lang="en-US" sz="850">
              <a:latin typeface="Aptos Display"/>
            </a:endParaRPr>
          </a:p>
          <a:p>
            <a:pPr marL="171450" indent="-171450">
              <a:buFont typeface="Arial"/>
              <a:buChar char="•"/>
              <a:defRPr/>
            </a:pPr>
            <a:r>
              <a:rPr lang="en-US" sz="850">
                <a:latin typeface="Aptos Display"/>
                <a:cs typeface="Segoe UI"/>
              </a:rPr>
              <a:t>February 2027: Stabilization and break-fix support.</a:t>
            </a:r>
            <a:endParaRPr lang="en-US" sz="850">
              <a:latin typeface="Aptos Display"/>
            </a:endParaRPr>
          </a:p>
        </p:txBody>
      </p:sp>
      <p:sp>
        <p:nvSpPr>
          <p:cNvPr id="3" name="TextBox 2">
            <a:extLst>
              <a:ext uri="{FF2B5EF4-FFF2-40B4-BE49-F238E27FC236}">
                <a16:creationId xmlns:a16="http://schemas.microsoft.com/office/drawing/2014/main" id="{A93ED6AC-3F4E-68AE-0FD6-E7CE19B5E469}"/>
              </a:ext>
            </a:extLst>
          </p:cNvPr>
          <p:cNvSpPr txBox="1"/>
          <p:nvPr/>
        </p:nvSpPr>
        <p:spPr>
          <a:xfrm>
            <a:off x="9460736" y="333553"/>
            <a:ext cx="2676180" cy="517320"/>
          </a:xfrm>
          <a:prstGeom prst="rect">
            <a:avLst/>
          </a:prstGeom>
          <a:noFill/>
        </p:spPr>
        <p:txBody>
          <a:bodyPr wrap="none" lIns="0" tIns="0" rIns="0" bIns="0" rtlCol="0" anchor="t">
            <a:noAutofit/>
          </a:bodyPr>
          <a:lstStyle/>
          <a:p>
            <a:pPr>
              <a:lnSpc>
                <a:spcPct val="112000"/>
              </a:lnSpc>
              <a:defRPr/>
            </a:pPr>
            <a:r>
              <a:rPr lang="en-US" sz="1200">
                <a:solidFill>
                  <a:srgbClr val="000000"/>
                </a:solidFill>
                <a:latin typeface="Arial"/>
                <a:cs typeface="Arial"/>
              </a:rPr>
              <a:t>Project Manager </a:t>
            </a:r>
            <a:r>
              <a:rPr kumimoji="0" lang="en-US" sz="1200" b="0" i="0" u="none" strike="noStrike" kern="1200" cap="none" spc="0" normalizeH="0" baseline="0" noProof="0">
                <a:ln>
                  <a:noFill/>
                </a:ln>
                <a:solidFill>
                  <a:srgbClr val="000000"/>
                </a:solidFill>
                <a:effectLst/>
                <a:uLnTx/>
                <a:uFillTx/>
                <a:latin typeface="Arial"/>
                <a:cs typeface="Arial"/>
              </a:rPr>
              <a:t>: </a:t>
            </a:r>
            <a:r>
              <a:rPr lang="en-US" sz="1200">
                <a:solidFill>
                  <a:srgbClr val="000000"/>
                </a:solidFill>
              </a:rPr>
              <a:t> Lalitha</a:t>
            </a:r>
            <a:r>
              <a:rPr kumimoji="0" lang="en-US" sz="1200" b="0" i="0" u="none" strike="noStrike" kern="1200" cap="none" spc="0" normalizeH="0" baseline="0" noProof="0">
                <a:ln>
                  <a:noFill/>
                </a:ln>
                <a:solidFill>
                  <a:srgbClr val="000000"/>
                </a:solidFill>
                <a:effectLst/>
                <a:uLnTx/>
                <a:uFillTx/>
                <a:ea typeface="+mn-ea"/>
                <a:cs typeface="+mn-cs"/>
              </a:rPr>
              <a:t> </a:t>
            </a:r>
            <a:r>
              <a:rPr lang="en-US" sz="1200">
                <a:solidFill>
                  <a:srgbClr val="000000"/>
                </a:solidFill>
              </a:rPr>
              <a:t>Kumar</a:t>
            </a:r>
            <a:endParaRPr lang="en-US" sz="1200">
              <a:cs typeface="Arial"/>
            </a:endParaRP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ea typeface="+mn-ea"/>
                <a:cs typeface="+mn-cs"/>
              </a:rPr>
              <a:t>OpEx</a:t>
            </a:r>
            <a:r>
              <a:rPr kumimoji="0" lang="en-US" sz="1200" b="0" i="0" u="none" strike="noStrike" kern="1200" cap="none" spc="0" normalizeH="0" baseline="0" noProof="0">
                <a:ln>
                  <a:noFill/>
                </a:ln>
                <a:solidFill>
                  <a:srgbClr val="000000"/>
                </a:solidFill>
                <a:effectLst/>
                <a:uLnTx/>
                <a:uFillTx/>
                <a:ea typeface="+mn-ea"/>
                <a:cs typeface="+mn-cs"/>
              </a:rPr>
              <a:t> Business Lead: Sarah Andrews</a:t>
            </a:r>
            <a:endParaRPr lang="en-US" sz="1200" b="0" i="0" u="none" strike="noStrike" kern="1200" cap="none" spc="0" normalizeH="0" baseline="0" noProof="0">
              <a:ln>
                <a:noFill/>
              </a:ln>
              <a:solidFill>
                <a:srgbClr val="000000"/>
              </a:solidFill>
              <a:effectLst/>
              <a:uLnTx/>
              <a:uFillTx/>
              <a:cs typeface="Arial"/>
            </a:endParaRPr>
          </a:p>
        </p:txBody>
      </p:sp>
      <p:sp>
        <p:nvSpPr>
          <p:cNvPr id="4" name="Flowchart: Connector 3">
            <a:extLst>
              <a:ext uri="{FF2B5EF4-FFF2-40B4-BE49-F238E27FC236}">
                <a16:creationId xmlns:a16="http://schemas.microsoft.com/office/drawing/2014/main" id="{92B970BA-829C-E99A-84B9-05D9BB84024B}"/>
              </a:ext>
            </a:extLst>
          </p:cNvPr>
          <p:cNvSpPr/>
          <p:nvPr/>
        </p:nvSpPr>
        <p:spPr>
          <a:xfrm>
            <a:off x="5226813"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Connector 6">
            <a:extLst>
              <a:ext uri="{FF2B5EF4-FFF2-40B4-BE49-F238E27FC236}">
                <a16:creationId xmlns:a16="http://schemas.microsoft.com/office/drawing/2014/main" id="{B47CA5BA-1C44-320B-7E55-78EB347DB52A}"/>
              </a:ext>
            </a:extLst>
          </p:cNvPr>
          <p:cNvSpPr/>
          <p:nvPr/>
        </p:nvSpPr>
        <p:spPr>
          <a:xfrm>
            <a:off x="6096000" y="140498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Flowchart: Connector 7">
            <a:extLst>
              <a:ext uri="{FF2B5EF4-FFF2-40B4-BE49-F238E27FC236}">
                <a16:creationId xmlns:a16="http://schemas.microsoft.com/office/drawing/2014/main" id="{AFAA2BF9-ECC4-DFF5-10B7-9028DC4E9A96}"/>
              </a:ext>
            </a:extLst>
          </p:cNvPr>
          <p:cNvSpPr/>
          <p:nvPr/>
        </p:nvSpPr>
        <p:spPr>
          <a:xfrm>
            <a:off x="7778059" y="5415387"/>
            <a:ext cx="163286"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 name="Flowchart: Connector 9">
            <a:extLst>
              <a:ext uri="{FF2B5EF4-FFF2-40B4-BE49-F238E27FC236}">
                <a16:creationId xmlns:a16="http://schemas.microsoft.com/office/drawing/2014/main" id="{4591CAFE-37F3-C79C-9590-05055CA328E9}"/>
              </a:ext>
            </a:extLst>
          </p:cNvPr>
          <p:cNvSpPr/>
          <p:nvPr/>
        </p:nvSpPr>
        <p:spPr>
          <a:xfrm>
            <a:off x="7780669" y="231221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3210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C4483-913D-C746-9CB6-D0AADD93C8A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E01B200-2A58-751C-22D2-E7DD681934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E01B200-2A58-751C-22D2-E7DD6819347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B115FD4-30EE-46BF-71FC-00E6013B68FB}"/>
              </a:ext>
            </a:extLst>
          </p:cNvPr>
          <p:cNvGraphicFramePr>
            <a:graphicFrameLocks noGrp="1"/>
          </p:cNvGraphicFramePr>
          <p:nvPr/>
        </p:nvGraphicFramePr>
        <p:xfrm>
          <a:off x="4961437" y="6480103"/>
          <a:ext cx="7166325" cy="310524"/>
        </p:xfrm>
        <a:graphic>
          <a:graphicData uri="http://schemas.openxmlformats.org/drawingml/2006/table">
            <a:tbl>
              <a:tblPr/>
              <a:tblGrid>
                <a:gridCol w="608374">
                  <a:extLst>
                    <a:ext uri="{9D8B030D-6E8A-4147-A177-3AD203B41FA5}">
                      <a16:colId xmlns:a16="http://schemas.microsoft.com/office/drawing/2014/main" val="20000"/>
                    </a:ext>
                  </a:extLst>
                </a:gridCol>
                <a:gridCol w="308349">
                  <a:extLst>
                    <a:ext uri="{9D8B030D-6E8A-4147-A177-3AD203B41FA5}">
                      <a16:colId xmlns:a16="http://schemas.microsoft.com/office/drawing/2014/main" val="20001"/>
                    </a:ext>
                  </a:extLst>
                </a:gridCol>
                <a:gridCol w="760019">
                  <a:extLst>
                    <a:ext uri="{9D8B030D-6E8A-4147-A177-3AD203B41FA5}">
                      <a16:colId xmlns:a16="http://schemas.microsoft.com/office/drawing/2014/main" val="20002"/>
                    </a:ext>
                  </a:extLst>
                </a:gridCol>
                <a:gridCol w="303785">
                  <a:extLst>
                    <a:ext uri="{9D8B030D-6E8A-4147-A177-3AD203B41FA5}">
                      <a16:colId xmlns:a16="http://schemas.microsoft.com/office/drawing/2014/main" val="20003"/>
                    </a:ext>
                  </a:extLst>
                </a:gridCol>
                <a:gridCol w="667455">
                  <a:extLst>
                    <a:ext uri="{9D8B030D-6E8A-4147-A177-3AD203B41FA5}">
                      <a16:colId xmlns:a16="http://schemas.microsoft.com/office/drawing/2014/main" val="20004"/>
                    </a:ext>
                  </a:extLst>
                </a:gridCol>
                <a:gridCol w="519690">
                  <a:extLst>
                    <a:ext uri="{9D8B030D-6E8A-4147-A177-3AD203B41FA5}">
                      <a16:colId xmlns:a16="http://schemas.microsoft.com/office/drawing/2014/main" val="20005"/>
                    </a:ext>
                  </a:extLst>
                </a:gridCol>
                <a:gridCol w="570296">
                  <a:extLst>
                    <a:ext uri="{9D8B030D-6E8A-4147-A177-3AD203B41FA5}">
                      <a16:colId xmlns:a16="http://schemas.microsoft.com/office/drawing/2014/main" val="20006"/>
                    </a:ext>
                  </a:extLst>
                </a:gridCol>
                <a:gridCol w="370169">
                  <a:extLst>
                    <a:ext uri="{9D8B030D-6E8A-4147-A177-3AD203B41FA5}">
                      <a16:colId xmlns:a16="http://schemas.microsoft.com/office/drawing/2014/main" val="20007"/>
                    </a:ext>
                  </a:extLst>
                </a:gridCol>
                <a:gridCol w="1376415">
                  <a:extLst>
                    <a:ext uri="{9D8B030D-6E8A-4147-A177-3AD203B41FA5}">
                      <a16:colId xmlns:a16="http://schemas.microsoft.com/office/drawing/2014/main" val="20008"/>
                    </a:ext>
                  </a:extLst>
                </a:gridCol>
                <a:gridCol w="379427">
                  <a:extLst>
                    <a:ext uri="{9D8B030D-6E8A-4147-A177-3AD203B41FA5}">
                      <a16:colId xmlns:a16="http://schemas.microsoft.com/office/drawing/2014/main" val="20009"/>
                    </a:ext>
                  </a:extLst>
                </a:gridCol>
                <a:gridCol w="1302346">
                  <a:extLst>
                    <a:ext uri="{9D8B030D-6E8A-4147-A177-3AD203B41FA5}">
                      <a16:colId xmlns:a16="http://schemas.microsoft.com/office/drawing/2014/main" val="20010"/>
                    </a:ext>
                  </a:extLst>
                </a:gridCol>
              </a:tblGrid>
              <a:tr h="309128">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6944C50-87FF-FD3B-7AC8-C05E497B603B}"/>
              </a:ext>
            </a:extLst>
          </p:cNvPr>
          <p:cNvSpPr>
            <a:spLocks noGrp="1"/>
          </p:cNvSpPr>
          <p:nvPr>
            <p:ph type="title"/>
          </p:nvPr>
        </p:nvSpPr>
        <p:spPr>
          <a:xfrm>
            <a:off x="279125" y="337484"/>
            <a:ext cx="9072328" cy="518351"/>
          </a:xfrm>
        </p:spPr>
        <p:txBody>
          <a:bodyPr vert="horz">
            <a:normAutofit fontScale="90000"/>
          </a:bodyPr>
          <a:lstStyle/>
          <a:p>
            <a:r>
              <a:rPr lang="en-US" sz="2700" b="1">
                <a:solidFill>
                  <a:srgbClr val="29389F"/>
                </a:solidFill>
                <a:latin typeface="Arial"/>
                <a:cs typeface="Arial"/>
              </a:rPr>
              <a:t>MPI Underwriting Optimization MVP 3</a:t>
            </a:r>
            <a:br>
              <a:rPr lang="en-US" sz="2700" b="1">
                <a:latin typeface="Arial" pitchFamily="34" charset="0"/>
                <a:cs typeface="Arial" pitchFamily="34" charset="0"/>
              </a:rPr>
            </a:br>
            <a:r>
              <a:rPr lang="en-US" sz="1600">
                <a:solidFill>
                  <a:srgbClr val="0070C0"/>
                </a:solidFill>
                <a:latin typeface="Arial"/>
                <a:cs typeface="Arial"/>
              </a:rPr>
              <a:t>Increase new business writings by simplifying point-of-sale underwriting and accelerating rule-based decisions.</a:t>
            </a:r>
          </a:p>
        </p:txBody>
      </p:sp>
      <p:graphicFrame>
        <p:nvGraphicFramePr>
          <p:cNvPr id="11" name="Group 513">
            <a:extLst>
              <a:ext uri="{FF2B5EF4-FFF2-40B4-BE49-F238E27FC236}">
                <a16:creationId xmlns:a16="http://schemas.microsoft.com/office/drawing/2014/main" id="{9429B040-A21B-D00A-515F-9E3171145D68}"/>
              </a:ext>
            </a:extLst>
          </p:cNvPr>
          <p:cNvGraphicFramePr>
            <a:graphicFrameLocks noGrp="1"/>
          </p:cNvGraphicFramePr>
          <p:nvPr>
            <p:extLst>
              <p:ext uri="{D42A27DB-BD31-4B8C-83A1-F6EECF244321}">
                <p14:modId xmlns:p14="http://schemas.microsoft.com/office/powerpoint/2010/main" val="69693925"/>
              </p:ext>
            </p:extLst>
          </p:nvPr>
        </p:nvGraphicFramePr>
        <p:xfrm>
          <a:off x="281440" y="905126"/>
          <a:ext cx="2569327" cy="344301"/>
        </p:xfrm>
        <a:graphic>
          <a:graphicData uri="http://schemas.openxmlformats.org/drawingml/2006/table">
            <a:tbl>
              <a:tblPr/>
              <a:tblGrid>
                <a:gridCol w="983509">
                  <a:extLst>
                    <a:ext uri="{9D8B030D-6E8A-4147-A177-3AD203B41FA5}">
                      <a16:colId xmlns:a16="http://schemas.microsoft.com/office/drawing/2014/main" val="20000"/>
                    </a:ext>
                  </a:extLst>
                </a:gridCol>
                <a:gridCol w="1585818">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C145763D-F02B-9347-CDDC-FAB19DB14693}"/>
              </a:ext>
            </a:extLst>
          </p:cNvPr>
          <p:cNvGraphicFramePr>
            <a:graphicFrameLocks noGrp="1"/>
          </p:cNvGraphicFramePr>
          <p:nvPr>
            <p:extLst>
              <p:ext uri="{D42A27DB-BD31-4B8C-83A1-F6EECF244321}">
                <p14:modId xmlns:p14="http://schemas.microsoft.com/office/powerpoint/2010/main" val="1763373544"/>
              </p:ext>
            </p:extLst>
          </p:nvPr>
        </p:nvGraphicFramePr>
        <p:xfrm>
          <a:off x="6658833"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$1,090,000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$529,525</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r>
                        <a:rPr lang="en-US" sz="850" b="1" i="0" u="none" strike="noStrike" kern="1200" cap="none" normalizeH="0" baseline="0">
                          <a:ln>
                            <a:noFill/>
                          </a:ln>
                          <a:solidFill>
                            <a:schemeClr val="tx1"/>
                          </a:solidFill>
                          <a:effectLst/>
                          <a:latin typeface="Aptos"/>
                          <a:ea typeface="+mn-ea"/>
                          <a:cs typeface="+mn-cs"/>
                        </a:rPr>
                        <a:t>$557,589</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$1,087,115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$1,380,137</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41B13508-5654-8B9F-3CFD-6B81E4CB5C1E}"/>
              </a:ext>
            </a:extLst>
          </p:cNvPr>
          <p:cNvGraphicFramePr>
            <a:graphicFrameLocks noGrp="1"/>
          </p:cNvGraphicFramePr>
          <p:nvPr/>
        </p:nvGraphicFramePr>
        <p:xfrm>
          <a:off x="2840054"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2D080F49-F9D4-3CCD-F9AA-BA423FBD54EE}"/>
              </a:ext>
            </a:extLst>
          </p:cNvPr>
          <p:cNvGraphicFramePr>
            <a:graphicFrameLocks noGrp="1"/>
          </p:cNvGraphicFramePr>
          <p:nvPr>
            <p:extLst>
              <p:ext uri="{D42A27DB-BD31-4B8C-83A1-F6EECF244321}">
                <p14:modId xmlns:p14="http://schemas.microsoft.com/office/powerpoint/2010/main" val="2741115707"/>
              </p:ext>
            </p:extLst>
          </p:nvPr>
        </p:nvGraphicFramePr>
        <p:xfrm>
          <a:off x="275003" y="1274827"/>
          <a:ext cx="2558614" cy="395688"/>
        </p:xfrm>
        <a:graphic>
          <a:graphicData uri="http://schemas.openxmlformats.org/drawingml/2006/table">
            <a:tbl>
              <a:tblPr/>
              <a:tblGrid>
                <a:gridCol w="989721">
                  <a:extLst>
                    <a:ext uri="{9D8B030D-6E8A-4147-A177-3AD203B41FA5}">
                      <a16:colId xmlns:a16="http://schemas.microsoft.com/office/drawing/2014/main" val="20000"/>
                    </a:ext>
                  </a:extLst>
                </a:gridCol>
                <a:gridCol w="1568893">
                  <a:extLst>
                    <a:ext uri="{9D8B030D-6E8A-4147-A177-3AD203B41FA5}">
                      <a16:colId xmlns:a16="http://schemas.microsoft.com/office/drawing/2014/main" val="20001"/>
                    </a:ext>
                  </a:extLst>
                </a:gridCol>
              </a:tblGrid>
              <a:tr h="150793">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850" b="1" i="0" u="none" strike="noStrike" kern="1200" cap="none" normalizeH="0" baseline="0">
                          <a:ln>
                            <a:noFill/>
                          </a:ln>
                          <a:solidFill>
                            <a:schemeClr val="tx1"/>
                          </a:solidFill>
                          <a:effectLst/>
                          <a:latin typeface="Aptos"/>
                          <a:ea typeface="+mn-ea"/>
                          <a:cs typeface="+mn-cs"/>
                        </a:rPr>
                        <a:t>Mar 10 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BE6338F-FF0C-8F65-DCD0-9A2980B81162}"/>
              </a:ext>
            </a:extLst>
          </p:cNvPr>
          <p:cNvGraphicFramePr>
            <a:graphicFrameLocks noGrp="1"/>
          </p:cNvGraphicFramePr>
          <p:nvPr>
            <p:extLst>
              <p:ext uri="{D42A27DB-BD31-4B8C-83A1-F6EECF244321}">
                <p14:modId xmlns:p14="http://schemas.microsoft.com/office/powerpoint/2010/main" val="2486354510"/>
              </p:ext>
            </p:extLst>
          </p:nvPr>
        </p:nvGraphicFramePr>
        <p:xfrm>
          <a:off x="4973526" y="1766124"/>
          <a:ext cx="7152058" cy="1986294"/>
        </p:xfrm>
        <a:graphic>
          <a:graphicData uri="http://schemas.openxmlformats.org/drawingml/2006/table">
            <a:tbl>
              <a:tblPr>
                <a:tableStyleId>{5C22544A-7EE6-4342-B048-85BDC9FD1C3A}</a:tableStyleId>
              </a:tblPr>
              <a:tblGrid>
                <a:gridCol w="2405682">
                  <a:extLst>
                    <a:ext uri="{9D8B030D-6E8A-4147-A177-3AD203B41FA5}">
                      <a16:colId xmlns:a16="http://schemas.microsoft.com/office/drawing/2014/main" val="2456552316"/>
                    </a:ext>
                  </a:extLst>
                </a:gridCol>
                <a:gridCol w="566928">
                  <a:extLst>
                    <a:ext uri="{9D8B030D-6E8A-4147-A177-3AD203B41FA5}">
                      <a16:colId xmlns:a16="http://schemas.microsoft.com/office/drawing/2014/main" val="1100051595"/>
                    </a:ext>
                  </a:extLst>
                </a:gridCol>
                <a:gridCol w="813816">
                  <a:extLst>
                    <a:ext uri="{9D8B030D-6E8A-4147-A177-3AD203B41FA5}">
                      <a16:colId xmlns:a16="http://schemas.microsoft.com/office/drawing/2014/main" val="2042261034"/>
                    </a:ext>
                  </a:extLst>
                </a:gridCol>
                <a:gridCol w="3365632">
                  <a:extLst>
                    <a:ext uri="{9D8B030D-6E8A-4147-A177-3AD203B41FA5}">
                      <a16:colId xmlns:a16="http://schemas.microsoft.com/office/drawing/2014/main" val="2815874248"/>
                    </a:ext>
                  </a:extLst>
                </a:gridCol>
              </a:tblGrid>
              <a:tr h="283756">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0699">
                <a:tc>
                  <a:txBody>
                    <a:bodyPr/>
                    <a:lstStyle/>
                    <a:p>
                      <a:pPr marL="114300" marR="0" lvl="0" indent="0" algn="l" defTabSz="914400" rtl="0" eaLnBrk="1" latinLnBrk="0" hangingPunct="1">
                        <a:lnSpc>
                          <a:spcPct val="95000"/>
                        </a:lnSpc>
                        <a:spcBef>
                          <a:spcPct val="0"/>
                        </a:spcBef>
                        <a:spcAft>
                          <a:spcPct val="50000"/>
                        </a:spcAft>
                        <a:buClrTx/>
                        <a:buSzTx/>
                        <a:buFontTx/>
                        <a:buNone/>
                      </a:pPr>
                      <a:r>
                        <a:rPr lang="en-US" sz="850" kern="1200">
                          <a:solidFill>
                            <a:schemeClr val="dk1"/>
                          </a:solidFill>
                          <a:latin typeface="Aptos"/>
                          <a:ea typeface="+mn-ea"/>
                          <a:cs typeface="+mn-cs"/>
                        </a:rPr>
                        <a:t>MVP3 DDIT start -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r>
                        <a:rPr lang="en-US" sz="850">
                          <a:latin typeface="Aptos"/>
                        </a:rPr>
                        <a:t>8/13 – 12/24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93264"/>
                  </a:ext>
                </a:extLst>
              </a:tr>
              <a:tr h="294266">
                <a:tc>
                  <a:txBody>
                    <a:bodyPr/>
                    <a:lstStyle/>
                    <a:p>
                      <a:pPr marL="114300" marR="0" lvl="0" indent="0" algn="l" rtl="0" eaLnBrk="1" latinLnBrk="0" hangingPunct="1">
                        <a:lnSpc>
                          <a:spcPct val="95000"/>
                        </a:lnSpc>
                        <a:spcBef>
                          <a:spcPct val="0"/>
                        </a:spcBef>
                        <a:spcAft>
                          <a:spcPct val="50000"/>
                        </a:spcAft>
                        <a:buClrTx/>
                        <a:buSzTx/>
                        <a:buFontTx/>
                        <a:buNone/>
                      </a:pPr>
                      <a:r>
                        <a:rPr lang="en-US" sz="850" kern="1200" noProof="0">
                          <a:solidFill>
                            <a:schemeClr val="dk1"/>
                          </a:solidFill>
                          <a:latin typeface="Aptos"/>
                          <a:ea typeface="+mn-ea"/>
                          <a:cs typeface="+mn-cs"/>
                        </a:rPr>
                        <a:t>MVP 3 Design &amp; Development - complete</a:t>
                      </a:r>
                      <a:endParaRPr lang="en-US" sz="850" kern="120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1/20/27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600"/>
                        </a:lnSpc>
                        <a:spcBef>
                          <a:spcPts val="300"/>
                        </a:spcBef>
                        <a:buNone/>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1099244465"/>
                  </a:ext>
                </a:extLst>
              </a:tr>
              <a:tr h="25222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MVP3 E2E</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1/21/27 - 2/3/27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850" b="0" i="0" kern="1200" noProof="0">
                        <a:solidFill>
                          <a:srgbClr val="000000"/>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25222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MVP3 </a:t>
                      </a:r>
                      <a:r>
                        <a:rPr lang="en-US" sz="850" b="0" i="0" u="none" strike="noStrike" kern="1200" noProof="0">
                          <a:solidFill>
                            <a:schemeClr val="dk1"/>
                          </a:solidFill>
                          <a:latin typeface="Aptos"/>
                          <a:ea typeface="+mn-ea"/>
                          <a:cs typeface="+mn-cs"/>
                        </a:rPr>
                        <a:t>Business UAT/Sign off Complete</a:t>
                      </a:r>
                      <a:endParaRPr lang="en-US" sz="850" kern="120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2/4/27 - 2/26/27</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Tx/>
                        <a:buNone/>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9181009"/>
                  </a:ext>
                </a:extLst>
              </a:tr>
              <a:tr h="23120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MVP3 Go No/Go</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2/26/27</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732389"/>
                  </a:ext>
                </a:extLst>
              </a:tr>
              <a:tr h="22069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a:ea typeface="+mn-ea"/>
                          <a:cs typeface="+mn-cs"/>
                        </a:rPr>
                        <a:t>MVP3 Delivery to Production</a:t>
                      </a: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3/10/27</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31209">
                <a:tc>
                  <a:txBody>
                    <a:bodyPr/>
                    <a:lstStyle/>
                    <a:p>
                      <a:pPr marL="114300" marR="0" lvl="0" indent="0" algn="l">
                        <a:lnSpc>
                          <a:spcPct val="95000"/>
                        </a:lnSpc>
                        <a:spcBef>
                          <a:spcPct val="0"/>
                        </a:spcBef>
                        <a:spcAft>
                          <a:spcPct val="50000"/>
                        </a:spcAft>
                        <a:buNone/>
                      </a:pPr>
                      <a:r>
                        <a:rPr lang="en-US" sz="850" kern="1200">
                          <a:solidFill>
                            <a:schemeClr val="dk1"/>
                          </a:solidFill>
                          <a:latin typeface="Aptos"/>
                          <a:ea typeface="+mn-ea"/>
                          <a:cs typeface="+mn-cs"/>
                        </a:rPr>
                        <a:t>MPI QEC Decommissioning</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4/14/27</a:t>
                      </a:r>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28197"/>
                  </a:ext>
                </a:extLst>
              </a:tr>
            </a:tbl>
          </a:graphicData>
        </a:graphic>
      </p:graphicFrame>
      <p:graphicFrame>
        <p:nvGraphicFramePr>
          <p:cNvPr id="29" name="Table 28">
            <a:extLst>
              <a:ext uri="{FF2B5EF4-FFF2-40B4-BE49-F238E27FC236}">
                <a16:creationId xmlns:a16="http://schemas.microsoft.com/office/drawing/2014/main" id="{6834A5AD-1FE8-EA37-DE5E-D92E6513433E}"/>
              </a:ext>
            </a:extLst>
          </p:cNvPr>
          <p:cNvGraphicFramePr>
            <a:graphicFrameLocks noGrp="1"/>
          </p:cNvGraphicFramePr>
          <p:nvPr>
            <p:extLst>
              <p:ext uri="{D42A27DB-BD31-4B8C-83A1-F6EECF244321}">
                <p14:modId xmlns:p14="http://schemas.microsoft.com/office/powerpoint/2010/main" val="2402251163"/>
              </p:ext>
            </p:extLst>
          </p:nvPr>
        </p:nvGraphicFramePr>
        <p:xfrm>
          <a:off x="4961437" y="3887293"/>
          <a:ext cx="7159661" cy="2407857"/>
        </p:xfrm>
        <a:graphic>
          <a:graphicData uri="http://schemas.openxmlformats.org/drawingml/2006/table">
            <a:tbl>
              <a:tblPr>
                <a:tableStyleId>{5C22544A-7EE6-4342-B048-85BDC9FD1C3A}</a:tableStyleId>
              </a:tblPr>
              <a:tblGrid>
                <a:gridCol w="2432140">
                  <a:extLst>
                    <a:ext uri="{9D8B030D-6E8A-4147-A177-3AD203B41FA5}">
                      <a16:colId xmlns:a16="http://schemas.microsoft.com/office/drawing/2014/main" val="2456552316"/>
                    </a:ext>
                  </a:extLst>
                </a:gridCol>
                <a:gridCol w="583474">
                  <a:extLst>
                    <a:ext uri="{9D8B030D-6E8A-4147-A177-3AD203B41FA5}">
                      <a16:colId xmlns:a16="http://schemas.microsoft.com/office/drawing/2014/main" val="1100051595"/>
                    </a:ext>
                  </a:extLst>
                </a:gridCol>
                <a:gridCol w="721147">
                  <a:extLst>
                    <a:ext uri="{9D8B030D-6E8A-4147-A177-3AD203B41FA5}">
                      <a16:colId xmlns:a16="http://schemas.microsoft.com/office/drawing/2014/main" val="2042261034"/>
                    </a:ext>
                  </a:extLst>
                </a:gridCol>
                <a:gridCol w="3422900">
                  <a:extLst>
                    <a:ext uri="{9D8B030D-6E8A-4147-A177-3AD203B41FA5}">
                      <a16:colId xmlns:a16="http://schemas.microsoft.com/office/drawing/2014/main" val="2815874248"/>
                    </a:ext>
                  </a:extLst>
                </a:gridCol>
              </a:tblGrid>
              <a:tr h="309849">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24457">
                <a:tc>
                  <a:txBody>
                    <a:bodyPr/>
                    <a:lstStyle/>
                    <a:p>
                      <a:pPr marL="285750" marR="0" lvl="0" indent="-285750" algn="l">
                        <a:lnSpc>
                          <a:spcPct val="100000"/>
                        </a:lnSpc>
                        <a:spcBef>
                          <a:spcPts val="0"/>
                        </a:spcBef>
                        <a:spcAft>
                          <a:spcPts val="0"/>
                        </a:spcAft>
                        <a:buClr>
                          <a:srgbClr val="000000"/>
                        </a:buClr>
                        <a:buFont typeface="Arial,Sans-Serif"/>
                        <a:buChar char="•"/>
                      </a:pPr>
                      <a:r>
                        <a:rPr lang="en-US" sz="850" b="1" i="0" u="none" strike="noStrike" noProof="0">
                          <a:solidFill>
                            <a:srgbClr val="000000"/>
                          </a:solidFill>
                          <a:latin typeface="Aptos"/>
                        </a:rPr>
                        <a:t>Funding Risk:</a:t>
                      </a:r>
                      <a:r>
                        <a:rPr lang="en-US" sz="850" b="0" i="0" u="none" strike="noStrike" noProof="0">
                          <a:solidFill>
                            <a:srgbClr val="000000"/>
                          </a:solidFill>
                          <a:latin typeface="Aptos"/>
                        </a:rPr>
                        <a:t> Current MVP3 budget does not include all test execution and implementation activities required to support enterprise release readiness. An additional </a:t>
                      </a:r>
                      <a:r>
                        <a:rPr lang="en-US" sz="850" b="1" i="0" u="none" strike="noStrike" noProof="0">
                          <a:solidFill>
                            <a:srgbClr val="000000"/>
                          </a:solidFill>
                          <a:latin typeface="Aptos"/>
                        </a:rPr>
                        <a:t>$258K</a:t>
                      </a:r>
                      <a:r>
                        <a:rPr lang="en-US" sz="850" b="0" i="0" u="none" strike="noStrike" noProof="0">
                          <a:solidFill>
                            <a:srgbClr val="000000"/>
                          </a:solidFill>
                          <a:latin typeface="Aptos"/>
                        </a:rPr>
                        <a:t> is needed to complete Integration Testing, E2E, UAT, Regression, Performance, Security Testing, and Implementation activities.</a:t>
                      </a:r>
                    </a:p>
                    <a:p>
                      <a:pPr marL="285750" marR="0" lvl="0" indent="-285750" algn="l">
                        <a:lnSpc>
                          <a:spcPct val="100000"/>
                        </a:lnSpc>
                        <a:spcBef>
                          <a:spcPts val="0"/>
                        </a:spcBef>
                        <a:spcAft>
                          <a:spcPts val="0"/>
                        </a:spcAft>
                        <a:buClr>
                          <a:srgbClr val="000000"/>
                        </a:buClr>
                        <a:buFont typeface="Arial,Sans-Serif"/>
                        <a:buChar char="•"/>
                      </a:pPr>
                      <a:endParaRPr lang="en-US" sz="850" b="1" i="0" u="none" strike="noStrike" noProof="0">
                        <a:solidFill>
                          <a:srgbClr val="000000"/>
                        </a:solidFill>
                        <a:latin typeface="Aptos" panose="020B0004020202020204" pitchFamily="34" charset="0"/>
                      </a:endParaRPr>
                    </a:p>
                    <a:p>
                      <a:pPr marL="285750" marR="0" lvl="0" indent="-285750" algn="l">
                        <a:lnSpc>
                          <a:spcPct val="100000"/>
                        </a:lnSpc>
                        <a:spcBef>
                          <a:spcPts val="0"/>
                        </a:spcBef>
                        <a:spcAft>
                          <a:spcPts val="0"/>
                        </a:spcAft>
                        <a:buClr>
                          <a:srgbClr val="000000"/>
                        </a:buClr>
                        <a:buFont typeface="Arial,Sans-Serif"/>
                        <a:buChar char="•"/>
                      </a:pPr>
                      <a:r>
                        <a:rPr lang="en-US" sz="850" b="1" i="0" u="none" strike="noStrike" noProof="0">
                          <a:solidFill>
                            <a:srgbClr val="000000"/>
                          </a:solidFill>
                          <a:latin typeface="Aptos"/>
                        </a:rPr>
                        <a:t>Schedule Risk:</a:t>
                      </a:r>
                      <a:r>
                        <a:rPr lang="en-US" sz="850" b="0" i="0" u="none" strike="noStrike" noProof="0">
                          <a:solidFill>
                            <a:srgbClr val="000000"/>
                          </a:solidFill>
                          <a:latin typeface="Aptos"/>
                        </a:rPr>
                        <a:t> MVP3 readiness is dependent upon securing both funding approval and leadership alignment on the February 2027 target date. Delays in either approval may impact planning, testing timelines, and release readiness.</a:t>
                      </a:r>
                      <a:endParaRPr lang="en-US" sz="850">
                        <a:latin typeface="Aptos"/>
                      </a:endParaRPr>
                    </a:p>
                    <a:p>
                      <a:pPr marL="0" marR="0" lvl="0" indent="0" algn="l" defTabSz="914400">
                        <a:lnSpc>
                          <a:spcPct val="114999"/>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0" strike="noStrike" kern="1200">
                          <a:solidFill>
                            <a:schemeClr val="tx1"/>
                          </a:solidFill>
                          <a:effectLst/>
                          <a:latin typeface="Aptos"/>
                          <a:ea typeface="+mn-ea"/>
                          <a:cs typeface="+mn-cs"/>
                        </a:rPr>
                        <a:t>11/15</a:t>
                      </a:r>
                      <a:endParaRPr lang="en-US"/>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a:rPr>
                        <a:t>Complete Open Enrollment impact assessment</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a:rPr>
                        <a:t>Obtain Steering Committee timeline and 2027 cost approval </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a:rPr>
                        <a:t>Execute enhanced readiness and hypercare plans</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a:rPr>
                        <a:t>Reassess the release window if risk levels exceed acceptable thresholds.</a:t>
                      </a:r>
                      <a:endParaRPr lang="en-US" sz="850">
                        <a:latin typeface="Apto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656A2B00-0B37-3A75-4331-BC0DA23BDB51}"/>
              </a:ext>
            </a:extLst>
          </p:cNvPr>
          <p:cNvSpPr/>
          <p:nvPr/>
        </p:nvSpPr>
        <p:spPr>
          <a:xfrm>
            <a:off x="6726836" y="65631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FBE2108F-D084-FC8A-07B1-B61BE4E4E33D}"/>
              </a:ext>
            </a:extLst>
          </p:cNvPr>
          <p:cNvSpPr/>
          <p:nvPr/>
        </p:nvSpPr>
        <p:spPr>
          <a:xfrm>
            <a:off x="7763149" y="658401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FA0D94D-590E-B5B2-944F-BC376837E7B5}"/>
              </a:ext>
            </a:extLst>
          </p:cNvPr>
          <p:cNvSpPr/>
          <p:nvPr/>
        </p:nvSpPr>
        <p:spPr>
          <a:xfrm>
            <a:off x="8799463" y="658401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91535C72-74E1-90F3-2089-78948E3894AB}"/>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0FF6D42D-1BF0-ED8A-00A1-25CCA0F93984}"/>
              </a:ext>
            </a:extLst>
          </p:cNvPr>
          <p:cNvSpPr/>
          <p:nvPr/>
        </p:nvSpPr>
        <p:spPr>
          <a:xfrm>
            <a:off x="4286105"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extBox 2">
            <a:extLst>
              <a:ext uri="{FF2B5EF4-FFF2-40B4-BE49-F238E27FC236}">
                <a16:creationId xmlns:a16="http://schemas.microsoft.com/office/drawing/2014/main" id="{ABE5E0FB-BFF3-9F96-436D-0AB68FB9B785}"/>
              </a:ext>
            </a:extLst>
          </p:cNvPr>
          <p:cNvSpPr txBox="1"/>
          <p:nvPr/>
        </p:nvSpPr>
        <p:spPr>
          <a:xfrm>
            <a:off x="9460736" y="441279"/>
            <a:ext cx="2676180" cy="517320"/>
          </a:xfrm>
          <a:prstGeom prst="rect">
            <a:avLst/>
          </a:prstGeom>
          <a:noFill/>
        </p:spPr>
        <p:txBody>
          <a:bodyPr wrap="none" lIns="0" tIns="0" rIns="0" bIns="0" rtlCol="0" anchor="t">
            <a:noAutofit/>
          </a:bodyPr>
          <a:lstStyle/>
          <a:p>
            <a:pPr>
              <a:lnSpc>
                <a:spcPct val="112000"/>
              </a:lnSpc>
              <a:defRPr/>
            </a:pPr>
            <a:r>
              <a:rPr lang="en-US" sz="1200">
                <a:solidFill>
                  <a:srgbClr val="000000"/>
                </a:solidFill>
                <a:latin typeface="Arial"/>
                <a:cs typeface="Arial"/>
              </a:rPr>
              <a:t>Project Manager </a:t>
            </a:r>
            <a:r>
              <a:rPr kumimoji="0" lang="en-US" sz="1200" b="0" i="0" u="none" strike="noStrike" kern="1200" cap="none" spc="0" normalizeH="0" baseline="0" noProof="0">
                <a:ln>
                  <a:noFill/>
                </a:ln>
                <a:solidFill>
                  <a:srgbClr val="000000"/>
                </a:solidFill>
                <a:effectLst/>
                <a:uLnTx/>
                <a:uFillTx/>
                <a:latin typeface="Arial"/>
                <a:cs typeface="Arial"/>
              </a:rPr>
              <a:t>: Lalitha </a:t>
            </a:r>
            <a:r>
              <a:rPr lang="en-US" sz="1200">
                <a:solidFill>
                  <a:srgbClr val="000000"/>
                </a:solidFill>
                <a:latin typeface="Arial"/>
                <a:cs typeface="Arial"/>
              </a:rPr>
              <a:t>Kumar</a:t>
            </a:r>
            <a:endParaRPr lang="en-US" sz="1200">
              <a:latin typeface="Arial"/>
              <a:cs typeface="Arial"/>
            </a:endParaRP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Arial"/>
                <a:cs typeface="Arial"/>
              </a:rPr>
              <a:t>OpEx</a:t>
            </a:r>
            <a:r>
              <a:rPr kumimoji="0" lang="en-US" sz="1200" b="0" i="0" u="none" strike="noStrike" kern="1200" cap="none" spc="0" normalizeH="0" baseline="0" noProof="0">
                <a:ln>
                  <a:noFill/>
                </a:ln>
                <a:solidFill>
                  <a:srgbClr val="000000"/>
                </a:solidFill>
                <a:effectLst/>
                <a:uLnTx/>
                <a:uFillTx/>
                <a:latin typeface="Arial"/>
                <a:cs typeface="Arial"/>
              </a:rPr>
              <a:t> Business Lead: Sarah Andrews</a:t>
            </a:r>
            <a:endParaRPr lang="en-US" sz="1200" b="0" i="0" u="none" strike="noStrike" kern="1200" cap="none" spc="0" normalizeH="0" baseline="0" noProof="0">
              <a:ln>
                <a:noFill/>
              </a:ln>
              <a:solidFill>
                <a:srgbClr val="000000"/>
              </a:solidFill>
              <a:effectLst/>
              <a:uLnTx/>
              <a:uFillTx/>
              <a:latin typeface="Arial"/>
              <a:cs typeface="Arial"/>
            </a:endParaRPr>
          </a:p>
        </p:txBody>
      </p:sp>
      <p:sp>
        <p:nvSpPr>
          <p:cNvPr id="4" name="Flowchart: Connector 3">
            <a:extLst>
              <a:ext uri="{FF2B5EF4-FFF2-40B4-BE49-F238E27FC236}">
                <a16:creationId xmlns:a16="http://schemas.microsoft.com/office/drawing/2014/main" id="{E5288779-3234-D49A-615D-D43DE7B4FB07}"/>
              </a:ext>
            </a:extLst>
          </p:cNvPr>
          <p:cNvSpPr/>
          <p:nvPr/>
        </p:nvSpPr>
        <p:spPr>
          <a:xfrm>
            <a:off x="5226813"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Connector 6">
            <a:extLst>
              <a:ext uri="{FF2B5EF4-FFF2-40B4-BE49-F238E27FC236}">
                <a16:creationId xmlns:a16="http://schemas.microsoft.com/office/drawing/2014/main" id="{FB931277-B31C-74DC-7A8F-8E050CDB56B9}"/>
              </a:ext>
            </a:extLst>
          </p:cNvPr>
          <p:cNvSpPr/>
          <p:nvPr/>
        </p:nvSpPr>
        <p:spPr>
          <a:xfrm>
            <a:off x="6096000" y="141501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 name="Flowchart: Connector 9">
            <a:extLst>
              <a:ext uri="{FF2B5EF4-FFF2-40B4-BE49-F238E27FC236}">
                <a16:creationId xmlns:a16="http://schemas.microsoft.com/office/drawing/2014/main" id="{BB8E5836-5D43-6BAD-8CB5-EA410934844A}"/>
              </a:ext>
            </a:extLst>
          </p:cNvPr>
          <p:cNvSpPr/>
          <p:nvPr/>
        </p:nvSpPr>
        <p:spPr>
          <a:xfrm>
            <a:off x="7599864" y="533806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Flowchart: Connector 11">
            <a:extLst>
              <a:ext uri="{FF2B5EF4-FFF2-40B4-BE49-F238E27FC236}">
                <a16:creationId xmlns:a16="http://schemas.microsoft.com/office/drawing/2014/main" id="{6682D21A-48F2-4174-1B3C-2C2571EF60A7}"/>
              </a:ext>
            </a:extLst>
          </p:cNvPr>
          <p:cNvSpPr/>
          <p:nvPr/>
        </p:nvSpPr>
        <p:spPr>
          <a:xfrm>
            <a:off x="7599865" y="20716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24D4C3F4-2BC5-01CC-A548-E62174956F8F}"/>
              </a:ext>
            </a:extLst>
          </p:cNvPr>
          <p:cNvSpPr txBox="1"/>
          <p:nvPr/>
        </p:nvSpPr>
        <p:spPr>
          <a:xfrm>
            <a:off x="156072" y="1767290"/>
            <a:ext cx="466380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latin typeface="Aptos Display"/>
                <a:ea typeface="Segoe UI"/>
                <a:cs typeface="Segoe UI"/>
              </a:rPr>
              <a:t>Status</a:t>
            </a:r>
            <a:br>
              <a:rPr lang="en-US" sz="900">
                <a:latin typeface="Aptos Display"/>
                <a:ea typeface="Segoe UI"/>
                <a:cs typeface="Segoe UI"/>
              </a:rPr>
            </a:br>
            <a:r>
              <a:rPr lang="en-US" sz="900">
                <a:latin typeface="Aptos Display"/>
                <a:cs typeface="Segoe UI"/>
              </a:rPr>
              <a:t>Team is now focused on delivering MVP3. Current efforts are centered on advancing MVP3 functionality, completing remaining development activities, and preparing for downstream testing and deployment readiness. MVP3 remains on track for its planned March 2027 production release, following the MVP1/MVP2 deployment on January 13, 2027, with ongoing monitoring of dependencies, environment readiness, and resource alignment. Overall status is Yellow as the team progresses through execution and works to mitigate identified risks.</a:t>
            </a:r>
          </a:p>
          <a:p>
            <a:endParaRPr lang="en-US" sz="900" b="1">
              <a:latin typeface="Aptos Display"/>
              <a:cs typeface="Segoe UI"/>
            </a:endParaRPr>
          </a:p>
          <a:p>
            <a:r>
              <a:rPr lang="en-US" sz="900" b="1">
                <a:latin typeface="Aptos Display"/>
                <a:ea typeface="Segoe UI"/>
                <a:cs typeface="Segoe UI"/>
              </a:rPr>
              <a:t>Highlights</a:t>
            </a:r>
            <a:endParaRPr lang="en-US" sz="900">
              <a:latin typeface="Aptos Display"/>
            </a:endParaRPr>
          </a:p>
          <a:p>
            <a:pPr marL="171450" indent="-171450">
              <a:buFont typeface="Arial"/>
              <a:buChar char="•"/>
            </a:pPr>
            <a:r>
              <a:rPr lang="en-US" sz="900">
                <a:latin typeface="Aptos Display"/>
                <a:cs typeface="Segoe UI"/>
              </a:rPr>
              <a:t>MVP3 development is actively progressing, with the team working through the remaining functionality and solution components.</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cs typeface="Segoe UI"/>
              </a:rPr>
              <a:t>Design, build, and readiness activities are underway to support the planned March 2027 production deployment.</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cs typeface="Segoe UI"/>
              </a:rPr>
              <a:t>The team continues to leverage completed MVP1/MVP2 work to accelerate MVP3 delivery and reduce implementation risk.</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cs typeface="Segoe UI"/>
              </a:rPr>
              <a:t>Overall MVP3 status remains Yellow as dependencies, environment readiness, and resource availability are actively monitored.</a:t>
            </a:r>
            <a:endParaRPr lang="en-US" sz="900">
              <a:latin typeface="Aptos Display"/>
              <a:ea typeface="Calibri" panose="020F0502020204030204"/>
              <a:cs typeface="Calibri" panose="020F0502020204030204"/>
            </a:endParaRPr>
          </a:p>
          <a:p>
            <a:endParaRPr lang="en-US" sz="900">
              <a:latin typeface="Aptos Display"/>
              <a:ea typeface="Segoe UI"/>
              <a:cs typeface="Segoe UI"/>
            </a:endParaRPr>
          </a:p>
          <a:p>
            <a:r>
              <a:rPr lang="en-US" sz="900" b="1">
                <a:latin typeface="Aptos Display"/>
                <a:ea typeface="Segoe UI"/>
                <a:cs typeface="Segoe UI"/>
              </a:rPr>
              <a:t>Next Steps</a:t>
            </a:r>
          </a:p>
          <a:p>
            <a:pPr marL="171450" indent="-171450">
              <a:buFont typeface="Arial"/>
              <a:buChar char="•"/>
            </a:pPr>
            <a:r>
              <a:rPr lang="en-US" sz="900">
                <a:latin typeface="Aptos Display"/>
                <a:ea typeface="Calibri" panose="020F0502020204030204"/>
                <a:cs typeface="Segoe UI"/>
              </a:rPr>
              <a:t>Finalize holiday support coverage plans across Business and Technology teams to ensure adequate staffing during testing and deployment periods.</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ea typeface="Calibri" panose="020F0502020204030204"/>
                <a:cs typeface="Segoe UI"/>
              </a:rPr>
              <a:t>Identify and secure backup resources for critical MVP3 activities to minimize impacts from planned time off and holiday schedules.</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ea typeface="Calibri" panose="020F0502020204030204"/>
                <a:cs typeface="Segoe UI"/>
              </a:rPr>
              <a:t>Confirm resource availability and escalation contacts for January through March release and stabilization activities.</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ea typeface="Calibri" panose="020F0502020204030204"/>
                <a:cs typeface="Segoe UI"/>
              </a:rPr>
              <a:t>Complete environment readiness planning and validate test environment availability ahead of MVP3 testing.</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ea typeface="Calibri" panose="020F0502020204030204"/>
                <a:cs typeface="Segoe UI"/>
              </a:rPr>
              <a:t>Continue tracking and resolving cross-team dependencies to avoid delays during the holiday period.</a:t>
            </a:r>
            <a:endParaRPr lang="en-US" sz="900">
              <a:latin typeface="Aptos Display"/>
              <a:ea typeface="Calibri" panose="020F0502020204030204"/>
              <a:cs typeface="Calibri" panose="020F0502020204030204"/>
            </a:endParaRPr>
          </a:p>
          <a:p>
            <a:pPr marL="171450" indent="-171450">
              <a:buFont typeface="Arial"/>
              <a:buChar char="•"/>
            </a:pPr>
            <a:r>
              <a:rPr lang="en-US" sz="900">
                <a:latin typeface="Aptos Display"/>
                <a:ea typeface="Calibri" panose="020F0502020204030204"/>
                <a:cs typeface="Segoe UI"/>
              </a:rPr>
              <a:t>Conduct regular readiness reviews to identify schedule risks early and implement mitigation actions as needed to maintain the March 2027 target.</a:t>
            </a:r>
            <a:endParaRPr lang="en-US" sz="900">
              <a:latin typeface="Aptos Display"/>
              <a:ea typeface="Calibri" panose="020F0502020204030204"/>
              <a:cs typeface="Calibri" panose="020F0502020204030204"/>
            </a:endParaRPr>
          </a:p>
          <a:p>
            <a:endParaRPr lang="en-US" sz="900" b="1">
              <a:latin typeface="Aptos Display"/>
              <a:ea typeface="Calibri" panose="020F0502020204030204"/>
              <a:cs typeface="Segoe UI"/>
            </a:endParaRPr>
          </a:p>
          <a:p>
            <a:pPr algn="ctr"/>
            <a:endParaRPr lang="en-US">
              <a:latin typeface="Calibri" panose="020F0502020204030204"/>
              <a:ea typeface="Calibri" panose="020F0502020204030204"/>
              <a:cs typeface="Calibri" panose="020F0502020204030204"/>
            </a:endParaRPr>
          </a:p>
        </p:txBody>
      </p:sp>
      <p:sp>
        <p:nvSpPr>
          <p:cNvPr id="13" name="Flowchart: Connector 12">
            <a:extLst>
              <a:ext uri="{FF2B5EF4-FFF2-40B4-BE49-F238E27FC236}">
                <a16:creationId xmlns:a16="http://schemas.microsoft.com/office/drawing/2014/main" id="{E167C4DB-EA4E-4B40-8BE5-BDC32221224B}"/>
              </a:ext>
            </a:extLst>
          </p:cNvPr>
          <p:cNvSpPr/>
          <p:nvPr/>
        </p:nvSpPr>
        <p:spPr>
          <a:xfrm>
            <a:off x="7608331" y="23256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51900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4BB67-2F5E-1206-D063-7BA41C9DB1F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96ECF07-1531-69FB-E1BA-C4A744661DC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296ECF07-1531-69FB-E1BA-C4A744661D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4C26C91-4CCD-047D-D7E4-38902317086D}"/>
              </a:ext>
            </a:extLst>
          </p:cNvPr>
          <p:cNvGraphicFramePr>
            <a:graphicFrameLocks noGrp="1"/>
          </p:cNvGraphicFramePr>
          <p:nvPr>
            <p:extLst>
              <p:ext uri="{D42A27DB-BD31-4B8C-83A1-F6EECF244321}">
                <p14:modId xmlns:p14="http://schemas.microsoft.com/office/powerpoint/2010/main" val="341482791"/>
              </p:ext>
            </p:extLst>
          </p:nvPr>
        </p:nvGraphicFramePr>
        <p:xfrm>
          <a:off x="4980036" y="6519934"/>
          <a:ext cx="7136859" cy="31052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212306">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AE292A8B-B2F1-0B4F-968B-D634E690C52B}"/>
              </a:ext>
            </a:extLst>
          </p:cNvPr>
          <p:cNvSpPr>
            <a:spLocks noGrp="1"/>
          </p:cNvSpPr>
          <p:nvPr>
            <p:ph type="title"/>
          </p:nvPr>
        </p:nvSpPr>
        <p:spPr>
          <a:xfrm>
            <a:off x="159777" y="309943"/>
            <a:ext cx="9421194" cy="517320"/>
          </a:xfrm>
        </p:spPr>
        <p:txBody>
          <a:bodyPr vert="horz">
            <a:normAutofit fontScale="90000"/>
          </a:bodyPr>
          <a:lstStyle/>
          <a:p>
            <a:r>
              <a:rPr lang="en-US" sz="2700" b="1">
                <a:solidFill>
                  <a:srgbClr val="29389F"/>
                </a:solidFill>
                <a:latin typeface="Arial" pitchFamily="34" charset="0"/>
                <a:cs typeface="Arial" pitchFamily="34" charset="0"/>
              </a:rPr>
              <a:t>MPPC to MPI Conversion at Notice of Cancel</a:t>
            </a:r>
            <a:br>
              <a:rPr lang="en-US">
                <a:latin typeface="Aptos"/>
                <a:cs typeface="Arial"/>
              </a:rPr>
            </a:br>
            <a:r>
              <a:rPr lang="en-US" sz="1600">
                <a:solidFill>
                  <a:srgbClr val="0070C0"/>
                </a:solidFill>
                <a:latin typeface="Arial" panose="020B0604020202020204" pitchFamily="34" charset="0"/>
                <a:cs typeface="Arial" panose="020B0604020202020204" pitchFamily="34" charset="0"/>
              </a:rPr>
              <a:t>Deliver the ability to offer cancelled MPPC policies conversion to MPI upon termination of working with the employer</a:t>
            </a:r>
          </a:p>
        </p:txBody>
      </p:sp>
      <p:graphicFrame>
        <p:nvGraphicFramePr>
          <p:cNvPr id="11" name="Group 513">
            <a:extLst>
              <a:ext uri="{FF2B5EF4-FFF2-40B4-BE49-F238E27FC236}">
                <a16:creationId xmlns:a16="http://schemas.microsoft.com/office/drawing/2014/main" id="{C41125A0-5513-43E6-E32D-E5E58DD29039}"/>
              </a:ext>
            </a:extLst>
          </p:cNvPr>
          <p:cNvGraphicFramePr>
            <a:graphicFrameLocks noGrp="1"/>
          </p:cNvGraphicFramePr>
          <p:nvPr>
            <p:extLst>
              <p:ext uri="{D42A27DB-BD31-4B8C-83A1-F6EECF244321}">
                <p14:modId xmlns:p14="http://schemas.microsoft.com/office/powerpoint/2010/main" val="3028115721"/>
              </p:ext>
            </p:extLst>
          </p:nvPr>
        </p:nvGraphicFramePr>
        <p:xfrm>
          <a:off x="217877" y="929712"/>
          <a:ext cx="2638218" cy="390149"/>
        </p:xfrm>
        <a:graphic>
          <a:graphicData uri="http://schemas.openxmlformats.org/drawingml/2006/table">
            <a:tbl>
              <a:tblPr/>
              <a:tblGrid>
                <a:gridCol w="1007376">
                  <a:extLst>
                    <a:ext uri="{9D8B030D-6E8A-4147-A177-3AD203B41FA5}">
                      <a16:colId xmlns:a16="http://schemas.microsoft.com/office/drawing/2014/main" val="20000"/>
                    </a:ext>
                  </a:extLst>
                </a:gridCol>
                <a:gridCol w="1630842">
                  <a:extLst>
                    <a:ext uri="{9D8B030D-6E8A-4147-A177-3AD203B41FA5}">
                      <a16:colId xmlns:a16="http://schemas.microsoft.com/office/drawing/2014/main" val="20001"/>
                    </a:ext>
                  </a:extLst>
                </a:gridCol>
              </a:tblGrid>
              <a:tr h="390149">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789D55F-0338-3BFE-79E6-DA528A0A7371}"/>
              </a:ext>
            </a:extLst>
          </p:cNvPr>
          <p:cNvGraphicFramePr>
            <a:graphicFrameLocks noGrp="1"/>
          </p:cNvGraphicFramePr>
          <p:nvPr>
            <p:extLst>
              <p:ext uri="{D42A27DB-BD31-4B8C-83A1-F6EECF244321}">
                <p14:modId xmlns:p14="http://schemas.microsoft.com/office/powerpoint/2010/main" val="1729489174"/>
              </p:ext>
            </p:extLst>
          </p:nvPr>
        </p:nvGraphicFramePr>
        <p:xfrm>
          <a:off x="6705398" y="937599"/>
          <a:ext cx="5419097" cy="798049"/>
        </p:xfrm>
        <a:graphic>
          <a:graphicData uri="http://schemas.openxmlformats.org/drawingml/2006/table">
            <a:tbl>
              <a:tblPr>
                <a:tableStyleId>{5C22544A-7EE6-4342-B048-85BDC9FD1C3A}</a:tableStyleId>
              </a:tblPr>
              <a:tblGrid>
                <a:gridCol w="1058371">
                  <a:extLst>
                    <a:ext uri="{9D8B030D-6E8A-4147-A177-3AD203B41FA5}">
                      <a16:colId xmlns:a16="http://schemas.microsoft.com/office/drawing/2014/main" val="2456552316"/>
                    </a:ext>
                  </a:extLst>
                </a:gridCol>
                <a:gridCol w="938063">
                  <a:extLst>
                    <a:ext uri="{9D8B030D-6E8A-4147-A177-3AD203B41FA5}">
                      <a16:colId xmlns:a16="http://schemas.microsoft.com/office/drawing/2014/main" val="2327174630"/>
                    </a:ext>
                  </a:extLst>
                </a:gridCol>
                <a:gridCol w="1533860">
                  <a:extLst>
                    <a:ext uri="{9D8B030D-6E8A-4147-A177-3AD203B41FA5}">
                      <a16:colId xmlns:a16="http://schemas.microsoft.com/office/drawing/2014/main" val="1100051595"/>
                    </a:ext>
                  </a:extLst>
                </a:gridCol>
                <a:gridCol w="925387">
                  <a:extLst>
                    <a:ext uri="{9D8B030D-6E8A-4147-A177-3AD203B41FA5}">
                      <a16:colId xmlns:a16="http://schemas.microsoft.com/office/drawing/2014/main" val="2042261034"/>
                    </a:ext>
                  </a:extLst>
                </a:gridCol>
                <a:gridCol w="963416">
                  <a:extLst>
                    <a:ext uri="{9D8B030D-6E8A-4147-A177-3AD203B41FA5}">
                      <a16:colId xmlns:a16="http://schemas.microsoft.com/office/drawing/2014/main" val="2815874248"/>
                    </a:ext>
                  </a:extLst>
                </a:gridCol>
              </a:tblGrid>
              <a:tr h="390130">
                <a:tc>
                  <a:txBody>
                    <a:bodyPr/>
                    <a:lstStyle/>
                    <a:p>
                      <a:pPr marL="0" marR="0" lvl="0" indent="0" algn="ctr" rtl="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endParaRPr kumimoji="0"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07919">
                <a:tc>
                  <a:txBody>
                    <a:bodyPr/>
                    <a:lstStyle/>
                    <a:p>
                      <a:pPr marL="0" marR="0" lvl="0" indent="0" algn="ctr" defTabSz="914400" rtl="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$880,000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$441,003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r>
                        <a:rPr lang="en-US" sz="850" b="1" i="0" u="none" strike="noStrike" kern="1200" cap="none" normalizeH="0" baseline="0">
                          <a:ln>
                            <a:noFill/>
                          </a:ln>
                          <a:solidFill>
                            <a:schemeClr val="tx1"/>
                          </a:solidFill>
                          <a:effectLst/>
                          <a:latin typeface="Aptos"/>
                          <a:ea typeface="+mn-ea"/>
                          <a:cs typeface="+mn-cs"/>
                        </a:rPr>
                        <a:t>$438,957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$879,960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1" i="0" u="none" strike="noStrike" kern="1200" cap="none" normalizeH="0" baseline="0">
                          <a:ln>
                            <a:noFill/>
                          </a:ln>
                          <a:solidFill>
                            <a:schemeClr val="tx1"/>
                          </a:solidFill>
                          <a:effectLst/>
                          <a:latin typeface="Aptos"/>
                          <a:ea typeface="+mn-ea"/>
                          <a:cs typeface="+mn-cs"/>
                        </a:rPr>
                        <a:t>$1,026,380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0DC624D4-81EE-8541-BB04-741095C9BE7F}"/>
              </a:ext>
            </a:extLst>
          </p:cNvPr>
          <p:cNvGraphicFramePr>
            <a:graphicFrameLocks noGrp="1"/>
          </p:cNvGraphicFramePr>
          <p:nvPr/>
        </p:nvGraphicFramePr>
        <p:xfrm>
          <a:off x="2866109" y="929748"/>
          <a:ext cx="3829275" cy="781017"/>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2653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48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04064067-1C0B-EDE0-7566-C7967E27D68B}"/>
              </a:ext>
            </a:extLst>
          </p:cNvPr>
          <p:cNvGraphicFramePr>
            <a:graphicFrameLocks noGrp="1"/>
          </p:cNvGraphicFramePr>
          <p:nvPr>
            <p:extLst>
              <p:ext uri="{D42A27DB-BD31-4B8C-83A1-F6EECF244321}">
                <p14:modId xmlns:p14="http://schemas.microsoft.com/office/powerpoint/2010/main" val="4132634909"/>
              </p:ext>
            </p:extLst>
          </p:nvPr>
        </p:nvGraphicFramePr>
        <p:xfrm>
          <a:off x="213591" y="1323029"/>
          <a:ext cx="2638218" cy="395688"/>
        </p:xfrm>
        <a:graphic>
          <a:graphicData uri="http://schemas.openxmlformats.org/drawingml/2006/table">
            <a:tbl>
              <a:tblPr/>
              <a:tblGrid>
                <a:gridCol w="1008582">
                  <a:extLst>
                    <a:ext uri="{9D8B030D-6E8A-4147-A177-3AD203B41FA5}">
                      <a16:colId xmlns:a16="http://schemas.microsoft.com/office/drawing/2014/main" val="20000"/>
                    </a:ext>
                  </a:extLst>
                </a:gridCol>
                <a:gridCol w="1629636">
                  <a:extLst>
                    <a:ext uri="{9D8B030D-6E8A-4147-A177-3AD203B41FA5}">
                      <a16:colId xmlns:a16="http://schemas.microsoft.com/office/drawing/2014/main" val="20001"/>
                    </a:ext>
                  </a:extLst>
                </a:gridCol>
              </a:tblGrid>
              <a:tr h="383540">
                <a:tc>
                  <a:txBody>
                    <a:bodyPr/>
                    <a:lstStyle/>
                    <a:p>
                      <a:pPr marL="0" marR="0" lvl="0" indent="0" algn="ctr" rtl="0" eaLnBrk="0" fontAlgn="base" latinLnBrk="0" hangingPunct="0">
                        <a:lnSpc>
                          <a:spcPct val="95000"/>
                        </a:lnSpc>
                        <a:spcBef>
                          <a:spcPct val="0"/>
                        </a:spcBef>
                        <a:spcAft>
                          <a:spcPct val="50000"/>
                        </a:spcAft>
                        <a:buClrTx/>
                        <a:buSzTx/>
                        <a:buFontTx/>
                        <a:buNone/>
                      </a:pPr>
                      <a:r>
                        <a:rPr lang="en-GB" sz="1050" b="1" i="0" u="none" strike="noStrike" kern="1200" cap="none" normalizeH="0" baseline="0">
                          <a:ln>
                            <a:noFill/>
                          </a:ln>
                          <a:solidFill>
                            <a:schemeClr val="bg1"/>
                          </a:solidFill>
                          <a:effectLst/>
                          <a:latin typeface="Arial"/>
                          <a:ea typeface="+mn-ea"/>
                          <a:cs typeface="+mn-cs"/>
                        </a:rPr>
                        <a:t>Target Delivery:</a:t>
                      </a:r>
                      <a:endParaRPr kumimoji="0" lang="en-US"/>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850" b="1" i="0" u="none" strike="noStrike" kern="1200" cap="none" normalizeH="0" baseline="0">
                          <a:ln>
                            <a:noFill/>
                          </a:ln>
                          <a:solidFill>
                            <a:schemeClr val="tx1"/>
                          </a:solidFill>
                          <a:effectLst/>
                          <a:latin typeface="Aptos"/>
                          <a:ea typeface="+mn-ea"/>
                          <a:cs typeface="+mn-cs"/>
                        </a:rPr>
                        <a:t>12/09/2026 (Dark Launch) 02/10/2026 (Prod Launch)</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7F5E52A-73F0-2D34-67D1-BD7421200705}"/>
              </a:ext>
            </a:extLst>
          </p:cNvPr>
          <p:cNvGraphicFramePr>
            <a:graphicFrameLocks noGrp="1"/>
          </p:cNvGraphicFramePr>
          <p:nvPr>
            <p:extLst>
              <p:ext uri="{D42A27DB-BD31-4B8C-83A1-F6EECF244321}">
                <p14:modId xmlns:p14="http://schemas.microsoft.com/office/powerpoint/2010/main" val="2523201889"/>
              </p:ext>
            </p:extLst>
          </p:nvPr>
        </p:nvGraphicFramePr>
        <p:xfrm>
          <a:off x="4972437" y="1791349"/>
          <a:ext cx="7152056" cy="2490727"/>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2">
                  <a:extLst>
                    <a:ext uri="{9D8B030D-6E8A-4147-A177-3AD203B41FA5}">
                      <a16:colId xmlns:a16="http://schemas.microsoft.com/office/drawing/2014/main" val="1100051595"/>
                    </a:ext>
                  </a:extLst>
                </a:gridCol>
                <a:gridCol w="619698">
                  <a:extLst>
                    <a:ext uri="{9D8B030D-6E8A-4147-A177-3AD203B41FA5}">
                      <a16:colId xmlns:a16="http://schemas.microsoft.com/office/drawing/2014/main" val="2042261034"/>
                    </a:ext>
                  </a:extLst>
                </a:gridCol>
                <a:gridCol w="3372810">
                  <a:extLst>
                    <a:ext uri="{9D8B030D-6E8A-4147-A177-3AD203B41FA5}">
                      <a16:colId xmlns:a16="http://schemas.microsoft.com/office/drawing/2014/main" val="2815874248"/>
                    </a:ext>
                  </a:extLst>
                </a:gridCol>
              </a:tblGrid>
              <a:tr h="21247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47892">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a:ea typeface="+mn-ea"/>
                          <a:cs typeface="+mn-cs"/>
                        </a:rPr>
                        <a:t>DDIT start -end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strike="noStrike" kern="1200">
                          <a:solidFill>
                            <a:schemeClr val="tx1"/>
                          </a:solidFill>
                          <a:effectLst/>
                          <a:latin typeface="Aptos"/>
                          <a:ea typeface="+mn-ea"/>
                          <a:cs typeface="+mn-cs"/>
                        </a:rPr>
                        <a:t>7/2 – 10/28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401350">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Steering Committee approval of CRs, release plan, and $150K funding</a:t>
                      </a:r>
                      <a:endParaRPr lang="en-US"/>
                    </a:p>
                    <a:p>
                      <a:pPr marL="114300" marR="0" lvl="0" indent="0" algn="l">
                        <a:lnSpc>
                          <a:spcPct val="95000"/>
                        </a:lnSpc>
                        <a:spcBef>
                          <a:spcPct val="0"/>
                        </a:spcBef>
                        <a:spcAft>
                          <a:spcPct val="50000"/>
                        </a:spcAft>
                        <a:buClrTx/>
                        <a:buSzTx/>
                        <a:buFontTx/>
                        <a:buNone/>
                      </a:pPr>
                      <a:endParaRPr lang="en-US" sz="850" b="0" i="0" u="none" strike="noStrike" kern="1200" noProof="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strike="noStrike">
                          <a:latin typeface="Aptos"/>
                        </a:rPr>
                        <a:t>10/1/26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MPPC development and end-to-end testing complete</a:t>
                      </a:r>
                      <a:endParaRPr lang="en-US"/>
                    </a:p>
                    <a:p>
                      <a:pPr marL="114300" marR="0" lvl="0" indent="0" algn="l">
                        <a:lnSpc>
                          <a:spcPct val="95000"/>
                        </a:lnSpc>
                        <a:spcBef>
                          <a:spcPct val="0"/>
                        </a:spcBef>
                        <a:spcAft>
                          <a:spcPct val="50000"/>
                        </a:spcAft>
                        <a:buClrTx/>
                        <a:buSzTx/>
                        <a:buFontTx/>
                        <a:buNone/>
                      </a:pPr>
                      <a:endParaRPr lang="en-US" sz="850" b="0" i="0" u="none" strike="noStrike" kern="1200" noProof="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11/27/26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MPPC dark launch / production deployment</a:t>
                      </a:r>
                      <a:endParaRPr lang="en-US"/>
                    </a:p>
                    <a:p>
                      <a:pPr marL="114300" marR="0" lvl="0" indent="0" algn="l">
                        <a:lnSpc>
                          <a:spcPct val="95000"/>
                        </a:lnSpc>
                        <a:spcBef>
                          <a:spcPct val="0"/>
                        </a:spcBef>
                        <a:spcAft>
                          <a:spcPct val="50000"/>
                        </a:spcAft>
                        <a:buClrTx/>
                        <a:buSzTx/>
                        <a:buFontTx/>
                        <a:buNone/>
                      </a:pPr>
                      <a:endParaRPr lang="en-US" sz="850" kern="120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12/9/26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MPPC business UAT and regression testing</a:t>
                      </a:r>
                      <a:endParaRPr lang="en-US"/>
                    </a:p>
                    <a:p>
                      <a:pPr marL="114300" marR="0" lvl="0" indent="0" algn="l">
                        <a:lnSpc>
                          <a:spcPct val="95000"/>
                        </a:lnSpc>
                        <a:spcBef>
                          <a:spcPct val="0"/>
                        </a:spcBef>
                        <a:spcAft>
                          <a:spcPct val="50000"/>
                        </a:spcAft>
                        <a:buClrTx/>
                        <a:buSzTx/>
                        <a:buFontTx/>
                        <a:buNone/>
                      </a:pPr>
                      <a:endParaRPr lang="en-US" sz="850" kern="120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a:rPr>
                        <a:t>1/7/27-1/29/27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4728909"/>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Go/No Go go-live</a:t>
                      </a:r>
                      <a:endParaRPr lang="en-US"/>
                    </a:p>
                    <a:p>
                      <a:pPr marL="114300" lvl="0" indent="0" algn="l">
                        <a:lnSpc>
                          <a:spcPct val="95000"/>
                        </a:lnSpc>
                        <a:spcBef>
                          <a:spcPct val="0"/>
                        </a:spcBef>
                        <a:spcAft>
                          <a:spcPct val="50000"/>
                        </a:spcAft>
                        <a:buNone/>
                      </a:pPr>
                      <a:endParaRPr lang="en-US" sz="850" kern="1200">
                        <a:solidFill>
                          <a:schemeClr val="dk1"/>
                        </a:solidFill>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a:latin typeface="Aptos"/>
                        </a:rPr>
                        <a:t>NS</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strike="noStrike">
                          <a:latin typeface="Aptos"/>
                        </a:rPr>
                        <a:t>1/29/27</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2047591847"/>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MPPC production go-live</a:t>
                      </a:r>
                      <a:endParaRPr lang="en-US"/>
                    </a:p>
                    <a:p>
                      <a:pPr marL="114300" lvl="0" indent="0" algn="l">
                        <a:lnSpc>
                          <a:spcPct val="95000"/>
                        </a:lnSpc>
                        <a:spcBef>
                          <a:spcPct val="0"/>
                        </a:spcBef>
                        <a:spcAft>
                          <a:spcPct val="50000"/>
                        </a:spcAft>
                        <a:buNone/>
                      </a:pPr>
                      <a:endParaRPr lang="en-US" sz="850" kern="1200">
                        <a:solidFill>
                          <a:schemeClr val="dk1"/>
                        </a:solidFill>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a:latin typeface="Aptos"/>
                        </a:rPr>
                        <a:t>NS</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strike="noStrike">
                          <a:latin typeface="Aptos"/>
                        </a:rPr>
                        <a:t>2/10/27</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3483701528"/>
                  </a:ext>
                </a:extLst>
              </a:tr>
              <a:tr h="271501">
                <a:tc>
                  <a:txBody>
                    <a:bodyPr/>
                    <a:lstStyle/>
                    <a:p>
                      <a:pPr marL="114300" lvl="0" indent="0" algn="l">
                        <a:lnSpc>
                          <a:spcPct val="95000"/>
                        </a:lnSpc>
                        <a:buNone/>
                      </a:pPr>
                      <a:r>
                        <a:rPr lang="en-US" sz="850" b="0" i="0" u="none" strike="noStrike" kern="1200" baseline="0" noProof="0">
                          <a:solidFill>
                            <a:srgbClr val="000000"/>
                          </a:solidFill>
                          <a:latin typeface="Aptos"/>
                          <a:ea typeface="+mn-ea"/>
                          <a:cs typeface="+mn-cs"/>
                        </a:rPr>
                        <a:t>MPPC warranty / hypercare</a:t>
                      </a:r>
                      <a:endParaRPr lang="en-US"/>
                    </a:p>
                    <a:p>
                      <a:pPr marL="114300" lvl="0" indent="0" algn="l">
                        <a:lnSpc>
                          <a:spcPct val="95000"/>
                        </a:lnSpc>
                        <a:spcBef>
                          <a:spcPct val="0"/>
                        </a:spcBef>
                        <a:spcAft>
                          <a:spcPct val="50000"/>
                        </a:spcAft>
                        <a:buNone/>
                      </a:pPr>
                      <a:endParaRPr lang="en-US" sz="850" kern="1200">
                        <a:solidFill>
                          <a:schemeClr val="dk1"/>
                        </a:solidFill>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a:latin typeface="Aptos"/>
                        </a:rPr>
                        <a:t>NS</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strike="noStrike">
                          <a:latin typeface="Aptos"/>
                        </a:rPr>
                        <a:t>3/10/27</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3454830546"/>
                  </a:ext>
                </a:extLst>
              </a:tr>
            </a:tbl>
          </a:graphicData>
        </a:graphic>
      </p:graphicFrame>
      <p:graphicFrame>
        <p:nvGraphicFramePr>
          <p:cNvPr id="29" name="Table 28">
            <a:extLst>
              <a:ext uri="{FF2B5EF4-FFF2-40B4-BE49-F238E27FC236}">
                <a16:creationId xmlns:a16="http://schemas.microsoft.com/office/drawing/2014/main" id="{92E11616-CC4F-76E2-70B6-953971003B42}"/>
              </a:ext>
            </a:extLst>
          </p:cNvPr>
          <p:cNvGraphicFramePr>
            <a:graphicFrameLocks noGrp="1"/>
          </p:cNvGraphicFramePr>
          <p:nvPr>
            <p:extLst>
              <p:ext uri="{D42A27DB-BD31-4B8C-83A1-F6EECF244321}">
                <p14:modId xmlns:p14="http://schemas.microsoft.com/office/powerpoint/2010/main" val="3466933090"/>
              </p:ext>
            </p:extLst>
          </p:nvPr>
        </p:nvGraphicFramePr>
        <p:xfrm>
          <a:off x="4969933" y="4301066"/>
          <a:ext cx="7148337" cy="2190871"/>
        </p:xfrm>
        <a:graphic>
          <a:graphicData uri="http://schemas.openxmlformats.org/drawingml/2006/table">
            <a:tbl>
              <a:tblPr>
                <a:tableStyleId>{5C22544A-7EE6-4342-B048-85BDC9FD1C3A}</a:tableStyleId>
              </a:tblPr>
              <a:tblGrid>
                <a:gridCol w="2637635">
                  <a:extLst>
                    <a:ext uri="{9D8B030D-6E8A-4147-A177-3AD203B41FA5}">
                      <a16:colId xmlns:a16="http://schemas.microsoft.com/office/drawing/2014/main" val="2456552316"/>
                    </a:ext>
                  </a:extLst>
                </a:gridCol>
                <a:gridCol w="517955">
                  <a:extLst>
                    <a:ext uri="{9D8B030D-6E8A-4147-A177-3AD203B41FA5}">
                      <a16:colId xmlns:a16="http://schemas.microsoft.com/office/drawing/2014/main" val="1100051595"/>
                    </a:ext>
                  </a:extLst>
                </a:gridCol>
                <a:gridCol w="575260">
                  <a:extLst>
                    <a:ext uri="{9D8B030D-6E8A-4147-A177-3AD203B41FA5}">
                      <a16:colId xmlns:a16="http://schemas.microsoft.com/office/drawing/2014/main" val="2042261034"/>
                    </a:ext>
                  </a:extLst>
                </a:gridCol>
                <a:gridCol w="3417487">
                  <a:extLst>
                    <a:ext uri="{9D8B030D-6E8A-4147-A177-3AD203B41FA5}">
                      <a16:colId xmlns:a16="http://schemas.microsoft.com/office/drawing/2014/main" val="2815874248"/>
                    </a:ext>
                  </a:extLst>
                </a:gridCol>
              </a:tblGrid>
              <a:tr h="212081">
                <a:tc>
                  <a:txBody>
                    <a:bodyPr/>
                    <a:lstStyle/>
                    <a:p>
                      <a:pPr marL="0" marR="0" lvl="0" indent="0" algn="ctr" rtl="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877308">
                <a:tc>
                  <a:txBody>
                    <a:bodyPr/>
                    <a:lstStyle/>
                    <a:p>
                      <a:pPr marL="285750" marR="0" lvl="0" indent="-285750" algn="l">
                        <a:lnSpc>
                          <a:spcPct val="100000"/>
                        </a:lnSpc>
                        <a:buClr>
                          <a:srgbClr val="000000"/>
                        </a:buClr>
                        <a:buFont typeface="Arial,Sans-Serif"/>
                        <a:buChar char="•"/>
                      </a:pPr>
                      <a:r>
                        <a:rPr lang="en-US" sz="800" b="0" i="0" u="none" strike="noStrike" noProof="0">
                          <a:solidFill>
                            <a:srgbClr val="000000"/>
                          </a:solidFill>
                          <a:latin typeface="Aptos"/>
                        </a:rPr>
                        <a:t>Holiday testing overlaps with Thanksgiving, Christmas, and New Year holidays, creating potential resource constraints.</a:t>
                      </a:r>
                    </a:p>
                    <a:p>
                      <a:pPr marL="285750" lvl="0" indent="-285750" algn="l">
                        <a:lnSpc>
                          <a:spcPct val="100000"/>
                        </a:lnSpc>
                        <a:spcBef>
                          <a:spcPts val="0"/>
                        </a:spcBef>
                        <a:spcAft>
                          <a:spcPts val="0"/>
                        </a:spcAft>
                        <a:buClr>
                          <a:srgbClr val="000000"/>
                        </a:buClr>
                        <a:buFont typeface="Arial,Sans-Serif"/>
                        <a:buChar char="•"/>
                      </a:pPr>
                      <a:r>
                        <a:rPr lang="en-US" sz="800" b="0" i="0" u="none" strike="noStrike" baseline="0" noProof="0">
                          <a:solidFill>
                            <a:srgbClr val="000000"/>
                          </a:solidFill>
                          <a:latin typeface="Aptos"/>
                        </a:rPr>
                        <a:t>Business and technology testing resources are shared across concurrent initiatives.</a:t>
                      </a:r>
                      <a:endParaRPr lang="en-US"/>
                    </a:p>
                    <a:p>
                      <a:pPr marL="285750" lvl="0" indent="-285750" algn="l">
                        <a:lnSpc>
                          <a:spcPct val="100000"/>
                        </a:lnSpc>
                        <a:spcBef>
                          <a:spcPts val="0"/>
                        </a:spcBef>
                        <a:spcAft>
                          <a:spcPts val="0"/>
                        </a:spcAft>
                        <a:buClr>
                          <a:srgbClr val="000000"/>
                        </a:buClr>
                        <a:buFont typeface="Arial,Sans-Serif"/>
                        <a:buChar char="•"/>
                      </a:pPr>
                      <a:r>
                        <a:rPr lang="en-US" sz="800" b="0" i="0" u="none" strike="noStrike" baseline="0" noProof="0">
                          <a:solidFill>
                            <a:srgbClr val="000000"/>
                          </a:solidFill>
                          <a:latin typeface="Aptos"/>
                        </a:rPr>
                        <a:t>Final alignment from Technology leadership remains pending.</a:t>
                      </a:r>
                      <a:endParaRPr lang="en-US"/>
                    </a:p>
                    <a:p>
                      <a:pPr marL="285750" lvl="0" indent="-285750" algn="l">
                        <a:lnSpc>
                          <a:spcPct val="100000"/>
                        </a:lnSpc>
                        <a:spcBef>
                          <a:spcPts val="0"/>
                        </a:spcBef>
                        <a:spcAft>
                          <a:spcPts val="0"/>
                        </a:spcAft>
                        <a:buClr>
                          <a:srgbClr val="000000"/>
                        </a:buClr>
                        <a:buFont typeface="Arial,Sans-Serif"/>
                        <a:buChar char="•"/>
                      </a:pPr>
                      <a:r>
                        <a:rPr lang="en-US" sz="800" b="0" i="0" u="none" strike="noStrike" baseline="0" noProof="0">
                          <a:solidFill>
                            <a:srgbClr val="000000"/>
                          </a:solidFill>
                          <a:latin typeface="Aptos"/>
                        </a:rPr>
                        <a:t>Enterprise Authentication V3 integration is required for the UW Rules Engine API. The dependency is expected to be resolved and is not currently considered a release blocker.</a:t>
                      </a:r>
                      <a:endParaRPr lang="en-US"/>
                    </a:p>
                    <a:p>
                      <a:pPr marL="285750" lvl="0" indent="-285750" algn="l">
                        <a:lnSpc>
                          <a:spcPct val="100000"/>
                        </a:lnSpc>
                        <a:spcBef>
                          <a:spcPts val="0"/>
                        </a:spcBef>
                        <a:spcAft>
                          <a:spcPts val="0"/>
                        </a:spcAft>
                        <a:buClr>
                          <a:srgbClr val="000000"/>
                        </a:buClr>
                        <a:buFont typeface="Arial,Sans-Serif"/>
                        <a:buChar char="•"/>
                      </a:pPr>
                      <a:r>
                        <a:rPr lang="en-US" sz="800" b="0" i="0" u="none" strike="noStrike" baseline="0" noProof="0">
                          <a:solidFill>
                            <a:srgbClr val="000000"/>
                          </a:solidFill>
                          <a:latin typeface="Aptos"/>
                        </a:rPr>
                        <a:t>Additional 2027 funding requests outside of the approved $150K remain under evaluation.</a:t>
                      </a:r>
                      <a:endParaRPr lang="en-US"/>
                    </a:p>
                    <a:p>
                      <a:pPr marL="0" marR="0" lvl="0" indent="0" algn="l">
                        <a:lnSpc>
                          <a:spcPct val="100000"/>
                        </a:lnSpc>
                        <a:spcBef>
                          <a:spcPts val="0"/>
                        </a:spcBef>
                        <a:spcAft>
                          <a:spcPts val="0"/>
                        </a:spcAft>
                        <a:buClr>
                          <a:srgbClr val="000000"/>
                        </a:buClr>
                        <a:buNone/>
                      </a:pPr>
                      <a:endParaRPr lang="en-US" sz="800" b="0" i="0" u="none" strike="noStrike" noProof="0">
                        <a:solidFill>
                          <a:srgbClr val="000000"/>
                        </a:solidFill>
                        <a:latin typeface="Apto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Aptos"/>
                          <a:ea typeface="+mn-ea"/>
                          <a:cs typeface="+mn-cs"/>
                        </a:rPr>
                        <a:t>11/6</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Assign primary and backup resources for critical testing periods.</a:t>
                      </a:r>
                      <a:endParaRPr lang="en-US"/>
                    </a:p>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Prioritize critical business scenarios and regression testing.</a:t>
                      </a:r>
                      <a:endParaRPr lang="en-US"/>
                    </a:p>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Develop an integrated testing strategy and contingency plan.</a:t>
                      </a:r>
                      <a:endParaRPr lang="en-US"/>
                    </a:p>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Retain January testing capacity as needed to address unforeseen issues.</a:t>
                      </a:r>
                      <a:endParaRPr lang="en-US"/>
                    </a:p>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Complete Authentication V3 integration activities early to minimize schedule risk.</a:t>
                      </a:r>
                      <a:endParaRPr lang="en-US"/>
                    </a:p>
                    <a:p>
                      <a:pPr marL="171450" lvl="0" indent="-171450" algn="l">
                        <a:lnSpc>
                          <a:spcPct val="100000"/>
                        </a:lnSpc>
                        <a:buFont typeface="Arial"/>
                        <a:buChar char="•"/>
                      </a:pPr>
                      <a:r>
                        <a:rPr lang="en-US" sz="800" b="0" i="0" u="none" strike="noStrike" kern="1200" baseline="0" noProof="0">
                          <a:solidFill>
                            <a:srgbClr val="000000"/>
                          </a:solidFill>
                          <a:effectLst/>
                          <a:latin typeface="Aptos"/>
                          <a:ea typeface="+mn-ea"/>
                          <a:cs typeface="+mn-cs"/>
                        </a:rPr>
                        <a:t>Continue leadership and funding discussions to support future project needs.</a:t>
                      </a:r>
                      <a:endParaRPr lang="en-US"/>
                    </a:p>
                    <a:p>
                      <a:pPr marL="0" marR="0" lvl="0" indent="0" algn="l" defTabSz="914400">
                        <a:lnSpc>
                          <a:spcPct val="100000"/>
                        </a:lnSpc>
                        <a:spcBef>
                          <a:spcPts val="200"/>
                        </a:spcBef>
                        <a:spcAft>
                          <a:spcPts val="0"/>
                        </a:spcAft>
                        <a:buClrTx/>
                        <a:buSzTx/>
                        <a:buNone/>
                        <a:tabLst/>
                        <a:defRPr/>
                      </a:pPr>
                      <a:endParaRPr lang="en-US" sz="800" b="0" strike="noStrike" kern="1200">
                        <a:solidFill>
                          <a:schemeClr val="tx1"/>
                        </a:solidFill>
                        <a:effectLst/>
                        <a:latin typeface="Aptos"/>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1CAC90-586E-9F52-4984-DB79F9160C53}"/>
              </a:ext>
            </a:extLst>
          </p:cNvPr>
          <p:cNvSpPr/>
          <p:nvPr/>
        </p:nvSpPr>
        <p:spPr>
          <a:xfrm>
            <a:off x="6720705" y="655868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BC52D39-AC83-6E0F-2AE0-3FA4A7E2EF09}"/>
              </a:ext>
            </a:extLst>
          </p:cNvPr>
          <p:cNvSpPr/>
          <p:nvPr/>
        </p:nvSpPr>
        <p:spPr>
          <a:xfrm>
            <a:off x="7797764" y="656871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21320782-7F39-ACDF-4506-1F4BDD009084}"/>
              </a:ext>
            </a:extLst>
          </p:cNvPr>
          <p:cNvSpPr/>
          <p:nvPr/>
        </p:nvSpPr>
        <p:spPr>
          <a:xfrm>
            <a:off x="8807808" y="657507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01F3E451-53D3-0EFB-340A-171459EBEC52}"/>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45" name="Flowchart: Connector 44">
            <a:extLst>
              <a:ext uri="{FF2B5EF4-FFF2-40B4-BE49-F238E27FC236}">
                <a16:creationId xmlns:a16="http://schemas.microsoft.com/office/drawing/2014/main" id="{1FEF84C9-4ADB-0C92-F679-E8ADA92C1910}"/>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D8382AA6-D2AE-99F1-3A8A-CC77F59255BC}"/>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E20F73DC-4109-E8A0-BBF7-AC3318FE7598}"/>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2932B0-B441-DBC3-6268-CF7B2EF06D67}"/>
              </a:ext>
            </a:extLst>
          </p:cNvPr>
          <p:cNvSpPr txBox="1"/>
          <p:nvPr/>
        </p:nvSpPr>
        <p:spPr>
          <a:xfrm>
            <a:off x="9646954" y="379469"/>
            <a:ext cx="2275101" cy="517320"/>
          </a:xfrm>
          <a:prstGeom prst="rect">
            <a:avLst/>
          </a:prstGeom>
          <a:noFill/>
        </p:spPr>
        <p:txBody>
          <a:bodyPr wrap="none" lIns="0" tIns="0" rIns="0" bIns="0" rtlCol="0" anchor="t">
            <a:noAutofit/>
          </a:bodyPr>
          <a:lstStyle/>
          <a:p>
            <a:pPr>
              <a:lnSpc>
                <a:spcPct val="112000"/>
              </a:lnSpc>
            </a:pPr>
            <a:r>
              <a:rPr lang="en-US" sz="1200">
                <a:latin typeface="Arial"/>
                <a:cs typeface="Arial"/>
              </a:rPr>
              <a:t>Project Manager : Lalitha Kumar</a:t>
            </a:r>
          </a:p>
          <a:p>
            <a:pPr>
              <a:lnSpc>
                <a:spcPct val="112000"/>
              </a:lnSpc>
            </a:pPr>
            <a:r>
              <a:rPr lang="en-US" sz="1200" err="1">
                <a:latin typeface="Arial"/>
                <a:cs typeface="Arial"/>
              </a:rPr>
              <a:t>OpEx</a:t>
            </a:r>
            <a:r>
              <a:rPr lang="en-US" sz="1200">
                <a:latin typeface="Arial"/>
                <a:cs typeface="Arial"/>
              </a:rPr>
              <a:t> Business Lead: Gary Wilson</a:t>
            </a:r>
          </a:p>
        </p:txBody>
      </p:sp>
      <p:sp>
        <p:nvSpPr>
          <p:cNvPr id="7" name="Flowchart: Connector 6">
            <a:extLst>
              <a:ext uri="{FF2B5EF4-FFF2-40B4-BE49-F238E27FC236}">
                <a16:creationId xmlns:a16="http://schemas.microsoft.com/office/drawing/2014/main" id="{7AC3276B-CB44-CB66-2FE8-8310F61F7A40}"/>
              </a:ext>
            </a:extLst>
          </p:cNvPr>
          <p:cNvSpPr/>
          <p:nvPr/>
        </p:nvSpPr>
        <p:spPr>
          <a:xfrm>
            <a:off x="7786432" y="204196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F6BAD6-5D3B-0717-2D10-31E38E17DDF9}"/>
              </a:ext>
            </a:extLst>
          </p:cNvPr>
          <p:cNvSpPr txBox="1"/>
          <p:nvPr/>
        </p:nvSpPr>
        <p:spPr>
          <a:xfrm>
            <a:off x="154962" y="1813250"/>
            <a:ext cx="4709711" cy="44088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850" b="1" baseline="0">
                <a:latin typeface="Aptos Display"/>
                <a:ea typeface="Arial"/>
                <a:cs typeface="Arial"/>
              </a:rPr>
              <a:t>Status</a:t>
            </a:r>
            <a:r>
              <a:rPr lang="en-US" sz="850">
                <a:latin typeface="Aptos Display"/>
                <a:ea typeface="Arial"/>
                <a:cs typeface="Arial"/>
              </a:rPr>
              <a:t>​</a:t>
            </a:r>
          </a:p>
          <a:p>
            <a:r>
              <a:rPr lang="en-US" sz="850">
                <a:latin typeface="Aptos Display"/>
                <a:cs typeface="Arial"/>
              </a:rPr>
              <a:t>MPPC to MPI moved to Yellow as the team works toward the December 9, 2026 dark launch and February 13, 2027 customer launch. Current focus is on completing testing, validating production functionality, and mitigating holiday resource and support coverage risks. Dependencies related to PET snapshots, backend readiness, production validation activities, and contingency planning continue to be actively managed to maintain release timelines</a:t>
            </a:r>
            <a:endParaRPr lang="en-US" sz="850">
              <a:latin typeface="Aptos Display"/>
            </a:endParaRPr>
          </a:p>
          <a:p>
            <a:r>
              <a:rPr lang="en-US" sz="850" b="1">
                <a:latin typeface="Aptos Display"/>
                <a:ea typeface="Arial"/>
                <a:cs typeface="Arial"/>
              </a:rPr>
              <a:t>Path to Green</a:t>
            </a:r>
          </a:p>
          <a:p>
            <a:pPr marL="171450" indent="-171450">
              <a:buFont typeface="Arial"/>
              <a:buChar char="•"/>
            </a:pPr>
            <a:r>
              <a:rPr lang="en-US" sz="850">
                <a:latin typeface="Aptos Display"/>
                <a:cs typeface="Arial"/>
              </a:rPr>
              <a:t>Secure approval for $88,824 in 2027 funding to support project completion and release activities.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Finalize 2027 budget commitment to eliminate funding uncertainty and maintain delivery timelines.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Maintain scope stability and avoid introducing new requirements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ea typeface="Calibri"/>
                <a:cs typeface="Arial"/>
              </a:rPr>
              <a:t>Execute holiday resource mitigation plan to ensure coverage through release.</a:t>
            </a:r>
            <a:endParaRPr lang="en-US" sz="850">
              <a:latin typeface="Aptos Display"/>
              <a:ea typeface="Calibri" panose="020F0502020204030204"/>
              <a:cs typeface="Calibri" panose="020F0502020204030204"/>
            </a:endParaRPr>
          </a:p>
          <a:p>
            <a:endParaRPr lang="en-US" sz="850">
              <a:latin typeface="Aptos Display"/>
              <a:ea typeface="Calibri"/>
              <a:cs typeface="Arial"/>
            </a:endParaRPr>
          </a:p>
          <a:p>
            <a:r>
              <a:rPr lang="en-US" sz="850" b="1">
                <a:latin typeface="Aptos Display"/>
                <a:ea typeface="Arial"/>
                <a:cs typeface="Arial"/>
              </a:rPr>
              <a:t>Highlights </a:t>
            </a:r>
          </a:p>
          <a:p>
            <a:pPr marL="171450" indent="-171450">
              <a:buFont typeface="Arial"/>
              <a:buChar char="•"/>
            </a:pPr>
            <a:r>
              <a:rPr lang="en-US" sz="850">
                <a:latin typeface="Aptos Display"/>
                <a:cs typeface="Arial"/>
              </a:rPr>
              <a:t>Dark Launch remains on track for December 9, 2026.</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Customer-facing Production Launch remains targeted for February 13, 2027.</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Dark launch will deploy production functionality without customer communications or conversion activities.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January will be dedicated to production validation, monitoring, regression testing, and launch readiness activities.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Testing activities are progressing through E2E and UAT milestones.</a:t>
            </a:r>
            <a:endParaRPr lang="en-US" sz="850">
              <a:latin typeface="Aptos Display"/>
              <a:ea typeface="Calibri" panose="020F0502020204030204"/>
              <a:cs typeface="Calibri" panose="020F0502020204030204"/>
            </a:endParaRPr>
          </a:p>
          <a:p>
            <a:pPr marL="171450" indent="-171450">
              <a:buFont typeface="Arial"/>
              <a:buChar char="•"/>
            </a:pPr>
            <a:r>
              <a:rPr lang="en-US" sz="850">
                <a:latin typeface="Aptos Display"/>
                <a:cs typeface="Arial"/>
              </a:rPr>
              <a:t>Team continues to manage holiday resource constraints and production readiness dependencies.</a:t>
            </a:r>
            <a:endParaRPr lang="en-US" sz="850">
              <a:latin typeface="Aptos Display"/>
              <a:ea typeface="Calibri" panose="020F0502020204030204"/>
              <a:cs typeface="Calibri" panose="020F0502020204030204"/>
            </a:endParaRPr>
          </a:p>
          <a:p>
            <a:r>
              <a:rPr lang="en-US" sz="850">
                <a:latin typeface="Aptos Display"/>
                <a:cs typeface="Arial"/>
              </a:rPr>
              <a:t> </a:t>
            </a:r>
            <a:r>
              <a:rPr lang="en-US" sz="850" b="1" baseline="0">
                <a:latin typeface="Aptos Display"/>
                <a:ea typeface="Arial"/>
                <a:cs typeface="Arial"/>
              </a:rPr>
              <a:t>Next Steps</a:t>
            </a:r>
            <a:r>
              <a:rPr lang="en-US" sz="850">
                <a:latin typeface="Aptos Display"/>
                <a:ea typeface="Arial"/>
                <a:cs typeface="Arial"/>
              </a:rPr>
              <a:t>​</a:t>
            </a:r>
          </a:p>
          <a:p>
            <a:pPr marL="171450" indent="-171450">
              <a:buFont typeface="Arial"/>
              <a:buChar char="•"/>
            </a:pPr>
            <a:r>
              <a:rPr lang="en-US" sz="850">
                <a:latin typeface="Aptos Display"/>
                <a:cs typeface="Arial"/>
              </a:rPr>
              <a:t>Oct 29 - Nov 11: Complete End-to-End (E2E) Testing. (Project Team)</a:t>
            </a:r>
          </a:p>
          <a:p>
            <a:pPr marL="171450" indent="-171450">
              <a:buFont typeface="Arial"/>
              <a:buChar char="•"/>
            </a:pPr>
            <a:r>
              <a:rPr lang="en-US" sz="850">
                <a:latin typeface="Aptos Display"/>
                <a:cs typeface="Arial"/>
              </a:rPr>
              <a:t>Nov 12 - Nov 27: Execute User Acceptance Testing (UAT). (Business &amp; Project Team)</a:t>
            </a:r>
            <a:endParaRPr lang="en-US" sz="850">
              <a:latin typeface="Aptos Display"/>
            </a:endParaRPr>
          </a:p>
          <a:p>
            <a:pPr marL="171450" indent="-171450">
              <a:buFont typeface="Arial"/>
              <a:buChar char="•"/>
            </a:pPr>
            <a:r>
              <a:rPr lang="en-US" sz="850">
                <a:latin typeface="Aptos Display"/>
                <a:cs typeface="Arial"/>
              </a:rPr>
              <a:t>By Nov 30: Finalize Dark Launch readiness, contingency planning, and support coverage. </a:t>
            </a:r>
          </a:p>
          <a:p>
            <a:pPr marL="171450" indent="-171450">
              <a:buFont typeface="Arial"/>
              <a:buChar char="•"/>
            </a:pPr>
            <a:r>
              <a:rPr lang="en-US" sz="850">
                <a:latin typeface="Aptos Display"/>
                <a:cs typeface="Arial"/>
              </a:rPr>
              <a:t>Dec 9, 2026: Execute Dark Launch. (Project Team &amp; Technical Leads)</a:t>
            </a:r>
            <a:endParaRPr lang="en-US" sz="850">
              <a:latin typeface="Aptos Display"/>
            </a:endParaRPr>
          </a:p>
          <a:p>
            <a:pPr marL="171450" indent="-171450">
              <a:buFont typeface="Arial"/>
              <a:buChar char="•"/>
            </a:pPr>
            <a:r>
              <a:rPr lang="en-US" sz="850">
                <a:latin typeface="Aptos Display"/>
                <a:cs typeface="Arial"/>
              </a:rPr>
              <a:t>Dec 28, 2026 - Jan 6, 2027: Validate production functionality and complete regression testing. (Technical &amp; Business Teams)</a:t>
            </a:r>
            <a:endParaRPr lang="en-US" sz="850">
              <a:latin typeface="Aptos Display"/>
            </a:endParaRPr>
          </a:p>
          <a:p>
            <a:pPr marL="171450" indent="-171450">
              <a:buFont typeface="Arial"/>
              <a:buChar char="•"/>
            </a:pPr>
            <a:r>
              <a:rPr lang="en-US" sz="850">
                <a:latin typeface="Aptos Display"/>
                <a:cs typeface="Arial"/>
              </a:rPr>
              <a:t>Jan 7 - Jan 29, 2027: Execute production UAT and confirm launch readiness. (Business &amp; Project Team)</a:t>
            </a:r>
            <a:endParaRPr lang="en-US" sz="850">
              <a:latin typeface="Aptos Display"/>
            </a:endParaRPr>
          </a:p>
          <a:p>
            <a:pPr marL="171450" indent="-171450">
              <a:buFont typeface="Arial"/>
              <a:buChar char="•"/>
            </a:pPr>
            <a:r>
              <a:rPr lang="en-US" sz="850">
                <a:latin typeface="Aptos Display"/>
                <a:cs typeface="Arial"/>
              </a:rPr>
              <a:t>By Jan 29, 2027: Finalize customer communications, conversion readiness, and deployment support plans. (Project Team)</a:t>
            </a:r>
            <a:endParaRPr lang="en-US" sz="850">
              <a:latin typeface="Aptos Display"/>
            </a:endParaRPr>
          </a:p>
          <a:p>
            <a:pPr marL="171450" indent="-171450">
              <a:buFont typeface="Arial"/>
              <a:buChar char="•"/>
            </a:pPr>
            <a:r>
              <a:rPr lang="en-US" sz="850">
                <a:latin typeface="Aptos Display"/>
                <a:cs typeface="Arial"/>
              </a:rPr>
              <a:t>Feb 13, 2027: Complete Customer Production Launch. (Project Team)</a:t>
            </a:r>
            <a:endParaRPr lang="en-US" sz="850">
              <a:latin typeface="Aptos Display"/>
            </a:endParaRPr>
          </a:p>
        </p:txBody>
      </p:sp>
      <p:sp>
        <p:nvSpPr>
          <p:cNvPr id="5" name="Flowchart: Connector 4">
            <a:extLst>
              <a:ext uri="{FF2B5EF4-FFF2-40B4-BE49-F238E27FC236}">
                <a16:creationId xmlns:a16="http://schemas.microsoft.com/office/drawing/2014/main" id="{EB787042-7340-A618-4789-5E92279087A7}"/>
              </a:ext>
            </a:extLst>
          </p:cNvPr>
          <p:cNvSpPr/>
          <p:nvPr/>
        </p:nvSpPr>
        <p:spPr>
          <a:xfrm>
            <a:off x="7786432" y="270236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28882536-A5CD-4848-9509-0EAA846C260F}"/>
              </a:ext>
            </a:extLst>
          </p:cNvPr>
          <p:cNvSpPr/>
          <p:nvPr/>
        </p:nvSpPr>
        <p:spPr>
          <a:xfrm>
            <a:off x="7774874" y="53897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05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58B58-DA95-A71F-3F80-0F2017FEBDD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62C715F-0609-568A-1865-171DB2C047E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F62C715F-0609-568A-1865-171DB2C047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A81AC48D-12C0-C933-87C7-3DAB5A4A3A5E}"/>
              </a:ext>
            </a:extLst>
          </p:cNvPr>
          <p:cNvGraphicFramePr>
            <a:graphicFrameLocks noGrp="1"/>
          </p:cNvGraphicFramePr>
          <p:nvPr>
            <p:extLst>
              <p:ext uri="{D42A27DB-BD31-4B8C-83A1-F6EECF244321}">
                <p14:modId xmlns:p14="http://schemas.microsoft.com/office/powerpoint/2010/main" val="3611071386"/>
              </p:ext>
            </p:extLst>
          </p:nvPr>
        </p:nvGraphicFramePr>
        <p:xfrm>
          <a:off x="4987636" y="6449616"/>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8035528F-7765-D25D-988B-C89817D79875}"/>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Portal Stabilization</a:t>
            </a:r>
            <a:br>
              <a:rPr lang="en-US" sz="2400" b="1">
                <a:solidFill>
                  <a:srgbClr val="29389F"/>
                </a:solidFill>
                <a:latin typeface="Arial" pitchFamily="34" charset="0"/>
                <a:cs typeface="Arial" pitchFamily="34" charset="0"/>
              </a:rPr>
            </a:br>
            <a:endParaRPr lang="en-US" sz="2400" b="1">
              <a:solidFill>
                <a:srgbClr val="29389F"/>
              </a:solidFill>
              <a:latin typeface="Arial" pitchFamily="34" charset="0"/>
              <a:cs typeface="Arial" pitchFamily="34" charset="0"/>
            </a:endParaRPr>
          </a:p>
        </p:txBody>
      </p:sp>
      <p:graphicFrame>
        <p:nvGraphicFramePr>
          <p:cNvPr id="11" name="Group 513">
            <a:extLst>
              <a:ext uri="{FF2B5EF4-FFF2-40B4-BE49-F238E27FC236}">
                <a16:creationId xmlns:a16="http://schemas.microsoft.com/office/drawing/2014/main" id="{74EA47A9-D9EB-628C-0365-3568F9D882C3}"/>
              </a:ext>
            </a:extLst>
          </p:cNvPr>
          <p:cNvGraphicFramePr>
            <a:graphicFrameLocks noGrp="1"/>
          </p:cNvGraphicFramePr>
          <p:nvPr>
            <p:extLst>
              <p:ext uri="{D42A27DB-BD31-4B8C-83A1-F6EECF244321}">
                <p14:modId xmlns:p14="http://schemas.microsoft.com/office/powerpoint/2010/main" val="3471882046"/>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4FF31DD-BBC6-A3BC-E842-2B577B56848F}"/>
              </a:ext>
            </a:extLst>
          </p:cNvPr>
          <p:cNvGraphicFramePr>
            <a:graphicFrameLocks noGrp="1"/>
          </p:cNvGraphicFramePr>
          <p:nvPr>
            <p:extLst>
              <p:ext uri="{D42A27DB-BD31-4B8C-83A1-F6EECF244321}">
                <p14:modId xmlns:p14="http://schemas.microsoft.com/office/powerpoint/2010/main" val="4192838777"/>
              </p:ext>
            </p:extLst>
          </p:nvPr>
        </p:nvGraphicFramePr>
        <p:xfrm>
          <a:off x="6640300" y="920667"/>
          <a:ext cx="5468997" cy="749848"/>
        </p:xfrm>
        <a:graphic>
          <a:graphicData uri="http://schemas.openxmlformats.org/drawingml/2006/table">
            <a:tbl>
              <a:tblPr>
                <a:tableStyleId>{5C22544A-7EE6-4342-B048-85BDC9FD1C3A}</a:tableStyleId>
              </a:tblPr>
              <a:tblGrid>
                <a:gridCol w="1288073">
                  <a:extLst>
                    <a:ext uri="{9D8B030D-6E8A-4147-A177-3AD203B41FA5}">
                      <a16:colId xmlns:a16="http://schemas.microsoft.com/office/drawing/2014/main" val="2456552316"/>
                    </a:ext>
                  </a:extLst>
                </a:gridCol>
                <a:gridCol w="1141655">
                  <a:extLst>
                    <a:ext uri="{9D8B030D-6E8A-4147-A177-3AD203B41FA5}">
                      <a16:colId xmlns:a16="http://schemas.microsoft.com/office/drawing/2014/main" val="2327174630"/>
                    </a:ext>
                  </a:extLst>
                </a:gridCol>
                <a:gridCol w="1866759">
                  <a:extLst>
                    <a:ext uri="{9D8B030D-6E8A-4147-A177-3AD203B41FA5}">
                      <a16:colId xmlns:a16="http://schemas.microsoft.com/office/drawing/2014/main" val="1100051595"/>
                    </a:ext>
                  </a:extLst>
                </a:gridCol>
                <a:gridCol w="1172510">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$74,653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1E03227-5352-7EEB-9BAD-33768F80495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A1B17F0-A7A6-57ED-550E-70F1350DA695}"/>
              </a:ext>
            </a:extLst>
          </p:cNvPr>
          <p:cNvGraphicFramePr>
            <a:graphicFrameLocks noGrp="1"/>
          </p:cNvGraphicFramePr>
          <p:nvPr>
            <p:extLst>
              <p:ext uri="{D42A27DB-BD31-4B8C-83A1-F6EECF244321}">
                <p14:modId xmlns:p14="http://schemas.microsoft.com/office/powerpoint/2010/main" val="2565367179"/>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12/09/2026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DB03BEF-E3C2-2918-E851-2343DF4A9520}"/>
              </a:ext>
            </a:extLst>
          </p:cNvPr>
          <p:cNvGraphicFramePr>
            <a:graphicFrameLocks noGrp="1"/>
          </p:cNvGraphicFramePr>
          <p:nvPr>
            <p:extLst>
              <p:ext uri="{D42A27DB-BD31-4B8C-83A1-F6EECF244321}">
                <p14:modId xmlns:p14="http://schemas.microsoft.com/office/powerpoint/2010/main" val="3588114032"/>
              </p:ext>
            </p:extLst>
          </p:nvPr>
        </p:nvGraphicFramePr>
        <p:xfrm>
          <a:off x="4964837" y="1698894"/>
          <a:ext cx="7152058" cy="2998490"/>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3469">
                  <a:extLst>
                    <a:ext uri="{9D8B030D-6E8A-4147-A177-3AD203B41FA5}">
                      <a16:colId xmlns:a16="http://schemas.microsoft.com/office/drawing/2014/main" val="2042261034"/>
                    </a:ext>
                  </a:extLst>
                </a:gridCol>
                <a:gridCol w="3439040">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 </a:t>
                      </a: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Notes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063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u="none" strike="noStrike">
                          <a:effectLst/>
                          <a:latin typeface="Aptos" panose="020B0004020202020204" pitchFamily="34" charset="0"/>
                          <a:cs typeface="Arial" panose="020B0604020202020204" pitchFamily="34" charset="0"/>
                        </a:rPr>
                        <a:t>Angular Upgrade</a:t>
                      </a:r>
                      <a:endParaRPr lang="en-US" sz="850">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08/19</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08/26</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09/09</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nSpc>
                          <a:spcPct val="100000"/>
                        </a:lnSpc>
                        <a:spcAft>
                          <a:spcPts val="0"/>
                        </a:spcAft>
                        <a:buFont typeface="Arial" panose="020B0604020202020204" pitchFamily="34" charset="0"/>
                        <a:buChar char="•"/>
                      </a:pPr>
                      <a:r>
                        <a:rPr lang="en-US" sz="850" b="0" i="0" u="none" strike="noStrike" kern="100" noProof="0">
                          <a:solidFill>
                            <a:schemeClr val="dk1"/>
                          </a:solidFill>
                          <a:effectLst/>
                          <a:latin typeface="Aptos" panose="020B0004020202020204" pitchFamily="34" charset="0"/>
                          <a:cs typeface="Arial" panose="020B0604020202020204" pitchFamily="34" charset="0"/>
                        </a:rPr>
                        <a:t>09/04 - Angular upgrade moved to 09/16 due to the issues with the Add-A-Pet project change</a:t>
                      </a:r>
                    </a:p>
                    <a:p>
                      <a:pPr marL="171450" marR="0" lvl="0" indent="-171450">
                        <a:lnSpc>
                          <a:spcPct val="100000"/>
                        </a:lnSpc>
                        <a:spcAft>
                          <a:spcPts val="0"/>
                        </a:spcAft>
                        <a:buFont typeface="Arial" panose="020B0604020202020204" pitchFamily="34" charset="0"/>
                        <a:buChar char="•"/>
                      </a:pPr>
                      <a:r>
                        <a:rPr lang="en-US" sz="850" b="0" i="0" u="none" strike="noStrike" kern="100" noProof="0">
                          <a:solidFill>
                            <a:schemeClr val="dk1"/>
                          </a:solidFill>
                          <a:effectLst/>
                          <a:latin typeface="Aptos" panose="020B0004020202020204" pitchFamily="34" charset="0"/>
                          <a:cs typeface="Arial" panose="020B0604020202020204" pitchFamily="34" charset="0"/>
                        </a:rPr>
                        <a:t>09/16 – Angular Upgrade deployment 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8223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cs typeface="Arial" panose="020B0604020202020204" pitchFamily="34" charset="0"/>
                        </a:rPr>
                        <a:t>Login/Access/Registration Reliability - Member Portal - Page refresh redirects to Home Page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latinLnBrk="0" hangingPunct="1">
                        <a:lnSpc>
                          <a:spcPct val="100000"/>
                        </a:lnSpc>
                        <a:spcAft>
                          <a:spcPts val="0"/>
                        </a:spcAft>
                        <a:buFont typeface="Arial" panose="020B0604020202020204" pitchFamily="34" charset="0"/>
                        <a:buChar char="•"/>
                      </a:pPr>
                      <a:r>
                        <a:rPr lang="en-US" sz="900"/>
                        <a:t>Prod move planned for 09/16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38513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u="none" strike="noStrike">
                          <a:effectLst/>
                          <a:latin typeface="Aptos" panose="020B0004020202020204" pitchFamily="34" charset="0"/>
                        </a:rPr>
                        <a:t>Payments / enrollment / billing reliability</a:t>
                      </a:r>
                      <a:endParaRPr lang="en-US" sz="850" kern="1200">
                        <a:solidFill>
                          <a:schemeClr val="dk1"/>
                        </a:solidFill>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300"/>
                        </a:spcBef>
                        <a:spcAft>
                          <a:spcPts val="0"/>
                        </a:spcAft>
                        <a:buClrTx/>
                        <a:buSzTx/>
                        <a:buFont typeface="Arial" panose="020B0604020202020204" pitchFamily="34" charset="0"/>
                        <a:buNone/>
                        <a:tabLst/>
                        <a:defRPr/>
                      </a:pPr>
                      <a:r>
                        <a:rPr lang="en-US" sz="900" kern="1200" noProof="0">
                          <a:solidFill>
                            <a:schemeClr val="dk1"/>
                          </a:solidFill>
                          <a:latin typeface="+mn-lt"/>
                          <a:ea typeface="+mn-ea"/>
                          <a:cs typeface="+mn-cs"/>
                        </a:rPr>
                        <a:t>Prod move planned for below on 09/16 -</a:t>
                      </a:r>
                    </a:p>
                    <a:p>
                      <a:pPr marL="171450" marR="0" lvl="0" indent="-171450" algn="l" defTabSz="914400" rtl="0" eaLnBrk="1" fontAlgn="base" latinLnBrk="0" hangingPunct="1">
                        <a:lnSpc>
                          <a:spcPct val="100000"/>
                        </a:lnSpc>
                        <a:spcBef>
                          <a:spcPts val="300"/>
                        </a:spcBef>
                        <a:spcAft>
                          <a:spcPts val="0"/>
                        </a:spcAft>
                        <a:buClrTx/>
                        <a:buSzTx/>
                        <a:buFont typeface="Arial" panose="020B0604020202020204" pitchFamily="34" charset="0"/>
                        <a:buChar char="•"/>
                        <a:tabLst/>
                        <a:defRPr/>
                      </a:pPr>
                      <a:r>
                        <a:rPr lang="en-US" sz="900" kern="1200" noProof="0">
                          <a:solidFill>
                            <a:schemeClr val="dk1"/>
                          </a:solidFill>
                          <a:latin typeface="+mn-lt"/>
                          <a:ea typeface="+mn-ea"/>
                          <a:cs typeface="+mn-cs"/>
                        </a:rPr>
                        <a:t>Improve Payment History UX screen when there is no payment</a:t>
                      </a:r>
                    </a:p>
                    <a:p>
                      <a:pPr marL="171450" marR="0" lvl="0" indent="-171450" algn="l" defTabSz="914400" rtl="0" eaLnBrk="1" fontAlgn="base" latinLnBrk="0" hangingPunct="1">
                        <a:lnSpc>
                          <a:spcPct val="100000"/>
                        </a:lnSpc>
                        <a:spcBef>
                          <a:spcPts val="300"/>
                        </a:spcBef>
                        <a:spcAft>
                          <a:spcPts val="0"/>
                        </a:spcAft>
                        <a:buClrTx/>
                        <a:buSzTx/>
                        <a:buFont typeface="Arial" panose="020B0604020202020204" pitchFamily="34" charset="0"/>
                        <a:buChar char="•"/>
                        <a:tabLst/>
                        <a:defRPr/>
                      </a:pPr>
                      <a:r>
                        <a:rPr lang="en-US" sz="900" kern="1200">
                          <a:solidFill>
                            <a:schemeClr val="dk1"/>
                          </a:solidFill>
                          <a:latin typeface="+mn-lt"/>
                          <a:ea typeface="+mn-ea"/>
                          <a:cs typeface="+mn-cs"/>
                        </a:rPr>
                        <a:t>Renewal Confirmation page shows "Next" button label instead of "Submit"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Remove chatty / redundant API calls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Arial" panose="020B0604020202020204" pitchFamily="34" charset="0"/>
                        </a:rPr>
                        <a:t>09/23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Aptos" panose="020B0004020202020204" pitchFamily="34" charset="0"/>
                          <a:cs typeface="Arial" panose="020B0604020202020204" pitchFamily="34" charset="0"/>
                        </a:rPr>
                        <a:t>Deployed on 09/23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Claim submission reliability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Arial" panose="020B0604020202020204" pitchFamily="34" charset="0"/>
                        </a:rPr>
                        <a:t>Development is completed.  Release planned for 09/16.</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b="0" i="0">
                          <a:solidFill>
                            <a:srgbClr val="000000"/>
                          </a:solidFill>
                          <a:effectLst/>
                          <a:latin typeface="Aptos" panose="020B0004020202020204" pitchFamily="34" charset="0"/>
                          <a:cs typeface="Arial" panose="020B0604020202020204" pitchFamily="34" charset="0"/>
                        </a:rPr>
                        <a:t>Migrated policies not displaying claims prior to migration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Code cleanup / memory leak / type safety</a:t>
                      </a:r>
                    </a:p>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pitchFamily="34" charset="0"/>
                          <a:cs typeface="Arial" panose="020B0604020202020204" pitchFamily="34" charset="0"/>
                        </a:rPr>
                        <a:t>09/23</a:t>
                      </a:r>
                    </a:p>
                    <a:p>
                      <a:pPr algn="ctr"/>
                      <a:r>
                        <a:rPr lang="en-US" sz="850" strike="noStrike">
                          <a:latin typeface="Aptos" panose="020B0004020202020204" pitchFamily="34" charset="0"/>
                          <a:cs typeface="Arial" panose="020B0604020202020204" pitchFamily="34" charset="0"/>
                        </a:rPr>
                        <a:t>09/29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strike="noStrike" kern="1200">
                          <a:solidFill>
                            <a:schemeClr val="tx1"/>
                          </a:solidFill>
                          <a:effectLst/>
                          <a:latin typeface="Aptos" panose="020B0004020202020204" pitchFamily="34" charset="0"/>
                          <a:ea typeface="+mn-ea"/>
                          <a:cs typeface="Arial" panose="020B0604020202020204" pitchFamily="34" charset="0"/>
                        </a:rPr>
                        <a:t>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bl>
          </a:graphicData>
        </a:graphic>
      </p:graphicFrame>
      <p:graphicFrame>
        <p:nvGraphicFramePr>
          <p:cNvPr id="29" name="Table 28">
            <a:extLst>
              <a:ext uri="{FF2B5EF4-FFF2-40B4-BE49-F238E27FC236}">
                <a16:creationId xmlns:a16="http://schemas.microsoft.com/office/drawing/2014/main" id="{62D7E36D-8964-12CA-6DF7-38CCCDF27BA3}"/>
              </a:ext>
            </a:extLst>
          </p:cNvPr>
          <p:cNvGraphicFramePr>
            <a:graphicFrameLocks noGrp="1"/>
          </p:cNvGraphicFramePr>
          <p:nvPr>
            <p:extLst>
              <p:ext uri="{D42A27DB-BD31-4B8C-83A1-F6EECF244321}">
                <p14:modId xmlns:p14="http://schemas.microsoft.com/office/powerpoint/2010/main" val="443129956"/>
              </p:ext>
            </p:extLst>
          </p:nvPr>
        </p:nvGraphicFramePr>
        <p:xfrm>
          <a:off x="4952245" y="4697384"/>
          <a:ext cx="7172250" cy="1324356"/>
        </p:xfrm>
        <a:graphic>
          <a:graphicData uri="http://schemas.openxmlformats.org/drawingml/2006/table">
            <a:tbl>
              <a:tblPr>
                <a:tableStyleId>{5C22544A-7EE6-4342-B048-85BDC9FD1C3A}</a:tableStyleId>
              </a:tblPr>
              <a:tblGrid>
                <a:gridCol w="2654403">
                  <a:extLst>
                    <a:ext uri="{9D8B030D-6E8A-4147-A177-3AD203B41FA5}">
                      <a16:colId xmlns:a16="http://schemas.microsoft.com/office/drawing/2014/main" val="2456552316"/>
                    </a:ext>
                  </a:extLst>
                </a:gridCol>
                <a:gridCol w="518776">
                  <a:extLst>
                    <a:ext uri="{9D8B030D-6E8A-4147-A177-3AD203B41FA5}">
                      <a16:colId xmlns:a16="http://schemas.microsoft.com/office/drawing/2014/main" val="1100051595"/>
                    </a:ext>
                  </a:extLst>
                </a:gridCol>
                <a:gridCol w="576172">
                  <a:extLst>
                    <a:ext uri="{9D8B030D-6E8A-4147-A177-3AD203B41FA5}">
                      <a16:colId xmlns:a16="http://schemas.microsoft.com/office/drawing/2014/main" val="2042261034"/>
                    </a:ext>
                  </a:extLst>
                </a:gridCol>
                <a:gridCol w="3422899">
                  <a:extLst>
                    <a:ext uri="{9D8B030D-6E8A-4147-A177-3AD203B41FA5}">
                      <a16:colId xmlns:a16="http://schemas.microsoft.com/office/drawing/2014/main" val="2815874248"/>
                    </a:ext>
                  </a:extLst>
                </a:gridCol>
              </a:tblGrid>
              <a:tr h="263486">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2514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Project remains yellow due to pending approval for Q4 scope and funding</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Aptos" panose="020B0004020202020204" pitchFamily="34" charset="0"/>
                          <a:ea typeface="+mn-ea"/>
                          <a:cs typeface="+mn-cs"/>
                        </a:rPr>
                        <a:t>08/31</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Aptos" panose="020B0004020202020204" pitchFamily="34" charset="0"/>
                          <a:ea typeface="+mn-ea"/>
                          <a:cs typeface="+mn-cs"/>
                        </a:rPr>
                        <a:t>09/04</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Aptos" panose="020B0004020202020204" pitchFamily="34" charset="0"/>
                          <a:ea typeface="+mn-ea"/>
                          <a:cs typeface="+mn-cs"/>
                        </a:rPr>
                        <a:t>09/18</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Aptos" panose="020B0004020202020204" pitchFamily="34" charset="0"/>
                          <a:ea typeface="+mn-ea"/>
                          <a:cs typeface="+mn-cs"/>
                        </a:rPr>
                        <a:t>09/30</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Aptos" panose="020B0004020202020204" pitchFamily="34" charset="0"/>
                          <a:ea typeface="+mn-ea"/>
                          <a:cs typeface="+mn-cs"/>
                        </a:rPr>
                        <a:t>10/09</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Aptos" panose="020B0004020202020204" pitchFamily="34" charset="0"/>
                          <a:ea typeface="+mn-ea"/>
                          <a:cs typeface="+mn-cs"/>
                        </a:rPr>
                        <a:t>10/16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b="0" strike="noStrike" kern="1200">
                          <a:solidFill>
                            <a:schemeClr val="tx1"/>
                          </a:solidFill>
                          <a:effectLst/>
                          <a:latin typeface="Aptos" panose="020B0004020202020204" pitchFamily="34" charset="0"/>
                          <a:ea typeface="+mn-ea"/>
                          <a:cs typeface="+mn-cs"/>
                        </a:rPr>
                        <a:t>Resources are allocated till Sep with the current budget of 75K for Portal Stability. Need more funding for the work planned for Q4.</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a:latin typeface="Aptos" panose="020B0004020202020204" pitchFamily="34" charset="0"/>
                        </a:rPr>
                        <a:t>CR will be submitted once the additional scope is received for Q4 portal stability work</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b="0" strike="noStrike" kern="1200">
                          <a:solidFill>
                            <a:schemeClr val="tx1"/>
                          </a:solidFill>
                          <a:effectLst/>
                          <a:latin typeface="Aptos" panose="020B0004020202020204" pitchFamily="34" charset="0"/>
                          <a:ea typeface="+mn-ea"/>
                          <a:cs typeface="+mn-cs"/>
                        </a:rPr>
                        <a:t>Team finalized the Q4 scope to be Portal on-prem DB de-commission but awaiting funding approval</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5345549"/>
                  </a:ext>
                </a:extLst>
              </a:tr>
            </a:tbl>
          </a:graphicData>
        </a:graphic>
      </p:graphicFrame>
      <p:sp>
        <p:nvSpPr>
          <p:cNvPr id="33" name="Flowchart: Connector 32">
            <a:extLst>
              <a:ext uri="{FF2B5EF4-FFF2-40B4-BE49-F238E27FC236}">
                <a16:creationId xmlns:a16="http://schemas.microsoft.com/office/drawing/2014/main" id="{796215AD-3D37-0D0E-0280-E1CE56486CA4}"/>
              </a:ext>
            </a:extLst>
          </p:cNvPr>
          <p:cNvSpPr/>
          <p:nvPr/>
        </p:nvSpPr>
        <p:spPr>
          <a:xfrm>
            <a:off x="6737486" y="656056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47FE1F8C-B2D2-1575-CF7B-E005C480EB90}"/>
              </a:ext>
            </a:extLst>
          </p:cNvPr>
          <p:cNvSpPr/>
          <p:nvPr/>
        </p:nvSpPr>
        <p:spPr>
          <a:xfrm>
            <a:off x="7805364" y="6560838"/>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1CC0A5-3BEC-3A51-5642-3DDC3DB43D2C}"/>
              </a:ext>
            </a:extLst>
          </p:cNvPr>
          <p:cNvSpPr/>
          <p:nvPr/>
        </p:nvSpPr>
        <p:spPr>
          <a:xfrm>
            <a:off x="8815408" y="654883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40693A9-C57D-8C68-35A4-963010247DA2}"/>
              </a:ext>
            </a:extLst>
          </p:cNvPr>
          <p:cNvSpPr txBox="1"/>
          <p:nvPr/>
        </p:nvSpPr>
        <p:spPr>
          <a:xfrm>
            <a:off x="159545" y="1736087"/>
            <a:ext cx="4743293" cy="5163401"/>
          </a:xfrm>
          <a:prstGeom prst="rect">
            <a:avLst/>
          </a:prstGeom>
          <a:noFill/>
        </p:spPr>
        <p:txBody>
          <a:bodyPr wrap="square" lIns="91440" tIns="45720" rIns="91440" bIns="45720" anchor="t">
            <a:spAutoFit/>
          </a:bodyPr>
          <a:lstStyle/>
          <a:p>
            <a:r>
              <a:rPr lang="en-US" sz="1050" b="1">
                <a:latin typeface="Aptos" panose="020B0004020202020204" pitchFamily="34" charset="0"/>
              </a:rPr>
              <a:t>Status: </a:t>
            </a:r>
          </a:p>
          <a:p>
            <a:r>
              <a:rPr lang="en-US" sz="1000" kern="100">
                <a:latin typeface="Aptos" panose="020B0004020202020204" pitchFamily="34" charset="0"/>
                <a:cs typeface="Times New Roman"/>
              </a:rPr>
              <a:t>The scope of work Identified for $75K is completed by 09/30. </a:t>
            </a:r>
          </a:p>
          <a:p>
            <a:endParaRPr lang="en-US" sz="1000" kern="100">
              <a:latin typeface="Aptos" panose="020B0004020202020204" pitchFamily="34" charset="0"/>
              <a:cs typeface="Times New Roman"/>
            </a:endParaRPr>
          </a:p>
          <a:p>
            <a:r>
              <a:rPr lang="en-US" sz="1000" kern="100">
                <a:latin typeface="Aptos" panose="020B0004020202020204" pitchFamily="34" charset="0"/>
                <a:cs typeface="Times New Roman"/>
              </a:rPr>
              <a:t>Overall Status: </a:t>
            </a:r>
            <a:r>
              <a:rPr lang="en-US" sz="1000" kern="100">
                <a:highlight>
                  <a:srgbClr val="FFFF00"/>
                </a:highlight>
                <a:latin typeface="Aptos" panose="020B0004020202020204" pitchFamily="34" charset="0"/>
                <a:cs typeface="Times New Roman"/>
              </a:rPr>
              <a:t>Yellow </a:t>
            </a:r>
            <a:r>
              <a:rPr lang="en-US" sz="1000" kern="100">
                <a:latin typeface="Aptos" panose="020B0004020202020204" pitchFamily="34" charset="0"/>
                <a:cs typeface="Times New Roman"/>
              </a:rPr>
              <a:t>–,</a:t>
            </a:r>
          </a:p>
          <a:p>
            <a:pPr algn="just" fontAlgn="t">
              <a:lnSpc>
                <a:spcPct val="100000"/>
              </a:lnSpc>
              <a:buNone/>
            </a:pPr>
            <a:r>
              <a:rPr lang="en-US" sz="1000" b="1">
                <a:latin typeface="Aptos" panose="020B0004020202020204" pitchFamily="34" charset="0"/>
              </a:rPr>
              <a:t>Approval of scope and funding, or a leadership decision that no Portal Stability work will be pursued in Q4, to enable appropriate resource and portfolio planning.</a:t>
            </a:r>
          </a:p>
          <a:p>
            <a:pPr algn="just"/>
            <a:r>
              <a:rPr lang="en-US" sz="1000" b="1">
                <a:latin typeface="Aptos" panose="020B0004020202020204" pitchFamily="34" charset="0"/>
              </a:rPr>
              <a:t>Path to Green </a:t>
            </a:r>
            <a:r>
              <a:rPr lang="en-US" sz="1000">
                <a:latin typeface="Aptos" panose="020B0004020202020204" pitchFamily="34" charset="0"/>
              </a:rPr>
              <a:t>– Secure approval for the additional funding request and align resource plans with the approved budget by the start of the Q4 execution phase to ensure delivery commitments remain achievable and project timelines are maintained.</a:t>
            </a:r>
          </a:p>
          <a:p>
            <a:endParaRPr lang="en-US" sz="1000">
              <a:latin typeface="Aptos" panose="020B0004020202020204" pitchFamily="34" charset="0"/>
            </a:endParaRP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Widget / security / version upgrades : Prod Move - 09/29 - </a:t>
            </a:r>
            <a:r>
              <a:rPr lang="en-US" sz="1000" b="1">
                <a:solidFill>
                  <a:srgbClr val="000000"/>
                </a:solidFill>
                <a:latin typeface="Aptos" panose="020B0004020202020204" pitchFamily="34" charset="0"/>
                <a:cs typeface="Arial" panose="020B0604020202020204" pitchFamily="34" charset="0"/>
              </a:rPr>
              <a:t>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Code cleanup / memory leak / type safety: Prod Move - 09/29 - </a:t>
            </a:r>
            <a:r>
              <a:rPr lang="en-US" sz="1000" b="1">
                <a:solidFill>
                  <a:srgbClr val="000000"/>
                </a:solidFill>
                <a:latin typeface="Aptos" panose="020B0004020202020204" pitchFamily="34" charset="0"/>
                <a:cs typeface="Arial" panose="020B0604020202020204" pitchFamily="34" charset="0"/>
              </a:rPr>
              <a:t>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Remove chatty / redundant API calls: Prod Move </a:t>
            </a:r>
            <a:r>
              <a:rPr lang="en-US" sz="1000" b="1">
                <a:solidFill>
                  <a:srgbClr val="000000"/>
                </a:solidFill>
                <a:latin typeface="Aptos" panose="020B0004020202020204" pitchFamily="34" charset="0"/>
                <a:cs typeface="Arial" panose="020B0604020202020204" pitchFamily="34" charset="0"/>
              </a:rPr>
              <a:t>09/23 - 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CI/CD Modernization: Prod Move 12/09 – </a:t>
            </a:r>
            <a:r>
              <a:rPr lang="en-US" sz="1000" b="1">
                <a:solidFill>
                  <a:srgbClr val="000000"/>
                </a:solidFill>
                <a:highlight>
                  <a:srgbClr val="FFFF00"/>
                </a:highlight>
                <a:latin typeface="Aptos" panose="020B0004020202020204" pitchFamily="34" charset="0"/>
                <a:cs typeface="Arial" panose="020B0604020202020204" pitchFamily="34" charset="0"/>
              </a:rPr>
              <a:t>Moved to RUN effort </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Claim submission reliability: Prod Move </a:t>
            </a:r>
            <a:r>
              <a:rPr lang="en-US" sz="1000" b="1">
                <a:solidFill>
                  <a:srgbClr val="000000"/>
                </a:solidFill>
                <a:latin typeface="Aptos" panose="020B0004020202020204" pitchFamily="34" charset="0"/>
                <a:cs typeface="Arial" panose="020B0604020202020204" pitchFamily="34" charset="0"/>
              </a:rPr>
              <a:t>09/16 - 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Payments / enrollment / billing reliability: Prod Move </a:t>
            </a:r>
            <a:r>
              <a:rPr lang="en-US" sz="1000" b="1">
                <a:solidFill>
                  <a:srgbClr val="000000"/>
                </a:solidFill>
                <a:latin typeface="Aptos" panose="020B0004020202020204" pitchFamily="34" charset="0"/>
                <a:cs typeface="Arial" panose="020B0604020202020204" pitchFamily="34" charset="0"/>
              </a:rPr>
              <a:t>09/16 - 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Login/Access/Registration Reliability - Member Portal - Page refresh redirects to Home Page – Prod Move – </a:t>
            </a:r>
            <a:r>
              <a:rPr lang="en-US" sz="1000" b="1">
                <a:solidFill>
                  <a:srgbClr val="000000"/>
                </a:solidFill>
                <a:latin typeface="Aptos" panose="020B0004020202020204" pitchFamily="34" charset="0"/>
                <a:cs typeface="Arial" panose="020B0604020202020204" pitchFamily="34" charset="0"/>
              </a:rPr>
              <a:t>09/16 - Completed</a:t>
            </a:r>
          </a:p>
          <a:p>
            <a:pPr marL="171450" indent="-171450">
              <a:lnSpc>
                <a:spcPct val="98000"/>
              </a:lnSpc>
              <a:buFont typeface="Arial" panose="020B0604020202020204" pitchFamily="34" charset="0"/>
              <a:buChar char="•"/>
              <a:defRPr/>
            </a:pPr>
            <a:r>
              <a:rPr lang="en-US" sz="1000">
                <a:solidFill>
                  <a:srgbClr val="000000"/>
                </a:solidFill>
                <a:latin typeface="Aptos" panose="020B0004020202020204" pitchFamily="34" charset="0"/>
                <a:cs typeface="Arial" panose="020B0604020202020204" pitchFamily="34" charset="0"/>
              </a:rPr>
              <a:t>Angular Upgrade –</a:t>
            </a:r>
            <a:r>
              <a:rPr lang="en-US" sz="1000" b="1">
                <a:solidFill>
                  <a:srgbClr val="000000"/>
                </a:solidFill>
                <a:latin typeface="Aptos" panose="020B0004020202020204" pitchFamily="34" charset="0"/>
                <a:cs typeface="Arial" panose="020B0604020202020204" pitchFamily="34" charset="0"/>
              </a:rPr>
              <a:t> 09/16 - Completed</a:t>
            </a:r>
          </a:p>
          <a:p>
            <a:pPr marL="171450" indent="-171450">
              <a:lnSpc>
                <a:spcPct val="98000"/>
              </a:lnSpc>
              <a:buFont typeface="Arial" panose="020B0604020202020204" pitchFamily="34" charset="0"/>
              <a:buChar char="•"/>
              <a:defRPr/>
            </a:pPr>
            <a:endParaRPr lang="en-US" sz="850">
              <a:solidFill>
                <a:srgbClr val="000000"/>
              </a:solidFill>
              <a:latin typeface="Aptos" panose="020B0004020202020204" pitchFamily="34" charset="0"/>
              <a:cs typeface="Arial" panose="020B0604020202020204" pitchFamily="34" charset="0"/>
            </a:endParaRPr>
          </a:p>
          <a:p>
            <a:pPr algn="just"/>
            <a:r>
              <a:rPr lang="en-US" sz="1000" b="1">
                <a:latin typeface="Aptos" panose="020B0004020202020204" pitchFamily="34" charset="0"/>
              </a:rPr>
              <a:t>Finalized scope items for Q4 – Pending approval</a:t>
            </a:r>
          </a:p>
          <a:p>
            <a:pPr marL="171450" indent="-171450" algn="just">
              <a:buFont typeface="Arial" panose="020B0604020202020204" pitchFamily="34" charset="0"/>
              <a:buChar char="•"/>
            </a:pPr>
            <a:r>
              <a:rPr lang="en-US" sz="1000" b="1">
                <a:latin typeface="Aptos" panose="020B0004020202020204" pitchFamily="34" charset="0"/>
              </a:rPr>
              <a:t>Portal on-prem DB De-commission </a:t>
            </a:r>
          </a:p>
          <a:p>
            <a:pPr marL="171450" indent="-171450">
              <a:buFont typeface="Arial" panose="020B0604020202020204" pitchFamily="34" charset="0"/>
              <a:buChar char="•"/>
            </a:pPr>
            <a:endParaRPr lang="en-US" sz="850">
              <a:latin typeface="Aptos" panose="020B0004020202020204" pitchFamily="34" charset="0"/>
            </a:endParaRPr>
          </a:p>
          <a:p>
            <a:pPr marL="171450" indent="-171450">
              <a:buFont typeface="Arial" panose="020B0604020202020204" pitchFamily="34" charset="0"/>
              <a:buChar char="•"/>
            </a:pPr>
            <a:r>
              <a:rPr lang="en-US" sz="1000" b="1">
                <a:latin typeface="Aptos" panose="020B0004020202020204" pitchFamily="34" charset="0"/>
              </a:rPr>
              <a:t>Requested team to provide the business/customer value as well as baseline metrics, measurement of success for each of the work that got delivered for $75K by end of Sep 2026.</a:t>
            </a:r>
          </a:p>
          <a:p>
            <a:pPr marL="628650" lvl="1" indent="-171450">
              <a:buFont typeface="Courier New" panose="02070309020205020404" pitchFamily="49" charset="0"/>
              <a:buChar char="o"/>
            </a:pPr>
            <a:endParaRPr lang="en-US" sz="900"/>
          </a:p>
          <a:p>
            <a:pPr lvl="1"/>
            <a:endParaRPr lang="en-US" sz="900"/>
          </a:p>
          <a:p>
            <a:pPr marL="628650" lvl="1" indent="-171450">
              <a:buFont typeface="Courier New" panose="02070309020205020404" pitchFamily="49" charset="0"/>
              <a:buChar char="o"/>
            </a:pPr>
            <a:endParaRPr lang="en-US" sz="900"/>
          </a:p>
          <a:p>
            <a:pPr marL="628650" lvl="1" indent="-171450">
              <a:buFont typeface="Courier New" panose="02070309020205020404" pitchFamily="49" charset="0"/>
              <a:buChar char="o"/>
            </a:pPr>
            <a:endParaRPr lang="en-US" sz="900"/>
          </a:p>
          <a:p>
            <a:pPr marL="628650" lvl="1" indent="-171450">
              <a:buFont typeface="Courier New" panose="02070309020205020404" pitchFamily="49" charset="0"/>
              <a:buChar char="o"/>
            </a:pPr>
            <a:endParaRPr lang="en-US" sz="900"/>
          </a:p>
          <a:p>
            <a:pPr lvl="0"/>
            <a:endParaRPr lang="en-US" sz="900" kern="100">
              <a:cs typeface="Times New Roman"/>
            </a:endParaRPr>
          </a:p>
        </p:txBody>
      </p:sp>
      <p:sp>
        <p:nvSpPr>
          <p:cNvPr id="3" name="TextBox 2">
            <a:extLst>
              <a:ext uri="{FF2B5EF4-FFF2-40B4-BE49-F238E27FC236}">
                <a16:creationId xmlns:a16="http://schemas.microsoft.com/office/drawing/2014/main" id="{A72C3C10-D181-C6A1-F070-47E9A8D04309}"/>
              </a:ext>
            </a:extLst>
          </p:cNvPr>
          <p:cNvSpPr txBox="1"/>
          <p:nvPr/>
        </p:nvSpPr>
        <p:spPr>
          <a:xfrm>
            <a:off x="9723593" y="154295"/>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Nidia Gudino</a:t>
            </a:r>
          </a:p>
          <a:p>
            <a:r>
              <a:rPr lang="en-US"/>
              <a:t> </a:t>
            </a:r>
          </a:p>
        </p:txBody>
      </p:sp>
      <p:sp>
        <p:nvSpPr>
          <p:cNvPr id="4" name="Flowchart: Connector 3">
            <a:extLst>
              <a:ext uri="{FF2B5EF4-FFF2-40B4-BE49-F238E27FC236}">
                <a16:creationId xmlns:a16="http://schemas.microsoft.com/office/drawing/2014/main" id="{130D0056-51EE-DBD3-B29D-5081B795EDB3}"/>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Flowchart: Connector 14">
            <a:extLst>
              <a:ext uri="{FF2B5EF4-FFF2-40B4-BE49-F238E27FC236}">
                <a16:creationId xmlns:a16="http://schemas.microsoft.com/office/drawing/2014/main" id="{72304ADC-D361-FEB7-0E11-9D8BFD451EC0}"/>
              </a:ext>
            </a:extLst>
          </p:cNvPr>
          <p:cNvSpPr/>
          <p:nvPr/>
        </p:nvSpPr>
        <p:spPr>
          <a:xfrm>
            <a:off x="6096000"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FD3BC1DC-5010-CAF1-BC64-114A616F0A43}"/>
              </a:ext>
            </a:extLst>
          </p:cNvPr>
          <p:cNvSpPr/>
          <p:nvPr/>
        </p:nvSpPr>
        <p:spPr>
          <a:xfrm>
            <a:off x="7753966" y="5298488"/>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88B6CCD6-486F-300D-D2E0-11436C83F41C}"/>
              </a:ext>
            </a:extLst>
          </p:cNvPr>
          <p:cNvSpPr/>
          <p:nvPr/>
        </p:nvSpPr>
        <p:spPr>
          <a:xfrm>
            <a:off x="4264384" y="138749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17E0EC50-3AAF-4844-8EE2-483759716A0E}"/>
              </a:ext>
            </a:extLst>
          </p:cNvPr>
          <p:cNvSpPr/>
          <p:nvPr/>
        </p:nvSpPr>
        <p:spPr>
          <a:xfrm>
            <a:off x="5187479" y="138749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2817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00636-0EF5-E8EB-58C1-D9F4A42CA67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29F7E99-943E-2739-543F-B6BDC74753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29F7E99-943E-2739-543F-B6BDC74753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3677BB71-7FF6-D9D5-5A73-AEE25D4C08B2}"/>
              </a:ext>
            </a:extLst>
          </p:cNvPr>
          <p:cNvGraphicFramePr>
            <a:graphicFrameLocks noGrp="1"/>
          </p:cNvGraphicFramePr>
          <p:nvPr>
            <p:extLst>
              <p:ext uri="{D42A27DB-BD31-4B8C-83A1-F6EECF244321}">
                <p14:modId xmlns:p14="http://schemas.microsoft.com/office/powerpoint/2010/main" val="3925463649"/>
              </p:ext>
            </p:extLst>
          </p:nvPr>
        </p:nvGraphicFramePr>
        <p:xfrm>
          <a:off x="4958524" y="6393798"/>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8F77E20E-4890-1D0A-C79A-0042080C41D7}"/>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Long Term Stability – Scalability to 1-2M policies</a:t>
            </a:r>
            <a:br>
              <a:rPr lang="en-US"/>
            </a:br>
            <a:endParaRPr sz="1800" b="0"/>
          </a:p>
        </p:txBody>
      </p:sp>
      <p:graphicFrame>
        <p:nvGraphicFramePr>
          <p:cNvPr id="11" name="Group 513">
            <a:extLst>
              <a:ext uri="{FF2B5EF4-FFF2-40B4-BE49-F238E27FC236}">
                <a16:creationId xmlns:a16="http://schemas.microsoft.com/office/drawing/2014/main" id="{D3C3A19E-988F-11EC-E82B-4267BA8D6F8E}"/>
              </a:ext>
            </a:extLst>
          </p:cNvPr>
          <p:cNvGraphicFramePr>
            <a:graphicFrameLocks noGrp="1"/>
          </p:cNvGraphicFramePr>
          <p:nvPr>
            <p:extLst>
              <p:ext uri="{D42A27DB-BD31-4B8C-83A1-F6EECF244321}">
                <p14:modId xmlns:p14="http://schemas.microsoft.com/office/powerpoint/2010/main" val="637724739"/>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0E4B867B-F5F4-BD4F-8231-1B55AACB274E}"/>
              </a:ext>
            </a:extLst>
          </p:cNvPr>
          <p:cNvGraphicFramePr>
            <a:graphicFrameLocks noGrp="1"/>
          </p:cNvGraphicFramePr>
          <p:nvPr>
            <p:extLst>
              <p:ext uri="{D42A27DB-BD31-4B8C-83A1-F6EECF244321}">
                <p14:modId xmlns:p14="http://schemas.microsoft.com/office/powerpoint/2010/main" val="1719963656"/>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$172,318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$315,537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$487,900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EF6A726B-EDD0-D830-8E13-DC6A02F671CE}"/>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A74EAAB-3FA7-0DB4-EE30-18CD7559EA49}"/>
              </a:ext>
            </a:extLst>
          </p:cNvPr>
          <p:cNvGraphicFramePr>
            <a:graphicFrameLocks noGrp="1"/>
          </p:cNvGraphicFramePr>
          <p:nvPr>
            <p:extLst>
              <p:ext uri="{D42A27DB-BD31-4B8C-83A1-F6EECF244321}">
                <p14:modId xmlns:p14="http://schemas.microsoft.com/office/powerpoint/2010/main" val="404745256"/>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12/09/2026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524ED42-1B04-FD87-7CE2-6F9837B24058}"/>
              </a:ext>
            </a:extLst>
          </p:cNvPr>
          <p:cNvGraphicFramePr>
            <a:graphicFrameLocks noGrp="1"/>
          </p:cNvGraphicFramePr>
          <p:nvPr>
            <p:extLst>
              <p:ext uri="{D42A27DB-BD31-4B8C-83A1-F6EECF244321}">
                <p14:modId xmlns:p14="http://schemas.microsoft.com/office/powerpoint/2010/main" val="2028483774"/>
              </p:ext>
            </p:extLst>
          </p:nvPr>
        </p:nvGraphicFramePr>
        <p:xfrm>
          <a:off x="4964837" y="1768716"/>
          <a:ext cx="7152058" cy="3200433"/>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7390">
                  <a:extLst>
                    <a:ext uri="{9D8B030D-6E8A-4147-A177-3AD203B41FA5}">
                      <a16:colId xmlns:a16="http://schemas.microsoft.com/office/drawing/2014/main" val="2042261034"/>
                    </a:ext>
                  </a:extLst>
                </a:gridCol>
                <a:gridCol w="3435119">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1913">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850" kern="100">
                          <a:latin typeface="Aptos" panose="020B0004020202020204" pitchFamily="34" charset="0"/>
                          <a:cs typeface="Times New Roman"/>
                        </a:rPr>
                        <a:t>Capacity / scalability to 1-2M policies – Discovery</a:t>
                      </a:r>
                      <a:r>
                        <a:rPr lang="en-US" sz="850" b="0" kern="1200">
                          <a:solidFill>
                            <a:schemeClr val="tx1"/>
                          </a:solidFill>
                          <a:effectLst/>
                          <a:latin typeface="Aptos" panose="020B0004020202020204" pitchFamily="34" charset="0"/>
                          <a:ea typeface="+mn-ea"/>
                          <a:cs typeface="+mn-cs"/>
                        </a:rPr>
                        <a:t> Phase</a:t>
                      </a:r>
                      <a:endParaRPr lang="en-US" sz="850" kern="100">
                        <a:latin typeface="Aptos" panose="020B0004020202020204" pitchFamily="34" charset="0"/>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07/31/26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rPr>
                        <a:t>Exavalu team completed Discovery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82234">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850" kern="100">
                          <a:solidFill>
                            <a:schemeClr val="dk1"/>
                          </a:solidFill>
                          <a:latin typeface="Aptos" panose="020B0004020202020204" pitchFamily="34" charset="0"/>
                          <a:ea typeface="+mn-ea"/>
                          <a:cs typeface="Times New Roman"/>
                        </a:rPr>
                        <a:t>Detailed Project plan and Solution Approach document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Internal team review is completed.  Will review with Sastry and Ronda this week.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33228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Review of Solution Approach and project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rPr>
                        <a:t>Reviewed with Sastry and Ronda. Working on the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latin typeface="Aptos" panose="020B0004020202020204" pitchFamily="34" charset="0"/>
                          <a:ea typeface="+mn-ea"/>
                          <a:cs typeface="+mn-cs"/>
                        </a:rPr>
                        <a:t>Snowflake Infra Upgrade- KPI  Queries</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08/24/26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latin typeface="Aptos" panose="020B0004020202020204" pitchFamily="34" charset="0"/>
                          <a:ea typeface="+mn-ea"/>
                          <a:cs typeface="+mn-cs"/>
                        </a:rPr>
                        <a:t>RS2SNF-Architecture and LLD</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09/02/26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850" b="0" i="0" u="none" strike="noStrike" kern="100" noProof="0">
                          <a:solidFill>
                            <a:schemeClr val="dk1"/>
                          </a:solidFill>
                          <a:effectLst/>
                          <a:latin typeface="Aptos" panose="020B000402020202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latin typeface="Aptos" panose="020B0004020202020204" pitchFamily="34" charset="0"/>
                          <a:ea typeface="+mn-ea"/>
                          <a:cs typeface="+mn-cs"/>
                        </a:rPr>
                        <a:t>GIN - Phase 1 solutions</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Aptos" panose="020B0004020202020204" pitchFamily="34" charset="0"/>
                        </a:rPr>
                        <a:t>10/14/26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850" b="0" i="0" u="none" strike="noStrike" kern="100">
                          <a:solidFill>
                            <a:schemeClr val="dk1"/>
                          </a:solidFill>
                          <a:effectLst/>
                          <a:latin typeface="Aptos" panose="020B0004020202020204" pitchFamily="34" charset="0"/>
                          <a:ea typeface="+mn-ea"/>
                          <a:cs typeface="+mn-cs"/>
                        </a:rPr>
                        <a:t>    Development completed. Performance testing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latin typeface="Aptos" panose="020B0004020202020204" pitchFamily="34" charset="0"/>
                          <a:ea typeface="+mn-ea"/>
                          <a:cs typeface="+mn-cs"/>
                        </a:rPr>
                        <a:t>GIN - Phase 2  Long Term Solution – Process Claim Transaction </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11/11/26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Work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Phase 2 – ECIF Daily Report</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11/11/26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Work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0473828"/>
                  </a:ext>
                </a:extLst>
              </a:tr>
            </a:tbl>
          </a:graphicData>
        </a:graphic>
      </p:graphicFrame>
      <p:graphicFrame>
        <p:nvGraphicFramePr>
          <p:cNvPr id="29" name="Table 28">
            <a:extLst>
              <a:ext uri="{FF2B5EF4-FFF2-40B4-BE49-F238E27FC236}">
                <a16:creationId xmlns:a16="http://schemas.microsoft.com/office/drawing/2014/main" id="{834A5C42-524C-1A36-F1D6-A89E382ED2A8}"/>
              </a:ext>
            </a:extLst>
          </p:cNvPr>
          <p:cNvGraphicFramePr>
            <a:graphicFrameLocks noGrp="1"/>
          </p:cNvGraphicFramePr>
          <p:nvPr>
            <p:extLst>
              <p:ext uri="{D42A27DB-BD31-4B8C-83A1-F6EECF244321}">
                <p14:modId xmlns:p14="http://schemas.microsoft.com/office/powerpoint/2010/main" val="1710813081"/>
              </p:ext>
            </p:extLst>
          </p:nvPr>
        </p:nvGraphicFramePr>
        <p:xfrm>
          <a:off x="4958524" y="5010904"/>
          <a:ext cx="7164683" cy="1398794"/>
        </p:xfrm>
        <a:graphic>
          <a:graphicData uri="http://schemas.openxmlformats.org/drawingml/2006/table">
            <a:tbl>
              <a:tblPr>
                <a:tableStyleId>{5C22544A-7EE6-4342-B048-85BDC9FD1C3A}</a:tableStyleId>
              </a:tblPr>
              <a:tblGrid>
                <a:gridCol w="2643666">
                  <a:extLst>
                    <a:ext uri="{9D8B030D-6E8A-4147-A177-3AD203B41FA5}">
                      <a16:colId xmlns:a16="http://schemas.microsoft.com/office/drawing/2014/main" val="2456552316"/>
                    </a:ext>
                  </a:extLst>
                </a:gridCol>
                <a:gridCol w="519140">
                  <a:extLst>
                    <a:ext uri="{9D8B030D-6E8A-4147-A177-3AD203B41FA5}">
                      <a16:colId xmlns:a16="http://schemas.microsoft.com/office/drawing/2014/main" val="1100051595"/>
                    </a:ext>
                  </a:extLst>
                </a:gridCol>
                <a:gridCol w="576576">
                  <a:extLst>
                    <a:ext uri="{9D8B030D-6E8A-4147-A177-3AD203B41FA5}">
                      <a16:colId xmlns:a16="http://schemas.microsoft.com/office/drawing/2014/main" val="2042261034"/>
                    </a:ext>
                  </a:extLst>
                </a:gridCol>
                <a:gridCol w="3425301">
                  <a:extLst>
                    <a:ext uri="{9D8B030D-6E8A-4147-A177-3AD203B41FA5}">
                      <a16:colId xmlns:a16="http://schemas.microsoft.com/office/drawing/2014/main" val="2815874248"/>
                    </a:ext>
                  </a:extLst>
                </a:gridCol>
              </a:tblGrid>
              <a:tr h="293000">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3518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Lack of overall project QE lead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09/04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Requested Amy for QE lead who will work on to create the master test strategy which is very critical to success of this project. Identified QE lead.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35531996"/>
                  </a:ext>
                </a:extLst>
              </a:tr>
              <a:tr h="43518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Performance and Regression testing not completed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QA Lead has engaged an alternate team to supplement testing capacity and accelerate execution.</a:t>
                      </a:r>
                    </a:p>
                    <a:p>
                      <a:pPr marL="0" marR="0" lvl="0" indent="0" algn="l" defTabSz="914400"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Daily monitoring of testing progress, defect resolution, and sign-off readiness is in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365667"/>
                  </a:ext>
                </a:extLst>
              </a:tr>
            </a:tbl>
          </a:graphicData>
        </a:graphic>
      </p:graphicFrame>
      <p:sp>
        <p:nvSpPr>
          <p:cNvPr id="33" name="Flowchart: Connector 32">
            <a:extLst>
              <a:ext uri="{FF2B5EF4-FFF2-40B4-BE49-F238E27FC236}">
                <a16:creationId xmlns:a16="http://schemas.microsoft.com/office/drawing/2014/main" id="{76BD5F50-9E1D-8D09-804F-0478CE349933}"/>
              </a:ext>
            </a:extLst>
          </p:cNvPr>
          <p:cNvSpPr/>
          <p:nvPr/>
        </p:nvSpPr>
        <p:spPr>
          <a:xfrm>
            <a:off x="6719881" y="648735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E37FAC63-BF14-56A8-4C9B-FCC5E9A3751A}"/>
              </a:ext>
            </a:extLst>
          </p:cNvPr>
          <p:cNvSpPr/>
          <p:nvPr/>
        </p:nvSpPr>
        <p:spPr>
          <a:xfrm>
            <a:off x="7763844" y="6487358"/>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F9CA744-7FEC-AE93-7B98-511321688F09}"/>
              </a:ext>
            </a:extLst>
          </p:cNvPr>
          <p:cNvSpPr/>
          <p:nvPr/>
        </p:nvSpPr>
        <p:spPr>
          <a:xfrm>
            <a:off x="8804007" y="650477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18AAE5A-AC62-0488-871A-5961BB25E92A}"/>
              </a:ext>
            </a:extLst>
          </p:cNvPr>
          <p:cNvSpPr txBox="1"/>
          <p:nvPr/>
        </p:nvSpPr>
        <p:spPr>
          <a:xfrm>
            <a:off x="0" y="1690732"/>
            <a:ext cx="4743293" cy="5863144"/>
          </a:xfrm>
          <a:prstGeom prst="rect">
            <a:avLst/>
          </a:prstGeom>
          <a:noFill/>
        </p:spPr>
        <p:txBody>
          <a:bodyPr wrap="square" lIns="91440" tIns="45720" rIns="91440" bIns="45720" anchor="t">
            <a:spAutoFit/>
          </a:bodyPr>
          <a:lstStyle/>
          <a:p>
            <a:r>
              <a:rPr lang="en-US" sz="1000" b="1">
                <a:latin typeface="Aptos" panose="020B0004020202020204" pitchFamily="34" charset="0"/>
              </a:rPr>
              <a:t>Status: </a:t>
            </a:r>
          </a:p>
          <a:p>
            <a:r>
              <a:rPr lang="en-US" sz="1000" b="1">
                <a:latin typeface="Aptos" panose="020B0004020202020204" pitchFamily="34" charset="0"/>
                <a:cs typeface="Arial"/>
              </a:rPr>
              <a:t>Overall Project Status: </a:t>
            </a:r>
            <a:r>
              <a:rPr lang="en-US" sz="1000" b="1">
                <a:highlight>
                  <a:srgbClr val="FFFF00"/>
                </a:highlight>
                <a:latin typeface="Aptos" panose="020B0004020202020204" pitchFamily="34" charset="0"/>
                <a:cs typeface="Arial"/>
              </a:rPr>
              <a:t>Yellow</a:t>
            </a:r>
          </a:p>
          <a:p>
            <a:pPr algn="just" fontAlgn="t">
              <a:lnSpc>
                <a:spcPct val="100000"/>
              </a:lnSpc>
              <a:buNone/>
            </a:pPr>
            <a:r>
              <a:rPr lang="en-US" sz="1000" kern="100">
                <a:latin typeface="Aptos" panose="020B0004020202020204" pitchFamily="34" charset="0"/>
                <a:cs typeface="Times New Roman"/>
              </a:rPr>
              <a:t>Performance Testing and Regression Testing remain in progress due to an unforeseen offshore testing resource unavailability resulting from an emergency. The QA Lead is actively coordinating with another team to complete the remaining testing activities. Based on the current plan, testing is expected to be completed by 10/12. The team is closely monitoring progress and working on impact </a:t>
            </a:r>
            <a:r>
              <a:rPr lang="en-US" sz="1000" kern="100" err="1">
                <a:latin typeface="Aptos" panose="020B0004020202020204" pitchFamily="34" charset="0"/>
                <a:cs typeface="Times New Roman"/>
              </a:rPr>
              <a:t>Anlysis</a:t>
            </a:r>
            <a:r>
              <a:rPr lang="en-US" sz="1000" kern="100">
                <a:latin typeface="Aptos" panose="020B0004020202020204" pitchFamily="34" charset="0"/>
                <a:cs typeface="Times New Roman"/>
              </a:rPr>
              <a:t> will provide updates on any impact to the overall schedule.</a:t>
            </a:r>
          </a:p>
          <a:p>
            <a:endParaRPr lang="en-US" sz="1000" b="1">
              <a:highlight>
                <a:srgbClr val="FFFF00"/>
              </a:highlight>
              <a:latin typeface="Aptos" panose="020B0004020202020204" pitchFamily="34" charset="0"/>
              <a:cs typeface="Arial"/>
            </a:endParaRPr>
          </a:p>
          <a:p>
            <a:r>
              <a:rPr lang="en-US" sz="1000" b="1">
                <a:latin typeface="Aptos" panose="020B0004020202020204" pitchFamily="34" charset="0"/>
              </a:rPr>
              <a:t>Path to Green </a:t>
            </a:r>
            <a:r>
              <a:rPr lang="en-US" sz="1000">
                <a:latin typeface="Aptos" panose="020B0004020202020204" pitchFamily="34" charset="0"/>
              </a:rPr>
              <a:t>–</a:t>
            </a:r>
            <a:endParaRPr lang="en-US" sz="1000" b="1">
              <a:highlight>
                <a:srgbClr val="FFFF00"/>
              </a:highlight>
              <a:latin typeface="Aptos" panose="020B0004020202020204" pitchFamily="34" charset="0"/>
              <a:cs typeface="Arial"/>
            </a:endParaRPr>
          </a:p>
          <a:p>
            <a:pPr algn="just" fontAlgn="t"/>
            <a:r>
              <a:rPr lang="en-US" sz="1000" kern="100">
                <a:latin typeface="Aptos" panose="020B0004020202020204" pitchFamily="34" charset="0"/>
                <a:cs typeface="Times New Roman"/>
              </a:rPr>
              <a:t>To recover from the testing delay caused by an emergency offshore resource absence, the QA Lead has secured support from an alternate team. The focus is on completing all Regression and Performance Testing by 10/12, resolving any identified defects promptly, and securing QA sign-off to maintain deployment readiness. Current mitigation actions are in place to achieve a green status with minimal schedule impact.</a:t>
            </a:r>
          </a:p>
          <a:p>
            <a:endParaRPr lang="en-US" sz="1000" kern="100">
              <a:latin typeface="Aptos" panose="020B0004020202020204" pitchFamily="34" charset="0"/>
              <a:cs typeface="Times New Roman"/>
            </a:endParaRPr>
          </a:p>
          <a:p>
            <a:r>
              <a:rPr lang="en-US" sz="1000" kern="100">
                <a:latin typeface="Aptos" panose="020B0004020202020204" pitchFamily="34" charset="0"/>
                <a:cs typeface="Times New Roman"/>
              </a:rPr>
              <a:t>RS2SNF: Code modifications for LLD implementation  -- </a:t>
            </a:r>
            <a:r>
              <a:rPr lang="en-US" sz="1000" b="1" kern="100">
                <a:latin typeface="Aptos" panose="020B0004020202020204" pitchFamily="34" charset="0"/>
                <a:cs typeface="Times New Roman"/>
              </a:rPr>
              <a:t>61/73 tables development/unit testing  completed</a:t>
            </a:r>
          </a:p>
          <a:p>
            <a:r>
              <a:rPr lang="en-US" sz="1000" kern="100">
                <a:latin typeface="Aptos" panose="020B0004020202020204" pitchFamily="34" charset="0"/>
                <a:cs typeface="Times New Roman"/>
              </a:rPr>
              <a:t>Phase 1 Quick Fix recommendations - Merged code changes into October release -- </a:t>
            </a:r>
            <a:r>
              <a:rPr lang="en-US" sz="1000" b="1" kern="100">
                <a:latin typeface="Aptos" panose="020B0004020202020204" pitchFamily="34" charset="0"/>
                <a:cs typeface="Times New Roman"/>
              </a:rPr>
              <a:t>QA Testing and Performance Testing is in progress.</a:t>
            </a:r>
          </a:p>
          <a:p>
            <a:r>
              <a:rPr lang="en-US" sz="1000" kern="100">
                <a:latin typeface="Aptos" panose="020B0004020202020204" pitchFamily="34" charset="0"/>
                <a:cs typeface="Times New Roman"/>
              </a:rPr>
              <a:t>Phase 2 - Long Term Solution - ECIF Report VHL Cancellations and Failed Policies -- </a:t>
            </a:r>
            <a:r>
              <a:rPr lang="en-US" sz="1000" b="1" kern="100">
                <a:latin typeface="Aptos" panose="020B0004020202020204" pitchFamily="34" charset="0"/>
                <a:cs typeface="Times New Roman"/>
              </a:rPr>
              <a:t>Code changes are merged into November release for QA testing</a:t>
            </a:r>
          </a:p>
          <a:p>
            <a:r>
              <a:rPr lang="en-US" sz="1000" kern="100">
                <a:latin typeface="Aptos" panose="020B0004020202020204" pitchFamily="34" charset="0"/>
                <a:cs typeface="Times New Roman"/>
              </a:rPr>
              <a:t>Phase 2 - Long Term Solution - Process Claim Transaction </a:t>
            </a:r>
            <a:r>
              <a:rPr lang="en-US" sz="1000" b="1" kern="100">
                <a:latin typeface="Aptos" panose="020B0004020202020204" pitchFamily="34" charset="0"/>
                <a:cs typeface="Times New Roman"/>
              </a:rPr>
              <a:t>-- To be included in November Off-Cycle Release. Pending follow up discussion with Business for confirmation.</a:t>
            </a:r>
          </a:p>
          <a:p>
            <a:r>
              <a:rPr lang="en-US" sz="1000" kern="100">
                <a:latin typeface="Aptos" panose="020B0004020202020204" pitchFamily="34" charset="0"/>
                <a:cs typeface="Times New Roman"/>
              </a:rPr>
              <a:t>Phase 2 - Long Term Solution - FUP File write optimization -- </a:t>
            </a:r>
            <a:r>
              <a:rPr lang="en-US" sz="1000" b="1" kern="100">
                <a:latin typeface="Aptos" panose="020B0004020202020204" pitchFamily="34" charset="0"/>
                <a:cs typeface="Times New Roman"/>
              </a:rPr>
              <a:t>Architect approval received. Pending review with Tech leads.</a:t>
            </a:r>
          </a:p>
          <a:p>
            <a:r>
              <a:rPr lang="en-US" sz="1000" kern="100">
                <a:latin typeface="Aptos" panose="020B0004020202020204" pitchFamily="34" charset="0"/>
                <a:cs typeface="Times New Roman"/>
              </a:rPr>
              <a:t>Duplicate Ids in beans -- </a:t>
            </a:r>
            <a:r>
              <a:rPr lang="en-US" sz="1000" b="1" kern="100">
                <a:latin typeface="Aptos" panose="020B0004020202020204" pitchFamily="34" charset="0"/>
                <a:cs typeface="Times New Roman"/>
              </a:rPr>
              <a:t>Code fix for 2 patterns have been completed and code merged into November release. Code fix for 2 more patterns have been reviewed with Tech leads and pending approval.</a:t>
            </a:r>
          </a:p>
          <a:p>
            <a:r>
              <a:rPr lang="en-US" sz="1000" kern="100">
                <a:latin typeface="Aptos" panose="020B0004020202020204" pitchFamily="34" charset="0"/>
                <a:cs typeface="Times New Roman"/>
              </a:rPr>
              <a:t>Phase 2 - Long Term Solution -  Auto Write Off Optimization </a:t>
            </a:r>
            <a:r>
              <a:rPr lang="en-US" sz="1000" b="1" kern="100">
                <a:latin typeface="Aptos" panose="020B0004020202020204" pitchFamily="34" charset="0"/>
                <a:cs typeface="Times New Roman"/>
              </a:rPr>
              <a:t>-- Internal design review is completed. Pending scheduled review with Architect.</a:t>
            </a:r>
          </a:p>
          <a:p>
            <a:endParaRPr lang="en-US" sz="900" kern="100">
              <a:highlight>
                <a:srgbClr val="FFFF00"/>
              </a:highlight>
              <a:cs typeface="Times New Roman"/>
            </a:endParaRPr>
          </a:p>
          <a:p>
            <a:pPr marL="171450" indent="-171450">
              <a:buFont typeface="Arial" panose="020B0604020202020204" pitchFamily="34" charset="0"/>
              <a:buChar char="•"/>
            </a:pPr>
            <a:endParaRPr lang="en-US" sz="900" b="1" kern="100">
              <a:cs typeface="Times New Roman"/>
            </a:endParaRPr>
          </a:p>
          <a:p>
            <a:pPr marL="171450" lvl="0" indent="-171450">
              <a:buFont typeface="Arial" panose="020B0604020202020204" pitchFamily="34" charset="0"/>
              <a:buChar char="•"/>
            </a:pPr>
            <a:endParaRPr lang="en-US" sz="900" kern="100">
              <a:cs typeface="Times New Roman"/>
            </a:endParaRPr>
          </a:p>
          <a:p>
            <a:pPr marL="171450" indent="-171450">
              <a:buFont typeface="Arial" panose="020B0604020202020204" pitchFamily="34" charset="0"/>
              <a:buChar char="•"/>
            </a:pPr>
            <a:endParaRPr lang="en-US" sz="900" kern="100">
              <a:cs typeface="Times New Roman"/>
            </a:endParaRPr>
          </a:p>
          <a:p>
            <a:pPr lvl="0"/>
            <a:endParaRPr lang="en-US" sz="900" kern="100">
              <a:cs typeface="Times New Roman"/>
            </a:endParaRPr>
          </a:p>
        </p:txBody>
      </p:sp>
      <p:sp>
        <p:nvSpPr>
          <p:cNvPr id="3" name="TextBox 2">
            <a:extLst>
              <a:ext uri="{FF2B5EF4-FFF2-40B4-BE49-F238E27FC236}">
                <a16:creationId xmlns:a16="http://schemas.microsoft.com/office/drawing/2014/main" id="{41375A5A-3A3F-9D66-4EBD-49EA9AFA649B}"/>
              </a:ext>
            </a:extLst>
          </p:cNvPr>
          <p:cNvSpPr txBox="1"/>
          <p:nvPr/>
        </p:nvSpPr>
        <p:spPr>
          <a:xfrm>
            <a:off x="9854419" y="165601"/>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7" name="Flowchart: Connector 6">
            <a:extLst>
              <a:ext uri="{FF2B5EF4-FFF2-40B4-BE49-F238E27FC236}">
                <a16:creationId xmlns:a16="http://schemas.microsoft.com/office/drawing/2014/main" id="{381F7123-0CD9-5A39-57D6-237481329299}"/>
              </a:ext>
            </a:extLst>
          </p:cNvPr>
          <p:cNvSpPr/>
          <p:nvPr/>
        </p:nvSpPr>
        <p:spPr>
          <a:xfrm>
            <a:off x="6096000" y="14117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C9F7F857-8C08-C839-F87F-5A476F8B9C81}"/>
              </a:ext>
            </a:extLst>
          </p:cNvPr>
          <p:cNvSpPr/>
          <p:nvPr/>
        </p:nvSpPr>
        <p:spPr>
          <a:xfrm>
            <a:off x="4256605" y="13874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42F5BC78-1CA5-F465-25BE-AFEF6941152D}"/>
              </a:ext>
            </a:extLst>
          </p:cNvPr>
          <p:cNvSpPr/>
          <p:nvPr/>
        </p:nvSpPr>
        <p:spPr>
          <a:xfrm>
            <a:off x="3227390"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990834C8-D32F-DEB3-439A-518F8828D803}"/>
              </a:ext>
            </a:extLst>
          </p:cNvPr>
          <p:cNvSpPr/>
          <p:nvPr/>
        </p:nvSpPr>
        <p:spPr>
          <a:xfrm>
            <a:off x="7797763" y="42691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816104E2-E9BA-220F-25AE-7FB895873AFD}"/>
              </a:ext>
            </a:extLst>
          </p:cNvPr>
          <p:cNvSpPr/>
          <p:nvPr/>
        </p:nvSpPr>
        <p:spPr>
          <a:xfrm>
            <a:off x="7797762" y="468702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16C93F9D-9C4A-AE49-5B4D-E827A4681D12}"/>
              </a:ext>
            </a:extLst>
          </p:cNvPr>
          <p:cNvSpPr/>
          <p:nvPr/>
        </p:nvSpPr>
        <p:spPr>
          <a:xfrm>
            <a:off x="5176302" y="141392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E829360E-6D47-1720-BC06-E9AD65E106EF}"/>
              </a:ext>
            </a:extLst>
          </p:cNvPr>
          <p:cNvSpPr/>
          <p:nvPr/>
        </p:nvSpPr>
        <p:spPr>
          <a:xfrm>
            <a:off x="7797762" y="392003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97ACF88-B30A-D1DE-D1D3-A96BE1F4971E}"/>
              </a:ext>
            </a:extLst>
          </p:cNvPr>
          <p:cNvSpPr/>
          <p:nvPr/>
        </p:nvSpPr>
        <p:spPr>
          <a:xfrm>
            <a:off x="7763845" y="5972648"/>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5492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8CF1-3485-3E6E-6A11-B6CF0E1E747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9BCF87E-9027-1015-FDE7-A6365A9853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9BCF87E-9027-1015-FDE7-A6365A98534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0B6100B5-494F-4F49-7AFB-1CDF01D46D53}"/>
              </a:ext>
            </a:extLst>
          </p:cNvPr>
          <p:cNvGraphicFramePr>
            <a:graphicFrameLocks noGrp="1"/>
          </p:cNvGraphicFramePr>
          <p:nvPr/>
        </p:nvGraphicFramePr>
        <p:xfrm>
          <a:off x="5769030" y="6413123"/>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665495FB-1B87-A428-C13F-6B7F363007C5}"/>
              </a:ext>
            </a:extLst>
          </p:cNvPr>
          <p:cNvSpPr>
            <a:spLocks noGrp="1"/>
          </p:cNvSpPr>
          <p:nvPr>
            <p:ph type="title"/>
          </p:nvPr>
        </p:nvSpPr>
        <p:spPr>
          <a:xfrm>
            <a:off x="351587" y="150038"/>
            <a:ext cx="11652110" cy="517320"/>
          </a:xfrm>
        </p:spPr>
        <p:txBody>
          <a:bodyPr vert="horz">
            <a:normAutofit/>
          </a:bodyPr>
          <a:lstStyle/>
          <a:p>
            <a:r>
              <a:rPr lang="en-US" sz="2400">
                <a:solidFill>
                  <a:srgbClr val="29389F"/>
                </a:solidFill>
                <a:latin typeface="Arial" pitchFamily="34" charset="0"/>
                <a:cs typeface="Arial" pitchFamily="34" charset="0"/>
              </a:rPr>
              <a:t>PPT: NY and Unapproved States Product Build</a:t>
            </a:r>
          </a:p>
        </p:txBody>
      </p:sp>
      <p:graphicFrame>
        <p:nvGraphicFramePr>
          <p:cNvPr id="11" name="Group 513">
            <a:extLst>
              <a:ext uri="{FF2B5EF4-FFF2-40B4-BE49-F238E27FC236}">
                <a16:creationId xmlns:a16="http://schemas.microsoft.com/office/drawing/2014/main" id="{62277E96-15BE-63C4-7149-95B6EE7D6B6F}"/>
              </a:ext>
            </a:extLst>
          </p:cNvPr>
          <p:cNvGraphicFramePr>
            <a:graphicFrameLocks noGrp="1"/>
          </p:cNvGraphicFramePr>
          <p:nvPr>
            <p:extLst>
              <p:ext uri="{D42A27DB-BD31-4B8C-83A1-F6EECF244321}">
                <p14:modId xmlns:p14="http://schemas.microsoft.com/office/powerpoint/2010/main" val="3907513870"/>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10/08/2026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84858545-F82E-FEB8-897F-EE6C5166452A}"/>
              </a:ext>
            </a:extLst>
          </p:cNvPr>
          <p:cNvGraphicFramePr>
            <a:graphicFrameLocks noGrp="1"/>
          </p:cNvGraphicFramePr>
          <p:nvPr>
            <p:extLst>
              <p:ext uri="{D42A27DB-BD31-4B8C-83A1-F6EECF244321}">
                <p14:modId xmlns:p14="http://schemas.microsoft.com/office/powerpoint/2010/main" val="4150154963"/>
              </p:ext>
            </p:extLst>
          </p:nvPr>
        </p:nvGraphicFramePr>
        <p:xfrm>
          <a:off x="6737526" y="845835"/>
          <a:ext cx="5332996" cy="752736"/>
        </p:xfrm>
        <a:graphic>
          <a:graphicData uri="http://schemas.openxmlformats.org/drawingml/2006/table">
            <a:tbl>
              <a:tblPr>
                <a:tableStyleId>{5C22544A-7EE6-4342-B048-85BDC9FD1C3A}</a:tableStyleId>
              </a:tblPr>
              <a:tblGrid>
                <a:gridCol w="1041555">
                  <a:extLst>
                    <a:ext uri="{9D8B030D-6E8A-4147-A177-3AD203B41FA5}">
                      <a16:colId xmlns:a16="http://schemas.microsoft.com/office/drawing/2014/main" val="2456552316"/>
                    </a:ext>
                  </a:extLst>
                </a:gridCol>
                <a:gridCol w="923159">
                  <a:extLst>
                    <a:ext uri="{9D8B030D-6E8A-4147-A177-3AD203B41FA5}">
                      <a16:colId xmlns:a16="http://schemas.microsoft.com/office/drawing/2014/main" val="2327174630"/>
                    </a:ext>
                  </a:extLst>
                </a:gridCol>
                <a:gridCol w="1509489">
                  <a:extLst>
                    <a:ext uri="{9D8B030D-6E8A-4147-A177-3AD203B41FA5}">
                      <a16:colId xmlns:a16="http://schemas.microsoft.com/office/drawing/2014/main" val="1100051595"/>
                    </a:ext>
                  </a:extLst>
                </a:gridCol>
                <a:gridCol w="910684">
                  <a:extLst>
                    <a:ext uri="{9D8B030D-6E8A-4147-A177-3AD203B41FA5}">
                      <a16:colId xmlns:a16="http://schemas.microsoft.com/office/drawing/2014/main" val="2042261034"/>
                    </a:ext>
                  </a:extLst>
                </a:gridCol>
                <a:gridCol w="948109">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$2,056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$216,571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$218,627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9A6473BF-23A7-BE40-5F99-5F7F71F11023}"/>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BB7D0A0-FADD-E787-41FF-0CE111CC6AFE}"/>
              </a:ext>
            </a:extLst>
          </p:cNvPr>
          <p:cNvGraphicFramePr>
            <a:graphicFrameLocks noGrp="1"/>
          </p:cNvGraphicFramePr>
          <p:nvPr>
            <p:extLst>
              <p:ext uri="{D42A27DB-BD31-4B8C-83A1-F6EECF244321}">
                <p14:modId xmlns:p14="http://schemas.microsoft.com/office/powerpoint/2010/main" val="1817489560"/>
              </p:ext>
            </p:extLst>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856C80B-0A23-0E2A-D9BD-402A1F294176}"/>
              </a:ext>
            </a:extLst>
          </p:cNvPr>
          <p:cNvGraphicFramePr>
            <a:graphicFrameLocks noGrp="1"/>
          </p:cNvGraphicFramePr>
          <p:nvPr>
            <p:extLst>
              <p:ext uri="{D42A27DB-BD31-4B8C-83A1-F6EECF244321}">
                <p14:modId xmlns:p14="http://schemas.microsoft.com/office/powerpoint/2010/main" val="1963407600"/>
              </p:ext>
            </p:extLst>
          </p:nvPr>
        </p:nvGraphicFramePr>
        <p:xfrm>
          <a:off x="5779268" y="1718953"/>
          <a:ext cx="6353266" cy="3116660"/>
        </p:xfrm>
        <a:graphic>
          <a:graphicData uri="http://schemas.openxmlformats.org/drawingml/2006/table">
            <a:tbl>
              <a:tblPr>
                <a:tableStyleId>{5C22544A-7EE6-4342-B048-85BDC9FD1C3A}</a:tableStyleId>
              </a:tblPr>
              <a:tblGrid>
                <a:gridCol w="2551203">
                  <a:extLst>
                    <a:ext uri="{9D8B030D-6E8A-4147-A177-3AD203B41FA5}">
                      <a16:colId xmlns:a16="http://schemas.microsoft.com/office/drawing/2014/main" val="2456552316"/>
                    </a:ext>
                  </a:extLst>
                </a:gridCol>
                <a:gridCol w="593953">
                  <a:extLst>
                    <a:ext uri="{9D8B030D-6E8A-4147-A177-3AD203B41FA5}">
                      <a16:colId xmlns:a16="http://schemas.microsoft.com/office/drawing/2014/main" val="1100051595"/>
                    </a:ext>
                  </a:extLst>
                </a:gridCol>
                <a:gridCol w="585336">
                  <a:extLst>
                    <a:ext uri="{9D8B030D-6E8A-4147-A177-3AD203B41FA5}">
                      <a16:colId xmlns:a16="http://schemas.microsoft.com/office/drawing/2014/main" val="2042261034"/>
                    </a:ext>
                  </a:extLst>
                </a:gridCol>
                <a:gridCol w="2622774">
                  <a:extLst>
                    <a:ext uri="{9D8B030D-6E8A-4147-A177-3AD203B41FA5}">
                      <a16:colId xmlns:a16="http://schemas.microsoft.com/office/drawing/2014/main" val="2815874248"/>
                    </a:ext>
                  </a:extLst>
                </a:gridCol>
              </a:tblGrid>
              <a:tr h="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3718">
                <a:tc>
                  <a:txBody>
                    <a:bodyPr/>
                    <a:lstStyle/>
                    <a:p>
                      <a:pPr lvl="0" algn="l">
                        <a:lnSpc>
                          <a:spcPct val="100000"/>
                        </a:lnSpc>
                        <a:spcBef>
                          <a:spcPts val="0"/>
                        </a:spcBef>
                        <a:spcAft>
                          <a:spcPts val="0"/>
                        </a:spcAft>
                        <a:buNone/>
                      </a:pPr>
                      <a:r>
                        <a:rPr lang="en-US" sz="850" kern="1200" noProof="0">
                          <a:solidFill>
                            <a:schemeClr val="tx1"/>
                          </a:solidFill>
                          <a:latin typeface="Aptos" panose="020B0004020202020204" pitchFamily="34" charset="0"/>
                          <a:ea typeface="+mn-ea"/>
                          <a:cs typeface="Arial"/>
                        </a:rPr>
                        <a:t>Procurement Intake Request</a:t>
                      </a:r>
                      <a:endParaRPr lang="en-US" sz="850" kern="1200">
                        <a:solidFill>
                          <a:schemeClr val="tx1"/>
                        </a:solidFill>
                        <a:latin typeface="Aptos" panose="020B0004020202020204" pitchFamily="34" charset="0"/>
                        <a:ea typeface="+mn-ea"/>
                        <a:cs typeface="Arial"/>
                      </a:endParaRPr>
                    </a:p>
                    <a:p>
                      <a:pPr marL="0" marR="0" lvl="0" indent="0" algn="l" defTabSz="685858">
                        <a:lnSpc>
                          <a:spcPct val="100000"/>
                        </a:lnSpc>
                        <a:spcBef>
                          <a:spcPts val="0"/>
                        </a:spcBef>
                        <a:spcAft>
                          <a:spcPts val="0"/>
                        </a:spcAft>
                        <a:buClrTx/>
                        <a:buSzTx/>
                        <a:buFontTx/>
                        <a:buNone/>
                        <a:tabLst/>
                        <a:defRPr/>
                      </a:pPr>
                      <a:endParaRPr lang="en-US" sz="850" kern="1200">
                        <a:solidFill>
                          <a:schemeClr val="tx1"/>
                        </a:solidFill>
                        <a:latin typeface="Aptos" panose="020B0004020202020204" pitchFamily="34" charset="0"/>
                        <a:ea typeface="+mn-ea"/>
                        <a:cs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8/10/26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kern="1200" noProof="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0">
                <a:tc>
                  <a:txBody>
                    <a:bodyPr/>
                    <a:lstStyle/>
                    <a:p>
                      <a:pPr lvl="0" algn="l">
                        <a:lnSpc>
                          <a:spcPct val="100000"/>
                        </a:lnSpc>
                        <a:spcBef>
                          <a:spcPts val="0"/>
                        </a:spcBef>
                        <a:spcAft>
                          <a:spcPts val="0"/>
                        </a:spcAft>
                        <a:buNone/>
                      </a:pPr>
                      <a:r>
                        <a:rPr lang="en-US" sz="850" kern="1200">
                          <a:solidFill>
                            <a:schemeClr val="tx1"/>
                          </a:solidFill>
                          <a:latin typeface="Aptos" panose="020B0004020202020204" pitchFamily="34" charset="0"/>
                          <a:ea typeface="+mn-ea"/>
                          <a:cs typeface="Arial"/>
                        </a:rPr>
                        <a:t>SOW (Draft)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9/21</a:t>
                      </a:r>
                      <a:endParaRPr lang="en-US" sz="850" b="0" strike="sngStrike" kern="1200">
                        <a:solidFill>
                          <a:schemeClr val="tx1"/>
                        </a:solidFill>
                        <a:effectLst/>
                        <a:latin typeface="Aptos" panose="020B0004020202020204" pitchFamily="34" charset="0"/>
                        <a:ea typeface="+mn-ea"/>
                        <a:cs typeface="+mn-cs"/>
                      </a:endParaRPr>
                    </a:p>
                    <a:p>
                      <a:pPr marL="0" marR="0" lvl="0" indent="0" algn="ctr" rtl="0" eaLnBrk="1" fontAlgn="ctr" latinLnBrk="0" hangingPunct="1">
                        <a:lnSpc>
                          <a:spcPct val="95000"/>
                        </a:lnSpc>
                        <a:spcBef>
                          <a:spcPct val="0"/>
                        </a:spcBef>
                        <a:spcAft>
                          <a:spcPct val="50000"/>
                        </a:spcAft>
                        <a:buClrTx/>
                        <a:buSzTx/>
                        <a:buFontTx/>
                        <a:buNone/>
                      </a:pPr>
                      <a:r>
                        <a:rPr lang="en-US" sz="850" b="0" strike="sngStrike" kern="1200">
                          <a:solidFill>
                            <a:schemeClr val="tx1"/>
                          </a:solidFill>
                          <a:effectLst/>
                          <a:latin typeface="Aptos" panose="020B0004020202020204" pitchFamily="34" charset="0"/>
                          <a:ea typeface="+mn-ea"/>
                          <a:cs typeface="+mn-cs"/>
                        </a:rPr>
                        <a:t>9/11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05449">
                <a:tc>
                  <a:txBody>
                    <a:bodyPr/>
                    <a:lstStyle/>
                    <a:p>
                      <a:pPr marL="0" marR="0" lvl="0" indent="0" algn="l">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Final SOW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sngStrike" kern="1200">
                          <a:solidFill>
                            <a:schemeClr val="tx1"/>
                          </a:solidFill>
                          <a:effectLst/>
                          <a:latin typeface="Aptos" panose="020B0004020202020204" pitchFamily="34" charset="0"/>
                          <a:ea typeface="+mn-ea"/>
                          <a:cs typeface="+mn-cs"/>
                        </a:rPr>
                        <a:t>10/9</a:t>
                      </a:r>
                    </a:p>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10/30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314204"/>
                  </a:ext>
                </a:extLst>
              </a:tr>
              <a:tr h="281241">
                <a:tc>
                  <a:txBody>
                    <a:bodyPr/>
                    <a:lstStyle/>
                    <a:p>
                      <a:pPr marL="0" marR="0" lvl="0" indent="0" algn="l">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Staff Project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sngStrike" kern="1200">
                          <a:solidFill>
                            <a:schemeClr val="tx1"/>
                          </a:solidFill>
                          <a:effectLst/>
                          <a:latin typeface="Aptos" panose="020B0004020202020204" pitchFamily="34" charset="0"/>
                          <a:ea typeface="+mn-ea"/>
                          <a:cs typeface="+mn-cs"/>
                        </a:rPr>
                        <a:t>8/31</a:t>
                      </a:r>
                    </a:p>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10/23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Cognizant Inception Kick 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10/30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81336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92333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3813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6633032"/>
                  </a:ext>
                </a:extLst>
              </a:tr>
            </a:tbl>
          </a:graphicData>
        </a:graphic>
      </p:graphicFrame>
      <p:graphicFrame>
        <p:nvGraphicFramePr>
          <p:cNvPr id="29" name="Table 28">
            <a:extLst>
              <a:ext uri="{FF2B5EF4-FFF2-40B4-BE49-F238E27FC236}">
                <a16:creationId xmlns:a16="http://schemas.microsoft.com/office/drawing/2014/main" id="{87A290AD-FEFA-D320-79EA-D42B2A3157E6}"/>
              </a:ext>
            </a:extLst>
          </p:cNvPr>
          <p:cNvGraphicFramePr>
            <a:graphicFrameLocks noGrp="1"/>
          </p:cNvGraphicFramePr>
          <p:nvPr>
            <p:extLst>
              <p:ext uri="{D42A27DB-BD31-4B8C-83A1-F6EECF244321}">
                <p14:modId xmlns:p14="http://schemas.microsoft.com/office/powerpoint/2010/main" val="3418351095"/>
              </p:ext>
            </p:extLst>
          </p:nvPr>
        </p:nvGraphicFramePr>
        <p:xfrm>
          <a:off x="5779267" y="4851527"/>
          <a:ext cx="6353267" cy="1030183"/>
        </p:xfrm>
        <a:graphic>
          <a:graphicData uri="http://schemas.openxmlformats.org/drawingml/2006/table">
            <a:tbl>
              <a:tblPr>
                <a:tableStyleId>{5C22544A-7EE6-4342-B048-85BDC9FD1C3A}</a:tableStyleId>
              </a:tblPr>
              <a:tblGrid>
                <a:gridCol w="2530720">
                  <a:extLst>
                    <a:ext uri="{9D8B030D-6E8A-4147-A177-3AD203B41FA5}">
                      <a16:colId xmlns:a16="http://schemas.microsoft.com/office/drawing/2014/main" val="2456552316"/>
                    </a:ext>
                  </a:extLst>
                </a:gridCol>
                <a:gridCol w="622998">
                  <a:extLst>
                    <a:ext uri="{9D8B030D-6E8A-4147-A177-3AD203B41FA5}">
                      <a16:colId xmlns:a16="http://schemas.microsoft.com/office/drawing/2014/main" val="1100051595"/>
                    </a:ext>
                  </a:extLst>
                </a:gridCol>
                <a:gridCol w="492369">
                  <a:extLst>
                    <a:ext uri="{9D8B030D-6E8A-4147-A177-3AD203B41FA5}">
                      <a16:colId xmlns:a16="http://schemas.microsoft.com/office/drawing/2014/main" val="2042261034"/>
                    </a:ext>
                  </a:extLst>
                </a:gridCol>
                <a:gridCol w="2707180">
                  <a:extLst>
                    <a:ext uri="{9D8B030D-6E8A-4147-A177-3AD203B41FA5}">
                      <a16:colId xmlns:a16="http://schemas.microsoft.com/office/drawing/2014/main" val="2815874248"/>
                    </a:ext>
                  </a:extLst>
                </a:gridCol>
              </a:tblGrid>
              <a:tr h="466851">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63332">
                <a:tc>
                  <a:txBody>
                    <a:bodyPr/>
                    <a:lstStyle/>
                    <a:p>
                      <a:pPr marL="0" lvl="0" indent="0" algn="l" defTabSz="685858" rtl="0" eaLnBrk="1" latinLnBrk="0" hangingPunct="1">
                        <a:lnSpc>
                          <a:spcPct val="100000"/>
                        </a:lnSpc>
                        <a:buNone/>
                      </a:pPr>
                      <a:r>
                        <a:rPr lang="en-US" sz="850" b="0" kern="1200">
                          <a:solidFill>
                            <a:schemeClr val="tx1"/>
                          </a:solidFill>
                          <a:latin typeface="Aptos" panose="020B0004020202020204" pitchFamily="34" charset="0"/>
                          <a:ea typeface="+mn-ea"/>
                          <a:cs typeface="+mn-cs"/>
                        </a:rPr>
                        <a:t>Potential underspend of the $267K budget this year due to resource constraints and delays in finalizing the SOW.</a:t>
                      </a:r>
                    </a:p>
                    <a:p>
                      <a:pPr marL="0" lvl="0" indent="0" algn="l" defTabSz="685858" rtl="0" eaLnBrk="1" latinLnBrk="0" hangingPunct="1">
                        <a:lnSpc>
                          <a:spcPct val="100000"/>
                        </a:lnSpc>
                        <a:buNone/>
                      </a:pPr>
                      <a:endParaRPr lang="en-US" sz="850" b="0" kern="1200">
                        <a:solidFill>
                          <a:schemeClr val="tx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ctr" latinLnBrk="0" hangingPunct="1">
                        <a:lnSpc>
                          <a:spcPct val="100000"/>
                        </a:lnSpc>
                        <a:spcBef>
                          <a:spcPct val="0"/>
                        </a:spcBef>
                        <a:spcAft>
                          <a:spcPct val="50000"/>
                        </a:spcAft>
                        <a:buClrTx/>
                        <a:buSzTx/>
                        <a:buFontTx/>
                        <a:buNone/>
                        <a:tabLst/>
                      </a:pPr>
                      <a:endParaRPr lang="en-US" sz="850" b="0" kern="1200">
                        <a:solidFill>
                          <a:schemeClr val="tx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685858" rtl="0" eaLnBrk="1" latinLnBrk="0" hangingPunct="1">
                        <a:lnSpc>
                          <a:spcPct val="100000"/>
                        </a:lnSpc>
                        <a:buNone/>
                      </a:pPr>
                      <a:r>
                        <a:rPr lang="en-US" sz="850" b="0" strike="sngStrike" kern="1200">
                          <a:solidFill>
                            <a:schemeClr val="tx1"/>
                          </a:solidFill>
                          <a:latin typeface="Aptos" panose="020B0004020202020204" pitchFamily="34" charset="0"/>
                          <a:ea typeface="+mn-ea"/>
                          <a:cs typeface="+mn-cs"/>
                        </a:rPr>
                        <a:t> 9/30/26</a:t>
                      </a:r>
                    </a:p>
                    <a:p>
                      <a:pPr marL="0" lvl="0" indent="0" algn="ctr" defTabSz="685858" rtl="0" eaLnBrk="1" latinLnBrk="0" hangingPunct="1">
                        <a:lnSpc>
                          <a:spcPct val="100000"/>
                        </a:lnSpc>
                        <a:buNone/>
                      </a:pPr>
                      <a:r>
                        <a:rPr lang="en-US" sz="850" b="0" kern="1200">
                          <a:solidFill>
                            <a:schemeClr val="tx1"/>
                          </a:solidFill>
                          <a:latin typeface="Aptos" panose="020B0004020202020204" pitchFamily="34" charset="0"/>
                          <a:ea typeface="+mn-ea"/>
                          <a:cs typeface="+mn-cs"/>
                        </a:rPr>
                        <a:t>10/30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685858" rtl="0" eaLnBrk="1" latinLnBrk="0" hangingPunct="1">
                        <a:lnSpc>
                          <a:spcPct val="100000"/>
                        </a:lnSpc>
                        <a:spcBef>
                          <a:spcPts val="0"/>
                        </a:spcBef>
                        <a:spcAft>
                          <a:spcPts val="0"/>
                        </a:spcAft>
                        <a:buNone/>
                      </a:pPr>
                      <a:r>
                        <a:rPr lang="en-US" sz="850" b="0" kern="1200" noProof="0">
                          <a:solidFill>
                            <a:schemeClr val="tx1"/>
                          </a:solidFill>
                          <a:latin typeface="Aptos" panose="020B0004020202020204" pitchFamily="34" charset="0"/>
                          <a:ea typeface="+mn-ea"/>
                          <a:cs typeface="+mn-cs"/>
                        </a:rPr>
                        <a:t>Procurement is engaging Cognizant to determine the next steps required to start the project.</a:t>
                      </a:r>
                    </a:p>
                    <a:p>
                      <a:pPr marL="0" lvl="0" indent="0" algn="l" defTabSz="685858" rtl="0" eaLnBrk="1" latinLnBrk="0" hangingPunct="1">
                        <a:lnSpc>
                          <a:spcPct val="100000"/>
                        </a:lnSpc>
                        <a:spcBef>
                          <a:spcPts val="0"/>
                        </a:spcBef>
                        <a:spcAft>
                          <a:spcPts val="0"/>
                        </a:spcAft>
                        <a:buNone/>
                      </a:pPr>
                      <a:endParaRPr lang="en-US" sz="850" b="0" kern="1200" noProof="0">
                        <a:solidFill>
                          <a:schemeClr val="tx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023C88-7935-1AD8-5E41-C3A1F9DC3E1F}"/>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66D39D6C-39D6-8DB1-E236-3D0EA2869D85}"/>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E555D9F1-B3C6-9160-43C7-8B4859F3BE96}"/>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F10B995E-3032-0E5F-43EC-26CFE2137C69}"/>
              </a:ext>
            </a:extLst>
          </p:cNvPr>
          <p:cNvSpPr/>
          <p:nvPr/>
        </p:nvSpPr>
        <p:spPr>
          <a:xfrm>
            <a:off x="3328610" y="132965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B62692E2-216C-0EFA-9B4C-82CEAD10E51F}"/>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83CE25E-418D-3D74-5BCB-77B0DCDFBB0C}"/>
              </a:ext>
            </a:extLst>
          </p:cNvPr>
          <p:cNvSpPr/>
          <p:nvPr/>
        </p:nvSpPr>
        <p:spPr>
          <a:xfrm>
            <a:off x="5219896" y="13502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9199CC82-97EF-B9B5-D060-8769A48A7E1A}"/>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86AE69C-B04F-25E5-BE0C-149EF91035B4}"/>
              </a:ext>
            </a:extLst>
          </p:cNvPr>
          <p:cNvSpPr txBox="1"/>
          <p:nvPr/>
        </p:nvSpPr>
        <p:spPr>
          <a:xfrm>
            <a:off x="119511" y="1676415"/>
            <a:ext cx="5659756" cy="3677930"/>
          </a:xfrm>
          <a:prstGeom prst="rect">
            <a:avLst/>
          </a:prstGeom>
          <a:noFill/>
        </p:spPr>
        <p:txBody>
          <a:bodyPr wrap="square" lIns="91440" tIns="45720" rIns="91440" bIns="45720" anchor="t">
            <a:spAutoFit/>
          </a:bodyPr>
          <a:lstStyle/>
          <a:p>
            <a:pPr>
              <a:spcBef>
                <a:spcPts val="100"/>
              </a:spcBef>
              <a:spcAft>
                <a:spcPts val="100"/>
              </a:spcAft>
            </a:pPr>
            <a:r>
              <a:rPr lang="en-US" sz="850">
                <a:latin typeface="Aptos" panose="020B0004020202020204" pitchFamily="34" charset="0"/>
                <a:cs typeface="Arial"/>
              </a:rPr>
              <a:t>Project status remains Yellow due to delays in staffing the project team and starting Cognizant work. An Architect has been assigned, while the Technical Analyst (TA) and Project Manager (PM) roles remain pending.</a:t>
            </a:r>
          </a:p>
          <a:p>
            <a:pPr>
              <a:spcBef>
                <a:spcPts val="100"/>
              </a:spcBef>
              <a:spcAft>
                <a:spcPts val="100"/>
              </a:spcAft>
            </a:pPr>
            <a:endParaRPr lang="en-US" sz="850">
              <a:latin typeface="Aptos" panose="020B0004020202020204" pitchFamily="34" charset="0"/>
              <a:cs typeface="Arial"/>
            </a:endParaRPr>
          </a:p>
          <a:p>
            <a:pPr>
              <a:spcBef>
                <a:spcPts val="100"/>
              </a:spcBef>
              <a:spcAft>
                <a:spcPts val="100"/>
              </a:spcAft>
            </a:pPr>
            <a:r>
              <a:rPr lang="en-US" sz="850">
                <a:latin typeface="Aptos" panose="020B0004020202020204" pitchFamily="34" charset="0"/>
                <a:cs typeface="Arial"/>
              </a:rPr>
              <a:t>There is a risk to the funding allocated for this fiscal year if resources are not onboarded promptly or if Cognizant's work begins later than planned. In that scenario, a portion of the allocated funding may need to be returned to the portfolio.</a:t>
            </a:r>
          </a:p>
          <a:p>
            <a:pPr>
              <a:spcBef>
                <a:spcPts val="100"/>
              </a:spcBef>
              <a:spcAft>
                <a:spcPts val="100"/>
              </a:spcAft>
            </a:pPr>
            <a:endParaRPr lang="en-US" sz="850">
              <a:latin typeface="Aptos" panose="020B0004020202020204" pitchFamily="34" charset="0"/>
              <a:cs typeface="Arial"/>
            </a:endParaRPr>
          </a:p>
          <a:p>
            <a:pPr>
              <a:spcBef>
                <a:spcPts val="100"/>
              </a:spcBef>
              <a:spcAft>
                <a:spcPts val="100"/>
              </a:spcAft>
            </a:pPr>
            <a:r>
              <a:rPr lang="en-US" sz="850">
                <a:latin typeface="Aptos" panose="020B0004020202020204" pitchFamily="34" charset="0"/>
                <a:cs typeface="Arial"/>
              </a:rPr>
              <a:t>The SOW is being reviewed with leadership on Oct 16. Pending leadership approval of the revisions, the SOW approval process will begin immediately thereafter.</a:t>
            </a:r>
          </a:p>
          <a:p>
            <a:pPr>
              <a:spcBef>
                <a:spcPts val="100"/>
              </a:spcBef>
              <a:spcAft>
                <a:spcPts val="100"/>
              </a:spcAft>
            </a:pPr>
            <a:endParaRPr lang="en-US" sz="850">
              <a:latin typeface="Aptos" panose="020B0004020202020204" pitchFamily="34" charset="0"/>
              <a:cs typeface="Arial"/>
            </a:endParaRPr>
          </a:p>
          <a:p>
            <a:pPr>
              <a:spcBef>
                <a:spcPts val="100"/>
              </a:spcBef>
              <a:spcAft>
                <a:spcPts val="100"/>
              </a:spcAft>
            </a:pPr>
            <a:r>
              <a:rPr lang="en-US" sz="850" b="1">
                <a:latin typeface="Aptos" panose="020B0004020202020204" pitchFamily="34" charset="0"/>
                <a:cs typeface="Arial"/>
              </a:rPr>
              <a:t>Highlights</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Cognizant SOW is under review with Cognizant and Braden's cabinet.</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Architect has been assigned.</a:t>
            </a:r>
          </a:p>
          <a:p>
            <a:pPr>
              <a:spcBef>
                <a:spcPts val="100"/>
              </a:spcBef>
              <a:spcAft>
                <a:spcPts val="100"/>
              </a:spcAft>
            </a:pPr>
            <a:endParaRPr lang="en-US" sz="850">
              <a:latin typeface="Aptos" panose="020B0004020202020204" pitchFamily="34" charset="0"/>
              <a:cs typeface="Arial"/>
            </a:endParaRPr>
          </a:p>
          <a:p>
            <a:pPr>
              <a:spcBef>
                <a:spcPts val="100"/>
              </a:spcBef>
              <a:spcAft>
                <a:spcPts val="100"/>
              </a:spcAft>
            </a:pPr>
            <a:r>
              <a:rPr lang="en-US" sz="850" b="1">
                <a:latin typeface="Aptos" panose="020B0004020202020204" pitchFamily="34" charset="0"/>
                <a:cs typeface="Arial"/>
              </a:rPr>
              <a:t>Next Steps</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Finalize the SOW.</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Kick off Discovery activities with Cognizant.</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Finalize project team structure and staffing.</a:t>
            </a:r>
          </a:p>
          <a:p>
            <a:pPr marL="171450" indent="-171450">
              <a:spcBef>
                <a:spcPts val="100"/>
              </a:spcBef>
              <a:spcAft>
                <a:spcPts val="100"/>
              </a:spcAft>
              <a:buFont typeface="Arial" panose="020B0604020202020204" pitchFamily="34" charset="0"/>
              <a:buChar char="•"/>
            </a:pPr>
            <a:r>
              <a:rPr lang="en-US" sz="850">
                <a:latin typeface="Aptos" panose="020B0004020202020204" pitchFamily="34" charset="0"/>
                <a:cs typeface="Arial"/>
              </a:rPr>
              <a:t>Complete milestone plan development and review.</a:t>
            </a:r>
          </a:p>
          <a:p>
            <a:pPr>
              <a:spcBef>
                <a:spcPts val="100"/>
              </a:spcBef>
              <a:spcAft>
                <a:spcPts val="100"/>
              </a:spcAft>
            </a:pPr>
            <a:endParaRPr lang="en-US" sz="850" kern="100">
              <a:latin typeface="Aptos" panose="020B0004020202020204" pitchFamily="34" charset="0"/>
              <a:cs typeface="Arial"/>
            </a:endParaRPr>
          </a:p>
          <a:p>
            <a:pPr>
              <a:spcBef>
                <a:spcPts val="100"/>
              </a:spcBef>
              <a:spcAft>
                <a:spcPts val="100"/>
              </a:spcAft>
            </a:pPr>
            <a:endParaRPr lang="en-US" sz="850" kern="100">
              <a:latin typeface="Aptos" panose="020B0004020202020204" pitchFamily="34" charset="0"/>
              <a:cs typeface="Arial"/>
            </a:endParaRPr>
          </a:p>
          <a:p>
            <a:pPr marL="171450" indent="-171450">
              <a:buFont typeface="Arial" panose="020B0604020202020204" pitchFamily="34" charset="0"/>
              <a:buChar char="•"/>
              <a:defRPr/>
            </a:pPr>
            <a:r>
              <a:rPr lang="en-US" sz="900" b="1">
                <a:latin typeface="Aptos" panose="020B0004020202020204" pitchFamily="34" charset="0"/>
              </a:rPr>
              <a:t>Sept month-end:</a:t>
            </a:r>
            <a:r>
              <a:rPr lang="en-US" sz="900">
                <a:latin typeface="Aptos" panose="020B0004020202020204" pitchFamily="34" charset="0"/>
              </a:rPr>
              <a:t> YTD spend is $2K, down $6K month over month. Year-end spend is forecast at $218K, $60K below approved budget due to delays in filing core team resources. The underspend will be released back to the Portfolio.</a:t>
            </a:r>
            <a:endParaRPr lang="en-US" sz="900">
              <a:solidFill>
                <a:prstClr val="black"/>
              </a:solidFill>
              <a:latin typeface="Aptos" panose="020B0004020202020204" pitchFamily="34" charset="0"/>
              <a:cs typeface="Arial" panose="020B0604020202020204" pitchFamily="34" charset="0"/>
            </a:endParaRPr>
          </a:p>
        </p:txBody>
      </p:sp>
      <p:sp>
        <p:nvSpPr>
          <p:cNvPr id="4" name="TextBox 2">
            <a:extLst>
              <a:ext uri="{FF2B5EF4-FFF2-40B4-BE49-F238E27FC236}">
                <a16:creationId xmlns:a16="http://schemas.microsoft.com/office/drawing/2014/main" id="{8C1F0A04-8262-58D4-E047-E292191334E2}"/>
              </a:ext>
            </a:extLst>
          </p:cNvPr>
          <p:cNvSpPr txBox="1"/>
          <p:nvPr/>
        </p:nvSpPr>
        <p:spPr>
          <a:xfrm>
            <a:off x="9466036" y="64244"/>
            <a:ext cx="3708400" cy="78303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2000"/>
              </a:lnSpc>
            </a:pPr>
            <a:r>
              <a:rPr lang="en-US" sz="1200">
                <a:latin typeface="Aptos"/>
              </a:rPr>
              <a:t>Project Manager :  Ali (Interim)</a:t>
            </a:r>
            <a:endParaRPr lang="en-US">
              <a:latin typeface="Aptos"/>
            </a:endParaRPr>
          </a:p>
          <a:p>
            <a:pPr>
              <a:lnSpc>
                <a:spcPct val="112000"/>
              </a:lnSpc>
            </a:pPr>
            <a:r>
              <a:rPr lang="en-US" sz="1200" err="1">
                <a:latin typeface="Aptos"/>
              </a:rPr>
              <a:t>OpEx</a:t>
            </a:r>
            <a:r>
              <a:rPr lang="en-US" sz="1200">
                <a:latin typeface="Aptos"/>
              </a:rPr>
              <a:t> Business Lead: Gary W</a:t>
            </a:r>
          </a:p>
          <a:p>
            <a:pPr algn="ctr"/>
            <a:endParaRPr lang="en-US"/>
          </a:p>
        </p:txBody>
      </p:sp>
      <p:sp>
        <p:nvSpPr>
          <p:cNvPr id="12" name="Flowchart: Connector 11">
            <a:extLst>
              <a:ext uri="{FF2B5EF4-FFF2-40B4-BE49-F238E27FC236}">
                <a16:creationId xmlns:a16="http://schemas.microsoft.com/office/drawing/2014/main" id="{E75E71F0-A936-C3CA-C542-F7E7C9148F6B}"/>
              </a:ext>
            </a:extLst>
          </p:cNvPr>
          <p:cNvSpPr/>
          <p:nvPr/>
        </p:nvSpPr>
        <p:spPr>
          <a:xfrm>
            <a:off x="8502153" y="55008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AD3C0446-7021-E8B3-5AF7-DE2011F48547}"/>
              </a:ext>
            </a:extLst>
          </p:cNvPr>
          <p:cNvSpPr/>
          <p:nvPr/>
        </p:nvSpPr>
        <p:spPr>
          <a:xfrm>
            <a:off x="8526272" y="2701748"/>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2F49A4DC-56C5-C4A5-66CB-E57964BBCA97}"/>
              </a:ext>
            </a:extLst>
          </p:cNvPr>
          <p:cNvSpPr/>
          <p:nvPr/>
        </p:nvSpPr>
        <p:spPr>
          <a:xfrm>
            <a:off x="8535655" y="302383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424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6A8F-9551-C729-7997-4A297DD8E77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003E7C2-6E37-E0D7-B8A6-5B9E52813F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1003E7C2-6E37-E0D7-B8A6-5B9E52813F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7DC42FA8-53EB-9AB6-DAA3-A60C55E1667A}"/>
              </a:ext>
            </a:extLst>
          </p:cNvPr>
          <p:cNvGraphicFramePr>
            <a:graphicFrameLocks noGrp="1"/>
          </p:cNvGraphicFramePr>
          <p:nvPr>
            <p:extLst>
              <p:ext uri="{D42A27DB-BD31-4B8C-83A1-F6EECF244321}">
                <p14:modId xmlns:p14="http://schemas.microsoft.com/office/powerpoint/2010/main" val="3501053981"/>
              </p:ext>
            </p:extLst>
          </p:nvPr>
        </p:nvGraphicFramePr>
        <p:xfrm>
          <a:off x="5758055" y="6475796"/>
          <a:ext cx="6385451" cy="366467"/>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66467">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D088F97-8667-C406-96B2-092F3581BB45}"/>
              </a:ext>
            </a:extLst>
          </p:cNvPr>
          <p:cNvSpPr>
            <a:spLocks noGrp="1"/>
          </p:cNvSpPr>
          <p:nvPr>
            <p:ph type="title"/>
          </p:nvPr>
        </p:nvSpPr>
        <p:spPr>
          <a:xfrm>
            <a:off x="269945" y="58323"/>
            <a:ext cx="11652110" cy="517320"/>
          </a:xfrm>
        </p:spPr>
        <p:txBody>
          <a:bodyPr vert="horz">
            <a:normAutofit/>
          </a:bodyPr>
          <a:lstStyle/>
          <a:p>
            <a:r>
              <a:rPr lang="en-US" sz="2400" b="1">
                <a:solidFill>
                  <a:srgbClr val="29389F"/>
                </a:solidFill>
                <a:latin typeface="Arial" pitchFamily="34" charset="0"/>
                <a:cs typeface="Arial" pitchFamily="34" charset="0"/>
              </a:rPr>
              <a:t>PPT: Pet Major Medical On GIN</a:t>
            </a:r>
          </a:p>
        </p:txBody>
      </p:sp>
      <p:graphicFrame>
        <p:nvGraphicFramePr>
          <p:cNvPr id="11" name="Group 513">
            <a:extLst>
              <a:ext uri="{FF2B5EF4-FFF2-40B4-BE49-F238E27FC236}">
                <a16:creationId xmlns:a16="http://schemas.microsoft.com/office/drawing/2014/main" id="{58E1C563-1183-E01F-6A88-FE555CF4697A}"/>
              </a:ext>
            </a:extLst>
          </p:cNvPr>
          <p:cNvGraphicFramePr>
            <a:graphicFrameLocks noGrp="1"/>
          </p:cNvGraphicFramePr>
          <p:nvPr>
            <p:extLst>
              <p:ext uri="{D42A27DB-BD31-4B8C-83A1-F6EECF244321}">
                <p14:modId xmlns:p14="http://schemas.microsoft.com/office/powerpoint/2010/main" val="3301674683"/>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51835D6A-73B5-8A7B-0858-290E7990DCAB}"/>
              </a:ext>
            </a:extLst>
          </p:cNvPr>
          <p:cNvGraphicFramePr>
            <a:graphicFrameLocks noGrp="1"/>
          </p:cNvGraphicFramePr>
          <p:nvPr>
            <p:extLst>
              <p:ext uri="{D42A27DB-BD31-4B8C-83A1-F6EECF244321}">
                <p14:modId xmlns:p14="http://schemas.microsoft.com/office/powerpoint/2010/main" val="2130972268"/>
              </p:ext>
            </p:extLst>
          </p:nvPr>
        </p:nvGraphicFramePr>
        <p:xfrm>
          <a:off x="6761832" y="845835"/>
          <a:ext cx="5332996" cy="752736"/>
        </p:xfrm>
        <a:graphic>
          <a:graphicData uri="http://schemas.openxmlformats.org/drawingml/2006/table">
            <a:tbl>
              <a:tblPr>
                <a:tableStyleId>{5C22544A-7EE6-4342-B048-85BDC9FD1C3A}</a:tableStyleId>
              </a:tblPr>
              <a:tblGrid>
                <a:gridCol w="1041555">
                  <a:extLst>
                    <a:ext uri="{9D8B030D-6E8A-4147-A177-3AD203B41FA5}">
                      <a16:colId xmlns:a16="http://schemas.microsoft.com/office/drawing/2014/main" val="2456552316"/>
                    </a:ext>
                  </a:extLst>
                </a:gridCol>
                <a:gridCol w="923159">
                  <a:extLst>
                    <a:ext uri="{9D8B030D-6E8A-4147-A177-3AD203B41FA5}">
                      <a16:colId xmlns:a16="http://schemas.microsoft.com/office/drawing/2014/main" val="2327174630"/>
                    </a:ext>
                  </a:extLst>
                </a:gridCol>
                <a:gridCol w="1509489">
                  <a:extLst>
                    <a:ext uri="{9D8B030D-6E8A-4147-A177-3AD203B41FA5}">
                      <a16:colId xmlns:a16="http://schemas.microsoft.com/office/drawing/2014/main" val="1100051595"/>
                    </a:ext>
                  </a:extLst>
                </a:gridCol>
                <a:gridCol w="910684">
                  <a:extLst>
                    <a:ext uri="{9D8B030D-6E8A-4147-A177-3AD203B41FA5}">
                      <a16:colId xmlns:a16="http://schemas.microsoft.com/office/drawing/2014/main" val="2042261034"/>
                    </a:ext>
                  </a:extLst>
                </a:gridCol>
                <a:gridCol w="948109">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$840,000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$306,913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$502,717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$809,631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$840,000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4F178FA-20E6-34BE-1803-08DD254AE78D}"/>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A5187552-8DB6-6B9F-9D1E-C6AD33CA1F62}"/>
              </a:ext>
            </a:extLst>
          </p:cNvPr>
          <p:cNvGraphicFramePr>
            <a:graphicFrameLocks noGrp="1"/>
          </p:cNvGraphicFramePr>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2/10/2027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DD87ECE-4493-C3F7-1113-A6E34028E3F2}"/>
              </a:ext>
            </a:extLst>
          </p:cNvPr>
          <p:cNvGraphicFramePr>
            <a:graphicFrameLocks noGrp="1"/>
          </p:cNvGraphicFramePr>
          <p:nvPr>
            <p:extLst>
              <p:ext uri="{D42A27DB-BD31-4B8C-83A1-F6EECF244321}">
                <p14:modId xmlns:p14="http://schemas.microsoft.com/office/powerpoint/2010/main" val="1018926396"/>
              </p:ext>
            </p:extLst>
          </p:nvPr>
        </p:nvGraphicFramePr>
        <p:xfrm>
          <a:off x="5779268" y="1589900"/>
          <a:ext cx="6353266" cy="2784357"/>
        </p:xfrm>
        <a:graphic>
          <a:graphicData uri="http://schemas.openxmlformats.org/drawingml/2006/table">
            <a:tbl>
              <a:tblPr>
                <a:tableStyleId>{5C22544A-7EE6-4342-B048-85BDC9FD1C3A}</a:tableStyleId>
              </a:tblPr>
              <a:tblGrid>
                <a:gridCol w="2410139">
                  <a:extLst>
                    <a:ext uri="{9D8B030D-6E8A-4147-A177-3AD203B41FA5}">
                      <a16:colId xmlns:a16="http://schemas.microsoft.com/office/drawing/2014/main" val="2456552316"/>
                    </a:ext>
                  </a:extLst>
                </a:gridCol>
                <a:gridCol w="452175">
                  <a:extLst>
                    <a:ext uri="{9D8B030D-6E8A-4147-A177-3AD203B41FA5}">
                      <a16:colId xmlns:a16="http://schemas.microsoft.com/office/drawing/2014/main" val="1100051595"/>
                    </a:ext>
                  </a:extLst>
                </a:gridCol>
                <a:gridCol w="714085">
                  <a:extLst>
                    <a:ext uri="{9D8B030D-6E8A-4147-A177-3AD203B41FA5}">
                      <a16:colId xmlns:a16="http://schemas.microsoft.com/office/drawing/2014/main" val="2042261034"/>
                    </a:ext>
                  </a:extLst>
                </a:gridCol>
                <a:gridCol w="2776867">
                  <a:extLst>
                    <a:ext uri="{9D8B030D-6E8A-4147-A177-3AD203B41FA5}">
                      <a16:colId xmlns:a16="http://schemas.microsoft.com/office/drawing/2014/main" val="2815874248"/>
                    </a:ext>
                  </a:extLst>
                </a:gridCol>
              </a:tblGrid>
              <a:tr h="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05449">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Aptos" panose="020B0004020202020204" pitchFamily="34" charset="0"/>
                          <a:ea typeface="+mn-ea"/>
                          <a:cs typeface="+mn-cs"/>
                        </a:rPr>
                        <a:t>DDIT</a:t>
                      </a:r>
                    </a:p>
                    <a:p>
                      <a:pPr marL="0" marR="0" lvl="0" indent="0" algn="l">
                        <a:lnSpc>
                          <a:spcPct val="100000"/>
                        </a:lnSpc>
                        <a:spcBef>
                          <a:spcPts val="0"/>
                        </a:spcBef>
                        <a:spcAft>
                          <a:spcPts val="0"/>
                        </a:spcAft>
                        <a:buClrTx/>
                        <a:buSzTx/>
                        <a:buFontTx/>
                        <a:buNone/>
                      </a:pPr>
                      <a:endParaRPr lang="en-US" sz="850" b="0"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12/23/26</a:t>
                      </a: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314204"/>
                  </a:ext>
                </a:extLst>
              </a:tr>
              <a:tr h="281241">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E2E Testing</a:t>
                      </a:r>
                    </a:p>
                    <a:p>
                      <a:pPr marL="0" marR="0" lvl="0" indent="0" algn="l">
                        <a:lnSpc>
                          <a:spcPct val="100000"/>
                        </a:lnSpc>
                        <a:spcBef>
                          <a:spcPts val="0"/>
                        </a:spcBef>
                        <a:spcAft>
                          <a:spcPts val="0"/>
                        </a:spcAft>
                        <a:buClrTx/>
                        <a:buSzTx/>
                        <a:buFontTx/>
                        <a:buNone/>
                      </a:pPr>
                      <a:endParaRPr lang="en-US" sz="850" b="0"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1/6/27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UAT Sign-off / Code Freeze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850" b="0" kern="1200">
                        <a:solidFill>
                          <a:schemeClr val="tx1"/>
                        </a:solidFill>
                        <a:effectLst/>
                        <a:latin typeface="Aptos" panose="020B0004020202020204" pitchFamily="34" charset="0"/>
                        <a:ea typeface="+mn-ea"/>
                        <a:cs typeface="+mn-cs"/>
                      </a:endParaRPr>
                    </a:p>
                    <a:p>
                      <a:pPr marL="0" marR="0" lvl="0" indent="0" algn="ctr" defTabSz="914400">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NS</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1/29/27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Final Regression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81336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Staging Validations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2/9/27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92333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Production Deployment</a:t>
                      </a:r>
                    </a:p>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2/10/27</a:t>
                      </a:r>
                    </a:p>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3813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Warranty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3/31/27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6633032"/>
                  </a:ext>
                </a:extLst>
              </a:tr>
            </a:tbl>
          </a:graphicData>
        </a:graphic>
      </p:graphicFrame>
      <p:graphicFrame>
        <p:nvGraphicFramePr>
          <p:cNvPr id="29" name="Table 28">
            <a:extLst>
              <a:ext uri="{FF2B5EF4-FFF2-40B4-BE49-F238E27FC236}">
                <a16:creationId xmlns:a16="http://schemas.microsoft.com/office/drawing/2014/main" id="{BFAC13AF-56D2-699B-D3F0-C2BFE801BB0B}"/>
              </a:ext>
            </a:extLst>
          </p:cNvPr>
          <p:cNvGraphicFramePr>
            <a:graphicFrameLocks noGrp="1"/>
          </p:cNvGraphicFramePr>
          <p:nvPr>
            <p:extLst>
              <p:ext uri="{D42A27DB-BD31-4B8C-83A1-F6EECF244321}">
                <p14:modId xmlns:p14="http://schemas.microsoft.com/office/powerpoint/2010/main" val="3598114251"/>
              </p:ext>
            </p:extLst>
          </p:nvPr>
        </p:nvGraphicFramePr>
        <p:xfrm>
          <a:off x="5769029" y="4461933"/>
          <a:ext cx="6363505" cy="1548788"/>
        </p:xfrm>
        <a:graphic>
          <a:graphicData uri="http://schemas.openxmlformats.org/drawingml/2006/table">
            <a:tbl>
              <a:tblPr>
                <a:tableStyleId>{5C22544A-7EE6-4342-B048-85BDC9FD1C3A}</a:tableStyleId>
              </a:tblPr>
              <a:tblGrid>
                <a:gridCol w="2376175">
                  <a:extLst>
                    <a:ext uri="{9D8B030D-6E8A-4147-A177-3AD203B41FA5}">
                      <a16:colId xmlns:a16="http://schemas.microsoft.com/office/drawing/2014/main" val="2456552316"/>
                    </a:ext>
                  </a:extLst>
                </a:gridCol>
                <a:gridCol w="499761">
                  <a:extLst>
                    <a:ext uri="{9D8B030D-6E8A-4147-A177-3AD203B41FA5}">
                      <a16:colId xmlns:a16="http://schemas.microsoft.com/office/drawing/2014/main" val="1100051595"/>
                    </a:ext>
                  </a:extLst>
                </a:gridCol>
                <a:gridCol w="465007">
                  <a:extLst>
                    <a:ext uri="{9D8B030D-6E8A-4147-A177-3AD203B41FA5}">
                      <a16:colId xmlns:a16="http://schemas.microsoft.com/office/drawing/2014/main" val="2042261034"/>
                    </a:ext>
                  </a:extLst>
                </a:gridCol>
                <a:gridCol w="3022562">
                  <a:extLst>
                    <a:ext uri="{9D8B030D-6E8A-4147-A177-3AD203B41FA5}">
                      <a16:colId xmlns:a16="http://schemas.microsoft.com/office/drawing/2014/main" val="2815874248"/>
                    </a:ext>
                  </a:extLst>
                </a:gridCol>
              </a:tblGrid>
              <a:tr h="45593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3792">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AT line has raised capacity risk to support Feb-27 timeline</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kern="1200">
                          <a:solidFill>
                            <a:schemeClr val="tx1"/>
                          </a:solidFill>
                          <a:latin typeface="Aptos" panose="020B0004020202020204" pitchFamily="34" charset="0"/>
                          <a:ea typeface="+mn-ea"/>
                          <a:cs typeface="Arial"/>
                        </a:rPr>
                        <a:t>11/30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a:latin typeface="Aptos" panose="020B0004020202020204" pitchFamily="34" charset="0"/>
                        </a:rPr>
                        <a:t>Mitigation -  Sequencing the work from highest priority to lowest priority.</a:t>
                      </a:r>
                      <a:endParaRPr lang="en-US" sz="850" b="0" i="0" u="none" strike="noStrike" kern="1200" noProof="0">
                        <a:solidFill>
                          <a:srgbClr val="000000"/>
                        </a:solidFill>
                        <a:effectLst/>
                        <a:latin typeface="Aptos" panose="020B0004020202020204" pitchFamily="34" charset="0"/>
                      </a:endParaRP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r h="284201">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MiM Capacity issues and Commitment to Feb-27 release</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kern="1200">
                          <a:solidFill>
                            <a:schemeClr val="tx1"/>
                          </a:solidFill>
                          <a:latin typeface="Aptos" panose="020B0004020202020204" pitchFamily="34" charset="0"/>
                          <a:ea typeface="+mn-ea"/>
                          <a:cs typeface="Arial"/>
                        </a:rPr>
                        <a:t>11/30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a:latin typeface="Aptos" panose="020B0004020202020204" pitchFamily="34" charset="0"/>
                        </a:rPr>
                        <a:t>Mitigation </a:t>
                      </a:r>
                      <a:r>
                        <a:rPr lang="en-US" sz="850" b="0" i="0" u="none" strike="noStrike" kern="1200" noProof="0">
                          <a:solidFill>
                            <a:srgbClr val="000000"/>
                          </a:solidFill>
                          <a:effectLst/>
                          <a:latin typeface="Aptos" panose="020B0004020202020204" pitchFamily="34" charset="0"/>
                        </a:rPr>
                        <a:t> – Prioritization, Demand/Capacity Review and other options </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3646319"/>
                  </a:ext>
                </a:extLst>
              </a:tr>
              <a:tr h="484856">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EW Prioritization issue</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kern="1200">
                          <a:solidFill>
                            <a:schemeClr val="tx1"/>
                          </a:solidFill>
                          <a:latin typeface="Aptos" panose="020B0004020202020204" pitchFamily="34" charset="0"/>
                          <a:ea typeface="+mn-ea"/>
                          <a:cs typeface="Arial"/>
                        </a:rPr>
                        <a:t>11/30</a:t>
                      </a:r>
                    </a:p>
                    <a:p>
                      <a:pPr lvl="0" algn="ctr">
                        <a:buNone/>
                      </a:pPr>
                      <a:endParaRPr lang="en-US" sz="850" kern="1200">
                        <a:solidFill>
                          <a:schemeClr val="tx1"/>
                        </a:solidFill>
                        <a:latin typeface="Aptos" panose="020B0004020202020204" pitchFamily="34" charset="0"/>
                        <a:ea typeface="+mn-ea"/>
                        <a:cs typeface="Arial"/>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Mitigation </a:t>
                      </a:r>
                      <a:r>
                        <a:rPr lang="en-US" sz="850" b="0" i="0" u="none" strike="noStrike" kern="1200" noProof="0">
                          <a:solidFill>
                            <a:srgbClr val="000000"/>
                          </a:solidFill>
                          <a:effectLst/>
                          <a:latin typeface="Aptos" panose="020B0004020202020204" pitchFamily="34" charset="0"/>
                        </a:rPr>
                        <a:t> – Prioritization, Demand/Capacity Review and other options </a:t>
                      </a:r>
                    </a:p>
                    <a:p>
                      <a:pPr lvl="0" algn="l">
                        <a:lnSpc>
                          <a:spcPct val="100000"/>
                        </a:lnSpc>
                        <a:spcBef>
                          <a:spcPts val="0"/>
                        </a:spcBef>
                        <a:spcAft>
                          <a:spcPts val="0"/>
                        </a:spcAft>
                        <a:buNone/>
                      </a:pPr>
                      <a:endParaRPr lang="en-US" sz="850" b="0" i="0" u="none" strike="noStrike" kern="1200" noProof="0">
                        <a:solidFill>
                          <a:srgbClr val="000000"/>
                        </a:solidFill>
                        <a:effectLst/>
                        <a:latin typeface="Aptos" panose="020B0004020202020204" pitchFamily="34" charset="0"/>
                      </a:endParaRP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6162940"/>
                  </a:ext>
                </a:extLst>
              </a:tr>
            </a:tbl>
          </a:graphicData>
        </a:graphic>
      </p:graphicFrame>
      <p:sp>
        <p:nvSpPr>
          <p:cNvPr id="33" name="Flowchart: Connector 32">
            <a:extLst>
              <a:ext uri="{FF2B5EF4-FFF2-40B4-BE49-F238E27FC236}">
                <a16:creationId xmlns:a16="http://schemas.microsoft.com/office/drawing/2014/main" id="{DB689AC5-F2DA-FE5D-F932-08FEE1FED1C7}"/>
              </a:ext>
            </a:extLst>
          </p:cNvPr>
          <p:cNvSpPr/>
          <p:nvPr/>
        </p:nvSpPr>
        <p:spPr>
          <a:xfrm>
            <a:off x="7302573" y="660474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7DA312A5-4C60-8E9A-5DDD-5FD003C3EF4D}"/>
              </a:ext>
            </a:extLst>
          </p:cNvPr>
          <p:cNvSpPr/>
          <p:nvPr/>
        </p:nvSpPr>
        <p:spPr>
          <a:xfrm>
            <a:off x="8321067" y="6597372"/>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4414B88D-0229-5A21-CB8D-C6FAB378BE38}"/>
              </a:ext>
            </a:extLst>
          </p:cNvPr>
          <p:cNvSpPr/>
          <p:nvPr/>
        </p:nvSpPr>
        <p:spPr>
          <a:xfrm>
            <a:off x="9194014" y="6609508"/>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6C4E2B49-BCE3-F93C-7579-344A2D1134B2}"/>
              </a:ext>
            </a:extLst>
          </p:cNvPr>
          <p:cNvSpPr/>
          <p:nvPr/>
        </p:nvSpPr>
        <p:spPr>
          <a:xfrm>
            <a:off x="3328610" y="132965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31F7606F-C4F5-7F06-F1DE-ACE52BFF6B64}"/>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4619A858-D367-E434-2EFD-A3175A4E2187}"/>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02AF2395-9EB4-7801-E5FD-F689394B8655}"/>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56E7D1-9DFA-78F9-DC3F-DFA6FA949111}"/>
              </a:ext>
            </a:extLst>
          </p:cNvPr>
          <p:cNvSpPr txBox="1"/>
          <p:nvPr/>
        </p:nvSpPr>
        <p:spPr>
          <a:xfrm>
            <a:off x="119511" y="1676415"/>
            <a:ext cx="5659756" cy="3474413"/>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FFFF00"/>
                </a:highlight>
                <a:latin typeface="Aptos" panose="020B0004020202020204" pitchFamily="34" charset="0"/>
                <a:cs typeface="Arial"/>
              </a:rPr>
              <a:t>Yellow</a:t>
            </a:r>
          </a:p>
          <a:p>
            <a:r>
              <a:rPr lang="en-US" sz="850">
                <a:latin typeface="Aptos" panose="020B0004020202020204" pitchFamily="34" charset="0"/>
              </a:rPr>
              <a:t>Project status is Yellow due to  DDIT completion risk by EW, MiM and AT Lines  for  making  2/10/2027 delivery timeline.</a:t>
            </a:r>
          </a:p>
          <a:p>
            <a:endParaRPr lang="en-US" sz="850">
              <a:latin typeface="Aptos" panose="020B0004020202020204" pitchFamily="34" charset="0"/>
            </a:endParaRPr>
          </a:p>
          <a:p>
            <a:r>
              <a:rPr lang="en-US" sz="850">
                <a:latin typeface="Aptos" panose="020B0004020202020204" pitchFamily="34" charset="0"/>
              </a:rPr>
              <a:t>Delivery timeline  for the change request(Z-160) and Reporting work is yet to be finalized.  </a:t>
            </a:r>
          </a:p>
          <a:p>
            <a:endParaRPr lang="en-US" sz="900"/>
          </a:p>
          <a:p>
            <a:r>
              <a:rPr lang="en-US" sz="900"/>
              <a:t>Refinement and DDIT are progressing across the lines toward the February 10, 2027 production target. MiM capacity remains the key commitment assumption; AT/ETL sequencing and alignment require active monitoring.</a:t>
            </a:r>
          </a:p>
          <a:p>
            <a:endParaRPr lang="en-US" sz="900"/>
          </a:p>
          <a:p>
            <a:r>
              <a:rPr lang="en-US" sz="900"/>
              <a:t> </a:t>
            </a:r>
            <a:r>
              <a:rPr lang="en-US" sz="850">
                <a:latin typeface="Aptos" panose="020B0004020202020204" pitchFamily="34" charset="0"/>
              </a:rPr>
              <a:t>The team will continue to monitor capacity/prioritization and other risks to ensure the alignment to Feb-2027 timeline</a:t>
            </a:r>
          </a:p>
          <a:p>
            <a:pPr marL="171450" indent="-171450">
              <a:buFont typeface="Arial"/>
              <a:buChar char="•"/>
            </a:pPr>
            <a:endParaRPr lang="en-US" sz="850" b="1">
              <a:latin typeface="Aptos" panose="020B0004020202020204" pitchFamily="34" charset="0"/>
              <a:cs typeface="Arial"/>
            </a:endParaRPr>
          </a:p>
          <a:p>
            <a:r>
              <a:rPr lang="en-US" sz="850" b="1">
                <a:latin typeface="Aptos" panose="020B0004020202020204" pitchFamily="34" charset="0"/>
              </a:rPr>
              <a:t>Highlights:</a:t>
            </a:r>
            <a:endParaRPr lang="en-US" sz="850">
              <a:latin typeface="Aptos" panose="020B0004020202020204" pitchFamily="34" charset="0"/>
            </a:endParaRPr>
          </a:p>
          <a:p>
            <a:pPr marL="171450" indent="-171450">
              <a:buFont typeface="Arial" panose="020B0604020202020204" pitchFamily="34" charset="0"/>
              <a:buChar char="•"/>
            </a:pPr>
            <a:r>
              <a:rPr lang="en-US" sz="850">
                <a:latin typeface="Aptos" panose="020B0004020202020204" pitchFamily="34" charset="0"/>
              </a:rPr>
              <a:t>MiM commitment received based on the availability of a second developer for the Partnership API workstream.</a:t>
            </a:r>
          </a:p>
          <a:p>
            <a:pPr marL="171450" indent="-171450">
              <a:buFont typeface="Arial"/>
              <a:buChar char="•"/>
            </a:pPr>
            <a:r>
              <a:rPr lang="en-US" sz="850">
                <a:latin typeface="Aptos" panose="020B0004020202020204" pitchFamily="34" charset="0"/>
                <a:cs typeface="Arial"/>
              </a:rPr>
              <a:t>Requirements for the  CR Z-160 are being finalized  and delivery timeline alignment is pending.</a:t>
            </a:r>
          </a:p>
          <a:p>
            <a:pPr marL="171450" indent="-171450">
              <a:buFont typeface="Arial"/>
              <a:buChar char="•"/>
            </a:pPr>
            <a:r>
              <a:rPr lang="en-US" sz="850">
                <a:latin typeface="Aptos" panose="020B0004020202020204" pitchFamily="34" charset="0"/>
                <a:cs typeface="Arial"/>
              </a:rPr>
              <a:t>Test Strategy is prepared and being finalized.</a:t>
            </a:r>
          </a:p>
          <a:p>
            <a:endParaRPr lang="en-US" sz="850">
              <a:latin typeface="Aptos" panose="020B0004020202020204" pitchFamily="34" charset="0"/>
              <a:cs typeface="Arial"/>
            </a:endParaRPr>
          </a:p>
          <a:p>
            <a:pPr marL="171450" indent="-171450">
              <a:buFont typeface="Arial"/>
              <a:buChar char="•"/>
            </a:pPr>
            <a:endParaRPr lang="en-US" sz="850">
              <a:latin typeface="Aptos" panose="020B0004020202020204" pitchFamily="34" charset="0"/>
              <a:cs typeface="Arial"/>
            </a:endParaRP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p>
          <a:p>
            <a:pPr marL="171450" indent="-171450">
              <a:buFont typeface="Arial" panose="020B0604020202020204" pitchFamily="34" charset="0"/>
              <a:buChar char="•"/>
            </a:pPr>
            <a:r>
              <a:rPr lang="en-US" sz="850">
                <a:latin typeface="Aptos" panose="020B0004020202020204" pitchFamily="34" charset="0"/>
                <a:cs typeface="Arial"/>
              </a:rPr>
              <a:t>Z-160 Requirements Clarifications</a:t>
            </a:r>
          </a:p>
          <a:p>
            <a:pPr marL="171450" indent="-171450">
              <a:buFont typeface="Arial" panose="020B0604020202020204" pitchFamily="34" charset="0"/>
              <a:buChar char="•"/>
            </a:pPr>
            <a:r>
              <a:rPr lang="en-US" sz="850">
                <a:latin typeface="Aptos" panose="020B0004020202020204" pitchFamily="34" charset="0"/>
                <a:cs typeface="Arial"/>
              </a:rPr>
              <a:t>Refinement completion by the impacted lines</a:t>
            </a:r>
          </a:p>
          <a:p>
            <a:pPr marL="171450" indent="-171450">
              <a:buFont typeface="Arial" panose="020B0604020202020204" pitchFamily="34" charset="0"/>
              <a:buChar char="•"/>
            </a:pPr>
            <a:r>
              <a:rPr lang="en-US" sz="850">
                <a:latin typeface="Aptos" panose="020B0004020202020204" pitchFamily="34" charset="0"/>
                <a:cs typeface="Arial"/>
              </a:rPr>
              <a:t>Test Strategy finalization</a:t>
            </a:r>
          </a:p>
          <a:p>
            <a:pPr marL="171450" indent="-171450">
              <a:buFont typeface="Arial" panose="020B0604020202020204" pitchFamily="34" charset="0"/>
              <a:buChar char="•"/>
            </a:pPr>
            <a:r>
              <a:rPr lang="en-US" sz="850">
                <a:latin typeface="Aptos" panose="020B0004020202020204" pitchFamily="34" charset="0"/>
                <a:cs typeface="Arial"/>
              </a:rPr>
              <a:t>UAT Strategy finalization</a:t>
            </a:r>
          </a:p>
          <a:p>
            <a:pPr marL="171450" indent="-171450">
              <a:buFont typeface="Arial" panose="020B0604020202020204" pitchFamily="34" charset="0"/>
              <a:buChar char="•"/>
            </a:pPr>
            <a:endParaRPr lang="en-US" sz="850">
              <a:latin typeface="Aptos" panose="020B0004020202020204" pitchFamily="34" charset="0"/>
              <a:cs typeface="Arial"/>
            </a:endParaRPr>
          </a:p>
          <a:p>
            <a:endParaRPr lang="en-US" sz="850">
              <a:latin typeface="Aptos" panose="02110004020202020204"/>
              <a:cs typeface="Arial"/>
            </a:endParaRPr>
          </a:p>
          <a:p>
            <a:pPr marL="171450" indent="-171450">
              <a:buFont typeface="Arial" panose="020B0604020202020204" pitchFamily="34" charset="0"/>
              <a:buChar char="•"/>
            </a:pPr>
            <a:endParaRPr lang="en-US" sz="900" kern="100">
              <a:latin typeface="+mj-lt"/>
              <a:cs typeface="Arial"/>
            </a:endParaRPr>
          </a:p>
        </p:txBody>
      </p:sp>
      <p:sp>
        <p:nvSpPr>
          <p:cNvPr id="4" name="TextBox 2">
            <a:extLst>
              <a:ext uri="{FF2B5EF4-FFF2-40B4-BE49-F238E27FC236}">
                <a16:creationId xmlns:a16="http://schemas.microsoft.com/office/drawing/2014/main" id="{8421BB09-FB24-66E4-39C1-D28CDC6B6FF9}"/>
              </a:ext>
            </a:extLst>
          </p:cNvPr>
          <p:cNvSpPr txBox="1"/>
          <p:nvPr/>
        </p:nvSpPr>
        <p:spPr>
          <a:xfrm>
            <a:off x="9624947" y="142053"/>
            <a:ext cx="3708400" cy="703782"/>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Shilpa K​</a:t>
            </a:r>
          </a:p>
          <a:p>
            <a:r>
              <a:rPr lang="en-US" err="1"/>
              <a:t>OpEx</a:t>
            </a:r>
            <a:r>
              <a:rPr lang="en-US"/>
              <a:t> Business Lead: Gary W</a:t>
            </a:r>
          </a:p>
          <a:p>
            <a:endParaRPr lang="en-US"/>
          </a:p>
        </p:txBody>
      </p:sp>
      <p:sp>
        <p:nvSpPr>
          <p:cNvPr id="15" name="Flowchart: Connector 14">
            <a:extLst>
              <a:ext uri="{FF2B5EF4-FFF2-40B4-BE49-F238E27FC236}">
                <a16:creationId xmlns:a16="http://schemas.microsoft.com/office/drawing/2014/main" id="{37E29612-A33F-8ED7-4A2D-15B71EEE599D}"/>
              </a:ext>
            </a:extLst>
          </p:cNvPr>
          <p:cNvSpPr/>
          <p:nvPr/>
        </p:nvSpPr>
        <p:spPr>
          <a:xfrm>
            <a:off x="8281758" y="529004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091453C6-208F-42AB-130F-22E31C5171E2}"/>
              </a:ext>
            </a:extLst>
          </p:cNvPr>
          <p:cNvSpPr/>
          <p:nvPr/>
        </p:nvSpPr>
        <p:spPr>
          <a:xfrm>
            <a:off x="8321068" y="209886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8D5102BA-1410-3B3D-E638-948ECBAEE387}"/>
              </a:ext>
            </a:extLst>
          </p:cNvPr>
          <p:cNvSpPr/>
          <p:nvPr/>
        </p:nvSpPr>
        <p:spPr>
          <a:xfrm>
            <a:off x="8291058" y="560923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DF827B4B-55F6-24CC-4210-646218E5DDC8}"/>
              </a:ext>
            </a:extLst>
          </p:cNvPr>
          <p:cNvSpPr/>
          <p:nvPr/>
        </p:nvSpPr>
        <p:spPr>
          <a:xfrm>
            <a:off x="8291058" y="497521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8035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6317-2A85-8756-7E3D-A0D39F5AA5B6}"/>
            </a:ext>
          </a:extLst>
        </p:cNvPr>
        <p:cNvGrpSpPr/>
        <p:nvPr/>
      </p:nvGrpSpPr>
      <p:grpSpPr>
        <a:xfrm>
          <a:off x="0" y="0"/>
          <a:ext cx="0" cy="0"/>
          <a:chOff x="0" y="0"/>
          <a:chExt cx="0" cy="0"/>
        </a:xfrm>
      </p:grpSpPr>
      <p:graphicFrame>
        <p:nvGraphicFramePr>
          <p:cNvPr id="27" name="Table 26">
            <a:extLst>
              <a:ext uri="{FF2B5EF4-FFF2-40B4-BE49-F238E27FC236}">
                <a16:creationId xmlns:a16="http://schemas.microsoft.com/office/drawing/2014/main" id="{8AFCCF80-BEAF-DD04-B95A-D15CFA8CC9A4}"/>
              </a:ext>
            </a:extLst>
          </p:cNvPr>
          <p:cNvGraphicFramePr>
            <a:graphicFrameLocks noGrp="1"/>
          </p:cNvGraphicFramePr>
          <p:nvPr>
            <p:extLst>
              <p:ext uri="{D42A27DB-BD31-4B8C-83A1-F6EECF244321}">
                <p14:modId xmlns:p14="http://schemas.microsoft.com/office/powerpoint/2010/main" val="1955770571"/>
              </p:ext>
            </p:extLst>
          </p:nvPr>
        </p:nvGraphicFramePr>
        <p:xfrm>
          <a:off x="6255888" y="1366975"/>
          <a:ext cx="5876636" cy="3382195"/>
        </p:xfrm>
        <a:graphic>
          <a:graphicData uri="http://schemas.openxmlformats.org/drawingml/2006/table">
            <a:tbl>
              <a:tblPr>
                <a:tableStyleId>{5C22544A-7EE6-4342-B048-85BDC9FD1C3A}</a:tableStyleId>
              </a:tblPr>
              <a:tblGrid>
                <a:gridCol w="2496813">
                  <a:extLst>
                    <a:ext uri="{9D8B030D-6E8A-4147-A177-3AD203B41FA5}">
                      <a16:colId xmlns:a16="http://schemas.microsoft.com/office/drawing/2014/main" val="2456552316"/>
                    </a:ext>
                  </a:extLst>
                </a:gridCol>
                <a:gridCol w="598560">
                  <a:extLst>
                    <a:ext uri="{9D8B030D-6E8A-4147-A177-3AD203B41FA5}">
                      <a16:colId xmlns:a16="http://schemas.microsoft.com/office/drawing/2014/main" val="1100051595"/>
                    </a:ext>
                  </a:extLst>
                </a:gridCol>
                <a:gridCol w="605772">
                  <a:extLst>
                    <a:ext uri="{9D8B030D-6E8A-4147-A177-3AD203B41FA5}">
                      <a16:colId xmlns:a16="http://schemas.microsoft.com/office/drawing/2014/main" val="2042261034"/>
                    </a:ext>
                  </a:extLst>
                </a:gridCol>
                <a:gridCol w="2175491">
                  <a:extLst>
                    <a:ext uri="{9D8B030D-6E8A-4147-A177-3AD203B41FA5}">
                      <a16:colId xmlns:a16="http://schemas.microsoft.com/office/drawing/2014/main" val="2815874248"/>
                    </a:ext>
                  </a:extLst>
                </a:gridCol>
              </a:tblGrid>
              <a:tr h="32093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Upcoming 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Notes</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027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noProof="0">
                          <a:solidFill>
                            <a:schemeClr val="tx1"/>
                          </a:solidFill>
                          <a:latin typeface="Aptos"/>
                          <a:ea typeface="Calibri" panose="020F0502020204030204"/>
                          <a:cs typeface="Calibri" panose="020F0502020204030204"/>
                        </a:rPr>
                        <a:t>Email Ingestion- (Interim)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kern="1200">
                          <a:solidFill>
                            <a:schemeClr val="tx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a:ea typeface="+mn-ea"/>
                          <a:cs typeface="+mn-cs"/>
                        </a:rPr>
                        <a:t>9/17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a:lnSpc>
                          <a:spcPct val="114999"/>
                        </a:lnSpc>
                        <a:spcBef>
                          <a:spcPts val="0"/>
                        </a:spcBef>
                        <a:spcAft>
                          <a:spcPts val="800"/>
                        </a:spcAft>
                        <a:buNone/>
                      </a:pPr>
                      <a:r>
                        <a:rPr lang="en-US" sz="850" kern="1200" noProof="0">
                          <a:solidFill>
                            <a:schemeClr val="tx1"/>
                          </a:solidFill>
                          <a:latin typeface="Aptos"/>
                        </a:rPr>
                        <a:t>Dark launch completed on 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58870591"/>
                  </a:ext>
                </a:extLst>
              </a:tr>
              <a:tr h="3027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noProof="0">
                          <a:solidFill>
                            <a:schemeClr val="tx1"/>
                          </a:solidFill>
                          <a:latin typeface="Aptos"/>
                          <a:ea typeface="Calibri" panose="020F0502020204030204"/>
                          <a:cs typeface="Calibri" panose="020F0502020204030204"/>
                        </a:rPr>
                        <a:t>Document Submission Service (Dark Launch)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kern="1200">
                          <a:solidFill>
                            <a:schemeClr val="tx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a:ea typeface="+mn-ea"/>
                          <a:cs typeface="+mn-cs"/>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a:lnSpc>
                          <a:spcPct val="114999"/>
                        </a:lnSpc>
                        <a:spcBef>
                          <a:spcPts val="0"/>
                        </a:spcBef>
                        <a:spcAft>
                          <a:spcPts val="800"/>
                        </a:spcAft>
                        <a:buNone/>
                      </a:pPr>
                      <a:endParaRPr lang="en-US" sz="850" kern="1200" noProof="0">
                        <a:solidFill>
                          <a:schemeClr val="tx1"/>
                        </a:solidFill>
                        <a:latin typeface="Apto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30502650"/>
                  </a:ext>
                </a:extLst>
              </a:tr>
              <a:tr h="388909">
                <a:tc>
                  <a:txBody>
                    <a:bodyPr/>
                    <a:lstStyle/>
                    <a:p>
                      <a:pPr marL="0" marR="0" lvl="0" indent="0" algn="l" rtl="0" eaLnBrk="1" fontAlgn="auto" latinLnBrk="0" hangingPunct="1">
                        <a:lnSpc>
                          <a:spcPct val="100000"/>
                        </a:lnSpc>
                        <a:spcBef>
                          <a:spcPts val="0"/>
                        </a:spcBef>
                        <a:spcAft>
                          <a:spcPts val="0"/>
                        </a:spcAft>
                        <a:buClrTx/>
                        <a:buSzTx/>
                        <a:buFontTx/>
                        <a:buNone/>
                      </a:pPr>
                      <a:r>
                        <a:rPr lang="en-US" sz="850" kern="1200" noProof="0">
                          <a:solidFill>
                            <a:schemeClr val="tx1"/>
                          </a:solidFill>
                          <a:latin typeface="Aptos"/>
                          <a:ea typeface="Calibri"/>
                          <a:cs typeface="Calibri"/>
                        </a:rPr>
                        <a:t>Claims Notification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strike="sngStrike" kern="1200">
                          <a:solidFill>
                            <a:schemeClr val="tx1"/>
                          </a:solidFill>
                          <a:latin typeface="Aptos"/>
                          <a:ea typeface="+mn-ea"/>
                          <a:cs typeface="+mn-cs"/>
                        </a:rPr>
                        <a:t>10/8</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strike="noStrike" kern="1200">
                          <a:solidFill>
                            <a:schemeClr val="tx1"/>
                          </a:solidFill>
                          <a:latin typeface="Aptos"/>
                          <a:ea typeface="+mn-ea"/>
                          <a:cs typeface="+mn-cs"/>
                        </a:rPr>
                        <a:t>10/15</a:t>
                      </a:r>
                    </a:p>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strike="sngStrike" kern="1200">
                        <a:solidFill>
                          <a:schemeClr val="tx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kern="1200" noProof="0">
                        <a:solidFill>
                          <a:schemeClr val="tx1"/>
                        </a:solidFill>
                        <a:latin typeface="Apto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538561"/>
                  </a:ext>
                </a:extLst>
              </a:tr>
              <a:tr h="388909">
                <a:tc>
                  <a:txBody>
                    <a:bodyPr/>
                    <a:lstStyle/>
                    <a:p>
                      <a:pPr marL="0" marR="0" lvl="0" indent="0" algn="l" rtl="0" eaLnBrk="1" fontAlgn="auto" latinLnBrk="0" hangingPunct="1">
                        <a:lnSpc>
                          <a:spcPct val="100000"/>
                        </a:lnSpc>
                        <a:spcBef>
                          <a:spcPts val="0"/>
                        </a:spcBef>
                        <a:spcAft>
                          <a:spcPts val="0"/>
                        </a:spcAft>
                        <a:buClrTx/>
                        <a:buSzTx/>
                        <a:buFontTx/>
                        <a:buNone/>
                      </a:pPr>
                      <a:r>
                        <a:rPr lang="en-US" sz="850" kern="1200" noProof="0">
                          <a:solidFill>
                            <a:schemeClr val="tx1"/>
                          </a:solidFill>
                          <a:latin typeface="Aptos"/>
                          <a:ea typeface="Calibri"/>
                          <a:cs typeface="Calibri"/>
                        </a:rPr>
                        <a:t>Portal Ingestion – Tail Blazers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strike="noStrike" kern="1200">
                          <a:solidFill>
                            <a:schemeClr val="tx1"/>
                          </a:solidFill>
                          <a:latin typeface="Aptos"/>
                          <a:ea typeface="+mn-ea"/>
                          <a:cs typeface="+mn-cs"/>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kern="1200" noProof="0">
                          <a:solidFill>
                            <a:schemeClr val="tx1"/>
                          </a:solidFill>
                          <a:latin typeface="Aptos"/>
                        </a:rPr>
                        <a:t>Portal Team deployed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4105590"/>
                  </a:ext>
                </a:extLst>
              </a:tr>
              <a:tr h="388909">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kern="1200">
                          <a:solidFill>
                            <a:schemeClr val="tx1"/>
                          </a:solidFill>
                          <a:latin typeface="Aptos"/>
                          <a:ea typeface="Calibri"/>
                          <a:cs typeface="Calibri"/>
                        </a:rPr>
                        <a:t>Claims Submission Processing Feature </a:t>
                      </a:r>
                      <a:endParaRPr lang="en-US" sz="850" kern="1200" noProof="0">
                        <a:solidFill>
                          <a:schemeClr val="tx1"/>
                        </a:solidFill>
                        <a:latin typeface="Aptos"/>
                        <a:ea typeface="Calibri"/>
                        <a:cs typeface="Calibri"/>
                      </a:endParaRPr>
                    </a:p>
                    <a:p>
                      <a:pPr marL="0" marR="0" lvl="0" indent="0" algn="l" rtl="0" eaLnBrk="1" fontAlgn="auto" latinLnBrk="0" hangingPunct="1">
                        <a:lnSpc>
                          <a:spcPct val="100000"/>
                        </a:lnSpc>
                        <a:spcBef>
                          <a:spcPts val="0"/>
                        </a:spcBef>
                        <a:spcAft>
                          <a:spcPts val="0"/>
                        </a:spcAft>
                        <a:buClrTx/>
                        <a:buSzTx/>
                        <a:buFontTx/>
                        <a:buNone/>
                      </a:pPr>
                      <a:endParaRPr lang="en-US" sz="850" kern="1200" noProof="0">
                        <a:solidFill>
                          <a:schemeClr val="tx1"/>
                        </a:solidFill>
                        <a:latin typeface="Aptos"/>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a:ea typeface="+mn-ea"/>
                          <a:cs typeface="+mn-cs"/>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kern="1200" noProof="0">
                          <a:solidFill>
                            <a:schemeClr val="tx1"/>
                          </a:solidFill>
                          <a:latin typeface="Aptos"/>
                        </a:rPr>
                        <a:t>DP, REN, GIN, MiM development by 10/15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95391"/>
                  </a:ext>
                </a:extLst>
              </a:tr>
              <a:tr h="39328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kern="1200" noProof="0">
                          <a:solidFill>
                            <a:schemeClr val="tx1"/>
                          </a:solidFill>
                          <a:latin typeface="Aptos"/>
                          <a:ea typeface="Calibri"/>
                          <a:cs typeface="Calibri"/>
                        </a:rPr>
                        <a:t>Email Ingestion- (Interim) and Document Transformation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900" kern="1200">
                          <a:solidFill>
                            <a:schemeClr val="tx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a:lnSpc>
                          <a:spcPct val="95000"/>
                        </a:lnSpc>
                        <a:spcBef>
                          <a:spcPct val="0"/>
                        </a:spcBef>
                        <a:spcAft>
                          <a:spcPct val="50000"/>
                        </a:spcAft>
                        <a:buClrTx/>
                        <a:buSzTx/>
                        <a:buFontTx/>
                        <a:buNone/>
                        <a:tabLst/>
                        <a:defRPr/>
                      </a:pPr>
                      <a:r>
                        <a:rPr lang="en-US" sz="850" kern="1200">
                          <a:solidFill>
                            <a:schemeClr val="tx1"/>
                          </a:solidFill>
                          <a:latin typeface="Aptos"/>
                          <a:ea typeface="+mn-ea"/>
                          <a:cs typeface="+mn-cs"/>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r>
                        <a:rPr lang="en-US" sz="850" kern="1200">
                          <a:solidFill>
                            <a:schemeClr val="tx1"/>
                          </a:solidFill>
                          <a:latin typeface="Aptos"/>
                          <a:ea typeface="Calibri"/>
                          <a:cs typeface="Calibri"/>
                        </a:rPr>
                        <a:t>Complete for Interim release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99531691"/>
                  </a:ext>
                </a:extLst>
              </a:tr>
              <a:tr h="383159">
                <a:tc>
                  <a:txBody>
                    <a:bodyPr/>
                    <a:lstStyle/>
                    <a:p>
                      <a:pPr marL="0" marR="0" lvl="0" indent="0" algn="l" rtl="0" eaLnBrk="1" fontAlgn="auto" latinLnBrk="0" hangingPunct="1">
                        <a:lnSpc>
                          <a:spcPct val="100000"/>
                        </a:lnSpc>
                        <a:spcBef>
                          <a:spcPts val="0"/>
                        </a:spcBef>
                        <a:spcAft>
                          <a:spcPts val="0"/>
                        </a:spcAft>
                        <a:buClrTx/>
                        <a:buSzTx/>
                        <a:buFontTx/>
                        <a:buNone/>
                      </a:pPr>
                      <a:r>
                        <a:rPr lang="en-US" sz="850" kern="1200" noProof="0">
                          <a:solidFill>
                            <a:schemeClr val="tx1"/>
                          </a:solidFill>
                          <a:latin typeface="Aptos"/>
                          <a:ea typeface="Calibri"/>
                          <a:cs typeface="Calibri"/>
                        </a:rPr>
                        <a:t>Testing (End to End) kick-off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900" kern="1200">
                        <a:solidFill>
                          <a:schemeClr val="tx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latin typeface="Aptos"/>
                          <a:ea typeface="+mn-ea"/>
                          <a:cs typeface="+mn-cs"/>
                        </a:rPr>
                        <a:t>10/15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endParaRPr lang="en-US" sz="850" kern="1200" noProof="0">
                        <a:solidFill>
                          <a:schemeClr val="tx1"/>
                        </a:solidFill>
                        <a:latin typeface="Apto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6446900"/>
                  </a:ext>
                </a:extLst>
              </a:tr>
              <a:tr h="393284">
                <a:tc>
                  <a:txBody>
                    <a:bodyPr/>
                    <a:lstStyle/>
                    <a:p>
                      <a:pPr marL="0" marR="0" lvl="0" indent="0" algn="l" rtl="0" eaLnBrk="1" fontAlgn="auto" latinLnBrk="0" hangingPunct="1">
                        <a:lnSpc>
                          <a:spcPct val="100000"/>
                        </a:lnSpc>
                        <a:spcBef>
                          <a:spcPts val="0"/>
                        </a:spcBef>
                        <a:spcAft>
                          <a:spcPts val="0"/>
                        </a:spcAft>
                        <a:buClrTx/>
                        <a:buSzTx/>
                        <a:buFontTx/>
                        <a:buNone/>
                      </a:pPr>
                      <a:r>
                        <a:rPr lang="en-US" sz="850" kern="1200" noProof="0">
                          <a:solidFill>
                            <a:schemeClr val="tx1"/>
                          </a:solidFill>
                          <a:latin typeface="Aptos"/>
                          <a:ea typeface="Calibri"/>
                          <a:cs typeface="Calibri"/>
                        </a:rPr>
                        <a:t>Go-Live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900" kern="1200">
                        <a:solidFill>
                          <a:schemeClr val="tx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a:ea typeface="+mn-ea"/>
                          <a:cs typeface="+mn-cs"/>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endParaRPr lang="en-US" sz="850" kern="1200" noProof="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037779"/>
                  </a:ext>
                </a:extLst>
              </a:tr>
            </a:tbl>
          </a:graphicData>
        </a:graphic>
      </p:graphicFrame>
      <p:graphicFrame>
        <p:nvGraphicFramePr>
          <p:cNvPr id="9" name="think-cell data - do not delete" hidden="1">
            <a:extLst>
              <a:ext uri="{FF2B5EF4-FFF2-40B4-BE49-F238E27FC236}">
                <a16:creationId xmlns:a16="http://schemas.microsoft.com/office/drawing/2014/main" id="{34047FDE-D7A6-926C-2701-83546408277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4047FDE-D7A6-926C-2701-8354640827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45F2431-42FF-3B35-C6BF-B0C9BB594229}"/>
              </a:ext>
            </a:extLst>
          </p:cNvPr>
          <p:cNvSpPr>
            <a:spLocks noGrp="1"/>
          </p:cNvSpPr>
          <p:nvPr>
            <p:ph type="title"/>
          </p:nvPr>
        </p:nvSpPr>
        <p:spPr>
          <a:xfrm>
            <a:off x="229452" y="159501"/>
            <a:ext cx="5723531" cy="285871"/>
          </a:xfrm>
        </p:spPr>
        <p:txBody>
          <a:bodyPr vert="horz">
            <a:noAutofit/>
          </a:bodyPr>
          <a:lstStyle/>
          <a:p>
            <a:r>
              <a:rPr lang="en-US" sz="2400" err="1"/>
              <a:t>TaiLWIND</a:t>
            </a:r>
            <a:r>
              <a:rPr lang="en-US" sz="2400"/>
              <a:t> Flagship AI </a:t>
            </a:r>
            <a:endParaRPr sz="2400"/>
          </a:p>
        </p:txBody>
      </p:sp>
      <p:graphicFrame>
        <p:nvGraphicFramePr>
          <p:cNvPr id="11" name="Group 513">
            <a:extLst>
              <a:ext uri="{FF2B5EF4-FFF2-40B4-BE49-F238E27FC236}">
                <a16:creationId xmlns:a16="http://schemas.microsoft.com/office/drawing/2014/main" id="{9387D0AE-E292-77B5-7B99-D15393AED2FF}"/>
              </a:ext>
            </a:extLst>
          </p:cNvPr>
          <p:cNvGraphicFramePr>
            <a:graphicFrameLocks noGrp="1"/>
          </p:cNvGraphicFramePr>
          <p:nvPr/>
        </p:nvGraphicFramePr>
        <p:xfrm>
          <a:off x="229452" y="505245"/>
          <a:ext cx="2581573" cy="316744"/>
        </p:xfrm>
        <a:graphic>
          <a:graphicData uri="http://schemas.openxmlformats.org/drawingml/2006/table">
            <a:tbl>
              <a:tblPr/>
              <a:tblGrid>
                <a:gridCol w="963602">
                  <a:extLst>
                    <a:ext uri="{9D8B030D-6E8A-4147-A177-3AD203B41FA5}">
                      <a16:colId xmlns:a16="http://schemas.microsoft.com/office/drawing/2014/main" val="20000"/>
                    </a:ext>
                  </a:extLst>
                </a:gridCol>
                <a:gridCol w="1617971">
                  <a:extLst>
                    <a:ext uri="{9D8B030D-6E8A-4147-A177-3AD203B41FA5}">
                      <a16:colId xmlns:a16="http://schemas.microsoft.com/office/drawing/2014/main" val="20001"/>
                    </a:ext>
                  </a:extLst>
                </a:gridCol>
              </a:tblGrid>
              <a:tr h="316744">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cap="none" normalizeH="0" baseline="0">
                          <a:ln>
                            <a:noFill/>
                          </a:ln>
                          <a:solidFill>
                            <a:schemeClr val="tx1"/>
                          </a:solidFill>
                          <a:effectLst/>
                          <a:latin typeface="Aptos" panose="020B0004020202020204" pitchFamily="34" charset="0"/>
                        </a:rPr>
                        <a:t>10/9/2026</a:t>
                      </a:r>
                      <a:endParaRPr kumimoji="0" lang="en-GB" sz="850" b="1" i="0" u="none" strike="noStrike" cap="none" normalizeH="0" baseline="0">
                        <a:ln>
                          <a:noFill/>
                        </a:ln>
                        <a:solidFill>
                          <a:schemeClr val="tx1"/>
                        </a:solidFill>
                        <a:effectLst/>
                        <a:latin typeface="Aptos" panose="020B0004020202020204" pitchFamily="34"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 name="Table 24">
            <a:extLst>
              <a:ext uri="{FF2B5EF4-FFF2-40B4-BE49-F238E27FC236}">
                <a16:creationId xmlns:a16="http://schemas.microsoft.com/office/drawing/2014/main" id="{691D9C98-8DBD-30C4-2A0E-9AA3AEC79AD8}"/>
              </a:ext>
            </a:extLst>
          </p:cNvPr>
          <p:cNvGraphicFramePr>
            <a:graphicFrameLocks noGrp="1"/>
          </p:cNvGraphicFramePr>
          <p:nvPr/>
        </p:nvGraphicFramePr>
        <p:xfrm>
          <a:off x="2814218" y="498341"/>
          <a:ext cx="3829275" cy="695564"/>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7986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5702">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84BA0D2A-AB07-A86B-FFA4-55A4C9452EEE}"/>
              </a:ext>
            </a:extLst>
          </p:cNvPr>
          <p:cNvGraphicFramePr>
            <a:graphicFrameLocks noGrp="1"/>
          </p:cNvGraphicFramePr>
          <p:nvPr/>
        </p:nvGraphicFramePr>
        <p:xfrm>
          <a:off x="229452" y="821989"/>
          <a:ext cx="2581573" cy="395688"/>
        </p:xfrm>
        <a:graphic>
          <a:graphicData uri="http://schemas.openxmlformats.org/drawingml/2006/table">
            <a:tbl>
              <a:tblPr/>
              <a:tblGrid>
                <a:gridCol w="998601">
                  <a:extLst>
                    <a:ext uri="{9D8B030D-6E8A-4147-A177-3AD203B41FA5}">
                      <a16:colId xmlns:a16="http://schemas.microsoft.com/office/drawing/2014/main" val="20000"/>
                    </a:ext>
                  </a:extLst>
                </a:gridCol>
                <a:gridCol w="1582972">
                  <a:extLst>
                    <a:ext uri="{9D8B030D-6E8A-4147-A177-3AD203B41FA5}">
                      <a16:colId xmlns:a16="http://schemas.microsoft.com/office/drawing/2014/main" val="20001"/>
                    </a:ext>
                  </a:extLst>
                </a:gridCol>
              </a:tblGrid>
              <a:tr h="337215">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11/11/2026</a:t>
                      </a:r>
                    </a:p>
                  </a:txBody>
                  <a:tcPr marL="0" marR="0" marT="45825" marB="45825"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10000"/>
                  </a:ext>
                </a:extLst>
              </a:tr>
            </a:tbl>
          </a:graphicData>
        </a:graphic>
      </p:graphicFrame>
      <p:graphicFrame>
        <p:nvGraphicFramePr>
          <p:cNvPr id="29" name="Table 28">
            <a:extLst>
              <a:ext uri="{FF2B5EF4-FFF2-40B4-BE49-F238E27FC236}">
                <a16:creationId xmlns:a16="http://schemas.microsoft.com/office/drawing/2014/main" id="{D870955A-3AE4-ED0D-AD65-B23FE058A079}"/>
              </a:ext>
            </a:extLst>
          </p:cNvPr>
          <p:cNvGraphicFramePr>
            <a:graphicFrameLocks noGrp="1"/>
          </p:cNvGraphicFramePr>
          <p:nvPr/>
        </p:nvGraphicFramePr>
        <p:xfrm>
          <a:off x="6211512" y="5103629"/>
          <a:ext cx="5921012" cy="1104587"/>
        </p:xfrm>
        <a:graphic>
          <a:graphicData uri="http://schemas.openxmlformats.org/drawingml/2006/table">
            <a:tbl>
              <a:tblPr>
                <a:tableStyleId>{5C22544A-7EE6-4342-B048-85BDC9FD1C3A}</a:tableStyleId>
              </a:tblPr>
              <a:tblGrid>
                <a:gridCol w="2749806">
                  <a:extLst>
                    <a:ext uri="{9D8B030D-6E8A-4147-A177-3AD203B41FA5}">
                      <a16:colId xmlns:a16="http://schemas.microsoft.com/office/drawing/2014/main" val="2456552316"/>
                    </a:ext>
                  </a:extLst>
                </a:gridCol>
                <a:gridCol w="440809">
                  <a:extLst>
                    <a:ext uri="{9D8B030D-6E8A-4147-A177-3AD203B41FA5}">
                      <a16:colId xmlns:a16="http://schemas.microsoft.com/office/drawing/2014/main" val="1100051595"/>
                    </a:ext>
                  </a:extLst>
                </a:gridCol>
                <a:gridCol w="440809">
                  <a:extLst>
                    <a:ext uri="{9D8B030D-6E8A-4147-A177-3AD203B41FA5}">
                      <a16:colId xmlns:a16="http://schemas.microsoft.com/office/drawing/2014/main" val="3852212127"/>
                    </a:ext>
                  </a:extLst>
                </a:gridCol>
                <a:gridCol w="2289588">
                  <a:extLst>
                    <a:ext uri="{9D8B030D-6E8A-4147-A177-3AD203B41FA5}">
                      <a16:colId xmlns:a16="http://schemas.microsoft.com/office/drawing/2014/main" val="2815874248"/>
                    </a:ext>
                  </a:extLst>
                </a:gridCol>
              </a:tblGrid>
              <a:tr h="0">
                <a:tc>
                  <a:txBody>
                    <a:bodyPr/>
                    <a:lstStyle/>
                    <a:p>
                      <a:pPr algn="ctr"/>
                      <a:r>
                        <a:rPr lang="en-US" sz="900" kern="1200">
                          <a:solidFill>
                            <a:schemeClr val="bg1"/>
                          </a:solidFill>
                          <a:latin typeface="Aptos"/>
                          <a:ea typeface="+mn-ea"/>
                          <a:cs typeface="+mn-cs"/>
                        </a:rPr>
                        <a:t>Risks, Issues, &amp; Dependencies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kern="1200">
                          <a:solidFill>
                            <a:schemeClr val="bg1"/>
                          </a:solidFill>
                          <a:latin typeface="Aptos"/>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kern="1200">
                          <a:solidFill>
                            <a:schemeClr val="bg1"/>
                          </a:solidFill>
                          <a:latin typeface="Aptos"/>
                          <a:ea typeface="+mn-ea"/>
                          <a:cs typeface="+mn-cs"/>
                        </a:rPr>
                        <a:t>Date</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kern="1200">
                          <a:solidFill>
                            <a:schemeClr val="bg1"/>
                          </a:solidFill>
                          <a:latin typeface="Aptos"/>
                          <a:ea typeface="+mn-ea"/>
                          <a:cs typeface="+mn-cs"/>
                        </a:rPr>
                        <a:t> Resolution / Mitigation Owner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49296">
                <a:tc>
                  <a:txBody>
                    <a:bodyPr/>
                    <a:lstStyle/>
                    <a:p>
                      <a:pPr fontAlgn="t">
                        <a:lnSpc>
                          <a:spcPts val="1500"/>
                        </a:lnSpc>
                        <a:buNone/>
                      </a:pPr>
                      <a:r>
                        <a:rPr lang="en-US" sz="850" kern="1200">
                          <a:solidFill>
                            <a:schemeClr val="tx1"/>
                          </a:solidFill>
                          <a:latin typeface="Aptos"/>
                          <a:ea typeface="+mn-ea"/>
                          <a:cs typeface="+mn-cs"/>
                        </a:rPr>
                        <a:t>R: SS, AT, GOP, DMX, and MIM teams Meeting agreed to timelines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kern="1200">
                        <a:solidFill>
                          <a:schemeClr val="tx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latin typeface="Aptos"/>
                          <a:ea typeface="+mn-ea"/>
                          <a:cs typeface="+mn-cs"/>
                        </a:rPr>
                        <a:t>10/15</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kern="1200">
                          <a:solidFill>
                            <a:schemeClr val="tx1"/>
                          </a:solidFill>
                          <a:latin typeface="Aptos"/>
                          <a:ea typeface="+mn-ea"/>
                          <a:cs typeface="+mn-cs"/>
                        </a:rPr>
                        <a:t>Owner: Dan/Amy</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kern="1200">
                          <a:solidFill>
                            <a:schemeClr val="tx1"/>
                          </a:solidFill>
                          <a:latin typeface="Aptos"/>
                          <a:ea typeface="+mn-ea"/>
                          <a:cs typeface="+mn-cs"/>
                        </a:rPr>
                        <a:t>Mitigation Plan –  Work with POs to prioritize.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r h="485462">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tx1"/>
                          </a:solidFill>
                          <a:latin typeface="Aptos"/>
                        </a:rPr>
                        <a:t>Operational Metrics – Leadership, Model, Operational</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kern="1200">
                        <a:solidFill>
                          <a:schemeClr val="tx1"/>
                        </a:solidFill>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850" kern="1200">
                        <a:solidFill>
                          <a:schemeClr val="tx1"/>
                        </a:solidFill>
                        <a:latin typeface="Aptos"/>
                        <a:ea typeface="+mn-ea"/>
                        <a:cs typeface="+mn-cs"/>
                      </a:endParaRPr>
                    </a:p>
                    <a:p>
                      <a:pPr marL="0" marR="0" lvl="0" indent="0" algn="ctr" defTabSz="914400">
                        <a:lnSpc>
                          <a:spcPct val="95000"/>
                        </a:lnSpc>
                        <a:spcBef>
                          <a:spcPct val="0"/>
                        </a:spcBef>
                        <a:spcAft>
                          <a:spcPct val="50000"/>
                        </a:spcAft>
                        <a:buClrTx/>
                        <a:buSzTx/>
                        <a:buFontTx/>
                        <a:buNone/>
                        <a:tabLst/>
                      </a:pPr>
                      <a:r>
                        <a:rPr lang="en-US" sz="850" kern="1200">
                          <a:solidFill>
                            <a:schemeClr val="tx1"/>
                          </a:solidFill>
                          <a:latin typeface="Aptos"/>
                          <a:ea typeface="+mn-ea"/>
                          <a:cs typeface="+mn-cs"/>
                        </a:rPr>
                        <a:t>10/30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kern="1200">
                          <a:solidFill>
                            <a:schemeClr val="tx1"/>
                          </a:solidFill>
                          <a:latin typeface="Aptos"/>
                          <a:ea typeface="+mn-ea"/>
                          <a:cs typeface="+mn-cs"/>
                        </a:rPr>
                        <a:t>Owner: Dan/Natalie/Melissa/Ying</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kern="1200">
                          <a:solidFill>
                            <a:schemeClr val="tx1"/>
                          </a:solidFill>
                          <a:latin typeface="Aptos"/>
                          <a:ea typeface="+mn-ea"/>
                          <a:cs typeface="+mn-cs"/>
                        </a:rPr>
                        <a:t>Action – Team to define needs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5606685"/>
                  </a:ext>
                </a:extLst>
              </a:tr>
            </a:tbl>
          </a:graphicData>
        </a:graphic>
      </p:graphicFrame>
      <p:sp>
        <p:nvSpPr>
          <p:cNvPr id="43" name="Flowchart: Connector 42">
            <a:extLst>
              <a:ext uri="{FF2B5EF4-FFF2-40B4-BE49-F238E27FC236}">
                <a16:creationId xmlns:a16="http://schemas.microsoft.com/office/drawing/2014/main" id="{183A7F51-76F1-81CC-8BF8-4E585F437212}"/>
              </a:ext>
            </a:extLst>
          </p:cNvPr>
          <p:cNvSpPr/>
          <p:nvPr/>
        </p:nvSpPr>
        <p:spPr>
          <a:xfrm>
            <a:off x="3282823" y="96341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E91511CB-A8B3-E941-500E-4AFF9D470FA1}"/>
              </a:ext>
            </a:extLst>
          </p:cNvPr>
          <p:cNvSpPr/>
          <p:nvPr/>
        </p:nvSpPr>
        <p:spPr>
          <a:xfrm>
            <a:off x="4215681" y="9674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Flowchart: Connector 45">
            <a:extLst>
              <a:ext uri="{FF2B5EF4-FFF2-40B4-BE49-F238E27FC236}">
                <a16:creationId xmlns:a16="http://schemas.microsoft.com/office/drawing/2014/main" id="{80C086E4-5E5B-2CC5-131C-C50F1F602BAD}"/>
              </a:ext>
            </a:extLst>
          </p:cNvPr>
          <p:cNvSpPr/>
          <p:nvPr/>
        </p:nvSpPr>
        <p:spPr>
          <a:xfrm>
            <a:off x="5148539" y="96935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Flowchart: Connector 46">
            <a:extLst>
              <a:ext uri="{FF2B5EF4-FFF2-40B4-BE49-F238E27FC236}">
                <a16:creationId xmlns:a16="http://schemas.microsoft.com/office/drawing/2014/main" id="{76A761B8-8BE0-D9ED-4740-B1BF125A4703}"/>
              </a:ext>
            </a:extLst>
          </p:cNvPr>
          <p:cNvSpPr/>
          <p:nvPr/>
        </p:nvSpPr>
        <p:spPr>
          <a:xfrm>
            <a:off x="6104382" y="96341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729CD419-3755-BE29-6B42-ADBCB334D373}"/>
              </a:ext>
            </a:extLst>
          </p:cNvPr>
          <p:cNvSpPr txBox="1"/>
          <p:nvPr/>
        </p:nvSpPr>
        <p:spPr>
          <a:xfrm>
            <a:off x="32209" y="2987685"/>
            <a:ext cx="6153815" cy="1392689"/>
          </a:xfrm>
          <a:prstGeom prst="rect">
            <a:avLst/>
          </a:prstGeom>
          <a:solidFill>
            <a:schemeClr val="bg1"/>
          </a:solidFill>
          <a:ln>
            <a:solidFill>
              <a:schemeClr val="tx1"/>
            </a:solidFill>
          </a:ln>
        </p:spPr>
        <p:txBody>
          <a:bodyPr wrap="square" lIns="91440" tIns="45720" rIns="91440" bIns="45720" anchor="t">
            <a:spAutoFit/>
          </a:bodyPr>
          <a:lstStyle/>
          <a:p>
            <a:r>
              <a:rPr lang="en-US" sz="850" b="1">
                <a:latin typeface="Aptos" panose="020B0004020202020204" pitchFamily="34" charset="0"/>
              </a:rPr>
              <a:t>This Week – Accomplishments/Value Delivered:</a:t>
            </a:r>
          </a:p>
          <a:p>
            <a:pPr marL="171450" indent="-171450">
              <a:buFont typeface="Arial" panose="020B0604020202020204" pitchFamily="34" charset="0"/>
              <a:buChar char="•"/>
            </a:pPr>
            <a:r>
              <a:rPr lang="en-US" sz="850">
                <a:latin typeface="Aptos"/>
                <a:ea typeface="Times New Roman" panose="02020603050405020304" pitchFamily="18" charset="0"/>
                <a:cs typeface="Aptos" panose="020B0004020202020204" pitchFamily="34" charset="0"/>
              </a:rPr>
              <a:t>Production Dark Launch – Document Transformation Service</a:t>
            </a:r>
            <a:r>
              <a:rPr lang="en-US" sz="850" b="1">
                <a:latin typeface="Aptos"/>
                <a:ea typeface="Times New Roman" panose="02020603050405020304" pitchFamily="18" charset="0"/>
                <a:cs typeface="Aptos" panose="020B0004020202020204" pitchFamily="34" charset="0"/>
              </a:rPr>
              <a:t>:</a:t>
            </a:r>
            <a:r>
              <a:rPr lang="en-US" sz="850">
                <a:latin typeface="Aptos"/>
                <a:ea typeface="Times New Roman" panose="02020603050405020304" pitchFamily="18" charset="0"/>
                <a:cs typeface="Aptos" panose="020B0004020202020204" pitchFamily="34" charset="0"/>
              </a:rPr>
              <a:t> Third production deployment (Completed: 10/8)</a:t>
            </a:r>
          </a:p>
          <a:p>
            <a:pPr marL="171450" indent="-171450">
              <a:buFont typeface="Arial" panose="020B0604020202020204" pitchFamily="34" charset="0"/>
              <a:buChar char="•"/>
            </a:pPr>
            <a:r>
              <a:rPr lang="en-US" sz="850">
                <a:latin typeface="Aptos"/>
                <a:ea typeface="Times New Roman" panose="02020603050405020304" pitchFamily="18" charset="0"/>
                <a:cs typeface="Aptos" panose="020B0004020202020204" pitchFamily="34" charset="0"/>
              </a:rPr>
              <a:t>Claim notification service 85% Complete including DMX development and testing</a:t>
            </a:r>
          </a:p>
          <a:p>
            <a:pPr marL="171450" indent="-171450">
              <a:buFont typeface="Arial" panose="020B0604020202020204" pitchFamily="34" charset="0"/>
              <a:buChar char="•"/>
            </a:pPr>
            <a:r>
              <a:rPr lang="en-US" sz="850">
                <a:latin typeface="Aptos"/>
                <a:ea typeface="Times New Roman" panose="02020603050405020304" pitchFamily="18" charset="0"/>
                <a:cs typeface="Aptos" panose="020B0004020202020204" pitchFamily="34" charset="0"/>
              </a:rPr>
              <a:t>Submission processing service – dev completed tech specifications (7/7) </a:t>
            </a:r>
          </a:p>
          <a:p>
            <a:pPr marL="171450" indent="-171450">
              <a:buFont typeface="Arial" panose="020B0604020202020204" pitchFamily="34" charset="0"/>
              <a:buChar char="•"/>
            </a:pPr>
            <a:r>
              <a:rPr lang="en-US" sz="850">
                <a:latin typeface="Aptos"/>
                <a:ea typeface="Times New Roman" panose="02020603050405020304" pitchFamily="18" charset="0"/>
                <a:cs typeface="Aptos" panose="020B0004020202020204" pitchFamily="34" charset="0"/>
              </a:rPr>
              <a:t>Live production release: Email ingest replacing legacy ImageRight email process (10/7)</a:t>
            </a:r>
          </a:p>
          <a:p>
            <a:pPr marL="171450" indent="-171450">
              <a:buFont typeface="Arial" panose="020B0604020202020204" pitchFamily="34" charset="0"/>
              <a:buChar char="•"/>
            </a:pPr>
            <a:r>
              <a:rPr lang="en-US" sz="850">
                <a:latin typeface="Aptos"/>
              </a:rPr>
              <a:t>Expanded Snowflake ground-truth research, source mapping, and page-level extraction comparisons against production data.</a:t>
            </a:r>
          </a:p>
          <a:p>
            <a:pPr marL="171450" indent="-171450">
              <a:buFont typeface="Arial" panose="020B0604020202020204" pitchFamily="34" charset="0"/>
              <a:buChar char="•"/>
            </a:pPr>
            <a:r>
              <a:rPr lang="en-US" sz="850">
                <a:latin typeface="Aptos"/>
              </a:rPr>
              <a:t>Completed architecture and process knowledge transfer with Pavan, identifying a potential EAO integration and evaluation path across the broader 5,000-document corpus.</a:t>
            </a:r>
          </a:p>
          <a:p>
            <a:pPr marL="171450" indent="-171450">
              <a:buFont typeface="Arial" panose="020B0604020202020204" pitchFamily="34" charset="0"/>
              <a:buChar char="•"/>
            </a:pPr>
            <a:endParaRPr lang="en-US" sz="800">
              <a:cs typeface="Arial"/>
            </a:endParaRPr>
          </a:p>
        </p:txBody>
      </p:sp>
      <p:sp>
        <p:nvSpPr>
          <p:cNvPr id="21" name="Flowchart: Connector 20">
            <a:extLst>
              <a:ext uri="{FF2B5EF4-FFF2-40B4-BE49-F238E27FC236}">
                <a16:creationId xmlns:a16="http://schemas.microsoft.com/office/drawing/2014/main" id="{608E6B8B-5F65-1841-3BCD-0071BD9BCEC9}"/>
              </a:ext>
            </a:extLst>
          </p:cNvPr>
          <p:cNvSpPr/>
          <p:nvPr/>
        </p:nvSpPr>
        <p:spPr>
          <a:xfrm>
            <a:off x="9064213" y="5449606"/>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1B90C054-9B7E-E4B8-BB7F-8B8F730A1D94}"/>
              </a:ext>
            </a:extLst>
          </p:cNvPr>
          <p:cNvSpPr txBox="1"/>
          <p:nvPr/>
        </p:nvSpPr>
        <p:spPr>
          <a:xfrm>
            <a:off x="20695" y="1354058"/>
            <a:ext cx="6153814" cy="1478866"/>
          </a:xfrm>
          <a:prstGeom prst="rect">
            <a:avLst/>
          </a:prstGeom>
          <a:noFill/>
          <a:ln>
            <a:solidFill>
              <a:schemeClr val="tx1"/>
            </a:solidFill>
          </a:ln>
        </p:spPr>
        <p:txBody>
          <a:bodyPr wrap="square" lIns="91440" tIns="45720" rIns="91440" bIns="45720" anchor="t">
            <a:spAutoFit/>
          </a:bodyPr>
          <a:lstStyle/>
          <a:p>
            <a:pPr eaLnBrk="0" fontAlgn="base" hangingPunct="0">
              <a:lnSpc>
                <a:spcPct val="95000"/>
              </a:lnSpc>
              <a:spcBef>
                <a:spcPct val="0"/>
              </a:spcBef>
              <a:spcAft>
                <a:spcPct val="50000"/>
              </a:spcAft>
            </a:pPr>
            <a:r>
              <a:rPr lang="en-US" sz="850" b="1">
                <a:latin typeface="Aptos" panose="020B0004020202020204" pitchFamily="34" charset="0"/>
              </a:rPr>
              <a:t>Overall Status: Yellow</a:t>
            </a:r>
          </a:p>
          <a:p>
            <a:pPr eaLnBrk="0" fontAlgn="base" hangingPunct="0">
              <a:lnSpc>
                <a:spcPct val="95000"/>
              </a:lnSpc>
              <a:spcBef>
                <a:spcPct val="0"/>
              </a:spcBef>
              <a:spcAft>
                <a:spcPct val="50000"/>
              </a:spcAft>
            </a:pPr>
            <a:r>
              <a:rPr lang="en-US" sz="850">
                <a:latin typeface="Aptos"/>
              </a:rPr>
              <a:t>Engagement with the REN, GIN, MIM, DMX, and Portal teams continue to advance development. The status remains Yellow due to potential risks associated with timings of dependent team efforts. GOP line has committed to 10/15 delivery timeline, which we are adjusting the testing approach to accommodate as possible. Processing service work by Doodle Poodle is trending behind schedule, working on approach to delivery as soon possible (potential is 2 weeks push – leveraging segmented testing approach until full flow is complete) progressing as planned. DDIT was not complete for all aspects by 10/1 - building phased approach to testing to accommodate – planned completion by mid-month.</a:t>
            </a:r>
            <a:endParaRPr lang="en-US" sz="800">
              <a:cs typeface="Arial"/>
            </a:endParaRPr>
          </a:p>
          <a:p>
            <a:r>
              <a:rPr lang="en-US" sz="850">
                <a:latin typeface="Aptos"/>
              </a:rPr>
              <a:t>EAO is advancing ground-truth automation and solution alignment while Tailwind leads phase-one production. Focus is shifting to production-data validation and phase-two planning; scope, funding, capacity, and the refreshed SOW remain to be finalized.</a:t>
            </a:r>
          </a:p>
          <a:p>
            <a:pPr eaLnBrk="0" fontAlgn="base" hangingPunct="0">
              <a:lnSpc>
                <a:spcPct val="95000"/>
              </a:lnSpc>
              <a:spcBef>
                <a:spcPct val="0"/>
              </a:spcBef>
              <a:spcAft>
                <a:spcPct val="50000"/>
              </a:spcAft>
            </a:pPr>
            <a:endParaRPr lang="en-US" sz="850">
              <a:latin typeface="Aptos"/>
            </a:endParaRPr>
          </a:p>
        </p:txBody>
      </p:sp>
      <p:graphicFrame>
        <p:nvGraphicFramePr>
          <p:cNvPr id="33" name="Table 32">
            <a:extLst>
              <a:ext uri="{FF2B5EF4-FFF2-40B4-BE49-F238E27FC236}">
                <a16:creationId xmlns:a16="http://schemas.microsoft.com/office/drawing/2014/main" id="{681E522C-17A4-EAC5-89C4-312D53C20B33}"/>
              </a:ext>
            </a:extLst>
          </p:cNvPr>
          <p:cNvGraphicFramePr>
            <a:graphicFrameLocks noGrp="1"/>
          </p:cNvGraphicFramePr>
          <p:nvPr/>
        </p:nvGraphicFramePr>
        <p:xfrm>
          <a:off x="6687886" y="502977"/>
          <a:ext cx="5407636" cy="699090"/>
        </p:xfrm>
        <a:graphic>
          <a:graphicData uri="http://schemas.openxmlformats.org/drawingml/2006/table">
            <a:tbl>
              <a:tblPr>
                <a:tableStyleId>{5C22544A-7EE6-4342-B048-85BDC9FD1C3A}</a:tableStyleId>
              </a:tblPr>
              <a:tblGrid>
                <a:gridCol w="1190927">
                  <a:extLst>
                    <a:ext uri="{9D8B030D-6E8A-4147-A177-3AD203B41FA5}">
                      <a16:colId xmlns:a16="http://schemas.microsoft.com/office/drawing/2014/main" val="2456552316"/>
                    </a:ext>
                  </a:extLst>
                </a:gridCol>
                <a:gridCol w="1255221">
                  <a:extLst>
                    <a:ext uri="{9D8B030D-6E8A-4147-A177-3AD203B41FA5}">
                      <a16:colId xmlns:a16="http://schemas.microsoft.com/office/drawing/2014/main" val="2327174630"/>
                    </a:ext>
                  </a:extLst>
                </a:gridCol>
                <a:gridCol w="1662546">
                  <a:extLst>
                    <a:ext uri="{9D8B030D-6E8A-4147-A177-3AD203B41FA5}">
                      <a16:colId xmlns:a16="http://schemas.microsoft.com/office/drawing/2014/main" val="1100051595"/>
                    </a:ext>
                  </a:extLst>
                </a:gridCol>
                <a:gridCol w="1298942">
                  <a:extLst>
                    <a:ext uri="{9D8B030D-6E8A-4147-A177-3AD203B41FA5}">
                      <a16:colId xmlns:a16="http://schemas.microsoft.com/office/drawing/2014/main" val="2042261034"/>
                    </a:ext>
                  </a:extLst>
                </a:gridCol>
              </a:tblGrid>
              <a:tr h="34142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05517">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$1,500,000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$1,034,379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panose="020B0004020202020204" pitchFamily="34" charset="0"/>
                          <a:ea typeface="+mn-ea"/>
                          <a:cs typeface="+mn-cs"/>
                        </a:rPr>
                        <a:t>$480,305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panose="020B0004020202020204" pitchFamily="34" charset="0"/>
                          <a:ea typeface="+mn-ea"/>
                          <a:cs typeface="+mn-cs"/>
                        </a:rPr>
                        <a:t>$1,519,832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3" name="Group 614">
            <a:extLst>
              <a:ext uri="{FF2B5EF4-FFF2-40B4-BE49-F238E27FC236}">
                <a16:creationId xmlns:a16="http://schemas.microsoft.com/office/drawing/2014/main" id="{91DC8B63-FC4B-9DAF-137D-3F2AA9135C18}"/>
              </a:ext>
            </a:extLst>
          </p:cNvPr>
          <p:cNvGraphicFramePr>
            <a:graphicFrameLocks noGrp="1"/>
          </p:cNvGraphicFramePr>
          <p:nvPr/>
        </p:nvGraphicFramePr>
        <p:xfrm>
          <a:off x="6189625" y="6329228"/>
          <a:ext cx="5909162" cy="386554"/>
        </p:xfrm>
        <a:graphic>
          <a:graphicData uri="http://schemas.openxmlformats.org/drawingml/2006/table">
            <a:tbl>
              <a:tblPr/>
              <a:tblGrid>
                <a:gridCol w="502108">
                  <a:extLst>
                    <a:ext uri="{9D8B030D-6E8A-4147-A177-3AD203B41FA5}">
                      <a16:colId xmlns:a16="http://schemas.microsoft.com/office/drawing/2014/main" val="20000"/>
                    </a:ext>
                  </a:extLst>
                </a:gridCol>
                <a:gridCol w="254489">
                  <a:extLst>
                    <a:ext uri="{9D8B030D-6E8A-4147-A177-3AD203B41FA5}">
                      <a16:colId xmlns:a16="http://schemas.microsoft.com/office/drawing/2014/main" val="20001"/>
                    </a:ext>
                  </a:extLst>
                </a:gridCol>
                <a:gridCol w="609399">
                  <a:extLst>
                    <a:ext uri="{9D8B030D-6E8A-4147-A177-3AD203B41FA5}">
                      <a16:colId xmlns:a16="http://schemas.microsoft.com/office/drawing/2014/main" val="20002"/>
                    </a:ext>
                  </a:extLst>
                </a:gridCol>
                <a:gridCol w="268586">
                  <a:extLst>
                    <a:ext uri="{9D8B030D-6E8A-4147-A177-3AD203B41FA5}">
                      <a16:colId xmlns:a16="http://schemas.microsoft.com/office/drawing/2014/main" val="20003"/>
                    </a:ext>
                  </a:extLst>
                </a:gridCol>
                <a:gridCol w="571940">
                  <a:extLst>
                    <a:ext uri="{9D8B030D-6E8A-4147-A177-3AD203B41FA5}">
                      <a16:colId xmlns:a16="http://schemas.microsoft.com/office/drawing/2014/main" val="20004"/>
                    </a:ext>
                  </a:extLst>
                </a:gridCol>
                <a:gridCol w="402633">
                  <a:extLst>
                    <a:ext uri="{9D8B030D-6E8A-4147-A177-3AD203B41FA5}">
                      <a16:colId xmlns:a16="http://schemas.microsoft.com/office/drawing/2014/main" val="20005"/>
                    </a:ext>
                  </a:extLst>
                </a:gridCol>
                <a:gridCol w="475884">
                  <a:extLst>
                    <a:ext uri="{9D8B030D-6E8A-4147-A177-3AD203B41FA5}">
                      <a16:colId xmlns:a16="http://schemas.microsoft.com/office/drawing/2014/main" val="20006"/>
                    </a:ext>
                  </a:extLst>
                </a:gridCol>
                <a:gridCol w="305508">
                  <a:extLst>
                    <a:ext uri="{9D8B030D-6E8A-4147-A177-3AD203B41FA5}">
                      <a16:colId xmlns:a16="http://schemas.microsoft.com/office/drawing/2014/main" val="20007"/>
                    </a:ext>
                  </a:extLst>
                </a:gridCol>
                <a:gridCol w="1135992">
                  <a:extLst>
                    <a:ext uri="{9D8B030D-6E8A-4147-A177-3AD203B41FA5}">
                      <a16:colId xmlns:a16="http://schemas.microsoft.com/office/drawing/2014/main" val="20008"/>
                    </a:ext>
                  </a:extLst>
                </a:gridCol>
                <a:gridCol w="313151">
                  <a:extLst>
                    <a:ext uri="{9D8B030D-6E8A-4147-A177-3AD203B41FA5}">
                      <a16:colId xmlns:a16="http://schemas.microsoft.com/office/drawing/2014/main" val="20009"/>
                    </a:ext>
                  </a:extLst>
                </a:gridCol>
                <a:gridCol w="1069472">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0" name="Flowchart: Connector 29">
            <a:extLst>
              <a:ext uri="{FF2B5EF4-FFF2-40B4-BE49-F238E27FC236}">
                <a16:creationId xmlns:a16="http://schemas.microsoft.com/office/drawing/2014/main" id="{321AF85D-31A9-EE73-EE8E-C73E2F2AAF2F}"/>
              </a:ext>
            </a:extLst>
          </p:cNvPr>
          <p:cNvSpPr/>
          <p:nvPr/>
        </p:nvSpPr>
        <p:spPr>
          <a:xfrm>
            <a:off x="7623054" y="645838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E1761AA0-03E6-46CA-6A24-CFCE1AD186C9}"/>
              </a:ext>
            </a:extLst>
          </p:cNvPr>
          <p:cNvSpPr/>
          <p:nvPr/>
        </p:nvSpPr>
        <p:spPr>
          <a:xfrm>
            <a:off x="8537075" y="6458388"/>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2CB5919D-39B4-452B-9180-5076F5B5F05D}"/>
              </a:ext>
            </a:extLst>
          </p:cNvPr>
          <p:cNvSpPr/>
          <p:nvPr/>
        </p:nvSpPr>
        <p:spPr>
          <a:xfrm>
            <a:off x="9352829" y="6458388"/>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EFBE6D05-A7FE-18FA-396E-55D04C654482}"/>
              </a:ext>
            </a:extLst>
          </p:cNvPr>
          <p:cNvSpPr/>
          <p:nvPr/>
        </p:nvSpPr>
        <p:spPr>
          <a:xfrm rot="21447289">
            <a:off x="8985193" y="332838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sp>
        <p:nvSpPr>
          <p:cNvPr id="18" name="TextBox 17">
            <a:extLst>
              <a:ext uri="{FF2B5EF4-FFF2-40B4-BE49-F238E27FC236}">
                <a16:creationId xmlns:a16="http://schemas.microsoft.com/office/drawing/2014/main" id="{B1F50E68-D55B-AADE-7CF7-2F1332F3CFAA}"/>
              </a:ext>
            </a:extLst>
          </p:cNvPr>
          <p:cNvSpPr txBox="1"/>
          <p:nvPr/>
        </p:nvSpPr>
        <p:spPr>
          <a:xfrm>
            <a:off x="59476" y="4460720"/>
            <a:ext cx="6098311" cy="1269578"/>
          </a:xfrm>
          <a:prstGeom prst="rect">
            <a:avLst/>
          </a:prstGeom>
          <a:noFill/>
          <a:ln>
            <a:solidFill>
              <a:schemeClr val="tx1"/>
            </a:solidFill>
          </a:ln>
        </p:spPr>
        <p:txBody>
          <a:bodyPr wrap="square" lIns="91440" tIns="45720" rIns="91440" bIns="45720" anchor="t">
            <a:spAutoFit/>
          </a:bodyPr>
          <a:lstStyle/>
          <a:p>
            <a:r>
              <a:rPr lang="en-US" sz="850" b="1">
                <a:latin typeface="Aptos"/>
              </a:rPr>
              <a:t>Key Learnings/Insights:</a:t>
            </a:r>
          </a:p>
          <a:p>
            <a:pPr marL="171450" indent="-171450">
              <a:buSzPts val="1000"/>
              <a:buFont typeface="Arial" panose="020B0604020202020204" pitchFamily="34" charset="0"/>
              <a:buChar char="•"/>
              <a:tabLst>
                <a:tab pos="457200" algn="l"/>
              </a:tabLst>
            </a:pPr>
            <a:r>
              <a:rPr lang="en-US" sz="850">
                <a:latin typeface="Aptos" panose="020B0004020202020204" pitchFamily="34" charset="0"/>
              </a:rPr>
              <a:t>Need continued monitoring of DDIT token usage for Doodle Poodle line.</a:t>
            </a:r>
          </a:p>
          <a:p>
            <a:pPr marL="171450" marR="0" lvl="0" indent="-171450">
              <a:buSzPts val="1000"/>
              <a:buFont typeface="Arial" panose="020B0604020202020204" pitchFamily="34" charset="0"/>
              <a:buChar char="•"/>
              <a:tabLst>
                <a:tab pos="457200" algn="l"/>
              </a:tabLst>
            </a:pPr>
            <a:r>
              <a:rPr lang="en-US" sz="850">
                <a:latin typeface="Aptos" panose="020B0004020202020204" pitchFamily="34" charset="0"/>
              </a:rPr>
              <a:t>Cross-team access provisioning remains a recurring friction point (namespace access, git tooling outage) - worth managing proactively.</a:t>
            </a:r>
          </a:p>
          <a:p>
            <a:pPr marL="171450" marR="0" lvl="0" indent="-171450">
              <a:buSzPts val="1000"/>
              <a:buFont typeface="Arial" panose="020B0604020202020204" pitchFamily="34" charset="0"/>
              <a:buChar char="•"/>
              <a:tabLst>
                <a:tab pos="457200" algn="l"/>
              </a:tabLst>
            </a:pPr>
            <a:r>
              <a:rPr lang="en-US" sz="850">
                <a:latin typeface="Aptos" panose="020B0004020202020204" pitchFamily="34" charset="0"/>
              </a:rPr>
              <a:t>AWS (Claude) remains the fastest phase-1 path, while open-source options still matter for longer-term cost and flexibility.</a:t>
            </a:r>
          </a:p>
          <a:p>
            <a:pPr marL="171450" indent="-171450">
              <a:buFont typeface="Arial" panose="020B0604020202020204" pitchFamily="34" charset="0"/>
              <a:buChar char="•"/>
            </a:pPr>
            <a:r>
              <a:rPr lang="en-US" sz="850">
                <a:latin typeface="Aptos"/>
              </a:rPr>
              <a:t>Snowflake is a key reference, but not definitive ground truth; mismatches require review across source documents, extraction results, and production data.</a:t>
            </a:r>
          </a:p>
          <a:p>
            <a:pPr marL="171450" indent="-171450">
              <a:buFont typeface="Arial" panose="020B0604020202020204" pitchFamily="34" charset="0"/>
              <a:buChar char="•"/>
            </a:pPr>
            <a:r>
              <a:rPr lang="en-US" sz="850">
                <a:latin typeface="Aptos"/>
              </a:rPr>
              <a:t>Page-level context is important for resolving conflicting values; limited invoice/non-invoice routing may support line-item evaluation, while broader classification remains future scope</a:t>
            </a:r>
          </a:p>
        </p:txBody>
      </p:sp>
      <p:sp>
        <p:nvSpPr>
          <p:cNvPr id="4" name="TextBox 3">
            <a:extLst>
              <a:ext uri="{FF2B5EF4-FFF2-40B4-BE49-F238E27FC236}">
                <a16:creationId xmlns:a16="http://schemas.microsoft.com/office/drawing/2014/main" id="{480FC3EF-6BED-0FBF-52F1-60B2B909AD14}"/>
              </a:ext>
            </a:extLst>
          </p:cNvPr>
          <p:cNvSpPr txBox="1"/>
          <p:nvPr/>
        </p:nvSpPr>
        <p:spPr>
          <a:xfrm>
            <a:off x="51352" y="5816373"/>
            <a:ext cx="6079729" cy="992579"/>
          </a:xfrm>
          <a:prstGeom prst="rect">
            <a:avLst/>
          </a:prstGeom>
          <a:noFill/>
          <a:ln>
            <a:solidFill>
              <a:schemeClr val="tx1"/>
            </a:solidFill>
          </a:ln>
        </p:spPr>
        <p:txBody>
          <a:bodyPr wrap="square" lIns="91440" tIns="45720" rIns="91440" bIns="45720" anchor="t">
            <a:spAutoFit/>
          </a:bodyPr>
          <a:lstStyle/>
          <a:p>
            <a:r>
              <a:rPr lang="en-US" sz="850" b="1">
                <a:latin typeface="Aptos" panose="020B0004020202020204" pitchFamily="34" charset="0"/>
              </a:rPr>
              <a:t>Next 1-2 Weeks Deliverables: </a:t>
            </a:r>
            <a:endParaRPr lang="en-US" sz="850">
              <a:latin typeface="Aptos" panose="020B0004020202020204" pitchFamily="34" charset="0"/>
            </a:endParaRPr>
          </a:p>
          <a:p>
            <a:pPr marL="171450" indent="-171450">
              <a:buSzPts val="1000"/>
              <a:buFont typeface="Arial" panose="020B0604020202020204" pitchFamily="34" charset="0"/>
              <a:buChar char="•"/>
              <a:tabLst>
                <a:tab pos="457200" algn="l"/>
              </a:tabLst>
            </a:pPr>
            <a:r>
              <a:rPr lang="en-US" sz="800">
                <a:latin typeface="Aptos" panose="020B0004020202020204" pitchFamily="34" charset="0"/>
              </a:rPr>
              <a:t>Claims Notification Features – In Development/on target to complete</a:t>
            </a:r>
          </a:p>
          <a:p>
            <a:pPr marL="171450" indent="-171450">
              <a:buSzPts val="1000"/>
              <a:buFont typeface="Arial" panose="020B0604020202020204" pitchFamily="34" charset="0"/>
              <a:buChar char="•"/>
              <a:tabLst>
                <a:tab pos="457200" algn="l"/>
              </a:tabLst>
            </a:pPr>
            <a:r>
              <a:rPr lang="en-US" sz="800">
                <a:latin typeface="Aptos" panose="020B0004020202020204" pitchFamily="34" charset="0"/>
              </a:rPr>
              <a:t>Claims Submission Processing Feature – Closing all open dev items – testing begins 10/12 - Dependent on REN/GIN/MIM</a:t>
            </a:r>
          </a:p>
          <a:p>
            <a:pPr marL="171450" indent="-171450">
              <a:buFont typeface="Arial" panose="020B0604020202020204" pitchFamily="34" charset="0"/>
              <a:buChar char="•"/>
            </a:pPr>
            <a:r>
              <a:rPr lang="en-US" sz="850">
                <a:latin typeface="Aptos"/>
              </a:rPr>
              <a:t>Validate expanded queries across both claims-system structures and measure agreement among extracted fields, production data, and source documents.</a:t>
            </a:r>
          </a:p>
          <a:p>
            <a:pPr marL="171450" indent="-171450">
              <a:buFont typeface="Arial" panose="020B0604020202020204" pitchFamily="34" charset="0"/>
              <a:buChar char="•"/>
            </a:pPr>
            <a:r>
              <a:rPr lang="en-US" sz="850">
                <a:latin typeface="Aptos"/>
              </a:rPr>
              <a:t>Define EAO integration requirements, confidence measures, and the 5,000-document evaluation approach; schedule working sessions and update the phase-two SOW.</a:t>
            </a:r>
          </a:p>
        </p:txBody>
      </p:sp>
      <p:sp>
        <p:nvSpPr>
          <p:cNvPr id="10" name="TextBox 9">
            <a:extLst>
              <a:ext uri="{FF2B5EF4-FFF2-40B4-BE49-F238E27FC236}">
                <a16:creationId xmlns:a16="http://schemas.microsoft.com/office/drawing/2014/main" id="{2411AA40-074F-6E1F-1CFB-6869715188C1}"/>
              </a:ext>
            </a:extLst>
          </p:cNvPr>
          <p:cNvSpPr txBox="1"/>
          <p:nvPr/>
        </p:nvSpPr>
        <p:spPr>
          <a:xfrm>
            <a:off x="8701621" y="-6520"/>
            <a:ext cx="3406183" cy="496931"/>
          </a:xfrm>
          <a:prstGeom prst="rect">
            <a:avLst/>
          </a:prstGeom>
          <a:noFill/>
        </p:spPr>
        <p:txBody>
          <a:bodyPr wrap="square">
            <a:spAutoFit/>
          </a:bodyPr>
          <a:lstStyle/>
          <a:p>
            <a:pPr>
              <a:lnSpc>
                <a:spcPct val="112000"/>
              </a:lnSpc>
            </a:pPr>
            <a:r>
              <a:rPr lang="en-US" sz="1200">
                <a:solidFill>
                  <a:prstClr val="black"/>
                </a:solidFill>
                <a:latin typeface="Aptos" panose="02110004020202020204"/>
              </a:rPr>
              <a:t>Project Manager : Shilpa Kulkarni</a:t>
            </a:r>
          </a:p>
          <a:p>
            <a:pPr>
              <a:lnSpc>
                <a:spcPct val="112000"/>
              </a:lnSpc>
            </a:pPr>
            <a:r>
              <a:rPr lang="en-US" sz="1200" err="1">
                <a:solidFill>
                  <a:prstClr val="black"/>
                </a:solidFill>
                <a:latin typeface="Aptos" panose="02110004020202020204"/>
              </a:rPr>
              <a:t>OpEx</a:t>
            </a:r>
            <a:r>
              <a:rPr lang="en-US" sz="1200">
                <a:solidFill>
                  <a:prstClr val="black"/>
                </a:solidFill>
                <a:latin typeface="Aptos" panose="02110004020202020204"/>
              </a:rPr>
              <a:t> Business Lead:  Dan Clausing</a:t>
            </a:r>
          </a:p>
        </p:txBody>
      </p:sp>
      <p:sp>
        <p:nvSpPr>
          <p:cNvPr id="6" name="Flowchart: Connector 5">
            <a:extLst>
              <a:ext uri="{FF2B5EF4-FFF2-40B4-BE49-F238E27FC236}">
                <a16:creationId xmlns:a16="http://schemas.microsoft.com/office/drawing/2014/main" id="{EE87E7EF-2412-06B8-C493-AFC45E93D86C}"/>
              </a:ext>
            </a:extLst>
          </p:cNvPr>
          <p:cNvSpPr/>
          <p:nvPr/>
        </p:nvSpPr>
        <p:spPr>
          <a:xfrm>
            <a:off x="8999077" y="244827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sp>
        <p:nvSpPr>
          <p:cNvPr id="16" name="Flowchart: Connector 15">
            <a:extLst>
              <a:ext uri="{FF2B5EF4-FFF2-40B4-BE49-F238E27FC236}">
                <a16:creationId xmlns:a16="http://schemas.microsoft.com/office/drawing/2014/main" id="{8BD12550-6702-A081-A7C0-C62597C3784D}"/>
              </a:ext>
            </a:extLst>
          </p:cNvPr>
          <p:cNvSpPr/>
          <p:nvPr/>
        </p:nvSpPr>
        <p:spPr>
          <a:xfrm>
            <a:off x="8973104" y="4487931"/>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0" name="Flowchart: Connector 19">
            <a:extLst>
              <a:ext uri="{FF2B5EF4-FFF2-40B4-BE49-F238E27FC236}">
                <a16:creationId xmlns:a16="http://schemas.microsoft.com/office/drawing/2014/main" id="{08D66996-5891-BB00-7DFE-9248DCB65234}"/>
              </a:ext>
            </a:extLst>
          </p:cNvPr>
          <p:cNvSpPr/>
          <p:nvPr/>
        </p:nvSpPr>
        <p:spPr>
          <a:xfrm>
            <a:off x="9063262" y="5883668"/>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 name="Flowchart: Connector 12">
            <a:extLst>
              <a:ext uri="{FF2B5EF4-FFF2-40B4-BE49-F238E27FC236}">
                <a16:creationId xmlns:a16="http://schemas.microsoft.com/office/drawing/2014/main" id="{7978E1BF-B827-754F-836D-35636665F12D}"/>
              </a:ext>
            </a:extLst>
          </p:cNvPr>
          <p:cNvSpPr/>
          <p:nvPr/>
        </p:nvSpPr>
        <p:spPr>
          <a:xfrm>
            <a:off x="8981619" y="409446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563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64EB-72A6-1CE5-A821-28BA3567B8EF}"/>
              </a:ext>
            </a:extLst>
          </p:cNvPr>
          <p:cNvSpPr>
            <a:spLocks noGrp="1"/>
          </p:cNvSpPr>
          <p:nvPr>
            <p:ph type="title"/>
          </p:nvPr>
        </p:nvSpPr>
        <p:spPr/>
        <p:txBody>
          <a:bodyPr/>
          <a:lstStyle/>
          <a:p>
            <a:r>
              <a:rPr lang="en-US"/>
              <a:t>Green Projects</a:t>
            </a:r>
          </a:p>
        </p:txBody>
      </p:sp>
    </p:spTree>
    <p:extLst>
      <p:ext uri="{BB962C8B-B14F-4D97-AF65-F5344CB8AC3E}">
        <p14:creationId xmlns:p14="http://schemas.microsoft.com/office/powerpoint/2010/main" val="1965064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nvGraphicFramePr>
        <p:xfrm>
          <a:off x="6095998" y="6413123"/>
          <a:ext cx="6058483" cy="386554"/>
        </p:xfrm>
        <a:graphic>
          <a:graphicData uri="http://schemas.openxmlformats.org/drawingml/2006/table">
            <a:tbl>
              <a:tblPr/>
              <a:tblGrid>
                <a:gridCol w="514795">
                  <a:extLst>
                    <a:ext uri="{9D8B030D-6E8A-4147-A177-3AD203B41FA5}">
                      <a16:colId xmlns:a16="http://schemas.microsoft.com/office/drawing/2014/main" val="20000"/>
                    </a:ext>
                  </a:extLst>
                </a:gridCol>
                <a:gridCol w="260919">
                  <a:extLst>
                    <a:ext uri="{9D8B030D-6E8A-4147-A177-3AD203B41FA5}">
                      <a16:colId xmlns:a16="http://schemas.microsoft.com/office/drawing/2014/main" val="20001"/>
                    </a:ext>
                  </a:extLst>
                </a:gridCol>
                <a:gridCol w="643113">
                  <a:extLst>
                    <a:ext uri="{9D8B030D-6E8A-4147-A177-3AD203B41FA5}">
                      <a16:colId xmlns:a16="http://schemas.microsoft.com/office/drawing/2014/main" val="20002"/>
                    </a:ext>
                  </a:extLst>
                </a:gridCol>
                <a:gridCol w="257058">
                  <a:extLst>
                    <a:ext uri="{9D8B030D-6E8A-4147-A177-3AD203B41FA5}">
                      <a16:colId xmlns:a16="http://schemas.microsoft.com/office/drawing/2014/main" val="20003"/>
                    </a:ext>
                  </a:extLst>
                </a:gridCol>
                <a:gridCol w="586393">
                  <a:extLst>
                    <a:ext uri="{9D8B030D-6E8A-4147-A177-3AD203B41FA5}">
                      <a16:colId xmlns:a16="http://schemas.microsoft.com/office/drawing/2014/main" val="20004"/>
                    </a:ext>
                  </a:extLst>
                </a:gridCol>
                <a:gridCol w="469938">
                  <a:extLst>
                    <a:ext uri="{9D8B030D-6E8A-4147-A177-3AD203B41FA5}">
                      <a16:colId xmlns:a16="http://schemas.microsoft.com/office/drawing/2014/main" val="20005"/>
                    </a:ext>
                  </a:extLst>
                </a:gridCol>
                <a:gridCol w="430778">
                  <a:extLst>
                    <a:ext uri="{9D8B030D-6E8A-4147-A177-3AD203B41FA5}">
                      <a16:colId xmlns:a16="http://schemas.microsoft.com/office/drawing/2014/main" val="20006"/>
                    </a:ext>
                  </a:extLst>
                </a:gridCol>
                <a:gridCol w="313228">
                  <a:extLst>
                    <a:ext uri="{9D8B030D-6E8A-4147-A177-3AD203B41FA5}">
                      <a16:colId xmlns:a16="http://schemas.microsoft.com/office/drawing/2014/main" val="20007"/>
                    </a:ext>
                  </a:extLst>
                </a:gridCol>
                <a:gridCol w="1164698">
                  <a:extLst>
                    <a:ext uri="{9D8B030D-6E8A-4147-A177-3AD203B41FA5}">
                      <a16:colId xmlns:a16="http://schemas.microsoft.com/office/drawing/2014/main" val="20008"/>
                    </a:ext>
                  </a:extLst>
                </a:gridCol>
                <a:gridCol w="321065">
                  <a:extLst>
                    <a:ext uri="{9D8B030D-6E8A-4147-A177-3AD203B41FA5}">
                      <a16:colId xmlns:a16="http://schemas.microsoft.com/office/drawing/2014/main" val="20009"/>
                    </a:ext>
                  </a:extLst>
                </a:gridCol>
                <a:gridCol w="1096498">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CA2534B-42DB-308F-67A5-259B7D481165}"/>
              </a:ext>
            </a:extLst>
          </p:cNvPr>
          <p:cNvSpPr>
            <a:spLocks noGrp="1"/>
          </p:cNvSpPr>
          <p:nvPr>
            <p:ph type="title"/>
          </p:nvPr>
        </p:nvSpPr>
        <p:spPr>
          <a:xfrm>
            <a:off x="269945" y="58323"/>
            <a:ext cx="11652110" cy="517320"/>
          </a:xfrm>
        </p:spPr>
        <p:txBody>
          <a:bodyPr vert="horz">
            <a:normAutofit/>
          </a:bodyPr>
          <a:lstStyle/>
          <a:p>
            <a:r>
              <a:rPr lang="en-US" sz="2400" b="1">
                <a:solidFill>
                  <a:srgbClr val="29389F"/>
                </a:solidFill>
                <a:latin typeface="Arial" panose="020B0604020202020204" pitchFamily="34" charset="0"/>
                <a:cs typeface="Arial" panose="020B0604020202020204" pitchFamily="34" charset="0"/>
              </a:rPr>
              <a:t>PPT: Pet REN2GIN Policy Migration</a:t>
            </a:r>
          </a:p>
        </p:txBody>
      </p:sp>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2770366490"/>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nvGraphicFramePr>
        <p:xfrm>
          <a:off x="6767548" y="855236"/>
          <a:ext cx="5272952" cy="744124"/>
        </p:xfrm>
        <a:graphic>
          <a:graphicData uri="http://schemas.openxmlformats.org/drawingml/2006/table">
            <a:tbl>
              <a:tblPr>
                <a:tableStyleId>{5C22544A-7EE6-4342-B048-85BDC9FD1C3A}</a:tableStyleId>
              </a:tblPr>
              <a:tblGrid>
                <a:gridCol w="1029828">
                  <a:extLst>
                    <a:ext uri="{9D8B030D-6E8A-4147-A177-3AD203B41FA5}">
                      <a16:colId xmlns:a16="http://schemas.microsoft.com/office/drawing/2014/main" val="2456552316"/>
                    </a:ext>
                  </a:extLst>
                </a:gridCol>
                <a:gridCol w="912765">
                  <a:extLst>
                    <a:ext uri="{9D8B030D-6E8A-4147-A177-3AD203B41FA5}">
                      <a16:colId xmlns:a16="http://schemas.microsoft.com/office/drawing/2014/main" val="2327174630"/>
                    </a:ext>
                  </a:extLst>
                </a:gridCol>
                <a:gridCol w="1492494">
                  <a:extLst>
                    <a:ext uri="{9D8B030D-6E8A-4147-A177-3AD203B41FA5}">
                      <a16:colId xmlns:a16="http://schemas.microsoft.com/office/drawing/2014/main" val="1100051595"/>
                    </a:ext>
                  </a:extLst>
                </a:gridCol>
                <a:gridCol w="900431">
                  <a:extLst>
                    <a:ext uri="{9D8B030D-6E8A-4147-A177-3AD203B41FA5}">
                      <a16:colId xmlns:a16="http://schemas.microsoft.com/office/drawing/2014/main" val="2042261034"/>
                    </a:ext>
                  </a:extLst>
                </a:gridCol>
                <a:gridCol w="937434">
                  <a:extLst>
                    <a:ext uri="{9D8B030D-6E8A-4147-A177-3AD203B41FA5}">
                      <a16:colId xmlns:a16="http://schemas.microsoft.com/office/drawing/2014/main" val="2815874248"/>
                    </a:ext>
                  </a:extLst>
                </a:gridCol>
              </a:tblGrid>
              <a:tr h="30902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055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$486,171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$355,524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$841,696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Manual Migration – 2/10</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3333662251"/>
              </p:ext>
            </p:extLst>
          </p:nvPr>
        </p:nvGraphicFramePr>
        <p:xfrm>
          <a:off x="6087533" y="1766232"/>
          <a:ext cx="5968335" cy="3719186"/>
        </p:xfrm>
        <a:graphic>
          <a:graphicData uri="http://schemas.openxmlformats.org/drawingml/2006/table">
            <a:tbl>
              <a:tblPr>
                <a:tableStyleId>{5C22544A-7EE6-4342-B048-85BDC9FD1C3A}</a:tableStyleId>
              </a:tblPr>
              <a:tblGrid>
                <a:gridCol w="2397083">
                  <a:extLst>
                    <a:ext uri="{9D8B030D-6E8A-4147-A177-3AD203B41FA5}">
                      <a16:colId xmlns:a16="http://schemas.microsoft.com/office/drawing/2014/main" val="2456552316"/>
                    </a:ext>
                  </a:extLst>
                </a:gridCol>
                <a:gridCol w="508514">
                  <a:extLst>
                    <a:ext uri="{9D8B030D-6E8A-4147-A177-3AD203B41FA5}">
                      <a16:colId xmlns:a16="http://schemas.microsoft.com/office/drawing/2014/main" val="1100051595"/>
                    </a:ext>
                  </a:extLst>
                </a:gridCol>
                <a:gridCol w="597818">
                  <a:extLst>
                    <a:ext uri="{9D8B030D-6E8A-4147-A177-3AD203B41FA5}">
                      <a16:colId xmlns:a16="http://schemas.microsoft.com/office/drawing/2014/main" val="2042261034"/>
                    </a:ext>
                  </a:extLst>
                </a:gridCol>
                <a:gridCol w="2464920">
                  <a:extLst>
                    <a:ext uri="{9D8B030D-6E8A-4147-A177-3AD203B41FA5}">
                      <a16:colId xmlns:a16="http://schemas.microsoft.com/office/drawing/2014/main" val="2815874248"/>
                    </a:ext>
                  </a:extLst>
                </a:gridCol>
              </a:tblGrid>
              <a:tr h="410601">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5685">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WP to MPI Migration Wave 14</a:t>
                      </a:r>
                    </a:p>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mn-lt"/>
                          <a:ea typeface="+mn-ea"/>
                          <a:cs typeface="+mn-cs"/>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8/12 – Production Deployment Completed successfully.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12996819"/>
                  </a:ext>
                </a:extLst>
              </a:tr>
              <a:tr h="288524">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mn-lt"/>
                          <a:ea typeface="+mn-ea"/>
                          <a:cs typeface="+mn-cs"/>
                        </a:rPr>
                        <a:t>MPP to MPP Choice Wave 15 (MD) Migration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C</a:t>
                      </a:r>
                    </a:p>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kern="1200">
                          <a:solidFill>
                            <a:schemeClr val="tx1"/>
                          </a:solidFill>
                          <a:effectLst/>
                          <a:latin typeface="+mn-lt"/>
                          <a:ea typeface="+mn-ea"/>
                          <a:cs typeface="+mn-cs"/>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8/12 – Production Deployment Completed successfully.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90476154"/>
                  </a:ext>
                </a:extLst>
              </a:tr>
              <a:tr h="403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SOW  execution </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C</a:t>
                      </a:r>
                    </a:p>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mn-lt"/>
                          <a:ea typeface="+mn-ea"/>
                          <a:cs typeface="+mn-cs"/>
                        </a:rPr>
                        <a:t>9/11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SOW is Finalized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8890037"/>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Manual Migration Discovery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10/16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5007855"/>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DDIT completion</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302069"/>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 Stabilization/E2E</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773899"/>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UAT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936454"/>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Go-Live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452897"/>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Warranty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4300901"/>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endParaRPr lang="en-US" sz="850" b="0" strike="noStrike"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9873815"/>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extLst>
              <p:ext uri="{D42A27DB-BD31-4B8C-83A1-F6EECF244321}">
                <p14:modId xmlns:p14="http://schemas.microsoft.com/office/powerpoint/2010/main" val="2267099879"/>
              </p:ext>
            </p:extLst>
          </p:nvPr>
        </p:nvGraphicFramePr>
        <p:xfrm>
          <a:off x="6095998" y="5466353"/>
          <a:ext cx="6058483" cy="918194"/>
        </p:xfrm>
        <a:graphic>
          <a:graphicData uri="http://schemas.openxmlformats.org/drawingml/2006/table">
            <a:tbl>
              <a:tblPr>
                <a:tableStyleId>{5C22544A-7EE6-4342-B048-85BDC9FD1C3A}</a:tableStyleId>
              </a:tblPr>
              <a:tblGrid>
                <a:gridCol w="2262278">
                  <a:extLst>
                    <a:ext uri="{9D8B030D-6E8A-4147-A177-3AD203B41FA5}">
                      <a16:colId xmlns:a16="http://schemas.microsoft.com/office/drawing/2014/main" val="2456552316"/>
                    </a:ext>
                  </a:extLst>
                </a:gridCol>
                <a:gridCol w="475806">
                  <a:extLst>
                    <a:ext uri="{9D8B030D-6E8A-4147-A177-3AD203B41FA5}">
                      <a16:colId xmlns:a16="http://schemas.microsoft.com/office/drawing/2014/main" val="1100051595"/>
                    </a:ext>
                  </a:extLst>
                </a:gridCol>
                <a:gridCol w="442718">
                  <a:extLst>
                    <a:ext uri="{9D8B030D-6E8A-4147-A177-3AD203B41FA5}">
                      <a16:colId xmlns:a16="http://schemas.microsoft.com/office/drawing/2014/main" val="2042261034"/>
                    </a:ext>
                  </a:extLst>
                </a:gridCol>
                <a:gridCol w="2877681">
                  <a:extLst>
                    <a:ext uri="{9D8B030D-6E8A-4147-A177-3AD203B41FA5}">
                      <a16:colId xmlns:a16="http://schemas.microsoft.com/office/drawing/2014/main" val="2815874248"/>
                    </a:ext>
                  </a:extLst>
                </a:gridCol>
              </a:tblGrid>
              <a:tr h="35486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63332">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Any delay in clarification and requirement sign off  may affect project  Timelines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kern="1200">
                          <a:solidFill>
                            <a:schemeClr val="tx1"/>
                          </a:solidFill>
                          <a:latin typeface="Aptos" panose="020B0004020202020204" pitchFamily="34" charset="0"/>
                          <a:ea typeface="+mn-ea"/>
                          <a:cs typeface="Arial"/>
                        </a:rPr>
                        <a:t>10/14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b="0" i="0" u="none" strike="noStrike" kern="1200" noProof="0">
                          <a:solidFill>
                            <a:srgbClr val="000000"/>
                          </a:solidFill>
                          <a:effectLst/>
                          <a:latin typeface="Aptos" panose="020B0004020202020204" pitchFamily="34" charset="0"/>
                        </a:rPr>
                        <a:t>Impact on the deliverable timelines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588471"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483085" y="65406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353742" y="652410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B12DBC5-FE50-D649-59F3-F5DFE1A04FC0}"/>
              </a:ext>
            </a:extLst>
          </p:cNvPr>
          <p:cNvSpPr txBox="1"/>
          <p:nvPr/>
        </p:nvSpPr>
        <p:spPr>
          <a:xfrm>
            <a:off x="69460" y="1604202"/>
            <a:ext cx="5681634" cy="2920415"/>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00FF00"/>
                </a:highlight>
                <a:latin typeface="Aptos" panose="020B0004020202020204" pitchFamily="34" charset="0"/>
                <a:cs typeface="Arial"/>
              </a:rPr>
              <a:t>Green</a:t>
            </a:r>
          </a:p>
          <a:p>
            <a:r>
              <a:rPr lang="en-US" sz="850"/>
              <a:t>The project status remains Green, as the team has successfully finalized the Statement of Work (SOW) and completed alignment on the manual migration timeline. All key project deliverables, scope expectations, and milestone dates have been reviewed and agreed upon by stakeholders. </a:t>
            </a:r>
          </a:p>
          <a:p>
            <a:endParaRPr lang="en-US" sz="850" b="1">
              <a:latin typeface="Aptos" panose="020B0004020202020204" pitchFamily="34" charset="0"/>
            </a:endParaRPr>
          </a:p>
          <a:p>
            <a:r>
              <a:rPr lang="en-US" sz="850" b="1">
                <a:latin typeface="Aptos" panose="020B0004020202020204" pitchFamily="34" charset="0"/>
              </a:rPr>
              <a:t>Highlights:</a:t>
            </a:r>
          </a:p>
          <a:p>
            <a:r>
              <a:rPr lang="en-US" sz="850" b="1">
                <a:latin typeface="Aptos" panose="020B0004020202020204" pitchFamily="34" charset="0"/>
              </a:rPr>
              <a:t>Manual Migration SOW –</a:t>
            </a:r>
          </a:p>
          <a:p>
            <a:pPr marL="171450" indent="-171450">
              <a:buFont typeface="Arial" panose="020B0604020202020204" pitchFamily="34" charset="0"/>
              <a:buChar char="•"/>
            </a:pPr>
            <a:r>
              <a:rPr lang="en-US" sz="850" kern="100">
                <a:latin typeface="Aptos" panose="020B0004020202020204" pitchFamily="34" charset="0"/>
                <a:cs typeface="Arial"/>
              </a:rPr>
              <a:t>Completed the initial framework-level customizations required to support the Manual Renewal functionality as part of tech card - need to review with Kiran/Architects.</a:t>
            </a:r>
          </a:p>
          <a:p>
            <a:pPr marL="171450" indent="-171450">
              <a:buFont typeface="Arial" panose="020B0604020202020204" pitchFamily="34" charset="0"/>
              <a:buChar char="•"/>
            </a:pPr>
            <a:r>
              <a:rPr lang="en-US" sz="850" kern="100">
                <a:latin typeface="Aptos" panose="020B0004020202020204" pitchFamily="34" charset="0"/>
                <a:cs typeface="Arial"/>
              </a:rPr>
              <a:t>Added customized fields to the Manual Renewal screen</a:t>
            </a:r>
          </a:p>
          <a:p>
            <a:pPr marL="171450" indent="-171450">
              <a:buFont typeface="Arial" panose="020B0604020202020204" pitchFamily="34" charset="0"/>
              <a:buChar char="•"/>
            </a:pPr>
            <a:r>
              <a:rPr lang="en-US" sz="850" kern="100">
                <a:latin typeface="Aptos" panose="020B0004020202020204" pitchFamily="34" charset="0"/>
                <a:cs typeface="Arial"/>
              </a:rPr>
              <a:t>Updated the Transaction Code, Short Description, and Long Description for the Manual Renewal Transaction.</a:t>
            </a:r>
          </a:p>
          <a:p>
            <a:pPr marL="171450" indent="-171450">
              <a:buFont typeface="Arial" panose="020B0604020202020204" pitchFamily="34" charset="0"/>
              <a:buChar char="•"/>
            </a:pPr>
            <a:r>
              <a:rPr lang="en-US" sz="850" kern="100">
                <a:latin typeface="Aptos" panose="020B0004020202020204" pitchFamily="34" charset="0"/>
                <a:cs typeface="Arial"/>
              </a:rPr>
              <a:t>Created the required authority/permission for users who need access to the Manual Renewal transaction.</a:t>
            </a:r>
          </a:p>
          <a:p>
            <a:pPr marL="171450" indent="-171450">
              <a:buFont typeface="Arial" panose="020B0604020202020204" pitchFamily="34" charset="0"/>
              <a:buChar char="•"/>
            </a:pPr>
            <a:r>
              <a:rPr lang="en-US" sz="850" kern="100">
                <a:latin typeface="Aptos" panose="020B0004020202020204" pitchFamily="34" charset="0"/>
                <a:cs typeface="Arial"/>
              </a:rPr>
              <a:t>Presented draft prototype screens to product owner and clarifications received on open questions.</a:t>
            </a:r>
          </a:p>
          <a:p>
            <a:pPr marL="171450" indent="-171450">
              <a:buFont typeface="Arial" panose="020B0604020202020204" pitchFamily="34" charset="0"/>
              <a:buChar char="•"/>
            </a:pPr>
            <a:r>
              <a:rPr lang="en-US" sz="850" kern="100">
                <a:latin typeface="Aptos" panose="020B0004020202020204" pitchFamily="34" charset="0"/>
                <a:cs typeface="Arial"/>
              </a:rPr>
              <a:t>Story card creation and alignment with business/ product owner in progress</a:t>
            </a: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p>
          <a:p>
            <a:pPr marL="171450" indent="-171450">
              <a:buFont typeface="Arial" panose="020B0604020202020204" pitchFamily="34" charset="0"/>
              <a:buChar char="•"/>
            </a:pPr>
            <a:r>
              <a:rPr lang="en-US" sz="850" kern="100">
                <a:latin typeface="Aptos" panose="020B0004020202020204" pitchFamily="34" charset="0"/>
                <a:cs typeface="Arial"/>
              </a:rPr>
              <a:t>Obtain clarification on two major pending questions and obtain sign off on requirements</a:t>
            </a:r>
          </a:p>
          <a:p>
            <a:pPr marL="171450" indent="-171450">
              <a:buFont typeface="Arial" panose="020B0604020202020204" pitchFamily="34" charset="0"/>
              <a:buChar char="•"/>
            </a:pPr>
            <a:r>
              <a:rPr lang="en-US" sz="850" kern="100">
                <a:latin typeface="Aptos" panose="020B0004020202020204" pitchFamily="34" charset="0"/>
                <a:cs typeface="Arial"/>
              </a:rPr>
              <a:t>Revisit plan based on finalized requirements.</a:t>
            </a:r>
          </a:p>
          <a:p>
            <a:pPr marL="171450" indent="-171450">
              <a:buFont typeface="Arial" panose="020B0604020202020204" pitchFamily="34" charset="0"/>
              <a:buChar char="•"/>
            </a:pPr>
            <a:r>
              <a:rPr lang="en-US" sz="850" kern="100">
                <a:latin typeface="Aptos" panose="020B0004020202020204" pitchFamily="34" charset="0"/>
                <a:cs typeface="Arial"/>
              </a:rPr>
              <a:t>Onboard Testing team</a:t>
            </a:r>
            <a:endParaRPr lang="en-US" sz="850" b="1" kern="100">
              <a:latin typeface="Aptos" panose="020B0004020202020204" pitchFamily="34" charset="0"/>
              <a:cs typeface="Arial"/>
            </a:endParaRPr>
          </a:p>
          <a:p>
            <a:endParaRPr lang="en-US" sz="900" b="1" kern="100">
              <a:latin typeface="Aptos" panose="020B0004020202020204" pitchFamily="34" charset="0"/>
              <a:cs typeface="Arial"/>
            </a:endParaRPr>
          </a:p>
          <a:p>
            <a:r>
              <a:rPr lang="en-US" sz="900" b="1" kern="100">
                <a:latin typeface="Aptos" panose="020B0004020202020204" pitchFamily="34" charset="0"/>
                <a:cs typeface="Arial"/>
              </a:rPr>
              <a:t>Policy Migration:</a:t>
            </a:r>
          </a:p>
          <a:p>
            <a:pPr marL="171450" indent="-171450">
              <a:buFont typeface="Arial" panose="020B0604020202020204" pitchFamily="34" charset="0"/>
              <a:buChar char="•"/>
            </a:pPr>
            <a:endParaRPr lang="en-US" sz="900" kern="100">
              <a:latin typeface="+mj-lt"/>
              <a:cs typeface="Arial"/>
            </a:endParaRPr>
          </a:p>
        </p:txBody>
      </p:sp>
      <p:sp>
        <p:nvSpPr>
          <p:cNvPr id="4" name="TextBox 2">
            <a:extLst>
              <a:ext uri="{FF2B5EF4-FFF2-40B4-BE49-F238E27FC236}">
                <a16:creationId xmlns:a16="http://schemas.microsoft.com/office/drawing/2014/main" id="{15680B60-9CDA-9824-877C-8B7D8C5E496E}"/>
              </a:ext>
            </a:extLst>
          </p:cNvPr>
          <p:cNvSpPr txBox="1"/>
          <p:nvPr/>
        </p:nvSpPr>
        <p:spPr>
          <a:xfrm>
            <a:off x="9725429" y="143497"/>
            <a:ext cx="3708400" cy="703782"/>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Rekha/ Shilpa</a:t>
            </a:r>
          </a:p>
          <a:p>
            <a:r>
              <a:rPr lang="en-US" err="1"/>
              <a:t>OpEx</a:t>
            </a:r>
            <a:r>
              <a:rPr lang="en-US"/>
              <a:t> Business Lead: Gary W</a:t>
            </a:r>
          </a:p>
          <a:p>
            <a:endParaRPr lang="en-US"/>
          </a:p>
        </p:txBody>
      </p:sp>
      <p:graphicFrame>
        <p:nvGraphicFramePr>
          <p:cNvPr id="12" name="Table 11">
            <a:extLst>
              <a:ext uri="{FF2B5EF4-FFF2-40B4-BE49-F238E27FC236}">
                <a16:creationId xmlns:a16="http://schemas.microsoft.com/office/drawing/2014/main" id="{E921FFFE-697F-3E97-8AFA-4360FF21BDFC}"/>
              </a:ext>
            </a:extLst>
          </p:cNvPr>
          <p:cNvGraphicFramePr>
            <a:graphicFrameLocks noGrp="1"/>
          </p:cNvGraphicFramePr>
          <p:nvPr>
            <p:extLst>
              <p:ext uri="{D42A27DB-BD31-4B8C-83A1-F6EECF244321}">
                <p14:modId xmlns:p14="http://schemas.microsoft.com/office/powerpoint/2010/main" val="557786767"/>
              </p:ext>
            </p:extLst>
          </p:nvPr>
        </p:nvGraphicFramePr>
        <p:xfrm>
          <a:off x="269945" y="4806943"/>
          <a:ext cx="5473725" cy="1697194"/>
        </p:xfrm>
        <a:graphic>
          <a:graphicData uri="http://schemas.openxmlformats.org/drawingml/2006/table">
            <a:tbl>
              <a:tblPr firstRow="1" bandRow="1">
                <a:tableStyleId>{5C22544A-7EE6-4342-B048-85BDC9FD1C3A}</a:tableStyleId>
              </a:tblPr>
              <a:tblGrid>
                <a:gridCol w="793100">
                  <a:extLst>
                    <a:ext uri="{9D8B030D-6E8A-4147-A177-3AD203B41FA5}">
                      <a16:colId xmlns:a16="http://schemas.microsoft.com/office/drawing/2014/main" val="3637917214"/>
                    </a:ext>
                  </a:extLst>
                </a:gridCol>
                <a:gridCol w="725978">
                  <a:extLst>
                    <a:ext uri="{9D8B030D-6E8A-4147-A177-3AD203B41FA5}">
                      <a16:colId xmlns:a16="http://schemas.microsoft.com/office/drawing/2014/main" val="3032011922"/>
                    </a:ext>
                  </a:extLst>
                </a:gridCol>
                <a:gridCol w="673160">
                  <a:extLst>
                    <a:ext uri="{9D8B030D-6E8A-4147-A177-3AD203B41FA5}">
                      <a16:colId xmlns:a16="http://schemas.microsoft.com/office/drawing/2014/main" val="418294940"/>
                    </a:ext>
                  </a:extLst>
                </a:gridCol>
                <a:gridCol w="961658">
                  <a:extLst>
                    <a:ext uri="{9D8B030D-6E8A-4147-A177-3AD203B41FA5}">
                      <a16:colId xmlns:a16="http://schemas.microsoft.com/office/drawing/2014/main" val="3602347149"/>
                    </a:ext>
                  </a:extLst>
                </a:gridCol>
                <a:gridCol w="786811">
                  <a:extLst>
                    <a:ext uri="{9D8B030D-6E8A-4147-A177-3AD203B41FA5}">
                      <a16:colId xmlns:a16="http://schemas.microsoft.com/office/drawing/2014/main" val="3105767796"/>
                    </a:ext>
                  </a:extLst>
                </a:gridCol>
                <a:gridCol w="1533018">
                  <a:extLst>
                    <a:ext uri="{9D8B030D-6E8A-4147-A177-3AD203B41FA5}">
                      <a16:colId xmlns:a16="http://schemas.microsoft.com/office/drawing/2014/main" val="903078938"/>
                    </a:ext>
                  </a:extLst>
                </a:gridCol>
              </a:tblGrid>
              <a:tr h="133010">
                <a:tc>
                  <a:txBody>
                    <a:bodyPr/>
                    <a:lstStyle/>
                    <a:p>
                      <a:pPr algn="ctr"/>
                      <a:r>
                        <a:rPr lang="en-US" sz="850"/>
                        <a:t>Product</a:t>
                      </a:r>
                    </a:p>
                  </a:txBody>
                  <a:tcP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1" kern="1200">
                          <a:solidFill>
                            <a:schemeClr val="lt1"/>
                          </a:solidFill>
                          <a:latin typeface="+mn-lt"/>
                          <a:ea typeface="+mn-ea"/>
                          <a:cs typeface="+mn-cs"/>
                        </a:rPr>
                        <a:t>States Deployed</a:t>
                      </a:r>
                    </a:p>
                    <a:p>
                      <a:pPr marL="0" algn="ctr" defTabSz="914400" rtl="0" eaLnBrk="1" latinLnBrk="0" hangingPunct="1"/>
                      <a:endParaRPr lang="en-US" sz="850" b="1" kern="1200">
                        <a:solidFill>
                          <a:schemeClr val="lt1"/>
                        </a:solidFill>
                        <a:latin typeface="+mn-lt"/>
                        <a:ea typeface="+mn-ea"/>
                        <a:cs typeface="+mn-cs"/>
                      </a:endParaRP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Policies Migrated </a:t>
                      </a: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Original Premium Migrated</a:t>
                      </a: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 Complete</a:t>
                      </a: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Remaining States</a:t>
                      </a:r>
                    </a:p>
                  </a:txBody>
                  <a:tcPr>
                    <a:solidFill>
                      <a:srgbClr val="002060"/>
                    </a:solidFill>
                  </a:tcPr>
                </a:tc>
                <a:extLst>
                  <a:ext uri="{0D108BD9-81ED-4DB2-BD59-A6C34878D82A}">
                    <a16:rowId xmlns:a16="http://schemas.microsoft.com/office/drawing/2014/main" val="2145207325"/>
                  </a:ext>
                </a:extLst>
              </a:tr>
              <a:tr h="204325">
                <a:tc>
                  <a:txBody>
                    <a:bodyPr/>
                    <a:lstStyle/>
                    <a:p>
                      <a:pPr marL="0" algn="l" defTabSz="914400" rtl="0" eaLnBrk="1" latinLnBrk="0" hangingPunct="1"/>
                      <a:r>
                        <a:rPr lang="en-US" sz="850" b="1" kern="1200">
                          <a:solidFill>
                            <a:schemeClr val="dk1"/>
                          </a:solidFill>
                          <a:latin typeface="+mn-lt"/>
                          <a:ea typeface="+mn-ea"/>
                          <a:cs typeface="+mn-cs"/>
                        </a:rPr>
                        <a:t>MM to MPI</a:t>
                      </a:r>
                    </a:p>
                  </a:txBody>
                  <a:tcPr/>
                </a:tc>
                <a:tc>
                  <a:txBody>
                    <a:bodyPr/>
                    <a:lstStyle/>
                    <a:p>
                      <a:pPr marL="0" algn="l" defTabSz="914400" rtl="0" eaLnBrk="1" latinLnBrk="0" hangingPunct="1"/>
                      <a:r>
                        <a:rPr lang="en-US" sz="850" kern="1200">
                          <a:solidFill>
                            <a:schemeClr val="dk1"/>
                          </a:solidFill>
                          <a:latin typeface="+mn-lt"/>
                          <a:ea typeface="+mn-ea"/>
                          <a:cs typeface="+mn-cs"/>
                        </a:rPr>
                        <a:t>CA</a:t>
                      </a:r>
                    </a:p>
                  </a:txBody>
                  <a:tcPr/>
                </a:tc>
                <a:tc>
                  <a:txBody>
                    <a:bodyPr/>
                    <a:lstStyle/>
                    <a:p>
                      <a:pPr marL="0" algn="l" defTabSz="914400" rtl="0" eaLnBrk="1" latinLnBrk="0" hangingPunct="1"/>
                      <a:r>
                        <a:rPr lang="en-US" sz="900"/>
                        <a:t>66,599</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$51,264,241</a:t>
                      </a:r>
                    </a:p>
                  </a:txBody>
                  <a:tcPr/>
                </a:tc>
                <a:tc>
                  <a:txBody>
                    <a:bodyPr/>
                    <a:lstStyle/>
                    <a:p>
                      <a:pPr marL="0" algn="l" defTabSz="914400" rtl="0" eaLnBrk="1" latinLnBrk="0" hangingPunct="1"/>
                      <a:r>
                        <a:rPr lang="en-US" sz="850" kern="1200">
                          <a:solidFill>
                            <a:schemeClr val="dk1"/>
                          </a:solidFill>
                          <a:latin typeface="+mn-lt"/>
                          <a:ea typeface="+mn-ea"/>
                          <a:cs typeface="+mn-cs"/>
                        </a:rPr>
                        <a:t>99.7%</a:t>
                      </a:r>
                    </a:p>
                  </a:txBody>
                  <a:tcPr/>
                </a:tc>
                <a:tc>
                  <a:txBody>
                    <a:bodyPr/>
                    <a:lstStyle/>
                    <a:p>
                      <a:pPr marL="0" algn="l" defTabSz="914400" rtl="0" eaLnBrk="1" latinLnBrk="0" hangingPunct="1"/>
                      <a:r>
                        <a:rPr lang="en-US" sz="850" kern="1200">
                          <a:solidFill>
                            <a:schemeClr val="dk1"/>
                          </a:solidFill>
                          <a:latin typeface="+mn-lt"/>
                          <a:ea typeface="+mn-ea"/>
                          <a:cs typeface="+mn-cs"/>
                        </a:rPr>
                        <a:t>CA only</a:t>
                      </a:r>
                    </a:p>
                  </a:txBody>
                  <a:tcPr/>
                </a:tc>
                <a:extLst>
                  <a:ext uri="{0D108BD9-81ED-4DB2-BD59-A6C34878D82A}">
                    <a16:rowId xmlns:a16="http://schemas.microsoft.com/office/drawing/2014/main" val="2539607601"/>
                  </a:ext>
                </a:extLst>
              </a:tr>
              <a:tr h="326920">
                <a:tc>
                  <a:txBody>
                    <a:bodyPr/>
                    <a:lstStyle/>
                    <a:p>
                      <a:pPr marL="0" algn="l" defTabSz="914400" rtl="0" eaLnBrk="1" latinLnBrk="0" hangingPunct="1"/>
                      <a:r>
                        <a:rPr lang="en-US" sz="900" b="1"/>
                        <a:t>MPP to MPPC</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49</a:t>
                      </a:r>
                    </a:p>
                  </a:txBody>
                  <a:tcPr/>
                </a:tc>
                <a:tc>
                  <a:txBody>
                    <a:bodyPr/>
                    <a:lstStyle/>
                    <a:p>
                      <a:pPr marL="0" algn="l" defTabSz="914400" rtl="0" eaLnBrk="1" latinLnBrk="0" hangingPunct="1"/>
                      <a:r>
                        <a:rPr lang="en-US" sz="900"/>
                        <a:t>545,739</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$514,493,828</a:t>
                      </a:r>
                    </a:p>
                  </a:txBody>
                  <a:tcPr/>
                </a:tc>
                <a:tc>
                  <a:txBody>
                    <a:bodyPr/>
                    <a:lstStyle/>
                    <a:p>
                      <a:pPr marL="0" algn="l" defTabSz="914400" rtl="0" eaLnBrk="1" latinLnBrk="0" hangingPunct="1"/>
                      <a:r>
                        <a:rPr lang="en-US" sz="850" kern="1200">
                          <a:solidFill>
                            <a:schemeClr val="dk1"/>
                          </a:solidFill>
                          <a:latin typeface="+mn-lt"/>
                          <a:ea typeface="+mn-ea"/>
                          <a:cs typeface="+mn-cs"/>
                        </a:rPr>
                        <a:t>89%</a:t>
                      </a:r>
                    </a:p>
                  </a:txBody>
                  <a:tcPr/>
                </a:tc>
                <a:tc>
                  <a:txBody>
                    <a:bodyPr/>
                    <a:lstStyle/>
                    <a:p>
                      <a:pPr marL="0" algn="l" defTabSz="914400" rtl="0" eaLnBrk="1" latinLnBrk="0" hangingPunct="1"/>
                      <a:r>
                        <a:rPr lang="en-US" sz="850" kern="1200">
                          <a:solidFill>
                            <a:schemeClr val="dk1"/>
                          </a:solidFill>
                          <a:latin typeface="+mn-lt"/>
                          <a:ea typeface="+mn-ea"/>
                          <a:cs typeface="+mn-cs"/>
                        </a:rPr>
                        <a:t>WA and NY –Pending DOI</a:t>
                      </a:r>
                    </a:p>
                  </a:txBody>
                  <a:tcPr/>
                </a:tc>
                <a:extLst>
                  <a:ext uri="{0D108BD9-81ED-4DB2-BD59-A6C34878D82A}">
                    <a16:rowId xmlns:a16="http://schemas.microsoft.com/office/drawing/2014/main" val="2679004041"/>
                  </a:ext>
                </a:extLst>
              </a:tr>
              <a:tr h="313298">
                <a:tc>
                  <a:txBody>
                    <a:bodyPr/>
                    <a:lstStyle/>
                    <a:p>
                      <a:pPr marL="0" algn="l" defTabSz="914400" rtl="0" eaLnBrk="1" latinLnBrk="0" hangingPunct="1"/>
                      <a:r>
                        <a:rPr lang="en-US" sz="900" b="1"/>
                        <a:t>WP to MPI</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26</a:t>
                      </a:r>
                    </a:p>
                  </a:txBody>
                  <a:tcPr/>
                </a:tc>
                <a:tc>
                  <a:txBody>
                    <a:bodyPr/>
                    <a:lstStyle/>
                    <a:p>
                      <a:pPr>
                        <a:buNone/>
                      </a:pPr>
                      <a:r>
                        <a:rPr lang="en-US" sz="900" kern="1200">
                          <a:solidFill>
                            <a:schemeClr val="dk1"/>
                          </a:solidFill>
                          <a:latin typeface="+mn-lt"/>
                          <a:ea typeface="+mn-ea"/>
                          <a:cs typeface="+mn-cs"/>
                        </a:rPr>
                        <a:t>38,432</a:t>
                      </a:r>
                    </a:p>
                  </a:txBody>
                  <a:tcPr anchor="ctr"/>
                </a:tc>
                <a:tc>
                  <a:txBody>
                    <a:bodyPr/>
                    <a:lstStyle/>
                    <a:p>
                      <a:pPr marL="0" algn="l" defTabSz="914400" rtl="0" eaLnBrk="1" latinLnBrk="0" hangingPunct="1">
                        <a:buNone/>
                      </a:pPr>
                      <a:r>
                        <a:rPr lang="en-US" sz="850" kern="1200">
                          <a:solidFill>
                            <a:schemeClr val="dk1"/>
                          </a:solidFill>
                          <a:latin typeface="+mn-lt"/>
                          <a:ea typeface="+mn-ea"/>
                          <a:cs typeface="+mn-cs"/>
                        </a:rPr>
                        <a:t>$33,372,717</a:t>
                      </a:r>
                    </a:p>
                  </a:txBody>
                  <a:tcPr anchor="ctr"/>
                </a:tc>
                <a:tc>
                  <a:txBody>
                    <a:bodyPr/>
                    <a:lstStyle/>
                    <a:p>
                      <a:pPr marL="0" algn="l" defTabSz="914400" rtl="0" eaLnBrk="1" latinLnBrk="0" hangingPunct="1"/>
                      <a:r>
                        <a:rPr lang="en-US" sz="850" kern="1200">
                          <a:solidFill>
                            <a:schemeClr val="dk1"/>
                          </a:solidFill>
                          <a:latin typeface="+mn-lt"/>
                          <a:ea typeface="+mn-ea"/>
                          <a:cs typeface="+mn-cs"/>
                        </a:rPr>
                        <a:t>73.4%</a:t>
                      </a:r>
                    </a:p>
                  </a:txBody>
                  <a:tcPr/>
                </a:tc>
                <a:tc>
                  <a:txBody>
                    <a:bodyPr/>
                    <a:lstStyle/>
                    <a:p>
                      <a:pPr marL="0" algn="l" defTabSz="914400" rtl="0" eaLnBrk="1" latinLnBrk="0" hangingPunct="1"/>
                      <a:r>
                        <a:rPr lang="en-US" sz="850" kern="1200">
                          <a:solidFill>
                            <a:schemeClr val="dk1"/>
                          </a:solidFill>
                          <a:latin typeface="+mn-lt"/>
                          <a:ea typeface="+mn-ea"/>
                          <a:cs typeface="+mn-cs"/>
                        </a:rPr>
                        <a:t>NJ, NY and WA – Pending DOI</a:t>
                      </a:r>
                    </a:p>
                  </a:txBody>
                  <a:tcPr/>
                </a:tc>
                <a:extLst>
                  <a:ext uri="{0D108BD9-81ED-4DB2-BD59-A6C34878D82A}">
                    <a16:rowId xmlns:a16="http://schemas.microsoft.com/office/drawing/2014/main" val="4009394994"/>
                  </a:ext>
                </a:extLst>
              </a:tr>
              <a:tr h="272254">
                <a:tc>
                  <a:txBody>
                    <a:bodyPr/>
                    <a:lstStyle/>
                    <a:p>
                      <a:pPr marL="0" algn="l" defTabSz="914400" rtl="0" eaLnBrk="1" latinLnBrk="0" hangingPunct="1"/>
                      <a:r>
                        <a:rPr lang="en-US" sz="850" b="1" kern="1200">
                          <a:solidFill>
                            <a:schemeClr val="dk1"/>
                          </a:solidFill>
                          <a:latin typeface="+mn-lt"/>
                          <a:ea typeface="+mn-ea"/>
                          <a:cs typeface="+mn-cs"/>
                        </a:rPr>
                        <a:t>Total</a:t>
                      </a:r>
                    </a:p>
                  </a:txBody>
                  <a:tcPr/>
                </a:tc>
                <a:tc>
                  <a:txBody>
                    <a:bodyPr/>
                    <a:lstStyle/>
                    <a:p>
                      <a:pPr marL="0" algn="l" defTabSz="914400" rtl="0" eaLnBrk="1" latinLnBrk="0" hangingPunct="1"/>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650,790</a:t>
                      </a:r>
                    </a:p>
                  </a:txBody>
                  <a:tcPr/>
                </a:tc>
                <a:tc>
                  <a:txBody>
                    <a:bodyPr/>
                    <a:lstStyle/>
                    <a:p>
                      <a:pPr marL="0" algn="l" defTabSz="914400" rtl="0" eaLnBrk="1" latinLnBrk="0" hangingPunct="1"/>
                      <a:r>
                        <a:rPr lang="en-US" sz="850" kern="1200">
                          <a:solidFill>
                            <a:schemeClr val="dk1"/>
                          </a:solidFill>
                          <a:latin typeface="+mn-lt"/>
                          <a:ea typeface="+mn-ea"/>
                          <a:cs typeface="+mn-cs"/>
                        </a:rPr>
                        <a:t>$599,130,786</a:t>
                      </a:r>
                    </a:p>
                  </a:txBody>
                  <a:tcPr/>
                </a:tc>
                <a:tc>
                  <a:txBody>
                    <a:bodyPr/>
                    <a:lstStyle/>
                    <a:p>
                      <a:pPr marL="0" algn="l" defTabSz="914400" rtl="0" eaLnBrk="1" latinLnBrk="0" hangingPunct="1"/>
                      <a:r>
                        <a:rPr lang="en-US" sz="850" kern="1200">
                          <a:solidFill>
                            <a:schemeClr val="dk1"/>
                          </a:solidFill>
                          <a:latin typeface="+mn-lt"/>
                          <a:ea typeface="+mn-ea"/>
                          <a:cs typeface="+mn-cs"/>
                        </a:rPr>
                        <a:t>86.6%</a:t>
                      </a:r>
                    </a:p>
                  </a:txBody>
                  <a:tcPr/>
                </a:tc>
                <a:tc>
                  <a:txBody>
                    <a:bodyPr/>
                    <a:lstStyle/>
                    <a:p>
                      <a:pPr marL="0" algn="l" defTabSz="914400" rtl="0" eaLnBrk="1" latinLnBrk="0" hangingPunct="1"/>
                      <a:endParaRPr lang="en-US" sz="850" kern="1200">
                        <a:solidFill>
                          <a:schemeClr val="dk1"/>
                        </a:solidFill>
                        <a:latin typeface="+mn-lt"/>
                        <a:ea typeface="+mn-ea"/>
                        <a:cs typeface="+mn-cs"/>
                      </a:endParaRPr>
                    </a:p>
                  </a:txBody>
                  <a:tcPr/>
                </a:tc>
                <a:extLst>
                  <a:ext uri="{0D108BD9-81ED-4DB2-BD59-A6C34878D82A}">
                    <a16:rowId xmlns:a16="http://schemas.microsoft.com/office/drawing/2014/main" val="2182164871"/>
                  </a:ext>
                </a:extLst>
              </a:tr>
            </a:tbl>
          </a:graphicData>
        </a:graphic>
      </p:graphicFrame>
      <p:sp>
        <p:nvSpPr>
          <p:cNvPr id="6" name="Flowchart: Connector 5">
            <a:extLst>
              <a:ext uri="{FF2B5EF4-FFF2-40B4-BE49-F238E27FC236}">
                <a16:creationId xmlns:a16="http://schemas.microsoft.com/office/drawing/2014/main" id="{BBCBA6D5-0945-71D0-22FE-93038C152B37}"/>
              </a:ext>
            </a:extLst>
          </p:cNvPr>
          <p:cNvSpPr/>
          <p:nvPr/>
        </p:nvSpPr>
        <p:spPr>
          <a:xfrm>
            <a:off x="8646371" y="332285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C2F3A75E-0989-6E46-5863-D8456C875F55}"/>
              </a:ext>
            </a:extLst>
          </p:cNvPr>
          <p:cNvSpPr/>
          <p:nvPr/>
        </p:nvSpPr>
        <p:spPr>
          <a:xfrm>
            <a:off x="8564728" y="600276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1E3B5BAE-DA09-A9B0-4105-A1F964ECFE24}"/>
              </a:ext>
            </a:extLst>
          </p:cNvPr>
          <p:cNvSpPr/>
          <p:nvPr/>
        </p:nvSpPr>
        <p:spPr>
          <a:xfrm>
            <a:off x="8646371" y="369012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4090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D18F3-AAC7-E8A5-B579-DC47E7C7CE4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81D0CAF-C9D6-E09B-BD1D-354320380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281D0CAF-C9D6-E09B-BD1D-354320380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2DA438BC-DB61-6D22-99BE-024EB0828F9D}"/>
              </a:ext>
            </a:extLst>
          </p:cNvPr>
          <p:cNvGraphicFramePr>
            <a:graphicFrameLocks noGrp="1"/>
          </p:cNvGraphicFramePr>
          <p:nvPr/>
        </p:nvGraphicFramePr>
        <p:xfrm>
          <a:off x="5931694" y="6318875"/>
          <a:ext cx="6203676" cy="310524"/>
        </p:xfrm>
        <a:graphic>
          <a:graphicData uri="http://schemas.openxmlformats.org/drawingml/2006/table">
            <a:tbl>
              <a:tblPr/>
              <a:tblGrid>
                <a:gridCol w="519705">
                  <a:extLst>
                    <a:ext uri="{9D8B030D-6E8A-4147-A177-3AD203B41FA5}">
                      <a16:colId xmlns:a16="http://schemas.microsoft.com/office/drawing/2014/main" val="20000"/>
                    </a:ext>
                  </a:extLst>
                </a:gridCol>
                <a:gridCol w="263408">
                  <a:extLst>
                    <a:ext uri="{9D8B030D-6E8A-4147-A177-3AD203B41FA5}">
                      <a16:colId xmlns:a16="http://schemas.microsoft.com/office/drawing/2014/main" val="20001"/>
                    </a:ext>
                  </a:extLst>
                </a:gridCol>
                <a:gridCol w="649245">
                  <a:extLst>
                    <a:ext uri="{9D8B030D-6E8A-4147-A177-3AD203B41FA5}">
                      <a16:colId xmlns:a16="http://schemas.microsoft.com/office/drawing/2014/main" val="20002"/>
                    </a:ext>
                  </a:extLst>
                </a:gridCol>
                <a:gridCol w="259508">
                  <a:extLst>
                    <a:ext uri="{9D8B030D-6E8A-4147-A177-3AD203B41FA5}">
                      <a16:colId xmlns:a16="http://schemas.microsoft.com/office/drawing/2014/main" val="20003"/>
                    </a:ext>
                  </a:extLst>
                </a:gridCol>
                <a:gridCol w="570172">
                  <a:extLst>
                    <a:ext uri="{9D8B030D-6E8A-4147-A177-3AD203B41FA5}">
                      <a16:colId xmlns:a16="http://schemas.microsoft.com/office/drawing/2014/main" val="20004"/>
                    </a:ext>
                  </a:extLst>
                </a:gridCol>
                <a:gridCol w="443945">
                  <a:extLst>
                    <a:ext uri="{9D8B030D-6E8A-4147-A177-3AD203B41FA5}">
                      <a16:colId xmlns:a16="http://schemas.microsoft.com/office/drawing/2014/main" val="20005"/>
                    </a:ext>
                  </a:extLst>
                </a:gridCol>
                <a:gridCol w="487176">
                  <a:extLst>
                    <a:ext uri="{9D8B030D-6E8A-4147-A177-3AD203B41FA5}">
                      <a16:colId xmlns:a16="http://schemas.microsoft.com/office/drawing/2014/main" val="20006"/>
                    </a:ext>
                  </a:extLst>
                </a:gridCol>
                <a:gridCol w="316216">
                  <a:extLst>
                    <a:ext uri="{9D8B030D-6E8A-4147-A177-3AD203B41FA5}">
                      <a16:colId xmlns:a16="http://schemas.microsoft.com/office/drawing/2014/main" val="20007"/>
                    </a:ext>
                  </a:extLst>
                </a:gridCol>
                <a:gridCol w="1175803">
                  <a:extLst>
                    <a:ext uri="{9D8B030D-6E8A-4147-A177-3AD203B41FA5}">
                      <a16:colId xmlns:a16="http://schemas.microsoft.com/office/drawing/2014/main" val="20008"/>
                    </a:ext>
                  </a:extLst>
                </a:gridCol>
                <a:gridCol w="324125">
                  <a:extLst>
                    <a:ext uri="{9D8B030D-6E8A-4147-A177-3AD203B41FA5}">
                      <a16:colId xmlns:a16="http://schemas.microsoft.com/office/drawing/2014/main" val="20009"/>
                    </a:ext>
                  </a:extLst>
                </a:gridCol>
                <a:gridCol w="1194373">
                  <a:extLst>
                    <a:ext uri="{9D8B030D-6E8A-4147-A177-3AD203B41FA5}">
                      <a16:colId xmlns:a16="http://schemas.microsoft.com/office/drawing/2014/main" val="20010"/>
                    </a:ext>
                  </a:extLst>
                </a:gridCol>
              </a:tblGrid>
              <a:tr h="25779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6CC5F58E-A991-87FE-D9F2-82B46BEA4524}"/>
              </a:ext>
            </a:extLst>
          </p:cNvPr>
          <p:cNvGraphicFramePr>
            <a:graphicFrameLocks noGrp="1"/>
          </p:cNvGraphicFramePr>
          <p:nvPr>
            <p:extLst>
              <p:ext uri="{D42A27DB-BD31-4B8C-83A1-F6EECF244321}">
                <p14:modId xmlns:p14="http://schemas.microsoft.com/office/powerpoint/2010/main" val="4187222662"/>
              </p:ext>
            </p:extLst>
          </p:nvPr>
        </p:nvGraphicFramePr>
        <p:xfrm>
          <a:off x="197511" y="79049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B0BBA51-8762-4F4B-31B9-9D0AC21E876E}"/>
              </a:ext>
            </a:extLst>
          </p:cNvPr>
          <p:cNvGraphicFramePr>
            <a:graphicFrameLocks noGrp="1"/>
          </p:cNvGraphicFramePr>
          <p:nvPr/>
        </p:nvGraphicFramePr>
        <p:xfrm>
          <a:off x="6642129" y="798795"/>
          <a:ext cx="5352360" cy="742446"/>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0230">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2216">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$250,0000</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$5,351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$382,1480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$387,499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$520,000</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54A55D23-B400-D4D8-4381-BF722D5B3B35}"/>
              </a:ext>
            </a:extLst>
          </p:cNvPr>
          <p:cNvGraphicFramePr>
            <a:graphicFrameLocks noGrp="1"/>
          </p:cNvGraphicFramePr>
          <p:nvPr/>
        </p:nvGraphicFramePr>
        <p:xfrm>
          <a:off x="2811025" y="792650"/>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DA150E97-15DF-80EB-F9C4-C6C334836B5E}"/>
              </a:ext>
            </a:extLst>
          </p:cNvPr>
          <p:cNvGraphicFramePr>
            <a:graphicFrameLocks noGrp="1"/>
          </p:cNvGraphicFramePr>
          <p:nvPr/>
        </p:nvGraphicFramePr>
        <p:xfrm>
          <a:off x="197511" y="1143935"/>
          <a:ext cx="2599059" cy="395688"/>
        </p:xfrm>
        <a:graphic>
          <a:graphicData uri="http://schemas.openxmlformats.org/drawingml/2006/table">
            <a:tbl>
              <a:tblPr/>
              <a:tblGrid>
                <a:gridCol w="999508">
                  <a:extLst>
                    <a:ext uri="{9D8B030D-6E8A-4147-A177-3AD203B41FA5}">
                      <a16:colId xmlns:a16="http://schemas.microsoft.com/office/drawing/2014/main" val="20000"/>
                    </a:ext>
                  </a:extLst>
                </a:gridCol>
                <a:gridCol w="1599551">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3/10/2027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74A1B11F-D949-5ACA-C2EE-3141CC644E65}"/>
              </a:ext>
            </a:extLst>
          </p:cNvPr>
          <p:cNvGraphicFramePr>
            <a:graphicFrameLocks noGrp="1"/>
          </p:cNvGraphicFramePr>
          <p:nvPr>
            <p:extLst>
              <p:ext uri="{D42A27DB-BD31-4B8C-83A1-F6EECF244321}">
                <p14:modId xmlns:p14="http://schemas.microsoft.com/office/powerpoint/2010/main" val="3358269151"/>
              </p:ext>
            </p:extLst>
          </p:nvPr>
        </p:nvGraphicFramePr>
        <p:xfrm>
          <a:off x="5901668" y="1805167"/>
          <a:ext cx="6093119" cy="2308807"/>
        </p:xfrm>
        <a:graphic>
          <a:graphicData uri="http://schemas.openxmlformats.org/drawingml/2006/table">
            <a:tbl>
              <a:tblPr>
                <a:tableStyleId>{5C22544A-7EE6-4342-B048-85BDC9FD1C3A}</a:tableStyleId>
              </a:tblPr>
              <a:tblGrid>
                <a:gridCol w="2230204">
                  <a:extLst>
                    <a:ext uri="{9D8B030D-6E8A-4147-A177-3AD203B41FA5}">
                      <a16:colId xmlns:a16="http://schemas.microsoft.com/office/drawing/2014/main" val="2456552316"/>
                    </a:ext>
                  </a:extLst>
                </a:gridCol>
                <a:gridCol w="459082">
                  <a:extLst>
                    <a:ext uri="{9D8B030D-6E8A-4147-A177-3AD203B41FA5}">
                      <a16:colId xmlns:a16="http://schemas.microsoft.com/office/drawing/2014/main" val="1100051595"/>
                    </a:ext>
                  </a:extLst>
                </a:gridCol>
                <a:gridCol w="548813">
                  <a:extLst>
                    <a:ext uri="{9D8B030D-6E8A-4147-A177-3AD203B41FA5}">
                      <a16:colId xmlns:a16="http://schemas.microsoft.com/office/drawing/2014/main" val="2042261034"/>
                    </a:ext>
                  </a:extLst>
                </a:gridCol>
                <a:gridCol w="2855020">
                  <a:extLst>
                    <a:ext uri="{9D8B030D-6E8A-4147-A177-3AD203B41FA5}">
                      <a16:colId xmlns:a16="http://schemas.microsoft.com/office/drawing/2014/main" val="2815874248"/>
                    </a:ext>
                  </a:extLst>
                </a:gridCol>
              </a:tblGrid>
              <a:tr h="32570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0560">
                <a:tc>
                  <a:txBody>
                    <a:bodyPr/>
                    <a:lstStyle/>
                    <a:p>
                      <a:pPr lvl="0" algn="l"/>
                      <a:r>
                        <a:rPr lang="en-US" sz="850" b="0" kern="1200">
                          <a:solidFill>
                            <a:schemeClr val="tx1"/>
                          </a:solidFill>
                          <a:effectLst/>
                          <a:latin typeface="Aptos" panose="020B0004020202020204" pitchFamily="34" charset="0"/>
                          <a:ea typeface="+mn-ea"/>
                          <a:cs typeface="+mn-cs"/>
                        </a:rPr>
                        <a:t>Business Requirement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a:latin typeface="Aptos" panose="020B0004020202020204" pitchFamily="34" charset="0"/>
                        </a:rPr>
                        <a:t>10/2</a:t>
                      </a:r>
                    </a:p>
                    <a:p>
                      <a:pPr algn="ctr"/>
                      <a:r>
                        <a:rPr lang="en-US" sz="850" b="0" strike="sngStrike">
                          <a:latin typeface="Aptos" panose="020B0004020202020204" pitchFamily="34" charset="0"/>
                        </a:rPr>
                        <a:t>9/25</a:t>
                      </a:r>
                      <a:r>
                        <a:rPr lang="en-US" sz="850" b="0" strike="noStrike">
                          <a:latin typeface="Aptos" panose="020B0004020202020204" pitchFamily="34" charset="0"/>
                        </a:rPr>
                        <a:t> </a:t>
                      </a:r>
                    </a:p>
                    <a:p>
                      <a:pPr algn="ctr"/>
                      <a:r>
                        <a:rPr lang="en-US" sz="850" b="0" strike="sngStrike">
                          <a:latin typeface="Aptos" panose="020B0004020202020204" pitchFamily="34" charset="0"/>
                        </a:rPr>
                        <a:t>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i="0">
                          <a:solidFill>
                            <a:srgbClr val="000000"/>
                          </a:solidFill>
                          <a:effectLst/>
                          <a:latin typeface="Aptos" panose="020B0004020202020204" pitchFamily="34" charset="0"/>
                          <a:cs typeface="Times New Roman"/>
                        </a:rPr>
                        <a:t>Business Requirements  Q&amp;A sessions scheduled this week and sign-off is expected by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47823790"/>
                  </a:ext>
                </a:extLst>
              </a:tr>
              <a:tr h="220560">
                <a:tc>
                  <a:txBody>
                    <a:bodyPr/>
                    <a:lstStyle/>
                    <a:p>
                      <a:pPr lvl="0" algn="l"/>
                      <a:r>
                        <a:rPr lang="en-US" sz="850" b="0" kern="1200">
                          <a:solidFill>
                            <a:schemeClr val="tx1"/>
                          </a:solidFill>
                          <a:effectLst/>
                          <a:latin typeface="Aptos" panose="020B0004020202020204" pitchFamily="34" charset="0"/>
                          <a:ea typeface="+mn-ea"/>
                          <a:cs typeface="+mn-cs"/>
                        </a:rPr>
                        <a:t>ITS SOW</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b="0" strike="noStrike">
                          <a:solidFill>
                            <a:schemeClr val="tx1"/>
                          </a:solidFill>
                          <a:latin typeface="Aptos" panose="020B0004020202020204" pitchFamily="34" charset="0"/>
                        </a:rPr>
                        <a:t>8/28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27629369"/>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ITS Discovery</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b="0" strike="noStrike">
                          <a:solidFill>
                            <a:schemeClr val="tx1"/>
                          </a:solidFill>
                          <a:latin typeface="Aptos" panose="020B0004020202020204" pitchFamily="34" charset="0"/>
                        </a:rPr>
                        <a:t>10/06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64978745"/>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Analysis and Development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11/13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2806807"/>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Migration Acceptance Testing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1/19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2078654"/>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Go-Live Prep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2/16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8666739"/>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Production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166778"/>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Warranty Support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4/30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882881"/>
                  </a:ext>
                </a:extLst>
              </a:tr>
            </a:tbl>
          </a:graphicData>
        </a:graphic>
      </p:graphicFrame>
      <p:graphicFrame>
        <p:nvGraphicFramePr>
          <p:cNvPr id="29" name="Table 28">
            <a:extLst>
              <a:ext uri="{FF2B5EF4-FFF2-40B4-BE49-F238E27FC236}">
                <a16:creationId xmlns:a16="http://schemas.microsoft.com/office/drawing/2014/main" id="{E3EA374E-339A-1A7D-4498-924BCC19BB9F}"/>
              </a:ext>
            </a:extLst>
          </p:cNvPr>
          <p:cNvGraphicFramePr>
            <a:graphicFrameLocks noGrp="1"/>
          </p:cNvGraphicFramePr>
          <p:nvPr>
            <p:extLst>
              <p:ext uri="{D42A27DB-BD31-4B8C-83A1-F6EECF244321}">
                <p14:modId xmlns:p14="http://schemas.microsoft.com/office/powerpoint/2010/main" val="2056855960"/>
              </p:ext>
            </p:extLst>
          </p:nvPr>
        </p:nvGraphicFramePr>
        <p:xfrm>
          <a:off x="5901370" y="4717582"/>
          <a:ext cx="6093119" cy="948532"/>
        </p:xfrm>
        <a:graphic>
          <a:graphicData uri="http://schemas.openxmlformats.org/drawingml/2006/table">
            <a:tbl>
              <a:tblPr>
                <a:tableStyleId>{5C22544A-7EE6-4342-B048-85BDC9FD1C3A}</a:tableStyleId>
              </a:tblPr>
              <a:tblGrid>
                <a:gridCol w="2324325">
                  <a:extLst>
                    <a:ext uri="{9D8B030D-6E8A-4147-A177-3AD203B41FA5}">
                      <a16:colId xmlns:a16="http://schemas.microsoft.com/office/drawing/2014/main" val="2456552316"/>
                    </a:ext>
                  </a:extLst>
                </a:gridCol>
                <a:gridCol w="450066">
                  <a:extLst>
                    <a:ext uri="{9D8B030D-6E8A-4147-A177-3AD203B41FA5}">
                      <a16:colId xmlns:a16="http://schemas.microsoft.com/office/drawing/2014/main" val="1100051595"/>
                    </a:ext>
                  </a:extLst>
                </a:gridCol>
                <a:gridCol w="575465">
                  <a:extLst>
                    <a:ext uri="{9D8B030D-6E8A-4147-A177-3AD203B41FA5}">
                      <a16:colId xmlns:a16="http://schemas.microsoft.com/office/drawing/2014/main" val="2042261034"/>
                    </a:ext>
                  </a:extLst>
                </a:gridCol>
                <a:gridCol w="2743263">
                  <a:extLst>
                    <a:ext uri="{9D8B030D-6E8A-4147-A177-3AD203B41FA5}">
                      <a16:colId xmlns:a16="http://schemas.microsoft.com/office/drawing/2014/main" val="2815874248"/>
                    </a:ext>
                  </a:extLst>
                </a:gridCol>
              </a:tblGrid>
              <a:tr h="47548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charset="0"/>
                        <a:ea typeface="+mn-ea"/>
                        <a:cs typeface="+mn-cs"/>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3044">
                <a:tc>
                  <a:txBody>
                    <a:bodyPr/>
                    <a:lstStyle/>
                    <a:p>
                      <a:pPr fontAlgn="t">
                        <a:lnSpc>
                          <a:spcPct val="100000"/>
                        </a:lnSpc>
                        <a:buNone/>
                      </a:pPr>
                      <a:r>
                        <a:rPr lang="en-US" sz="850" kern="1200">
                          <a:solidFill>
                            <a:schemeClr val="dk1"/>
                          </a:solidFill>
                          <a:latin typeface="Aptos" panose="020B0004020202020204" pitchFamily="34" charset="0"/>
                          <a:ea typeface="+mn-ea"/>
                          <a:cs typeface="Arial" panose="020B0604020202020204" pitchFamily="34" charset="0"/>
                        </a:rPr>
                        <a:t>R: Any delay caused to Major Medical product launch will impact migration capability launch </a:t>
                      </a: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Arial" panose="020B0604020202020204" pitchFamily="34" charset="0"/>
                        </a:rPr>
                        <a:t>12/31</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200"/>
                        </a:spcBef>
                        <a:spcAft>
                          <a:spcPts val="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Mitigation – Monitor DDIT timeline for MM on GIN</a:t>
                      </a: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63FC3476-1D06-7135-5CFF-674088E12333}"/>
              </a:ext>
            </a:extLst>
          </p:cNvPr>
          <p:cNvSpPr/>
          <p:nvPr/>
        </p:nvSpPr>
        <p:spPr>
          <a:xfrm>
            <a:off x="7425226" y="6389797"/>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B08D1B58-01BE-44EC-A08C-D78F7E9582C7}"/>
              </a:ext>
            </a:extLst>
          </p:cNvPr>
          <p:cNvSpPr/>
          <p:nvPr/>
        </p:nvSpPr>
        <p:spPr>
          <a:xfrm>
            <a:off x="8364076" y="6390073"/>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880E98E-2246-F1C6-3249-C7433453C435}"/>
              </a:ext>
            </a:extLst>
          </p:cNvPr>
          <p:cNvSpPr/>
          <p:nvPr/>
        </p:nvSpPr>
        <p:spPr>
          <a:xfrm>
            <a:off x="9218488" y="6377609"/>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75341414-1A4A-3126-0099-EC5572517736}"/>
              </a:ext>
            </a:extLst>
          </p:cNvPr>
          <p:cNvSpPr/>
          <p:nvPr/>
        </p:nvSpPr>
        <p:spPr>
          <a:xfrm>
            <a:off x="3303638"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E02BC160-6FBB-86DF-3F67-53B7D4E924D2}"/>
              </a:ext>
            </a:extLst>
          </p:cNvPr>
          <p:cNvSpPr/>
          <p:nvPr/>
        </p:nvSpPr>
        <p:spPr>
          <a:xfrm>
            <a:off x="4286105"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00E7B6C-FE3F-B54C-5BD3-8532E264FBBF}"/>
              </a:ext>
            </a:extLst>
          </p:cNvPr>
          <p:cNvSpPr/>
          <p:nvPr/>
        </p:nvSpPr>
        <p:spPr>
          <a:xfrm>
            <a:off x="5143033"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F15CFECD-1B26-B413-F8F9-EFF6D5242A4D}"/>
              </a:ext>
            </a:extLst>
          </p:cNvPr>
          <p:cNvSpPr/>
          <p:nvPr/>
        </p:nvSpPr>
        <p:spPr>
          <a:xfrm>
            <a:off x="6078524" y="125693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2021213-B7A1-26BC-619C-FD12E67ECF59}"/>
              </a:ext>
            </a:extLst>
          </p:cNvPr>
          <p:cNvSpPr>
            <a:spLocks noGrp="1"/>
          </p:cNvSpPr>
          <p:nvPr/>
        </p:nvSpPr>
        <p:spPr>
          <a:xfrm>
            <a:off x="252469" y="209973"/>
            <a:ext cx="11652110" cy="517320"/>
          </a:xfrm>
          <a:prstGeom prst="rect">
            <a:avLst/>
          </a:prstGeom>
        </p:spPr>
        <p:txBody>
          <a:bodyPr vert="horz" lIns="0" tIns="0" rIns="0" bIns="0" rtlCol="0" anchor="t" anchorCtr="0">
            <a:normAutofit lnSpcReduction="10000"/>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r>
              <a:rPr lang="en-US" sz="2400">
                <a:solidFill>
                  <a:srgbClr val="29389F"/>
                </a:solidFill>
                <a:latin typeface="Arial" panose="020B0604020202020204" pitchFamily="34" charset="0"/>
                <a:cs typeface="Arial" panose="020B0604020202020204" pitchFamily="34" charset="0"/>
              </a:rPr>
              <a:t>PPT: Major Medical to Major Medical Migration Capability(Non-CA) </a:t>
            </a:r>
            <a:br>
              <a:rPr lang="en-US">
                <a:solidFill>
                  <a:srgbClr val="0070C0"/>
                </a:solidFill>
              </a:rPr>
            </a:br>
            <a:endParaRPr lang="en-US" sz="1600">
              <a:solidFill>
                <a:srgbClr val="0070C0"/>
              </a:solidFill>
            </a:endParaRPr>
          </a:p>
        </p:txBody>
      </p:sp>
      <p:sp>
        <p:nvSpPr>
          <p:cNvPr id="13" name="TextBox 2">
            <a:extLst>
              <a:ext uri="{FF2B5EF4-FFF2-40B4-BE49-F238E27FC236}">
                <a16:creationId xmlns:a16="http://schemas.microsoft.com/office/drawing/2014/main" id="{5455D919-B98F-2AC8-83B0-2EF48271EF0D}"/>
              </a:ext>
            </a:extLst>
          </p:cNvPr>
          <p:cNvSpPr txBox="1"/>
          <p:nvPr/>
        </p:nvSpPr>
        <p:spPr>
          <a:xfrm>
            <a:off x="9840201" y="99480"/>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Rekha/Shilpa</a:t>
            </a:r>
          </a:p>
          <a:p>
            <a:r>
              <a:rPr lang="en-US" err="1"/>
              <a:t>OpEx</a:t>
            </a:r>
            <a:r>
              <a:rPr lang="en-US"/>
              <a:t> Business Lead: Gary</a:t>
            </a:r>
          </a:p>
        </p:txBody>
      </p:sp>
      <p:sp>
        <p:nvSpPr>
          <p:cNvPr id="7" name="TextBox 6">
            <a:extLst>
              <a:ext uri="{FF2B5EF4-FFF2-40B4-BE49-F238E27FC236}">
                <a16:creationId xmlns:a16="http://schemas.microsoft.com/office/drawing/2014/main" id="{9D0FEF97-B29D-D759-41E3-5A1ABB688774}"/>
              </a:ext>
            </a:extLst>
          </p:cNvPr>
          <p:cNvSpPr txBox="1"/>
          <p:nvPr/>
        </p:nvSpPr>
        <p:spPr>
          <a:xfrm>
            <a:off x="99854" y="1904284"/>
            <a:ext cx="5659756" cy="2635722"/>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00FF00"/>
                </a:highlight>
                <a:latin typeface="Aptos" panose="020B0004020202020204" pitchFamily="34" charset="0"/>
                <a:cs typeface="Arial"/>
              </a:rPr>
              <a:t>Green</a:t>
            </a:r>
          </a:p>
          <a:p>
            <a:pPr fontAlgn="t">
              <a:lnSpc>
                <a:spcPct val="100000"/>
              </a:lnSpc>
              <a:buNone/>
            </a:pPr>
            <a:r>
              <a:rPr lang="en-US" sz="850">
                <a:latin typeface="Aptos" panose="020B0004020202020204" pitchFamily="34" charset="0"/>
              </a:rPr>
              <a:t>The project status remains Green following the successful finalization of the Statement of Work (SOW) and alignment of the overall delivery schedule through March 2027. Project mobilization activities are progressing as planned, and the team has commenced the discovery phase with ITS this week to further refine requirements, scope, and delivery planning.</a:t>
            </a:r>
          </a:p>
          <a:p>
            <a:pPr marL="171450" indent="-171450">
              <a:buFont typeface="Arial"/>
              <a:buChar char="•"/>
            </a:pPr>
            <a:endParaRPr lang="en-US" sz="850">
              <a:latin typeface="Aptos" panose="020B0004020202020204" pitchFamily="34" charset="0"/>
              <a:cs typeface="Arial"/>
            </a:endParaRPr>
          </a:p>
          <a:p>
            <a:r>
              <a:rPr lang="en-US" sz="850" b="1">
                <a:latin typeface="Aptos" panose="020B0004020202020204" pitchFamily="34" charset="0"/>
              </a:rPr>
              <a:t>Highlights:</a:t>
            </a:r>
            <a:endParaRPr lang="en-US">
              <a:latin typeface="Aptos" panose="020B0004020202020204" pitchFamily="34" charset="0"/>
            </a:endParaRPr>
          </a:p>
          <a:p>
            <a:pPr marL="171450" indent="-171450">
              <a:buFont typeface="Arial" panose="020B0604020202020204" pitchFamily="34" charset="0"/>
              <a:buChar char="•"/>
            </a:pPr>
            <a:r>
              <a:rPr lang="en-US" sz="850">
                <a:latin typeface="Aptos" panose="020B0004020202020204" pitchFamily="34" charset="0"/>
              </a:rPr>
              <a:t>Completed the internal request to review and align Nationwide user access within the ITS Issue Tracker, ensuring the appropriate project participants have access to support issue tracking. </a:t>
            </a:r>
          </a:p>
          <a:p>
            <a:pPr marL="171450" indent="-171450">
              <a:buFont typeface="Arial" panose="020B0604020202020204" pitchFamily="34" charset="0"/>
              <a:buChar char="•"/>
            </a:pPr>
            <a:r>
              <a:rPr lang="en-US" sz="850">
                <a:latin typeface="Aptos" panose="020B0004020202020204" pitchFamily="34" charset="0"/>
              </a:rPr>
              <a:t>Discovery activities are complete, with SDR access validated and the necessary source data access now in place to support future source analysis efforts. </a:t>
            </a:r>
          </a:p>
          <a:p>
            <a:pPr marL="171450" indent="-171450">
              <a:buFont typeface="Arial" panose="020B0604020202020204" pitchFamily="34" charset="0"/>
              <a:buChar char="•"/>
            </a:pPr>
            <a:r>
              <a:rPr lang="en-US" sz="850">
                <a:latin typeface="Aptos" panose="020B0004020202020204" pitchFamily="34" charset="0"/>
              </a:rPr>
              <a:t>A request has been submitted for policy numbers, which will be used to pull policies into the SDR environment for analysis and validation activities. </a:t>
            </a:r>
          </a:p>
          <a:p>
            <a:pPr marL="171450" indent="-171450">
              <a:buFont typeface="Arial" panose="020B0604020202020204" pitchFamily="34" charset="0"/>
              <a:buChar char="•"/>
            </a:pPr>
            <a:r>
              <a:rPr lang="en-US" sz="850">
                <a:latin typeface="Aptos" panose="020B0004020202020204" pitchFamily="34" charset="0"/>
              </a:rPr>
              <a:t>A request has also been submitted to install </a:t>
            </a:r>
            <a:r>
              <a:rPr lang="en-US" sz="850" err="1">
                <a:latin typeface="Aptos" panose="020B0004020202020204" pitchFamily="34" charset="0"/>
              </a:rPr>
              <a:t>XMLSpy</a:t>
            </a:r>
            <a:r>
              <a:rPr lang="en-US" sz="850">
                <a:latin typeface="Aptos" panose="020B0004020202020204" pitchFamily="34" charset="0"/>
              </a:rPr>
              <a:t> on ITS resource laptop to support source data analysis and mapping activities. </a:t>
            </a:r>
          </a:p>
          <a:p>
            <a:pPr marL="171450" indent="-171450">
              <a:buFont typeface="Arial" panose="020B0604020202020204" pitchFamily="34" charset="0"/>
              <a:buChar char="•"/>
            </a:pPr>
            <a:endParaRPr lang="en-US" sz="850" kern="100">
              <a:latin typeface="Aptos" panose="020B0004020202020204" pitchFamily="34" charset="0"/>
              <a:cs typeface="Arial"/>
            </a:endParaRP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endParaRPr lang="en-US">
              <a:latin typeface="Aptos" panose="020B0004020202020204" pitchFamily="34" charset="0"/>
            </a:endParaRPr>
          </a:p>
          <a:p>
            <a:pPr marL="171450" indent="-171450">
              <a:buFont typeface="Arial" panose="020B0604020202020204" pitchFamily="34" charset="0"/>
              <a:buChar char="•"/>
            </a:pPr>
            <a:r>
              <a:rPr lang="en-US" sz="850">
                <a:latin typeface="Aptos" panose="020B0004020202020204" pitchFamily="34" charset="0"/>
              </a:rPr>
              <a:t>Work on target analysis of the MM product in </a:t>
            </a:r>
            <a:r>
              <a:rPr lang="en-US" sz="850" err="1">
                <a:latin typeface="Aptos" panose="020B0004020202020204" pitchFamily="34" charset="0"/>
              </a:rPr>
              <a:t>INow</a:t>
            </a:r>
            <a:r>
              <a:rPr lang="en-US" sz="850">
                <a:latin typeface="Aptos" panose="020B0004020202020204" pitchFamily="34" charset="0"/>
              </a:rPr>
              <a:t> environment. </a:t>
            </a:r>
          </a:p>
          <a:p>
            <a:pPr marL="171450" indent="-171450">
              <a:buFont typeface="Arial" panose="020B0604020202020204" pitchFamily="34" charset="0"/>
              <a:buChar char="•"/>
            </a:pPr>
            <a:r>
              <a:rPr lang="en-US" sz="850">
                <a:latin typeface="Aptos" panose="020B0004020202020204" pitchFamily="34" charset="0"/>
              </a:rPr>
              <a:t>Provide a brief demo of the ITS Issue Tracker to familiarize project participants with navigation and usage.  </a:t>
            </a:r>
          </a:p>
        </p:txBody>
      </p:sp>
      <p:sp>
        <p:nvSpPr>
          <p:cNvPr id="6" name="Flowchart: Connector 5">
            <a:extLst>
              <a:ext uri="{FF2B5EF4-FFF2-40B4-BE49-F238E27FC236}">
                <a16:creationId xmlns:a16="http://schemas.microsoft.com/office/drawing/2014/main" id="{6DB81252-257F-22F1-2319-1AE03D849987}"/>
              </a:ext>
            </a:extLst>
          </p:cNvPr>
          <p:cNvSpPr/>
          <p:nvPr/>
        </p:nvSpPr>
        <p:spPr>
          <a:xfrm>
            <a:off x="8380749" y="5303516"/>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a:extLst>
              <a:ext uri="{FF2B5EF4-FFF2-40B4-BE49-F238E27FC236}">
                <a16:creationId xmlns:a16="http://schemas.microsoft.com/office/drawing/2014/main" id="{02F79248-C613-2BA6-0E4E-07678C1BD6AB}"/>
              </a:ext>
            </a:extLst>
          </p:cNvPr>
          <p:cNvSpPr/>
          <p:nvPr/>
        </p:nvSpPr>
        <p:spPr>
          <a:xfrm>
            <a:off x="8304121" y="2985386"/>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5855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E865E-2030-F91B-2195-4B93929A9E9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56AF3D0-96DB-6DFF-4EAE-7CD69054A2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56AF3D0-96DB-6DFF-4EAE-7CD69054A2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74864F9-50CB-BEC1-E277-CFFBF35650E3}"/>
              </a:ext>
            </a:extLst>
          </p:cNvPr>
          <p:cNvGraphicFramePr>
            <a:graphicFrameLocks noGrp="1"/>
          </p:cNvGraphicFramePr>
          <p:nvPr>
            <p:extLst>
              <p:ext uri="{D42A27DB-BD31-4B8C-83A1-F6EECF244321}">
                <p14:modId xmlns:p14="http://schemas.microsoft.com/office/powerpoint/2010/main" val="3737610600"/>
              </p:ext>
            </p:extLst>
          </p:nvPr>
        </p:nvGraphicFramePr>
        <p:xfrm>
          <a:off x="4992661" y="6434364"/>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2019C1CF-69D8-B133-F11A-0631760E3D3F}"/>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 API V2 to V5 upgrade</a:t>
            </a:r>
            <a:br>
              <a:rPr lang="en-US"/>
            </a:br>
            <a:endParaRPr sz="1800" b="0"/>
          </a:p>
        </p:txBody>
      </p:sp>
      <p:graphicFrame>
        <p:nvGraphicFramePr>
          <p:cNvPr id="11" name="Group 513">
            <a:extLst>
              <a:ext uri="{FF2B5EF4-FFF2-40B4-BE49-F238E27FC236}">
                <a16:creationId xmlns:a16="http://schemas.microsoft.com/office/drawing/2014/main" id="{00FF6017-D73E-73BA-7DAB-87BC385B2E54}"/>
              </a:ext>
            </a:extLst>
          </p:cNvPr>
          <p:cNvGraphicFramePr>
            <a:graphicFrameLocks noGrp="1"/>
          </p:cNvGraphicFramePr>
          <p:nvPr>
            <p:extLst>
              <p:ext uri="{D42A27DB-BD31-4B8C-83A1-F6EECF244321}">
                <p14:modId xmlns:p14="http://schemas.microsoft.com/office/powerpoint/2010/main" val="302198352"/>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F6B05419-204D-7201-3D13-59E6E449DF96}"/>
              </a:ext>
            </a:extLst>
          </p:cNvPr>
          <p:cNvGraphicFramePr>
            <a:graphicFrameLocks noGrp="1"/>
          </p:cNvGraphicFramePr>
          <p:nvPr>
            <p:extLst>
              <p:ext uri="{D42A27DB-BD31-4B8C-83A1-F6EECF244321}">
                <p14:modId xmlns:p14="http://schemas.microsoft.com/office/powerpoint/2010/main" val="369801431"/>
              </p:ext>
            </p:extLst>
          </p:nvPr>
        </p:nvGraphicFramePr>
        <p:xfrm>
          <a:off x="6640300" y="920667"/>
          <a:ext cx="5352360" cy="743950"/>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878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6089">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$349,839.29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$349,839.29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8F04E56-64E4-FBF5-70E1-3FC82A8C101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AC8A8701-E22C-6695-E04D-3C52949427F2}"/>
              </a:ext>
            </a:extLst>
          </p:cNvPr>
          <p:cNvGraphicFramePr>
            <a:graphicFrameLocks noGrp="1"/>
          </p:cNvGraphicFramePr>
          <p:nvPr>
            <p:extLst>
              <p:ext uri="{D42A27DB-BD31-4B8C-83A1-F6EECF244321}">
                <p14:modId xmlns:p14="http://schemas.microsoft.com/office/powerpoint/2010/main" val="97789091"/>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66A5668-07FB-AA91-9A66-D5ED22CEB7C2}"/>
              </a:ext>
            </a:extLst>
          </p:cNvPr>
          <p:cNvGraphicFramePr>
            <a:graphicFrameLocks noGrp="1"/>
          </p:cNvGraphicFramePr>
          <p:nvPr>
            <p:extLst>
              <p:ext uri="{D42A27DB-BD31-4B8C-83A1-F6EECF244321}">
                <p14:modId xmlns:p14="http://schemas.microsoft.com/office/powerpoint/2010/main" val="1289322361"/>
              </p:ext>
            </p:extLst>
          </p:nvPr>
        </p:nvGraphicFramePr>
        <p:xfrm>
          <a:off x="4964837" y="1768716"/>
          <a:ext cx="7152058" cy="1981313"/>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7390">
                  <a:extLst>
                    <a:ext uri="{9D8B030D-6E8A-4147-A177-3AD203B41FA5}">
                      <a16:colId xmlns:a16="http://schemas.microsoft.com/office/drawing/2014/main" val="2042261034"/>
                    </a:ext>
                  </a:extLst>
                </a:gridCol>
                <a:gridCol w="3435119">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82234">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850" kern="100">
                          <a:solidFill>
                            <a:schemeClr val="dk1"/>
                          </a:solidFill>
                          <a:latin typeface="Aptos" panose="020B0004020202020204" pitchFamily="34" charset="0"/>
                          <a:ea typeface="+mn-ea"/>
                          <a:cs typeface="Times New Roman"/>
                        </a:rPr>
                        <a:t>Detailed Project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mn-cs"/>
                        </a:rPr>
                        <a:t>08/31/26</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09/25/26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08/31 - Work is in progress. Team is evaluating the options for Phased delivery approach to enable monthly releases.</a:t>
                      </a:r>
                    </a:p>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09/01 - Team evaluated the phased delivery approach for Nov and Dec releases and team is working on revised dates for all deliverables.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943924009"/>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Claims Resource API (4 APIs)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11/11/26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DDIT completed. QA and E2E testing is 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Members Resource API (4 APIs)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12/09/26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850" b="0" i="0" u="none" strike="noStrike" kern="100" noProof="0">
                          <a:solidFill>
                            <a:schemeClr val="dk1"/>
                          </a:solidFill>
                          <a:effectLst/>
                          <a:latin typeface="Aptos" panose="020B0004020202020204" pitchFamily="34" charset="0"/>
                        </a:rPr>
                        <a:t>DDIT is 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Accounts Resource API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Aptos" panose="020B0004020202020204" pitchFamily="34" charset="0"/>
                        </a:rPr>
                        <a:t>12/09/26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None/>
                      </a:pPr>
                      <a:r>
                        <a:rPr lang="en-US" sz="850" b="0" strike="noStrike" kern="1200">
                          <a:solidFill>
                            <a:schemeClr val="tx1"/>
                          </a:solidFill>
                          <a:effectLst/>
                          <a:latin typeface="Aptos" panose="020B0004020202020204" pitchFamily="34" charset="0"/>
                          <a:ea typeface="+mn-ea"/>
                          <a:cs typeface="+mn-cs"/>
                        </a:rPr>
                        <a:t>    DDIT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bl>
          </a:graphicData>
        </a:graphic>
      </p:graphicFrame>
      <p:graphicFrame>
        <p:nvGraphicFramePr>
          <p:cNvPr id="29" name="Table 28">
            <a:extLst>
              <a:ext uri="{FF2B5EF4-FFF2-40B4-BE49-F238E27FC236}">
                <a16:creationId xmlns:a16="http://schemas.microsoft.com/office/drawing/2014/main" id="{3407F6B5-2E45-B584-ACEB-75C928454B4F}"/>
              </a:ext>
            </a:extLst>
          </p:cNvPr>
          <p:cNvGraphicFramePr>
            <a:graphicFrameLocks noGrp="1"/>
          </p:cNvGraphicFramePr>
          <p:nvPr>
            <p:extLst>
              <p:ext uri="{D42A27DB-BD31-4B8C-83A1-F6EECF244321}">
                <p14:modId xmlns:p14="http://schemas.microsoft.com/office/powerpoint/2010/main" val="277076324"/>
              </p:ext>
            </p:extLst>
          </p:nvPr>
        </p:nvGraphicFramePr>
        <p:xfrm>
          <a:off x="4964837" y="4000963"/>
          <a:ext cx="7144459" cy="2111883"/>
        </p:xfrm>
        <a:graphic>
          <a:graphicData uri="http://schemas.openxmlformats.org/drawingml/2006/table">
            <a:tbl>
              <a:tblPr>
                <a:tableStyleId>{5C22544A-7EE6-4342-B048-85BDC9FD1C3A}</a:tableStyleId>
              </a:tblPr>
              <a:tblGrid>
                <a:gridCol w="2636203">
                  <a:extLst>
                    <a:ext uri="{9D8B030D-6E8A-4147-A177-3AD203B41FA5}">
                      <a16:colId xmlns:a16="http://schemas.microsoft.com/office/drawing/2014/main" val="2456552316"/>
                    </a:ext>
                  </a:extLst>
                </a:gridCol>
                <a:gridCol w="517675">
                  <a:extLst>
                    <a:ext uri="{9D8B030D-6E8A-4147-A177-3AD203B41FA5}">
                      <a16:colId xmlns:a16="http://schemas.microsoft.com/office/drawing/2014/main" val="1100051595"/>
                    </a:ext>
                  </a:extLst>
                </a:gridCol>
                <a:gridCol w="574949">
                  <a:extLst>
                    <a:ext uri="{9D8B030D-6E8A-4147-A177-3AD203B41FA5}">
                      <a16:colId xmlns:a16="http://schemas.microsoft.com/office/drawing/2014/main" val="2042261034"/>
                    </a:ext>
                  </a:extLst>
                </a:gridCol>
                <a:gridCol w="3415632">
                  <a:extLst>
                    <a:ext uri="{9D8B030D-6E8A-4147-A177-3AD203B41FA5}">
                      <a16:colId xmlns:a16="http://schemas.microsoft.com/office/drawing/2014/main" val="2815874248"/>
                    </a:ext>
                  </a:extLst>
                </a:gridCol>
              </a:tblGrid>
              <a:tr h="293000">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35181">
                <a:tc>
                  <a:txBody>
                    <a:bodyPr/>
                    <a:lstStyle/>
                    <a:p>
                      <a:pPr fontAlgn="t">
                        <a:lnSpc>
                          <a:spcPts val="1500"/>
                        </a:lnSpc>
                        <a:buNone/>
                      </a:pPr>
                      <a:r>
                        <a:rPr lang="en-US" sz="850" b="0" i="0">
                          <a:effectLst/>
                          <a:latin typeface="Aptos"/>
                        </a:rPr>
                        <a:t>Single December deployment carries high implementation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09/04/26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t">
                        <a:lnSpc>
                          <a:spcPts val="1500"/>
                        </a:lnSpc>
                        <a:buNone/>
                      </a:pPr>
                      <a:r>
                        <a:rPr lang="en-US" sz="850" b="0" i="0">
                          <a:effectLst/>
                          <a:latin typeface="Aptos"/>
                        </a:rPr>
                        <a:t>Evaluate and implement a phased delivery approach with monthly releases.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35531996"/>
                  </a:ext>
                </a:extLst>
              </a:tr>
              <a:tr h="0">
                <a:tc>
                  <a:txBody>
                    <a:bodyPr/>
                    <a:lstStyle/>
                    <a:p>
                      <a:pPr fontAlgn="t">
                        <a:lnSpc>
                          <a:spcPts val="1500"/>
                        </a:lnSpc>
                        <a:buNone/>
                      </a:pPr>
                      <a:r>
                        <a:rPr lang="en-US" sz="850" b="0" i="0">
                          <a:effectLst/>
                          <a:latin typeface="Aptos"/>
                        </a:rPr>
                        <a:t>End-to-end testing coordination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09/30/26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just" fontAlgn="t">
                        <a:lnSpc>
                          <a:spcPts val="1500"/>
                        </a:lnSpc>
                        <a:buNone/>
                      </a:pPr>
                      <a:r>
                        <a:rPr lang="en-US" sz="850" b="0" i="0">
                          <a:effectLst/>
                          <a:latin typeface="Aptos"/>
                        </a:rPr>
                        <a:t>Develop an integrated E2E testing plan covering all impacted systems. Begin integration testing as components become available rather than waiting for complete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2829427"/>
                  </a:ext>
                </a:extLst>
              </a:tr>
              <a:tr h="0">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US" sz="850" b="0" i="0" kern="1200">
                          <a:solidFill>
                            <a:schemeClr val="dk1"/>
                          </a:solidFill>
                          <a:effectLst/>
                          <a:latin typeface="Aptos"/>
                          <a:ea typeface="+mn-ea"/>
                          <a:cs typeface="+mn-cs"/>
                        </a:rPr>
                        <a:t>Resource constraints during critical delivery phases due to holiday season</a:t>
                      </a:r>
                    </a:p>
                    <a:p>
                      <a:pPr fontAlgn="t">
                        <a:lnSpc>
                          <a:spcPts val="1500"/>
                        </a:lnSpc>
                        <a:buNone/>
                      </a:pPr>
                      <a:endParaRPr lang="en-US" sz="850" b="0" i="0">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09/30/26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lvl="0" indent="-171450" algn="l" defTabSz="914400" rtl="0" eaLnBrk="1" latinLnBrk="0" hangingPunct="1">
                        <a:lnSpc>
                          <a:spcPct val="98000"/>
                        </a:lnSpc>
                        <a:buFont typeface="Arial" panose="020B0604020202020204" pitchFamily="34" charset="0"/>
                        <a:buChar char="•"/>
                      </a:pPr>
                      <a:r>
                        <a:rPr lang="en-US" sz="850" b="0" i="0" kern="1200">
                          <a:solidFill>
                            <a:schemeClr val="dk1"/>
                          </a:solidFill>
                          <a:effectLst/>
                          <a:latin typeface="Aptos"/>
                          <a:ea typeface="+mn-ea"/>
                          <a:cs typeface="+mn-cs"/>
                        </a:rPr>
                        <a:t>Meeting scheduled  for 09/22 to discuss the risks for Dec timelines</a:t>
                      </a:r>
                    </a:p>
                    <a:p>
                      <a:pPr marL="171450" lvl="0" indent="-171450" algn="l" defTabSz="914400" rtl="0" eaLnBrk="1" latinLnBrk="0" hangingPunct="1">
                        <a:lnSpc>
                          <a:spcPct val="98000"/>
                        </a:lnSpc>
                        <a:buFont typeface="Arial" panose="020B0604020202020204" pitchFamily="34" charset="0"/>
                        <a:buChar char="•"/>
                      </a:pPr>
                      <a:r>
                        <a:rPr lang="en-US" sz="850" b="0" i="0" kern="1200">
                          <a:solidFill>
                            <a:schemeClr val="dk1"/>
                          </a:solidFill>
                          <a:effectLst/>
                          <a:latin typeface="Aptos"/>
                          <a:ea typeface="+mn-ea"/>
                          <a:cs typeface="+mn-cs"/>
                        </a:rPr>
                        <a:t>Develop contingency release strategy.</a:t>
                      </a:r>
                    </a:p>
                    <a:p>
                      <a:pPr marL="171450" lvl="0" indent="-171450">
                        <a:lnSpc>
                          <a:spcPct val="98000"/>
                        </a:lnSpc>
                        <a:buFont typeface="Arial" panose="020B0604020202020204" pitchFamily="34" charset="0"/>
                        <a:buChar char="•"/>
                      </a:pPr>
                      <a:r>
                        <a:rPr lang="en-US" sz="850" b="0" i="0" kern="1200">
                          <a:solidFill>
                            <a:schemeClr val="dk1"/>
                          </a:solidFill>
                          <a:effectLst/>
                          <a:latin typeface="Aptos"/>
                          <a:ea typeface="+mn-ea"/>
                          <a:cs typeface="+mn-cs"/>
                        </a:rPr>
                        <a:t>Engage ITD and release stakeholders early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62711184"/>
                  </a:ext>
                </a:extLst>
              </a:tr>
            </a:tbl>
          </a:graphicData>
        </a:graphic>
      </p:graphicFrame>
      <p:sp>
        <p:nvSpPr>
          <p:cNvPr id="33" name="Flowchart: Connector 32">
            <a:extLst>
              <a:ext uri="{FF2B5EF4-FFF2-40B4-BE49-F238E27FC236}">
                <a16:creationId xmlns:a16="http://schemas.microsoft.com/office/drawing/2014/main" id="{A6FBE70B-FE35-9295-2584-76D4771EE6E9}"/>
              </a:ext>
            </a:extLst>
          </p:cNvPr>
          <p:cNvSpPr/>
          <p:nvPr/>
        </p:nvSpPr>
        <p:spPr>
          <a:xfrm>
            <a:off x="6729134" y="65325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516C3DA0-B7C9-033F-94D5-FABEE860AC94}"/>
              </a:ext>
            </a:extLst>
          </p:cNvPr>
          <p:cNvSpPr/>
          <p:nvPr/>
        </p:nvSpPr>
        <p:spPr>
          <a:xfrm>
            <a:off x="7817028" y="653256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6D663F1B-2296-287F-A437-7F7B27620B4B}"/>
              </a:ext>
            </a:extLst>
          </p:cNvPr>
          <p:cNvSpPr/>
          <p:nvPr/>
        </p:nvSpPr>
        <p:spPr>
          <a:xfrm>
            <a:off x="8812881" y="655222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55568F-99E4-BDDE-4737-21815437582B}"/>
              </a:ext>
            </a:extLst>
          </p:cNvPr>
          <p:cNvSpPr txBox="1"/>
          <p:nvPr/>
        </p:nvSpPr>
        <p:spPr>
          <a:xfrm>
            <a:off x="71956" y="1712819"/>
            <a:ext cx="4743293" cy="5341206"/>
          </a:xfrm>
          <a:prstGeom prst="rect">
            <a:avLst/>
          </a:prstGeom>
          <a:noFill/>
        </p:spPr>
        <p:txBody>
          <a:bodyPr wrap="square" lIns="91440" tIns="45720" rIns="91440" bIns="45720" anchor="t">
            <a:spAutoFit/>
          </a:bodyPr>
          <a:lstStyle/>
          <a:p>
            <a:pPr>
              <a:spcBef>
                <a:spcPts val="100"/>
              </a:spcBef>
              <a:spcAft>
                <a:spcPts val="100"/>
              </a:spcAft>
            </a:pPr>
            <a:r>
              <a:rPr lang="en-US" sz="850" kern="100">
                <a:latin typeface="Aptos" panose="020B0004020202020204" pitchFamily="34" charset="0"/>
                <a:cs typeface="Times New Roman"/>
              </a:rPr>
              <a:t>This project GIN API V5 Upgrade is to migrate the last customer-facing GIN APIs – Accounts, Claims, Members from V2 (SOAP/RPC) to V5 (REST).</a:t>
            </a:r>
            <a:endParaRPr lang="en-US" sz="850" b="1">
              <a:latin typeface="Aptos" panose="020B0004020202020204" pitchFamily="34" charset="0"/>
              <a:cs typeface="Arial"/>
            </a:endParaRPr>
          </a:p>
          <a:p>
            <a:pPr>
              <a:spcBef>
                <a:spcPts val="100"/>
              </a:spcBef>
              <a:spcAft>
                <a:spcPts val="100"/>
              </a:spcAft>
            </a:pPr>
            <a:r>
              <a:rPr lang="en-US" sz="850" b="1">
                <a:latin typeface="Aptos" panose="020B0004020202020204" pitchFamily="34" charset="0"/>
                <a:cs typeface="Arial"/>
              </a:rPr>
              <a:t>Overall Project Status: Green</a:t>
            </a:r>
          </a:p>
          <a:p>
            <a:pPr marL="171450" indent="-171450">
              <a:lnSpc>
                <a:spcPct val="98000"/>
              </a:lnSpc>
              <a:buFont typeface="Arial" panose="020B0604020202020204" pitchFamily="34" charset="0"/>
              <a:buChar char="•"/>
              <a:defRPr/>
            </a:pPr>
            <a:r>
              <a:rPr lang="en-US" sz="850">
                <a:solidFill>
                  <a:srgbClr val="000000"/>
                </a:solidFill>
                <a:latin typeface="Aptos" panose="020B0004020202020204" pitchFamily="34" charset="0"/>
                <a:cs typeface="Arial" panose="020B0604020202020204" pitchFamily="34" charset="0"/>
              </a:rPr>
              <a:t>Claims Resource API  : </a:t>
            </a:r>
            <a:r>
              <a:rPr lang="en-US" sz="850" b="1">
                <a:solidFill>
                  <a:srgbClr val="000000"/>
                </a:solidFill>
                <a:latin typeface="Aptos" panose="020B0004020202020204" pitchFamily="34" charset="0"/>
                <a:cs typeface="Arial" panose="020B0604020202020204" pitchFamily="34" charset="0"/>
              </a:rPr>
              <a:t>Prod move 11/11</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Loss Notices</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Claims Details By Policy Number</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Claim By ID</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Claims By Policy Number</a:t>
            </a:r>
          </a:p>
          <a:p>
            <a:pPr marL="171450" indent="-171450">
              <a:lnSpc>
                <a:spcPct val="98000"/>
              </a:lnSpc>
              <a:buFont typeface="Arial" panose="020B0604020202020204" pitchFamily="34" charset="0"/>
              <a:buChar char="•"/>
              <a:defRPr/>
            </a:pPr>
            <a:r>
              <a:rPr lang="en-US" sz="850">
                <a:solidFill>
                  <a:srgbClr val="000000"/>
                </a:solidFill>
                <a:latin typeface="Aptos" panose="020B0004020202020204" pitchFamily="34" charset="0"/>
                <a:cs typeface="Arial" panose="020B0604020202020204" pitchFamily="34" charset="0"/>
              </a:rPr>
              <a:t>Members Resource API  : </a:t>
            </a:r>
            <a:r>
              <a:rPr lang="en-US" sz="850" b="1">
                <a:solidFill>
                  <a:srgbClr val="000000"/>
                </a:solidFill>
                <a:latin typeface="Aptos" panose="020B0004020202020204" pitchFamily="34" charset="0"/>
                <a:cs typeface="Arial" panose="020B0604020202020204" pitchFamily="34" charset="0"/>
              </a:rPr>
              <a:t>Prod move 12/09</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Member By Member ID</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Member By Search Filter</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Update Member</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Related Policies</a:t>
            </a:r>
          </a:p>
          <a:p>
            <a:pPr marL="171450" indent="-171450">
              <a:lnSpc>
                <a:spcPct val="98000"/>
              </a:lnSpc>
              <a:buFont typeface="Arial" panose="020B0604020202020204" pitchFamily="34" charset="0"/>
              <a:buChar char="•"/>
              <a:defRPr/>
            </a:pPr>
            <a:r>
              <a:rPr lang="en-US" sz="850">
                <a:solidFill>
                  <a:srgbClr val="000000"/>
                </a:solidFill>
                <a:latin typeface="Aptos" panose="020B0004020202020204" pitchFamily="34" charset="0"/>
                <a:cs typeface="Arial" panose="020B0604020202020204" pitchFamily="34" charset="0"/>
              </a:rPr>
              <a:t>Accounts Resource API : </a:t>
            </a:r>
            <a:r>
              <a:rPr lang="en-US" sz="850" b="1">
                <a:solidFill>
                  <a:srgbClr val="000000"/>
                </a:solidFill>
                <a:latin typeface="Aptos" panose="020B0004020202020204" pitchFamily="34" charset="0"/>
                <a:cs typeface="Arial" panose="020B0604020202020204" pitchFamily="34" charset="0"/>
              </a:rPr>
              <a:t>Prod move 12/09</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Accounts By Account ID</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Billing Details By Billing Profile ID</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Get Payment History By Policy</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Create Billing Profile</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Update Billing Profiles By Billing Profile ID</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Save Authorization Controller</a:t>
            </a:r>
          </a:p>
          <a:p>
            <a:pPr marL="628650" lvl="1" indent="-171450">
              <a:lnSpc>
                <a:spcPct val="98000"/>
              </a:lnSpc>
              <a:buFont typeface="Arial" panose="020B0604020202020204" pitchFamily="34" charset="0"/>
              <a:buChar char="•"/>
              <a:defRPr/>
            </a:pPr>
            <a:r>
              <a:rPr lang="en-US" sz="850">
                <a:solidFill>
                  <a:srgbClr val="171717"/>
                </a:solidFill>
                <a:latin typeface="Aptos" panose="020B0004020202020204" pitchFamily="34" charset="0"/>
                <a:cs typeface="Arial" panose="020B0604020202020204" pitchFamily="34" charset="0"/>
              </a:rPr>
              <a:t>Update Member Preference By Account ID</a:t>
            </a:r>
          </a:p>
          <a:p>
            <a:pPr lvl="1">
              <a:lnSpc>
                <a:spcPct val="98000"/>
              </a:lnSpc>
              <a:defRPr/>
            </a:pPr>
            <a:endParaRPr lang="en-US" sz="850">
              <a:solidFill>
                <a:srgbClr val="171717"/>
              </a:solidFill>
              <a:latin typeface="Aptos" panose="020B0004020202020204" pitchFamily="34" charset="0"/>
              <a:cs typeface="Arial" panose="020B0604020202020204" pitchFamily="34" charset="0"/>
            </a:endParaRPr>
          </a:p>
          <a:p>
            <a:pPr marL="171450" indent="-171450">
              <a:lnSpc>
                <a:spcPct val="98000"/>
              </a:lnSpc>
              <a:buFont typeface="Arial" panose="020B0604020202020204" pitchFamily="34" charset="0"/>
              <a:buChar char="•"/>
              <a:defRPr/>
            </a:pPr>
            <a:r>
              <a:rPr lang="en-US" sz="850" b="1">
                <a:solidFill>
                  <a:srgbClr val="171717"/>
                </a:solidFill>
                <a:latin typeface="Aptos" panose="020B0004020202020204" pitchFamily="34" charset="0"/>
                <a:cs typeface="Arial" panose="020B0604020202020204" pitchFamily="34" charset="0"/>
              </a:rPr>
              <a:t>Work in progress - </a:t>
            </a:r>
          </a:p>
          <a:p>
            <a:pPr marL="171450" indent="-171450" algn="just">
              <a:buFont typeface="Arial" panose="020B0604020202020204" pitchFamily="34" charset="0"/>
              <a:buChar char="•"/>
            </a:pPr>
            <a:r>
              <a:rPr lang="en-US" sz="850">
                <a:latin typeface="Aptos" panose="020B0004020202020204" pitchFamily="34" charset="0"/>
              </a:rPr>
              <a:t>Claims Resource API – DDIT completed. QA testing is in progress</a:t>
            </a:r>
          </a:p>
          <a:p>
            <a:pPr marL="628650" lvl="1" indent="-171450" algn="just">
              <a:buFont typeface="Arial" panose="020B0604020202020204" pitchFamily="34" charset="0"/>
              <a:buChar char="•"/>
            </a:pPr>
            <a:r>
              <a:rPr lang="en-US" sz="850">
                <a:latin typeface="Aptos" panose="020B0004020202020204" pitchFamily="34" charset="0"/>
              </a:rPr>
              <a:t>QA testing – 10/12</a:t>
            </a:r>
          </a:p>
          <a:p>
            <a:pPr marL="628650" lvl="1" indent="-171450" algn="just">
              <a:buFont typeface="Arial" panose="020B0604020202020204" pitchFamily="34" charset="0"/>
              <a:buChar char="•"/>
            </a:pPr>
            <a:r>
              <a:rPr lang="en-US" sz="850">
                <a:latin typeface="Aptos" panose="020B0004020202020204" pitchFamily="34" charset="0"/>
              </a:rPr>
              <a:t>E2E testing – 10/14</a:t>
            </a:r>
          </a:p>
          <a:p>
            <a:pPr marL="628650" lvl="1" indent="-171450" algn="just">
              <a:buFont typeface="Arial" panose="020B0604020202020204" pitchFamily="34" charset="0"/>
              <a:buChar char="•"/>
            </a:pPr>
            <a:r>
              <a:rPr lang="en-US" sz="850">
                <a:latin typeface="Aptos" panose="020B0004020202020204" pitchFamily="34" charset="0"/>
              </a:rPr>
              <a:t>Completion of UAT – 10/31</a:t>
            </a:r>
          </a:p>
          <a:p>
            <a:pPr marL="628650" lvl="1" indent="-171450" algn="just">
              <a:buFont typeface="Arial" panose="020B0604020202020204" pitchFamily="34" charset="0"/>
              <a:buChar char="•"/>
            </a:pPr>
            <a:r>
              <a:rPr lang="en-US" sz="850">
                <a:latin typeface="Aptos" panose="020B0004020202020204" pitchFamily="34" charset="0"/>
              </a:rPr>
              <a:t>GO/NO decision – 11/08</a:t>
            </a:r>
          </a:p>
          <a:p>
            <a:pPr marL="628650" lvl="1" indent="-171450" algn="just">
              <a:buFont typeface="Arial" panose="020B0604020202020204" pitchFamily="34" charset="0"/>
              <a:buChar char="•"/>
            </a:pPr>
            <a:r>
              <a:rPr lang="en-US" sz="850">
                <a:latin typeface="Aptos" panose="020B0004020202020204" pitchFamily="34" charset="0"/>
              </a:rPr>
              <a:t>Prod deployment – 11/11</a:t>
            </a:r>
          </a:p>
          <a:p>
            <a:pPr marL="171450" indent="-171450" algn="just">
              <a:buFont typeface="Arial" panose="020B0604020202020204" pitchFamily="34" charset="0"/>
              <a:buChar char="•"/>
            </a:pPr>
            <a:r>
              <a:rPr lang="en-US" sz="850">
                <a:latin typeface="Aptos" panose="020B0004020202020204" pitchFamily="34" charset="0"/>
              </a:rPr>
              <a:t>Member Resource API – DDIT is in progress</a:t>
            </a:r>
          </a:p>
          <a:p>
            <a:pPr marL="171450" indent="-171450" algn="just">
              <a:buFont typeface="Arial" panose="020B0604020202020204" pitchFamily="34" charset="0"/>
              <a:buChar char="•"/>
            </a:pPr>
            <a:r>
              <a:rPr lang="en-US" sz="850">
                <a:latin typeface="Aptos" panose="020B0004020202020204" pitchFamily="34" charset="0"/>
              </a:rPr>
              <a:t>Account Resource API – Analysis is in progress</a:t>
            </a:r>
          </a:p>
          <a:p>
            <a:pPr marL="171450" indent="-171450" algn="just">
              <a:buFont typeface="Arial" panose="020B0604020202020204" pitchFamily="34" charset="0"/>
              <a:buChar char="•"/>
            </a:pPr>
            <a:endParaRPr lang="en-US" sz="850">
              <a:latin typeface="Aptos" panose="020B0004020202020204" pitchFamily="34" charset="0"/>
            </a:endParaRPr>
          </a:p>
          <a:p>
            <a:pPr algn="just"/>
            <a:endParaRPr lang="en-US" sz="850">
              <a:solidFill>
                <a:srgbClr val="171717"/>
              </a:solidFill>
              <a:latin typeface="Aptos" panose="020B0004020202020204" pitchFamily="34" charset="0"/>
              <a:cs typeface="Arial" panose="020B0604020202020204" pitchFamily="34" charset="0"/>
            </a:endParaRPr>
          </a:p>
          <a:p>
            <a:pPr marL="171450" indent="-171450" algn="just">
              <a:buFont typeface="Arial" panose="020B0604020202020204" pitchFamily="34" charset="0"/>
              <a:buChar char="•"/>
            </a:pPr>
            <a:endParaRPr lang="en-US" sz="850">
              <a:solidFill>
                <a:srgbClr val="171717"/>
              </a:solidFill>
              <a:latin typeface="Aptos" panose="020B0004020202020204" pitchFamily="34" charset="0"/>
              <a:cs typeface="Arial" panose="020B0604020202020204" pitchFamily="34" charset="0"/>
            </a:endParaRPr>
          </a:p>
          <a:p>
            <a:pPr algn="just"/>
            <a:endParaRPr lang="en-US" sz="850">
              <a:latin typeface="Aptos" panose="020B0004020202020204" pitchFamily="34" charset="0"/>
            </a:endParaRPr>
          </a:p>
          <a:p>
            <a:pPr marL="628650" lvl="1" indent="-171450">
              <a:buFont typeface="Arial" panose="020B0604020202020204" pitchFamily="34" charset="0"/>
              <a:buChar char="•"/>
            </a:pPr>
            <a:endParaRPr lang="en-US" sz="850" kern="100">
              <a:highlight>
                <a:srgbClr val="FFFF00"/>
              </a:highlight>
              <a:latin typeface="Aptos" panose="020B0004020202020204" pitchFamily="34" charset="0"/>
              <a:cs typeface="Times New Roman"/>
            </a:endParaRPr>
          </a:p>
          <a:p>
            <a:pPr marL="171450" indent="-171450">
              <a:buFont typeface="Arial" panose="020B0604020202020204" pitchFamily="34" charset="0"/>
              <a:buChar char="•"/>
            </a:pPr>
            <a:endParaRPr lang="en-US" sz="900" b="1" kern="100">
              <a:cs typeface="Times New Roman"/>
            </a:endParaRPr>
          </a:p>
          <a:p>
            <a:pPr marL="171450" lvl="0" indent="-171450">
              <a:buFont typeface="Arial" panose="020B0604020202020204" pitchFamily="34" charset="0"/>
              <a:buChar char="•"/>
            </a:pPr>
            <a:endParaRPr lang="en-US" sz="900" kern="100">
              <a:cs typeface="Times New Roman"/>
            </a:endParaRPr>
          </a:p>
          <a:p>
            <a:pPr marL="171450" indent="-171450">
              <a:buFont typeface="Arial" panose="020B0604020202020204" pitchFamily="34" charset="0"/>
              <a:buChar char="•"/>
            </a:pPr>
            <a:endParaRPr lang="en-US" sz="900" kern="100">
              <a:cs typeface="Times New Roman"/>
            </a:endParaRPr>
          </a:p>
          <a:p>
            <a:pPr lvl="0"/>
            <a:endParaRPr lang="en-US" sz="900" kern="100">
              <a:cs typeface="Times New Roman"/>
            </a:endParaRPr>
          </a:p>
        </p:txBody>
      </p:sp>
      <p:sp>
        <p:nvSpPr>
          <p:cNvPr id="3" name="TextBox 2">
            <a:extLst>
              <a:ext uri="{FF2B5EF4-FFF2-40B4-BE49-F238E27FC236}">
                <a16:creationId xmlns:a16="http://schemas.microsoft.com/office/drawing/2014/main" id="{DDE36371-A178-1231-45F9-301EC83A6AAB}"/>
              </a:ext>
            </a:extLst>
          </p:cNvPr>
          <p:cNvSpPr txBox="1"/>
          <p:nvPr/>
        </p:nvSpPr>
        <p:spPr>
          <a:xfrm>
            <a:off x="9854419" y="165601"/>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7" name="Flowchart: Connector 6">
            <a:extLst>
              <a:ext uri="{FF2B5EF4-FFF2-40B4-BE49-F238E27FC236}">
                <a16:creationId xmlns:a16="http://schemas.microsoft.com/office/drawing/2014/main" id="{2BF15985-4480-9F45-CF91-CB7DD8FBA176}"/>
              </a:ext>
            </a:extLst>
          </p:cNvPr>
          <p:cNvSpPr/>
          <p:nvPr/>
        </p:nvSpPr>
        <p:spPr>
          <a:xfrm>
            <a:off x="6096000" y="14117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17E5BE9F-BF22-772E-1794-9C7F0D2DF979}"/>
              </a:ext>
            </a:extLst>
          </p:cNvPr>
          <p:cNvSpPr/>
          <p:nvPr/>
        </p:nvSpPr>
        <p:spPr>
          <a:xfrm>
            <a:off x="4256605" y="13874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65B85E82-B180-079A-A547-A2133322CCFD}"/>
              </a:ext>
            </a:extLst>
          </p:cNvPr>
          <p:cNvSpPr/>
          <p:nvPr/>
        </p:nvSpPr>
        <p:spPr>
          <a:xfrm>
            <a:off x="3227390"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DAF46E31-1F1B-80E0-93EB-E0AD1A1718A7}"/>
              </a:ext>
            </a:extLst>
          </p:cNvPr>
          <p:cNvSpPr/>
          <p:nvPr/>
        </p:nvSpPr>
        <p:spPr>
          <a:xfrm>
            <a:off x="7761716" y="297608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F81A1E2F-0C09-4D7C-731A-25F3674FBD40}"/>
              </a:ext>
            </a:extLst>
          </p:cNvPr>
          <p:cNvSpPr/>
          <p:nvPr/>
        </p:nvSpPr>
        <p:spPr>
          <a:xfrm>
            <a:off x="5226813" y="139636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798C4C1E-5DFA-3D03-7623-3B30E9BB954C}"/>
              </a:ext>
            </a:extLst>
          </p:cNvPr>
          <p:cNvSpPr/>
          <p:nvPr/>
        </p:nvSpPr>
        <p:spPr>
          <a:xfrm>
            <a:off x="7759767" y="322701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7E1F29C1-32A7-DD18-BFC2-5470FCB5CACD}"/>
              </a:ext>
            </a:extLst>
          </p:cNvPr>
          <p:cNvSpPr/>
          <p:nvPr/>
        </p:nvSpPr>
        <p:spPr>
          <a:xfrm>
            <a:off x="7759767" y="353057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48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nvGraphicFramePr>
        <p:xfrm>
          <a:off x="5583499" y="6195328"/>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9258" y="186479"/>
            <a:ext cx="6846054" cy="517320"/>
          </a:xfrm>
        </p:spPr>
        <p:txBody>
          <a:bodyPr vert="horz">
            <a:noAutofit/>
          </a:bodyPr>
          <a:lstStyle/>
          <a:p>
            <a:r>
              <a:rPr lang="fr-FR">
                <a:solidFill>
                  <a:srgbClr val="29389F"/>
                </a:solidFill>
              </a:rPr>
              <a:t>PEC Product &amp; </a:t>
            </a:r>
            <a:r>
              <a:rPr lang="fr-FR" err="1">
                <a:solidFill>
                  <a:srgbClr val="29389F"/>
                </a:solidFill>
              </a:rPr>
              <a:t>Underwriting</a:t>
            </a:r>
            <a:r>
              <a:rPr lang="fr-FR">
                <a:solidFill>
                  <a:srgbClr val="29389F"/>
                </a:solidFill>
              </a:rPr>
              <a:t> </a:t>
            </a:r>
            <a:r>
              <a:rPr lang="fr-FR" err="1">
                <a:solidFill>
                  <a:srgbClr val="29389F"/>
                </a:solidFill>
              </a:rPr>
              <a:t>Enhancements</a:t>
            </a:r>
            <a:endParaRPr lang="fr-FR">
              <a:solidFill>
                <a:srgbClr val="29389F"/>
              </a:solidFill>
            </a:endParaRP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1544864475"/>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1335430796"/>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$47,338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$74,680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4210613727"/>
              </p:ext>
            </p:extLst>
          </p:nvPr>
        </p:nvGraphicFramePr>
        <p:xfrm>
          <a:off x="223564"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880134281"/>
              </p:ext>
            </p:extLst>
          </p:nvPr>
        </p:nvGraphicFramePr>
        <p:xfrm>
          <a:off x="5578916" y="1943811"/>
          <a:ext cx="6484606" cy="3342864"/>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91226">
                <a:tc>
                  <a:txBody>
                    <a:bodyPr/>
                    <a:lstStyle/>
                    <a:p>
                      <a:pPr algn="l"/>
                      <a:r>
                        <a:rPr lang="en-US" sz="850" b="0" strike="noStrike">
                          <a:solidFill>
                            <a:schemeClr val="tx1"/>
                          </a:solidFill>
                          <a:latin typeface="Aptos" panose="020B0004020202020204" pitchFamily="34" charset="0"/>
                        </a:rPr>
                        <a:t>EPIC Prioritization by Product Owners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strike="noStrike">
                          <a:latin typeface="Aptos" panose="020B0004020202020204" pitchFamily="34" charset="0"/>
                        </a:rPr>
                        <a:t>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617819655"/>
                  </a:ext>
                </a:extLst>
              </a:tr>
              <a:tr h="357745">
                <a:tc>
                  <a:txBody>
                    <a:bodyPr/>
                    <a:lstStyle/>
                    <a:p>
                      <a:pPr algn="l"/>
                      <a:r>
                        <a:rPr lang="en-US" sz="850" b="0" strike="noStrike">
                          <a:solidFill>
                            <a:schemeClr val="tx1"/>
                          </a:solidFill>
                          <a:latin typeface="Aptos" panose="020B0004020202020204" pitchFamily="34" charset="0"/>
                        </a:rPr>
                        <a:t>Project Schedule/Timeline Draft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162506059"/>
                  </a:ext>
                </a:extLst>
              </a:tr>
              <a:tr h="357745">
                <a:tc>
                  <a:txBody>
                    <a:bodyPr/>
                    <a:lstStyle/>
                    <a:p>
                      <a:pPr algn="l"/>
                      <a:r>
                        <a:rPr lang="en-US" sz="850" b="0" strike="noStrike">
                          <a:solidFill>
                            <a:schemeClr val="tx1"/>
                          </a:solidFill>
                          <a:latin typeface="Aptos" panose="020B0004020202020204" pitchFamily="34" charset="0"/>
                        </a:rPr>
                        <a:t>Story creation and Grooming 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283518123"/>
                  </a:ext>
                </a:extLst>
              </a:tr>
              <a:tr h="324770">
                <a:tc>
                  <a:txBody>
                    <a:bodyPr/>
                    <a:lstStyle/>
                    <a:p>
                      <a:pPr algn="l"/>
                      <a:r>
                        <a:rPr lang="en-US" sz="850" b="0" strike="noStrike">
                          <a:solidFill>
                            <a:schemeClr val="tx1"/>
                          </a:solidFill>
                          <a:latin typeface="Aptos" panose="020B0004020202020204" pitchFamily="34" charset="0"/>
                        </a:rPr>
                        <a:t>DDIT Complete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b="0">
                          <a:latin typeface="Aptos" panose="020B00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b="0" strike="sngStrike">
                          <a:latin typeface="Aptos" panose="020B0004020202020204" pitchFamily="34" charset="0"/>
                        </a:rPr>
                        <a:t>9/30</a:t>
                      </a:r>
                      <a:r>
                        <a:rPr lang="en-US" sz="850" b="0">
                          <a:latin typeface="Aptos" panose="020B0004020202020204" pitchFamily="34" charset="0"/>
                        </a:rPr>
                        <a:t> 10/6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marL="0" lvl="0" indent="0" algn="l">
                        <a:lnSpc>
                          <a:spcPct val="95000"/>
                        </a:lnSpc>
                        <a:spcBef>
                          <a:spcPct val="0"/>
                        </a:spcBef>
                        <a:spcAft>
                          <a:spcPct val="50000"/>
                        </a:spcAft>
                        <a:buNone/>
                      </a:pPr>
                      <a:r>
                        <a:rPr lang="en-US" sz="850" b="0" kern="1200">
                          <a:solidFill>
                            <a:schemeClr val="tx1"/>
                          </a:solidFill>
                          <a:effectLst/>
                          <a:latin typeface="Aptos" panose="020B0004020202020204" pitchFamily="34" charset="0"/>
                          <a:ea typeface="+mn-ea"/>
                          <a:cs typeface="+mn-cs"/>
                        </a:rPr>
                        <a:t>     QA unblocked on 9/30</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704749405"/>
                  </a:ext>
                </a:extLst>
              </a:tr>
              <a:tr h="324770">
                <a:tc>
                  <a:txBody>
                    <a:bodyPr/>
                    <a:lstStyle/>
                    <a:p>
                      <a:pPr algn="l"/>
                      <a:r>
                        <a:rPr lang="en-US" sz="850" b="0" strike="noStrike">
                          <a:solidFill>
                            <a:schemeClr val="tx1"/>
                          </a:solidFill>
                          <a:latin typeface="Aptos" panose="020B0004020202020204" pitchFamily="34" charset="0"/>
                        </a:rPr>
                        <a:t>OTE Production Dark Launch</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b="0">
                          <a:latin typeface="Aptos" panose="020B00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b="0">
                          <a:latin typeface="Aptos" panose="020B0004020202020204" pitchFamily="34" charset="0"/>
                        </a:rPr>
                        <a:t>10/9</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636730715"/>
                  </a:ext>
                </a:extLst>
              </a:tr>
              <a:tr h="324770">
                <a:tc>
                  <a:txBody>
                    <a:bodyPr/>
                    <a:lstStyle/>
                    <a:p>
                      <a:pPr algn="l"/>
                      <a:r>
                        <a:rPr lang="en-US" sz="850" b="0" strike="noStrike">
                          <a:solidFill>
                            <a:schemeClr val="tx1"/>
                          </a:solidFill>
                          <a:latin typeface="Aptos" panose="020B0004020202020204" pitchFamily="34" charset="0"/>
                        </a:rPr>
                        <a:t>E2E Complete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10/14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r>
                        <a:rPr lang="en-US" sz="850" b="0" kern="1200">
                          <a:solidFill>
                            <a:schemeClr val="tx1"/>
                          </a:solidFill>
                          <a:effectLst/>
                          <a:latin typeface="Aptos" panose="020B0004020202020204" pitchFamily="34" charset="0"/>
                          <a:ea typeface="+mn-ea"/>
                          <a:cs typeface="+mn-cs"/>
                        </a:rPr>
                        <a:t>      E2E Testing was delayed but now on track</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817423716"/>
                  </a:ext>
                </a:extLst>
              </a:tr>
              <a:tr h="324770">
                <a:tc>
                  <a:txBody>
                    <a:bodyPr/>
                    <a:lstStyle/>
                    <a:p>
                      <a:pPr algn="l"/>
                      <a:r>
                        <a:rPr lang="en-US" sz="850" b="0" strike="noStrike">
                          <a:solidFill>
                            <a:schemeClr val="tx1"/>
                          </a:solidFill>
                          <a:latin typeface="Aptos" panose="020B0004020202020204" pitchFamily="34" charset="0"/>
                        </a:rPr>
                        <a:t>UAT Complete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10/30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953311538"/>
                  </a:ext>
                </a:extLst>
              </a:tr>
              <a:tr h="324770">
                <a:tc>
                  <a:txBody>
                    <a:bodyPr/>
                    <a:lstStyle/>
                    <a:p>
                      <a:pPr algn="l"/>
                      <a:r>
                        <a:rPr lang="en-US" sz="850" b="0" strike="noStrike">
                          <a:solidFill>
                            <a:schemeClr val="tx1"/>
                          </a:solidFill>
                          <a:latin typeface="Aptos" panose="020B0004020202020204" pitchFamily="34" charset="0"/>
                        </a:rPr>
                        <a:t>Production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b="0">
                          <a:latin typeface="Aptos" panose="020B0004020202020204" pitchFamily="34" charset="0"/>
                        </a:rPr>
                        <a:t>11/11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3499847487"/>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576172887"/>
              </p:ext>
            </p:extLst>
          </p:nvPr>
        </p:nvGraphicFramePr>
        <p:xfrm>
          <a:off x="5583499" y="5459624"/>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2958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078441" y="629835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3089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92045" y="1845984"/>
            <a:ext cx="5226187" cy="2825069"/>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a:t>
            </a:r>
            <a:r>
              <a:rPr lang="en-US" sz="850" b="1">
                <a:highlight>
                  <a:srgbClr val="00FF00"/>
                </a:highlight>
                <a:latin typeface="Aptos" panose="020B0004020202020204" pitchFamily="34" charset="0"/>
                <a:cs typeface="Arial"/>
              </a:rPr>
              <a:t>Green</a:t>
            </a:r>
            <a:endParaRPr lang="en-US" sz="850">
              <a:highlight>
                <a:srgbClr val="00FF00"/>
              </a:highlight>
              <a:latin typeface="Aptos" panose="020B0004020202020204" pitchFamily="34" charset="0"/>
              <a:cs typeface="Arial"/>
            </a:endParaRPr>
          </a:p>
          <a:p>
            <a:pPr>
              <a:lnSpc>
                <a:spcPct val="150000"/>
              </a:lnSpc>
              <a:tabLst>
                <a:tab pos="457200" algn="l"/>
              </a:tabLst>
            </a:pPr>
            <a:r>
              <a:rPr lang="en-US" sz="850">
                <a:latin typeface="Aptos" panose="020B0004020202020204" pitchFamily="34" charset="0"/>
                <a:ea typeface="+mn-lt"/>
                <a:cs typeface="+mn-lt"/>
              </a:rPr>
              <a:t>Status has been upgraded from yellow to green.  PEC to Coverage QA Validation (DDIT) was successfully completed on 10/6, and E2E testing remains on track to complete as planned. The team continues to monitor progress closely to ensure minimal to no impact on the UAT schedule.</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QA validations (DDIT)  Completed</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OTE Production Release (Dark Launch)</a:t>
            </a:r>
          </a:p>
          <a:p>
            <a:pPr marL="171450" indent="-171450">
              <a:lnSpc>
                <a:spcPct val="150000"/>
              </a:lnSpc>
              <a:buFont typeface="Arial,Sans-Serif"/>
              <a:buChar char="•"/>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E2E Testing </a:t>
            </a:r>
          </a:p>
          <a:p>
            <a:pPr>
              <a:lnSpc>
                <a:spcPct val="150000"/>
              </a:lnSpc>
              <a:tabLst>
                <a:tab pos="457200" algn="l"/>
              </a:tabLst>
            </a:pPr>
            <a:endParaRPr lang="en-US" sz="850">
              <a:latin typeface="Aptos" panose="020B0004020202020204" pitchFamily="34" charset="0"/>
              <a:ea typeface="+mn-lt"/>
              <a:cs typeface="+mn-lt"/>
            </a:endParaRPr>
          </a:p>
          <a:p>
            <a:pPr>
              <a:lnSpc>
                <a:spcPct val="150000"/>
              </a:lnSpc>
              <a:tabLst>
                <a:tab pos="457200" algn="l"/>
              </a:tabLst>
            </a:pPr>
            <a:endParaRPr lang="en-US" sz="900" b="1">
              <a:ea typeface="+mn-lt"/>
              <a:cs typeface="+mn-lt"/>
            </a:endParaRPr>
          </a:p>
        </p:txBody>
      </p:sp>
      <p:sp>
        <p:nvSpPr>
          <p:cNvPr id="18" name="TextBox 17">
            <a:extLst>
              <a:ext uri="{FF2B5EF4-FFF2-40B4-BE49-F238E27FC236}">
                <a16:creationId xmlns:a16="http://schemas.microsoft.com/office/drawing/2014/main" id="{21D33B76-9480-B3DD-5A56-0F37DB3D8563}"/>
              </a:ext>
            </a:extLst>
          </p:cNvPr>
          <p:cNvSpPr txBox="1"/>
          <p:nvPr/>
        </p:nvSpPr>
        <p:spPr>
          <a:xfrm>
            <a:off x="9471000" y="122086"/>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Gary Wilson</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AA105E7-DD05-B9EE-F65B-728B46AAED1A}"/>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360ADE0B-0404-C895-C38F-9413CEC0862C}"/>
              </a:ext>
            </a:extLst>
          </p:cNvPr>
          <p:cNvSpPr/>
          <p:nvPr/>
        </p:nvSpPr>
        <p:spPr>
          <a:xfrm>
            <a:off x="5182117"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576EBFF9-9FA9-5B09-69FF-5483AE50B5FF}"/>
              </a:ext>
            </a:extLst>
          </p:cNvPr>
          <p:cNvSpPr/>
          <p:nvPr/>
        </p:nvSpPr>
        <p:spPr>
          <a:xfrm>
            <a:off x="3269135" y="141245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2483B88D-465A-A76E-7166-3FC49AD3A9BC}"/>
              </a:ext>
            </a:extLst>
          </p:cNvPr>
          <p:cNvSpPr/>
          <p:nvPr/>
        </p:nvSpPr>
        <p:spPr>
          <a:xfrm>
            <a:off x="8120535" y="439695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1982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extLst>
              <p:ext uri="{D42A27DB-BD31-4B8C-83A1-F6EECF244321}">
                <p14:modId xmlns:p14="http://schemas.microsoft.com/office/powerpoint/2010/main" val="1556704267"/>
              </p:ext>
            </p:extLst>
          </p:nvPr>
        </p:nvGraphicFramePr>
        <p:xfrm>
          <a:off x="4980036" y="5958454"/>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389283" y="165725"/>
            <a:ext cx="5692615" cy="517320"/>
          </a:xfrm>
        </p:spPr>
        <p:txBody>
          <a:bodyPr vert="horz">
            <a:noAutofit/>
          </a:bodyPr>
          <a:lstStyle/>
          <a:p>
            <a:r>
              <a:rPr lang="fr-FR">
                <a:solidFill>
                  <a:srgbClr val="29389F"/>
                </a:solidFill>
              </a:rPr>
              <a:t>MPPC UW Questions Reduction MVP3</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3054617866"/>
              </p:ext>
            </p:extLst>
          </p:nvPr>
        </p:nvGraphicFramePr>
        <p:xfrm>
          <a:off x="234455" y="927650"/>
          <a:ext cx="2638219"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2407198728"/>
              </p:ext>
            </p:extLst>
          </p:nvPr>
        </p:nvGraphicFramePr>
        <p:xfrm>
          <a:off x="6640299" y="920668"/>
          <a:ext cx="5476595" cy="749847"/>
        </p:xfrm>
        <a:graphic>
          <a:graphicData uri="http://schemas.openxmlformats.org/drawingml/2006/table">
            <a:tbl>
              <a:tblPr>
                <a:tableStyleId>{5C22544A-7EE6-4342-B048-85BDC9FD1C3A}</a:tableStyleId>
              </a:tblPr>
              <a:tblGrid>
                <a:gridCol w="1069601">
                  <a:extLst>
                    <a:ext uri="{9D8B030D-6E8A-4147-A177-3AD203B41FA5}">
                      <a16:colId xmlns:a16="http://schemas.microsoft.com/office/drawing/2014/main" val="2456552316"/>
                    </a:ext>
                  </a:extLst>
                </a:gridCol>
                <a:gridCol w="948016">
                  <a:extLst>
                    <a:ext uri="{9D8B030D-6E8A-4147-A177-3AD203B41FA5}">
                      <a16:colId xmlns:a16="http://schemas.microsoft.com/office/drawing/2014/main" val="2327174630"/>
                    </a:ext>
                  </a:extLst>
                </a:gridCol>
                <a:gridCol w="1550134">
                  <a:extLst>
                    <a:ext uri="{9D8B030D-6E8A-4147-A177-3AD203B41FA5}">
                      <a16:colId xmlns:a16="http://schemas.microsoft.com/office/drawing/2014/main" val="1100051595"/>
                    </a:ext>
                  </a:extLst>
                </a:gridCol>
                <a:gridCol w="935206">
                  <a:extLst>
                    <a:ext uri="{9D8B030D-6E8A-4147-A177-3AD203B41FA5}">
                      <a16:colId xmlns:a16="http://schemas.microsoft.com/office/drawing/2014/main" val="2042261034"/>
                    </a:ext>
                  </a:extLst>
                </a:gridCol>
                <a:gridCol w="973638">
                  <a:extLst>
                    <a:ext uri="{9D8B030D-6E8A-4147-A177-3AD203B41FA5}">
                      <a16:colId xmlns:a16="http://schemas.microsoft.com/office/drawing/2014/main" val="2815874248"/>
                    </a:ext>
                  </a:extLst>
                </a:gridCol>
              </a:tblGrid>
              <a:tr h="40335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6496">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$232,623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$71,820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$304,443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28191841"/>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Overall</a:t>
                      </a: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1705680374"/>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850" b="1" i="0" u="none" strike="noStrike" kern="1200" cap="none" normalizeH="0" baseline="0">
                          <a:ln>
                            <a:noFill/>
                          </a:ln>
                          <a:solidFill>
                            <a:schemeClr val="tx1"/>
                          </a:solidFill>
                          <a:effectLst/>
                          <a:latin typeface="Aptos"/>
                          <a:ea typeface="+mn-ea"/>
                          <a:cs typeface="+mn-cs"/>
                        </a:rPr>
                        <a:t> 2/10/27 /(CR-RPQ)</a:t>
                      </a:r>
                      <a:endParaRPr kumimoji="0" lang="en-US"/>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1730611772"/>
              </p:ext>
            </p:extLst>
          </p:nvPr>
        </p:nvGraphicFramePr>
        <p:xfrm>
          <a:off x="4984185" y="1882807"/>
          <a:ext cx="7152058" cy="3241316"/>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655527">
                  <a:extLst>
                    <a:ext uri="{9D8B030D-6E8A-4147-A177-3AD203B41FA5}">
                      <a16:colId xmlns:a16="http://schemas.microsoft.com/office/drawing/2014/main" val="2042261034"/>
                    </a:ext>
                  </a:extLst>
                </a:gridCol>
                <a:gridCol w="3336982">
                  <a:extLst>
                    <a:ext uri="{9D8B030D-6E8A-4147-A177-3AD203B41FA5}">
                      <a16:colId xmlns:a16="http://schemas.microsoft.com/office/drawing/2014/main" val="2815874248"/>
                    </a:ext>
                  </a:extLst>
                </a:gridCol>
              </a:tblGrid>
              <a:tr h="419173">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167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a:ea typeface="+mn-ea"/>
                          <a:cs typeface="+mn-cs"/>
                        </a:rPr>
                        <a:t>UAT Completed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 7/29 – 8/11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617819655"/>
                  </a:ext>
                </a:extLst>
              </a:tr>
              <a:tr h="268447">
                <a:tc>
                  <a:txBody>
                    <a:bodyPr/>
                    <a:lstStyle/>
                    <a:p>
                      <a:pPr lvl="0"/>
                      <a:r>
                        <a:rPr lang="en-US" sz="850">
                          <a:latin typeface="Aptos" panose="020B0004020202020204"/>
                        </a:rPr>
                        <a:t>    Go-No Go Meeting Scheduled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 8/11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endParaRPr lang="en-US" sz="850">
                        <a:latin typeface="Aptos" panose="020B0004020202020204"/>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162506059"/>
                  </a:ext>
                </a:extLst>
              </a:tr>
              <a:tr h="286072">
                <a:tc>
                  <a:txBody>
                    <a:bodyPr/>
                    <a:lstStyle/>
                    <a:p>
                      <a:r>
                        <a:rPr lang="en-US" sz="850">
                          <a:latin typeface="Aptos" panose="020B0004020202020204"/>
                        </a:rPr>
                        <a:t>    Stage Validation Completed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r>
                        <a:rPr lang="en-US" sz="850">
                          <a:latin typeface="Aptos" panose="020B0004020202020204"/>
                        </a:rPr>
                        <a:t>  </a:t>
                      </a:r>
                      <a:r>
                        <a:rPr lang="en-US" sz="850" strike="sngStrike">
                          <a:latin typeface="Aptos" panose="020B0004020202020204"/>
                        </a:rPr>
                        <a:t>9/4</a:t>
                      </a:r>
                      <a:r>
                        <a:rPr lang="en-US" sz="850">
                          <a:latin typeface="Aptos" panose="020B0004020202020204"/>
                        </a:rPr>
                        <a:t> 9/11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r>
                        <a:rPr lang="en-US" sz="850">
                          <a:latin typeface="Aptos" panose="020B0004020202020204"/>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329427646"/>
                  </a:ext>
                </a:extLst>
              </a:tr>
              <a:tr h="23489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a:ea typeface="+mn-ea"/>
                          <a:cs typeface="+mn-cs"/>
                        </a:rPr>
                        <a:t>Prod Deployment  (MVP3)</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pPr algn="ctr"/>
                      <a:r>
                        <a:rPr lang="en-US" sz="850">
                          <a:latin typeface="Aptos" panose="020B0004020202020204"/>
                        </a:rPr>
                        <a:t>C</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pPr algn="ctr"/>
                      <a:r>
                        <a:rPr lang="en-US" sz="850" strike="sngStrike">
                          <a:latin typeface="Aptos" panose="020B0004020202020204"/>
                        </a:rPr>
                        <a:t>9/9</a:t>
                      </a:r>
                      <a:r>
                        <a:rPr lang="en-US" sz="850">
                          <a:latin typeface="Aptos" panose="020B0004020202020204"/>
                        </a:rPr>
                        <a:t> 9/16</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a:ea typeface="+mn-ea"/>
                          <a:cs typeface="+mn-cs"/>
                        </a:rPr>
                        <a:t> Rescheduled from 8/12 to  9/16 </a:t>
                      </a:r>
                      <a:r>
                        <a:rPr lang="en-US" sz="850" b="0" kern="1200" err="1">
                          <a:solidFill>
                            <a:schemeClr val="tx1"/>
                          </a:solidFill>
                          <a:effectLst/>
                          <a:latin typeface="Aptos" panose="020B0004020202020204"/>
                          <a:ea typeface="+mn-ea"/>
                          <a:cs typeface="+mn-cs"/>
                        </a:rPr>
                        <a:t>offcycle</a:t>
                      </a:r>
                      <a:endParaRPr lang="en-US" sz="850" b="0" kern="1200">
                        <a:solidFill>
                          <a:schemeClr val="tx1"/>
                        </a:solidFill>
                        <a:effectLst/>
                        <a:latin typeface="Aptos" panose="020B0004020202020204"/>
                        <a:ea typeface="+mn-ea"/>
                        <a:cs typeface="+mn-cs"/>
                      </a:endParaRP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extLst>
                  <a:ext uri="{0D108BD9-81ED-4DB2-BD59-A6C34878D82A}">
                    <a16:rowId xmlns:a16="http://schemas.microsoft.com/office/drawing/2014/main" val="704749405"/>
                  </a:ext>
                </a:extLst>
              </a:tr>
              <a:tr h="285226">
                <a:tc>
                  <a:txBody>
                    <a:bodyPr/>
                    <a:lstStyle/>
                    <a:p>
                      <a:r>
                        <a:rPr lang="en-US" sz="850">
                          <a:latin typeface="Aptos" panose="020B0004020202020204"/>
                        </a:rPr>
                        <a:t>    Warranty UAT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r>
                        <a:rPr lang="en-US" sz="850">
                          <a:latin typeface="Aptos" panose="020B0004020202020204"/>
                        </a:rPr>
                        <a:t>  9/14 – 9/18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endParaRPr lang="en-US" sz="850">
                        <a:latin typeface="Aptos" panose="020B0004020202020204"/>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491871358"/>
                  </a:ext>
                </a:extLst>
              </a:tr>
              <a:tr h="322928">
                <a:tc>
                  <a:txBody>
                    <a:bodyPr/>
                    <a:lstStyle/>
                    <a:p>
                      <a:pPr algn="l"/>
                      <a:r>
                        <a:rPr lang="en-US" sz="850">
                          <a:latin typeface="Aptos" panose="020B0004020202020204"/>
                        </a:rPr>
                        <a:t>    Warranty Deployment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9/23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850">
                          <a:latin typeface="Aptos" panose="020B0004020202020204"/>
                        </a:rPr>
                        <a:t> 1 missed requirement delivered during warranty.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71060909"/>
                  </a:ext>
                </a:extLst>
              </a:tr>
              <a:tr h="268447">
                <a:tc>
                  <a:txBody>
                    <a:bodyPr/>
                    <a:lstStyle/>
                    <a:p>
                      <a:r>
                        <a:rPr lang="en-US" sz="850">
                          <a:latin typeface="Aptos" panose="020B0004020202020204"/>
                        </a:rPr>
                        <a:t>     DDIT (RPQ – MVP3.5)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12/23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50">
                          <a:latin typeface="Aptos" panose="020B0004020202020204"/>
                        </a:rPr>
                        <a:t>  SS development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125628"/>
                  </a:ext>
                </a:extLst>
              </a:tr>
              <a:tr h="334009">
                <a:tc>
                  <a:txBody>
                    <a:bodyPr/>
                    <a:lstStyle/>
                    <a:p>
                      <a:r>
                        <a:rPr lang="en-US" sz="850">
                          <a:latin typeface="Aptos" panose="020B0004020202020204"/>
                        </a:rPr>
                        <a:t>     E2E Testing (RPQ – MVP3.5)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850">
                        <a:latin typeface="Aptos" panose="020B0004020202020204"/>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949865"/>
                  </a:ext>
                </a:extLst>
              </a:tr>
              <a:tr h="236443">
                <a:tc>
                  <a:txBody>
                    <a:bodyPr/>
                    <a:lstStyle/>
                    <a:p>
                      <a:r>
                        <a:rPr lang="en-US" sz="850">
                          <a:latin typeface="Aptos" panose="020B0004020202020204"/>
                        </a:rPr>
                        <a:t>     UAT (RPQ – MVP3.5)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strike="noStrike">
                          <a:latin typeface="Aptos" panose="020B0004020202020204"/>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50">
                          <a:latin typeface="Aptos" panose="020B0004020202020204"/>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9678758"/>
                  </a:ext>
                </a:extLst>
              </a:tr>
              <a:tr h="334009">
                <a:tc>
                  <a:txBody>
                    <a:bodyPr/>
                    <a:lstStyle/>
                    <a:p>
                      <a:r>
                        <a:rPr lang="en-US" sz="850">
                          <a:latin typeface="Aptos" panose="020B0004020202020204"/>
                        </a:rPr>
                        <a:t>     Prod Release (RPQ – MVP3.5)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a:latin typeface="Aptos" panose="020B0004020202020204"/>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50" strike="noStrike">
                          <a:latin typeface="Aptos" panose="020B0004020202020204"/>
                        </a:rPr>
                        <a:t>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850">
                        <a:latin typeface="Aptos" panose="020B0004020202020204"/>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0489273"/>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3542676410"/>
              </p:ext>
            </p:extLst>
          </p:nvPr>
        </p:nvGraphicFramePr>
        <p:xfrm>
          <a:off x="4991785" y="5189883"/>
          <a:ext cx="7136859" cy="714807"/>
        </p:xfrm>
        <a:graphic>
          <a:graphicData uri="http://schemas.openxmlformats.org/drawingml/2006/table">
            <a:tbl>
              <a:tblPr>
                <a:tableStyleId>{5C22544A-7EE6-4342-B048-85BDC9FD1C3A}</a:tableStyleId>
              </a:tblPr>
              <a:tblGrid>
                <a:gridCol w="2633399">
                  <a:extLst>
                    <a:ext uri="{9D8B030D-6E8A-4147-A177-3AD203B41FA5}">
                      <a16:colId xmlns:a16="http://schemas.microsoft.com/office/drawing/2014/main" val="2456552316"/>
                    </a:ext>
                  </a:extLst>
                </a:gridCol>
                <a:gridCol w="517124">
                  <a:extLst>
                    <a:ext uri="{9D8B030D-6E8A-4147-A177-3AD203B41FA5}">
                      <a16:colId xmlns:a16="http://schemas.microsoft.com/office/drawing/2014/main" val="1100051595"/>
                    </a:ext>
                  </a:extLst>
                </a:gridCol>
                <a:gridCol w="680145">
                  <a:extLst>
                    <a:ext uri="{9D8B030D-6E8A-4147-A177-3AD203B41FA5}">
                      <a16:colId xmlns:a16="http://schemas.microsoft.com/office/drawing/2014/main" val="2042261034"/>
                    </a:ext>
                  </a:extLst>
                </a:gridCol>
                <a:gridCol w="3306191">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MPI UW Optimization project Code branch dependency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mn-lt"/>
                          <a:ea typeface="+mn-ea"/>
                          <a:cs typeface="+mn-cs"/>
                        </a:rPr>
                        <a:t>10/12</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Meeting scheduled with EW Scrum Master to access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6729886" y="607907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7770332" y="6089686"/>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8807808" y="607092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1777635"/>
            <a:ext cx="4743293" cy="2622769"/>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a:t>
            </a:r>
            <a:r>
              <a:rPr lang="en-US" sz="850" b="1">
                <a:highlight>
                  <a:srgbClr val="00FF00"/>
                </a:highlight>
                <a:latin typeface="Aptos" panose="020B0004020202020204" pitchFamily="34" charset="0"/>
                <a:cs typeface="Arial"/>
              </a:rPr>
              <a:t>Green</a:t>
            </a:r>
          </a:p>
          <a:p>
            <a:pPr>
              <a:lnSpc>
                <a:spcPct val="150000"/>
              </a:lnSpc>
              <a:tabLst>
                <a:tab pos="457200" algn="l"/>
              </a:tabLst>
            </a:pPr>
            <a:r>
              <a:rPr lang="en-US" sz="850" b="1">
                <a:latin typeface="Aptos" panose="020B0004020202020204" pitchFamily="34" charset="0"/>
                <a:cs typeface="Arial"/>
              </a:rPr>
              <a:t>Justification </a:t>
            </a:r>
          </a:p>
          <a:p>
            <a:pPr>
              <a:lnSpc>
                <a:spcPct val="150000"/>
              </a:lnSpc>
              <a:tabLst>
                <a:tab pos="457200" algn="l"/>
              </a:tabLst>
            </a:pPr>
            <a:r>
              <a:rPr lang="en-US" sz="850">
                <a:latin typeface="Aptos" panose="020B0004020202020204" pitchFamily="34" charset="0"/>
              </a:rPr>
              <a:t>MVP 3.5 (Remove Prior Question) remains on track for the planned February 2027 release. A potential risk has been identified related to the MPI UW Optimization project timeline. If the MPI UW Optimization release shifts to March 2027, MVP 3.5 may also require a schedule adjustment due to a code branching dependency. A meeting is scheduled this week with the impacted teams to assess the dependency, evaluate options, and determine any required mitigation actions.</a:t>
            </a:r>
          </a:p>
          <a:p>
            <a:pPr>
              <a:lnSpc>
                <a:spcPct val="150000"/>
              </a:lnSpc>
              <a:tabLst>
                <a:tab pos="457200" algn="l"/>
              </a:tabLst>
            </a:pPr>
            <a:endParaRPr lang="en-US" sz="850" b="1">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Accomplishments </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Refinement (Epic Winners)</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Next Steps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DDIT (Epic Winners)</a:t>
            </a:r>
          </a:p>
        </p:txBody>
      </p:sp>
      <p:sp>
        <p:nvSpPr>
          <p:cNvPr id="18" name="TextBox 17">
            <a:extLst>
              <a:ext uri="{FF2B5EF4-FFF2-40B4-BE49-F238E27FC236}">
                <a16:creationId xmlns:a16="http://schemas.microsoft.com/office/drawing/2014/main" id="{21D33B76-9480-B3DD-5A56-0F37DB3D8563}"/>
              </a:ext>
            </a:extLst>
          </p:cNvPr>
          <p:cNvSpPr txBox="1"/>
          <p:nvPr/>
        </p:nvSpPr>
        <p:spPr>
          <a:xfrm>
            <a:off x="9661918" y="91795"/>
            <a:ext cx="3557368" cy="496931"/>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Kinney Barbour</a:t>
            </a:r>
          </a:p>
          <a:p>
            <a:r>
              <a:rPr lang="en-US" err="1"/>
              <a:t>OpEx</a:t>
            </a:r>
            <a:r>
              <a:rPr lang="en-US"/>
              <a:t> Business Lead: Sara Andrews</a:t>
            </a:r>
          </a:p>
        </p:txBody>
      </p:sp>
      <p:sp>
        <p:nvSpPr>
          <p:cNvPr id="3" name="Flowchart: Connector 2">
            <a:extLst>
              <a:ext uri="{FF2B5EF4-FFF2-40B4-BE49-F238E27FC236}">
                <a16:creationId xmlns:a16="http://schemas.microsoft.com/office/drawing/2014/main" id="{D9E14052-ECC7-CBB3-998F-ADD1FEBB682A}"/>
              </a:ext>
            </a:extLst>
          </p:cNvPr>
          <p:cNvSpPr/>
          <p:nvPr/>
        </p:nvSpPr>
        <p:spPr>
          <a:xfrm>
            <a:off x="4250403" y="141754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FA94D9E7-AFC9-84B9-3948-94A013D38B2F}"/>
              </a:ext>
            </a:extLst>
          </p:cNvPr>
          <p:cNvSpPr/>
          <p:nvPr/>
        </p:nvSpPr>
        <p:spPr>
          <a:xfrm>
            <a:off x="6068553" y="140987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0B28EC79-76F7-C546-EFED-20729BCBC0FD}"/>
              </a:ext>
            </a:extLst>
          </p:cNvPr>
          <p:cNvSpPr/>
          <p:nvPr/>
        </p:nvSpPr>
        <p:spPr>
          <a:xfrm>
            <a:off x="3287066" y="141893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668D535E-1938-4D02-3E25-593E16B53AAF}"/>
              </a:ext>
            </a:extLst>
          </p:cNvPr>
          <p:cNvSpPr/>
          <p:nvPr/>
        </p:nvSpPr>
        <p:spPr>
          <a:xfrm>
            <a:off x="5208147" y="140216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22A03E6E-8400-9FC5-598A-0BB8B8F6A95A}"/>
              </a:ext>
            </a:extLst>
          </p:cNvPr>
          <p:cNvSpPr/>
          <p:nvPr/>
        </p:nvSpPr>
        <p:spPr>
          <a:xfrm>
            <a:off x="7770333" y="399538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841F7435-0CD1-CBD9-5F28-3C3B7ECEAD79}"/>
              </a:ext>
            </a:extLst>
          </p:cNvPr>
          <p:cNvSpPr/>
          <p:nvPr/>
        </p:nvSpPr>
        <p:spPr>
          <a:xfrm>
            <a:off x="7809386" y="565362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0313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5D43-D1F2-F5A7-E691-F62E934B10A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C5C20C7-EDB2-2A50-FCA9-39E8618DF59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C5C20C7-EDB2-2A50-FCA9-39E8618DF59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EEEDA86-26A0-8007-DD85-1F67EDCCBFF5}"/>
              </a:ext>
            </a:extLst>
          </p:cNvPr>
          <p:cNvGraphicFramePr>
            <a:graphicFrameLocks noGrp="1"/>
          </p:cNvGraphicFramePr>
          <p:nvPr/>
        </p:nvGraphicFramePr>
        <p:xfrm>
          <a:off x="5583499" y="6195328"/>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69F6A96-4CCB-22B8-8C8C-2B8939105301}"/>
              </a:ext>
            </a:extLst>
          </p:cNvPr>
          <p:cNvSpPr>
            <a:spLocks noGrp="1"/>
          </p:cNvSpPr>
          <p:nvPr>
            <p:ph type="title"/>
          </p:nvPr>
        </p:nvSpPr>
        <p:spPr>
          <a:xfrm>
            <a:off x="299257" y="186479"/>
            <a:ext cx="6597931" cy="517320"/>
          </a:xfrm>
        </p:spPr>
        <p:txBody>
          <a:bodyPr vert="horz">
            <a:noAutofit/>
          </a:bodyPr>
          <a:lstStyle/>
          <a:p>
            <a:r>
              <a:rPr lang="fr-FR" err="1">
                <a:solidFill>
                  <a:srgbClr val="29389F"/>
                </a:solidFill>
              </a:rPr>
              <a:t>Enhance</a:t>
            </a:r>
            <a:r>
              <a:rPr lang="fr-FR">
                <a:solidFill>
                  <a:srgbClr val="29389F"/>
                </a:solidFill>
              </a:rPr>
              <a:t> Multi Denial Code Claims Z160/Z151</a:t>
            </a:r>
          </a:p>
        </p:txBody>
      </p:sp>
      <p:graphicFrame>
        <p:nvGraphicFramePr>
          <p:cNvPr id="11" name="Group 513">
            <a:extLst>
              <a:ext uri="{FF2B5EF4-FFF2-40B4-BE49-F238E27FC236}">
                <a16:creationId xmlns:a16="http://schemas.microsoft.com/office/drawing/2014/main" id="{9823D7A4-0B58-1F21-CEF5-419A9AD69829}"/>
              </a:ext>
            </a:extLst>
          </p:cNvPr>
          <p:cNvGraphicFramePr>
            <a:graphicFrameLocks noGrp="1"/>
          </p:cNvGraphicFramePr>
          <p:nvPr>
            <p:extLst>
              <p:ext uri="{D42A27DB-BD31-4B8C-83A1-F6EECF244321}">
                <p14:modId xmlns:p14="http://schemas.microsoft.com/office/powerpoint/2010/main" val="2458885756"/>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BD86B16-4B02-029D-CC45-30E10822F67B}"/>
              </a:ext>
            </a:extLst>
          </p:cNvPr>
          <p:cNvGraphicFramePr>
            <a:graphicFrameLocks noGrp="1"/>
          </p:cNvGraphicFramePr>
          <p:nvPr>
            <p:extLst>
              <p:ext uri="{D42A27DB-BD31-4B8C-83A1-F6EECF244321}">
                <p14:modId xmlns:p14="http://schemas.microsoft.com/office/powerpoint/2010/main" val="244441774"/>
              </p:ext>
            </p:extLst>
          </p:nvPr>
        </p:nvGraphicFramePr>
        <p:xfrm>
          <a:off x="6648926"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$114,000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$32,088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$63,472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$95,560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$114,000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51A1B6C8-2963-A3DC-3CC5-56B16B043F8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698B252-EF11-4557-C6EF-7FA3D43EC9C5}"/>
              </a:ext>
            </a:extLst>
          </p:cNvPr>
          <p:cNvGraphicFramePr>
            <a:graphicFrameLocks noGrp="1"/>
          </p:cNvGraphicFramePr>
          <p:nvPr>
            <p:extLst>
              <p:ext uri="{D42A27DB-BD31-4B8C-83A1-F6EECF244321}">
                <p14:modId xmlns:p14="http://schemas.microsoft.com/office/powerpoint/2010/main" val="330678513"/>
              </p:ext>
            </p:extLst>
          </p:nvPr>
        </p:nvGraphicFramePr>
        <p:xfrm>
          <a:off x="223564"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0090F6F-196A-9CC3-8F2A-1C1FC90914CE}"/>
              </a:ext>
            </a:extLst>
          </p:cNvPr>
          <p:cNvGraphicFramePr>
            <a:graphicFrameLocks noGrp="1"/>
          </p:cNvGraphicFramePr>
          <p:nvPr>
            <p:extLst>
              <p:ext uri="{D42A27DB-BD31-4B8C-83A1-F6EECF244321}">
                <p14:modId xmlns:p14="http://schemas.microsoft.com/office/powerpoint/2010/main" val="154616885"/>
              </p:ext>
            </p:extLst>
          </p:nvPr>
        </p:nvGraphicFramePr>
        <p:xfrm>
          <a:off x="5570290" y="1972165"/>
          <a:ext cx="6484606" cy="2909409"/>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9615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dk1"/>
                          </a:solidFill>
                          <a:latin typeface="Aptos" panose="020B0004020202020204" pitchFamily="34" charset="0"/>
                          <a:ea typeface="+mn-ea"/>
                          <a:cs typeface="+mn-cs"/>
                        </a:rPr>
                        <a:t>Story creation &amp; grooming completed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748893264"/>
                  </a:ext>
                </a:extLst>
              </a:tr>
              <a:tr h="311159">
                <a:tc>
                  <a:txBody>
                    <a:bodyPr/>
                    <a:lstStyle/>
                    <a:p>
                      <a:pPr algn="l"/>
                      <a:r>
                        <a:rPr lang="en-US" sz="850" b="0" strike="noStrike">
                          <a:solidFill>
                            <a:schemeClr val="tx1"/>
                          </a:solidFill>
                          <a:latin typeface="Aptos" panose="020B0004020202020204" pitchFamily="34" charset="0"/>
                        </a:rPr>
                        <a:t> DDIT Complete (SS)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a:latin typeface="Aptos" panose="020B0004020202020204" pitchFamily="34" charset="0"/>
                        </a:rPr>
                        <a:t>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57745">
                <a:tc>
                  <a:txBody>
                    <a:bodyPr/>
                    <a:lstStyle/>
                    <a:p>
                      <a:pPr algn="l"/>
                      <a:r>
                        <a:rPr lang="en-US" sz="850" b="0" strike="noStrike">
                          <a:solidFill>
                            <a:schemeClr val="tx1"/>
                          </a:solidFill>
                          <a:latin typeface="Aptos" panose="020B0004020202020204" pitchFamily="34" charset="0"/>
                        </a:rPr>
                        <a:t> DDIT Complete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a:latin typeface="Aptos" panose="020B0004020202020204" pitchFamily="34" charset="0"/>
                        </a:rPr>
                        <a:t>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357745">
                <a:tc>
                  <a:txBody>
                    <a:bodyPr/>
                    <a:lstStyle/>
                    <a:p>
                      <a:pPr algn="l"/>
                      <a:r>
                        <a:rPr lang="en-US" sz="850" b="0" strike="noStrike">
                          <a:solidFill>
                            <a:schemeClr val="tx1"/>
                          </a:solidFill>
                          <a:latin typeface="Aptos" panose="020B0004020202020204"/>
                        </a:rPr>
                        <a:t> E2E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a:latin typeface="Aptos" panose="020B0004020202020204"/>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83518123"/>
                  </a:ext>
                </a:extLst>
              </a:tr>
              <a:tr h="324770">
                <a:tc>
                  <a:txBody>
                    <a:bodyPr/>
                    <a:lstStyle/>
                    <a:p>
                      <a:pPr algn="l"/>
                      <a:r>
                        <a:rPr lang="en-US" sz="850" b="0" strike="noStrike">
                          <a:solidFill>
                            <a:schemeClr val="tx1"/>
                          </a:solidFill>
                          <a:latin typeface="Aptos" panose="020B0004020202020204"/>
                        </a:rPr>
                        <a:t> UAT Complete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10/30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704749405"/>
                  </a:ext>
                </a:extLst>
              </a:tr>
              <a:tr h="324770">
                <a:tc>
                  <a:txBody>
                    <a:bodyPr/>
                    <a:lstStyle/>
                    <a:p>
                      <a:pPr algn="l"/>
                      <a:r>
                        <a:rPr lang="en-US" sz="850" b="0" strike="noStrike">
                          <a:solidFill>
                            <a:schemeClr val="tx1"/>
                          </a:solidFill>
                          <a:latin typeface="Aptos" panose="020B0004020202020204"/>
                        </a:rPr>
                        <a:t> Production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11/11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817423716"/>
                  </a:ext>
                </a:extLst>
              </a:tr>
              <a:tr h="324770">
                <a:tc>
                  <a:txBody>
                    <a:bodyPr/>
                    <a:lstStyle/>
                    <a:p>
                      <a:r>
                        <a:rPr lang="en-US" sz="850">
                          <a:latin typeface="Aptos" panose="020B0004020202020204"/>
                        </a:rPr>
                        <a:t> Warranty Completed</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Aptos" panose="020B0004020202020204"/>
                        </a:rPr>
                        <a:t>12/11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953311538"/>
                  </a:ext>
                </a:extLst>
              </a:tr>
            </a:tbl>
          </a:graphicData>
        </a:graphic>
      </p:graphicFrame>
      <p:graphicFrame>
        <p:nvGraphicFramePr>
          <p:cNvPr id="29" name="Table 28">
            <a:extLst>
              <a:ext uri="{FF2B5EF4-FFF2-40B4-BE49-F238E27FC236}">
                <a16:creationId xmlns:a16="http://schemas.microsoft.com/office/drawing/2014/main" id="{9ABC31EB-B5B0-0507-CCE7-0F207F9FB514}"/>
              </a:ext>
            </a:extLst>
          </p:cNvPr>
          <p:cNvGraphicFramePr>
            <a:graphicFrameLocks noGrp="1"/>
          </p:cNvGraphicFramePr>
          <p:nvPr>
            <p:extLst>
              <p:ext uri="{D42A27DB-BD31-4B8C-83A1-F6EECF244321}">
                <p14:modId xmlns:p14="http://schemas.microsoft.com/office/powerpoint/2010/main" val="3843205337"/>
              </p:ext>
            </p:extLst>
          </p:nvPr>
        </p:nvGraphicFramePr>
        <p:xfrm>
          <a:off x="5583499" y="5459624"/>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None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C6B4BBB0-CE24-55E7-FE61-FDB4A01480E4}"/>
              </a:ext>
            </a:extLst>
          </p:cNvPr>
          <p:cNvSpPr/>
          <p:nvPr/>
        </p:nvSpPr>
        <p:spPr>
          <a:xfrm>
            <a:off x="7145312" y="62958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F5982-9460-BF38-F579-245746AC79E2}"/>
              </a:ext>
            </a:extLst>
          </p:cNvPr>
          <p:cNvSpPr/>
          <p:nvPr/>
        </p:nvSpPr>
        <p:spPr>
          <a:xfrm>
            <a:off x="8078441" y="629835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E434937F-1904-B18A-7562-520A15ED41FB}"/>
              </a:ext>
            </a:extLst>
          </p:cNvPr>
          <p:cNvSpPr/>
          <p:nvPr/>
        </p:nvSpPr>
        <p:spPr>
          <a:xfrm>
            <a:off x="9093213" y="63089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8C6CC7-F1C2-7A00-9457-C8B600543DCA}"/>
              </a:ext>
            </a:extLst>
          </p:cNvPr>
          <p:cNvSpPr txBox="1"/>
          <p:nvPr/>
        </p:nvSpPr>
        <p:spPr>
          <a:xfrm>
            <a:off x="159545" y="1948919"/>
            <a:ext cx="5226187" cy="2034147"/>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a:t>
            </a:r>
            <a:r>
              <a:rPr lang="en-US" sz="850" b="1">
                <a:highlight>
                  <a:srgbClr val="00FF00"/>
                </a:highlight>
                <a:latin typeface="Aptos" panose="020B0004020202020204" pitchFamily="34" charset="0"/>
                <a:cs typeface="Arial"/>
              </a:rPr>
              <a:t>Green</a:t>
            </a:r>
            <a:endParaRPr lang="en-US" sz="850">
              <a:highlight>
                <a:srgbClr val="00FF00"/>
              </a:highlight>
              <a:latin typeface="Aptos" panose="020B0004020202020204" pitchFamily="34" charset="0"/>
              <a:cs typeface="Arial"/>
            </a:endParaRPr>
          </a:p>
          <a:p>
            <a:pPr>
              <a:lnSpc>
                <a:spcPct val="150000"/>
              </a:lnSpc>
              <a:tabLst>
                <a:tab pos="457200" algn="l"/>
              </a:tabLst>
            </a:pPr>
            <a:r>
              <a:rPr lang="en-US" sz="850">
                <a:latin typeface="Aptos" panose="020B0004020202020204" pitchFamily="34" charset="0"/>
                <a:ea typeface="+mn-lt"/>
                <a:cs typeface="+mn-lt"/>
              </a:rPr>
              <a:t>Development is complete.  E2E Testing  has started.   Project is on Schedule for 11/11 implementation.</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p>
          <a:p>
            <a:pPr marL="171450" lvl="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E2E Testing Complete</a:t>
            </a:r>
          </a:p>
          <a:p>
            <a:pPr>
              <a:lnSpc>
                <a:spcPct val="150000"/>
              </a:lnSpc>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 panose="020B0604020202020204" pitchFamily="34" charset="0"/>
              <a:buChar char="•"/>
              <a:tabLst>
                <a:tab pos="457200" algn="l"/>
              </a:tabLst>
            </a:pP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UAT</a:t>
            </a:r>
          </a:p>
        </p:txBody>
      </p:sp>
      <p:sp>
        <p:nvSpPr>
          <p:cNvPr id="18" name="TextBox 17">
            <a:extLst>
              <a:ext uri="{FF2B5EF4-FFF2-40B4-BE49-F238E27FC236}">
                <a16:creationId xmlns:a16="http://schemas.microsoft.com/office/drawing/2014/main" id="{052C4B62-6DBF-428C-45A0-2247C0360F70}"/>
              </a:ext>
            </a:extLst>
          </p:cNvPr>
          <p:cNvSpPr txBox="1"/>
          <p:nvPr/>
        </p:nvSpPr>
        <p:spPr>
          <a:xfrm>
            <a:off x="9471000" y="122086"/>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Alex Suarez</a:t>
            </a:r>
          </a:p>
        </p:txBody>
      </p:sp>
      <p:sp>
        <p:nvSpPr>
          <p:cNvPr id="7" name="Flowchart: Connector 6">
            <a:extLst>
              <a:ext uri="{FF2B5EF4-FFF2-40B4-BE49-F238E27FC236}">
                <a16:creationId xmlns:a16="http://schemas.microsoft.com/office/drawing/2014/main" id="{556675C2-CF11-C81E-3552-E8FDFB3541BE}"/>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C87B1842-3324-220F-09F0-42C3C040C015}"/>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6A8EC1E4-C244-AA32-7D35-EE27DAD8AAC0}"/>
              </a:ext>
            </a:extLst>
          </p:cNvPr>
          <p:cNvSpPr/>
          <p:nvPr/>
        </p:nvSpPr>
        <p:spPr>
          <a:xfrm>
            <a:off x="3277814" y="142020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4A6520D7-0FFA-DAB6-84AB-CA69F6F2D7AC}"/>
              </a:ext>
            </a:extLst>
          </p:cNvPr>
          <p:cNvSpPr/>
          <p:nvPr/>
        </p:nvSpPr>
        <p:spPr>
          <a:xfrm>
            <a:off x="5182117"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7D39FF97-617A-9785-8B6A-7A55F7D3729A}"/>
              </a:ext>
            </a:extLst>
          </p:cNvPr>
          <p:cNvSpPr/>
          <p:nvPr/>
        </p:nvSpPr>
        <p:spPr>
          <a:xfrm>
            <a:off x="8135138" y="397241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1436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extLst>
              <p:ext uri="{D42A27DB-BD31-4B8C-83A1-F6EECF244321}">
                <p14:modId xmlns:p14="http://schemas.microsoft.com/office/powerpoint/2010/main" val="3574958467"/>
              </p:ext>
            </p:extLst>
          </p:nvPr>
        </p:nvGraphicFramePr>
        <p:xfrm>
          <a:off x="5570799" y="6272965"/>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0868" y="186479"/>
            <a:ext cx="6937246" cy="517320"/>
          </a:xfrm>
        </p:spPr>
        <p:txBody>
          <a:bodyPr vert="horz">
            <a:noAutofit/>
          </a:bodyPr>
          <a:lstStyle/>
          <a:p>
            <a:r>
              <a:rPr lang="fr-FR" sz="2400" b="1">
                <a:solidFill>
                  <a:srgbClr val="29389F"/>
                </a:solidFill>
                <a:latin typeface="Arial" pitchFamily="34" charset="0"/>
                <a:cs typeface="Arial" pitchFamily="34" charset="0"/>
              </a:rPr>
              <a:t>MPI Pricing Segmentation Sophistication</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3918776733"/>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10/09/2026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1898538577"/>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$179,641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$29,107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$208,748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1514511066"/>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3621798448"/>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9/16/26</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10/14/26 11/11/26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2051275964"/>
              </p:ext>
            </p:extLst>
          </p:nvPr>
        </p:nvGraphicFramePr>
        <p:xfrm>
          <a:off x="5561918" y="1758568"/>
          <a:ext cx="6484606" cy="3642669"/>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0226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74692">
                <a:tc>
                  <a:txBody>
                    <a:bodyPr/>
                    <a:lstStyle/>
                    <a:p>
                      <a:r>
                        <a:rPr lang="en-US" sz="850">
                          <a:latin typeface="+mn-lt"/>
                          <a:cs typeface="Arial" panose="020B0604020202020204" pitchFamily="34" charset="0"/>
                        </a:rPr>
                        <a:t>     Production Release  (R9)</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pPr algn="ctr"/>
                      <a:r>
                        <a:rPr lang="en-US" sz="850">
                          <a:latin typeface="+mn-lt"/>
                          <a:cs typeface="Arial" panose="020B0604020202020204" pitchFamily="34" charset="0"/>
                        </a:rPr>
                        <a:t>9/16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pPr marL="0" lvl="0" indent="0" algn="l">
                        <a:lnSpc>
                          <a:spcPct val="95000"/>
                        </a:lnSpc>
                        <a:spcBef>
                          <a:spcPct val="0"/>
                        </a:spcBef>
                        <a:spcAft>
                          <a:spcPct val="50000"/>
                        </a:spcAft>
                        <a:buNone/>
                      </a:pPr>
                      <a:r>
                        <a:rPr lang="en-US" sz="850" b="0" kern="1200">
                          <a:solidFill>
                            <a:schemeClr val="tx1"/>
                          </a:solidFill>
                          <a:effectLst/>
                          <a:latin typeface="+mn-lt"/>
                          <a:ea typeface="+mn-ea"/>
                          <a:cs typeface="Arial" panose="020B0604020202020204" pitchFamily="34" charset="0"/>
                        </a:rPr>
                        <a:t> </a:t>
                      </a:r>
                      <a:r>
                        <a:rPr lang="en-US" sz="850">
                          <a:latin typeface="+mn-lt"/>
                          <a:cs typeface="Arial" panose="020B0604020202020204" pitchFamily="34" charset="0"/>
                        </a:rPr>
                        <a:t> NV, AK, ND States</a:t>
                      </a:r>
                      <a:endParaRPr lang="en-US" sz="850" b="0" kern="1200">
                        <a:solidFill>
                          <a:schemeClr val="tx1"/>
                        </a:solidFill>
                        <a:effectLst/>
                        <a:latin typeface="+mn-lt"/>
                        <a:ea typeface="+mn-ea"/>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extLst>
                  <a:ext uri="{0D108BD9-81ED-4DB2-BD59-A6C34878D82A}">
                    <a16:rowId xmlns:a16="http://schemas.microsoft.com/office/drawing/2014/main" val="704749405"/>
                  </a:ext>
                </a:extLst>
              </a:tr>
              <a:tr h="318412">
                <a:tc>
                  <a:txBody>
                    <a:bodyPr/>
                    <a:lstStyle/>
                    <a:p>
                      <a:r>
                        <a:rPr lang="en-US" sz="850">
                          <a:latin typeface="+mn-lt"/>
                          <a:cs typeface="Arial" panose="020B0604020202020204" pitchFamily="34" charset="0"/>
                        </a:rPr>
                        <a:t>    Scope Cutoff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pPr algn="ctr"/>
                      <a:r>
                        <a:rPr lang="en-US" sz="850">
                          <a:latin typeface="+mn-lt"/>
                          <a:cs typeface="Arial" panose="020B0604020202020204" pitchFamily="34" charset="0"/>
                        </a:rPr>
                        <a:t>8/26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tc>
                  <a:txBody>
                    <a:bodyPr/>
                    <a:lstStyle/>
                    <a:p>
                      <a:r>
                        <a:rPr lang="en-US" sz="850">
                          <a:latin typeface="+mn-lt"/>
                          <a:cs typeface="Arial" panose="020B0604020202020204" pitchFamily="34" charset="0"/>
                        </a:rPr>
                        <a:t>   Approved States - RI, DC, CT</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D0D3D4"/>
                    </a:solidFill>
                  </a:tcPr>
                </a:tc>
                <a:extLst>
                  <a:ext uri="{0D108BD9-81ED-4DB2-BD59-A6C34878D82A}">
                    <a16:rowId xmlns:a16="http://schemas.microsoft.com/office/drawing/2014/main" val="2535251139"/>
                  </a:ext>
                </a:extLst>
              </a:tr>
              <a:tr h="318412">
                <a:tc>
                  <a:txBody>
                    <a:bodyPr/>
                    <a:lstStyle/>
                    <a:p>
                      <a:r>
                        <a:rPr lang="en-US" sz="850">
                          <a:latin typeface="+mn-lt"/>
                          <a:cs typeface="Arial" panose="020B0604020202020204" pitchFamily="34" charset="0"/>
                        </a:rPr>
                        <a:t>    DDIT Complete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pPr algn="ctr"/>
                      <a:r>
                        <a:rPr lang="en-US" sz="850">
                          <a:latin typeface="+mn-lt"/>
                          <a:cs typeface="Arial" panose="020B0604020202020204" pitchFamily="34" charset="0"/>
                        </a:rPr>
                        <a:t> 9/16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tc>
                  <a:txBody>
                    <a:bodyPr/>
                    <a:lstStyle/>
                    <a:p>
                      <a:r>
                        <a:rPr lang="en-US" sz="850">
                          <a:latin typeface="+mn-lt"/>
                          <a:cs typeface="Arial" panose="020B0604020202020204" pitchFamily="34" charset="0"/>
                        </a:rPr>
                        <a:t>    </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2">
                        <a:lumMod val="90000"/>
                      </a:schemeClr>
                    </a:solidFill>
                  </a:tcPr>
                </a:tc>
                <a:extLst>
                  <a:ext uri="{0D108BD9-81ED-4DB2-BD59-A6C34878D82A}">
                    <a16:rowId xmlns:a16="http://schemas.microsoft.com/office/drawing/2014/main" val="471914335"/>
                  </a:ext>
                </a:extLst>
              </a:tr>
              <a:tr h="318412">
                <a:tc>
                  <a:txBody>
                    <a:bodyPr/>
                    <a:lstStyle/>
                    <a:p>
                      <a:r>
                        <a:rPr lang="en-US" sz="850">
                          <a:latin typeface="+mn-lt"/>
                          <a:cs typeface="Arial" panose="020B0604020202020204" pitchFamily="34" charset="0"/>
                        </a:rPr>
                        <a:t>    E2E Completion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9/22</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4045611235"/>
                  </a:ext>
                </a:extLst>
              </a:tr>
              <a:tr h="318412">
                <a:tc>
                  <a:txBody>
                    <a:bodyPr/>
                    <a:lstStyle/>
                    <a:p>
                      <a:r>
                        <a:rPr lang="en-US" sz="850">
                          <a:latin typeface="+mn-lt"/>
                          <a:cs typeface="Arial" panose="020B0604020202020204" pitchFamily="34" charset="0"/>
                        </a:rPr>
                        <a:t>    Scope Cutoff (R11)</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9/23</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r>
                        <a:rPr lang="en-US" sz="850">
                          <a:latin typeface="+mn-lt"/>
                          <a:cs typeface="Arial" panose="020B0604020202020204" pitchFamily="34" charset="0"/>
                        </a:rPr>
                        <a:t>   Approved State – AL.  Remaining States will defer to 2027 (NJ, PA, SC, ID, ME, CA, WA, NY)</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2608179659"/>
                  </a:ext>
                </a:extLst>
              </a:tr>
              <a:tr h="318412">
                <a:tc>
                  <a:txBody>
                    <a:bodyPr/>
                    <a:lstStyle/>
                    <a:p>
                      <a:r>
                        <a:rPr lang="en-US" sz="850">
                          <a:latin typeface="+mn-lt"/>
                          <a:cs typeface="Arial" panose="020B0604020202020204" pitchFamily="34" charset="0"/>
                        </a:rPr>
                        <a:t>    UAT Completion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algn="ctr"/>
                      <a:r>
                        <a:rPr lang="en-US" sz="850">
                          <a:latin typeface="+mn-lt"/>
                          <a:cs typeface="Arial" panose="020B0604020202020204" pitchFamily="34" charset="0"/>
                        </a:rPr>
                        <a:t>10/2</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2794460780"/>
                  </a:ext>
                </a:extLst>
              </a:tr>
              <a:tr h="318412">
                <a:tc>
                  <a:txBody>
                    <a:bodyPr/>
                    <a:lstStyle/>
                    <a:p>
                      <a:r>
                        <a:rPr lang="en-US" sz="850">
                          <a:latin typeface="+mn-lt"/>
                          <a:cs typeface="Arial" panose="020B0604020202020204" pitchFamily="34" charset="0"/>
                        </a:rPr>
                        <a:t>    Production Release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10/14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24107929"/>
                  </a:ext>
                </a:extLst>
              </a:tr>
              <a:tr h="318412">
                <a:tc>
                  <a:txBody>
                    <a:bodyPr/>
                    <a:lstStyle/>
                    <a:p>
                      <a:r>
                        <a:rPr lang="en-US" sz="850">
                          <a:latin typeface="+mn-lt"/>
                          <a:cs typeface="Arial" panose="020B0604020202020204" pitchFamily="34" charset="0"/>
                        </a:rPr>
                        <a:t>    DDIT Complete (R11)</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10/14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3931614909"/>
                  </a:ext>
                </a:extLst>
              </a:tr>
              <a:tr h="318412">
                <a:tc>
                  <a:txBody>
                    <a:bodyPr/>
                    <a:lstStyle/>
                    <a:p>
                      <a:r>
                        <a:rPr lang="en-US" sz="850">
                          <a:latin typeface="+mn-lt"/>
                          <a:cs typeface="Arial" panose="020B0604020202020204" pitchFamily="34" charset="0"/>
                        </a:rPr>
                        <a:t>    UAT Complete (R11)</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10/30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2780873425"/>
                  </a:ext>
                </a:extLst>
              </a:tr>
              <a:tr h="318412">
                <a:tc>
                  <a:txBody>
                    <a:bodyPr/>
                    <a:lstStyle/>
                    <a:p>
                      <a:r>
                        <a:rPr lang="en-US" sz="850">
                          <a:latin typeface="+mn-lt"/>
                          <a:cs typeface="Arial" panose="020B0604020202020204" pitchFamily="34" charset="0"/>
                        </a:rPr>
                        <a:t>    Production Release (R11)</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algn="ctr"/>
                      <a:r>
                        <a:rPr lang="en-US" sz="850">
                          <a:latin typeface="+mn-lt"/>
                          <a:cs typeface="Arial" panose="020B0604020202020204" pitchFamily="34" charset="0"/>
                        </a:rPr>
                        <a:t>11/11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2698411165"/>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3340631117"/>
              </p:ext>
            </p:extLst>
          </p:nvPr>
        </p:nvGraphicFramePr>
        <p:xfrm>
          <a:off x="5564466" y="5409774"/>
          <a:ext cx="6484607" cy="871186"/>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p>
                      <a:pPr marL="0" marR="0" lvl="0" indent="0" algn="ctr" defTabSz="914400">
                        <a:lnSpc>
                          <a:spcPct val="95000"/>
                        </a:lnSpc>
                        <a:spcBef>
                          <a:spcPct val="0"/>
                        </a:spcBef>
                        <a:spcAft>
                          <a:spcPct val="50000"/>
                        </a:spcAft>
                        <a:buNone/>
                        <a:tabLst/>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3720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124904" y="6377496"/>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3978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1948919"/>
            <a:ext cx="5226187" cy="2436886"/>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a:lnSpc>
                <a:spcPct val="150000"/>
              </a:lnSpc>
              <a:tabLst>
                <a:tab pos="457200" algn="l"/>
              </a:tabLst>
            </a:pPr>
            <a:r>
              <a:rPr lang="en-US" sz="850">
                <a:latin typeface="Aptos" panose="020B0004020202020204" pitchFamily="34" charset="0"/>
                <a:ea typeface="Aptos" panose="020B0004020202020204" pitchFamily="34" charset="0"/>
                <a:cs typeface="Arial"/>
              </a:rPr>
              <a:t>R10 States (Ri, DC, CT) on schedule for 10/14 implementation.  </a:t>
            </a:r>
            <a:endParaRPr lang="en-US" sz="850">
              <a:latin typeface="Aptos" panose="020B0004020202020204" pitchFamily="34" charset="0"/>
              <a:ea typeface="+mn-lt"/>
              <a:cs typeface="+mn-lt"/>
            </a:endParaRP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endParaRPr lang="en-US" sz="850" b="1">
              <a:latin typeface="Aptos" panose="020B0004020202020204" pitchFamily="34" charset="0"/>
              <a:ea typeface="Aptos" panose="020B0004020202020204" pitchFamily="34" charset="0"/>
              <a:cs typeface="Arial"/>
            </a:endParaRP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Estimation for 2027 Deferred States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R10 STG Validation</a:t>
            </a:r>
          </a:p>
          <a:p>
            <a:pPr marL="171450" indent="-171450">
              <a:lnSpc>
                <a:spcPct val="150000"/>
              </a:lnSpc>
              <a:buFont typeface="Arial" panose="020B0604020202020204" pitchFamily="34" charset="0"/>
              <a:buChar char="•"/>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R10 Production Release</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R11 DDIT Complete</a:t>
            </a:r>
          </a:p>
          <a:p>
            <a:pPr>
              <a:lnSpc>
                <a:spcPct val="150000"/>
              </a:lnSpc>
              <a:tabLst>
                <a:tab pos="457200" algn="l"/>
              </a:tabLst>
            </a:pPr>
            <a:endParaRPr lang="en-US" sz="900">
              <a:ea typeface="Aptos" panose="020B0004020202020204" pitchFamily="34" charset="0"/>
              <a:cs typeface="Arial"/>
            </a:endParaRPr>
          </a:p>
        </p:txBody>
      </p:sp>
      <p:sp>
        <p:nvSpPr>
          <p:cNvPr id="18" name="TextBox 17">
            <a:extLst>
              <a:ext uri="{FF2B5EF4-FFF2-40B4-BE49-F238E27FC236}">
                <a16:creationId xmlns:a16="http://schemas.microsoft.com/office/drawing/2014/main" id="{21D33B76-9480-B3DD-5A56-0F37DB3D8563}"/>
              </a:ext>
            </a:extLst>
          </p:cNvPr>
          <p:cNvSpPr txBox="1"/>
          <p:nvPr/>
        </p:nvSpPr>
        <p:spPr>
          <a:xfrm>
            <a:off x="9370344" y="76867"/>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Alex Suarez</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AA105E7-DD05-B9EE-F65B-728B46AAED1A}"/>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CF4B2F9F-7ACE-ED0F-A856-0547C67299F9}"/>
              </a:ext>
            </a:extLst>
          </p:cNvPr>
          <p:cNvSpPr/>
          <p:nvPr/>
        </p:nvSpPr>
        <p:spPr>
          <a:xfrm>
            <a:off x="3261036" y="140342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15C7DB62-80BB-76F5-17D8-58C5DC9AF39C}"/>
              </a:ext>
            </a:extLst>
          </p:cNvPr>
          <p:cNvSpPr/>
          <p:nvPr/>
        </p:nvSpPr>
        <p:spPr>
          <a:xfrm>
            <a:off x="5207284" y="140342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AF632341-BEDB-4FB4-0F96-E92B92A0ED12}"/>
              </a:ext>
            </a:extLst>
          </p:cNvPr>
          <p:cNvSpPr/>
          <p:nvPr/>
        </p:nvSpPr>
        <p:spPr>
          <a:xfrm>
            <a:off x="8108590" y="421262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BA7861A5-1161-8E55-CFEC-6987224B8F6D}"/>
              </a:ext>
            </a:extLst>
          </p:cNvPr>
          <p:cNvSpPr/>
          <p:nvPr/>
        </p:nvSpPr>
        <p:spPr>
          <a:xfrm>
            <a:off x="8133990" y="452377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0499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AC32-B2C7-426A-D9D9-9D65385819C7}"/>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FE262B5-A834-F588-368F-8755BB5355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FE262B5-A834-F588-368F-8755BB5355C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BCAC624A-5019-20FF-5352-65CD54B94F48}"/>
              </a:ext>
            </a:extLst>
          </p:cNvPr>
          <p:cNvGraphicFramePr>
            <a:graphicFrameLocks noGrp="1"/>
          </p:cNvGraphicFramePr>
          <p:nvPr>
            <p:extLst>
              <p:ext uri="{D42A27DB-BD31-4B8C-83A1-F6EECF244321}">
                <p14:modId xmlns:p14="http://schemas.microsoft.com/office/powerpoint/2010/main" val="1113075003"/>
              </p:ext>
            </p:extLst>
          </p:nvPr>
        </p:nvGraphicFramePr>
        <p:xfrm>
          <a:off x="4854768" y="6512773"/>
          <a:ext cx="7136845" cy="310524"/>
        </p:xfrm>
        <a:graphic>
          <a:graphicData uri="http://schemas.openxmlformats.org/drawingml/2006/table">
            <a:tbl>
              <a:tblPr/>
              <a:tblGrid>
                <a:gridCol w="606423">
                  <a:extLst>
                    <a:ext uri="{9D8B030D-6E8A-4147-A177-3AD203B41FA5}">
                      <a16:colId xmlns:a16="http://schemas.microsoft.com/office/drawing/2014/main" val="20000"/>
                    </a:ext>
                  </a:extLst>
                </a:gridCol>
                <a:gridCol w="307359">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29920">
                  <a:extLst>
                    <a:ext uri="{9D8B030D-6E8A-4147-A177-3AD203B41FA5}">
                      <a16:colId xmlns:a16="http://schemas.microsoft.com/office/drawing/2014/main" val="20004"/>
                    </a:ext>
                  </a:extLst>
                </a:gridCol>
                <a:gridCol w="451955">
                  <a:extLst>
                    <a:ext uri="{9D8B030D-6E8A-4147-A177-3AD203B41FA5}">
                      <a16:colId xmlns:a16="http://schemas.microsoft.com/office/drawing/2014/main" val="20005"/>
                    </a:ext>
                  </a:extLst>
                </a:gridCol>
                <a:gridCol w="518159">
                  <a:extLst>
                    <a:ext uri="{9D8B030D-6E8A-4147-A177-3AD203B41FA5}">
                      <a16:colId xmlns:a16="http://schemas.microsoft.com/office/drawing/2014/main" val="20006"/>
                    </a:ext>
                  </a:extLst>
                </a:gridCol>
                <a:gridCol w="520756">
                  <a:extLst>
                    <a:ext uri="{9D8B030D-6E8A-4147-A177-3AD203B41FA5}">
                      <a16:colId xmlns:a16="http://schemas.microsoft.com/office/drawing/2014/main" val="20007"/>
                    </a:ext>
                  </a:extLst>
                </a:gridCol>
                <a:gridCol w="1372002">
                  <a:extLst>
                    <a:ext uri="{9D8B030D-6E8A-4147-A177-3AD203B41FA5}">
                      <a16:colId xmlns:a16="http://schemas.microsoft.com/office/drawing/2014/main" val="20008"/>
                    </a:ext>
                  </a:extLst>
                </a:gridCol>
                <a:gridCol w="378210">
                  <a:extLst>
                    <a:ext uri="{9D8B030D-6E8A-4147-A177-3AD203B41FA5}">
                      <a16:colId xmlns:a16="http://schemas.microsoft.com/office/drawing/2014/main" val="20009"/>
                    </a:ext>
                  </a:extLst>
                </a:gridCol>
                <a:gridCol w="1291665">
                  <a:extLst>
                    <a:ext uri="{9D8B030D-6E8A-4147-A177-3AD203B41FA5}">
                      <a16:colId xmlns:a16="http://schemas.microsoft.com/office/drawing/2014/main" val="20010"/>
                    </a:ext>
                  </a:extLst>
                </a:gridCol>
              </a:tblGrid>
              <a:tr h="2983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E4A78B5-B103-8BCE-55D1-052B3A8C7486}"/>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Enhancement for Commission Reporting  - Internal Batch </a:t>
            </a:r>
          </a:p>
        </p:txBody>
      </p:sp>
      <p:graphicFrame>
        <p:nvGraphicFramePr>
          <p:cNvPr id="11" name="Group 513">
            <a:extLst>
              <a:ext uri="{FF2B5EF4-FFF2-40B4-BE49-F238E27FC236}">
                <a16:creationId xmlns:a16="http://schemas.microsoft.com/office/drawing/2014/main" id="{01DD775B-B1B3-036E-DAB4-1B32940EDE22}"/>
              </a:ext>
            </a:extLst>
          </p:cNvPr>
          <p:cNvGraphicFramePr>
            <a:graphicFrameLocks noGrp="1"/>
          </p:cNvGraphicFramePr>
          <p:nvPr>
            <p:extLst>
              <p:ext uri="{D42A27DB-BD31-4B8C-83A1-F6EECF244321}">
                <p14:modId xmlns:p14="http://schemas.microsoft.com/office/powerpoint/2010/main" val="405340687"/>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10/09/26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93E8E5E-A5C1-A064-9CB0-A0F5957D802C}"/>
              </a:ext>
            </a:extLst>
          </p:cNvPr>
          <p:cNvGraphicFramePr>
            <a:graphicFrameLocks noGrp="1"/>
          </p:cNvGraphicFramePr>
          <p:nvPr>
            <p:extLst>
              <p:ext uri="{D42A27DB-BD31-4B8C-83A1-F6EECF244321}">
                <p14:modId xmlns:p14="http://schemas.microsoft.com/office/powerpoint/2010/main" val="3739077341"/>
              </p:ext>
            </p:extLst>
          </p:nvPr>
        </p:nvGraphicFramePr>
        <p:xfrm>
          <a:off x="6640300" y="920667"/>
          <a:ext cx="5352360" cy="815926"/>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43264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$ 15,256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$101.387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$ 74,140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$116,643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A0774F42-96D1-B9EE-BDCE-6C1306AC6C5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9F8DEDD-1245-5179-3CAC-D00536CA6F90}"/>
              </a:ext>
            </a:extLst>
          </p:cNvPr>
          <p:cNvGraphicFramePr>
            <a:graphicFrameLocks noGrp="1"/>
          </p:cNvGraphicFramePr>
          <p:nvPr>
            <p:extLst>
              <p:ext uri="{D42A27DB-BD31-4B8C-83A1-F6EECF244321}">
                <p14:modId xmlns:p14="http://schemas.microsoft.com/office/powerpoint/2010/main" val="2767085962"/>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sngStrike" kern="1200" cap="none" normalizeH="0" baseline="0">
                          <a:ln>
                            <a:noFill/>
                          </a:ln>
                          <a:solidFill>
                            <a:schemeClr val="tx1"/>
                          </a:solidFill>
                          <a:effectLst/>
                          <a:latin typeface="Aptos" panose="020B0004020202020204" pitchFamily="34" charset="0"/>
                          <a:ea typeface="+mn-ea"/>
                          <a:cs typeface="+mn-cs"/>
                        </a:rPr>
                        <a:t>9/30/2026</a:t>
                      </a:r>
                    </a:p>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01/22/2027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19C021D-B279-86D1-6CE6-1F1F4F6FAFCB}"/>
              </a:ext>
            </a:extLst>
          </p:cNvPr>
          <p:cNvGraphicFramePr>
            <a:graphicFrameLocks noGrp="1"/>
          </p:cNvGraphicFramePr>
          <p:nvPr>
            <p:extLst>
              <p:ext uri="{D42A27DB-BD31-4B8C-83A1-F6EECF244321}">
                <p14:modId xmlns:p14="http://schemas.microsoft.com/office/powerpoint/2010/main" val="1157646810"/>
              </p:ext>
            </p:extLst>
          </p:nvPr>
        </p:nvGraphicFramePr>
        <p:xfrm>
          <a:off x="4854769" y="1696099"/>
          <a:ext cx="7137891" cy="3489926"/>
        </p:xfrm>
        <a:graphic>
          <a:graphicData uri="http://schemas.openxmlformats.org/drawingml/2006/table">
            <a:tbl>
              <a:tblPr>
                <a:tableStyleId>{5C22544A-7EE6-4342-B048-85BDC9FD1C3A}</a:tableStyleId>
              </a:tblPr>
              <a:tblGrid>
                <a:gridCol w="2546155">
                  <a:extLst>
                    <a:ext uri="{9D8B030D-6E8A-4147-A177-3AD203B41FA5}">
                      <a16:colId xmlns:a16="http://schemas.microsoft.com/office/drawing/2014/main" val="2456552316"/>
                    </a:ext>
                  </a:extLst>
                </a:gridCol>
                <a:gridCol w="458555">
                  <a:extLst>
                    <a:ext uri="{9D8B030D-6E8A-4147-A177-3AD203B41FA5}">
                      <a16:colId xmlns:a16="http://schemas.microsoft.com/office/drawing/2014/main" val="1100051595"/>
                    </a:ext>
                  </a:extLst>
                </a:gridCol>
                <a:gridCol w="428519">
                  <a:extLst>
                    <a:ext uri="{9D8B030D-6E8A-4147-A177-3AD203B41FA5}">
                      <a16:colId xmlns:a16="http://schemas.microsoft.com/office/drawing/2014/main" val="2042261034"/>
                    </a:ext>
                  </a:extLst>
                </a:gridCol>
                <a:gridCol w="3704662">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3/31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3/31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4/14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strike="noStrike">
                          <a:latin typeface="Aptos" panose="020B0004020202020204" pitchFamily="34" charset="0"/>
                        </a:rPr>
                        <a:t>8/17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8/20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11469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8/26</a:t>
                      </a:r>
                    </a:p>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Aptos" panose="020B0004020202020204" pitchFamily="34" charset="0"/>
                        </a:rPr>
                        <a:t>10/23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Build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50">
                        <a:latin typeface="Aptos" panose="020B0004020202020204" pitchFamily="34" charset="0"/>
                      </a:endParaRP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01/08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01/22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427973"/>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F3CDB105-699B-1CD3-CB09-22FD2C29BC95}"/>
              </a:ext>
            </a:extLst>
          </p:cNvPr>
          <p:cNvGraphicFramePr>
            <a:graphicFrameLocks noGrp="1"/>
          </p:cNvGraphicFramePr>
          <p:nvPr>
            <p:extLst>
              <p:ext uri="{D42A27DB-BD31-4B8C-83A1-F6EECF244321}">
                <p14:modId xmlns:p14="http://schemas.microsoft.com/office/powerpoint/2010/main" val="3768777072"/>
              </p:ext>
            </p:extLst>
          </p:nvPr>
        </p:nvGraphicFramePr>
        <p:xfrm>
          <a:off x="4854768" y="5248513"/>
          <a:ext cx="7136859" cy="1156833"/>
        </p:xfrm>
        <a:graphic>
          <a:graphicData uri="http://schemas.openxmlformats.org/drawingml/2006/table">
            <a:tbl>
              <a:tblPr>
                <a:tableStyleId>{5C22544A-7EE6-4342-B048-85BDC9FD1C3A}</a:tableStyleId>
              </a:tblPr>
              <a:tblGrid>
                <a:gridCol w="2560915">
                  <a:extLst>
                    <a:ext uri="{9D8B030D-6E8A-4147-A177-3AD203B41FA5}">
                      <a16:colId xmlns:a16="http://schemas.microsoft.com/office/drawing/2014/main" val="2456552316"/>
                    </a:ext>
                  </a:extLst>
                </a:gridCol>
                <a:gridCol w="462224">
                  <a:extLst>
                    <a:ext uri="{9D8B030D-6E8A-4147-A177-3AD203B41FA5}">
                      <a16:colId xmlns:a16="http://schemas.microsoft.com/office/drawing/2014/main" val="1100051595"/>
                    </a:ext>
                  </a:extLst>
                </a:gridCol>
                <a:gridCol w="482321">
                  <a:extLst>
                    <a:ext uri="{9D8B030D-6E8A-4147-A177-3AD203B41FA5}">
                      <a16:colId xmlns:a16="http://schemas.microsoft.com/office/drawing/2014/main" val="2042261034"/>
                    </a:ext>
                  </a:extLst>
                </a:gridCol>
                <a:gridCol w="3631399">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800" b="1" i="0" u="none" strike="noStrike" kern="1200" cap="none" normalizeH="0" baseline="0">
                          <a:ln>
                            <a:noFill/>
                          </a:ln>
                          <a:solidFill>
                            <a:schemeClr val="bg1"/>
                          </a:solidFill>
                          <a:effectLst/>
                          <a:latin typeface="Arial"/>
                          <a:ea typeface="+mn-ea"/>
                          <a:cs typeface="+mn-cs"/>
                        </a:rPr>
                        <a:t>Critical Risks/Issues</a:t>
                      </a:r>
                      <a:endParaRPr kumimoji="0" lang="en-US" sz="80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80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0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800" b="1" i="0" u="none" strike="noStrike" kern="1200" cap="none" normalizeH="0" baseline="0">
                          <a:ln>
                            <a:noFill/>
                          </a:ln>
                          <a:solidFill>
                            <a:schemeClr val="bg1"/>
                          </a:solidFill>
                          <a:effectLst/>
                          <a:latin typeface="Arial"/>
                          <a:ea typeface="+mn-ea"/>
                          <a:cs typeface="+mn-cs"/>
                        </a:rPr>
                        <a:t> </a:t>
                      </a:r>
                      <a:r>
                        <a:rPr kumimoji="0" lang="en-US" sz="800" b="1" i="0" u="none" strike="noStrike" kern="1200" cap="none" normalizeH="0" baseline="0">
                          <a:ln>
                            <a:noFill/>
                          </a:ln>
                          <a:solidFill>
                            <a:schemeClr val="bg1"/>
                          </a:solidFill>
                          <a:effectLst/>
                          <a:latin typeface="Arial"/>
                          <a:ea typeface="+mn-ea"/>
                          <a:cs typeface="+mn-cs"/>
                        </a:rPr>
                        <a:t>Resolution / Mitigation</a:t>
                      </a:r>
                      <a:endParaRPr kumimoji="0" lang="en-US" sz="8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With current priorities of AT line the work is not progressing as planned but the target date is expected to move to Feb 2027</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02/14</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Working with the team to free up any bandwidth and deliver by Nov 2026</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The Original budget assigned is 60K how ever with the final estimations provided by the team the estimations went up to 92K</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4404175"/>
                  </a:ext>
                </a:extLst>
              </a:tr>
            </a:tbl>
          </a:graphicData>
        </a:graphic>
      </p:graphicFrame>
      <p:sp>
        <p:nvSpPr>
          <p:cNvPr id="33" name="Flowchart: Connector 32">
            <a:extLst>
              <a:ext uri="{FF2B5EF4-FFF2-40B4-BE49-F238E27FC236}">
                <a16:creationId xmlns:a16="http://schemas.microsoft.com/office/drawing/2014/main" id="{197364A5-1456-3339-5770-00DD07B78FFF}"/>
              </a:ext>
            </a:extLst>
          </p:cNvPr>
          <p:cNvSpPr/>
          <p:nvPr/>
        </p:nvSpPr>
        <p:spPr>
          <a:xfrm>
            <a:off x="6640300" y="65916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E95253F7-1B08-045D-A956-3455B641660F}"/>
              </a:ext>
            </a:extLst>
          </p:cNvPr>
          <p:cNvSpPr/>
          <p:nvPr/>
        </p:nvSpPr>
        <p:spPr>
          <a:xfrm>
            <a:off x="7671458" y="659161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61667447-E467-23BA-6295-34DEC15F1DD4}"/>
              </a:ext>
            </a:extLst>
          </p:cNvPr>
          <p:cNvSpPr/>
          <p:nvPr/>
        </p:nvSpPr>
        <p:spPr>
          <a:xfrm>
            <a:off x="7577945" y="60896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4E3060FA-6BFB-0071-BEAB-1C0BA4CE47BD}"/>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8D81D393-AB09-A717-CB22-2D83664B4E9F}"/>
              </a:ext>
            </a:extLst>
          </p:cNvPr>
          <p:cNvSpPr txBox="1"/>
          <p:nvPr/>
        </p:nvSpPr>
        <p:spPr>
          <a:xfrm>
            <a:off x="129204" y="2873105"/>
            <a:ext cx="4743293" cy="310399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estimation and scope to be finalized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Had discussion the Scope, need to summarize the scope with Sastry and Ronda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Had technical discussion with Tech arch on the solution and Scope. Have follow up call  on  7/20 to finalize the technical design.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discussion was complete and high level solution yet to come scheduled on 7/29.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finalization in process.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Technical design in process Schedule from the line pending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call scheduled on Aug 26</a:t>
            </a:r>
            <a:r>
              <a:rPr lang="en-US" sz="850" kern="100" baseline="30000">
                <a:solidFill>
                  <a:prstClr val="black"/>
                </a:solidFill>
                <a:latin typeface="Aptos" panose="020B0004020202020204" pitchFamily="34" charset="0"/>
                <a:cs typeface="Times New Roman"/>
              </a:rPr>
              <a:t>th</a:t>
            </a:r>
            <a:r>
              <a:rPr lang="en-US" sz="850" kern="100">
                <a:solidFill>
                  <a:prstClr val="black"/>
                </a:solidFill>
                <a:latin typeface="Aptos" panose="020B0004020202020204" pitchFamily="34" charset="0"/>
                <a:cs typeface="Times New Roman"/>
              </a:rPr>
              <a:t>  - Complete</a:t>
            </a:r>
          </a:p>
          <a:p>
            <a:pPr marL="171450" lvl="1" indent="-171450">
              <a:lnSpc>
                <a:spcPct val="114999"/>
              </a:lnSpc>
              <a:spcBef>
                <a:spcPts val="200"/>
              </a:spcBef>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Scope Finalized </a:t>
            </a:r>
            <a:r>
              <a:rPr lang="en-US" sz="850" kern="100">
                <a:solidFill>
                  <a:prstClr val="black"/>
                </a:solidFill>
                <a:latin typeface="Aptos" panose="020B0004020202020204" pitchFamily="34" charset="0"/>
                <a:cs typeface="Times New Roman"/>
              </a:rPr>
              <a:t>- Complete</a:t>
            </a:r>
          </a:p>
          <a:p>
            <a:pPr marL="0" lvl="1">
              <a:lnSpc>
                <a:spcPct val="114999"/>
              </a:lnSpc>
              <a:spcBef>
                <a:spcPts val="200"/>
              </a:spcBef>
              <a:buSzPts val="1000"/>
              <a:tabLst>
                <a:tab pos="457200" algn="l"/>
              </a:tabLst>
              <a:defRPr/>
            </a:pPr>
            <a:r>
              <a:rPr lang="en-US" sz="850" b="1" kern="100">
                <a:solidFill>
                  <a:prstClr val="black"/>
                </a:solidFill>
                <a:latin typeface="Aptos" panose="020B0004020202020204" pitchFamily="34" charset="0"/>
                <a:cs typeface="Times New Roman"/>
              </a:rPr>
              <a:t>Next Steps:</a:t>
            </a:r>
          </a:p>
          <a:p>
            <a:pPr marL="171450" lvl="1"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Plan to be finalized by the team – Complete</a:t>
            </a:r>
          </a:p>
          <a:p>
            <a:pPr marL="171450" lvl="1"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E2E design in progress and expected to complete by 10/23</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592E208F-0564-DAEF-75C3-6D581879A9FF}"/>
              </a:ext>
            </a:extLst>
          </p:cNvPr>
          <p:cNvSpPr txBox="1"/>
          <p:nvPr/>
        </p:nvSpPr>
        <p:spPr>
          <a:xfrm>
            <a:off x="9492974" y="227718"/>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4" name="Flowchart: Connector 3">
            <a:extLst>
              <a:ext uri="{FF2B5EF4-FFF2-40B4-BE49-F238E27FC236}">
                <a16:creationId xmlns:a16="http://schemas.microsoft.com/office/drawing/2014/main" id="{63400A2B-A1D4-3C66-1B9A-279C6DD3F084}"/>
              </a:ext>
            </a:extLst>
          </p:cNvPr>
          <p:cNvSpPr/>
          <p:nvPr/>
        </p:nvSpPr>
        <p:spPr>
          <a:xfrm>
            <a:off x="327889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lowchart: Connector 12">
            <a:extLst>
              <a:ext uri="{FF2B5EF4-FFF2-40B4-BE49-F238E27FC236}">
                <a16:creationId xmlns:a16="http://schemas.microsoft.com/office/drawing/2014/main" id="{0149B957-08BB-81EC-5214-772F6D7A43D5}"/>
              </a:ext>
            </a:extLst>
          </p:cNvPr>
          <p:cNvSpPr/>
          <p:nvPr/>
        </p:nvSpPr>
        <p:spPr>
          <a:xfrm>
            <a:off x="4234537"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626AF709-8257-BD01-688B-5D08FE34BE71}"/>
              </a:ext>
            </a:extLst>
          </p:cNvPr>
          <p:cNvSpPr txBox="1"/>
          <p:nvPr/>
        </p:nvSpPr>
        <p:spPr>
          <a:xfrm>
            <a:off x="236743" y="1822852"/>
            <a:ext cx="4743293" cy="91159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Scope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rPr>
              <a:t>There were 3 reports identified which will be converted from BO to Power BI.</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110004020202020204"/>
                <a:ea typeface="Aptos" panose="020B0004020202020204" pitchFamily="34" charset="0"/>
                <a:cs typeface="Times New Roman"/>
              </a:rPr>
              <a:t>The underlying data from oracle also need to be moved to Snowflake</a:t>
            </a:r>
          </a:p>
          <a:p>
            <a:pPr marL="171450" indent="-171450">
              <a:lnSpc>
                <a:spcPct val="114999"/>
              </a:lnSpc>
              <a:spcBef>
                <a:spcPts val="200"/>
              </a:spcBef>
              <a:buSzPts val="1000"/>
              <a:buFont typeface="Arial" panose="020B0604020202020204" pitchFamily="34" charset="0"/>
              <a:buChar char="•"/>
              <a:tabLst>
                <a:tab pos="457200" algn="l"/>
              </a:tabLst>
              <a:defRPr/>
            </a:pPr>
            <a:r>
              <a:rPr kumimoji="0" lang="en-US" sz="85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rPr>
              <a:t>Reports to be converted are </a:t>
            </a:r>
            <a:r>
              <a:rPr lang="en-US" sz="850" kern="100">
                <a:solidFill>
                  <a:prstClr val="black"/>
                </a:solidFill>
                <a:latin typeface="Aptos" panose="02110004020202020204"/>
                <a:cs typeface="Times New Roman"/>
              </a:rPr>
              <a:t>SA4070, SA4072, and SA4073</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8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8" name="Flowchart: Connector 7">
            <a:extLst>
              <a:ext uri="{FF2B5EF4-FFF2-40B4-BE49-F238E27FC236}">
                <a16:creationId xmlns:a16="http://schemas.microsoft.com/office/drawing/2014/main" id="{BD41D7EF-593B-27C8-D4B7-61CCFA0C6206}"/>
              </a:ext>
            </a:extLst>
          </p:cNvPr>
          <p:cNvSpPr/>
          <p:nvPr/>
        </p:nvSpPr>
        <p:spPr>
          <a:xfrm>
            <a:off x="7558074" y="352175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11CBDF5A-0A1F-532C-614B-D17270764FC5}"/>
              </a:ext>
            </a:extLst>
          </p:cNvPr>
          <p:cNvSpPr/>
          <p:nvPr/>
        </p:nvSpPr>
        <p:spPr>
          <a:xfrm>
            <a:off x="7556665" y="56623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lowchart: Connector 16">
            <a:extLst>
              <a:ext uri="{FF2B5EF4-FFF2-40B4-BE49-F238E27FC236}">
                <a16:creationId xmlns:a16="http://schemas.microsoft.com/office/drawing/2014/main" id="{24BECD34-5DB8-AC1B-D2A4-E604A8608C04}"/>
              </a:ext>
            </a:extLst>
          </p:cNvPr>
          <p:cNvSpPr/>
          <p:nvPr/>
        </p:nvSpPr>
        <p:spPr>
          <a:xfrm>
            <a:off x="8572519" y="658573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919A66CA-F914-2F97-4B07-CCD4C916FF16}"/>
              </a:ext>
            </a:extLst>
          </p:cNvPr>
          <p:cNvSpPr/>
          <p:nvPr/>
        </p:nvSpPr>
        <p:spPr>
          <a:xfrm>
            <a:off x="5146068" y="142408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176B9F9D-422E-6769-8312-78425ADC7D74}"/>
              </a:ext>
            </a:extLst>
          </p:cNvPr>
          <p:cNvSpPr/>
          <p:nvPr/>
        </p:nvSpPr>
        <p:spPr>
          <a:xfrm>
            <a:off x="7556664" y="38495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9914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E139-A422-0991-1D0F-3EA270BCE5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244F588-6BED-5E7A-FC71-DAE8C836A0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244F588-6BED-5E7A-FC71-DAE8C836A03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261A4C9-0484-DAA3-3F80-1C0C7F2FA020}"/>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EE4D2CF8-90BF-D114-E7CA-25FC26E0C114}"/>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2026 GIN Updates</a:t>
            </a:r>
          </a:p>
        </p:txBody>
      </p:sp>
      <p:graphicFrame>
        <p:nvGraphicFramePr>
          <p:cNvPr id="11" name="Group 513">
            <a:extLst>
              <a:ext uri="{FF2B5EF4-FFF2-40B4-BE49-F238E27FC236}">
                <a16:creationId xmlns:a16="http://schemas.microsoft.com/office/drawing/2014/main" id="{A2B52C97-D713-F7E7-DCA4-315AE9BAAF69}"/>
              </a:ext>
            </a:extLst>
          </p:cNvPr>
          <p:cNvGraphicFramePr>
            <a:graphicFrameLocks noGrp="1"/>
          </p:cNvGraphicFramePr>
          <p:nvPr>
            <p:extLst>
              <p:ext uri="{D42A27DB-BD31-4B8C-83A1-F6EECF244321}">
                <p14:modId xmlns:p14="http://schemas.microsoft.com/office/powerpoint/2010/main" val="2859221306"/>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10/09/26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BECC696-9559-0D2E-4DE1-6A78DAC4FE0A}"/>
              </a:ext>
            </a:extLst>
          </p:cNvPr>
          <p:cNvGraphicFramePr>
            <a:graphicFrameLocks noGrp="1"/>
          </p:cNvGraphicFramePr>
          <p:nvPr>
            <p:extLst>
              <p:ext uri="{D42A27DB-BD31-4B8C-83A1-F6EECF244321}">
                <p14:modId xmlns:p14="http://schemas.microsoft.com/office/powerpoint/2010/main" val="3747356196"/>
              </p:ext>
            </p:extLst>
          </p:nvPr>
        </p:nvGraphicFramePr>
        <p:xfrm>
          <a:off x="6653182" y="927650"/>
          <a:ext cx="5456112" cy="749848"/>
        </p:xfrm>
        <a:graphic>
          <a:graphicData uri="http://schemas.openxmlformats.org/drawingml/2006/table">
            <a:tbl>
              <a:tblPr>
                <a:tableStyleId>{5C22544A-7EE6-4342-B048-85BDC9FD1C3A}</a:tableStyleId>
              </a:tblPr>
              <a:tblGrid>
                <a:gridCol w="1065600">
                  <a:extLst>
                    <a:ext uri="{9D8B030D-6E8A-4147-A177-3AD203B41FA5}">
                      <a16:colId xmlns:a16="http://schemas.microsoft.com/office/drawing/2014/main" val="2456552316"/>
                    </a:ext>
                  </a:extLst>
                </a:gridCol>
                <a:gridCol w="944471">
                  <a:extLst>
                    <a:ext uri="{9D8B030D-6E8A-4147-A177-3AD203B41FA5}">
                      <a16:colId xmlns:a16="http://schemas.microsoft.com/office/drawing/2014/main" val="2327174630"/>
                    </a:ext>
                  </a:extLst>
                </a:gridCol>
                <a:gridCol w="1544337">
                  <a:extLst>
                    <a:ext uri="{9D8B030D-6E8A-4147-A177-3AD203B41FA5}">
                      <a16:colId xmlns:a16="http://schemas.microsoft.com/office/drawing/2014/main" val="1100051595"/>
                    </a:ext>
                  </a:extLst>
                </a:gridCol>
                <a:gridCol w="931708">
                  <a:extLst>
                    <a:ext uri="{9D8B030D-6E8A-4147-A177-3AD203B41FA5}">
                      <a16:colId xmlns:a16="http://schemas.microsoft.com/office/drawing/2014/main" val="2042261034"/>
                    </a:ext>
                  </a:extLst>
                </a:gridCol>
                <a:gridCol w="969996">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$163,800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$ 71,720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$177,103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2B55725D-37B7-AA5A-2756-6727E084A5B7}"/>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572FAB9-5703-54DC-E8A5-8C8838476206}"/>
              </a:ext>
            </a:extLst>
          </p:cNvPr>
          <p:cNvGraphicFramePr>
            <a:graphicFrameLocks noGrp="1"/>
          </p:cNvGraphicFramePr>
          <p:nvPr>
            <p:extLst>
              <p:ext uri="{D42A27DB-BD31-4B8C-83A1-F6EECF244321}">
                <p14:modId xmlns:p14="http://schemas.microsoft.com/office/powerpoint/2010/main" val="426144279"/>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11/11/2026</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700" b="1" strike="sngStrike">
                        <a:solidFill>
                          <a:schemeClr val="tx1"/>
                        </a:solidFill>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90249238-BC97-21B4-21E4-8C36E7E5BF0F}"/>
              </a:ext>
            </a:extLst>
          </p:cNvPr>
          <p:cNvGraphicFramePr>
            <a:graphicFrameLocks noGrp="1"/>
          </p:cNvGraphicFramePr>
          <p:nvPr>
            <p:extLst>
              <p:ext uri="{D42A27DB-BD31-4B8C-83A1-F6EECF244321}">
                <p14:modId xmlns:p14="http://schemas.microsoft.com/office/powerpoint/2010/main" val="1005027996"/>
              </p:ext>
            </p:extLst>
          </p:nvPr>
        </p:nvGraphicFramePr>
        <p:xfrm>
          <a:off x="4854769" y="1696099"/>
          <a:ext cx="7269724" cy="3141672"/>
        </p:xfrm>
        <a:graphic>
          <a:graphicData uri="http://schemas.openxmlformats.org/drawingml/2006/table">
            <a:tbl>
              <a:tblPr>
                <a:tableStyleId>{5C22544A-7EE6-4342-B048-85BDC9FD1C3A}</a:tableStyleId>
              </a:tblPr>
              <a:tblGrid>
                <a:gridCol w="2593181">
                  <a:extLst>
                    <a:ext uri="{9D8B030D-6E8A-4147-A177-3AD203B41FA5}">
                      <a16:colId xmlns:a16="http://schemas.microsoft.com/office/drawing/2014/main" val="2456552316"/>
                    </a:ext>
                  </a:extLst>
                </a:gridCol>
                <a:gridCol w="467024">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mn-lt"/>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algn="l" fontAlgn="b">
                        <a:buNone/>
                      </a:pPr>
                      <a:r>
                        <a:rPr lang="en-US" sz="850" b="0" i="0" u="none" strike="noStrike">
                          <a:solidFill>
                            <a:srgbClr val="000000"/>
                          </a:solidFill>
                          <a:effectLst/>
                          <a:latin typeface="Aptos" panose="020B0004020202020204" pitchFamily="34" charset="0"/>
                        </a:rPr>
                        <a:t>Guidewire Request &amp; Package Receipt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09/15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algn="l" fontAlgn="b">
                        <a:buNone/>
                      </a:pPr>
                      <a:r>
                        <a:rPr lang="en-US" sz="850" b="0" i="0" u="none" strike="noStrike">
                          <a:solidFill>
                            <a:srgbClr val="000000"/>
                          </a:solidFill>
                          <a:effectLst/>
                          <a:latin typeface="Aptos" panose="020B0004020202020204" pitchFamily="34" charset="0"/>
                        </a:rPr>
                        <a:t>Impact Assessment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09/18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algn="l" fontAlgn="b">
                        <a:buNone/>
                      </a:pPr>
                      <a:r>
                        <a:rPr lang="en-US" sz="850" b="0" i="0" u="none" strike="noStrike">
                          <a:solidFill>
                            <a:srgbClr val="000000"/>
                          </a:solidFill>
                          <a:effectLst/>
                          <a:latin typeface="Aptos" panose="020B0004020202020204" pitchFamily="34" charset="0"/>
                        </a:rPr>
                        <a:t>Solution Design Review</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09/18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algn="l" fontAlgn="b">
                        <a:buNone/>
                      </a:pPr>
                      <a:r>
                        <a:rPr lang="en-US" sz="850" b="0" i="0" u="none" strike="noStrike">
                          <a:solidFill>
                            <a:srgbClr val="000000"/>
                          </a:solidFill>
                          <a:effectLst/>
                          <a:latin typeface="Aptos" panose="020B0004020202020204" pitchFamily="34" charset="0"/>
                        </a:rPr>
                        <a:t>Branch Creation &amp; Integration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10/01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Aptos" panose="020B0004020202020204" pitchFamily="34" charset="0"/>
                          <a:cs typeface="Times New Roman"/>
                        </a:rPr>
                        <a:t>SS team is working on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algn="l" fontAlgn="b">
                        <a:buNone/>
                      </a:pPr>
                      <a:r>
                        <a:rPr lang="en-US" sz="850" b="0" i="0" u="none" strike="noStrike">
                          <a:solidFill>
                            <a:srgbClr val="000000"/>
                          </a:solidFill>
                          <a:effectLst/>
                          <a:latin typeface="Aptos" panose="020B0004020202020204" pitchFamily="34" charset="0"/>
                        </a:rPr>
                        <a:t>Development/Configuration Updates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10/10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16889">
                <a:tc>
                  <a:txBody>
                    <a:bodyPr/>
                    <a:lstStyle/>
                    <a:p>
                      <a:pPr algn="l" fontAlgn="b">
                        <a:buNone/>
                      </a:pPr>
                      <a:r>
                        <a:rPr lang="en-US" sz="850" b="0" i="0" u="none" strike="noStrike">
                          <a:solidFill>
                            <a:srgbClr val="000000"/>
                          </a:solidFill>
                          <a:effectLst/>
                          <a:latin typeface="Aptos" panose="020B0004020202020204" pitchFamily="34" charset="0"/>
                        </a:rPr>
                        <a:t>Code Review</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effectLst/>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685858" rtl="0" eaLnBrk="1" fontAlgn="ctr" latinLnBrk="0" hangingPunct="1">
                        <a:lnSpc>
                          <a:spcPct val="95000"/>
                        </a:lnSpc>
                        <a:spcBef>
                          <a:spcPct val="0"/>
                        </a:spcBef>
                        <a:spcAft>
                          <a:spcPct val="50000"/>
                        </a:spcAft>
                        <a:buClrTx/>
                        <a:buSzTx/>
                        <a:buFontTx/>
                        <a:buNone/>
                        <a:tabLst/>
                        <a:defRPr/>
                      </a:pPr>
                      <a:endParaRPr lang="en-US" sz="850" kern="100">
                        <a:solidFill>
                          <a:schemeClr val="dk1"/>
                        </a:solidFill>
                        <a:latin typeface="Aptos" panose="020B0004020202020204" pitchFamily="34" charset="0"/>
                        <a:cs typeface="Times New Roman"/>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6961585"/>
                  </a:ext>
                </a:extLst>
              </a:tr>
              <a:tr h="223959">
                <a:tc>
                  <a:txBody>
                    <a:bodyPr/>
                    <a:lstStyle/>
                    <a:p>
                      <a:pPr algn="l" fontAlgn="b">
                        <a:buNone/>
                      </a:pPr>
                      <a:r>
                        <a:rPr lang="en-US" sz="850" b="0" i="0" u="none" strike="noStrike">
                          <a:solidFill>
                            <a:srgbClr val="000000"/>
                          </a:solidFill>
                          <a:effectLst/>
                          <a:latin typeface="Aptos" panose="020B0004020202020204" pitchFamily="34" charset="0"/>
                        </a:rPr>
                        <a:t>Build Validation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effectLst/>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685858" rtl="0" eaLnBrk="1" fontAlgn="ctr" latinLnBrk="0" hangingPunct="1">
                        <a:lnSpc>
                          <a:spcPct val="95000"/>
                        </a:lnSpc>
                        <a:spcBef>
                          <a:spcPct val="0"/>
                        </a:spcBef>
                        <a:spcAft>
                          <a:spcPct val="50000"/>
                        </a:spcAft>
                        <a:buClrTx/>
                        <a:buSzTx/>
                        <a:buFontTx/>
                        <a:buNone/>
                        <a:tabLst/>
                        <a:defRPr/>
                      </a:pPr>
                      <a:endParaRPr lang="en-US" sz="850" kern="100">
                        <a:solidFill>
                          <a:schemeClr val="dk1"/>
                        </a:solidFill>
                        <a:latin typeface="Aptos" panose="020B0004020202020204" pitchFamily="34" charset="0"/>
                        <a:cs typeface="Times New Roman"/>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17819655"/>
                  </a:ext>
                </a:extLst>
              </a:tr>
              <a:tr h="259162">
                <a:tc>
                  <a:txBody>
                    <a:bodyPr/>
                    <a:lstStyle/>
                    <a:p>
                      <a:pPr algn="l" fontAlgn="b">
                        <a:buNone/>
                      </a:pPr>
                      <a:r>
                        <a:rPr lang="en-US" sz="850" b="0" i="0" u="none" strike="noStrike">
                          <a:solidFill>
                            <a:srgbClr val="000000"/>
                          </a:solidFill>
                          <a:effectLst/>
                          <a:latin typeface="Aptos" panose="020B0004020202020204" pitchFamily="34" charset="0"/>
                        </a:rPr>
                        <a:t>SIT Testing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algn="l" fontAlgn="b">
                        <a:buNone/>
                      </a:pPr>
                      <a:r>
                        <a:rPr lang="en-US" sz="850" b="0" i="0" u="none" strike="noStrike">
                          <a:solidFill>
                            <a:srgbClr val="000000"/>
                          </a:solidFill>
                          <a:effectLst/>
                          <a:latin typeface="Aptos" panose="020B0004020202020204" pitchFamily="34" charset="0"/>
                        </a:rPr>
                        <a:t>Regression Testing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algn="l" fontAlgn="b">
                        <a:buNone/>
                      </a:pPr>
                      <a:r>
                        <a:rPr lang="en-US" sz="850" b="0" i="0" u="none" strike="noStrike">
                          <a:solidFill>
                            <a:srgbClr val="000000"/>
                          </a:solidFill>
                          <a:effectLst/>
                          <a:latin typeface="Aptos" panose="020B0004020202020204" pitchFamily="34" charset="0"/>
                        </a:rPr>
                        <a:t>UAT Testing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algn="l" fontAlgn="b">
                        <a:buNone/>
                      </a:pPr>
                      <a:r>
                        <a:rPr lang="en-US" sz="850" b="0" i="0" u="none" strike="noStrike">
                          <a:solidFill>
                            <a:srgbClr val="000000"/>
                          </a:solidFill>
                          <a:effectLst/>
                          <a:latin typeface="Aptos" panose="020B0004020202020204" pitchFamily="34" charset="0"/>
                        </a:rPr>
                        <a:t>Staging Validation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05/11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r h="236175">
                <a:tc>
                  <a:txBody>
                    <a:bodyPr/>
                    <a:lstStyle/>
                    <a:p>
                      <a:pPr algn="l" fontAlgn="b">
                        <a:buNone/>
                      </a:pPr>
                      <a:r>
                        <a:rPr lang="en-US" sz="850" b="0" i="0" u="none" strike="noStrike">
                          <a:solidFill>
                            <a:srgbClr val="000000"/>
                          </a:solidFill>
                          <a:effectLst/>
                          <a:latin typeface="Aptos" panose="020B0004020202020204" pitchFamily="34" charset="0"/>
                        </a:rPr>
                        <a:t>Production Deployment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054747"/>
                  </a:ext>
                </a:extLst>
              </a:tr>
            </a:tbl>
          </a:graphicData>
        </a:graphic>
      </p:graphicFrame>
      <p:graphicFrame>
        <p:nvGraphicFramePr>
          <p:cNvPr id="29" name="Table 28">
            <a:extLst>
              <a:ext uri="{FF2B5EF4-FFF2-40B4-BE49-F238E27FC236}">
                <a16:creationId xmlns:a16="http://schemas.microsoft.com/office/drawing/2014/main" id="{A108AF30-C6D5-DB3E-A092-18243B6C326A}"/>
              </a:ext>
            </a:extLst>
          </p:cNvPr>
          <p:cNvGraphicFramePr>
            <a:graphicFrameLocks noGrp="1"/>
          </p:cNvGraphicFramePr>
          <p:nvPr/>
        </p:nvGraphicFramePr>
        <p:xfrm>
          <a:off x="4854769" y="4913937"/>
          <a:ext cx="7254527" cy="693166"/>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FC928214-BD6F-44B4-55F0-FDE2C10E8D0C}"/>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F888BABC-F081-F3A0-52F7-459B43F85797}"/>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68188C8D-6553-492F-4311-9FFD172F02D5}"/>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3AC621E-E23D-348E-63EB-B1ADFF57EC6E}"/>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1435DA70-AF17-3E48-363E-BAF2AD34C1AC}"/>
              </a:ext>
            </a:extLst>
          </p:cNvPr>
          <p:cNvSpPr txBox="1"/>
          <p:nvPr/>
        </p:nvSpPr>
        <p:spPr>
          <a:xfrm>
            <a:off x="111476" y="1707675"/>
            <a:ext cx="4743293" cy="186070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This project is to have the upgrades from GIN to implement in Nation wide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and scope to be finalized; estimated delivery is Nov</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Schedule from the line was finalized.</a:t>
            </a:r>
          </a:p>
          <a:p>
            <a:pPr marL="171450" indent="-171450">
              <a:lnSpc>
                <a:spcPct val="114999"/>
              </a:lnSpc>
              <a:spcBef>
                <a:spcPts val="200"/>
              </a:spcBef>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ea typeface="+mn-ea"/>
                <a:cs typeface="Times New Roman"/>
              </a:rPr>
              <a:t>Instead of multiple updates its decided that all the updates can be deploy</a:t>
            </a:r>
            <a:r>
              <a:rPr lang="en-US" sz="850" kern="100">
                <a:solidFill>
                  <a:prstClr val="black"/>
                </a:solidFill>
                <a:latin typeface="Aptos" panose="020B0004020202020204" pitchFamily="34" charset="0"/>
                <a:cs typeface="Times New Roman"/>
              </a:rPr>
              <a:t>ed with single deployment.</a:t>
            </a:r>
          </a:p>
          <a:p>
            <a:pPr marL="171450" indent="-171450">
              <a:lnSpc>
                <a:spcPct val="100000"/>
              </a:lnSpc>
              <a:spcBef>
                <a:spcPts val="200"/>
              </a:spcBef>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ea typeface="+mn-ea"/>
                <a:cs typeface="Times New Roman"/>
              </a:rPr>
              <a:t>Change </a:t>
            </a:r>
            <a:r>
              <a:rPr lang="en-US" sz="900"/>
              <a:t>CHG0061675 </a:t>
            </a:r>
            <a:r>
              <a:rPr lang="en-US" sz="850" kern="100">
                <a:solidFill>
                  <a:prstClr val="black"/>
                </a:solidFill>
                <a:latin typeface="Aptos" panose="020B0004020202020204" pitchFamily="34" charset="0"/>
                <a:cs typeface="Times New Roman"/>
              </a:rPr>
              <a:t>created scheduled to deploy on Nov 11</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907F35B9-5A00-1057-FD27-F99359AFAFB0}"/>
              </a:ext>
            </a:extLst>
          </p:cNvPr>
          <p:cNvSpPr txBox="1"/>
          <p:nvPr/>
        </p:nvSpPr>
        <p:spPr>
          <a:xfrm>
            <a:off x="9515820" y="166937"/>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p>
          <a:p>
            <a:pPr>
              <a:lnSpc>
                <a:spcPct val="112000"/>
              </a:lnSpc>
              <a:defRPr/>
            </a:pPr>
            <a:r>
              <a:rPr lang="en-US" sz="1200">
                <a:latin typeface="Aptos"/>
              </a:rPr>
              <a:t>PO:  Gary Wilson</a:t>
            </a:r>
            <a:endParaRPr lang="en-US">
              <a:latin typeface="Aptos"/>
            </a:endParaRPr>
          </a:p>
        </p:txBody>
      </p:sp>
      <p:sp>
        <p:nvSpPr>
          <p:cNvPr id="4" name="Flowchart: Connector 3">
            <a:extLst>
              <a:ext uri="{FF2B5EF4-FFF2-40B4-BE49-F238E27FC236}">
                <a16:creationId xmlns:a16="http://schemas.microsoft.com/office/drawing/2014/main" id="{360B8692-AA81-F50F-DEB6-D19902C7D28B}"/>
              </a:ext>
            </a:extLst>
          </p:cNvPr>
          <p:cNvSpPr/>
          <p:nvPr/>
        </p:nvSpPr>
        <p:spPr>
          <a:xfrm>
            <a:off x="327889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4EAD8C51-3009-C231-65B1-0AC1075550E9}"/>
              </a:ext>
            </a:extLst>
          </p:cNvPr>
          <p:cNvSpPr/>
          <p:nvPr/>
        </p:nvSpPr>
        <p:spPr>
          <a:xfrm>
            <a:off x="4249302" y="140823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lowchart: Connector 12">
            <a:extLst>
              <a:ext uri="{FF2B5EF4-FFF2-40B4-BE49-F238E27FC236}">
                <a16:creationId xmlns:a16="http://schemas.microsoft.com/office/drawing/2014/main" id="{4114B4E1-194F-DB82-6E45-66AFA4769171}"/>
              </a:ext>
            </a:extLst>
          </p:cNvPr>
          <p:cNvSpPr/>
          <p:nvPr/>
        </p:nvSpPr>
        <p:spPr>
          <a:xfrm>
            <a:off x="5226813" y="141097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5373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BD7D-EE0D-A519-5DB4-4735A3F104B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50E8F8-23FB-0D9D-DB38-6680437A0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AA50E8F8-23FB-0D9D-DB38-6680437A05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5A3DBF6D-64E9-D1B1-E1C7-7994340F6BDF}"/>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44731BDC-3B6F-19DB-F015-36E363B14C21}"/>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CPP Right to Delete and Right to access (Externally funded)</a:t>
            </a:r>
          </a:p>
        </p:txBody>
      </p:sp>
      <p:graphicFrame>
        <p:nvGraphicFramePr>
          <p:cNvPr id="11" name="Group 513">
            <a:extLst>
              <a:ext uri="{FF2B5EF4-FFF2-40B4-BE49-F238E27FC236}">
                <a16:creationId xmlns:a16="http://schemas.microsoft.com/office/drawing/2014/main" id="{1F125BFF-AFAE-248A-4FCA-23B7B8B157B0}"/>
              </a:ext>
            </a:extLst>
          </p:cNvPr>
          <p:cNvGraphicFramePr>
            <a:graphicFrameLocks noGrp="1"/>
          </p:cNvGraphicFramePr>
          <p:nvPr>
            <p:extLst>
              <p:ext uri="{D42A27DB-BD31-4B8C-83A1-F6EECF244321}">
                <p14:modId xmlns:p14="http://schemas.microsoft.com/office/powerpoint/2010/main" val="2599883601"/>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10/09/26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A7738DC-6B6C-B235-C548-36EAFF556E70}"/>
              </a:ext>
            </a:extLst>
          </p:cNvPr>
          <p:cNvGraphicFramePr>
            <a:graphicFrameLocks noGrp="1"/>
          </p:cNvGraphicFramePr>
          <p:nvPr>
            <p:extLst>
              <p:ext uri="{D42A27DB-BD31-4B8C-83A1-F6EECF244321}">
                <p14:modId xmlns:p14="http://schemas.microsoft.com/office/powerpoint/2010/main" val="1903386814"/>
              </p:ext>
            </p:extLst>
          </p:nvPr>
        </p:nvGraphicFramePr>
        <p:xfrm>
          <a:off x="6640300" y="920667"/>
          <a:ext cx="5468995" cy="749848"/>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endParaRPr kumimoji="0" lang="en-US" sz="850" b="1" i="0" u="none" strike="noStrike" kern="1200" cap="none" normalizeH="0" baseline="0">
                        <a:ln>
                          <a:noFill/>
                        </a:ln>
                        <a:solidFill>
                          <a:srgbClr val="FF0000"/>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endParaRPr kumimoji="0" lang="en-US" sz="850" b="1" i="0" u="none" strike="noStrike" kern="1200" cap="none" normalizeH="0" baseline="0">
                        <a:ln>
                          <a:noFill/>
                        </a:ln>
                        <a:solidFill>
                          <a:srgbClr val="FF0000"/>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endParaRPr kumimoji="0" lang="en-US" sz="850" b="1" i="0" u="none" strike="noStrike" kern="1200" cap="none" normalizeH="0" baseline="0">
                        <a:ln>
                          <a:noFill/>
                        </a:ln>
                        <a:solidFill>
                          <a:srgbClr val="FF0000"/>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endParaRPr kumimoji="0" lang="en-US" sz="850" b="1" i="0" u="none" strike="noStrike" kern="1200" cap="none" normalizeH="0" baseline="0">
                        <a:ln>
                          <a:noFill/>
                        </a:ln>
                        <a:solidFill>
                          <a:srgbClr val="FF0000"/>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A1335355-63BE-67B0-CBD4-E4119BB6CDB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ED9D2C0-51C9-FD40-17C3-CD5B765A991E}"/>
              </a:ext>
            </a:extLst>
          </p:cNvPr>
          <p:cNvGraphicFramePr>
            <a:graphicFrameLocks noGrp="1"/>
          </p:cNvGraphicFramePr>
          <p:nvPr>
            <p:extLst>
              <p:ext uri="{D42A27DB-BD31-4B8C-83A1-F6EECF244321}">
                <p14:modId xmlns:p14="http://schemas.microsoft.com/office/powerpoint/2010/main" val="3257062036"/>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10/30/2026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4677285F-484C-A946-BEE2-0C9792132DC0}"/>
              </a:ext>
            </a:extLst>
          </p:cNvPr>
          <p:cNvGraphicFramePr>
            <a:graphicFrameLocks noGrp="1"/>
          </p:cNvGraphicFramePr>
          <p:nvPr>
            <p:extLst>
              <p:ext uri="{D42A27DB-BD31-4B8C-83A1-F6EECF244321}">
                <p14:modId xmlns:p14="http://schemas.microsoft.com/office/powerpoint/2010/main" val="419930909"/>
              </p:ext>
            </p:extLst>
          </p:nvPr>
        </p:nvGraphicFramePr>
        <p:xfrm>
          <a:off x="4854769" y="1696099"/>
          <a:ext cx="7269724" cy="3141365"/>
        </p:xfrm>
        <a:graphic>
          <a:graphicData uri="http://schemas.openxmlformats.org/drawingml/2006/table">
            <a:tbl>
              <a:tblPr>
                <a:tableStyleId>{5C22544A-7EE6-4342-B048-85BDC9FD1C3A}</a:tableStyleId>
              </a:tblPr>
              <a:tblGrid>
                <a:gridCol w="2593181">
                  <a:extLst>
                    <a:ext uri="{9D8B030D-6E8A-4147-A177-3AD203B41FA5}">
                      <a16:colId xmlns:a16="http://schemas.microsoft.com/office/drawing/2014/main" val="2456552316"/>
                    </a:ext>
                  </a:extLst>
                </a:gridCol>
                <a:gridCol w="467024">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mn-lt"/>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07/15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a:ea typeface="+mn-ea"/>
                          <a:cs typeface="+mn-cs"/>
                        </a:rPr>
                        <a:t>07/15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a:ea typeface="+mn-ea"/>
                          <a:cs typeface="+mn-cs"/>
                        </a:rPr>
                        <a:t>08/6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a:ea typeface="+mn-ea"/>
                          <a:cs typeface="+mn-cs"/>
                        </a:rPr>
                        <a:t>08/31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a:rPr>
                        <a:t>09/01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a:rPr>
                        <a:t>09/07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Technical Design, Data Discovery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a:ea typeface="+mn-ea"/>
                          <a:cs typeface="+mn-cs"/>
                        </a:rPr>
                        <a:t>09/20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50">
                        <a:latin typeface="Aptos"/>
                      </a:endParaRP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solidFill>
                            <a:schemeClr val="tx1"/>
                          </a:solidFill>
                          <a:latin typeface="Aptos"/>
                        </a:rPr>
                        <a:t>10/10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10/15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solidFill>
                            <a:schemeClr val="tx1"/>
                          </a:solidFill>
                          <a:latin typeface="Apto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a:ea typeface="+mn-ea"/>
                          <a:cs typeface="+mn-cs"/>
                        </a:rPr>
                        <a:t>Business handover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a:rPr>
                        <a:t>10/30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B0AC2432-CF0D-F1A7-26F0-ABDA50540725}"/>
              </a:ext>
            </a:extLst>
          </p:cNvPr>
          <p:cNvGraphicFramePr>
            <a:graphicFrameLocks noGrp="1"/>
          </p:cNvGraphicFramePr>
          <p:nvPr>
            <p:extLst>
              <p:ext uri="{D42A27DB-BD31-4B8C-83A1-F6EECF244321}">
                <p14:modId xmlns:p14="http://schemas.microsoft.com/office/powerpoint/2010/main" val="1178005495"/>
              </p:ext>
            </p:extLst>
          </p:nvPr>
        </p:nvGraphicFramePr>
        <p:xfrm>
          <a:off x="4854769" y="4956196"/>
          <a:ext cx="7254527" cy="633984"/>
        </p:xfrm>
        <a:graphic>
          <a:graphicData uri="http://schemas.openxmlformats.org/drawingml/2006/table">
            <a:tbl>
              <a:tblPr>
                <a:tableStyleId>{5C22544A-7EE6-4342-B048-85BDC9FD1C3A}</a:tableStyleId>
              </a:tblPr>
              <a:tblGrid>
                <a:gridCol w="2591060">
                  <a:extLst>
                    <a:ext uri="{9D8B030D-6E8A-4147-A177-3AD203B41FA5}">
                      <a16:colId xmlns:a16="http://schemas.microsoft.com/office/drawing/2014/main" val="2456552316"/>
                    </a:ext>
                  </a:extLst>
                </a:gridCol>
                <a:gridCol w="482320">
                  <a:extLst>
                    <a:ext uri="{9D8B030D-6E8A-4147-A177-3AD203B41FA5}">
                      <a16:colId xmlns:a16="http://schemas.microsoft.com/office/drawing/2014/main" val="1100051595"/>
                    </a:ext>
                  </a:extLst>
                </a:gridCol>
                <a:gridCol w="492370">
                  <a:extLst>
                    <a:ext uri="{9D8B030D-6E8A-4147-A177-3AD203B41FA5}">
                      <a16:colId xmlns:a16="http://schemas.microsoft.com/office/drawing/2014/main" val="2042261034"/>
                    </a:ext>
                  </a:extLst>
                </a:gridCol>
                <a:gridCol w="3688777">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054D2BDA-F17D-19CF-3B7A-01D1A94BA212}"/>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490AECBD-BF53-2A38-F383-F3808A2A75BB}"/>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402996F8-C107-2E74-A76C-0C472A270EF1}"/>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B4E5E35B-C1B0-C490-3951-F27F35951E5A}"/>
              </a:ext>
            </a:extLst>
          </p:cNvPr>
          <p:cNvSpPr/>
          <p:nvPr/>
        </p:nvSpPr>
        <p:spPr>
          <a:xfrm>
            <a:off x="6063951" y="143641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6B4608C6-76B6-3EBC-6275-A403CEC01DF9}"/>
              </a:ext>
            </a:extLst>
          </p:cNvPr>
          <p:cNvSpPr txBox="1"/>
          <p:nvPr/>
        </p:nvSpPr>
        <p:spPr>
          <a:xfrm>
            <a:off x="111476" y="1707675"/>
            <a:ext cx="4743293" cy="192277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Technical design in process and expected to finalize by  08/21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call scheduled and scope - Complete</a:t>
            </a:r>
          </a:p>
          <a:p>
            <a:pPr marR="0" lvl="0" algn="l" defTabSz="914400" rtl="0" eaLnBrk="1" fontAlgn="auto" latinLnBrk="0" hangingPunct="1">
              <a:lnSpc>
                <a:spcPct val="115000"/>
              </a:lnSpc>
              <a:spcBef>
                <a:spcPts val="200"/>
              </a:spcBef>
              <a:spcAft>
                <a:spcPts val="0"/>
              </a:spcAft>
              <a:buClrTx/>
              <a:buSzPts val="1000"/>
              <a:tabLst>
                <a:tab pos="457200" algn="l"/>
              </a:tabLst>
              <a:defRPr/>
            </a:pPr>
            <a:endPar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and scope to be finalized; estimated delivery is Oct</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Estimations pending from Line – Complete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Design and data analysis to build the tables in progress.</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EA169BEF-C7EA-4B10-3B1D-FDA02EF8AFE3}"/>
              </a:ext>
            </a:extLst>
          </p:cNvPr>
          <p:cNvSpPr txBox="1"/>
          <p:nvPr/>
        </p:nvSpPr>
        <p:spPr>
          <a:xfrm>
            <a:off x="9515820" y="237482"/>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4" name="Flowchart: Connector 3">
            <a:extLst>
              <a:ext uri="{FF2B5EF4-FFF2-40B4-BE49-F238E27FC236}">
                <a16:creationId xmlns:a16="http://schemas.microsoft.com/office/drawing/2014/main" id="{4B492A82-9B50-38C3-76AC-53ECE6198312}"/>
              </a:ext>
            </a:extLst>
          </p:cNvPr>
          <p:cNvSpPr/>
          <p:nvPr/>
        </p:nvSpPr>
        <p:spPr>
          <a:xfrm>
            <a:off x="3292833" y="143936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9FBFB557-A4A2-3C54-A708-EC0206E23EA4}"/>
              </a:ext>
            </a:extLst>
          </p:cNvPr>
          <p:cNvSpPr/>
          <p:nvPr/>
        </p:nvSpPr>
        <p:spPr>
          <a:xfrm>
            <a:off x="4249302" y="143641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ACE049B0-BB45-1AAC-E489-BCD7B329E133}"/>
              </a:ext>
            </a:extLst>
          </p:cNvPr>
          <p:cNvSpPr/>
          <p:nvPr/>
        </p:nvSpPr>
        <p:spPr>
          <a:xfrm>
            <a:off x="7588931" y="383824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CAD4FF37-20F9-6EB9-8EC2-F351DCA29620}"/>
              </a:ext>
            </a:extLst>
          </p:cNvPr>
          <p:cNvSpPr/>
          <p:nvPr/>
        </p:nvSpPr>
        <p:spPr>
          <a:xfrm>
            <a:off x="5156626" y="141277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7020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4016-29C9-9E5A-7071-75CDE9D45A9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AA185CB-D927-7374-B2A9-C580581FC6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EAA185CB-D927-7374-B2A9-C580581FC6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9C9CA85-7527-3469-704A-5B3FAF576406}"/>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BD0C7A2-E7BB-0387-4328-56C5FFCA5A0C}"/>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Vulnerabilities Remediation</a:t>
            </a:r>
          </a:p>
        </p:txBody>
      </p:sp>
      <p:graphicFrame>
        <p:nvGraphicFramePr>
          <p:cNvPr id="11" name="Group 513">
            <a:extLst>
              <a:ext uri="{FF2B5EF4-FFF2-40B4-BE49-F238E27FC236}">
                <a16:creationId xmlns:a16="http://schemas.microsoft.com/office/drawing/2014/main" id="{CF5D9987-2924-45FB-C2E3-A69FA0B48A0B}"/>
              </a:ext>
            </a:extLst>
          </p:cNvPr>
          <p:cNvGraphicFramePr>
            <a:graphicFrameLocks noGrp="1"/>
          </p:cNvGraphicFramePr>
          <p:nvPr>
            <p:extLst>
              <p:ext uri="{D42A27DB-BD31-4B8C-83A1-F6EECF244321}">
                <p14:modId xmlns:p14="http://schemas.microsoft.com/office/powerpoint/2010/main" val="54487348"/>
              </p:ext>
            </p:extLst>
          </p:nvPr>
        </p:nvGraphicFramePr>
        <p:xfrm>
          <a:off x="234455" y="927650"/>
          <a:ext cx="2638218" cy="406307"/>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406307">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10/09/26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08F2CC-923C-520B-0CE0-E9F83F7A6BA9}"/>
              </a:ext>
            </a:extLst>
          </p:cNvPr>
          <p:cNvGraphicFramePr>
            <a:graphicFrameLocks noGrp="1"/>
          </p:cNvGraphicFramePr>
          <p:nvPr>
            <p:extLst>
              <p:ext uri="{D42A27DB-BD31-4B8C-83A1-F6EECF244321}">
                <p14:modId xmlns:p14="http://schemas.microsoft.com/office/powerpoint/2010/main" val="826504782"/>
              </p:ext>
            </p:extLst>
          </p:nvPr>
        </p:nvGraphicFramePr>
        <p:xfrm>
          <a:off x="6640300" y="927650"/>
          <a:ext cx="5468995" cy="742865"/>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8899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3874">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 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8CDB0248-F6F4-E083-6D55-1BE53DAE88FE}"/>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AD1E69C-D2E6-2BEC-094D-6142F8148B48}"/>
              </a:ext>
            </a:extLst>
          </p:cNvPr>
          <p:cNvGraphicFramePr>
            <a:graphicFrameLocks noGrp="1"/>
          </p:cNvGraphicFramePr>
          <p:nvPr>
            <p:extLst>
              <p:ext uri="{D42A27DB-BD31-4B8C-83A1-F6EECF244321}">
                <p14:modId xmlns:p14="http://schemas.microsoft.com/office/powerpoint/2010/main" val="2575943510"/>
              </p:ext>
            </p:extLst>
          </p:nvPr>
        </p:nvGraphicFramePr>
        <p:xfrm>
          <a:off x="231953" y="1333957"/>
          <a:ext cx="2581575" cy="344301"/>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0"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Ongoing</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21A09A8-6576-3CC1-5443-3845D0BC2F85}"/>
              </a:ext>
            </a:extLst>
          </p:cNvPr>
          <p:cNvGraphicFramePr>
            <a:graphicFrameLocks noGrp="1"/>
          </p:cNvGraphicFramePr>
          <p:nvPr>
            <p:extLst>
              <p:ext uri="{D42A27DB-BD31-4B8C-83A1-F6EECF244321}">
                <p14:modId xmlns:p14="http://schemas.microsoft.com/office/powerpoint/2010/main" val="1306154029"/>
              </p:ext>
            </p:extLst>
          </p:nvPr>
        </p:nvGraphicFramePr>
        <p:xfrm>
          <a:off x="4854769" y="1696099"/>
          <a:ext cx="7269724" cy="2905190"/>
        </p:xfrm>
        <a:graphic>
          <a:graphicData uri="http://schemas.openxmlformats.org/drawingml/2006/table">
            <a:tbl>
              <a:tblPr>
                <a:tableStyleId>{5C22544A-7EE6-4342-B048-85BDC9FD1C3A}</a:tableStyleId>
              </a:tblPr>
              <a:tblGrid>
                <a:gridCol w="2555676">
                  <a:extLst>
                    <a:ext uri="{9D8B030D-6E8A-4147-A177-3AD203B41FA5}">
                      <a16:colId xmlns:a16="http://schemas.microsoft.com/office/drawing/2014/main" val="2456552316"/>
                    </a:ext>
                  </a:extLst>
                </a:gridCol>
                <a:gridCol w="504529">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Kick off on the automation development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08/02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solidFill>
                            <a:schemeClr val="tx1"/>
                          </a:solidFill>
                          <a:latin typeface="Aptos" panose="020B0004020202020204" pitchFamily="34" charset="0"/>
                        </a:rPr>
                        <a:t>Design on the AI capability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9/30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solidFill>
                            <a:schemeClr val="tx1"/>
                          </a:solidFill>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panose="020B0004020202020204" pitchFamily="34" charset="0"/>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tx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chemeClr val="tx1"/>
                          </a:solidFill>
                          <a:effectLst/>
                          <a:uLnTx/>
                          <a:uFillTx/>
                          <a:latin typeface="Aptos" panose="020B0004020202020204" pitchFamily="34" charset="0"/>
                          <a:ea typeface="+mn-ea"/>
                          <a:cs typeface="+mn-cs"/>
                        </a:rPr>
                        <a:t>TBD</a:t>
                      </a:r>
                      <a:endParaRPr lang="en-US" sz="850">
                        <a:latin typeface="Aptos" panose="020B0004020202020204" pitchFamily="34" charset="0"/>
                      </a:endParaRP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FCE8D3EA-92F4-7645-DDAC-71643A3838B3}"/>
              </a:ext>
            </a:extLst>
          </p:cNvPr>
          <p:cNvGraphicFramePr>
            <a:graphicFrameLocks noGrp="1"/>
          </p:cNvGraphicFramePr>
          <p:nvPr>
            <p:extLst>
              <p:ext uri="{D42A27DB-BD31-4B8C-83A1-F6EECF244321}">
                <p14:modId xmlns:p14="http://schemas.microsoft.com/office/powerpoint/2010/main" val="1219006654"/>
              </p:ext>
            </p:extLst>
          </p:nvPr>
        </p:nvGraphicFramePr>
        <p:xfrm>
          <a:off x="4854769" y="4913937"/>
          <a:ext cx="7285928" cy="693166"/>
        </p:xfrm>
        <a:graphic>
          <a:graphicData uri="http://schemas.openxmlformats.org/drawingml/2006/table">
            <a:tbl>
              <a:tblPr>
                <a:tableStyleId>{5C22544A-7EE6-4342-B048-85BDC9FD1C3A}</a:tableStyleId>
              </a:tblPr>
              <a:tblGrid>
                <a:gridCol w="2560915">
                  <a:extLst>
                    <a:ext uri="{9D8B030D-6E8A-4147-A177-3AD203B41FA5}">
                      <a16:colId xmlns:a16="http://schemas.microsoft.com/office/drawing/2014/main" val="2456552316"/>
                    </a:ext>
                  </a:extLst>
                </a:gridCol>
                <a:gridCol w="522514">
                  <a:extLst>
                    <a:ext uri="{9D8B030D-6E8A-4147-A177-3AD203B41FA5}">
                      <a16:colId xmlns:a16="http://schemas.microsoft.com/office/drawing/2014/main" val="1100051595"/>
                    </a:ext>
                  </a:extLst>
                </a:gridCol>
                <a:gridCol w="452176">
                  <a:extLst>
                    <a:ext uri="{9D8B030D-6E8A-4147-A177-3AD203B41FA5}">
                      <a16:colId xmlns:a16="http://schemas.microsoft.com/office/drawing/2014/main" val="2042261034"/>
                    </a:ext>
                  </a:extLst>
                </a:gridCol>
                <a:gridCol w="3750323">
                  <a:extLst>
                    <a:ext uri="{9D8B030D-6E8A-4147-A177-3AD203B41FA5}">
                      <a16:colId xmlns:a16="http://schemas.microsoft.com/office/drawing/2014/main" val="2815874248"/>
                    </a:ext>
                  </a:extLst>
                </a:gridCol>
              </a:tblGrid>
              <a:tr h="256204">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84E5FE76-0944-8D0D-E137-323416558590}"/>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8D326C61-78EE-14FA-1DE5-FD20249EB125}"/>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7C3026F0-972F-1D32-2A25-CACE1595AF14}"/>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C7930918-274C-95EE-CD41-72E9A477ACC8}"/>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71A99DFD-9F7F-6267-BCAE-319F2169E696}"/>
              </a:ext>
            </a:extLst>
          </p:cNvPr>
          <p:cNvSpPr txBox="1"/>
          <p:nvPr/>
        </p:nvSpPr>
        <p:spPr>
          <a:xfrm>
            <a:off x="111476" y="1707675"/>
            <a:ext cx="4743293" cy="193161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lang="en-US" sz="850" kern="100">
                <a:solidFill>
                  <a:prstClr val="black"/>
                </a:solidFill>
                <a:latin typeface="Aptos" panose="020B0004020202020204" pitchFamily="34" charset="0"/>
                <a:ea typeface="Aptos" panose="020B0004020202020204" pitchFamily="34" charset="0"/>
                <a:cs typeface="Times New Roman"/>
              </a:rPr>
              <a:t>GIN Data updates to be carried to Ren in batches</a:t>
            </a:r>
            <a:endPar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Yet to start, scope is defined and will start till Cloud based runs are stabilized</a:t>
            </a:r>
            <a:endPar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Starting with  automation and self </a:t>
            </a:r>
            <a:r>
              <a:rPr lang="en-US" sz="850" kern="100">
                <a:latin typeface="Aptos" panose="020B0004020202020204" pitchFamily="34" charset="0"/>
                <a:cs typeface="Times New Roman"/>
              </a:rPr>
              <a:t>remediation</a:t>
            </a:r>
            <a:r>
              <a:rPr lang="en-US" sz="850" kern="100">
                <a:solidFill>
                  <a:srgbClr val="FF0000"/>
                </a:solidFill>
                <a:latin typeface="Aptos" panose="020B0004020202020204" pitchFamily="34" charset="0"/>
                <a:cs typeface="Times New Roman"/>
              </a:rPr>
              <a:t> .</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Vulnerabilities are at all time low with 1200 count.</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Use AI agents for remediation work started and targeted to deliver in Dec</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Current open Vulnerabilities are 1122 target to </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900" b="0" i="0" u="none" strike="noStrike" kern="100" cap="none" spc="0" normalizeH="0" baseline="0" noProof="0">
              <a:ln>
                <a:noFill/>
              </a:ln>
              <a:solidFill>
                <a:prstClr val="black"/>
              </a:solidFill>
              <a:effectLst/>
              <a:uLnTx/>
              <a:uFillTx/>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61B44A5A-E773-0C59-DB94-2BD1C933DB57}"/>
              </a:ext>
            </a:extLst>
          </p:cNvPr>
          <p:cNvSpPr txBox="1"/>
          <p:nvPr/>
        </p:nvSpPr>
        <p:spPr>
          <a:xfrm>
            <a:off x="9515820" y="198444"/>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6" name="Flowchart: Connector 5">
            <a:extLst>
              <a:ext uri="{FF2B5EF4-FFF2-40B4-BE49-F238E27FC236}">
                <a16:creationId xmlns:a16="http://schemas.microsoft.com/office/drawing/2014/main" id="{7F061EA4-355F-C52C-751A-CB7FF44FF7DF}"/>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19CBC8B1-CFFC-7AFC-1760-186405C840D0}"/>
              </a:ext>
            </a:extLst>
          </p:cNvPr>
          <p:cNvSpPr/>
          <p:nvPr/>
        </p:nvSpPr>
        <p:spPr>
          <a:xfrm>
            <a:off x="3279142" y="139550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D8A4E450-8B35-B736-7C00-285AE450C117}"/>
              </a:ext>
            </a:extLst>
          </p:cNvPr>
          <p:cNvSpPr/>
          <p:nvPr/>
        </p:nvSpPr>
        <p:spPr>
          <a:xfrm>
            <a:off x="5164274" y="142501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CC2A1D09-6D53-052A-B52F-CB8A81DE6617}"/>
              </a:ext>
            </a:extLst>
          </p:cNvPr>
          <p:cNvSpPr/>
          <p:nvPr/>
        </p:nvSpPr>
        <p:spPr>
          <a:xfrm>
            <a:off x="7564630" y="226049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0648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5D1C-85C1-90DC-954B-FD6C2D2A2DA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866CEA4-F594-509A-0F78-005AEB0BF1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E866CEA4-F594-509A-0F78-005AEB0BF1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BE1FCDA1-83AF-6705-BC8F-850A4C218E93}"/>
              </a:ext>
            </a:extLst>
          </p:cNvPr>
          <p:cNvGraphicFramePr>
            <a:graphicFrameLocks noGrp="1"/>
          </p:cNvGraphicFramePr>
          <p:nvPr/>
        </p:nvGraphicFramePr>
        <p:xfrm>
          <a:off x="6160165" y="6274540"/>
          <a:ext cx="5865669" cy="386554"/>
        </p:xfrm>
        <a:graphic>
          <a:graphicData uri="http://schemas.openxmlformats.org/drawingml/2006/table">
            <a:tbl>
              <a:tblPr/>
              <a:tblGrid>
                <a:gridCol w="450184">
                  <a:extLst>
                    <a:ext uri="{9D8B030D-6E8A-4147-A177-3AD203B41FA5}">
                      <a16:colId xmlns:a16="http://schemas.microsoft.com/office/drawing/2014/main" val="20000"/>
                    </a:ext>
                  </a:extLst>
                </a:gridCol>
                <a:gridCol w="290261">
                  <a:extLst>
                    <a:ext uri="{9D8B030D-6E8A-4147-A177-3AD203B41FA5}">
                      <a16:colId xmlns:a16="http://schemas.microsoft.com/office/drawing/2014/main" val="20001"/>
                    </a:ext>
                  </a:extLst>
                </a:gridCol>
                <a:gridCol w="613871">
                  <a:extLst>
                    <a:ext uri="{9D8B030D-6E8A-4147-A177-3AD203B41FA5}">
                      <a16:colId xmlns:a16="http://schemas.microsoft.com/office/drawing/2014/main" val="20002"/>
                    </a:ext>
                  </a:extLst>
                </a:gridCol>
                <a:gridCol w="245369">
                  <a:extLst>
                    <a:ext uri="{9D8B030D-6E8A-4147-A177-3AD203B41FA5}">
                      <a16:colId xmlns:a16="http://schemas.microsoft.com/office/drawing/2014/main" val="20003"/>
                    </a:ext>
                  </a:extLst>
                </a:gridCol>
                <a:gridCol w="539106">
                  <a:extLst>
                    <a:ext uri="{9D8B030D-6E8A-4147-A177-3AD203B41FA5}">
                      <a16:colId xmlns:a16="http://schemas.microsoft.com/office/drawing/2014/main" val="20004"/>
                    </a:ext>
                  </a:extLst>
                </a:gridCol>
                <a:gridCol w="419757">
                  <a:extLst>
                    <a:ext uri="{9D8B030D-6E8A-4147-A177-3AD203B41FA5}">
                      <a16:colId xmlns:a16="http://schemas.microsoft.com/office/drawing/2014/main" val="20005"/>
                    </a:ext>
                  </a:extLst>
                </a:gridCol>
                <a:gridCol w="460632">
                  <a:extLst>
                    <a:ext uri="{9D8B030D-6E8A-4147-A177-3AD203B41FA5}">
                      <a16:colId xmlns:a16="http://schemas.microsoft.com/office/drawing/2014/main" val="20006"/>
                    </a:ext>
                  </a:extLst>
                </a:gridCol>
                <a:gridCol w="298987">
                  <a:extLst>
                    <a:ext uri="{9D8B030D-6E8A-4147-A177-3AD203B41FA5}">
                      <a16:colId xmlns:a16="http://schemas.microsoft.com/office/drawing/2014/main" val="20007"/>
                    </a:ext>
                  </a:extLst>
                </a:gridCol>
                <a:gridCol w="1111740">
                  <a:extLst>
                    <a:ext uri="{9D8B030D-6E8A-4147-A177-3AD203B41FA5}">
                      <a16:colId xmlns:a16="http://schemas.microsoft.com/office/drawing/2014/main" val="20008"/>
                    </a:ext>
                  </a:extLst>
                </a:gridCol>
                <a:gridCol w="306465">
                  <a:extLst>
                    <a:ext uri="{9D8B030D-6E8A-4147-A177-3AD203B41FA5}">
                      <a16:colId xmlns:a16="http://schemas.microsoft.com/office/drawing/2014/main" val="20009"/>
                    </a:ext>
                  </a:extLst>
                </a:gridCol>
                <a:gridCol w="112929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02FE6EE0-C3DE-5674-5BEA-500C6EAF38E4}"/>
              </a:ext>
            </a:extLst>
          </p:cNvPr>
          <p:cNvGraphicFramePr>
            <a:graphicFrameLocks noGrp="1"/>
          </p:cNvGraphicFramePr>
          <p:nvPr>
            <p:extLst>
              <p:ext uri="{D42A27DB-BD31-4B8C-83A1-F6EECF244321}">
                <p14:modId xmlns:p14="http://schemas.microsoft.com/office/powerpoint/2010/main" val="2178650261"/>
              </p:ext>
            </p:extLst>
          </p:nvPr>
        </p:nvGraphicFramePr>
        <p:xfrm>
          <a:off x="197511" y="79049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1050" b="1" i="0" u="none" strike="noStrike" cap="none" normalizeH="0" baseline="0">
                          <a:ln>
                            <a:noFill/>
                          </a:ln>
                          <a:solidFill>
                            <a:schemeClr val="tx1"/>
                          </a:solidFill>
                          <a:effectLst/>
                          <a:latin typeface="Arial"/>
                        </a:rPr>
                        <a:t>10/09/2026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5B907DAD-A3CF-46B5-48E5-6DACD2B8E8C8}"/>
              </a:ext>
            </a:extLst>
          </p:cNvPr>
          <p:cNvGraphicFramePr>
            <a:graphicFrameLocks noGrp="1"/>
          </p:cNvGraphicFramePr>
          <p:nvPr/>
        </p:nvGraphicFramePr>
        <p:xfrm>
          <a:off x="6679775" y="797998"/>
          <a:ext cx="5352360" cy="730385"/>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54378">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76007">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EDBC6EF8-3C3A-E900-40DD-6CFC655F12E2}"/>
              </a:ext>
            </a:extLst>
          </p:cNvPr>
          <p:cNvGraphicFramePr>
            <a:graphicFrameLocks noGrp="1"/>
          </p:cNvGraphicFramePr>
          <p:nvPr/>
        </p:nvGraphicFramePr>
        <p:xfrm>
          <a:off x="2811025" y="792650"/>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CE3ACF4B-CC76-61E5-8D70-B681060BC528}"/>
              </a:ext>
            </a:extLst>
          </p:cNvPr>
          <p:cNvGraphicFramePr>
            <a:graphicFrameLocks noGrp="1"/>
          </p:cNvGraphicFramePr>
          <p:nvPr/>
        </p:nvGraphicFramePr>
        <p:xfrm>
          <a:off x="204245" y="1143935"/>
          <a:ext cx="2581575" cy="395688"/>
        </p:xfrm>
        <a:graphic>
          <a:graphicData uri="http://schemas.openxmlformats.org/drawingml/2006/table">
            <a:tbl>
              <a:tblPr/>
              <a:tblGrid>
                <a:gridCol w="978010">
                  <a:extLst>
                    <a:ext uri="{9D8B030D-6E8A-4147-A177-3AD203B41FA5}">
                      <a16:colId xmlns:a16="http://schemas.microsoft.com/office/drawing/2014/main" val="20000"/>
                    </a:ext>
                  </a:extLst>
                </a:gridCol>
                <a:gridCol w="1603565">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Every Month starting July, Aug, Sep, Oct, Nov</a:t>
                      </a:r>
                      <a:endParaRPr kumimoji="0" lang="en-US" sz="900" b="1" i="0" u="none" strike="noStrike" cap="none" normalizeH="0" baseline="0">
                        <a:ln>
                          <a:noFill/>
                        </a:ln>
                        <a:solidFill>
                          <a:schemeClr val="tx1"/>
                        </a:solidFill>
                        <a:effectLst/>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E4812FB4-EC52-543D-0EBE-9C5346E9C391}"/>
              </a:ext>
            </a:extLst>
          </p:cNvPr>
          <p:cNvGraphicFramePr>
            <a:graphicFrameLocks noGrp="1"/>
          </p:cNvGraphicFramePr>
          <p:nvPr>
            <p:extLst>
              <p:ext uri="{D42A27DB-BD31-4B8C-83A1-F6EECF244321}">
                <p14:modId xmlns:p14="http://schemas.microsoft.com/office/powerpoint/2010/main" val="393488440"/>
              </p:ext>
            </p:extLst>
          </p:nvPr>
        </p:nvGraphicFramePr>
        <p:xfrm>
          <a:off x="6141912" y="1662968"/>
          <a:ext cx="5890223" cy="3200392"/>
        </p:xfrm>
        <a:graphic>
          <a:graphicData uri="http://schemas.openxmlformats.org/drawingml/2006/table">
            <a:tbl>
              <a:tblPr>
                <a:tableStyleId>{5C22544A-7EE6-4342-B048-85BDC9FD1C3A}</a:tableStyleId>
              </a:tblPr>
              <a:tblGrid>
                <a:gridCol w="2155939">
                  <a:extLst>
                    <a:ext uri="{9D8B030D-6E8A-4147-A177-3AD203B41FA5}">
                      <a16:colId xmlns:a16="http://schemas.microsoft.com/office/drawing/2014/main" val="2456552316"/>
                    </a:ext>
                  </a:extLst>
                </a:gridCol>
                <a:gridCol w="443796">
                  <a:extLst>
                    <a:ext uri="{9D8B030D-6E8A-4147-A177-3AD203B41FA5}">
                      <a16:colId xmlns:a16="http://schemas.microsoft.com/office/drawing/2014/main" val="1100051595"/>
                    </a:ext>
                  </a:extLst>
                </a:gridCol>
                <a:gridCol w="624914">
                  <a:extLst>
                    <a:ext uri="{9D8B030D-6E8A-4147-A177-3AD203B41FA5}">
                      <a16:colId xmlns:a16="http://schemas.microsoft.com/office/drawing/2014/main" val="2042261034"/>
                    </a:ext>
                  </a:extLst>
                </a:gridCol>
                <a:gridCol w="2665574">
                  <a:extLst>
                    <a:ext uri="{9D8B030D-6E8A-4147-A177-3AD203B41FA5}">
                      <a16:colId xmlns:a16="http://schemas.microsoft.com/office/drawing/2014/main" val="2815874248"/>
                    </a:ext>
                  </a:extLst>
                </a:gridCol>
              </a:tblGrid>
              <a:tr h="246184">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46184">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Critical defects PP 2 &amp; 166 Prod deployment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65776197"/>
                  </a:ext>
                </a:extLst>
              </a:tr>
              <a:tr h="246184">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Defects Prioritization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46184">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Defect AI Generated analysis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8287172"/>
                  </a:ext>
                </a:extLst>
              </a:tr>
              <a:tr h="246184">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Revised Release Plan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4/24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13196933"/>
                  </a:ext>
                </a:extLst>
              </a:tr>
              <a:tr h="246184">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kern="1200">
                          <a:solidFill>
                            <a:schemeClr val="tx1"/>
                          </a:solidFill>
                          <a:latin typeface="+mn-lt"/>
                          <a:ea typeface="+mn-ea"/>
                          <a:cs typeface="+mn-cs"/>
                        </a:rPr>
                        <a:t>Talend to Python Phase 1 UAT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b="0" strike="noStrike" kern="1200">
                          <a:solidFill>
                            <a:schemeClr val="tx1"/>
                          </a:solidFill>
                          <a:effectLst/>
                          <a:latin typeface="+mn-lt"/>
                          <a:ea typeface="+mn-ea"/>
                          <a:cs typeface="+mn-cs"/>
                        </a:rPr>
                        <a:t>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kern="100">
                          <a:solidFill>
                            <a:schemeClr val="dk1"/>
                          </a:solidFill>
                          <a:latin typeface="+mn-lt"/>
                          <a:cs typeface="Times New Roman"/>
                        </a:rPr>
                        <a:t>Re-baseline due to  UAT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46184">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0" kern="1200">
                          <a:solidFill>
                            <a:schemeClr val="tx1"/>
                          </a:solidFill>
                          <a:latin typeface="+mn-lt"/>
                          <a:ea typeface="+mn-ea"/>
                          <a:cs typeface="+mn-cs"/>
                        </a:rPr>
                        <a:t>Talend to Python Phase 1 Prod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b="0" strike="noStrike" kern="1200">
                          <a:solidFill>
                            <a:schemeClr val="tx1"/>
                          </a:solidFill>
                          <a:effectLst/>
                          <a:latin typeface="+mn-lt"/>
                          <a:ea typeface="+mn-ea"/>
                          <a:cs typeface="+mn-cs"/>
                        </a:rPr>
                        <a:t>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kern="100">
                          <a:solidFill>
                            <a:schemeClr val="dk1"/>
                          </a:solidFill>
                          <a:latin typeface="+mn-lt"/>
                          <a:cs typeface="Times New Roman"/>
                        </a:rPr>
                        <a:t>5 defects have been identified - 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15597873"/>
                  </a:ext>
                </a:extLst>
              </a:tr>
              <a:tr h="246184">
                <a:tc>
                  <a:txBody>
                    <a:bodyPr/>
                    <a:lstStyle/>
                    <a:p>
                      <a:pPr algn="l" rtl="0" fontAlgn="base">
                        <a:lnSpc>
                          <a:spcPts val="525"/>
                        </a:lnSpc>
                        <a:buNone/>
                      </a:pPr>
                      <a:r>
                        <a:rPr lang="en-US" sz="800" b="0" kern="1200">
                          <a:solidFill>
                            <a:schemeClr val="tx1"/>
                          </a:solidFill>
                          <a:latin typeface="+mn-lt"/>
                          <a:ea typeface="+mn-ea"/>
                          <a:cs typeface="+mn-cs"/>
                        </a:rPr>
                        <a:t>Critical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auto">
                        <a:lnSpc>
                          <a:spcPts val="525"/>
                        </a:lnSpc>
                        <a:buNone/>
                      </a:pPr>
                      <a:r>
                        <a:rPr lang="en-US" sz="800" kern="1200">
                          <a:solidFill>
                            <a:schemeClr val="dk1"/>
                          </a:solidFill>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auto">
                        <a:lnSpc>
                          <a:spcPts val="525"/>
                        </a:lnSpc>
                        <a:buNone/>
                      </a:pPr>
                      <a:r>
                        <a:rPr lang="en-US" sz="800" b="0" strike="noStrike" kern="1200">
                          <a:solidFill>
                            <a:schemeClr val="tx1"/>
                          </a:solidFill>
                          <a:effectLst/>
                          <a:latin typeface="+mn-lt"/>
                          <a:ea typeface="+mn-ea"/>
                          <a:cs typeface="+mn-cs"/>
                        </a:rPr>
                        <a:t>6/29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ts val="600"/>
                        </a:lnSpc>
                        <a:spcBef>
                          <a:spcPts val="300"/>
                        </a:spcBef>
                        <a:spcAft>
                          <a:spcPts val="0"/>
                        </a:spcAft>
                        <a:buClrTx/>
                        <a:buSzTx/>
                        <a:buFont typeface="Arial" panose="020B0604020202020204" pitchFamily="34" charset="0"/>
                        <a:buNone/>
                      </a:pPr>
                      <a:r>
                        <a:rPr lang="en-US" sz="800" b="0" i="0">
                          <a:solidFill>
                            <a:srgbClr val="000000"/>
                          </a:solidFill>
                          <a:effectLst/>
                          <a:latin typeface="+mn-lt"/>
                        </a:rPr>
                        <a:t>3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81701892"/>
                  </a:ext>
                </a:extLst>
              </a:tr>
              <a:tr h="246184">
                <a:tc>
                  <a:txBody>
                    <a:bodyPr/>
                    <a:lstStyle/>
                    <a:p>
                      <a:pPr algn="l" rtl="0" fontAlgn="base">
                        <a:lnSpc>
                          <a:spcPts val="525"/>
                        </a:lnSpc>
                        <a:buNone/>
                      </a:pPr>
                      <a:r>
                        <a:rPr lang="en-US" sz="800" b="0" kern="1200">
                          <a:solidFill>
                            <a:schemeClr val="tx1"/>
                          </a:solidFill>
                          <a:latin typeface="+mn-lt"/>
                          <a:ea typeface="+mn-ea"/>
                          <a:cs typeface="+mn-cs"/>
                        </a:rPr>
                        <a:t>Wave 1 - Prod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kern="1200">
                          <a:solidFill>
                            <a:schemeClr val="tx1"/>
                          </a:solidFill>
                          <a:effectLst/>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strike="sngStrike" kern="1200">
                          <a:solidFill>
                            <a:schemeClr val="tx1"/>
                          </a:solidFill>
                          <a:effectLst/>
                          <a:latin typeface="+mn-lt"/>
                          <a:ea typeface="+mn-ea"/>
                          <a:cs typeface="+mn-cs"/>
                        </a:rPr>
                        <a:t>7/9</a:t>
                      </a:r>
                      <a:r>
                        <a:rPr lang="en-US" sz="800" b="0" strike="noStrike" kern="1200">
                          <a:solidFill>
                            <a:schemeClr val="tx1"/>
                          </a:solidFill>
                          <a:effectLst/>
                          <a:latin typeface="+mn-lt"/>
                          <a:ea typeface="+mn-ea"/>
                          <a:cs typeface="+mn-cs"/>
                        </a:rPr>
                        <a:t> 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8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79858627"/>
                  </a:ext>
                </a:extLst>
              </a:tr>
              <a:tr h="246184">
                <a:tc>
                  <a:txBody>
                    <a:bodyPr/>
                    <a:lstStyle/>
                    <a:p>
                      <a:pPr lvl="0" algn="l">
                        <a:lnSpc>
                          <a:spcPts val="525"/>
                        </a:lnSpc>
                        <a:buNone/>
                      </a:pPr>
                      <a:r>
                        <a:rPr lang="en-US" sz="800" b="0" i="0" u="none" strike="noStrike" kern="1200" noProof="0">
                          <a:solidFill>
                            <a:schemeClr val="tx1"/>
                          </a:solidFill>
                          <a:latin typeface="Aptos"/>
                          <a:ea typeface="+mn-ea"/>
                          <a:cs typeface="+mn-cs"/>
                        </a:rPr>
                        <a:t>Wave 2 -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kern="1200">
                          <a:solidFill>
                            <a:schemeClr val="tx1"/>
                          </a:solidFill>
                          <a:effectLst/>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8/20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25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58595933"/>
                  </a:ext>
                </a:extLst>
              </a:tr>
              <a:tr h="246184">
                <a:tc>
                  <a:txBody>
                    <a:bodyPr/>
                    <a:lstStyle/>
                    <a:p>
                      <a:pPr lvl="0" algn="l">
                        <a:lnSpc>
                          <a:spcPts val="525"/>
                        </a:lnSpc>
                        <a:buNone/>
                      </a:pPr>
                      <a:r>
                        <a:rPr lang="en-US" sz="800" b="0" i="0" u="none" strike="noStrike" kern="1200" noProof="0">
                          <a:solidFill>
                            <a:schemeClr val="tx1"/>
                          </a:solidFill>
                          <a:latin typeface="Aptos"/>
                          <a:ea typeface="+mn-ea"/>
                          <a:cs typeface="+mn-cs"/>
                        </a:rPr>
                        <a:t>Wave 3 -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kern="1200">
                          <a:solidFill>
                            <a:schemeClr val="tx1"/>
                          </a:solidFill>
                          <a:effectLst/>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9/8 &amp; 9/17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31 defects have been planned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72322867"/>
                  </a:ext>
                </a:extLst>
              </a:tr>
              <a:tr h="246184">
                <a:tc>
                  <a:txBody>
                    <a:bodyPr/>
                    <a:lstStyle/>
                    <a:p>
                      <a:pPr lvl="0" algn="l">
                        <a:lnSpc>
                          <a:spcPts val="525"/>
                        </a:lnSpc>
                        <a:buNone/>
                      </a:pPr>
                      <a:r>
                        <a:rPr lang="en-US" sz="800" b="0" i="0" u="none" strike="noStrike" kern="1200" noProof="0">
                          <a:solidFill>
                            <a:schemeClr val="tx1"/>
                          </a:solidFill>
                          <a:latin typeface="Aptos"/>
                          <a:ea typeface="+mn-ea"/>
                          <a:cs typeface="+mn-cs"/>
                        </a:rPr>
                        <a:t>Wave 4 -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endParaRPr lang="en-US" sz="800" b="0" kern="120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strike="sngStrike" kern="1200">
                          <a:solidFill>
                            <a:schemeClr val="tx1"/>
                          </a:solidFill>
                          <a:effectLst/>
                          <a:latin typeface="+mn-lt"/>
                          <a:ea typeface="+mn-ea"/>
                          <a:cs typeface="+mn-cs"/>
                        </a:rPr>
                        <a:t>10/15</a:t>
                      </a:r>
                      <a:r>
                        <a:rPr lang="en-US" sz="800" b="0" strike="noStrike" kern="1200">
                          <a:solidFill>
                            <a:schemeClr val="tx1"/>
                          </a:solidFill>
                          <a:effectLst/>
                          <a:latin typeface="+mn-lt"/>
                          <a:ea typeface="+mn-ea"/>
                          <a:cs typeface="+mn-cs"/>
                        </a:rPr>
                        <a:t> 10/22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34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108022"/>
                  </a:ext>
                </a:extLst>
              </a:tr>
              <a:tr h="246184">
                <a:tc>
                  <a:txBody>
                    <a:bodyPr/>
                    <a:lstStyle/>
                    <a:p>
                      <a:pPr lvl="0" algn="l">
                        <a:lnSpc>
                          <a:spcPts val="525"/>
                        </a:lnSpc>
                        <a:buNone/>
                      </a:pPr>
                      <a:r>
                        <a:rPr lang="en-US" sz="800" b="0" i="0" u="none" strike="noStrike" kern="1200" noProof="0">
                          <a:solidFill>
                            <a:schemeClr val="tx1"/>
                          </a:solidFill>
                          <a:latin typeface="Aptos"/>
                          <a:ea typeface="+mn-ea"/>
                          <a:cs typeface="+mn-cs"/>
                        </a:rPr>
                        <a:t>Wave 5 -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endParaRPr lang="en-US" sz="800" b="0" kern="120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11/12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26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1612"/>
                  </a:ext>
                </a:extLst>
              </a:tr>
            </a:tbl>
          </a:graphicData>
        </a:graphic>
      </p:graphicFrame>
      <p:graphicFrame>
        <p:nvGraphicFramePr>
          <p:cNvPr id="29" name="Table 28">
            <a:extLst>
              <a:ext uri="{FF2B5EF4-FFF2-40B4-BE49-F238E27FC236}">
                <a16:creationId xmlns:a16="http://schemas.microsoft.com/office/drawing/2014/main" id="{C61BD453-E1B3-2BD5-E0C2-7EAACF5CC434}"/>
              </a:ext>
            </a:extLst>
          </p:cNvPr>
          <p:cNvGraphicFramePr>
            <a:graphicFrameLocks noGrp="1"/>
          </p:cNvGraphicFramePr>
          <p:nvPr/>
        </p:nvGraphicFramePr>
        <p:xfrm>
          <a:off x="6154189" y="5380450"/>
          <a:ext cx="5865668" cy="816769"/>
        </p:xfrm>
        <a:graphic>
          <a:graphicData uri="http://schemas.openxmlformats.org/drawingml/2006/table">
            <a:tbl>
              <a:tblPr>
                <a:tableStyleId>{5C22544A-7EE6-4342-B048-85BDC9FD1C3A}</a:tableStyleId>
              </a:tblPr>
              <a:tblGrid>
                <a:gridCol w="2650459">
                  <a:extLst>
                    <a:ext uri="{9D8B030D-6E8A-4147-A177-3AD203B41FA5}">
                      <a16:colId xmlns:a16="http://schemas.microsoft.com/office/drawing/2014/main" val="2456552316"/>
                    </a:ext>
                  </a:extLst>
                </a:gridCol>
                <a:gridCol w="428625">
                  <a:extLst>
                    <a:ext uri="{9D8B030D-6E8A-4147-A177-3AD203B41FA5}">
                      <a16:colId xmlns:a16="http://schemas.microsoft.com/office/drawing/2014/main" val="1100051595"/>
                    </a:ext>
                  </a:extLst>
                </a:gridCol>
                <a:gridCol w="514350">
                  <a:extLst>
                    <a:ext uri="{9D8B030D-6E8A-4147-A177-3AD203B41FA5}">
                      <a16:colId xmlns:a16="http://schemas.microsoft.com/office/drawing/2014/main" val="2042261034"/>
                    </a:ext>
                  </a:extLst>
                </a:gridCol>
                <a:gridCol w="2272234">
                  <a:extLst>
                    <a:ext uri="{9D8B030D-6E8A-4147-A177-3AD203B41FA5}">
                      <a16:colId xmlns:a16="http://schemas.microsoft.com/office/drawing/2014/main" val="2815874248"/>
                    </a:ext>
                  </a:extLst>
                </a:gridCol>
              </a:tblGrid>
              <a:tr h="27180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03206">
                <a:tc>
                  <a:txBody>
                    <a:bodyPr/>
                    <a:lstStyle/>
                    <a:p>
                      <a:pPr marL="0" marR="0" lvl="0" indent="0" algn="l" rtl="0">
                        <a:lnSpc>
                          <a:spcPct val="114999"/>
                        </a:lnSpc>
                        <a:spcBef>
                          <a:spcPts val="0"/>
                        </a:spcBef>
                        <a:spcAft>
                          <a:spcPts val="800"/>
                        </a:spcAft>
                        <a:buClrTx/>
                        <a:buSzTx/>
                        <a:buFontTx/>
                        <a:buNone/>
                      </a:pPr>
                      <a:endParaRPr kumimoji="0" lang="en-US" sz="800" kern="100">
                        <a:cs typeface="Times New Roman"/>
                      </a:endParaRPr>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rtl="0">
                        <a:lnSpc>
                          <a:spcPct val="95000"/>
                        </a:lnSpc>
                        <a:spcBef>
                          <a:spcPct val="0"/>
                        </a:spcBef>
                        <a:spcAft>
                          <a:spcPct val="50000"/>
                        </a:spcAft>
                        <a:buClrTx/>
                        <a:buSzTx/>
                        <a:buFontTx/>
                        <a:buNone/>
                      </a:pPr>
                      <a:endParaRPr kumimoji="0" lang="en-US" sz="800" b="0"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rtl="0">
                        <a:lnSpc>
                          <a:spcPct val="95000"/>
                        </a:lnSpc>
                        <a:spcBef>
                          <a:spcPct val="0"/>
                        </a:spcBef>
                        <a:spcAft>
                          <a:spcPct val="50000"/>
                        </a:spcAft>
                        <a:buClrTx/>
                        <a:buSzTx/>
                        <a:buFontTx/>
                        <a:buNone/>
                      </a:pPr>
                      <a:endParaRPr kumimoji="0" lang="en-US" sz="800" b="0" strike="noStrike"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l" rtl="0">
                        <a:lnSpc>
                          <a:spcPct val="100000"/>
                        </a:lnSpc>
                        <a:spcBef>
                          <a:spcPts val="200"/>
                        </a:spcBef>
                        <a:spcAft>
                          <a:spcPts val="0"/>
                        </a:spcAft>
                        <a:buClrTx/>
                        <a:buSzTx/>
                        <a:buFontTx/>
                        <a:buNone/>
                      </a:pPr>
                      <a:endParaRPr kumimoji="0" lang="en-US" sz="800"/>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6FAF102F-A663-0461-9B43-6E39F86BE8AF}"/>
              </a:ext>
            </a:extLst>
          </p:cNvPr>
          <p:cNvSpPr/>
          <p:nvPr/>
        </p:nvSpPr>
        <p:spPr>
          <a:xfrm>
            <a:off x="7563179" y="6385521"/>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C009E432-2042-719E-851F-881C1DD971F1}"/>
              </a:ext>
            </a:extLst>
          </p:cNvPr>
          <p:cNvSpPr/>
          <p:nvPr/>
        </p:nvSpPr>
        <p:spPr>
          <a:xfrm>
            <a:off x="8400652" y="6369761"/>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BD51AF12-351F-1BB7-E406-C28E24CAA53A}"/>
              </a:ext>
            </a:extLst>
          </p:cNvPr>
          <p:cNvSpPr/>
          <p:nvPr/>
        </p:nvSpPr>
        <p:spPr>
          <a:xfrm>
            <a:off x="9238126" y="6369761"/>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AC206C15-1DC8-A360-BBDA-9B529DE06FA8}"/>
              </a:ext>
            </a:extLst>
          </p:cNvPr>
          <p:cNvSpPr/>
          <p:nvPr/>
        </p:nvSpPr>
        <p:spPr>
          <a:xfrm>
            <a:off x="3303638"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0000"/>
              </a:highlight>
              <a:uLnTx/>
              <a:uFillTx/>
              <a:latin typeface="Aptos" panose="02110004020202020204"/>
              <a:ea typeface="+mn-ea"/>
              <a:cs typeface="+mn-cs"/>
            </a:endParaRPr>
          </a:p>
        </p:txBody>
      </p:sp>
      <p:sp>
        <p:nvSpPr>
          <p:cNvPr id="45" name="Flowchart: Connector 44">
            <a:extLst>
              <a:ext uri="{FF2B5EF4-FFF2-40B4-BE49-F238E27FC236}">
                <a16:creationId xmlns:a16="http://schemas.microsoft.com/office/drawing/2014/main" id="{3D23B6C4-848A-2071-B725-99E7F4A6ECEA}"/>
              </a:ext>
            </a:extLst>
          </p:cNvPr>
          <p:cNvSpPr/>
          <p:nvPr/>
        </p:nvSpPr>
        <p:spPr>
          <a:xfrm>
            <a:off x="4286105"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8774D8AE-96DB-CD4B-A7E5-716C6BBAAD57}"/>
              </a:ext>
            </a:extLst>
          </p:cNvPr>
          <p:cNvSpPr/>
          <p:nvPr/>
        </p:nvSpPr>
        <p:spPr>
          <a:xfrm>
            <a:off x="5143033"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D934C5AD-AB85-29C0-3A02-B7952E457DDC}"/>
              </a:ext>
            </a:extLst>
          </p:cNvPr>
          <p:cNvSpPr/>
          <p:nvPr/>
        </p:nvSpPr>
        <p:spPr>
          <a:xfrm>
            <a:off x="6078524" y="1256935"/>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DCB7F4E-9E6A-7F8F-40DC-282AC692FB10}"/>
              </a:ext>
            </a:extLst>
          </p:cNvPr>
          <p:cNvSpPr txBox="1"/>
          <p:nvPr/>
        </p:nvSpPr>
        <p:spPr>
          <a:xfrm>
            <a:off x="130674" y="1580491"/>
            <a:ext cx="6010907" cy="5000343"/>
          </a:xfrm>
          <a:prstGeom prst="rect">
            <a:avLst/>
          </a:prstGeom>
          <a:noFill/>
        </p:spPr>
        <p:txBody>
          <a:bodyPr wrap="square" lIns="91440" tIns="45720" rIns="91440" bIns="45720" anchor="t">
            <a:spAutoFit/>
          </a:bodyPr>
          <a:lstStyle/>
          <a:p>
            <a:pPr>
              <a:defRPr/>
            </a:pPr>
            <a:r>
              <a:rPr kumimoji="0" lang="en-US" sz="1000" b="1" i="0" u="sng" strike="noStrike" kern="1200" cap="none" spc="0" normalizeH="0" baseline="0" noProof="0">
                <a:ln>
                  <a:noFill/>
                </a:ln>
                <a:solidFill>
                  <a:prstClr val="black"/>
                </a:solidFill>
                <a:effectLst/>
                <a:uLnTx/>
                <a:uFillTx/>
                <a:latin typeface="Aptos" panose="02110004020202020204"/>
                <a:ea typeface="+mn-ea"/>
                <a:cs typeface="+mn-cs"/>
              </a:rPr>
              <a:t>Status:</a:t>
            </a:r>
            <a:r>
              <a:rPr lang="en-US" sz="1000" b="1">
                <a:solidFill>
                  <a:prstClr val="black"/>
                </a:solidFill>
                <a:latin typeface="Aptos" panose="02110004020202020204"/>
              </a:rPr>
              <a:t>  </a:t>
            </a:r>
            <a:r>
              <a:rPr lang="en-US" sz="1000" b="1">
                <a:solidFill>
                  <a:prstClr val="black"/>
                </a:solidFill>
                <a:highlight>
                  <a:srgbClr val="008000"/>
                </a:highlight>
                <a:latin typeface="Aptos" panose="02110004020202020204"/>
              </a:rPr>
              <a:t>Green</a:t>
            </a:r>
            <a:endParaRPr lang="en-US" sz="1000" kern="100">
              <a:solidFill>
                <a:prstClr val="black"/>
              </a:solidFill>
              <a:highlight>
                <a:srgbClr val="008000"/>
              </a:highlight>
              <a:latin typeface="Aptos" panose="02110004020202020204"/>
              <a:cs typeface="Times New Roman"/>
            </a:endParaRPr>
          </a:p>
          <a:p>
            <a:pPr>
              <a:defRPr/>
            </a:pPr>
            <a:endParaRPr lang="en-US" sz="1000">
              <a:solidFill>
                <a:prstClr val="black"/>
              </a:solidFill>
              <a:latin typeface="Aptos" panose="02110004020202020204"/>
            </a:endParaRPr>
          </a:p>
          <a:p>
            <a:r>
              <a:rPr lang="en-US" sz="1000">
                <a:solidFill>
                  <a:prstClr val="black"/>
                </a:solidFill>
                <a:latin typeface="Aptos" panose="02110004020202020204"/>
              </a:rPr>
              <a:t>Project status remains Green. Wave 4 development and testing activities are progressing as planned, and Wave 5 analysis has commenced. The Wave 4 delivery date has been adjusted from October 15 to October 22 to allow additional time for testing completion and review of test results upon the Test Lead's return. No significant risks to the overall project timeline are currently anticipated.</a:t>
            </a:r>
          </a:p>
          <a:p>
            <a:pPr>
              <a:defRPr/>
            </a:pPr>
            <a:endParaRPr lang="en-US" sz="1000">
              <a:solidFill>
                <a:prstClr val="black"/>
              </a:solidFill>
              <a:latin typeface="Aptos"/>
              <a:ea typeface="Aptos" panose="020B0004020202020204" pitchFamily="34" charset="0"/>
              <a:cs typeface="Times New Roman"/>
            </a:endParaRPr>
          </a:p>
          <a:p>
            <a:pPr>
              <a:defRPr/>
            </a:pPr>
            <a:r>
              <a:rPr kumimoji="0" lang="en-US" sz="1000" b="1" i="0" u="sng" strike="noStrike" kern="100" cap="none" spc="0" normalizeH="0" baseline="0" noProof="0">
                <a:ln>
                  <a:noFill/>
                </a:ln>
                <a:solidFill>
                  <a:prstClr val="black"/>
                </a:solidFill>
                <a:effectLst/>
                <a:uLnTx/>
                <a:uFillTx/>
                <a:latin typeface="Aptos"/>
                <a:ea typeface="Aptos" panose="020B0004020202020204" pitchFamily="34" charset="0"/>
                <a:cs typeface="Times New Roman"/>
              </a:rPr>
              <a:t>Highlights:</a:t>
            </a:r>
            <a:endParaRPr lang="en-US" sz="10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a:p>
            <a:pPr marL="171450" indent="-171450">
              <a:buSzPts val="1000"/>
              <a:buFont typeface="Arial"/>
              <a:buChar char="•"/>
              <a:tabLst>
                <a:tab pos="457200" algn="l"/>
              </a:tabLst>
              <a:defRPr/>
            </a:pPr>
            <a:r>
              <a:rPr lang="en-US" sz="1000">
                <a:solidFill>
                  <a:prstClr val="black"/>
                </a:solidFill>
                <a:latin typeface="Aptos" panose="02110004020202020204"/>
              </a:rPr>
              <a:t>Critical Hotfix Defects migrated to Production on 06/29</a:t>
            </a:r>
          </a:p>
          <a:p>
            <a:pPr marL="171450" indent="-171450">
              <a:lnSpc>
                <a:spcPct val="115000"/>
              </a:lnSpc>
              <a:spcBef>
                <a:spcPts val="200"/>
              </a:spcBef>
              <a:buSzPts val="1000"/>
              <a:buFont typeface="Arial"/>
              <a:buChar char="•"/>
              <a:tabLst>
                <a:tab pos="457200" algn="l"/>
              </a:tabLst>
              <a:defRPr/>
            </a:pPr>
            <a:r>
              <a:rPr lang="en-US" sz="1000">
                <a:solidFill>
                  <a:prstClr val="black"/>
                </a:solidFill>
                <a:latin typeface="Aptos" panose="02110004020202020204"/>
              </a:rPr>
              <a:t>Wave 1 completed and deployed to Production on 07/14</a:t>
            </a:r>
          </a:p>
          <a:p>
            <a:pPr marL="171450" indent="-171450">
              <a:buSzPts val="1000"/>
              <a:buFont typeface="Arial"/>
              <a:buChar char="•"/>
              <a:tabLst>
                <a:tab pos="457200" algn="l"/>
              </a:tabLst>
              <a:defRPr/>
            </a:pPr>
            <a:r>
              <a:rPr lang="en-US" sz="1000">
                <a:solidFill>
                  <a:prstClr val="black"/>
                </a:solidFill>
                <a:latin typeface="Aptos" panose="02110004020202020204"/>
              </a:rPr>
              <a:t>Business signoff received for Wave 2 on 8/17</a:t>
            </a:r>
          </a:p>
          <a:p>
            <a:pPr marL="171450" indent="-171450">
              <a:buSzPts val="1000"/>
              <a:buFont typeface="Arial"/>
              <a:buChar char="•"/>
              <a:tabLst>
                <a:tab pos="457200" algn="l"/>
              </a:tabLst>
              <a:defRPr/>
            </a:pPr>
            <a:r>
              <a:rPr lang="en-US" sz="1000">
                <a:solidFill>
                  <a:prstClr val="black"/>
                </a:solidFill>
                <a:latin typeface="Aptos" panose="02110004020202020204"/>
              </a:rPr>
              <a:t>Wave 2 completed and deployed to Production on 08/19</a:t>
            </a:r>
          </a:p>
          <a:p>
            <a:pPr marL="171450" indent="-171450">
              <a:buSzPts val="1000"/>
              <a:buFont typeface="Arial"/>
              <a:buChar char="•"/>
              <a:tabLst>
                <a:tab pos="457200" algn="l"/>
              </a:tabLst>
              <a:defRPr/>
            </a:pPr>
            <a:r>
              <a:rPr lang="en-US" sz="1000">
                <a:solidFill>
                  <a:prstClr val="black"/>
                </a:solidFill>
                <a:latin typeface="Aptos" panose="02110004020202020204"/>
              </a:rPr>
              <a:t>Wave 3 defects grouped into Wave 3A, 3B, 3C, and 3D+ for September validation and deployment</a:t>
            </a:r>
          </a:p>
          <a:p>
            <a:pPr marL="171450" indent="-171450">
              <a:buSzPts val="1000"/>
              <a:buFont typeface="Arial"/>
              <a:buChar char="•"/>
              <a:tabLst>
                <a:tab pos="457200" algn="l"/>
              </a:tabLst>
              <a:defRPr/>
            </a:pPr>
            <a:r>
              <a:rPr lang="en-US" sz="1000">
                <a:solidFill>
                  <a:prstClr val="black"/>
                </a:solidFill>
                <a:latin typeface="Aptos" panose="02110004020202020204"/>
              </a:rPr>
              <a:t>Wave 3 Release 1 completed and deployed to Production on 09/08</a:t>
            </a:r>
          </a:p>
          <a:p>
            <a:pPr marL="171450" indent="-171450">
              <a:buSzPts val="1000"/>
              <a:buFont typeface="Arial"/>
              <a:buChar char="•"/>
              <a:tabLst>
                <a:tab pos="457200" algn="l"/>
              </a:tabLst>
              <a:defRPr/>
            </a:pPr>
            <a:r>
              <a:rPr lang="en-US" sz="1000">
                <a:solidFill>
                  <a:prstClr val="black"/>
                </a:solidFill>
                <a:latin typeface="Aptos" panose="02110004020202020204"/>
              </a:rPr>
              <a:t>Wave 3 Release 2 completed and deployed to Production on  09/14</a:t>
            </a:r>
          </a:p>
          <a:p>
            <a:pPr marL="171450" indent="-171450">
              <a:buSzPts val="1000"/>
              <a:buFont typeface="Arial"/>
              <a:buChar char="•"/>
              <a:tabLst>
                <a:tab pos="457200" algn="l"/>
              </a:tabLst>
              <a:defRPr/>
            </a:pPr>
            <a:r>
              <a:rPr lang="en-US" sz="1000">
                <a:solidFill>
                  <a:prstClr val="black"/>
                </a:solidFill>
                <a:latin typeface="Aptos" panose="02110004020202020204"/>
              </a:rPr>
              <a:t>Wave 4 defect development and testing are in progress</a:t>
            </a:r>
          </a:p>
          <a:p>
            <a:pPr marL="171450" indent="-171450">
              <a:buSzPts val="1000"/>
              <a:buFont typeface="Arial"/>
              <a:buChar char="•"/>
              <a:tabLst>
                <a:tab pos="457200" algn="l"/>
              </a:tabLst>
              <a:defRPr/>
            </a:pPr>
            <a:r>
              <a:rPr lang="en-US" sz="1000">
                <a:solidFill>
                  <a:prstClr val="black"/>
                </a:solidFill>
                <a:latin typeface="Aptos" panose="02110004020202020204"/>
              </a:rPr>
              <a:t>Wave 5 Analysis has been initiated</a:t>
            </a:r>
          </a:p>
          <a:p>
            <a:pPr marL="171450" indent="-171450">
              <a:buSzPts val="1000"/>
              <a:buFont typeface="Arial"/>
              <a:buChar char="•"/>
              <a:tabLst>
                <a:tab pos="457200" algn="l"/>
              </a:tabLst>
              <a:defRPr/>
            </a:pPr>
            <a:r>
              <a:rPr lang="en-US" sz="1000">
                <a:solidFill>
                  <a:prstClr val="black"/>
                </a:solidFill>
                <a:latin typeface="Aptos" panose="02110004020202020204"/>
              </a:rPr>
              <a:t>Team successfully overcame numerous release blockers, including environment challenges and temporary GitHub service disruptions</a:t>
            </a:r>
          </a:p>
          <a:p>
            <a:pPr marL="171450" indent="-171450">
              <a:buSzPts val="1000"/>
              <a:buFont typeface="Arial"/>
              <a:buChar char="•"/>
              <a:tabLst>
                <a:tab pos="457200" algn="l"/>
              </a:tabLst>
              <a:defRPr/>
            </a:pPr>
            <a:r>
              <a:rPr lang="en-US" sz="1000">
                <a:solidFill>
                  <a:prstClr val="black"/>
                </a:solidFill>
                <a:latin typeface="Aptos" panose="02110004020202020204"/>
              </a:rPr>
              <a:t>Strong collaboration across business and technology teams enabled achievement of August release goals</a:t>
            </a:r>
          </a:p>
          <a:p>
            <a:pPr>
              <a:lnSpc>
                <a:spcPct val="114999"/>
              </a:lnSpc>
              <a:spcBef>
                <a:spcPts val="200"/>
              </a:spcBef>
              <a:buSzPts val="1000"/>
              <a:tabLst>
                <a:tab pos="457200" algn="l"/>
              </a:tabLst>
              <a:defRPr/>
            </a:pPr>
            <a:endParaRPr lang="en-US" sz="1000" kern="100">
              <a:solidFill>
                <a:prstClr val="black"/>
              </a:solidFill>
              <a:cs typeface="Times New Roman"/>
            </a:endParaRPr>
          </a:p>
          <a:p>
            <a:pPr fontAlgn="t">
              <a:lnSpc>
                <a:spcPct val="100000"/>
              </a:lnSpc>
              <a:buNone/>
            </a:pPr>
            <a:r>
              <a:rPr lang="en-US" sz="1000" b="1" u="sng" kern="100">
                <a:solidFill>
                  <a:prstClr val="black"/>
                </a:solidFill>
                <a:latin typeface="Aptos"/>
                <a:cs typeface="Times New Roman"/>
              </a:rPr>
              <a:t>Next Steps</a:t>
            </a:r>
          </a:p>
          <a:p>
            <a:pPr marL="171450" lvl="0" indent="-171450" fontAlgn="t">
              <a:lnSpc>
                <a:spcPct val="100000"/>
              </a:lnSpc>
              <a:buFont typeface="Arial" panose="020B0604020202020204" pitchFamily="34" charset="0"/>
              <a:buChar char="•"/>
            </a:pPr>
            <a:r>
              <a:rPr lang="en-US" sz="1000">
                <a:solidFill>
                  <a:prstClr val="black"/>
                </a:solidFill>
                <a:latin typeface="Aptos" panose="02110004020202020204"/>
              </a:rPr>
              <a:t>Complete Wave 4 testing and deployment readiness activities for the revised 10/22 delivery.</a:t>
            </a:r>
          </a:p>
          <a:p>
            <a:pPr marL="171450" lvl="0" indent="-171450" fontAlgn="t">
              <a:lnSpc>
                <a:spcPct val="100000"/>
              </a:lnSpc>
              <a:buFont typeface="Arial" panose="020B0604020202020204" pitchFamily="34" charset="0"/>
              <a:buChar char="•"/>
            </a:pPr>
            <a:r>
              <a:rPr lang="en-US" sz="1000">
                <a:solidFill>
                  <a:prstClr val="black"/>
                </a:solidFill>
                <a:latin typeface="Aptos" panose="02110004020202020204"/>
              </a:rPr>
              <a:t>Continue Wave 5 analysis and planning.</a:t>
            </a:r>
          </a:p>
          <a:p>
            <a:pPr marL="171450" lvl="0" indent="-171450" fontAlgn="t">
              <a:lnSpc>
                <a:spcPct val="100000"/>
              </a:lnSpc>
              <a:buFont typeface="Arial" panose="020B0604020202020204" pitchFamily="34" charset="0"/>
              <a:buChar char="•"/>
            </a:pPr>
            <a:r>
              <a:rPr lang="en-US" sz="1000">
                <a:solidFill>
                  <a:prstClr val="black"/>
                </a:solidFill>
                <a:latin typeface="Aptos" panose="02110004020202020204"/>
              </a:rPr>
              <a:t>Assess the impact of the newly identified defect and ongoing defect intake.</a:t>
            </a:r>
          </a:p>
          <a:p>
            <a:pPr marL="171450" lvl="0" indent="-171450" fontAlgn="t">
              <a:lnSpc>
                <a:spcPct val="100000"/>
              </a:lnSpc>
              <a:buFont typeface="Arial" panose="020B0604020202020204" pitchFamily="34" charset="0"/>
              <a:buChar char="•"/>
            </a:pPr>
            <a:r>
              <a:rPr lang="en-US" sz="1000">
                <a:solidFill>
                  <a:prstClr val="black"/>
                </a:solidFill>
                <a:latin typeface="Aptos" panose="02110004020202020204"/>
              </a:rPr>
              <a:t>Align with business stakeholders on prioritization and approach for accommodating additional defects, as current scope and capacity are planned through Wave 5.</a:t>
            </a:r>
          </a:p>
          <a:p>
            <a:pPr marL="171450" lvl="0" indent="-171450" fontAlgn="t">
              <a:lnSpc>
                <a:spcPct val="100000"/>
              </a:lnSpc>
              <a:buFont typeface="Arial" panose="020B0604020202020204" pitchFamily="34" charset="0"/>
              <a:buChar char="•"/>
            </a:pPr>
            <a:r>
              <a:rPr lang="en-US" sz="1000">
                <a:solidFill>
                  <a:prstClr val="black"/>
                </a:solidFill>
                <a:latin typeface="Aptos" panose="02110004020202020204"/>
              </a:rPr>
              <a:t>Determine release planning adjustments required for defects beyond the current roadmap.</a:t>
            </a:r>
          </a:p>
          <a:p>
            <a:pPr>
              <a:lnSpc>
                <a:spcPct val="114999"/>
              </a:lnSpc>
              <a:spcBef>
                <a:spcPts val="200"/>
              </a:spcBef>
              <a:buSzPts val="1000"/>
              <a:tabLst>
                <a:tab pos="457200" algn="l"/>
              </a:tabLst>
              <a:defRPr/>
            </a:pPr>
            <a:endParaRPr lang="en-US" sz="1000" kern="100">
              <a:solidFill>
                <a:prstClr val="black"/>
              </a:solidFill>
              <a:cs typeface="Times New Roman"/>
            </a:endParaRPr>
          </a:p>
        </p:txBody>
      </p:sp>
      <p:sp>
        <p:nvSpPr>
          <p:cNvPr id="12" name="Title 1">
            <a:extLst>
              <a:ext uri="{FF2B5EF4-FFF2-40B4-BE49-F238E27FC236}">
                <a16:creationId xmlns:a16="http://schemas.microsoft.com/office/drawing/2014/main" id="{C8ACD4F8-2610-D224-6128-20E46C7BA653}"/>
              </a:ext>
            </a:extLst>
          </p:cNvPr>
          <p:cNvSpPr>
            <a:spLocks noGrp="1"/>
          </p:cNvSpPr>
          <p:nvPr/>
        </p:nvSpPr>
        <p:spPr>
          <a:xfrm>
            <a:off x="252469" y="209973"/>
            <a:ext cx="11652110" cy="517320"/>
          </a:xfrm>
          <a:prstGeom prst="rect">
            <a:avLst/>
          </a:prstGeom>
        </p:spPr>
        <p:txBody>
          <a:bodyPr vert="horz" lIns="0" tIns="0" rIns="0" bIns="0" rtlCol="0" anchor="t" anchorCtr="0">
            <a:normAutofit/>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pPr marL="0" marR="0" lvl="0" indent="0" algn="l" defTabSz="685858" rtl="0" eaLnBrk="1" fontAlgn="auto" latinLnBrk="0" hangingPunct="1">
              <a:lnSpc>
                <a:spcPct val="90000"/>
              </a:lnSpc>
              <a:spcBef>
                <a:spcPts val="0"/>
              </a:spcBef>
              <a:spcAft>
                <a:spcPts val="0"/>
              </a:spcAft>
              <a:buClrTx/>
              <a:buSzTx/>
              <a:buFontTx/>
              <a:buNone/>
              <a:tabLst/>
              <a:defRPr/>
            </a:pPr>
            <a:r>
              <a:rPr kumimoji="0" lang="en-US" sz="2100" b="1" i="0" u="none" strike="noStrike" kern="1200" cap="none" spc="0" normalizeH="0" baseline="0" noProof="0">
                <a:ln>
                  <a:noFill/>
                </a:ln>
                <a:solidFill>
                  <a:srgbClr val="0070C0"/>
                </a:solidFill>
                <a:effectLst/>
                <a:uLnTx/>
                <a:uFillTx/>
                <a:latin typeface="Aptos Display" panose="02110004020202020204"/>
                <a:ea typeface="+mj-ea"/>
                <a:cs typeface="+mj-cs"/>
              </a:rPr>
              <a:t>Payroll Billing Defect Fixes</a:t>
            </a:r>
            <a:br>
              <a:rPr kumimoji="0" lang="en-US" sz="2100" b="1" i="0" u="none" strike="noStrike" kern="1200" cap="none" spc="0" normalizeH="0" baseline="0" noProof="0">
                <a:ln>
                  <a:noFill/>
                </a:ln>
                <a:solidFill>
                  <a:srgbClr val="0070C0"/>
                </a:solidFill>
                <a:effectLst/>
                <a:uLnTx/>
                <a:uFillTx/>
                <a:latin typeface="Aptos Display" panose="02110004020202020204"/>
                <a:ea typeface="+mj-ea"/>
                <a:cs typeface="+mj-cs"/>
              </a:rPr>
            </a:br>
            <a:endParaRPr kumimoji="0" lang="en-US" sz="1600" b="1" i="0" u="none" strike="noStrike" kern="1200" cap="none" spc="0" normalizeH="0" baseline="0" noProof="0">
              <a:ln>
                <a:noFill/>
              </a:ln>
              <a:solidFill>
                <a:srgbClr val="0070C0"/>
              </a:solidFill>
              <a:effectLst/>
              <a:uLnTx/>
              <a:uFillTx/>
              <a:latin typeface="Aptos Display" panose="02110004020202020204"/>
              <a:ea typeface="+mj-ea"/>
              <a:cs typeface="+mj-cs"/>
            </a:endParaRPr>
          </a:p>
        </p:txBody>
      </p:sp>
      <p:sp>
        <p:nvSpPr>
          <p:cNvPr id="13" name="TextBox 2">
            <a:extLst>
              <a:ext uri="{FF2B5EF4-FFF2-40B4-BE49-F238E27FC236}">
                <a16:creationId xmlns:a16="http://schemas.microsoft.com/office/drawing/2014/main" id="{EFC2432D-CF54-99E1-449F-91564C9C48AD}"/>
              </a:ext>
            </a:extLst>
          </p:cNvPr>
          <p:cNvSpPr txBox="1"/>
          <p:nvPr/>
        </p:nvSpPr>
        <p:spPr>
          <a:xfrm>
            <a:off x="9448315" y="275329"/>
            <a:ext cx="2676180" cy="51732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Delivery Leader: Rekha Kothandaraman</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Victor Nas</a:t>
            </a:r>
          </a:p>
        </p:txBody>
      </p:sp>
      <p:sp>
        <p:nvSpPr>
          <p:cNvPr id="7" name="Flowchart: Connector 6">
            <a:extLst>
              <a:ext uri="{FF2B5EF4-FFF2-40B4-BE49-F238E27FC236}">
                <a16:creationId xmlns:a16="http://schemas.microsoft.com/office/drawing/2014/main" id="{C189D952-BBB2-BECD-60EF-E825D73B9EBC}"/>
              </a:ext>
            </a:extLst>
          </p:cNvPr>
          <p:cNvSpPr/>
          <p:nvPr/>
        </p:nvSpPr>
        <p:spPr>
          <a:xfrm>
            <a:off x="8453285" y="4413220"/>
            <a:ext cx="170450"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FF00"/>
              </a:highlight>
              <a:uLnTx/>
              <a:uFillTx/>
              <a:latin typeface="Aptos" panose="02110004020202020204"/>
              <a:ea typeface="+mn-ea"/>
              <a:cs typeface="+mn-cs"/>
            </a:endParaRPr>
          </a:p>
        </p:txBody>
      </p:sp>
      <p:sp>
        <p:nvSpPr>
          <p:cNvPr id="3" name="Flowchart: Connector 2">
            <a:extLst>
              <a:ext uri="{FF2B5EF4-FFF2-40B4-BE49-F238E27FC236}">
                <a16:creationId xmlns:a16="http://schemas.microsoft.com/office/drawing/2014/main" id="{492A0E89-B673-CC48-6A17-716DEEB97CB4}"/>
              </a:ext>
            </a:extLst>
          </p:cNvPr>
          <p:cNvSpPr/>
          <p:nvPr/>
        </p:nvSpPr>
        <p:spPr>
          <a:xfrm>
            <a:off x="8460755" y="4655133"/>
            <a:ext cx="170450"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FF00"/>
              </a:highlight>
              <a:uLnTx/>
              <a:uFillTx/>
              <a:latin typeface="Aptos" panose="02110004020202020204"/>
              <a:ea typeface="+mn-ea"/>
              <a:cs typeface="+mn-cs"/>
            </a:endParaRPr>
          </a:p>
        </p:txBody>
      </p:sp>
    </p:spTree>
    <p:extLst>
      <p:ext uri="{BB962C8B-B14F-4D97-AF65-F5344CB8AC3E}">
        <p14:creationId xmlns:p14="http://schemas.microsoft.com/office/powerpoint/2010/main" val="2980477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935D-FADF-150B-76BC-0CC132A48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548A-6907-A650-DA4B-513DB2218804}"/>
              </a:ext>
            </a:extLst>
          </p:cNvPr>
          <p:cNvSpPr>
            <a:spLocks noGrp="1"/>
          </p:cNvSpPr>
          <p:nvPr>
            <p:ph type="title"/>
          </p:nvPr>
        </p:nvSpPr>
        <p:spPr/>
        <p:txBody>
          <a:bodyPr/>
          <a:lstStyle/>
          <a:p>
            <a:r>
              <a:rPr lang="en-US" sz="6500"/>
              <a:t>Projects on Hold</a:t>
            </a:r>
          </a:p>
        </p:txBody>
      </p:sp>
    </p:spTree>
    <p:extLst>
      <p:ext uri="{BB962C8B-B14F-4D97-AF65-F5344CB8AC3E}">
        <p14:creationId xmlns:p14="http://schemas.microsoft.com/office/powerpoint/2010/main" val="34579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006F-24B8-0616-AA07-F189924B98A2}"/>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56A6B5-6726-12BF-6DD0-0C302451DF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56A6B5-6726-12BF-6DD0-0C302451DF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4A008CE-8947-EC78-41C7-0CA04875C0B3}"/>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22D950E4-D285-775C-EB5D-D166CFEF57CF}"/>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sv-SE" sz="2400">
                <a:solidFill>
                  <a:srgbClr val="29389F"/>
                </a:solidFill>
                <a:latin typeface="Arial" pitchFamily="34" charset="0"/>
                <a:cs typeface="Arial" pitchFamily="34" charset="0"/>
              </a:rPr>
              <a:t>NW Pet – </a:t>
            </a:r>
            <a:r>
              <a:rPr lang="en-US" sz="2400">
                <a:solidFill>
                  <a:srgbClr val="29389F"/>
                </a:solidFill>
                <a:latin typeface="Arial" pitchFamily="34" charset="0"/>
                <a:cs typeface="Arial" pitchFamily="34" charset="0"/>
              </a:rPr>
              <a:t>Convert: Move Informatica Power Center to Python</a:t>
            </a:r>
          </a:p>
        </p:txBody>
      </p:sp>
      <p:graphicFrame>
        <p:nvGraphicFramePr>
          <p:cNvPr id="11" name="Group 513">
            <a:extLst>
              <a:ext uri="{FF2B5EF4-FFF2-40B4-BE49-F238E27FC236}">
                <a16:creationId xmlns:a16="http://schemas.microsoft.com/office/drawing/2014/main" id="{6CE643CA-8419-1F97-0C7E-8D9863BBEE31}"/>
              </a:ext>
            </a:extLst>
          </p:cNvPr>
          <p:cNvGraphicFramePr>
            <a:graphicFrameLocks noGrp="1"/>
          </p:cNvGraphicFramePr>
          <p:nvPr>
            <p:extLst>
              <p:ext uri="{D42A27DB-BD31-4B8C-83A1-F6EECF244321}">
                <p14:modId xmlns:p14="http://schemas.microsoft.com/office/powerpoint/2010/main" val="119437857"/>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09/25/26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9410070-21F0-7F89-D8FF-E5EDD5144EFC}"/>
              </a:ext>
            </a:extLst>
          </p:cNvPr>
          <p:cNvGraphicFramePr>
            <a:graphicFrameLocks noGrp="1"/>
          </p:cNvGraphicFramePr>
          <p:nvPr>
            <p:extLst>
              <p:ext uri="{D42A27DB-BD31-4B8C-83A1-F6EECF244321}">
                <p14:modId xmlns:p14="http://schemas.microsoft.com/office/powerpoint/2010/main" val="428368474"/>
              </p:ext>
            </p:extLst>
          </p:nvPr>
        </p:nvGraphicFramePr>
        <p:xfrm>
          <a:off x="6640300" y="920667"/>
          <a:ext cx="5468995" cy="749848"/>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$230,000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$142K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$356K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$356K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22E0E64-58E2-AA5C-5D51-DD0543CEF8D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D181F7A-BC08-A875-3C35-6859EF4247AB}"/>
              </a:ext>
            </a:extLst>
          </p:cNvPr>
          <p:cNvGraphicFramePr>
            <a:graphicFrameLocks noGrp="1"/>
          </p:cNvGraphicFramePr>
          <p:nvPr>
            <p:extLst>
              <p:ext uri="{D42A27DB-BD31-4B8C-83A1-F6EECF244321}">
                <p14:modId xmlns:p14="http://schemas.microsoft.com/office/powerpoint/2010/main" val="2980320694"/>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Dec 15, 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1A56700-9565-3394-6DE5-5D82967F1FD3}"/>
              </a:ext>
            </a:extLst>
          </p:cNvPr>
          <p:cNvGraphicFramePr>
            <a:graphicFrameLocks noGrp="1"/>
          </p:cNvGraphicFramePr>
          <p:nvPr>
            <p:extLst>
              <p:ext uri="{D42A27DB-BD31-4B8C-83A1-F6EECF244321}">
                <p14:modId xmlns:p14="http://schemas.microsoft.com/office/powerpoint/2010/main" val="1955609193"/>
              </p:ext>
            </p:extLst>
          </p:nvPr>
        </p:nvGraphicFramePr>
        <p:xfrm>
          <a:off x="4854769" y="1696099"/>
          <a:ext cx="7269726" cy="3417549"/>
        </p:xfrm>
        <a:graphic>
          <a:graphicData uri="http://schemas.openxmlformats.org/drawingml/2006/table">
            <a:tbl>
              <a:tblPr>
                <a:tableStyleId>{5C22544A-7EE6-4342-B048-85BDC9FD1C3A}</a:tableStyleId>
              </a:tblPr>
              <a:tblGrid>
                <a:gridCol w="2660865">
                  <a:extLst>
                    <a:ext uri="{9D8B030D-6E8A-4147-A177-3AD203B41FA5}">
                      <a16:colId xmlns:a16="http://schemas.microsoft.com/office/drawing/2014/main" val="2456552316"/>
                    </a:ext>
                  </a:extLst>
                </a:gridCol>
                <a:gridCol w="399341">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6">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900" kern="1200">
                          <a:solidFill>
                            <a:schemeClr val="dk1"/>
                          </a:solidFill>
                          <a:effectLst/>
                          <a:latin typeface="+mn-lt"/>
                          <a:ea typeface="+mn-ea"/>
                          <a:cs typeface="+mn-cs"/>
                        </a:rPr>
                        <a:t>figma for Informatica to Python</a:t>
                      </a:r>
                      <a:endParaRPr lang="en-US" sz="800" b="0"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fight specific for RRD-Redesign.</a:t>
                      </a:r>
                      <a:endParaRPr lang="en-US" sz="800">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00" b="0" i="0" u="none" strike="noStrike" kern="100" noProof="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Informatica to Python GitHub link</a:t>
                      </a:r>
                      <a:endParaRPr lang="en-US" sz="800">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00" b="0" i="0" u="none" strike="noStrike" kern="100" noProof="0">
                        <a:solidFill>
                          <a:schemeClr val="dk1"/>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Solution Approach PPT</a:t>
                      </a:r>
                      <a:endParaRPr lang="en-US" sz="800" kern="1200">
                        <a:solidFill>
                          <a:schemeClr val="dk1"/>
                        </a:solidFill>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00" b="0" strike="noStrike" kern="1200">
                          <a:solidFill>
                            <a:schemeClr val="tx1"/>
                          </a:solidFill>
                          <a:effectLst/>
                          <a:latin typeface="+mn-lt"/>
                          <a:ea typeface="+mn-ea"/>
                          <a:cs typeface="+mn-cs"/>
                        </a:rPr>
                        <a:t>05/28</a:t>
                      </a:r>
                    </a:p>
                    <a:p>
                      <a:pPr algn="ctr"/>
                      <a:endParaRPr lang="en-US" sz="800" b="0" strike="sng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kern="100">
                        <a:solidFill>
                          <a:schemeClr val="dk1"/>
                        </a:solidFill>
                        <a:latin typeface="+mn-lt"/>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PET Informatica jobs inventory </a:t>
                      </a:r>
                      <a:endParaRPr lang="en-US" sz="800" kern="1200">
                        <a:solidFill>
                          <a:schemeClr val="dk1"/>
                        </a:solidFill>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00" b="0" strike="noStrike" kern="1200">
                          <a:solidFill>
                            <a:schemeClr val="tx1"/>
                          </a:solidFill>
                          <a:effectLst/>
                          <a:latin typeface="+mn-lt"/>
                          <a:ea typeface="+mn-ea"/>
                          <a:cs typeface="+mn-cs"/>
                        </a:rPr>
                        <a:t>05/28</a:t>
                      </a:r>
                    </a:p>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Official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07/10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77147821"/>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latin typeface="+mn-lt"/>
                      </a:endParaRPr>
                    </a:p>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US" sz="800" kern="1200">
                          <a:solidFill>
                            <a:schemeClr val="dk1"/>
                          </a:solidFill>
                          <a:effectLst/>
                          <a:latin typeface="+mn-lt"/>
                          <a:ea typeface="+mn-ea"/>
                          <a:cs typeface="+mn-cs"/>
                        </a:rPr>
                        <a:t>Went on hold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A128F3FC-F0E0-0536-E3C2-E81755B71D3E}"/>
              </a:ext>
            </a:extLst>
          </p:cNvPr>
          <p:cNvGraphicFramePr>
            <a:graphicFrameLocks noGrp="1"/>
          </p:cNvGraphicFramePr>
          <p:nvPr>
            <p:extLst>
              <p:ext uri="{D42A27DB-BD31-4B8C-83A1-F6EECF244321}">
                <p14:modId xmlns:p14="http://schemas.microsoft.com/office/powerpoint/2010/main" val="476043333"/>
              </p:ext>
            </p:extLst>
          </p:nvPr>
        </p:nvGraphicFramePr>
        <p:xfrm>
          <a:off x="4854769" y="5142448"/>
          <a:ext cx="7254527" cy="973582"/>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The estimations from the team is not finalized yet, there could be some slippage in scope or budget after the final estimations.</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mn-lt"/>
                          <a:ea typeface="+mn-ea"/>
                          <a:cs typeface="+mn-cs"/>
                        </a:rPr>
                        <a:t>07/10</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07/28</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Working with AT line to have estimations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7BFF483-B611-D387-D5BD-D2DF99A990A1}"/>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FDBFCC94-6D08-9409-9274-582936D9414D}"/>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B3714BC6-0BC6-FB60-2084-77765FCA69C1}"/>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F74266D8-0B3C-12DE-8B94-9AB7366DD017}"/>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1CBF89ED-BF89-A935-4965-1C2070E05399}"/>
              </a:ext>
            </a:extLst>
          </p:cNvPr>
          <p:cNvSpPr txBox="1"/>
          <p:nvPr/>
        </p:nvSpPr>
        <p:spPr>
          <a:xfrm>
            <a:off x="111476" y="1707675"/>
            <a:ext cx="4743293" cy="319260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r>
              <a:rPr lang="en-US" sz="850" kern="100">
                <a:solidFill>
                  <a:prstClr val="black"/>
                </a:solidFill>
                <a:latin typeface="Aptos" panose="020B0004020202020204" pitchFamily="34" charset="0"/>
                <a:ea typeface="Aptos" panose="020B0004020202020204" pitchFamily="34" charset="0"/>
                <a:cs typeface="Times New Roman"/>
              </a:rPr>
              <a:t>.</a:t>
            </a:r>
            <a:endParaRPr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i="0" u="none" strike="noStrike" kern="100" cap="none" spc="0" normalizeH="0" baseline="0" noProof="0">
                <a:ln>
                  <a:noFill/>
                </a:ln>
                <a:solidFill>
                  <a:prstClr val="black"/>
                </a:solidFill>
                <a:effectLst/>
                <a:uLnTx/>
                <a:uFillTx/>
                <a:latin typeface="Aptos" panose="020B0004020202020204" pitchFamily="34" charset="0"/>
                <a:cs typeface="Times New Roman"/>
              </a:rPr>
              <a:t>Artifacts required for the next step  like estimations and kick off is ready</a:t>
            </a:r>
            <a:endParaRPr lang="en-US" sz="85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scheduled on July 10</a:t>
            </a:r>
            <a:r>
              <a:rPr lang="en-US" sz="850" kern="100" baseline="30000">
                <a:solidFill>
                  <a:prstClr val="black"/>
                </a:solidFill>
                <a:latin typeface="Aptos" panose="020B0004020202020204" pitchFamily="34" charset="0"/>
                <a:cs typeface="Times New Roman"/>
              </a:rPr>
              <a:t>th</a:t>
            </a:r>
            <a:r>
              <a:rPr lang="en-US" sz="850" kern="100">
                <a:solidFill>
                  <a:prstClr val="black"/>
                </a:solidFill>
                <a:latin typeface="Aptos" panose="020B0004020202020204" pitchFamily="34" charset="0"/>
                <a:cs typeface="Times New Roman"/>
              </a:rPr>
              <a:t>.</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AT line occupied with Talend to python and focused on the same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Estimations provided by team.</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i="0" u="none" strike="noStrike" kern="100" cap="none" spc="0" normalizeH="0" baseline="0" noProof="0">
                <a:ln>
                  <a:noFill/>
                </a:ln>
                <a:solidFill>
                  <a:prstClr val="black"/>
                </a:solidFill>
                <a:effectLst/>
                <a:uLnTx/>
                <a:uFillTx/>
                <a:latin typeface="Aptos" panose="020B0004020202020204" pitchFamily="34" charset="0"/>
                <a:cs typeface="Times New Roman"/>
              </a:rPr>
              <a:t>Work started by AT line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lang="en-US" sz="85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Will be given a logical halt after Sep release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Estimations provided were not suitable and looking at options to leverage AI agents to reduce the estimations.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Session with EDO team done and insights shared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Team provided the estimations and in process of preparing plan.</a:t>
            </a:r>
          </a:p>
          <a:p>
            <a:pPr marL="171450" indent="-171450">
              <a:lnSpc>
                <a:spcPct val="114999"/>
              </a:lnSpc>
              <a:spcBef>
                <a:spcPts val="200"/>
              </a:spcBef>
              <a:buSzPts val="1000"/>
              <a:buFont typeface="Arial" panose="020B0604020202020204" pitchFamily="34" charset="0"/>
              <a:buChar char="•"/>
              <a:tabLst>
                <a:tab pos="457200" algn="l"/>
              </a:tabLst>
              <a:defRPr/>
            </a:pPr>
            <a:endParaRPr lang="en-US" sz="900" kern="100">
              <a:solidFill>
                <a:prstClr val="black"/>
              </a:solidFill>
              <a:cs typeface="Times New Roman"/>
            </a:endParaRP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900" b="0" i="0" u="none" strike="noStrike" kern="100" cap="none" spc="0" normalizeH="0" baseline="0" noProof="0">
              <a:ln>
                <a:noFill/>
              </a:ln>
              <a:solidFill>
                <a:prstClr val="black"/>
              </a:solidFill>
              <a:effectLst/>
              <a:uLnTx/>
              <a:uFillTx/>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2CB29BB4-1D10-6E3D-085B-1EB15DA15CD4}"/>
              </a:ext>
            </a:extLst>
          </p:cNvPr>
          <p:cNvSpPr txBox="1"/>
          <p:nvPr/>
        </p:nvSpPr>
        <p:spPr>
          <a:xfrm>
            <a:off x="9515820" y="56135"/>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Chalam Buddha</a:t>
            </a:r>
            <a:endParaRPr lang="en-US">
              <a:solidFill>
                <a:prstClr val="black"/>
              </a:solidFill>
              <a:ea typeface="+mn-ea"/>
              <a:cs typeface="+mn-cs"/>
            </a:endParaRPr>
          </a:p>
        </p:txBody>
      </p:sp>
      <p:sp>
        <p:nvSpPr>
          <p:cNvPr id="6" name="Flowchart: Connector 5">
            <a:extLst>
              <a:ext uri="{FF2B5EF4-FFF2-40B4-BE49-F238E27FC236}">
                <a16:creationId xmlns:a16="http://schemas.microsoft.com/office/drawing/2014/main" id="{374731E6-9338-5992-6BB3-EF890D15BE46}"/>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AAD39F61-5158-9CB3-4AD6-111941D0E88A}"/>
              </a:ext>
            </a:extLst>
          </p:cNvPr>
          <p:cNvSpPr/>
          <p:nvPr/>
        </p:nvSpPr>
        <p:spPr>
          <a:xfrm>
            <a:off x="3318991" y="141014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A053954C-6D12-FA72-3FE9-BA98652252F3}"/>
              </a:ext>
            </a:extLst>
          </p:cNvPr>
          <p:cNvSpPr/>
          <p:nvPr/>
        </p:nvSpPr>
        <p:spPr>
          <a:xfrm>
            <a:off x="5193576" y="141879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0E7CC4E6-EA10-5E49-802A-B0AC82E2607E}"/>
              </a:ext>
            </a:extLst>
          </p:cNvPr>
          <p:cNvSpPr/>
          <p:nvPr/>
        </p:nvSpPr>
        <p:spPr>
          <a:xfrm>
            <a:off x="7634479" y="415259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4899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07C9-4131-8181-9BA6-E7C20C33D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61652-6E99-3906-E950-5616A83A9880}"/>
              </a:ext>
            </a:extLst>
          </p:cNvPr>
          <p:cNvSpPr>
            <a:spLocks noGrp="1"/>
          </p:cNvSpPr>
          <p:nvPr>
            <p:ph type="title"/>
          </p:nvPr>
        </p:nvSpPr>
        <p:spPr/>
        <p:txBody>
          <a:bodyPr/>
          <a:lstStyle/>
          <a:p>
            <a:r>
              <a:rPr lang="en-US"/>
              <a:t>Completed Projects</a:t>
            </a:r>
          </a:p>
        </p:txBody>
      </p:sp>
    </p:spTree>
    <p:extLst>
      <p:ext uri="{BB962C8B-B14F-4D97-AF65-F5344CB8AC3E}">
        <p14:creationId xmlns:p14="http://schemas.microsoft.com/office/powerpoint/2010/main" val="3417719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FE844-0C24-C2D1-3EEA-DB3A34FF6B3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D77A0B7-E5C7-DEB7-167D-12A5F166FC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D77A0B7-E5C7-DEB7-167D-12A5F166FC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DF2129D-8B1B-30FC-1D44-9F740DDEAFC9}"/>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944FB93D-C26F-1960-94DD-C3DF7D2F49C1}"/>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Refresh the Windows 2022 Server</a:t>
            </a:r>
          </a:p>
        </p:txBody>
      </p:sp>
      <p:graphicFrame>
        <p:nvGraphicFramePr>
          <p:cNvPr id="11" name="Group 513">
            <a:extLst>
              <a:ext uri="{FF2B5EF4-FFF2-40B4-BE49-F238E27FC236}">
                <a16:creationId xmlns:a16="http://schemas.microsoft.com/office/drawing/2014/main" id="{28D4CDE5-AA0C-D07F-EDAD-F755DF057F6A}"/>
              </a:ext>
            </a:extLst>
          </p:cNvPr>
          <p:cNvGraphicFramePr>
            <a:graphicFrameLocks noGrp="1"/>
          </p:cNvGraphicFramePr>
          <p:nvPr>
            <p:extLst>
              <p:ext uri="{D42A27DB-BD31-4B8C-83A1-F6EECF244321}">
                <p14:modId xmlns:p14="http://schemas.microsoft.com/office/powerpoint/2010/main" val="2269005332"/>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GB" sz="850" b="1" i="0" u="none" strike="noStrike" kern="1200" cap="none" normalizeH="0" baseline="0">
                          <a:ln>
                            <a:noFill/>
                          </a:ln>
                          <a:solidFill>
                            <a:schemeClr val="tx1"/>
                          </a:solidFill>
                          <a:effectLst/>
                          <a:latin typeface="Aptos"/>
                          <a:ea typeface="+mn-ea"/>
                          <a:cs typeface="+mn-cs"/>
                        </a:rPr>
                        <a:t>09/25/26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D5B7545-EF29-C405-42BE-10F0CF1D162F}"/>
              </a:ext>
            </a:extLst>
          </p:cNvPr>
          <p:cNvGraphicFramePr>
            <a:graphicFrameLocks noGrp="1"/>
          </p:cNvGraphicFramePr>
          <p:nvPr>
            <p:extLst>
              <p:ext uri="{D42A27DB-BD31-4B8C-83A1-F6EECF244321}">
                <p14:modId xmlns:p14="http://schemas.microsoft.com/office/powerpoint/2010/main" val="3138390285"/>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a:ea typeface="+mn-ea"/>
                          <a:cs typeface="+mn-cs"/>
                        </a:rPr>
                        <a:t>$80,000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850" b="1" i="0" u="none" strike="noStrike" kern="1200" cap="none" normalizeH="0" baseline="0">
                          <a:ln>
                            <a:noFill/>
                          </a:ln>
                          <a:solidFill>
                            <a:schemeClr val="tx1"/>
                          </a:solidFill>
                          <a:effectLst/>
                          <a:latin typeface="Aptos"/>
                          <a:ea typeface="+mn-ea"/>
                          <a:cs typeface="+mn-cs"/>
                        </a:rPr>
                        <a:t>$</a:t>
                      </a:r>
                      <a:r>
                        <a:rPr lang="en-US" sz="850" b="1" i="0" u="none" strike="noStrike" kern="1200" cap="none" normalizeH="0" baseline="0">
                          <a:ln>
                            <a:noFill/>
                          </a:ln>
                          <a:solidFill>
                            <a:schemeClr val="tx1"/>
                          </a:solidFill>
                          <a:effectLst/>
                          <a:latin typeface="Aptos"/>
                          <a:ea typeface="+mn-ea"/>
                          <a:cs typeface="+mn-cs"/>
                        </a:rPr>
                        <a:t> </a:t>
                      </a:r>
                      <a:r>
                        <a:rPr kumimoji="0" lang="en-US" sz="850" b="1" i="0" u="none" strike="noStrike" kern="1200" cap="none" normalizeH="0" baseline="0">
                          <a:ln>
                            <a:noFill/>
                          </a:ln>
                          <a:solidFill>
                            <a:schemeClr val="tx1"/>
                          </a:solidFill>
                          <a:effectLst/>
                          <a:latin typeface="Aptos"/>
                          <a:ea typeface="+mn-ea"/>
                          <a:cs typeface="+mn-cs"/>
                        </a:rPr>
                        <a:t>57,085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a:ea typeface="+mn-ea"/>
                          <a:cs typeface="+mn-cs"/>
                        </a:rPr>
                        <a:t>$61,666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a:ea typeface="+mn-ea"/>
                          <a:cs typeface="+mn-cs"/>
                        </a:rPr>
                        <a:t>$61,666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a:ea typeface="+mn-ea"/>
                          <a:cs typeface="+mn-cs"/>
                        </a:rPr>
                        <a:t>$61,666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976595D2-445E-A71D-77BB-6C89DBB5229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5B8BCEE9-765A-D5E9-59F6-CBBF4980FB58}"/>
              </a:ext>
            </a:extLst>
          </p:cNvPr>
          <p:cNvGraphicFramePr>
            <a:graphicFrameLocks noGrp="1"/>
          </p:cNvGraphicFramePr>
          <p:nvPr>
            <p:extLst>
              <p:ext uri="{D42A27DB-BD31-4B8C-83A1-F6EECF244321}">
                <p14:modId xmlns:p14="http://schemas.microsoft.com/office/powerpoint/2010/main" val="1205789698"/>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9/30/2026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6F91E75E-026E-1264-95CE-F1A3FDE7586F}"/>
              </a:ext>
            </a:extLst>
          </p:cNvPr>
          <p:cNvGraphicFramePr>
            <a:graphicFrameLocks noGrp="1"/>
          </p:cNvGraphicFramePr>
          <p:nvPr>
            <p:extLst>
              <p:ext uri="{D42A27DB-BD31-4B8C-83A1-F6EECF244321}">
                <p14:modId xmlns:p14="http://schemas.microsoft.com/office/powerpoint/2010/main" val="1778672621"/>
              </p:ext>
            </p:extLst>
          </p:nvPr>
        </p:nvGraphicFramePr>
        <p:xfrm>
          <a:off x="4854769" y="1696099"/>
          <a:ext cx="7137890" cy="2456453"/>
        </p:xfrm>
        <a:graphic>
          <a:graphicData uri="http://schemas.openxmlformats.org/drawingml/2006/table">
            <a:tbl>
              <a:tblPr>
                <a:tableStyleId>{5C22544A-7EE6-4342-B048-85BDC9FD1C3A}</a:tableStyleId>
              </a:tblPr>
              <a:tblGrid>
                <a:gridCol w="2612611">
                  <a:extLst>
                    <a:ext uri="{9D8B030D-6E8A-4147-A177-3AD203B41FA5}">
                      <a16:colId xmlns:a16="http://schemas.microsoft.com/office/drawing/2014/main" val="2456552316"/>
                    </a:ext>
                  </a:extLst>
                </a:gridCol>
                <a:gridCol w="462937">
                  <a:extLst>
                    <a:ext uri="{9D8B030D-6E8A-4147-A177-3AD203B41FA5}">
                      <a16:colId xmlns:a16="http://schemas.microsoft.com/office/drawing/2014/main" val="1100051595"/>
                    </a:ext>
                  </a:extLst>
                </a:gridCol>
                <a:gridCol w="486790">
                  <a:extLst>
                    <a:ext uri="{9D8B030D-6E8A-4147-A177-3AD203B41FA5}">
                      <a16:colId xmlns:a16="http://schemas.microsoft.com/office/drawing/2014/main" val="2042261034"/>
                    </a:ext>
                  </a:extLst>
                </a:gridCol>
                <a:gridCol w="3575552">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algn="l" fontAlgn="b">
                        <a:buNone/>
                      </a:pPr>
                      <a:r>
                        <a:rPr lang="en-US" sz="850" b="0" i="0" u="none" strike="noStrike">
                          <a:solidFill>
                            <a:srgbClr val="000000"/>
                          </a:solidFill>
                          <a:effectLst/>
                          <a:latin typeface="Aptos" panose="020B0004020202020204" pitchFamily="34" charset="0"/>
                        </a:rPr>
                        <a:t>Non Prod servers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rtl="0" eaLnBrk="1" fontAlgn="auto"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   07/30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58" rtl="0" eaLnBrk="1" fontAlgn="auto" latinLnBrk="0" hangingPunct="1">
                        <a:lnSpc>
                          <a:spcPct val="114999"/>
                        </a:lnSpc>
                        <a:spcBef>
                          <a:spcPts val="0"/>
                        </a:spcBef>
                        <a:spcAft>
                          <a:spcPts val="800"/>
                        </a:spcAft>
                        <a:buClrTx/>
                        <a:buSzTx/>
                        <a:buFontTx/>
                        <a:buNone/>
                        <a:tabLst/>
                        <a:defRPr/>
                      </a:pPr>
                      <a:r>
                        <a:rPr lang="en-US" sz="850" b="0" i="0" u="none" strike="noStrike">
                          <a:solidFill>
                            <a:srgbClr val="000000"/>
                          </a:solidFill>
                          <a:effectLst/>
                          <a:latin typeface="Aptos" panose="020B0004020202020204" pitchFamily="34" charset="0"/>
                        </a:rPr>
                        <a:t>All 41 non prod servers 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algn="l" fontAlgn="b">
                        <a:buNone/>
                      </a:pPr>
                      <a:r>
                        <a:rPr lang="en-US" sz="850" b="0" i="0" u="none" strike="noStrike">
                          <a:solidFill>
                            <a:srgbClr val="000000"/>
                          </a:solidFill>
                          <a:effectLst/>
                          <a:latin typeface="Aptos" panose="020B0004020202020204" pitchFamily="34" charset="0"/>
                        </a:rPr>
                        <a:t>MIM Production servers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08/26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u="none" strike="noStrike">
                          <a:solidFill>
                            <a:srgbClr val="000000"/>
                          </a:solidFill>
                          <a:effectLst/>
                          <a:latin typeface="Aptos" panose="020B0004020202020204" pitchFamily="34" charset="0"/>
                        </a:rPr>
                        <a:t>16 Production 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algn="l" fontAlgn="b">
                        <a:buNone/>
                      </a:pPr>
                      <a:r>
                        <a:rPr lang="en-US" sz="850" b="0" i="0" u="none" strike="noStrike">
                          <a:solidFill>
                            <a:srgbClr val="000000"/>
                          </a:solidFill>
                          <a:effectLst/>
                          <a:latin typeface="Aptos" panose="020B0004020202020204" pitchFamily="34" charset="0"/>
                        </a:rPr>
                        <a:t>Analyze this –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strike="noStrike">
                          <a:solidFill>
                            <a:schemeClr val="tx1"/>
                          </a:solidFill>
                          <a:latin typeface="Aptos" panose="020B0004020202020204" pitchFamily="34" charset="0"/>
                        </a:rPr>
                        <a:t>9/14,15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l" fontAlgn="b">
                        <a:buNone/>
                      </a:pPr>
                      <a:r>
                        <a:rPr lang="en-US" sz="1100" b="0" i="0" u="none" strike="noStrike">
                          <a:solidFill>
                            <a:srgbClr val="000000"/>
                          </a:solidFill>
                          <a:effectLst/>
                          <a:latin typeface="Aptos Narrow" panose="020B0004020202020204" pitchFamily="34" charset="0"/>
                        </a:rPr>
                        <a:t>CHG0050047</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EW - 8 Production servers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lnSpc>
                          <a:spcPct val="100000"/>
                        </a:lnSpc>
                        <a:spcBef>
                          <a:spcPts val="0"/>
                        </a:spcBef>
                        <a:spcAft>
                          <a:spcPts val="0"/>
                        </a:spcAft>
                        <a:buNone/>
                      </a:pPr>
                      <a:r>
                        <a:rPr lang="en-US" sz="850" b="0" i="0" u="none" strike="noStrike" noProof="0">
                          <a:solidFill>
                            <a:srgbClr val="000000"/>
                          </a:solidFill>
                          <a:latin typeface="Aptos" panose="020B0004020202020204" pitchFamily="34" charset="0"/>
                        </a:rPr>
                        <a:t>9/10</a:t>
                      </a:r>
                    </a:p>
                    <a:p>
                      <a:pPr lvl="0" algn="ctr">
                        <a:buNone/>
                      </a:pP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8 servers completed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6899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SFTP Server - MIM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9/23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buNone/>
                      </a:pPr>
                      <a:r>
                        <a:rPr lang="en-US" sz="1100" b="0" i="0" u="sng" strike="noStrike">
                          <a:solidFill>
                            <a:srgbClr val="467886"/>
                          </a:solidFill>
                          <a:effectLst/>
                          <a:latin typeface="Aptos Narrow" panose="020B0004020202020204" pitchFamily="34" charset="0"/>
                          <a:hlinkClick r:id="rId6"/>
                        </a:rPr>
                        <a:t>CHG0051027</a:t>
                      </a:r>
                      <a:endParaRPr lang="en-US" sz="1100" b="0" i="0" u="sng" strike="noStrike">
                        <a:solidFill>
                          <a:srgbClr val="467886"/>
                        </a:solidFill>
                        <a:effectLst/>
                        <a:latin typeface="Aptos Narrow" panose="020B00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i="0" u="none" strike="noStrike">
                          <a:solidFill>
                            <a:srgbClr val="000000"/>
                          </a:solidFill>
                          <a:effectLst/>
                          <a:latin typeface="Aptos" panose="020B0004020202020204" pitchFamily="34" charset="0"/>
                        </a:rPr>
                        <a:t>1 S&amp;I and 1 Help Desk</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09/29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l" fontAlgn="b">
                        <a:buNone/>
                      </a:pPr>
                      <a:r>
                        <a:rPr lang="en-US" sz="1100" b="0" i="0" u="sng" strike="noStrike">
                          <a:solidFill>
                            <a:srgbClr val="467886"/>
                          </a:solidFill>
                          <a:effectLst/>
                          <a:latin typeface="Aptos Narrow" panose="020B0004020202020204" pitchFamily="34" charset="0"/>
                          <a:hlinkClick r:id="rId7"/>
                        </a:rPr>
                        <a:t>CHG0054087</a:t>
                      </a:r>
                      <a:endParaRPr lang="en-US" sz="1100" b="0" i="0" u="sng" strike="noStrike">
                        <a:solidFill>
                          <a:srgbClr val="467886"/>
                        </a:solidFill>
                        <a:effectLst/>
                        <a:latin typeface="Aptos Narrow" panose="020B00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162506059"/>
                  </a:ext>
                </a:extLst>
              </a:tr>
            </a:tbl>
          </a:graphicData>
        </a:graphic>
      </p:graphicFrame>
      <p:graphicFrame>
        <p:nvGraphicFramePr>
          <p:cNvPr id="29" name="Table 28">
            <a:extLst>
              <a:ext uri="{FF2B5EF4-FFF2-40B4-BE49-F238E27FC236}">
                <a16:creationId xmlns:a16="http://schemas.microsoft.com/office/drawing/2014/main" id="{DC8546AD-1AD7-08E6-E348-E6830249CF0C}"/>
              </a:ext>
            </a:extLst>
          </p:cNvPr>
          <p:cNvGraphicFramePr>
            <a:graphicFrameLocks noGrp="1"/>
          </p:cNvGraphicFramePr>
          <p:nvPr>
            <p:extLst>
              <p:ext uri="{D42A27DB-BD31-4B8C-83A1-F6EECF244321}">
                <p14:modId xmlns:p14="http://schemas.microsoft.com/office/powerpoint/2010/main" val="797605033"/>
              </p:ext>
            </p:extLst>
          </p:nvPr>
        </p:nvGraphicFramePr>
        <p:xfrm>
          <a:off x="4864608" y="4913937"/>
          <a:ext cx="7136859" cy="627071"/>
        </p:xfrm>
        <a:graphic>
          <a:graphicData uri="http://schemas.openxmlformats.org/drawingml/2006/table">
            <a:tbl>
              <a:tblPr>
                <a:tableStyleId>{5C22544A-7EE6-4342-B048-85BDC9FD1C3A}</a:tableStyleId>
              </a:tblPr>
              <a:tblGrid>
                <a:gridCol w="2571172">
                  <a:extLst>
                    <a:ext uri="{9D8B030D-6E8A-4147-A177-3AD203B41FA5}">
                      <a16:colId xmlns:a16="http://schemas.microsoft.com/office/drawing/2014/main" val="2456552316"/>
                    </a:ext>
                  </a:extLst>
                </a:gridCol>
                <a:gridCol w="512466">
                  <a:extLst>
                    <a:ext uri="{9D8B030D-6E8A-4147-A177-3AD203B41FA5}">
                      <a16:colId xmlns:a16="http://schemas.microsoft.com/office/drawing/2014/main" val="1100051595"/>
                    </a:ext>
                  </a:extLst>
                </a:gridCol>
                <a:gridCol w="532563">
                  <a:extLst>
                    <a:ext uri="{9D8B030D-6E8A-4147-A177-3AD203B41FA5}">
                      <a16:colId xmlns:a16="http://schemas.microsoft.com/office/drawing/2014/main" val="2042261034"/>
                    </a:ext>
                  </a:extLst>
                </a:gridCol>
                <a:gridCol w="3520658">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fontAlgn="t">
                        <a:lnSpc>
                          <a:spcPts val="1500"/>
                        </a:lnSpc>
                        <a:buNone/>
                      </a:pPr>
                      <a:endParaRPr lang="en-US" sz="850" kern="100">
                        <a:solidFill>
                          <a:prstClr val="black"/>
                        </a:solidFill>
                        <a:latin typeface="Aptos" panose="020B0004020202020204" pitchFamily="34" charset="0"/>
                        <a:ea typeface="+mn-ea"/>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FB0E3ABA-6F6D-165A-D7D9-7EF8E56BF04D}"/>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93C9A56D-33A4-9B1D-3889-40FDB79BD554}"/>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E6ACD552-90F3-05D0-AE39-90E3FD64B9A2}"/>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2D686EDB-5FD6-98FB-991E-62449C756852}"/>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D6031EF6-0C9A-C082-FA53-B11B7A253FC8}"/>
              </a:ext>
            </a:extLst>
          </p:cNvPr>
          <p:cNvSpPr txBox="1"/>
          <p:nvPr/>
        </p:nvSpPr>
        <p:spPr>
          <a:xfrm>
            <a:off x="111476" y="1707675"/>
            <a:ext cx="4743293" cy="222362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All lower environments were upgraded, and Production servers to start after Python and DCM migration as few servers were being decommissioned and getting upgraded.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Schedule provided for the Prod servers and ETA to complete all the servers is Sep 30th before open enrollment </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Target is to complete all the upgrades by end of Sep before the open </a:t>
            </a:r>
            <a:r>
              <a:rPr lang="en-US" sz="850" kern="100">
                <a:solidFill>
                  <a:prstClr val="black"/>
                </a:solidFill>
                <a:latin typeface="Aptos" panose="020B0004020202020204" pitchFamily="34" charset="0"/>
                <a:cs typeface="Times New Roman"/>
              </a:rPr>
              <a:t>enrollment</a:t>
            </a: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 starts.</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Total 26 servers to be upgraded.</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Production servers upgrade schedule to  finalize.</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Meeting with teams to finalize the schedule on upgrade</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E04FFBF7-313B-B510-5AC5-0BA618019219}"/>
              </a:ext>
            </a:extLst>
          </p:cNvPr>
          <p:cNvSpPr txBox="1"/>
          <p:nvPr/>
        </p:nvSpPr>
        <p:spPr>
          <a:xfrm>
            <a:off x="9515820" y="104132"/>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6" name="Flowchart: Connector 5">
            <a:extLst>
              <a:ext uri="{FF2B5EF4-FFF2-40B4-BE49-F238E27FC236}">
                <a16:creationId xmlns:a16="http://schemas.microsoft.com/office/drawing/2014/main" id="{E63A196E-440A-E378-CE03-C74AE2847C55}"/>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6CBEE329-93CD-7CE2-4A7B-0D5E868A91FB}"/>
              </a:ext>
            </a:extLst>
          </p:cNvPr>
          <p:cNvSpPr/>
          <p:nvPr/>
        </p:nvSpPr>
        <p:spPr>
          <a:xfrm>
            <a:off x="3335774" y="143019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5D4DD2F3-9488-F6ED-E662-B116C3D365DB}"/>
              </a:ext>
            </a:extLst>
          </p:cNvPr>
          <p:cNvSpPr/>
          <p:nvPr/>
        </p:nvSpPr>
        <p:spPr>
          <a:xfrm>
            <a:off x="5226813" y="141372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7" name="Table 6">
            <a:extLst>
              <a:ext uri="{FF2B5EF4-FFF2-40B4-BE49-F238E27FC236}">
                <a16:creationId xmlns:a16="http://schemas.microsoft.com/office/drawing/2014/main" id="{C5BFABD9-5EAF-1E7A-1B65-321E55E04C14}"/>
              </a:ext>
            </a:extLst>
          </p:cNvPr>
          <p:cNvGraphicFramePr>
            <a:graphicFrameLocks noGrp="1"/>
          </p:cNvGraphicFramePr>
          <p:nvPr>
            <p:extLst>
              <p:ext uri="{D42A27DB-BD31-4B8C-83A1-F6EECF244321}">
                <p14:modId xmlns:p14="http://schemas.microsoft.com/office/powerpoint/2010/main" val="2632053288"/>
              </p:ext>
            </p:extLst>
          </p:nvPr>
        </p:nvGraphicFramePr>
        <p:xfrm>
          <a:off x="231953" y="4217977"/>
          <a:ext cx="4318508" cy="1106371"/>
        </p:xfrm>
        <a:graphic>
          <a:graphicData uri="http://schemas.openxmlformats.org/drawingml/2006/table">
            <a:tbl>
              <a:tblPr/>
              <a:tblGrid>
                <a:gridCol w="1904741">
                  <a:extLst>
                    <a:ext uri="{9D8B030D-6E8A-4147-A177-3AD203B41FA5}">
                      <a16:colId xmlns:a16="http://schemas.microsoft.com/office/drawing/2014/main" val="3498648671"/>
                    </a:ext>
                  </a:extLst>
                </a:gridCol>
                <a:gridCol w="2413767">
                  <a:extLst>
                    <a:ext uri="{9D8B030D-6E8A-4147-A177-3AD203B41FA5}">
                      <a16:colId xmlns:a16="http://schemas.microsoft.com/office/drawing/2014/main" val="32519702"/>
                    </a:ext>
                  </a:extLst>
                </a:gridCol>
              </a:tblGrid>
              <a:tr h="154178">
                <a:tc>
                  <a:txBody>
                    <a:bodyPr/>
                    <a:lstStyle/>
                    <a:p>
                      <a:pPr algn="l" fontAlgn="b">
                        <a:buNone/>
                      </a:pPr>
                      <a:r>
                        <a:rPr lang="en-US" sz="850" b="0" i="0" u="none" strike="noStrike">
                          <a:solidFill>
                            <a:srgbClr val="000000"/>
                          </a:solidFill>
                          <a:effectLst/>
                          <a:latin typeface="Aptos" panose="020B0004020202020204" pitchFamily="34" charset="0"/>
                        </a:rPr>
                        <a:t>Total servers to be upgraded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 Total 71 Servers</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8594469"/>
                  </a:ext>
                </a:extLst>
              </a:tr>
              <a:tr h="154178">
                <a:tc>
                  <a:txBody>
                    <a:bodyPr/>
                    <a:lstStyle/>
                    <a:p>
                      <a:pPr algn="l" fontAlgn="b">
                        <a:buNone/>
                      </a:pPr>
                      <a:r>
                        <a:rPr lang="en-US" sz="850" b="0" i="0" u="none" strike="noStrike">
                          <a:solidFill>
                            <a:srgbClr val="000000"/>
                          </a:solidFill>
                          <a:effectLst/>
                          <a:latin typeface="Aptos" panose="020B0004020202020204" pitchFamily="34" charset="0"/>
                        </a:rPr>
                        <a:t>Non Prod servers</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All 41 non prod servers 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575835"/>
                  </a:ext>
                </a:extLst>
              </a:tr>
              <a:tr h="154178">
                <a:tc>
                  <a:txBody>
                    <a:bodyPr/>
                    <a:lstStyle/>
                    <a:p>
                      <a:pPr algn="l" fontAlgn="b">
                        <a:buNone/>
                      </a:pPr>
                      <a:r>
                        <a:rPr lang="en-US" sz="850" b="0" i="0" u="none" strike="noStrike">
                          <a:solidFill>
                            <a:srgbClr val="000000"/>
                          </a:solidFill>
                          <a:effectLst/>
                          <a:latin typeface="Aptos" panose="020B0004020202020204" pitchFamily="34" charset="0"/>
                        </a:rPr>
                        <a:t>MIM Production servers </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16 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2985822"/>
                  </a:ext>
                </a:extLst>
              </a:tr>
              <a:tr h="198321">
                <a:tc>
                  <a:txBody>
                    <a:bodyPr/>
                    <a:lstStyle/>
                    <a:p>
                      <a:pPr algn="l" fontAlgn="b">
                        <a:buNone/>
                      </a:pPr>
                      <a:r>
                        <a:rPr lang="en-US" sz="850" b="0" i="0" u="none" strike="noStrike">
                          <a:solidFill>
                            <a:srgbClr val="000000"/>
                          </a:solidFill>
                          <a:effectLst/>
                          <a:latin typeface="Aptos" panose="020B0004020202020204" pitchFamily="34" charset="0"/>
                        </a:rPr>
                        <a:t>Analyze this – 4</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3076744"/>
                  </a:ext>
                </a:extLst>
              </a:tr>
              <a:tr h="154178">
                <a:tc>
                  <a:txBody>
                    <a:bodyPr/>
                    <a:lstStyle/>
                    <a:p>
                      <a:pPr algn="l" fontAlgn="b">
                        <a:buNone/>
                      </a:pPr>
                      <a:r>
                        <a:rPr lang="en-US" sz="850" b="0" i="0" u="none" strike="noStrike">
                          <a:solidFill>
                            <a:srgbClr val="000000"/>
                          </a:solidFill>
                          <a:effectLst/>
                          <a:latin typeface="Aptos" panose="020B0004020202020204" pitchFamily="34" charset="0"/>
                        </a:rPr>
                        <a:t>EW- 8</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4176055"/>
                  </a:ext>
                </a:extLst>
              </a:tr>
              <a:tr h="154178">
                <a:tc>
                  <a:txBody>
                    <a:bodyPr/>
                    <a:lstStyle/>
                    <a:p>
                      <a:pPr algn="l" fontAlgn="b">
                        <a:buNone/>
                      </a:pPr>
                      <a:r>
                        <a:rPr lang="en-US" sz="850" b="0" i="0" u="none" strike="noStrike">
                          <a:solidFill>
                            <a:srgbClr val="000000"/>
                          </a:solidFill>
                          <a:effectLst/>
                          <a:latin typeface="Aptos" panose="020B0004020202020204" pitchFamily="34" charset="0"/>
                        </a:rPr>
                        <a:t>1 S&amp;I and 1 Help Desk</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ptos" panose="020B0004020202020204" pitchFamily="34" charset="0"/>
                        </a:rPr>
                        <a:t>Sep 29</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706433"/>
                  </a:ext>
                </a:extLst>
              </a:tr>
            </a:tbl>
          </a:graphicData>
        </a:graphic>
      </p:graphicFrame>
    </p:spTree>
    <p:extLst>
      <p:ext uri="{BB962C8B-B14F-4D97-AF65-F5344CB8AC3E}">
        <p14:creationId xmlns:p14="http://schemas.microsoft.com/office/powerpoint/2010/main" val="2426091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81D0A-FD40-557F-6352-D366CA7A0592}"/>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92492BD-29CD-5FDD-F291-35ABCB36981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92492BD-29CD-5FDD-F291-35ABCB3698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199C3EF-6C15-E863-D1A9-770887138EF8}"/>
              </a:ext>
            </a:extLst>
          </p:cNvPr>
          <p:cNvGraphicFramePr>
            <a:graphicFrameLocks noGrp="1"/>
          </p:cNvGraphicFramePr>
          <p:nvPr>
            <p:extLst>
              <p:ext uri="{D42A27DB-BD31-4B8C-83A1-F6EECF244321}">
                <p14:modId xmlns:p14="http://schemas.microsoft.com/office/powerpoint/2010/main" val="4251370714"/>
              </p:ext>
            </p:extLst>
          </p:nvPr>
        </p:nvGraphicFramePr>
        <p:xfrm>
          <a:off x="4877597" y="6378993"/>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83CDDAE-1C72-D70F-47A7-8E88DA516AE8}"/>
              </a:ext>
            </a:extLst>
          </p:cNvPr>
          <p:cNvSpPr>
            <a:spLocks noGrp="1"/>
          </p:cNvSpPr>
          <p:nvPr>
            <p:ph type="title"/>
          </p:nvPr>
        </p:nvSpPr>
        <p:spPr>
          <a:xfrm>
            <a:off x="299258" y="186479"/>
            <a:ext cx="4603580" cy="517320"/>
          </a:xfrm>
        </p:spPr>
        <p:txBody>
          <a:bodyPr vert="horz">
            <a:noAutofit/>
          </a:bodyPr>
          <a:lstStyle/>
          <a:p>
            <a:r>
              <a:rPr lang="en-US">
                <a:solidFill>
                  <a:srgbClr val="29389F"/>
                </a:solidFill>
              </a:rPr>
              <a:t>Pet Model Law Reboot </a:t>
            </a:r>
            <a:br>
              <a:rPr sz="2000">
                <a:solidFill>
                  <a:srgbClr val="1C57A5"/>
                </a:solidFill>
                <a:latin typeface="Times New Roman" panose="02020603050405020304" pitchFamily="18" charset="0"/>
                <a:cs typeface="Times New Roman" panose="02020603050405020304" pitchFamily="18" charset="0"/>
              </a:rPr>
            </a:br>
            <a:r>
              <a:rPr lang="en-US" sz="1400">
                <a:solidFill>
                  <a:srgbClr val="0070C0"/>
                </a:solidFill>
              </a:rPr>
              <a:t>Weekly Status Update</a:t>
            </a:r>
          </a:p>
        </p:txBody>
      </p:sp>
      <p:graphicFrame>
        <p:nvGraphicFramePr>
          <p:cNvPr id="11" name="Group 513">
            <a:extLst>
              <a:ext uri="{FF2B5EF4-FFF2-40B4-BE49-F238E27FC236}">
                <a16:creationId xmlns:a16="http://schemas.microsoft.com/office/drawing/2014/main" id="{BCD8AD20-8D23-4E13-5FDE-96104037AA4E}"/>
              </a:ext>
            </a:extLst>
          </p:cNvPr>
          <p:cNvGraphicFramePr>
            <a:graphicFrameLocks noGrp="1"/>
          </p:cNvGraphicFramePr>
          <p:nvPr>
            <p:extLst>
              <p:ext uri="{D42A27DB-BD31-4B8C-83A1-F6EECF244321}">
                <p14:modId xmlns:p14="http://schemas.microsoft.com/office/powerpoint/2010/main" val="3093396106"/>
              </p:ext>
            </p:extLst>
          </p:nvPr>
        </p:nvGraphicFramePr>
        <p:xfrm>
          <a:off x="159657" y="928914"/>
          <a:ext cx="2710533" cy="344301"/>
        </p:xfrm>
        <a:graphic>
          <a:graphicData uri="http://schemas.openxmlformats.org/drawingml/2006/table">
            <a:tbl>
              <a:tblPr/>
              <a:tblGrid>
                <a:gridCol w="1055411">
                  <a:extLst>
                    <a:ext uri="{9D8B030D-6E8A-4147-A177-3AD203B41FA5}">
                      <a16:colId xmlns:a16="http://schemas.microsoft.com/office/drawing/2014/main" val="20000"/>
                    </a:ext>
                  </a:extLst>
                </a:gridCol>
                <a:gridCol w="165512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09/25/2026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4203962F-408F-9672-0283-78668AF624C4}"/>
              </a:ext>
            </a:extLst>
          </p:cNvPr>
          <p:cNvGraphicFramePr>
            <a:graphicFrameLocks noGrp="1"/>
          </p:cNvGraphicFramePr>
          <p:nvPr>
            <p:extLst>
              <p:ext uri="{D42A27DB-BD31-4B8C-83A1-F6EECF244321}">
                <p14:modId xmlns:p14="http://schemas.microsoft.com/office/powerpoint/2010/main" val="1764795503"/>
              </p:ext>
            </p:extLst>
          </p:nvPr>
        </p:nvGraphicFramePr>
        <p:xfrm>
          <a:off x="6640300" y="920667"/>
          <a:ext cx="5352360" cy="693634"/>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3908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547">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$554,981.75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$194,172.70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$194,994.70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$749,153.45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249F8920-87C3-BE57-9B72-60604C061094}"/>
              </a:ext>
            </a:extLst>
          </p:cNvPr>
          <p:cNvGraphicFramePr>
            <a:graphicFrameLocks noGrp="1"/>
          </p:cNvGraphicFramePr>
          <p:nvPr>
            <p:extLst>
              <p:ext uri="{D42A27DB-BD31-4B8C-83A1-F6EECF244321}">
                <p14:modId xmlns:p14="http://schemas.microsoft.com/office/powerpoint/2010/main" val="1745084983"/>
              </p:ext>
            </p:extLst>
          </p:nvPr>
        </p:nvGraphicFramePr>
        <p:xfrm>
          <a:off x="2811025" y="920667"/>
          <a:ext cx="3829275" cy="69395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5361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34A771F-4785-3237-D3EB-67AC8438DDFB}"/>
              </a:ext>
            </a:extLst>
          </p:cNvPr>
          <p:cNvGraphicFramePr>
            <a:graphicFrameLocks noGrp="1"/>
          </p:cNvGraphicFramePr>
          <p:nvPr>
            <p:extLst>
              <p:ext uri="{D42A27DB-BD31-4B8C-83A1-F6EECF244321}">
                <p14:modId xmlns:p14="http://schemas.microsoft.com/office/powerpoint/2010/main" val="3544381982"/>
              </p:ext>
            </p:extLst>
          </p:nvPr>
        </p:nvGraphicFramePr>
        <p:xfrm>
          <a:off x="159657" y="1270000"/>
          <a:ext cx="2653888" cy="344301"/>
        </p:xfrm>
        <a:graphic>
          <a:graphicData uri="http://schemas.openxmlformats.org/drawingml/2006/table">
            <a:tbl>
              <a:tblPr/>
              <a:tblGrid>
                <a:gridCol w="1041155">
                  <a:extLst>
                    <a:ext uri="{9D8B030D-6E8A-4147-A177-3AD203B41FA5}">
                      <a16:colId xmlns:a16="http://schemas.microsoft.com/office/drawing/2014/main" val="20000"/>
                    </a:ext>
                  </a:extLst>
                </a:gridCol>
                <a:gridCol w="161273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Prepare to closure</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D8C1337-4B73-EDFC-498C-13F6621AADE6}"/>
              </a:ext>
            </a:extLst>
          </p:cNvPr>
          <p:cNvGraphicFramePr>
            <a:graphicFrameLocks noGrp="1"/>
          </p:cNvGraphicFramePr>
          <p:nvPr>
            <p:extLst>
              <p:ext uri="{D42A27DB-BD31-4B8C-83A1-F6EECF244321}">
                <p14:modId xmlns:p14="http://schemas.microsoft.com/office/powerpoint/2010/main" val="843084824"/>
              </p:ext>
            </p:extLst>
          </p:nvPr>
        </p:nvGraphicFramePr>
        <p:xfrm>
          <a:off x="4855800" y="1614268"/>
          <a:ext cx="7136859" cy="2922587"/>
        </p:xfrm>
        <a:graphic>
          <a:graphicData uri="http://schemas.openxmlformats.org/drawingml/2006/table">
            <a:tbl>
              <a:tblPr>
                <a:tableStyleId>{5C22544A-7EE6-4342-B048-85BDC9FD1C3A}</a:tableStyleId>
              </a:tblPr>
              <a:tblGrid>
                <a:gridCol w="2695660">
                  <a:extLst>
                    <a:ext uri="{9D8B030D-6E8A-4147-A177-3AD203B41FA5}">
                      <a16:colId xmlns:a16="http://schemas.microsoft.com/office/drawing/2014/main" val="2456552316"/>
                    </a:ext>
                  </a:extLst>
                </a:gridCol>
                <a:gridCol w="457174">
                  <a:extLst>
                    <a:ext uri="{9D8B030D-6E8A-4147-A177-3AD203B41FA5}">
                      <a16:colId xmlns:a16="http://schemas.microsoft.com/office/drawing/2014/main" val="1100051595"/>
                    </a:ext>
                  </a:extLst>
                </a:gridCol>
                <a:gridCol w="527564">
                  <a:extLst>
                    <a:ext uri="{9D8B030D-6E8A-4147-A177-3AD203B41FA5}">
                      <a16:colId xmlns:a16="http://schemas.microsoft.com/office/drawing/2014/main" val="2042261034"/>
                    </a:ext>
                  </a:extLst>
                </a:gridCol>
                <a:gridCol w="3456461">
                  <a:extLst>
                    <a:ext uri="{9D8B030D-6E8A-4147-A177-3AD203B41FA5}">
                      <a16:colId xmlns:a16="http://schemas.microsoft.com/office/drawing/2014/main" val="2815874248"/>
                    </a:ext>
                  </a:extLst>
                </a:gridCol>
              </a:tblGrid>
              <a:tr h="30152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42473">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Complete line‑level effort estimation for all impacted changes. (L2)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2/9 – 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42473">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DDIT activities.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1198220"/>
                  </a:ext>
                </a:extLst>
              </a:tr>
              <a:tr h="232538">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Wave – 3 : E2E Testing</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07/20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6059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UAT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37034">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Implementation Planning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08/03 - 08/05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47540">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GO / No Go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08/10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62543">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Go Live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08/12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6771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a:latin typeface="Aptos" panose="020B0004020202020204" pitchFamily="34" charset="0"/>
                          <a:ea typeface="Aptos" panose="020B0004020202020204" pitchFamily="34" charset="0"/>
                          <a:cs typeface="Arial"/>
                        </a:rPr>
                        <a:t>REN CR - </a:t>
                      </a:r>
                      <a:r>
                        <a:rPr lang="en-US" sz="800">
                          <a:latin typeface="Aptos" panose="020B0004020202020204" pitchFamily="34" charset="0"/>
                          <a:cs typeface="Arial"/>
                        </a:rPr>
                        <a:t>PML Form Updates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UAT completed. Ready for prod release for 09/16</a:t>
                      </a:r>
                    </a:p>
                    <a:p>
                      <a:pPr marL="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Prod deployment completed – 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6771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a:latin typeface="Aptos" panose="020B0004020202020204" pitchFamily="34" charset="0"/>
                          <a:cs typeface="Arial"/>
                        </a:rPr>
                        <a:t>Wave 4 – NH state requirements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09/30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Gary is working on the business requirements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147305"/>
                  </a:ext>
                </a:extLst>
              </a:tr>
              <a:tr h="26771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a:latin typeface="Aptos" panose="020B0004020202020204" pitchFamily="34" charset="0"/>
                          <a:cs typeface="Arial"/>
                        </a:rPr>
                        <a:t>Line Level Estimates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10/09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 This work will resume in year 2027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477894"/>
                  </a:ext>
                </a:extLst>
              </a:tr>
            </a:tbl>
          </a:graphicData>
        </a:graphic>
      </p:graphicFrame>
      <p:graphicFrame>
        <p:nvGraphicFramePr>
          <p:cNvPr id="29" name="Table 28">
            <a:extLst>
              <a:ext uri="{FF2B5EF4-FFF2-40B4-BE49-F238E27FC236}">
                <a16:creationId xmlns:a16="http://schemas.microsoft.com/office/drawing/2014/main" id="{CA4961B3-0BF9-23B0-0987-6591FCA1E979}"/>
              </a:ext>
            </a:extLst>
          </p:cNvPr>
          <p:cNvGraphicFramePr>
            <a:graphicFrameLocks noGrp="1"/>
          </p:cNvGraphicFramePr>
          <p:nvPr>
            <p:extLst>
              <p:ext uri="{D42A27DB-BD31-4B8C-83A1-F6EECF244321}">
                <p14:modId xmlns:p14="http://schemas.microsoft.com/office/powerpoint/2010/main" val="3893667084"/>
              </p:ext>
            </p:extLst>
          </p:nvPr>
        </p:nvGraphicFramePr>
        <p:xfrm>
          <a:off x="4855801" y="5540360"/>
          <a:ext cx="7136859" cy="714807"/>
        </p:xfrm>
        <a:graphic>
          <a:graphicData uri="http://schemas.openxmlformats.org/drawingml/2006/table">
            <a:tbl>
              <a:tblPr>
                <a:tableStyleId>{5C22544A-7EE6-4342-B048-85BDC9FD1C3A}</a:tableStyleId>
              </a:tblPr>
              <a:tblGrid>
                <a:gridCol w="2700559">
                  <a:extLst>
                    <a:ext uri="{9D8B030D-6E8A-4147-A177-3AD203B41FA5}">
                      <a16:colId xmlns:a16="http://schemas.microsoft.com/office/drawing/2014/main" val="2456552316"/>
                    </a:ext>
                  </a:extLst>
                </a:gridCol>
                <a:gridCol w="482321">
                  <a:extLst>
                    <a:ext uri="{9D8B030D-6E8A-4147-A177-3AD203B41FA5}">
                      <a16:colId xmlns:a16="http://schemas.microsoft.com/office/drawing/2014/main" val="1100051595"/>
                    </a:ext>
                  </a:extLst>
                </a:gridCol>
                <a:gridCol w="482321">
                  <a:extLst>
                    <a:ext uri="{9D8B030D-6E8A-4147-A177-3AD203B41FA5}">
                      <a16:colId xmlns:a16="http://schemas.microsoft.com/office/drawing/2014/main" val="2042261034"/>
                    </a:ext>
                  </a:extLst>
                </a:gridCol>
                <a:gridCol w="3471658">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93C6E7AD-445E-D669-B3AF-BA0150F743CD}"/>
              </a:ext>
            </a:extLst>
          </p:cNvPr>
          <p:cNvSpPr/>
          <p:nvPr/>
        </p:nvSpPr>
        <p:spPr>
          <a:xfrm>
            <a:off x="6610395" y="64440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D8798DA8-D91E-C7BB-7EB6-11A6880AFA60}"/>
              </a:ext>
            </a:extLst>
          </p:cNvPr>
          <p:cNvSpPr/>
          <p:nvPr/>
        </p:nvSpPr>
        <p:spPr>
          <a:xfrm>
            <a:off x="7688689" y="648997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3E65D73E-38F9-30A6-842F-E3A97030640E}"/>
              </a:ext>
            </a:extLst>
          </p:cNvPr>
          <p:cNvSpPr/>
          <p:nvPr/>
        </p:nvSpPr>
        <p:spPr>
          <a:xfrm>
            <a:off x="8685341" y="650568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1BDE033F-0570-7F5B-365C-FB1BB7D0B121}"/>
              </a:ext>
            </a:extLst>
          </p:cNvPr>
          <p:cNvSpPr/>
          <p:nvPr/>
        </p:nvSpPr>
        <p:spPr>
          <a:xfrm>
            <a:off x="3303638" y="1403331"/>
            <a:ext cx="163285" cy="164592"/>
          </a:xfrm>
          <a:prstGeom prst="flowChartConnector">
            <a:avLst/>
          </a:prstGeom>
          <a:solidFill>
            <a:srgbClr val="58C1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46" name="Flowchart: Connector 45">
            <a:extLst>
              <a:ext uri="{FF2B5EF4-FFF2-40B4-BE49-F238E27FC236}">
                <a16:creationId xmlns:a16="http://schemas.microsoft.com/office/drawing/2014/main" id="{A683ED0E-2BD7-2E2B-312E-0F01D223DD6B}"/>
              </a:ext>
            </a:extLst>
          </p:cNvPr>
          <p:cNvSpPr/>
          <p:nvPr/>
        </p:nvSpPr>
        <p:spPr>
          <a:xfrm>
            <a:off x="5143033" y="1403331"/>
            <a:ext cx="163285" cy="164592"/>
          </a:xfrm>
          <a:prstGeom prst="flowChartConnector">
            <a:avLst/>
          </a:prstGeom>
          <a:solidFill>
            <a:srgbClr val="58C1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5459DA90-485B-B62E-0AF1-5C522062821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A49F73-AA44-73D0-D577-81C667789E5B}"/>
              </a:ext>
            </a:extLst>
          </p:cNvPr>
          <p:cNvSpPr txBox="1"/>
          <p:nvPr/>
        </p:nvSpPr>
        <p:spPr>
          <a:xfrm>
            <a:off x="159545" y="1777635"/>
            <a:ext cx="4743293" cy="5436104"/>
          </a:xfrm>
          <a:prstGeom prst="rect">
            <a:avLst/>
          </a:prstGeom>
          <a:noFill/>
        </p:spPr>
        <p:txBody>
          <a:bodyPr wrap="square" lIns="91440" tIns="45720" rIns="91440" bIns="45720" anchor="t">
            <a:spAutoFit/>
          </a:bodyPr>
          <a:lstStyle/>
          <a:p>
            <a:pPr>
              <a:lnSpc>
                <a:spcPct val="150000"/>
              </a:lnSpc>
              <a:tabLst>
                <a:tab pos="457200" algn="l"/>
              </a:tabLst>
            </a:pPr>
            <a:r>
              <a:rPr lang="en-US" sz="1000" b="1" u="sng">
                <a:latin typeface="Aptos" panose="020B0004020202020204" pitchFamily="34" charset="0"/>
                <a:cs typeface="Arial"/>
              </a:rPr>
              <a:t>Status Update</a:t>
            </a:r>
          </a:p>
          <a:p>
            <a:pPr>
              <a:lnSpc>
                <a:spcPct val="150000"/>
              </a:lnSpc>
              <a:tabLst>
                <a:tab pos="457200" algn="l"/>
              </a:tabLst>
            </a:pPr>
            <a:r>
              <a:rPr lang="en-US" sz="1000" b="1">
                <a:latin typeface="Aptos" panose="020B0004020202020204" pitchFamily="34" charset="0"/>
                <a:cs typeface="Arial"/>
              </a:rPr>
              <a:t>PML Reboot project is closed for the year 2026. Any new requirements will follow the intake process for year 2027.</a:t>
            </a: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3 got implemented Successfully on 08/12</a:t>
            </a:r>
            <a:endParaRPr lang="en-US" sz="850">
              <a:latin typeface="Aptos" panose="020B0004020202020204" pitchFamily="34" charset="0"/>
              <a:cs typeface="Arial"/>
            </a:endParaRPr>
          </a:p>
          <a:p>
            <a:pPr lvl="0">
              <a:lnSpc>
                <a:spcPct val="150000"/>
              </a:lnSpc>
              <a:tabLst>
                <a:tab pos="457200" algn="l"/>
              </a:tabLst>
            </a:pPr>
            <a:r>
              <a:rPr lang="en-US" sz="850" b="1">
                <a:latin typeface="Aptos" panose="020B0004020202020204" pitchFamily="34" charset="0"/>
                <a:cs typeface="Arial"/>
              </a:rPr>
              <a:t>Highlights</a:t>
            </a:r>
            <a:endParaRPr lang="en-US" sz="850">
              <a:latin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Received leadership approval for Salesforce CR on 4/15</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Discovery for Salesforce scope clarified and locked on 4/17</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Refined PR estimate entered in Planview and line commitment logged</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CR approvals in progress for </a:t>
            </a:r>
            <a:r>
              <a:rPr lang="en-US" sz="850">
                <a:latin typeface="Aptos" panose="020B0004020202020204" pitchFamily="34" charset="0"/>
                <a:ea typeface="+mn-lt"/>
                <a:cs typeface="+mn-lt"/>
              </a:rPr>
              <a:t>PML Reboot - Add REN Form Updates</a:t>
            </a: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1 got implemented Successfully on 06/19</a:t>
            </a: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2 got implemented Successfully on 07/15</a:t>
            </a:r>
            <a:endParaRPr lang="en-US" sz="850">
              <a:latin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REN CR - </a:t>
            </a:r>
            <a:r>
              <a:rPr lang="en-US" sz="850">
                <a:latin typeface="Aptos" panose="020B0004020202020204" pitchFamily="34" charset="0"/>
                <a:cs typeface="Arial"/>
              </a:rPr>
              <a:t>PML Form Updates  </a:t>
            </a:r>
          </a:p>
          <a:p>
            <a:pPr marL="628650" lvl="1" indent="-171450">
              <a:lnSpc>
                <a:spcPct val="150000"/>
              </a:lnSpc>
              <a:buFont typeface="Arial,Sans-Serif"/>
              <a:buChar char="•"/>
              <a:tabLst>
                <a:tab pos="457200" algn="l"/>
              </a:tabLst>
            </a:pPr>
            <a:r>
              <a:rPr lang="en-US" sz="850">
                <a:latin typeface="Aptos" panose="020B0004020202020204" pitchFamily="34" charset="0"/>
                <a:cs typeface="Arial"/>
              </a:rPr>
              <a:t>DDIT – complete</a:t>
            </a:r>
          </a:p>
          <a:p>
            <a:pPr marL="628650" lvl="1" indent="-171450">
              <a:lnSpc>
                <a:spcPct val="150000"/>
              </a:lnSpc>
              <a:buFont typeface="Arial,Sans-Serif"/>
              <a:buChar char="•"/>
              <a:tabLst>
                <a:tab pos="457200" algn="l"/>
              </a:tabLst>
            </a:pPr>
            <a:r>
              <a:rPr lang="en-US" sz="850">
                <a:latin typeface="Aptos" panose="020B0004020202020204" pitchFamily="34" charset="0"/>
                <a:cs typeface="Arial"/>
              </a:rPr>
              <a:t>UAT – Complete</a:t>
            </a:r>
          </a:p>
          <a:p>
            <a:pPr marL="628650" lvl="1" indent="-171450">
              <a:lnSpc>
                <a:spcPct val="150000"/>
              </a:lnSpc>
              <a:buFont typeface="Arial,Sans-Serif"/>
              <a:buChar char="•"/>
              <a:tabLst>
                <a:tab pos="457200" algn="l"/>
              </a:tabLst>
            </a:pPr>
            <a:r>
              <a:rPr lang="en-US" sz="850">
                <a:latin typeface="Aptos" panose="020B0004020202020204" pitchFamily="34" charset="0"/>
                <a:cs typeface="Arial"/>
              </a:rPr>
              <a:t>Prod release – 09/16 – </a:t>
            </a:r>
            <a:r>
              <a:rPr lang="en-US" sz="850" b="1">
                <a:latin typeface="Aptos" panose="020B0004020202020204" pitchFamily="34" charset="0"/>
                <a:cs typeface="Arial"/>
              </a:rPr>
              <a:t>Completed</a:t>
            </a:r>
          </a:p>
          <a:p>
            <a:pPr>
              <a:lnSpc>
                <a:spcPct val="150000"/>
              </a:lnSpc>
              <a:tabLst>
                <a:tab pos="457200" algn="l"/>
              </a:tabLst>
            </a:pPr>
            <a:r>
              <a:rPr lang="en-US" sz="850" b="1">
                <a:latin typeface="Aptos" panose="020B0004020202020204" pitchFamily="34" charset="0"/>
                <a:cs typeface="Arial"/>
              </a:rPr>
              <a:t>Next Steps</a:t>
            </a:r>
          </a:p>
          <a:p>
            <a:pPr>
              <a:lnSpc>
                <a:spcPct val="150000"/>
              </a:lnSpc>
              <a:tabLst>
                <a:tab pos="457200" algn="l"/>
              </a:tabLst>
            </a:pPr>
            <a:r>
              <a:rPr lang="en-US" sz="850" b="1">
                <a:latin typeface="Aptos" panose="020B0004020202020204" pitchFamily="34" charset="0"/>
                <a:cs typeface="Arial"/>
              </a:rPr>
              <a:t>Wave 4</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Gary is working with Business teams to finalize the NH state requirements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NH state changes will be implemented next year – Timelines yet to be finalized</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This project is closed for year 2026. </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The work for NH state and other states will start in 2027 as a new project. </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The remaining budget for this project has been added to DOI Compliance bucket</a:t>
            </a:r>
          </a:p>
          <a:p>
            <a:pPr marL="171450" indent="-171450">
              <a:lnSpc>
                <a:spcPct val="150000"/>
              </a:lnSpc>
              <a:buFont typeface="Arial,Sans-Serif"/>
              <a:buChar char="•"/>
              <a:tabLst>
                <a:tab pos="457200" algn="l"/>
              </a:tabLst>
            </a:pPr>
            <a:endParaRPr lang="en-US" sz="900">
              <a:latin typeface="Arial"/>
              <a:ea typeface="Aptos" panose="020B0004020202020204" pitchFamily="34" charset="0"/>
              <a:cs typeface="Arial"/>
            </a:endParaRPr>
          </a:p>
          <a:p>
            <a:pPr marL="285750" indent="-285750">
              <a:lnSpc>
                <a:spcPct val="150000"/>
              </a:lnSpc>
              <a:buFont typeface="Arial,Sans-Serif"/>
              <a:buChar char="•"/>
              <a:tabLst>
                <a:tab pos="457200" algn="l"/>
              </a:tabLst>
            </a:pPr>
            <a:endParaRPr lang="en-US" sz="900">
              <a:latin typeface="Arial"/>
              <a:ea typeface="Aptos" panose="020B0004020202020204" pitchFamily="34" charset="0"/>
              <a:cs typeface="Arial"/>
            </a:endParaRPr>
          </a:p>
          <a:p>
            <a:pPr>
              <a:lnSpc>
                <a:spcPct val="150000"/>
              </a:lnSpc>
              <a:tabLst>
                <a:tab pos="457200" algn="l"/>
              </a:tabLst>
            </a:pPr>
            <a:endParaRPr lang="en-US" sz="900" b="1">
              <a:latin typeface="Arial"/>
              <a:ea typeface="Aptos" panose="020B0004020202020204" pitchFamily="34" charset="0"/>
              <a:cs typeface="Segoe UI"/>
            </a:endParaRPr>
          </a:p>
          <a:p>
            <a:pPr>
              <a:tabLst>
                <a:tab pos="457200" algn="l"/>
              </a:tabLst>
            </a:pPr>
            <a:endParaRPr lang="en-US" sz="900" b="1">
              <a:latin typeface="Arial"/>
              <a:ea typeface="Aptos" panose="020B0004020202020204" pitchFamily="34" charset="0"/>
              <a:cs typeface="Arial"/>
            </a:endParaRPr>
          </a:p>
        </p:txBody>
      </p:sp>
      <p:sp>
        <p:nvSpPr>
          <p:cNvPr id="18" name="TextBox 17">
            <a:extLst>
              <a:ext uri="{FF2B5EF4-FFF2-40B4-BE49-F238E27FC236}">
                <a16:creationId xmlns:a16="http://schemas.microsoft.com/office/drawing/2014/main" id="{DF9509AC-632F-DA8A-4072-A40C5A3D969E}"/>
              </a:ext>
            </a:extLst>
          </p:cNvPr>
          <p:cNvSpPr txBox="1"/>
          <p:nvPr/>
        </p:nvSpPr>
        <p:spPr>
          <a:xfrm>
            <a:off x="9410709" y="133061"/>
            <a:ext cx="3557368"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Venkata Dinesh</a:t>
            </a:r>
            <a:endParaRPr lang="en-US">
              <a:latin typeface="Aptos"/>
            </a:endParaRPr>
          </a:p>
          <a:p>
            <a:pPr>
              <a:lnSpc>
                <a:spcPct val="112000"/>
              </a:lnSpc>
            </a:pPr>
            <a:r>
              <a:rPr lang="en-US" sz="1200" err="1">
                <a:latin typeface="Aptos"/>
              </a:rPr>
              <a:t>OpEx</a:t>
            </a:r>
            <a:r>
              <a:rPr lang="en-US" sz="1200">
                <a:latin typeface="Aptos"/>
              </a:rPr>
              <a:t> Business Lead: Gary Wilson</a:t>
            </a:r>
          </a:p>
        </p:txBody>
      </p:sp>
      <p:sp>
        <p:nvSpPr>
          <p:cNvPr id="19" name="Flowchart: Connector 18">
            <a:extLst>
              <a:ext uri="{FF2B5EF4-FFF2-40B4-BE49-F238E27FC236}">
                <a16:creationId xmlns:a16="http://schemas.microsoft.com/office/drawing/2014/main" id="{AA520A7D-4011-C8FA-DD9C-4E33B9A7E130}"/>
              </a:ext>
            </a:extLst>
          </p:cNvPr>
          <p:cNvSpPr/>
          <p:nvPr/>
        </p:nvSpPr>
        <p:spPr>
          <a:xfrm>
            <a:off x="4224134" y="140028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6" name="Flowchart: Connector 5">
            <a:extLst>
              <a:ext uri="{FF2B5EF4-FFF2-40B4-BE49-F238E27FC236}">
                <a16:creationId xmlns:a16="http://schemas.microsoft.com/office/drawing/2014/main" id="{45BD15F8-F0DD-1E64-8BA5-643D42E9F359}"/>
              </a:ext>
            </a:extLst>
          </p:cNvPr>
          <p:cNvSpPr/>
          <p:nvPr/>
        </p:nvSpPr>
        <p:spPr>
          <a:xfrm>
            <a:off x="7688689" y="4054617"/>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091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DD669-AA02-BB9F-B376-2F5F4A8E4A9F}"/>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4586A5F-23E3-E277-9A63-746285F492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F4586A5F-23E3-E277-9A63-746285F492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55450123-965C-9530-502A-847BDA2C3D72}"/>
              </a:ext>
            </a:extLst>
          </p:cNvPr>
          <p:cNvGraphicFramePr>
            <a:graphicFrameLocks noGrp="1"/>
          </p:cNvGraphicFramePr>
          <p:nvPr/>
        </p:nvGraphicFramePr>
        <p:xfrm>
          <a:off x="4854084" y="6439147"/>
          <a:ext cx="7269726" cy="363339"/>
        </p:xfrm>
        <a:graphic>
          <a:graphicData uri="http://schemas.openxmlformats.org/drawingml/2006/table">
            <a:tbl>
              <a:tblPr/>
              <a:tblGrid>
                <a:gridCol w="617715">
                  <a:extLst>
                    <a:ext uri="{9D8B030D-6E8A-4147-A177-3AD203B41FA5}">
                      <a16:colId xmlns:a16="http://schemas.microsoft.com/office/drawing/2014/main" val="20000"/>
                    </a:ext>
                  </a:extLst>
                </a:gridCol>
                <a:gridCol w="313083">
                  <a:extLst>
                    <a:ext uri="{9D8B030D-6E8A-4147-A177-3AD203B41FA5}">
                      <a16:colId xmlns:a16="http://schemas.microsoft.com/office/drawing/2014/main" val="20001"/>
                    </a:ext>
                  </a:extLst>
                </a:gridCol>
                <a:gridCol w="708586">
                  <a:extLst>
                    <a:ext uri="{9D8B030D-6E8A-4147-A177-3AD203B41FA5}">
                      <a16:colId xmlns:a16="http://schemas.microsoft.com/office/drawing/2014/main" val="20002"/>
                    </a:ext>
                  </a:extLst>
                </a:gridCol>
                <a:gridCol w="405385">
                  <a:extLst>
                    <a:ext uri="{9D8B030D-6E8A-4147-A177-3AD203B41FA5}">
                      <a16:colId xmlns:a16="http://schemas.microsoft.com/office/drawing/2014/main" val="20003"/>
                    </a:ext>
                  </a:extLst>
                </a:gridCol>
                <a:gridCol w="643871">
                  <a:extLst>
                    <a:ext uri="{9D8B030D-6E8A-4147-A177-3AD203B41FA5}">
                      <a16:colId xmlns:a16="http://schemas.microsoft.com/office/drawing/2014/main" val="20004"/>
                    </a:ext>
                  </a:extLst>
                </a:gridCol>
                <a:gridCol w="527669">
                  <a:extLst>
                    <a:ext uri="{9D8B030D-6E8A-4147-A177-3AD203B41FA5}">
                      <a16:colId xmlns:a16="http://schemas.microsoft.com/office/drawing/2014/main" val="20005"/>
                    </a:ext>
                  </a:extLst>
                </a:gridCol>
                <a:gridCol w="504050">
                  <a:extLst>
                    <a:ext uri="{9D8B030D-6E8A-4147-A177-3AD203B41FA5}">
                      <a16:colId xmlns:a16="http://schemas.microsoft.com/office/drawing/2014/main" val="20006"/>
                    </a:ext>
                  </a:extLst>
                </a:gridCol>
                <a:gridCol w="378309">
                  <a:extLst>
                    <a:ext uri="{9D8B030D-6E8A-4147-A177-3AD203B41FA5}">
                      <a16:colId xmlns:a16="http://schemas.microsoft.com/office/drawing/2014/main" val="20007"/>
                    </a:ext>
                  </a:extLst>
                </a:gridCol>
                <a:gridCol w="724070">
                  <a:extLst>
                    <a:ext uri="{9D8B030D-6E8A-4147-A177-3AD203B41FA5}">
                      <a16:colId xmlns:a16="http://schemas.microsoft.com/office/drawing/2014/main" val="20008"/>
                    </a:ext>
                  </a:extLst>
                </a:gridCol>
                <a:gridCol w="472552">
                  <a:extLst>
                    <a:ext uri="{9D8B030D-6E8A-4147-A177-3AD203B41FA5}">
                      <a16:colId xmlns:a16="http://schemas.microsoft.com/office/drawing/2014/main" val="20009"/>
                    </a:ext>
                  </a:extLst>
                </a:gridCol>
                <a:gridCol w="1974436">
                  <a:extLst>
                    <a:ext uri="{9D8B030D-6E8A-4147-A177-3AD203B41FA5}">
                      <a16:colId xmlns:a16="http://schemas.microsoft.com/office/drawing/2014/main" val="20010"/>
                    </a:ext>
                  </a:extLst>
                </a:gridCol>
              </a:tblGrid>
              <a:tr h="36333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7062657-BBA5-7566-2AC4-D5A5B8A0110D}"/>
              </a:ext>
            </a:extLst>
          </p:cNvPr>
          <p:cNvSpPr>
            <a:spLocks noGrp="1"/>
          </p:cNvSpPr>
          <p:nvPr>
            <p:ph type="title"/>
          </p:nvPr>
        </p:nvSpPr>
        <p:spPr>
          <a:xfrm>
            <a:off x="231954" y="101795"/>
            <a:ext cx="9281086" cy="788695"/>
          </a:xfrm>
        </p:spPr>
        <p:txBody>
          <a:bodyPr vert="horz">
            <a:normAutofit/>
          </a:bodyPr>
          <a:lstStyle/>
          <a:p>
            <a:r>
              <a:rPr lang="en-US" sz="2400" b="1" err="1">
                <a:solidFill>
                  <a:srgbClr val="29389F"/>
                </a:solidFill>
                <a:latin typeface="Arial" pitchFamily="34" charset="0"/>
                <a:cs typeface="Arial" pitchFamily="34" charset="0"/>
              </a:rPr>
              <a:t>FirstVet</a:t>
            </a:r>
            <a:r>
              <a:rPr lang="en-US" sz="2400" b="1">
                <a:solidFill>
                  <a:srgbClr val="29389F"/>
                </a:solidFill>
                <a:latin typeface="Arial" pitchFamily="34" charset="0"/>
                <a:cs typeface="Arial" pitchFamily="34" charset="0"/>
              </a:rPr>
              <a:t> Consultation File - API</a:t>
            </a:r>
          </a:p>
        </p:txBody>
      </p:sp>
      <p:graphicFrame>
        <p:nvGraphicFramePr>
          <p:cNvPr id="11" name="Group 513">
            <a:extLst>
              <a:ext uri="{FF2B5EF4-FFF2-40B4-BE49-F238E27FC236}">
                <a16:creationId xmlns:a16="http://schemas.microsoft.com/office/drawing/2014/main" id="{96B48A6E-42B2-5CB0-E03F-4B0E19FF399D}"/>
              </a:ext>
            </a:extLst>
          </p:cNvPr>
          <p:cNvGraphicFramePr>
            <a:graphicFrameLocks noGrp="1"/>
          </p:cNvGraphicFramePr>
          <p:nvPr>
            <p:extLst>
              <p:ext uri="{D42A27DB-BD31-4B8C-83A1-F6EECF244321}">
                <p14:modId xmlns:p14="http://schemas.microsoft.com/office/powerpoint/2010/main" val="3746096"/>
              </p:ext>
            </p:extLst>
          </p:nvPr>
        </p:nvGraphicFramePr>
        <p:xfrm>
          <a:off x="231953" y="917792"/>
          <a:ext cx="2579072" cy="354160"/>
        </p:xfrm>
        <a:graphic>
          <a:graphicData uri="http://schemas.openxmlformats.org/drawingml/2006/table">
            <a:tbl>
              <a:tblPr/>
              <a:tblGrid>
                <a:gridCol w="962668">
                  <a:extLst>
                    <a:ext uri="{9D8B030D-6E8A-4147-A177-3AD203B41FA5}">
                      <a16:colId xmlns:a16="http://schemas.microsoft.com/office/drawing/2014/main" val="20000"/>
                    </a:ext>
                  </a:extLst>
                </a:gridCol>
                <a:gridCol w="1616404">
                  <a:extLst>
                    <a:ext uri="{9D8B030D-6E8A-4147-A177-3AD203B41FA5}">
                      <a16:colId xmlns:a16="http://schemas.microsoft.com/office/drawing/2014/main" val="20001"/>
                    </a:ext>
                  </a:extLst>
                </a:gridCol>
              </a:tblGrid>
              <a:tr h="354160">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a:lnSpc>
                          <a:spcPct val="80000"/>
                        </a:lnSpc>
                        <a:spcBef>
                          <a:spcPct val="0"/>
                        </a:spcBef>
                        <a:spcAft>
                          <a:spcPts val="0"/>
                        </a:spcAft>
                        <a:buNone/>
                        <a:tabLst/>
                      </a:pPr>
                      <a:r>
                        <a:rPr lang="en-GB" sz="850" b="1" strike="noStrike" kern="1200">
                          <a:solidFill>
                            <a:schemeClr val="tx1"/>
                          </a:solidFill>
                          <a:latin typeface="+mn-lt"/>
                          <a:ea typeface="+mn-ea"/>
                          <a:cs typeface="+mn-cs"/>
                        </a:rPr>
                        <a:t>10/09/26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A8ADF8E-817A-BD90-F5D7-A689AAFD2BC2}"/>
              </a:ext>
            </a:extLst>
          </p:cNvPr>
          <p:cNvGraphicFramePr>
            <a:graphicFrameLocks noGrp="1"/>
          </p:cNvGraphicFramePr>
          <p:nvPr/>
        </p:nvGraphicFramePr>
        <p:xfrm>
          <a:off x="6640300" y="917791"/>
          <a:ext cx="5352360" cy="749847"/>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8565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4197">
                <a:tc>
                  <a:txBody>
                    <a:bodyPr/>
                    <a:lstStyle/>
                    <a:p>
                      <a:pPr marL="0" marR="0" lvl="0" indent="0" algn="ctr" defTabSz="914400" rtl="0" eaLnBrk="0" fontAlgn="base" latinLnBrk="0" hangingPunct="0">
                        <a:lnSpc>
                          <a:spcPct val="80000"/>
                        </a:lnSpc>
                        <a:spcBef>
                          <a:spcPct val="0"/>
                        </a:spcBef>
                        <a:spcAft>
                          <a:spcPts val="0"/>
                        </a:spcAft>
                        <a:buClrTx/>
                        <a:buSzTx/>
                        <a:buFontTx/>
                        <a:buNone/>
                      </a:pPr>
                      <a:r>
                        <a:rPr lang="en-US" sz="850" b="1" strike="noStrike" kern="1200">
                          <a:solidFill>
                            <a:schemeClr val="tx1"/>
                          </a:solidFill>
                          <a:latin typeface="+mn-lt"/>
                          <a:ea typeface="+mn-ea"/>
                          <a:cs typeface="+mn-cs"/>
                        </a:rPr>
                        <a:t>69,100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pPr>
                      <a:r>
                        <a:rPr lang="en-US" sz="850" b="1" strike="noStrike" kern="1200">
                          <a:solidFill>
                            <a:schemeClr val="tx1"/>
                          </a:solidFill>
                          <a:latin typeface="+mn-lt"/>
                          <a:ea typeface="+mn-ea"/>
                          <a:cs typeface="+mn-cs"/>
                        </a:rPr>
                        <a:t>32,330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defRPr/>
                      </a:pPr>
                      <a:r>
                        <a:rPr lang="en-US" sz="850" b="1" strike="noStrike" kern="1200">
                          <a:solidFill>
                            <a:schemeClr val="tx1"/>
                          </a:solidFill>
                          <a:latin typeface="+mn-lt"/>
                          <a:ea typeface="+mn-ea"/>
                          <a:cs typeface="+mn-cs"/>
                        </a:rPr>
                        <a:t>53,268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pPr>
                      <a:r>
                        <a:rPr lang="en-US" sz="850" b="1" strike="noStrike" kern="1200">
                          <a:solidFill>
                            <a:schemeClr val="tx1"/>
                          </a:solidFill>
                          <a:latin typeface="+mn-lt"/>
                          <a:ea typeface="+mn-ea"/>
                          <a:cs typeface="+mn-cs"/>
                        </a:rPr>
                        <a:t>74K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pPr>
                      <a:r>
                        <a:rPr lang="en-US" sz="850" b="1" strike="noStrike" kern="1200">
                          <a:solidFill>
                            <a:schemeClr val="tx1"/>
                          </a:solidFill>
                          <a:latin typeface="+mn-lt"/>
                          <a:ea typeface="+mn-ea"/>
                          <a:cs typeface="+mn-cs"/>
                        </a:rPr>
                        <a:t>74K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B86882C-FF74-038A-FC36-909784A4555A}"/>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F9653B5-B789-59F1-E1B2-C8A9F89DCAAC}"/>
              </a:ext>
            </a:extLst>
          </p:cNvPr>
          <p:cNvGraphicFramePr>
            <a:graphicFrameLocks noGrp="1"/>
          </p:cNvGraphicFramePr>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a:lnSpc>
                          <a:spcPct val="80000"/>
                        </a:lnSpc>
                        <a:spcBef>
                          <a:spcPct val="0"/>
                        </a:spcBef>
                        <a:spcAft>
                          <a:spcPts val="0"/>
                        </a:spcAft>
                        <a:buNone/>
                      </a:pPr>
                      <a:r>
                        <a:rPr lang="en-US" sz="850" b="1" strike="sngStrike">
                          <a:solidFill>
                            <a:schemeClr val="tx1"/>
                          </a:solidFill>
                          <a:latin typeface="+mn-lt"/>
                        </a:rPr>
                        <a:t>8/19/26</a:t>
                      </a:r>
                    </a:p>
                    <a:p>
                      <a:pPr marL="0" marR="0" lvl="0" indent="0" algn="ctr">
                        <a:lnSpc>
                          <a:spcPct val="80000"/>
                        </a:lnSpc>
                        <a:spcBef>
                          <a:spcPct val="0"/>
                        </a:spcBef>
                        <a:spcAft>
                          <a:spcPts val="0"/>
                        </a:spcAft>
                        <a:buNone/>
                      </a:pPr>
                      <a:r>
                        <a:rPr lang="en-US" sz="850" b="1" strike="noStrike">
                          <a:solidFill>
                            <a:schemeClr val="tx1"/>
                          </a:solidFill>
                          <a:latin typeface="+mn-lt"/>
                        </a:rPr>
                        <a:t>9/16/26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C57617B-5240-4A92-8E6E-E8AC2E98E524}"/>
              </a:ext>
            </a:extLst>
          </p:cNvPr>
          <p:cNvGraphicFramePr>
            <a:graphicFrameLocks noGrp="1"/>
          </p:cNvGraphicFramePr>
          <p:nvPr/>
        </p:nvGraphicFramePr>
        <p:xfrm>
          <a:off x="4854084" y="1651450"/>
          <a:ext cx="7269726" cy="2166170"/>
        </p:xfrm>
        <a:graphic>
          <a:graphicData uri="http://schemas.openxmlformats.org/drawingml/2006/table">
            <a:tbl>
              <a:tblPr>
                <a:tableStyleId>{5C22544A-7EE6-4342-B048-85BDC9FD1C3A}</a:tableStyleId>
              </a:tblPr>
              <a:tblGrid>
                <a:gridCol w="3483671">
                  <a:extLst>
                    <a:ext uri="{9D8B030D-6E8A-4147-A177-3AD203B41FA5}">
                      <a16:colId xmlns:a16="http://schemas.microsoft.com/office/drawing/2014/main" val="2456552316"/>
                    </a:ext>
                  </a:extLst>
                </a:gridCol>
                <a:gridCol w="341425">
                  <a:extLst>
                    <a:ext uri="{9D8B030D-6E8A-4147-A177-3AD203B41FA5}">
                      <a16:colId xmlns:a16="http://schemas.microsoft.com/office/drawing/2014/main" val="1100051595"/>
                    </a:ext>
                  </a:extLst>
                </a:gridCol>
                <a:gridCol w="563880">
                  <a:extLst>
                    <a:ext uri="{9D8B030D-6E8A-4147-A177-3AD203B41FA5}">
                      <a16:colId xmlns:a16="http://schemas.microsoft.com/office/drawing/2014/main" val="2042261034"/>
                    </a:ext>
                  </a:extLst>
                </a:gridCol>
                <a:gridCol w="2880750">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617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mn-lt"/>
                          <a:ea typeface="+mn-ea"/>
                          <a:cs typeface="+mn-cs"/>
                        </a:rPr>
                        <a:t>DDIT – Epic Winner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mn-lt"/>
                          <a:ea typeface="+mn-ea"/>
                          <a:cs typeface="+mn-cs"/>
                        </a:rPr>
                        <a:t>Epic winners still in DDIT and requested additional </a:t>
                      </a:r>
                      <a:r>
                        <a:rPr lang="en-US" sz="850" kern="1200" err="1">
                          <a:solidFill>
                            <a:schemeClr val="dk1"/>
                          </a:solidFill>
                          <a:effectLst/>
                          <a:latin typeface="+mn-lt"/>
                          <a:ea typeface="+mn-ea"/>
                          <a:cs typeface="+mn-cs"/>
                        </a:rPr>
                        <a:t>hrs</a:t>
                      </a:r>
                      <a:r>
                        <a:rPr lang="en-US" sz="850" kern="1200">
                          <a:solidFill>
                            <a:schemeClr val="dk1"/>
                          </a:solidFill>
                          <a:effectLst/>
                          <a:latin typeface="+mn-lt"/>
                          <a:ea typeface="+mn-ea"/>
                          <a:cs typeface="+mn-cs"/>
                        </a:rPr>
                        <a:t> for DDIT effort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mn-lt"/>
                          <a:ea typeface="+mn-ea"/>
                          <a:cs typeface="+mn-cs"/>
                        </a:rPr>
                        <a:t>DDIT – Analysis This</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mn-lt"/>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mn-lt"/>
                        </a:rPr>
                        <a:t>7/28</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4043492510"/>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mn-lt"/>
                          <a:ea typeface="+mn-ea"/>
                          <a:cs typeface="+mn-cs"/>
                        </a:rPr>
                        <a:t>E2E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mn-lt"/>
                          <a:ea typeface="+mn-ea"/>
                          <a:cs typeface="+mn-cs"/>
                        </a:rPr>
                        <a:t>Vendor Integration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mn-lt"/>
                        </a:rPr>
                        <a:t>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mn-lt"/>
                          <a:ea typeface="+mn-ea"/>
                          <a:cs typeface="+mn-cs"/>
                        </a:rPr>
                        <a:t>Had session with vendor to discuss the integration testing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mn-lt"/>
                          <a:ea typeface="+mn-ea"/>
                          <a:cs typeface="+mn-cs"/>
                        </a:rPr>
                        <a:t>Production</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mn-lt"/>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mn-lt"/>
                        </a:rPr>
                        <a:t>8/19</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944897433"/>
                  </a:ext>
                </a:extLst>
              </a:tr>
              <a:tr h="370699">
                <a:tc>
                  <a:txBody>
                    <a:bodyPr/>
                    <a:lstStyle/>
                    <a:p>
                      <a:pPr marL="114300" lvl="0" indent="0" algn="l" defTabSz="914400" rtl="0" eaLnBrk="1" latinLnBrk="0" hangingPunct="1">
                        <a:lnSpc>
                          <a:spcPct val="95000"/>
                        </a:lnSpc>
                        <a:spcBef>
                          <a:spcPct val="0"/>
                        </a:spcBef>
                        <a:spcAft>
                          <a:spcPct val="50000"/>
                        </a:spcAft>
                        <a:buNone/>
                      </a:pPr>
                      <a:r>
                        <a:rPr lang="en-US" sz="850" kern="1200">
                          <a:solidFill>
                            <a:schemeClr val="dk1"/>
                          </a:solidFill>
                          <a:latin typeface="+mn-lt"/>
                          <a:ea typeface="+mn-ea"/>
                          <a:cs typeface="+mn-cs"/>
                        </a:rPr>
                        <a:t>Transfer file to ImageRight Location</a:t>
                      </a:r>
                    </a:p>
                  </a:txBody>
                  <a:tcPr marL="9524" marR="9524" marT="9524"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114300" lvl="0" indent="0" algn="l" defTabSz="914400" rtl="0" eaLnBrk="1" latinLnBrk="0" hangingPunct="1">
                        <a:lnSpc>
                          <a:spcPct val="95000"/>
                        </a:lnSpc>
                        <a:spcBef>
                          <a:spcPct val="0"/>
                        </a:spcBef>
                        <a:spcAft>
                          <a:spcPct val="50000"/>
                        </a:spcAft>
                        <a:buNone/>
                      </a:pPr>
                      <a:r>
                        <a:rPr lang="en-US" sz="850" kern="1200">
                          <a:solidFill>
                            <a:schemeClr val="dk1"/>
                          </a:solidFill>
                          <a:latin typeface="+mn-lt"/>
                          <a:ea typeface="+mn-ea"/>
                          <a:cs typeface="+mn-cs"/>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114300" lvl="0" indent="0" algn="l" defTabSz="914400" rtl="0" eaLnBrk="1" latinLnBrk="0" hangingPunct="1">
                        <a:lnSpc>
                          <a:spcPct val="95000"/>
                        </a:lnSpc>
                        <a:spcBef>
                          <a:spcPct val="0"/>
                        </a:spcBef>
                        <a:spcAft>
                          <a:spcPct val="50000"/>
                        </a:spcAft>
                        <a:buNone/>
                      </a:pPr>
                      <a:r>
                        <a:rPr lang="en-US" sz="850" kern="1200">
                          <a:solidFill>
                            <a:schemeClr val="dk1"/>
                          </a:solidFill>
                          <a:latin typeface="+mn-lt"/>
                          <a:ea typeface="+mn-ea"/>
                          <a:cs typeface="+mn-cs"/>
                        </a:rPr>
                        <a:t>9/14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114300" lvl="0" indent="0" algn="l" defTabSz="914400" rtl="0" eaLnBrk="1" latinLnBrk="0" hangingPunct="1">
                        <a:lnSpc>
                          <a:spcPct val="95000"/>
                        </a:lnSpc>
                        <a:spcBef>
                          <a:spcPct val="0"/>
                        </a:spcBef>
                        <a:spcAft>
                          <a:spcPct val="50000"/>
                        </a:spcAft>
                        <a:buNone/>
                      </a:pPr>
                      <a:r>
                        <a:rPr lang="en-US" sz="850" kern="1200">
                          <a:solidFill>
                            <a:schemeClr val="dk1"/>
                          </a:solidFill>
                          <a:latin typeface="+mn-lt"/>
                          <a:ea typeface="+mn-ea"/>
                          <a:cs typeface="+mn-cs"/>
                        </a:rPr>
                        <a:t>Complete</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141283379"/>
                  </a:ext>
                </a:extLst>
              </a:tr>
            </a:tbl>
          </a:graphicData>
        </a:graphic>
      </p:graphicFrame>
      <p:graphicFrame>
        <p:nvGraphicFramePr>
          <p:cNvPr id="29" name="Table 28">
            <a:extLst>
              <a:ext uri="{FF2B5EF4-FFF2-40B4-BE49-F238E27FC236}">
                <a16:creationId xmlns:a16="http://schemas.microsoft.com/office/drawing/2014/main" id="{65ECEA24-33AC-8F63-937D-BAEA60CE9D03}"/>
              </a:ext>
            </a:extLst>
          </p:cNvPr>
          <p:cNvGraphicFramePr>
            <a:graphicFrameLocks noGrp="1"/>
          </p:cNvGraphicFramePr>
          <p:nvPr/>
        </p:nvGraphicFramePr>
        <p:xfrm>
          <a:off x="4854084" y="3802380"/>
          <a:ext cx="7269726" cy="2687225"/>
        </p:xfrm>
        <a:graphic>
          <a:graphicData uri="http://schemas.openxmlformats.org/drawingml/2006/table">
            <a:tbl>
              <a:tblPr>
                <a:tableStyleId>{5C22544A-7EE6-4342-B048-85BDC9FD1C3A}</a:tableStyleId>
              </a:tblPr>
              <a:tblGrid>
                <a:gridCol w="3482195">
                  <a:extLst>
                    <a:ext uri="{9D8B030D-6E8A-4147-A177-3AD203B41FA5}">
                      <a16:colId xmlns:a16="http://schemas.microsoft.com/office/drawing/2014/main" val="2456552316"/>
                    </a:ext>
                  </a:extLst>
                </a:gridCol>
                <a:gridCol w="388620">
                  <a:extLst>
                    <a:ext uri="{9D8B030D-6E8A-4147-A177-3AD203B41FA5}">
                      <a16:colId xmlns:a16="http://schemas.microsoft.com/office/drawing/2014/main" val="1100051595"/>
                    </a:ext>
                  </a:extLst>
                </a:gridCol>
                <a:gridCol w="541020">
                  <a:extLst>
                    <a:ext uri="{9D8B030D-6E8A-4147-A177-3AD203B41FA5}">
                      <a16:colId xmlns:a16="http://schemas.microsoft.com/office/drawing/2014/main" val="2042261034"/>
                    </a:ext>
                  </a:extLst>
                </a:gridCol>
                <a:gridCol w="2857891">
                  <a:extLst>
                    <a:ext uri="{9D8B030D-6E8A-4147-A177-3AD203B41FA5}">
                      <a16:colId xmlns:a16="http://schemas.microsoft.com/office/drawing/2014/main" val="2815874248"/>
                    </a:ext>
                  </a:extLst>
                </a:gridCol>
              </a:tblGrid>
              <a:tr h="31242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13252">
                <a:tc>
                  <a:txBody>
                    <a:bodyPr/>
                    <a:lstStyle/>
                    <a:p>
                      <a:pPr marL="0" marR="0" lvl="0" indent="0" algn="l" rtl="0" eaLnBrk="1" fontAlgn="auto" latinLnBrk="0" hangingPunct="1">
                        <a:lnSpc>
                          <a:spcPct val="115000"/>
                        </a:lnSpc>
                        <a:spcBef>
                          <a:spcPts val="0"/>
                        </a:spcBef>
                        <a:spcAft>
                          <a:spcPts val="800"/>
                        </a:spcAft>
                        <a:buClrTx/>
                        <a:buSzTx/>
                        <a:buFontTx/>
                        <a:buNone/>
                      </a:pPr>
                      <a:r>
                        <a:rPr lang="en-US" sz="850">
                          <a:latin typeface="Aptos"/>
                        </a:rPr>
                        <a:t>End to end testing and Integration should be planned ahead with the Firstvet vendor</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a:ea typeface="+mn-ea"/>
                          <a:cs typeface="+mn-cs"/>
                        </a:rPr>
                        <a:t>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b="0" strike="noStrike" kern="1200">
                          <a:solidFill>
                            <a:schemeClr val="tx1"/>
                          </a:solidFill>
                          <a:effectLst/>
                          <a:latin typeface="Aptos"/>
                          <a:ea typeface="+mn-ea"/>
                          <a:cs typeface="+mn-cs"/>
                        </a:rPr>
                        <a:t>Schedule meeting with vendor to communicate the plan for E2E testing and system integration steps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18983321"/>
                  </a:ext>
                </a:extLst>
              </a:tr>
              <a:tr h="278583">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a:ea typeface="+mn-ea"/>
                          <a:cs typeface="+mn-cs"/>
                        </a:rPr>
                        <a:t>Vendor Connectivity Readiness: Vendor-side setup and connectivity validation remain in progress.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a:ea typeface="+mn-ea"/>
                          <a:cs typeface="+mn-cs"/>
                        </a:rPr>
                        <a:t>Vendor is working to ensure all required configurations are established before final testing. Completion of end-to-end vendor validation is required prior to production execution.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01786673"/>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a:ea typeface="+mn-ea"/>
                          <a:cs typeface="+mn-cs"/>
                        </a:rPr>
                        <a:t>Code push to stagging environment is blocked due to access restriction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a:ea typeface="+mn-ea"/>
                          <a:cs typeface="+mn-cs"/>
                        </a:rPr>
                        <a:t>Working with secondary owner to resolve the access issue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9244004"/>
                  </a:ext>
                </a:extLst>
              </a:tr>
              <a:tr h="313508">
                <a:tc>
                  <a:txBody>
                    <a:bodyPr/>
                    <a:lstStyle/>
                    <a:p>
                      <a:pPr marL="0" marR="0" lvl="0" indent="0" algn="l" rtl="0" eaLnBrk="1" fontAlgn="auto" latinLnBrk="0" hangingPunct="1">
                        <a:lnSpc>
                          <a:spcPct val="115000"/>
                        </a:lnSpc>
                        <a:spcBef>
                          <a:spcPts val="0"/>
                        </a:spcBef>
                        <a:spcAft>
                          <a:spcPts val="800"/>
                        </a:spcAft>
                        <a:buClrTx/>
                        <a:buSzTx/>
                        <a:buFontTx/>
                        <a:buNone/>
                      </a:pPr>
                      <a:r>
                        <a:rPr lang="en-US" sz="850" kern="1200">
                          <a:solidFill>
                            <a:schemeClr val="dk1"/>
                          </a:solidFill>
                          <a:latin typeface="Aptos"/>
                          <a:ea typeface="+mn-ea"/>
                          <a:cs typeface="+mn-cs"/>
                        </a:rPr>
                        <a:t>The ImageRight integration Change Request required for consultation file processing is awaiting prioritization and a committed delivery date from MIM team.  Also awaiting funding approval confirmation. Delays in prioritization or implementation may impact production readiness, end-to-end testing, claims support functionality, and the September 21, 2026 telemedicine launch timeline.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lang="en-US" sz="850" kern="1200">
                        <a:solidFill>
                          <a:schemeClr val="dk1"/>
                        </a:solidFill>
                        <a:latin typeface="+mn-lt"/>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C</a:t>
                      </a:r>
                    </a:p>
                    <a:p>
                      <a:pPr marL="0" marR="0" lvl="0" indent="0" algn="ctr" defTabSz="914400" rtl="0" eaLnBrk="1" fontAlgn="ctr" latinLnBrk="0" hangingPunct="1">
                        <a:lnSpc>
                          <a:spcPct val="95000"/>
                        </a:lnSpc>
                        <a:spcBef>
                          <a:spcPct val="0"/>
                        </a:spcBef>
                        <a:spcAft>
                          <a:spcPct val="50000"/>
                        </a:spcAft>
                        <a:buClrTx/>
                        <a:buSzTx/>
                        <a:buFontTx/>
                        <a:buNone/>
                        <a:tabLst/>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9/14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a:ea typeface="+mn-ea"/>
                          <a:cs typeface="+mn-cs"/>
                        </a:rPr>
                        <a:t>Funding was approved and MIM prioritized the work to be completed for the 9/16 release.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82771776"/>
                  </a:ext>
                </a:extLst>
              </a:tr>
              <a:tr h="465795">
                <a:tc>
                  <a:txBody>
                    <a:bodyPr/>
                    <a:lstStyle/>
                    <a:p>
                      <a:pPr marL="0" marR="0" lvl="0" indent="0" algn="l" rtl="0" eaLnBrk="1" fontAlgn="auto" latinLnBrk="0" hangingPunct="1">
                        <a:lnSpc>
                          <a:spcPct val="115000"/>
                        </a:lnSpc>
                        <a:spcBef>
                          <a:spcPts val="0"/>
                        </a:spcBef>
                        <a:spcAft>
                          <a:spcPts val="800"/>
                        </a:spcAft>
                        <a:buClrTx/>
                        <a:buSzTx/>
                        <a:buFontTx/>
                        <a:buNone/>
                      </a:pPr>
                      <a:r>
                        <a:rPr lang="en-US" sz="850" kern="1200">
                          <a:solidFill>
                            <a:schemeClr val="dk1"/>
                          </a:solidFill>
                          <a:latin typeface="Aptos"/>
                          <a:ea typeface="+mn-ea"/>
                          <a:cs typeface="+mn-cs"/>
                        </a:rPr>
                        <a:t>Remaining testing, Release approval, and IR business readiness are compressed ahead of the 9/16 release.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a:ea typeface="+mn-ea"/>
                          <a:cs typeface="+mn-cs"/>
                        </a:rPr>
                        <a:t>9/15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a:ea typeface="+mn-ea"/>
                          <a:cs typeface="+mn-cs"/>
                        </a:rPr>
                        <a:t>Complete.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37547520"/>
                  </a:ext>
                </a:extLst>
              </a:tr>
            </a:tbl>
          </a:graphicData>
        </a:graphic>
      </p:graphicFrame>
      <p:sp>
        <p:nvSpPr>
          <p:cNvPr id="33" name="Flowchart: Connector 32">
            <a:extLst>
              <a:ext uri="{FF2B5EF4-FFF2-40B4-BE49-F238E27FC236}">
                <a16:creationId xmlns:a16="http://schemas.microsoft.com/office/drawing/2014/main" id="{08568F34-A50A-5D03-A2D2-B9BA35ABCB1E}"/>
              </a:ext>
            </a:extLst>
          </p:cNvPr>
          <p:cNvSpPr/>
          <p:nvPr/>
        </p:nvSpPr>
        <p:spPr>
          <a:xfrm>
            <a:off x="6626162" y="655643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71F111C-94D6-313C-5D70-837B15C6EE06}"/>
              </a:ext>
            </a:extLst>
          </p:cNvPr>
          <p:cNvSpPr/>
          <p:nvPr/>
        </p:nvSpPr>
        <p:spPr>
          <a:xfrm>
            <a:off x="7729184" y="656894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34112F25-8B8A-67D1-EF8E-CBAB1EE7B7C0}"/>
              </a:ext>
            </a:extLst>
          </p:cNvPr>
          <p:cNvSpPr/>
          <p:nvPr/>
        </p:nvSpPr>
        <p:spPr>
          <a:xfrm>
            <a:off x="8674327" y="655643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BC884FAF-F2A9-FDE9-3D99-2115A892EF26}"/>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1602140D-FBE1-C7A9-59E7-641631AB3055}"/>
              </a:ext>
            </a:extLst>
          </p:cNvPr>
          <p:cNvSpPr/>
          <p:nvPr/>
        </p:nvSpPr>
        <p:spPr>
          <a:xfrm>
            <a:off x="5143033"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19A15766-A0F6-F1FF-8916-2BFA832DB860}"/>
              </a:ext>
            </a:extLst>
          </p:cNvPr>
          <p:cNvSpPr/>
          <p:nvPr/>
        </p:nvSpPr>
        <p:spPr>
          <a:xfrm>
            <a:off x="6078524"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9CF267F8-A813-2A8A-80BA-D57979259D65}"/>
              </a:ext>
            </a:extLst>
          </p:cNvPr>
          <p:cNvSpPr txBox="1"/>
          <p:nvPr/>
        </p:nvSpPr>
        <p:spPr>
          <a:xfrm>
            <a:off x="68189" y="1846688"/>
            <a:ext cx="4702053" cy="351288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a:ea typeface="+mn-ea"/>
                <a:cs typeface="+mn-cs"/>
              </a:rPr>
              <a:t>Status: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a:ea typeface="+mn-ea"/>
                <a:cs typeface="+mn-cs"/>
              </a:rPr>
              <a:t>Overall Status </a:t>
            </a:r>
            <a:r>
              <a:rPr kumimoji="0" lang="en-US" sz="850" b="1" i="0" u="none" strike="noStrike" kern="1200" cap="none" spc="0" normalizeH="0" baseline="0" noProof="0">
                <a:ln>
                  <a:noFill/>
                </a:ln>
                <a:solidFill>
                  <a:prstClr val="black"/>
                </a:solidFill>
                <a:effectLst/>
                <a:highlight>
                  <a:srgbClr val="92D050"/>
                </a:highlight>
                <a:uLnTx/>
                <a:uFillTx/>
                <a:latin typeface="Aptos"/>
                <a:ea typeface="+mn-ea"/>
                <a:cs typeface="+mn-cs"/>
              </a:rPr>
              <a:t>Green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1" i="0" u="none" strike="noStrike" kern="1200" cap="none" spc="0" normalizeH="0" baseline="0" noProof="0">
              <a:ln>
                <a:noFill/>
              </a:ln>
              <a:solidFill>
                <a:prstClr val="black"/>
              </a:solidFill>
              <a:effectLst/>
              <a:highlight>
                <a:srgbClr val="FFFF00"/>
              </a:highligh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The FirstVet Consultation API project is now green.  The </a:t>
            </a:r>
            <a:r>
              <a:rPr kumimoji="0" lang="en-US" sz="850" b="0" i="0" u="none" strike="noStrike" kern="1200" cap="none" spc="0" normalizeH="0" baseline="0" noProof="0" err="1">
                <a:ln>
                  <a:noFill/>
                </a:ln>
                <a:solidFill>
                  <a:prstClr val="black"/>
                </a:solidFill>
                <a:effectLst/>
                <a:uLnTx/>
                <a:uFillTx/>
                <a:latin typeface="Aptos"/>
                <a:ea typeface="+mn-ea"/>
                <a:cs typeface="+mn-cs"/>
              </a:rPr>
              <a:t>ImageRight</a:t>
            </a:r>
            <a:r>
              <a:rPr kumimoji="0" lang="en-US" sz="850" b="0" i="0" u="none" strike="noStrike" kern="1200" cap="none" spc="0" normalizeH="0" baseline="0" noProof="0">
                <a:ln>
                  <a:noFill/>
                </a:ln>
                <a:solidFill>
                  <a:prstClr val="black"/>
                </a:solidFill>
                <a:effectLst/>
                <a:uLnTx/>
                <a:uFillTx/>
                <a:latin typeface="Aptos"/>
                <a:ea typeface="+mn-ea"/>
                <a:cs typeface="+mn-cs"/>
              </a:rPr>
              <a:t> file transfer change was successfully deployed to production on 9/16. FirstVet Consultation file and IR releases are complete.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There are three outstanding defects that will be address post release: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Error with null value records failing in Vet Consultation file.  completed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Extra symbols appearing in the Vet Consultation journal record in IR due to decoding issue. Impact: Minor, records still display required information and available for the business, but symbols should be removed.  Fix is targeted by 10/14.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Frist Vet mobile app requires update to version 26.36.0. Business impact: This version has a required fix to remove an unlicensed font. Currently two versions behind. Fix is required by 9/30.  IT team is identifying test account that can be used by Apple team to test and schedule the upgrades.  DFD is targeted 9/21.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50">
                <a:solidFill>
                  <a:prstClr val="black"/>
                </a:solidFill>
                <a:latin typeface="Aptos"/>
              </a:rPr>
              <a:t>Validate </a:t>
            </a:r>
            <a:r>
              <a:rPr lang="en-US" sz="850" err="1">
                <a:solidFill>
                  <a:prstClr val="black"/>
                </a:solidFill>
                <a:latin typeface="Aptos"/>
              </a:rPr>
              <a:t>Consulation</a:t>
            </a:r>
            <a:r>
              <a:rPr lang="en-US" sz="850">
                <a:solidFill>
                  <a:prstClr val="black"/>
                </a:solidFill>
                <a:latin typeface="Aptos"/>
              </a:rPr>
              <a:t> record and API flow – EW &amp; AT line are analyzing the issue and plan for fixing the defect – AT line fixed the defect. EW fix will be planned for Oct 14</a:t>
            </a:r>
            <a:r>
              <a:rPr lang="en-US" sz="850" baseline="30000">
                <a:solidFill>
                  <a:prstClr val="black"/>
                </a:solidFill>
                <a:latin typeface="Aptos"/>
              </a:rPr>
              <a:t>th</a:t>
            </a:r>
            <a:r>
              <a:rPr lang="en-US" sz="850">
                <a:solidFill>
                  <a:prstClr val="black"/>
                </a:solidFill>
                <a:latin typeface="Aptos"/>
              </a:rPr>
              <a:t> release</a:t>
            </a:r>
            <a:endParaRPr kumimoji="0" lang="en-US" sz="85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00" cap="none" spc="0" normalizeH="0" baseline="0" noProof="0">
              <a:ln>
                <a:noFill/>
              </a:ln>
              <a:solidFill>
                <a:prstClr val="black"/>
              </a:solidFill>
              <a:effectLst/>
              <a:uLnTx/>
              <a:uFillTx/>
              <a:latin typeface="Aptos" panose="020B0004020202020204" pitchFamily="34" charset="0"/>
              <a:ea typeface="+mn-ea"/>
              <a:cs typeface="Times New Roman"/>
            </a:endParaRPr>
          </a:p>
          <a:p>
            <a:pPr marL="0" marR="0" lvl="0" indent="0" algn="l" defTabSz="914400" rtl="0" eaLnBrk="1" fontAlgn="auto" latinLnBrk="0" hangingPunct="1">
              <a:lnSpc>
                <a:spcPct val="114999"/>
              </a:lnSpc>
              <a:spcBef>
                <a:spcPts val="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a:ea typeface="+mn-ea"/>
                <a:cs typeface="Times New Roman"/>
              </a:rPr>
              <a:t>Next Steps: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Confirm when mobile upgrade will be completed and provide update on </a:t>
            </a:r>
            <a:r>
              <a:rPr lang="en-US" sz="850">
                <a:solidFill>
                  <a:prstClr val="black"/>
                </a:solidFill>
                <a:latin typeface="Aptos"/>
              </a:rPr>
              <a:t>10/05</a:t>
            </a:r>
            <a:r>
              <a:rPr kumimoji="0" lang="en-US" sz="850" b="0" i="0" u="none" strike="noStrike" kern="1200" cap="none" spc="0" normalizeH="0" baseline="0" noProof="0">
                <a:ln>
                  <a:noFill/>
                </a:ln>
                <a:solidFill>
                  <a:prstClr val="black"/>
                </a:solidFill>
                <a:effectLst/>
                <a:uLnTx/>
                <a:uFillTx/>
                <a:latin typeface="Aptos"/>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a:ea typeface="+mn-ea"/>
                <a:cs typeface="+mn-cs"/>
              </a:rPr>
              <a:t>Schedule IR journal record fix by 10/09.  </a:t>
            </a:r>
          </a:p>
        </p:txBody>
      </p:sp>
      <p:sp>
        <p:nvSpPr>
          <p:cNvPr id="3" name="TextBox 2">
            <a:extLst>
              <a:ext uri="{FF2B5EF4-FFF2-40B4-BE49-F238E27FC236}">
                <a16:creationId xmlns:a16="http://schemas.microsoft.com/office/drawing/2014/main" id="{C8088A4C-078B-2D2E-C3BE-42C70EAD5010}"/>
              </a:ext>
            </a:extLst>
          </p:cNvPr>
          <p:cNvSpPr txBox="1"/>
          <p:nvPr/>
        </p:nvSpPr>
        <p:spPr>
          <a:xfrm>
            <a:off x="9447629" y="55514"/>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Project Manager :  Rekha Kothandaraman</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OpEx Business Lead: Kelly Heitmann</a:t>
            </a:r>
          </a:p>
        </p:txBody>
      </p:sp>
      <p:sp>
        <p:nvSpPr>
          <p:cNvPr id="6" name="Flowchart: Connector 5">
            <a:extLst>
              <a:ext uri="{FF2B5EF4-FFF2-40B4-BE49-F238E27FC236}">
                <a16:creationId xmlns:a16="http://schemas.microsoft.com/office/drawing/2014/main" id="{BBA500FD-531B-9B80-9A1A-15B4A2AABA25}"/>
              </a:ext>
            </a:extLst>
          </p:cNvPr>
          <p:cNvSpPr/>
          <p:nvPr/>
        </p:nvSpPr>
        <p:spPr>
          <a:xfrm>
            <a:off x="4250024" y="1406342"/>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1027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B2F0-4580-F6C2-5051-5CBC3173A03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2BE4F1F-3225-1E70-24E9-5FFAC76DF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2BE4F1F-3225-1E70-24E9-5FFAC76DF3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63AD4511-D4B7-A078-B036-440C2ACFC8D9}"/>
              </a:ext>
            </a:extLst>
          </p:cNvPr>
          <p:cNvGraphicFramePr>
            <a:graphicFrameLocks noGrp="1"/>
          </p:cNvGraphicFramePr>
          <p:nvPr/>
        </p:nvGraphicFramePr>
        <p:xfrm>
          <a:off x="4854769" y="6412912"/>
          <a:ext cx="7254529" cy="386554"/>
        </p:xfrm>
        <a:graphic>
          <a:graphicData uri="http://schemas.openxmlformats.org/drawingml/2006/table">
            <a:tbl>
              <a:tblPr/>
              <a:tblGrid>
                <a:gridCol w="616423">
                  <a:extLst>
                    <a:ext uri="{9D8B030D-6E8A-4147-A177-3AD203B41FA5}">
                      <a16:colId xmlns:a16="http://schemas.microsoft.com/office/drawing/2014/main" val="20000"/>
                    </a:ext>
                  </a:extLst>
                </a:gridCol>
                <a:gridCol w="312429">
                  <a:extLst>
                    <a:ext uri="{9D8B030D-6E8A-4147-A177-3AD203B41FA5}">
                      <a16:colId xmlns:a16="http://schemas.microsoft.com/office/drawing/2014/main" val="20001"/>
                    </a:ext>
                  </a:extLst>
                </a:gridCol>
                <a:gridCol w="770075">
                  <a:extLst>
                    <a:ext uri="{9D8B030D-6E8A-4147-A177-3AD203B41FA5}">
                      <a16:colId xmlns:a16="http://schemas.microsoft.com/office/drawing/2014/main" val="20002"/>
                    </a:ext>
                  </a:extLst>
                </a:gridCol>
                <a:gridCol w="307805">
                  <a:extLst>
                    <a:ext uri="{9D8B030D-6E8A-4147-A177-3AD203B41FA5}">
                      <a16:colId xmlns:a16="http://schemas.microsoft.com/office/drawing/2014/main" val="20003"/>
                    </a:ext>
                  </a:extLst>
                </a:gridCol>
                <a:gridCol w="676286">
                  <a:extLst>
                    <a:ext uri="{9D8B030D-6E8A-4147-A177-3AD203B41FA5}">
                      <a16:colId xmlns:a16="http://schemas.microsoft.com/office/drawing/2014/main" val="20004"/>
                    </a:ext>
                  </a:extLst>
                </a:gridCol>
                <a:gridCol w="526566">
                  <a:extLst>
                    <a:ext uri="{9D8B030D-6E8A-4147-A177-3AD203B41FA5}">
                      <a16:colId xmlns:a16="http://schemas.microsoft.com/office/drawing/2014/main" val="20005"/>
                    </a:ext>
                  </a:extLst>
                </a:gridCol>
                <a:gridCol w="577842">
                  <a:extLst>
                    <a:ext uri="{9D8B030D-6E8A-4147-A177-3AD203B41FA5}">
                      <a16:colId xmlns:a16="http://schemas.microsoft.com/office/drawing/2014/main" val="20006"/>
                    </a:ext>
                  </a:extLst>
                </a:gridCol>
                <a:gridCol w="375067">
                  <a:extLst>
                    <a:ext uri="{9D8B030D-6E8A-4147-A177-3AD203B41FA5}">
                      <a16:colId xmlns:a16="http://schemas.microsoft.com/office/drawing/2014/main" val="20007"/>
                    </a:ext>
                  </a:extLst>
                </a:gridCol>
                <a:gridCol w="1394626">
                  <a:extLst>
                    <a:ext uri="{9D8B030D-6E8A-4147-A177-3AD203B41FA5}">
                      <a16:colId xmlns:a16="http://schemas.microsoft.com/office/drawing/2014/main" val="20008"/>
                    </a:ext>
                  </a:extLst>
                </a:gridCol>
                <a:gridCol w="384448">
                  <a:extLst>
                    <a:ext uri="{9D8B030D-6E8A-4147-A177-3AD203B41FA5}">
                      <a16:colId xmlns:a16="http://schemas.microsoft.com/office/drawing/2014/main" val="20009"/>
                    </a:ext>
                  </a:extLst>
                </a:gridCol>
                <a:gridCol w="1312962">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0502D40-DD86-9371-5DD1-EF34C378EAFF}"/>
              </a:ext>
            </a:extLst>
          </p:cNvPr>
          <p:cNvSpPr>
            <a:spLocks noGrp="1"/>
          </p:cNvSpPr>
          <p:nvPr>
            <p:ph type="title"/>
          </p:nvPr>
        </p:nvSpPr>
        <p:spPr>
          <a:xfrm>
            <a:off x="231954" y="101795"/>
            <a:ext cx="9281086" cy="788695"/>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Add-a-Pet Improvements</a:t>
            </a:r>
            <a:br>
              <a:rPr lang="en-US"/>
            </a:br>
            <a:r>
              <a:rPr lang="en-US" sz="1600" b="0">
                <a:solidFill>
                  <a:srgbClr val="0070C0"/>
                </a:solidFill>
                <a:latin typeface="Arial" panose="020B0604020202020204" pitchFamily="34" charset="0"/>
                <a:cs typeface="Arial" panose="020B0604020202020204" pitchFamily="34" charset="0"/>
              </a:rPr>
              <a:t>Streamline the add‑a‑pet quote flow to boost conversion by showing the right products and eliminating redundant data entry</a:t>
            </a:r>
            <a:endParaRPr sz="1800" b="0">
              <a:solidFill>
                <a:srgbClr val="0070C0"/>
              </a:solidFill>
              <a:latin typeface="Arial" panose="020B0604020202020204" pitchFamily="34" charset="0"/>
              <a:cs typeface="Arial" panose="020B0604020202020204" pitchFamily="34" charset="0"/>
            </a:endParaRPr>
          </a:p>
        </p:txBody>
      </p:sp>
      <p:graphicFrame>
        <p:nvGraphicFramePr>
          <p:cNvPr id="27" name="Table 26">
            <a:extLst>
              <a:ext uri="{FF2B5EF4-FFF2-40B4-BE49-F238E27FC236}">
                <a16:creationId xmlns:a16="http://schemas.microsoft.com/office/drawing/2014/main" id="{5A8260D5-6AA9-D2C1-CE5B-005266EC586F}"/>
              </a:ext>
            </a:extLst>
          </p:cNvPr>
          <p:cNvGraphicFramePr>
            <a:graphicFrameLocks noGrp="1"/>
          </p:cNvGraphicFramePr>
          <p:nvPr>
            <p:extLst>
              <p:ext uri="{D42A27DB-BD31-4B8C-83A1-F6EECF244321}">
                <p14:modId xmlns:p14="http://schemas.microsoft.com/office/powerpoint/2010/main" val="3925159522"/>
              </p:ext>
            </p:extLst>
          </p:nvPr>
        </p:nvGraphicFramePr>
        <p:xfrm>
          <a:off x="4854769" y="1657224"/>
          <a:ext cx="7269726" cy="3236847"/>
        </p:xfrm>
        <a:graphic>
          <a:graphicData uri="http://schemas.openxmlformats.org/drawingml/2006/table">
            <a:tbl>
              <a:tblPr>
                <a:tableStyleId>{5C22544A-7EE6-4342-B048-85BDC9FD1C3A}</a:tableStyleId>
              </a:tblPr>
              <a:tblGrid>
                <a:gridCol w="2571943">
                  <a:extLst>
                    <a:ext uri="{9D8B030D-6E8A-4147-A177-3AD203B41FA5}">
                      <a16:colId xmlns:a16="http://schemas.microsoft.com/office/drawing/2014/main" val="2456552316"/>
                    </a:ext>
                  </a:extLst>
                </a:gridCol>
                <a:gridCol w="496229">
                  <a:extLst>
                    <a:ext uri="{9D8B030D-6E8A-4147-A177-3AD203B41FA5}">
                      <a16:colId xmlns:a16="http://schemas.microsoft.com/office/drawing/2014/main" val="1100051595"/>
                    </a:ext>
                  </a:extLst>
                </a:gridCol>
                <a:gridCol w="585439">
                  <a:extLst>
                    <a:ext uri="{9D8B030D-6E8A-4147-A177-3AD203B41FA5}">
                      <a16:colId xmlns:a16="http://schemas.microsoft.com/office/drawing/2014/main" val="2042261034"/>
                    </a:ext>
                  </a:extLst>
                </a:gridCol>
                <a:gridCol w="3616115">
                  <a:extLst>
                    <a:ext uri="{9D8B030D-6E8A-4147-A177-3AD203B41FA5}">
                      <a16:colId xmlns:a16="http://schemas.microsoft.com/office/drawing/2014/main" val="2815874248"/>
                    </a:ext>
                  </a:extLst>
                </a:gridCol>
              </a:tblGrid>
              <a:tr h="31949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0175">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3609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2/10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Aptos" panose="020B0004020202020204" pitchFamily="34" charset="0"/>
                        </a:rPr>
                        <a:t>I</a:t>
                      </a:r>
                      <a:r>
                        <a:rPr lang="en-US" sz="850" b="0" i="0" u="none" strike="noStrike" kern="100" noProof="0">
                          <a:solidFill>
                            <a:schemeClr val="dk1"/>
                          </a:solidFill>
                          <a:effectLst/>
                          <a:latin typeface="Aptos" panose="020B0004020202020204" pitchFamily="34" charset="0"/>
                          <a:ea typeface="+mn-ea"/>
                          <a:cs typeface="+mn-cs"/>
                        </a:rPr>
                        <a:t>ncorporated BDE 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3609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auto"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1/26/-2/9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Aptos" panose="020B0004020202020204" pitchFamily="34" charset="0"/>
                        </a:rPr>
                        <a:t>Scott (TA) to deliver; Nidia met with Scott on 1/30 to support Epic creations.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7368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sngStrike" kern="1200">
                          <a:solidFill>
                            <a:schemeClr val="tx1"/>
                          </a:solidFill>
                          <a:effectLst/>
                          <a:latin typeface="Aptos" panose="020B0004020202020204" pitchFamily="34" charset="0"/>
                          <a:ea typeface="+mn-ea"/>
                          <a:cs typeface="+mn-cs"/>
                        </a:rPr>
                        <a:t>2/2-2/13</a:t>
                      </a:r>
                      <a:r>
                        <a:rPr lang="en-US" sz="850" b="0" strike="noStrike" kern="1200">
                          <a:solidFill>
                            <a:schemeClr val="tx1"/>
                          </a:solidFill>
                          <a:effectLst/>
                          <a:latin typeface="Aptos" panose="020B0004020202020204" pitchFamily="34" charset="0"/>
                          <a:ea typeface="+mn-ea"/>
                          <a:cs typeface="+mn-cs"/>
                        </a:rPr>
                        <a:t> 2/20</a:t>
                      </a: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Aptos" panose="020B0004020202020204" pitchFamily="34" charset="0"/>
                          <a:cs typeface="Times New Roman"/>
                        </a:rPr>
                        <a:t>Josh shared with IT teams on  2/23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6048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3/6/26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Times New Roman"/>
                        </a:rPr>
                        <a:t>Line estimates are being received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1104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C</a:t>
                      </a:r>
                    </a:p>
                    <a:p>
                      <a:pPr algn="ctr"/>
                      <a:endParaRPr lang="en-US" sz="850">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3/17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Rekha will build-transitioned to DL on 3/13 after reviewing estimates and planning budget.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819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2/27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Vu Pham will complete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24064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7/8 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Aptos" panose="020B0004020202020204" pitchFamily="34" charset="0"/>
                          <a:ea typeface="+mn-ea"/>
                          <a:cs typeface="+mn-cs"/>
                        </a:rPr>
                        <a:t>EW/Tail Blazers/MIM/Scrum Sharks have begun work. Duration is 40 days.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4064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 &amp; UAT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pitchFamily="34" charset="0"/>
                        </a:rPr>
                        <a:t>8/5</a:t>
                      </a:r>
                      <a:r>
                        <a:rPr lang="en-US" sz="850">
                          <a:latin typeface="Aptos" panose="020B0004020202020204" pitchFamily="34" charset="0"/>
                        </a:rPr>
                        <a:t> 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Aptos" panose="020B0004020202020204" pitchFamily="34" charset="0"/>
                          <a:ea typeface="+mn-ea"/>
                          <a:cs typeface="+mn-cs"/>
                        </a:rPr>
                        <a:t>E2E in progress with 86% completed, 14% no run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4064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pitchFamily="34" charset="0"/>
                        </a:rPr>
                        <a:t>8/7</a:t>
                      </a:r>
                      <a:r>
                        <a:rPr lang="en-US" sz="850">
                          <a:latin typeface="Aptos" panose="020B0004020202020204" pitchFamily="34" charset="0"/>
                        </a:rPr>
                        <a:t> 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Aptos" panose="020B0004020202020204" pitchFamily="34" charset="0"/>
                          <a:ea typeface="+mn-ea"/>
                          <a:cs typeface="+mn-cs"/>
                        </a:rPr>
                        <a:t>UAT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7368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Go Live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pitchFamily="34" charset="0"/>
                        </a:rPr>
                        <a:t>8/12</a:t>
                      </a:r>
                      <a:r>
                        <a:rPr lang="en-US" sz="850">
                          <a:latin typeface="Aptos" panose="020B0004020202020204" pitchFamily="34" charset="0"/>
                        </a:rPr>
                        <a:t> </a:t>
                      </a:r>
                      <a:r>
                        <a:rPr lang="en-US" sz="850" strike="sngStrike">
                          <a:latin typeface="Aptos" panose="020B0004020202020204" pitchFamily="34" charset="0"/>
                        </a:rPr>
                        <a:t>8/19</a:t>
                      </a:r>
                      <a:r>
                        <a:rPr lang="en-US" sz="850">
                          <a:latin typeface="Aptos" panose="020B0004020202020204" pitchFamily="34" charset="0"/>
                        </a:rPr>
                        <a:t> </a:t>
                      </a:r>
                      <a:r>
                        <a:rPr lang="en-US" sz="850" strike="sngStrike">
                          <a:latin typeface="Aptos" panose="020B0004020202020204" pitchFamily="34" charset="0"/>
                        </a:rPr>
                        <a:t>8/26</a:t>
                      </a:r>
                      <a:r>
                        <a:rPr lang="en-US" sz="850">
                          <a:latin typeface="Aptos" panose="020B0004020202020204" pitchFamily="34" charset="0"/>
                        </a:rPr>
                        <a:t> 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97C636B1-8A8C-80E1-F679-341FF24354AC}"/>
              </a:ext>
            </a:extLst>
          </p:cNvPr>
          <p:cNvGraphicFramePr>
            <a:graphicFrameLocks noGrp="1"/>
          </p:cNvGraphicFramePr>
          <p:nvPr>
            <p:extLst>
              <p:ext uri="{D42A27DB-BD31-4B8C-83A1-F6EECF244321}">
                <p14:modId xmlns:p14="http://schemas.microsoft.com/office/powerpoint/2010/main" val="2459779170"/>
              </p:ext>
            </p:extLst>
          </p:nvPr>
        </p:nvGraphicFramePr>
        <p:xfrm>
          <a:off x="4854769" y="4899533"/>
          <a:ext cx="7269725" cy="1532763"/>
        </p:xfrm>
        <a:graphic>
          <a:graphicData uri="http://schemas.openxmlformats.org/drawingml/2006/table">
            <a:tbl>
              <a:tblPr>
                <a:tableStyleId>{5C22544A-7EE6-4342-B048-85BDC9FD1C3A}</a:tableStyleId>
              </a:tblPr>
              <a:tblGrid>
                <a:gridCol w="2682425">
                  <a:extLst>
                    <a:ext uri="{9D8B030D-6E8A-4147-A177-3AD203B41FA5}">
                      <a16:colId xmlns:a16="http://schemas.microsoft.com/office/drawing/2014/main" val="2456552316"/>
                    </a:ext>
                  </a:extLst>
                </a:gridCol>
                <a:gridCol w="526751">
                  <a:extLst>
                    <a:ext uri="{9D8B030D-6E8A-4147-A177-3AD203B41FA5}">
                      <a16:colId xmlns:a16="http://schemas.microsoft.com/office/drawing/2014/main" val="1100051595"/>
                    </a:ext>
                  </a:extLst>
                </a:gridCol>
                <a:gridCol w="585029">
                  <a:extLst>
                    <a:ext uri="{9D8B030D-6E8A-4147-A177-3AD203B41FA5}">
                      <a16:colId xmlns:a16="http://schemas.microsoft.com/office/drawing/2014/main" val="2042261034"/>
                    </a:ext>
                  </a:extLst>
                </a:gridCol>
                <a:gridCol w="3475520">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Two showstopper defects remain open in Add a Pet (MPI enrollment and payment processing). Additional issues involving member prefill and employer selection are under review. These defects currently block production deployment and contribute to schedule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8/25</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Teams are prioritizing resolution of the showstopper defects and completing E2E retesting. Remaining issues are being assessed for disposition. Production readiness is dependent on successful validation, business approval, and closure of critical defects.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7499024"/>
                  </a:ext>
                </a:extLst>
              </a:tr>
              <a:tr h="313508">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GoupID is showing up as “NULL” for policies created with Non Payroll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8/31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GOP team is working on this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9510702"/>
                  </a:ext>
                </a:extLst>
              </a:tr>
            </a:tbl>
          </a:graphicData>
        </a:graphic>
      </p:graphicFrame>
      <p:sp>
        <p:nvSpPr>
          <p:cNvPr id="34" name="Flowchart: Connector 33">
            <a:extLst>
              <a:ext uri="{FF2B5EF4-FFF2-40B4-BE49-F238E27FC236}">
                <a16:creationId xmlns:a16="http://schemas.microsoft.com/office/drawing/2014/main" id="{A6DD89E1-3EF1-B72A-651E-530BA4972946}"/>
              </a:ext>
            </a:extLst>
          </p:cNvPr>
          <p:cNvSpPr/>
          <p:nvPr/>
        </p:nvSpPr>
        <p:spPr>
          <a:xfrm>
            <a:off x="7736488" y="652389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99167821-28DD-864D-841C-B2D608F91D56}"/>
              </a:ext>
            </a:extLst>
          </p:cNvPr>
          <p:cNvSpPr/>
          <p:nvPr/>
        </p:nvSpPr>
        <p:spPr>
          <a:xfrm>
            <a:off x="8759062" y="652389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2413875C-412C-45CD-14CA-650C16441BEA}"/>
              </a:ext>
            </a:extLst>
          </p:cNvPr>
          <p:cNvSpPr txBox="1"/>
          <p:nvPr/>
        </p:nvSpPr>
        <p:spPr>
          <a:xfrm>
            <a:off x="44017" y="1754615"/>
            <a:ext cx="4743293" cy="1938992"/>
          </a:xfrm>
          <a:prstGeom prst="rect">
            <a:avLst/>
          </a:prstGeom>
          <a:noFill/>
        </p:spPr>
        <p:txBody>
          <a:bodyPr wrap="square" lIns="91440" tIns="45720" rIns="91440" bIns="45720" anchor="t">
            <a:spAutoFit/>
          </a:bodyPr>
          <a:lstStyle/>
          <a:p>
            <a:pPr lvl="0">
              <a:defRPr/>
            </a:pPr>
            <a:r>
              <a:rPr lang="en-US" sz="900" b="1" kern="100">
                <a:solidFill>
                  <a:srgbClr val="000000"/>
                </a:solidFill>
                <a:latin typeface="Arial"/>
                <a:cs typeface="Times New Roman"/>
              </a:rPr>
              <a:t>Status:</a:t>
            </a:r>
            <a:br>
              <a:rPr lang="en-US" sz="900" b="1" kern="100">
                <a:solidFill>
                  <a:srgbClr val="000000"/>
                </a:solidFill>
                <a:latin typeface="Arial"/>
                <a:cs typeface="Times New Roman"/>
              </a:rPr>
            </a:br>
            <a:r>
              <a:rPr lang="en-US" sz="850" b="1" kern="100">
                <a:solidFill>
                  <a:srgbClr val="000000"/>
                </a:solidFill>
                <a:latin typeface="Aptos" panose="020B0004020202020204" pitchFamily="34" charset="0"/>
                <a:cs typeface="Times New Roman"/>
              </a:rPr>
              <a:t>Overall Status:</a:t>
            </a:r>
            <a:r>
              <a:rPr lang="en-US" sz="850" b="1" kern="100">
                <a:solidFill>
                  <a:srgbClr val="000000"/>
                </a:solidFill>
                <a:highlight>
                  <a:srgbClr val="00FF00"/>
                </a:highlight>
                <a:latin typeface="Aptos" panose="020B0004020202020204" pitchFamily="34" charset="0"/>
                <a:cs typeface="Times New Roman"/>
              </a:rPr>
              <a:t> Green</a:t>
            </a:r>
            <a:br>
              <a:rPr lang="en-US" sz="850" kern="100">
                <a:solidFill>
                  <a:srgbClr val="000000"/>
                </a:solidFill>
                <a:latin typeface="Aptos" panose="020B0004020202020204" pitchFamily="34" charset="0"/>
                <a:cs typeface="Times New Roman"/>
              </a:rPr>
            </a:br>
            <a:endParaRPr lang="en-US" sz="850" kern="100">
              <a:solidFill>
                <a:srgbClr val="000000"/>
              </a:solidFill>
              <a:latin typeface="Aptos" panose="020B0004020202020204" pitchFamily="34" charset="0"/>
              <a:cs typeface="Times New Roman"/>
            </a:endParaRPr>
          </a:p>
          <a:p>
            <a:pPr lvl="0">
              <a:defRPr/>
            </a:pPr>
            <a:r>
              <a:rPr lang="en-US" sz="850" kern="100">
                <a:solidFill>
                  <a:srgbClr val="000000"/>
                </a:solidFill>
                <a:latin typeface="Aptos" panose="020B0004020202020204" pitchFamily="34" charset="0"/>
                <a:cs typeface="Times New Roman"/>
              </a:rPr>
              <a:t>The Add a Pet project is turned to Green from Red as the target date to release the product is finalized for 9/16.</a:t>
            </a:r>
            <a:br>
              <a:rPr lang="en-US" sz="850">
                <a:latin typeface="Aptos" panose="020B0004020202020204" pitchFamily="34" charset="0"/>
              </a:rPr>
            </a:br>
            <a:endParaRPr lang="en-US" sz="850">
              <a:latin typeface="Aptos" panose="020B0004020202020204" pitchFamily="34" charset="0"/>
            </a:endParaRPr>
          </a:p>
          <a:p>
            <a:pPr lvl="0">
              <a:defRPr/>
            </a:pPr>
            <a:r>
              <a:rPr lang="en-US" sz="850" b="1">
                <a:solidFill>
                  <a:prstClr val="black"/>
                </a:solidFill>
                <a:latin typeface="Aptos" panose="020B0004020202020204" pitchFamily="34" charset="0"/>
              </a:rPr>
              <a:t>Accomplishments: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Overall E2E execution completed </a:t>
            </a:r>
            <a:r>
              <a:rPr lang="en-US" sz="850" kern="100" err="1">
                <a:solidFill>
                  <a:srgbClr val="000000"/>
                </a:solidFill>
                <a:latin typeface="Aptos" panose="020B0004020202020204" pitchFamily="34" charset="0"/>
                <a:cs typeface="Times New Roman"/>
              </a:rPr>
              <a:t>sucessfully</a:t>
            </a:r>
            <a:endParaRPr lang="en-US" sz="850" kern="100">
              <a:solidFill>
                <a:srgbClr val="000000"/>
              </a:solidFill>
              <a:latin typeface="Aptos" panose="020B0004020202020204" pitchFamily="34" charset="0"/>
              <a:cs typeface="Times New Roman"/>
            </a:endParaRP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Resolved previously reported E2E blockers and environment-related issues.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Restored testing environments and resumed end-to-end retesting activities.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Received UAT signoff</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Completed overall stage validation and code is ready for production release</a:t>
            </a:r>
          </a:p>
          <a:p>
            <a:endParaRPr lang="en-US" sz="850" kern="100">
              <a:solidFill>
                <a:srgbClr val="000000"/>
              </a:solidFill>
              <a:latin typeface="Aptos" panose="020B0004020202020204" pitchFamily="34" charset="0"/>
              <a:cs typeface="Times New Roman"/>
            </a:endParaRPr>
          </a:p>
          <a:p>
            <a:endParaRPr lang="en-US" sz="900" kern="100">
              <a:solidFill>
                <a:srgbClr val="000000"/>
              </a:solidFill>
              <a:latin typeface="Arial"/>
              <a:cs typeface="Times New Roman"/>
            </a:endParaRPr>
          </a:p>
        </p:txBody>
      </p:sp>
      <p:sp>
        <p:nvSpPr>
          <p:cNvPr id="3" name="TextBox 2">
            <a:extLst>
              <a:ext uri="{FF2B5EF4-FFF2-40B4-BE49-F238E27FC236}">
                <a16:creationId xmlns:a16="http://schemas.microsoft.com/office/drawing/2014/main" id="{12F01CC3-8F92-1A23-46A6-1A29B14CDD7C}"/>
              </a:ext>
            </a:extLst>
          </p:cNvPr>
          <p:cNvSpPr txBox="1"/>
          <p:nvPr/>
        </p:nvSpPr>
        <p:spPr>
          <a:xfrm>
            <a:off x="9515820" y="56135"/>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Rekha Kothandaraman</a:t>
            </a:r>
          </a:p>
          <a:p>
            <a:r>
              <a:rPr lang="en-US" err="1"/>
              <a:t>OpEx</a:t>
            </a:r>
            <a:r>
              <a:rPr lang="en-US"/>
              <a:t> Business Lead: Nidia Gudino</a:t>
            </a:r>
          </a:p>
        </p:txBody>
      </p:sp>
      <p:graphicFrame>
        <p:nvGraphicFramePr>
          <p:cNvPr id="11" name="Group 513">
            <a:extLst>
              <a:ext uri="{FF2B5EF4-FFF2-40B4-BE49-F238E27FC236}">
                <a16:creationId xmlns:a16="http://schemas.microsoft.com/office/drawing/2014/main" id="{05C32E88-CCBE-B044-767A-2F65F050CBDB}"/>
              </a:ext>
            </a:extLst>
          </p:cNvPr>
          <p:cNvGraphicFramePr>
            <a:graphicFrameLocks/>
          </p:cNvGraphicFramePr>
          <p:nvPr>
            <p:extLst>
              <p:ext uri="{D42A27DB-BD31-4B8C-83A1-F6EECF244321}">
                <p14:modId xmlns:p14="http://schemas.microsoft.com/office/powerpoint/2010/main" val="1223440401"/>
              </p:ext>
            </p:extLst>
          </p:nvPr>
        </p:nvGraphicFramePr>
        <p:xfrm>
          <a:off x="247649" y="927650"/>
          <a:ext cx="2625023" cy="344301"/>
        </p:xfrm>
        <a:graphic>
          <a:graphicData uri="http://schemas.openxmlformats.org/drawingml/2006/table">
            <a:tbl>
              <a:tblPr/>
              <a:tblGrid>
                <a:gridCol w="1017729">
                  <a:extLst>
                    <a:ext uri="{9D8B030D-6E8A-4147-A177-3AD203B41FA5}">
                      <a16:colId xmlns:a16="http://schemas.microsoft.com/office/drawing/2014/main" val="20000"/>
                    </a:ext>
                  </a:extLst>
                </a:gridCol>
                <a:gridCol w="1607294">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mn-lt"/>
                          <a:ea typeface="+mn-ea"/>
                          <a:cs typeface="+mn-cs"/>
                        </a:rPr>
                        <a:t>10/09/2026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7039604-CAFB-9C58-F0B7-F5FBDDBE4895}"/>
              </a:ext>
            </a:extLst>
          </p:cNvPr>
          <p:cNvGraphicFramePr>
            <a:graphicFrameLocks noGrp="1"/>
          </p:cNvGraphicFramePr>
          <p:nvPr/>
        </p:nvGraphicFramePr>
        <p:xfrm>
          <a:off x="6701948" y="920667"/>
          <a:ext cx="5352360" cy="746972"/>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40982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37151">
                <a:tc>
                  <a:txBody>
                    <a:bodyPr/>
                    <a:lstStyle/>
                    <a:p>
                      <a:pPr marL="0" marR="0" lvl="0" indent="0" algn="ctr" rtl="0" eaLnBrk="1" fontAlgn="ctr" latinLnBrk="0" hangingPunct="1">
                        <a:lnSpc>
                          <a:spcPct val="95000"/>
                        </a:lnSpc>
                        <a:spcBef>
                          <a:spcPct val="0"/>
                        </a:spcBef>
                        <a:spcAft>
                          <a:spcPct val="50000"/>
                        </a:spcAft>
                        <a:buClrTx/>
                        <a:buSzTx/>
                        <a:buFontTx/>
                        <a:buNone/>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$233,740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mn-lt"/>
                          <a:ea typeface="+mn-ea"/>
                          <a:cs typeface="+mn-cs"/>
                        </a:rPr>
                        <a:t>$122,700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1F7138E-F5AC-6909-C1EB-40B0D65ABEEC}"/>
              </a:ext>
            </a:extLst>
          </p:cNvPr>
          <p:cNvGraphicFramePr>
            <a:graphicFrameLocks noGrp="1" noDrilldown="1" noMove="1" noResize="1"/>
          </p:cNvGraphicFramePr>
          <p:nvPr/>
        </p:nvGraphicFramePr>
        <p:xfrm>
          <a:off x="2872673"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51FEE23-0C7F-4105-1A6D-3EC466F78A3B}"/>
              </a:ext>
            </a:extLst>
          </p:cNvPr>
          <p:cNvGraphicFramePr>
            <a:graphicFrameLocks/>
          </p:cNvGraphicFramePr>
          <p:nvPr/>
        </p:nvGraphicFramePr>
        <p:xfrm>
          <a:off x="247650" y="1271951"/>
          <a:ext cx="2622522" cy="395688"/>
        </p:xfrm>
        <a:graphic>
          <a:graphicData uri="http://schemas.openxmlformats.org/drawingml/2006/table">
            <a:tbl>
              <a:tblPr/>
              <a:tblGrid>
                <a:gridCol w="1004817">
                  <a:extLst>
                    <a:ext uri="{9D8B030D-6E8A-4147-A177-3AD203B41FA5}">
                      <a16:colId xmlns:a16="http://schemas.microsoft.com/office/drawing/2014/main" val="20000"/>
                    </a:ext>
                  </a:extLst>
                </a:gridCol>
                <a:gridCol w="1617705">
                  <a:extLst>
                    <a:ext uri="{9D8B030D-6E8A-4147-A177-3AD203B41FA5}">
                      <a16:colId xmlns:a16="http://schemas.microsoft.com/office/drawing/2014/main" val="20001"/>
                    </a:ext>
                  </a:extLst>
                </a:gridCol>
              </a:tblGrid>
              <a:tr h="394924">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sngStrike" kern="1200" cap="none" normalizeH="0" baseline="0">
                          <a:ln>
                            <a:noFill/>
                          </a:ln>
                          <a:solidFill>
                            <a:schemeClr val="tx1"/>
                          </a:solidFill>
                          <a:effectLst/>
                          <a:latin typeface="+mn-lt"/>
                          <a:ea typeface="+mn-ea"/>
                          <a:cs typeface="+mn-cs"/>
                        </a:rPr>
                        <a:t>Aug 12th – Aug 19th</a:t>
                      </a:r>
                      <a:r>
                        <a:rPr kumimoji="0" lang="en-US" sz="850" b="1" i="0" u="none" strike="noStrike" kern="1200" cap="none" normalizeH="0" baseline="0">
                          <a:ln>
                            <a:noFill/>
                          </a:ln>
                          <a:solidFill>
                            <a:schemeClr val="tx1"/>
                          </a:solidFill>
                          <a:effectLst/>
                          <a:latin typeface="+mn-lt"/>
                          <a:ea typeface="+mn-ea"/>
                          <a:cs typeface="+mn-cs"/>
                        </a:rPr>
                        <a:t> – </a:t>
                      </a:r>
                      <a:r>
                        <a:rPr kumimoji="0" lang="en-US" sz="850" b="1" i="0" u="none" strike="sngStrike" kern="1200" cap="none" normalizeH="0" baseline="0">
                          <a:ln>
                            <a:noFill/>
                          </a:ln>
                          <a:solidFill>
                            <a:schemeClr val="tx1"/>
                          </a:solidFill>
                          <a:effectLst/>
                          <a:latin typeface="+mn-lt"/>
                          <a:ea typeface="+mn-ea"/>
                          <a:cs typeface="+mn-cs"/>
                        </a:rPr>
                        <a:t>Aug 26</a:t>
                      </a:r>
                      <a:r>
                        <a:rPr kumimoji="0" lang="en-US" sz="850" b="1" i="0" u="none" strike="sngStrike" kern="1200" cap="none" normalizeH="0" baseline="30000">
                          <a:ln>
                            <a:noFill/>
                          </a:ln>
                          <a:solidFill>
                            <a:schemeClr val="tx1"/>
                          </a:solidFill>
                          <a:effectLst/>
                          <a:latin typeface="+mn-lt"/>
                          <a:ea typeface="+mn-ea"/>
                          <a:cs typeface="+mn-cs"/>
                        </a:rPr>
                        <a:t>th</a:t>
                      </a:r>
                      <a:r>
                        <a:rPr kumimoji="0" lang="en-US" sz="850" b="1" i="0" u="none" strike="sngStrike" kern="1200" cap="none" normalizeH="0" baseline="0">
                          <a:ln>
                            <a:noFill/>
                          </a:ln>
                          <a:solidFill>
                            <a:schemeClr val="tx1"/>
                          </a:solidFill>
                          <a:effectLst/>
                          <a:latin typeface="+mn-lt"/>
                          <a:ea typeface="+mn-ea"/>
                          <a:cs typeface="+mn-cs"/>
                        </a:rPr>
                        <a:t> </a:t>
                      </a:r>
                      <a:r>
                        <a:rPr kumimoji="0" lang="en-US" sz="850" b="1" i="0" u="none" strike="noStrike" kern="1200" cap="none" normalizeH="0" baseline="0">
                          <a:ln>
                            <a:noFill/>
                          </a:ln>
                          <a:solidFill>
                            <a:schemeClr val="tx1"/>
                          </a:solidFill>
                          <a:effectLst/>
                          <a:latin typeface="+mn-lt"/>
                          <a:ea typeface="+mn-ea"/>
                          <a:cs typeface="+mn-cs"/>
                        </a:rPr>
                        <a:t>Sep 16th</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3" name="Flowchart: Connector 42">
            <a:extLst>
              <a:ext uri="{FF2B5EF4-FFF2-40B4-BE49-F238E27FC236}">
                <a16:creationId xmlns:a16="http://schemas.microsoft.com/office/drawing/2014/main" id="{51A652BC-17DE-6394-DB9F-503C38CBAF7F}"/>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D863E56B-A2A8-F1F8-F03B-25EB4CCF3AB7}"/>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C650BE7-C202-3CD4-452D-101D29FED8D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Connector 5">
            <a:extLst>
              <a:ext uri="{FF2B5EF4-FFF2-40B4-BE49-F238E27FC236}">
                <a16:creationId xmlns:a16="http://schemas.microsoft.com/office/drawing/2014/main" id="{05BDBAFC-9521-DB4F-4BCA-291F8B06BEE8}"/>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lowchart: Connector 12">
            <a:extLst>
              <a:ext uri="{FF2B5EF4-FFF2-40B4-BE49-F238E27FC236}">
                <a16:creationId xmlns:a16="http://schemas.microsoft.com/office/drawing/2014/main" id="{9F47D5B1-7832-D57F-BE23-6AA12305FCCC}"/>
              </a:ext>
            </a:extLst>
          </p:cNvPr>
          <p:cNvSpPr/>
          <p:nvPr/>
        </p:nvSpPr>
        <p:spPr>
          <a:xfrm>
            <a:off x="6620305" y="6523893"/>
            <a:ext cx="163286"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6649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nvGraphicFramePr>
        <p:xfrm>
          <a:off x="5769030" y="6413123"/>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CA2534B-42DB-308F-67A5-259B7D481165}"/>
              </a:ext>
            </a:extLst>
          </p:cNvPr>
          <p:cNvSpPr>
            <a:spLocks noGrp="1"/>
          </p:cNvSpPr>
          <p:nvPr>
            <p:ph type="title"/>
          </p:nvPr>
        </p:nvSpPr>
        <p:spPr>
          <a:xfrm>
            <a:off x="269945" y="58323"/>
            <a:ext cx="7566463" cy="517320"/>
          </a:xfrm>
        </p:spPr>
        <p:txBody>
          <a:bodyPr vert="horz">
            <a:normAutofit/>
          </a:bodyPr>
          <a:lstStyle/>
          <a:p>
            <a:r>
              <a:rPr>
                <a:solidFill>
                  <a:srgbClr val="29389F"/>
                </a:solidFill>
              </a:rPr>
              <a:t>Pet Paperless </a:t>
            </a:r>
            <a:r>
              <a:rPr lang="en-US" err="1">
                <a:solidFill>
                  <a:srgbClr val="29389F"/>
                </a:solidFill>
              </a:rPr>
              <a:t>eDelivery</a:t>
            </a:r>
            <a:r>
              <a:rPr>
                <a:solidFill>
                  <a:srgbClr val="29389F"/>
                </a:solidFill>
              </a:rPr>
              <a:t> – Status</a:t>
            </a:r>
          </a:p>
        </p:txBody>
      </p:sp>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1376790840"/>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8/21/2026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extLst>
              <p:ext uri="{D42A27DB-BD31-4B8C-83A1-F6EECF244321}">
                <p14:modId xmlns:p14="http://schemas.microsoft.com/office/powerpoint/2010/main" val="1309455167"/>
              </p:ext>
            </p:extLst>
          </p:nvPr>
        </p:nvGraphicFramePr>
        <p:xfrm>
          <a:off x="6751622" y="845835"/>
          <a:ext cx="5380911" cy="752736"/>
        </p:xfrm>
        <a:graphic>
          <a:graphicData uri="http://schemas.openxmlformats.org/drawingml/2006/table">
            <a:tbl>
              <a:tblPr>
                <a:tableStyleId>{5C22544A-7EE6-4342-B048-85BDC9FD1C3A}</a:tableStyleId>
              </a:tblPr>
              <a:tblGrid>
                <a:gridCol w="1050913">
                  <a:extLst>
                    <a:ext uri="{9D8B030D-6E8A-4147-A177-3AD203B41FA5}">
                      <a16:colId xmlns:a16="http://schemas.microsoft.com/office/drawing/2014/main" val="2456552316"/>
                    </a:ext>
                  </a:extLst>
                </a:gridCol>
                <a:gridCol w="931453">
                  <a:extLst>
                    <a:ext uri="{9D8B030D-6E8A-4147-A177-3AD203B41FA5}">
                      <a16:colId xmlns:a16="http://schemas.microsoft.com/office/drawing/2014/main" val="2327174630"/>
                    </a:ext>
                  </a:extLst>
                </a:gridCol>
                <a:gridCol w="1523051">
                  <a:extLst>
                    <a:ext uri="{9D8B030D-6E8A-4147-A177-3AD203B41FA5}">
                      <a16:colId xmlns:a16="http://schemas.microsoft.com/office/drawing/2014/main" val="1100051595"/>
                    </a:ext>
                  </a:extLst>
                </a:gridCol>
                <a:gridCol w="918866">
                  <a:extLst>
                    <a:ext uri="{9D8B030D-6E8A-4147-A177-3AD203B41FA5}">
                      <a16:colId xmlns:a16="http://schemas.microsoft.com/office/drawing/2014/main" val="2042261034"/>
                    </a:ext>
                  </a:extLst>
                </a:gridCol>
                <a:gridCol w="956628">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$933,321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$52,920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$986,242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extLst>
              <p:ext uri="{D42A27DB-BD31-4B8C-83A1-F6EECF244321}">
                <p14:modId xmlns:p14="http://schemas.microsoft.com/office/powerpoint/2010/main" val="1995347208"/>
              </p:ext>
            </p:extLst>
          </p:nvPr>
        </p:nvGraphicFramePr>
        <p:xfrm>
          <a:off x="269945" y="1202460"/>
          <a:ext cx="2642192" cy="402546"/>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MMP1: 1/26</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MMP2: 6/17</a:t>
                      </a: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1880881311"/>
              </p:ext>
            </p:extLst>
          </p:nvPr>
        </p:nvGraphicFramePr>
        <p:xfrm>
          <a:off x="5769029" y="1646639"/>
          <a:ext cx="6385451" cy="3376205"/>
        </p:xfrm>
        <a:graphic>
          <a:graphicData uri="http://schemas.openxmlformats.org/drawingml/2006/table">
            <a:tbl>
              <a:tblPr>
                <a:tableStyleId>{5C22544A-7EE6-4342-B048-85BDC9FD1C3A}</a:tableStyleId>
              </a:tblPr>
              <a:tblGrid>
                <a:gridCol w="2337203">
                  <a:extLst>
                    <a:ext uri="{9D8B030D-6E8A-4147-A177-3AD203B41FA5}">
                      <a16:colId xmlns:a16="http://schemas.microsoft.com/office/drawing/2014/main" val="2456552316"/>
                    </a:ext>
                  </a:extLst>
                </a:gridCol>
                <a:gridCol w="483683">
                  <a:extLst>
                    <a:ext uri="{9D8B030D-6E8A-4147-A177-3AD203B41FA5}">
                      <a16:colId xmlns:a16="http://schemas.microsoft.com/office/drawing/2014/main" val="1100051595"/>
                    </a:ext>
                  </a:extLst>
                </a:gridCol>
                <a:gridCol w="593839">
                  <a:extLst>
                    <a:ext uri="{9D8B030D-6E8A-4147-A177-3AD203B41FA5}">
                      <a16:colId xmlns:a16="http://schemas.microsoft.com/office/drawing/2014/main" val="2042261034"/>
                    </a:ext>
                  </a:extLst>
                </a:gridCol>
                <a:gridCol w="2970726">
                  <a:extLst>
                    <a:ext uri="{9D8B030D-6E8A-4147-A177-3AD203B41FA5}">
                      <a16:colId xmlns:a16="http://schemas.microsoft.com/office/drawing/2014/main" val="2815874248"/>
                    </a:ext>
                  </a:extLst>
                </a:gridCol>
              </a:tblGrid>
              <a:tr h="336606">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371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MMP1 Release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kern="1200" noProof="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0544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Publish Approved MMP2 Project/Release Schedule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lang="en-US" sz="85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81241">
                <a:tc>
                  <a:txBody>
                    <a:bodyPr/>
                    <a:lstStyle/>
                    <a:p>
                      <a:pPr lvl="0"/>
                      <a:r>
                        <a:rPr lang="en-US" sz="850" b="0" kern="1200">
                          <a:solidFill>
                            <a:schemeClr val="tx1"/>
                          </a:solidFill>
                          <a:effectLst/>
                          <a:latin typeface="Aptos" panose="020B0004020202020204" pitchFamily="34" charset="0"/>
                          <a:ea typeface="+mn-ea"/>
                          <a:cs typeface="+mn-cs"/>
                        </a:rPr>
                        <a:t>    MMP2 DDIT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b="0" kern="1200">
                          <a:solidFill>
                            <a:schemeClr val="tx1"/>
                          </a:solidFill>
                          <a:effectLst/>
                          <a:latin typeface="Aptos" panose="020B0004020202020204" pitchFamily="34" charset="0"/>
                          <a:ea typeface="+mn-ea"/>
                          <a:cs typeface="+mn-cs"/>
                        </a:rPr>
                        <a:t>5/8</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13693">
                <a:tc>
                  <a:txBody>
                    <a:bodyPr/>
                    <a:lstStyle/>
                    <a:p>
                      <a:pPr lvl="0"/>
                      <a:r>
                        <a:rPr lang="en-US" sz="850" b="0" kern="1200">
                          <a:solidFill>
                            <a:schemeClr val="tx1"/>
                          </a:solidFill>
                          <a:effectLst/>
                          <a:latin typeface="Aptos" panose="020B0004020202020204" pitchFamily="34" charset="0"/>
                          <a:ea typeface="+mn-ea"/>
                          <a:cs typeface="+mn-cs"/>
                        </a:rPr>
                        <a:t>    MMP2 E2E Sign off</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4249">
                <a:tc>
                  <a:txBody>
                    <a:bodyPr/>
                    <a:lstStyle/>
                    <a:p>
                      <a:pPr lvl="0"/>
                      <a:r>
                        <a:rPr lang="en-US" sz="850" b="0" kern="1200">
                          <a:solidFill>
                            <a:schemeClr val="tx1"/>
                          </a:solidFill>
                          <a:effectLst/>
                          <a:latin typeface="Aptos" panose="020B0004020202020204" pitchFamily="34" charset="0"/>
                          <a:ea typeface="+mn-ea"/>
                          <a:cs typeface="+mn-cs"/>
                        </a:rPr>
                        <a:t>     MMP2 UAT/Business Sign Off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ctr" latinLnBrk="0" hangingPunct="1">
                        <a:lnSpc>
                          <a:spcPct val="95000"/>
                        </a:lnSpc>
                        <a:spcBef>
                          <a:spcPct val="0"/>
                        </a:spcBef>
                        <a:spcAft>
                          <a:spcPct val="5000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55522429"/>
                  </a:ext>
                </a:extLst>
              </a:tr>
              <a:tr h="329987">
                <a:tc>
                  <a:txBody>
                    <a:bodyPr/>
                    <a:lstStyle/>
                    <a:p>
                      <a:pPr lvl="0"/>
                      <a:r>
                        <a:rPr lang="en-US" sz="850" b="0" kern="1200">
                          <a:solidFill>
                            <a:schemeClr val="tx1"/>
                          </a:solidFill>
                          <a:effectLst/>
                          <a:latin typeface="Aptos" panose="020B0004020202020204" pitchFamily="34" charset="0"/>
                          <a:ea typeface="+mn-ea"/>
                          <a:cs typeface="+mn-cs"/>
                        </a:rPr>
                        <a:t>     Staging Deployment and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5916255"/>
                  </a:ext>
                </a:extLst>
              </a:tr>
              <a:tr h="235174">
                <a:tc>
                  <a:txBody>
                    <a:bodyPr/>
                    <a:lstStyle/>
                    <a:p>
                      <a:pPr lvl="0"/>
                      <a:r>
                        <a:rPr lang="en-US" sz="850" b="0" kern="1200">
                          <a:solidFill>
                            <a:schemeClr val="tx1"/>
                          </a:solidFill>
                          <a:effectLst/>
                          <a:latin typeface="Aptos" panose="020B0004020202020204" pitchFamily="34" charset="0"/>
                          <a:ea typeface="+mn-ea"/>
                          <a:cs typeface="+mn-cs"/>
                        </a:rPr>
                        <a:t>     Go/No-Go Meeting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12996819"/>
                  </a:ext>
                </a:extLst>
              </a:tr>
              <a:tr h="276559">
                <a:tc>
                  <a:txBody>
                    <a:bodyPr/>
                    <a:lstStyle/>
                    <a:p>
                      <a:pPr lvl="0"/>
                      <a:r>
                        <a:rPr lang="en-US" sz="850" b="0" kern="1200">
                          <a:solidFill>
                            <a:schemeClr val="tx1"/>
                          </a:solidFill>
                          <a:effectLst/>
                          <a:latin typeface="Aptos" panose="020B0004020202020204" pitchFamily="34" charset="0"/>
                          <a:ea typeface="+mn-ea"/>
                          <a:cs typeface="+mn-cs"/>
                        </a:rPr>
                        <a:t>     MMP2 Release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kern="1200" noProof="0">
                          <a:solidFill>
                            <a:schemeClr val="tx1"/>
                          </a:solidFill>
                          <a:effectLst/>
                          <a:latin typeface="Aptos" panose="020B0004020202020204" pitchFamily="34" charset="0"/>
                          <a:ea typeface="+mn-ea"/>
                          <a:cs typeface="+mn-cs"/>
                        </a:rPr>
                        <a:t>6/17</a:t>
                      </a: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90476154"/>
                  </a:ext>
                </a:extLst>
              </a:tr>
              <a:tr h="285390">
                <a:tc>
                  <a:txBody>
                    <a:bodyPr/>
                    <a:lstStyle/>
                    <a:p>
                      <a:pPr lvl="0"/>
                      <a:r>
                        <a:rPr lang="en-US" sz="850" b="0" kern="1200">
                          <a:solidFill>
                            <a:schemeClr val="tx1"/>
                          </a:solidFill>
                          <a:effectLst/>
                          <a:latin typeface="Aptos" panose="020B0004020202020204" pitchFamily="34" charset="0"/>
                          <a:ea typeface="+mn-ea"/>
                          <a:cs typeface="+mn-cs"/>
                        </a:rPr>
                        <a:t>     One time data load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latinLnBrk="0" hangingPunct="1">
                        <a:buNone/>
                        <a:tabLst/>
                        <a:defRPr/>
                      </a:pPr>
                      <a:r>
                        <a:rPr lang="en-US" sz="850" b="0" strike="noStrike" kern="1200">
                          <a:solidFill>
                            <a:schemeClr val="tx1"/>
                          </a:solidFill>
                          <a:effectLst/>
                          <a:latin typeface="Aptos" panose="020B0004020202020204" pitchFamily="34" charset="0"/>
                          <a:ea typeface="+mn-ea"/>
                          <a:cs typeface="+mn-cs"/>
                        </a:rPr>
                        <a:t>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4591521"/>
                  </a:ext>
                </a:extLst>
              </a:tr>
              <a:tr h="285390">
                <a:tc>
                  <a:txBody>
                    <a:bodyPr/>
                    <a:lstStyle/>
                    <a:p>
                      <a:pPr lvl="0"/>
                      <a:r>
                        <a:rPr lang="en-US" sz="850" b="0" kern="1200">
                          <a:solidFill>
                            <a:schemeClr val="tx1"/>
                          </a:solidFill>
                          <a:effectLst/>
                          <a:latin typeface="Aptos" panose="020B0004020202020204" pitchFamily="34" charset="0"/>
                          <a:ea typeface="+mn-ea"/>
                          <a:cs typeface="+mn-cs"/>
                        </a:rPr>
                        <a:t>     MMP2 Warranty Support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latinLnBrk="0" hangingPunct="1">
                        <a:buNone/>
                        <a:tabLst/>
                        <a:defRPr/>
                      </a:pPr>
                      <a:r>
                        <a:rPr lang="en-US" sz="850" b="0" kern="1200">
                          <a:solidFill>
                            <a:schemeClr val="tx1"/>
                          </a:solidFill>
                          <a:effectLst/>
                          <a:latin typeface="Aptos" panose="020B0004020202020204" pitchFamily="34" charset="0"/>
                          <a:ea typeface="+mn-ea"/>
                          <a:cs typeface="+mn-cs"/>
                        </a:rPr>
                        <a:t>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97409110"/>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extLst>
              <p:ext uri="{D42A27DB-BD31-4B8C-83A1-F6EECF244321}">
                <p14:modId xmlns:p14="http://schemas.microsoft.com/office/powerpoint/2010/main" val="1050752758"/>
              </p:ext>
            </p:extLst>
          </p:nvPr>
        </p:nvGraphicFramePr>
        <p:xfrm>
          <a:off x="5769030" y="5061511"/>
          <a:ext cx="6385450" cy="1267604"/>
        </p:xfrm>
        <a:graphic>
          <a:graphicData uri="http://schemas.openxmlformats.org/drawingml/2006/table">
            <a:tbl>
              <a:tblPr>
                <a:tableStyleId>{5C22544A-7EE6-4342-B048-85BDC9FD1C3A}</a:tableStyleId>
              </a:tblPr>
              <a:tblGrid>
                <a:gridCol w="2384369">
                  <a:extLst>
                    <a:ext uri="{9D8B030D-6E8A-4147-A177-3AD203B41FA5}">
                      <a16:colId xmlns:a16="http://schemas.microsoft.com/office/drawing/2014/main" val="2456552316"/>
                    </a:ext>
                  </a:extLst>
                </a:gridCol>
                <a:gridCol w="437942">
                  <a:extLst>
                    <a:ext uri="{9D8B030D-6E8A-4147-A177-3AD203B41FA5}">
                      <a16:colId xmlns:a16="http://schemas.microsoft.com/office/drawing/2014/main" val="1100051595"/>
                    </a:ext>
                  </a:extLst>
                </a:gridCol>
                <a:gridCol w="663191">
                  <a:extLst>
                    <a:ext uri="{9D8B030D-6E8A-4147-A177-3AD203B41FA5}">
                      <a16:colId xmlns:a16="http://schemas.microsoft.com/office/drawing/2014/main" val="2042261034"/>
                    </a:ext>
                  </a:extLst>
                </a:gridCol>
                <a:gridCol w="2899948">
                  <a:extLst>
                    <a:ext uri="{9D8B030D-6E8A-4147-A177-3AD203B41FA5}">
                      <a16:colId xmlns:a16="http://schemas.microsoft.com/office/drawing/2014/main" val="2815874248"/>
                    </a:ext>
                  </a:extLst>
                </a:gridCol>
              </a:tblGrid>
              <a:tr h="48990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777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kern="1200">
                        <a:solidFill>
                          <a:schemeClr val="tx1"/>
                        </a:solidFill>
                        <a:latin typeface="Aptos" panose="020B0004020202020204" pitchFamily="34" charset="0"/>
                        <a:ea typeface="+mn-ea"/>
                        <a:cs typeface="Arial"/>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kern="1200">
                        <a:solidFill>
                          <a:schemeClr val="tx1"/>
                        </a:solidFill>
                        <a:latin typeface="Aptos" panose="020B0004020202020204" pitchFamily="34" charset="0"/>
                        <a:ea typeface="+mn-ea"/>
                        <a:cs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100"/>
                        </a:spcBef>
                        <a:spcAft>
                          <a:spcPts val="100"/>
                        </a:spcAft>
                      </a:pPr>
                      <a:endParaRPr lang="en-US" sz="850" b="0" i="0" u="none" strike="noStrike" kern="1200" noProof="0">
                        <a:solidFill>
                          <a:srgbClr val="000000"/>
                        </a:solidFill>
                        <a:effectLst/>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99781"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B12DBC5-FE50-D649-59F3-F5DFE1A04FC0}"/>
              </a:ext>
            </a:extLst>
          </p:cNvPr>
          <p:cNvSpPr txBox="1"/>
          <p:nvPr/>
        </p:nvSpPr>
        <p:spPr>
          <a:xfrm>
            <a:off x="119511" y="1676415"/>
            <a:ext cx="5583020" cy="3677930"/>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58C140"/>
                </a:highlight>
                <a:latin typeface="Aptos" panose="020B0004020202020204" pitchFamily="34" charset="0"/>
                <a:cs typeface="Arial"/>
              </a:rPr>
              <a:t>Green</a:t>
            </a:r>
          </a:p>
          <a:p>
            <a:pPr>
              <a:spcBef>
                <a:spcPts val="100"/>
              </a:spcBef>
              <a:spcAft>
                <a:spcPts val="100"/>
              </a:spcAft>
            </a:pPr>
            <a:r>
              <a:rPr lang="en-US" sz="850">
                <a:solidFill>
                  <a:schemeClr val="dk1"/>
                </a:solidFill>
                <a:latin typeface="Aptos" panose="020B0004020202020204" pitchFamily="34" charset="0"/>
                <a:cs typeface="Arial"/>
              </a:rPr>
              <a:t>ECIF team has reprocessed 21 errored records, and one time data load is concluded. </a:t>
            </a:r>
            <a:r>
              <a:rPr lang="en-US" sz="850">
                <a:latin typeface="Aptos" panose="020B0004020202020204" pitchFamily="34" charset="0"/>
              </a:rPr>
              <a:t>MMP2 Warranty Support is completed and </a:t>
            </a:r>
            <a:r>
              <a:rPr lang="en-US" sz="850">
                <a:solidFill>
                  <a:schemeClr val="dk1"/>
                </a:solidFill>
                <a:latin typeface="Aptos" panose="020B0004020202020204" pitchFamily="34" charset="0"/>
                <a:cs typeface="Arial"/>
              </a:rPr>
              <a:t>Build to Run transition is concluded.</a:t>
            </a:r>
            <a:endParaRPr lang="en-US" sz="850">
              <a:latin typeface="Aptos" panose="020B0004020202020204" pitchFamily="34" charset="0"/>
              <a:cs typeface="Arial"/>
            </a:endParaRPr>
          </a:p>
          <a:p>
            <a:endParaRPr lang="en-US" sz="850" b="1">
              <a:latin typeface="Aptos" panose="020B0004020202020204" pitchFamily="34" charset="0"/>
              <a:cs typeface="Arial"/>
            </a:endParaRPr>
          </a:p>
          <a:p>
            <a:r>
              <a:rPr lang="en-US" sz="850" b="1">
                <a:latin typeface="Aptos" panose="020B0004020202020204" pitchFamily="34" charset="0"/>
              </a:rPr>
              <a:t>Highlights:</a:t>
            </a:r>
          </a:p>
          <a:p>
            <a:pPr fontAlgn="t">
              <a:lnSpc>
                <a:spcPts val="1500"/>
              </a:lnSpc>
            </a:pPr>
            <a:r>
              <a:rPr lang="en-US" sz="850" b="1" kern="100">
                <a:latin typeface="Aptos" panose="020B0004020202020204" pitchFamily="34" charset="0"/>
                <a:ea typeface="Aptos" panose="020B0004020202020204" pitchFamily="34" charset="0"/>
                <a:cs typeface="Arial"/>
              </a:rPr>
              <a:t>MMP1:</a:t>
            </a:r>
            <a:r>
              <a:rPr lang="en-US" sz="850" kern="100">
                <a:latin typeface="Aptos" panose="020B0004020202020204" pitchFamily="34" charset="0"/>
                <a:cs typeface="Arial"/>
              </a:rPr>
              <a:t> </a:t>
            </a:r>
          </a:p>
          <a:p>
            <a:pPr marL="171450" indent="-171450" fontAlgn="t">
              <a:lnSpc>
                <a:spcPts val="1500"/>
              </a:lnSpc>
              <a:buFont typeface="Arial" panose="020B0604020202020204" pitchFamily="34" charset="0"/>
              <a:buChar char="•"/>
            </a:pPr>
            <a:r>
              <a:rPr lang="en-US" sz="850" kern="100">
                <a:latin typeface="Aptos" panose="020B0004020202020204" pitchFamily="34" charset="0"/>
                <a:ea typeface="Aptos" panose="020B0004020202020204" pitchFamily="34" charset="0"/>
                <a:cs typeface="Arial"/>
              </a:rPr>
              <a:t>Final dashboard refinements remain in progress, with completion of the eDelivery dashboard updates targeted for 8/28.</a:t>
            </a:r>
          </a:p>
          <a:p>
            <a:pPr marL="171450" indent="-171450" fontAlgn="t">
              <a:lnSpc>
                <a:spcPts val="1500"/>
              </a:lnSpc>
              <a:buFont typeface="Arial" panose="020B0604020202020204" pitchFamily="34" charset="0"/>
              <a:buChar char="•"/>
            </a:pPr>
            <a:r>
              <a:rPr lang="en-US" sz="850" kern="100">
                <a:latin typeface="Aptos" panose="020B0004020202020204" pitchFamily="34" charset="0"/>
                <a:ea typeface="Aptos" panose="020B0004020202020204" pitchFamily="34" charset="0"/>
                <a:cs typeface="Arial"/>
              </a:rPr>
              <a:t>Following dashboard finalization and approval, adoption metrics will be distributed more broadly to stakeholders.</a:t>
            </a:r>
          </a:p>
          <a:p>
            <a:pPr fontAlgn="t">
              <a:lnSpc>
                <a:spcPts val="1500"/>
              </a:lnSpc>
            </a:pPr>
            <a:endParaRPr lang="en-US" sz="850" kern="100">
              <a:latin typeface="Aptos" panose="020B0004020202020204" pitchFamily="34" charset="0"/>
              <a:ea typeface="Aptos" panose="020B0004020202020204" pitchFamily="34" charset="0"/>
              <a:cs typeface="Arial"/>
            </a:endParaRPr>
          </a:p>
          <a:p>
            <a:pPr fontAlgn="t">
              <a:lnSpc>
                <a:spcPts val="1500"/>
              </a:lnSpc>
            </a:pPr>
            <a:r>
              <a:rPr lang="en-US" sz="850" b="1" kern="100">
                <a:latin typeface="Aptos" panose="020B0004020202020204" pitchFamily="34" charset="0"/>
                <a:ea typeface="Aptos" panose="020B0004020202020204" pitchFamily="34" charset="0"/>
                <a:cs typeface="Arial"/>
              </a:rPr>
              <a:t>MMP2:</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solidFill>
                  <a:schemeClr val="dk1"/>
                </a:solidFill>
                <a:latin typeface="Aptos" panose="020B0004020202020204" pitchFamily="34" charset="0"/>
                <a:cs typeface="Arial"/>
              </a:rPr>
              <a:t>One time data load is now complete.</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latin typeface="Aptos" panose="020B0004020202020204" pitchFamily="34" charset="0"/>
              </a:rPr>
              <a:t>MMP2 Warranty Support is completed. </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solidFill>
                  <a:schemeClr val="dk1"/>
                </a:solidFill>
                <a:latin typeface="Aptos" panose="020B0004020202020204" pitchFamily="34" charset="0"/>
                <a:cs typeface="Arial"/>
              </a:rPr>
              <a:t>Build to Run transition has been concluded.</a:t>
            </a:r>
            <a:endParaRPr lang="en-US" sz="850">
              <a:latin typeface="Aptos" panose="020B0004020202020204" pitchFamily="34" charset="0"/>
              <a:cs typeface="Arial"/>
            </a:endParaRPr>
          </a:p>
          <a:p>
            <a:pPr marL="0" marR="0">
              <a:buNone/>
            </a:pPr>
            <a:endParaRPr lang="en-US" sz="850">
              <a:latin typeface="Aptos" panose="020B0004020202020204" pitchFamily="34" charset="0"/>
              <a:ea typeface="Aptos" panose="020B0004020202020204" pitchFamily="34" charset="0"/>
              <a:cs typeface="Aptos" panose="020B0004020202020204" pitchFamily="34" charset="0"/>
            </a:endParaRPr>
          </a:p>
          <a:p>
            <a:pPr marL="0" marR="0">
              <a:buNone/>
            </a:pPr>
            <a:r>
              <a:rPr lang="en-US" sz="850">
                <a:effectLst/>
                <a:latin typeface="Aptos" panose="020B0004020202020204" pitchFamily="34" charset="0"/>
                <a:ea typeface="Aptos" panose="020B0004020202020204" pitchFamily="34" charset="0"/>
                <a:cs typeface="Aptos" panose="020B0004020202020204" pitchFamily="34" charset="0"/>
              </a:rPr>
              <a:t> </a:t>
            </a:r>
            <a:r>
              <a:rPr lang="en-US" sz="850" b="1" kern="100">
                <a:latin typeface="Aptos" panose="020B0004020202020204" pitchFamily="34" charset="0"/>
                <a:cs typeface="Arial"/>
              </a:rPr>
              <a:t>Next Steps:</a:t>
            </a:r>
          </a:p>
          <a:p>
            <a:pPr marL="171450" indent="-171450">
              <a:buFont typeface="Arial" panose="020B0604020202020204" pitchFamily="34" charset="0"/>
              <a:buChar char="•"/>
            </a:pPr>
            <a:r>
              <a:rPr lang="en-US" sz="850">
                <a:solidFill>
                  <a:schemeClr val="dk1"/>
                </a:solidFill>
                <a:latin typeface="Aptos" panose="020B0004020202020204" pitchFamily="34" charset="0"/>
                <a:cs typeface="Arial"/>
              </a:rPr>
              <a:t>Fix by ECIF and Titans for issue -  Applicant is unable to submit a new application within three minutes of a previous submission.</a:t>
            </a:r>
          </a:p>
          <a:p>
            <a:pPr marL="628650" lvl="1" indent="-171450">
              <a:buFont typeface="Arial" panose="020B0604020202020204" pitchFamily="34" charset="0"/>
              <a:buChar char="•"/>
            </a:pPr>
            <a:r>
              <a:rPr lang="en-US" sz="850">
                <a:solidFill>
                  <a:schemeClr val="dk1"/>
                </a:solidFill>
                <a:latin typeface="Aptos" panose="020B0004020202020204" pitchFamily="34" charset="0"/>
                <a:cs typeface="Arial"/>
              </a:rPr>
              <a:t>Capacity and delivery hours have been approved by ECIF, and the work is expected to begin in late August with a target completion of early October.  </a:t>
            </a:r>
          </a:p>
          <a:p>
            <a:pPr marL="171450" indent="-171450">
              <a:buFont typeface="Arial" panose="020B0604020202020204" pitchFamily="34" charset="0"/>
              <a:buChar char="•"/>
            </a:pPr>
            <a:r>
              <a:rPr lang="en-US" sz="850">
                <a:solidFill>
                  <a:schemeClr val="dk1"/>
                </a:solidFill>
                <a:latin typeface="Aptos" panose="020B0004020202020204" pitchFamily="34" charset="0"/>
                <a:cs typeface="Arial"/>
              </a:rPr>
              <a:t>eDelivery Dashboard updates and review.  </a:t>
            </a:r>
          </a:p>
          <a:p>
            <a:pPr marL="171450" marR="0" indent="-171450">
              <a:buFont typeface="Arial" panose="020B0604020202020204" pitchFamily="34" charset="0"/>
              <a:buChar char="•"/>
            </a:pPr>
            <a:endParaRPr lang="en-US" sz="1100" b="1" kern="100">
              <a:cs typeface="Arial"/>
            </a:endParaRPr>
          </a:p>
        </p:txBody>
      </p:sp>
      <p:sp>
        <p:nvSpPr>
          <p:cNvPr id="4" name="TextBox 2">
            <a:extLst>
              <a:ext uri="{FF2B5EF4-FFF2-40B4-BE49-F238E27FC236}">
                <a16:creationId xmlns:a16="http://schemas.microsoft.com/office/drawing/2014/main" id="{55C502EC-BE22-29F2-367F-956AE0497173}"/>
              </a:ext>
            </a:extLst>
          </p:cNvPr>
          <p:cNvSpPr txBox="1"/>
          <p:nvPr/>
        </p:nvSpPr>
        <p:spPr>
          <a:xfrm>
            <a:off x="9456354" y="125941"/>
            <a:ext cx="2676180" cy="517320"/>
          </a:xfrm>
          <a:prstGeom prst="rect">
            <a:avLst/>
          </a:prstGeom>
          <a:noFill/>
        </p:spPr>
        <p:txBody>
          <a:bodyPr wrap="non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2000"/>
              </a:lnSpc>
            </a:pPr>
            <a:r>
              <a:rPr lang="en-US" sz="1200">
                <a:latin typeface="Aptos"/>
              </a:rPr>
              <a:t>Project Manager </a:t>
            </a:r>
            <a:r>
              <a:rPr lang="en-US" sz="1200">
                <a:solidFill>
                  <a:schemeClr val="tx1"/>
                </a:solidFill>
                <a:latin typeface="Aptos"/>
              </a:rPr>
              <a:t>: </a:t>
            </a:r>
            <a:r>
              <a:rPr lang="en-US" sz="1200">
                <a:latin typeface="Aptos"/>
              </a:rPr>
              <a:t> Shilpa K</a:t>
            </a:r>
            <a:endParaRPr lang="en-US">
              <a:latin typeface="Aptos"/>
            </a:endParaRPr>
          </a:p>
          <a:p>
            <a:pPr algn="l">
              <a:lnSpc>
                <a:spcPct val="112000"/>
              </a:lnSpc>
            </a:pPr>
            <a:r>
              <a:rPr lang="en-US" sz="1200" err="1">
                <a:latin typeface="Aptos"/>
              </a:rPr>
              <a:t>OpEx</a:t>
            </a:r>
            <a:r>
              <a:rPr lang="en-US" sz="1200">
                <a:latin typeface="Aptos"/>
              </a:rPr>
              <a:t> Business Lead: Kelly Heitmann</a:t>
            </a:r>
          </a:p>
        </p:txBody>
      </p:sp>
    </p:spTree>
    <p:extLst>
      <p:ext uri="{BB962C8B-B14F-4D97-AF65-F5344CB8AC3E}">
        <p14:creationId xmlns:p14="http://schemas.microsoft.com/office/powerpoint/2010/main" val="168037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1CE7-8F35-A411-A873-BC2D74D8AFF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FC0BDAB-1151-FF5C-EBC7-7A7668B7AF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1FC0BDAB-1151-FF5C-EBC7-7A7668B7AF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8FC2C86-1BC9-09D7-CEDA-5C87201A1433}"/>
              </a:ext>
            </a:extLst>
          </p:cNvPr>
          <p:cNvGraphicFramePr>
            <a:graphicFrameLocks noGrp="1"/>
          </p:cNvGraphicFramePr>
          <p:nvPr>
            <p:extLst>
              <p:ext uri="{D42A27DB-BD31-4B8C-83A1-F6EECF244321}">
                <p14:modId xmlns:p14="http://schemas.microsoft.com/office/powerpoint/2010/main" val="3833110837"/>
              </p:ext>
            </p:extLst>
          </p:nvPr>
        </p:nvGraphicFramePr>
        <p:xfrm>
          <a:off x="4853354" y="6550481"/>
          <a:ext cx="7211962" cy="484586"/>
        </p:xfrm>
        <a:graphic>
          <a:graphicData uri="http://schemas.openxmlformats.org/drawingml/2006/table">
            <a:tbl>
              <a:tblPr/>
              <a:tblGrid>
                <a:gridCol w="612807">
                  <a:extLst>
                    <a:ext uri="{9D8B030D-6E8A-4147-A177-3AD203B41FA5}">
                      <a16:colId xmlns:a16="http://schemas.microsoft.com/office/drawing/2014/main" val="20000"/>
                    </a:ext>
                  </a:extLst>
                </a:gridCol>
                <a:gridCol w="310595">
                  <a:extLst>
                    <a:ext uri="{9D8B030D-6E8A-4147-A177-3AD203B41FA5}">
                      <a16:colId xmlns:a16="http://schemas.microsoft.com/office/drawing/2014/main" val="20001"/>
                    </a:ext>
                  </a:extLst>
                </a:gridCol>
                <a:gridCol w="765556">
                  <a:extLst>
                    <a:ext uri="{9D8B030D-6E8A-4147-A177-3AD203B41FA5}">
                      <a16:colId xmlns:a16="http://schemas.microsoft.com/office/drawing/2014/main" val="20002"/>
                    </a:ext>
                  </a:extLst>
                </a:gridCol>
                <a:gridCol w="305999">
                  <a:extLst>
                    <a:ext uri="{9D8B030D-6E8A-4147-A177-3AD203B41FA5}">
                      <a16:colId xmlns:a16="http://schemas.microsoft.com/office/drawing/2014/main" val="20003"/>
                    </a:ext>
                  </a:extLst>
                </a:gridCol>
                <a:gridCol w="672318">
                  <a:extLst>
                    <a:ext uri="{9D8B030D-6E8A-4147-A177-3AD203B41FA5}">
                      <a16:colId xmlns:a16="http://schemas.microsoft.com/office/drawing/2014/main" val="20004"/>
                    </a:ext>
                  </a:extLst>
                </a:gridCol>
                <a:gridCol w="523476">
                  <a:extLst>
                    <a:ext uri="{9D8B030D-6E8A-4147-A177-3AD203B41FA5}">
                      <a16:colId xmlns:a16="http://schemas.microsoft.com/office/drawing/2014/main" val="20005"/>
                    </a:ext>
                  </a:extLst>
                </a:gridCol>
                <a:gridCol w="574451">
                  <a:extLst>
                    <a:ext uri="{9D8B030D-6E8A-4147-A177-3AD203B41FA5}">
                      <a16:colId xmlns:a16="http://schemas.microsoft.com/office/drawing/2014/main" val="20006"/>
                    </a:ext>
                  </a:extLst>
                </a:gridCol>
                <a:gridCol w="372866">
                  <a:extLst>
                    <a:ext uri="{9D8B030D-6E8A-4147-A177-3AD203B41FA5}">
                      <a16:colId xmlns:a16="http://schemas.microsoft.com/office/drawing/2014/main" val="20007"/>
                    </a:ext>
                  </a:extLst>
                </a:gridCol>
                <a:gridCol w="1386443">
                  <a:extLst>
                    <a:ext uri="{9D8B030D-6E8A-4147-A177-3AD203B41FA5}">
                      <a16:colId xmlns:a16="http://schemas.microsoft.com/office/drawing/2014/main" val="20008"/>
                    </a:ext>
                  </a:extLst>
                </a:gridCol>
                <a:gridCol w="382192">
                  <a:extLst>
                    <a:ext uri="{9D8B030D-6E8A-4147-A177-3AD203B41FA5}">
                      <a16:colId xmlns:a16="http://schemas.microsoft.com/office/drawing/2014/main" val="20009"/>
                    </a:ext>
                  </a:extLst>
                </a:gridCol>
                <a:gridCol w="1305259">
                  <a:extLst>
                    <a:ext uri="{9D8B030D-6E8A-4147-A177-3AD203B41FA5}">
                      <a16:colId xmlns:a16="http://schemas.microsoft.com/office/drawing/2014/main" val="20010"/>
                    </a:ext>
                  </a:extLst>
                </a:gridCol>
              </a:tblGrid>
              <a:tr h="484586">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99212A8A-3401-65A1-0442-BFFBC037224F}"/>
              </a:ext>
            </a:extLst>
          </p:cNvPr>
          <p:cNvSpPr>
            <a:spLocks noGrp="1"/>
          </p:cNvSpPr>
          <p:nvPr>
            <p:ph type="title"/>
          </p:nvPr>
        </p:nvSpPr>
        <p:spPr>
          <a:xfrm>
            <a:off x="181032" y="90206"/>
            <a:ext cx="7490364" cy="517320"/>
          </a:xfrm>
        </p:spPr>
        <p:txBody>
          <a:bodyPr vert="horz">
            <a:normAutofit fontScale="90000"/>
          </a:bodyPr>
          <a:lstStyle/>
          <a:p>
            <a:r>
              <a:rPr lang="en-US" sz="2700">
                <a:solidFill>
                  <a:srgbClr val="29389F"/>
                </a:solidFill>
                <a:latin typeface="Arial" pitchFamily="34" charset="0"/>
                <a:cs typeface="Arial" pitchFamily="34" charset="0"/>
              </a:rPr>
              <a:t>Non-Insurance Bundle v1 (Portfolio ID: 1024485)</a:t>
            </a:r>
            <a:br>
              <a:rPr lang="en-US" sz="2700">
                <a:solidFill>
                  <a:srgbClr val="29389F"/>
                </a:solidFill>
                <a:latin typeface="Arial" pitchFamily="34" charset="0"/>
                <a:cs typeface="Arial" pitchFamily="34" charset="0"/>
              </a:rPr>
            </a:br>
            <a:r>
              <a:rPr lang="en-US" sz="1600">
                <a:solidFill>
                  <a:srgbClr val="0070C0"/>
                </a:solidFill>
                <a:latin typeface="Arial" pitchFamily="34" charset="0"/>
                <a:cs typeface="Arial" pitchFamily="34" charset="0"/>
              </a:rPr>
              <a:t>Providing our VB partners with additional non-insurance options</a:t>
            </a:r>
          </a:p>
        </p:txBody>
      </p:sp>
      <p:graphicFrame>
        <p:nvGraphicFramePr>
          <p:cNvPr id="11" name="Group 513">
            <a:extLst>
              <a:ext uri="{FF2B5EF4-FFF2-40B4-BE49-F238E27FC236}">
                <a16:creationId xmlns:a16="http://schemas.microsoft.com/office/drawing/2014/main" id="{BFB1BC47-0BA9-F11F-C0C5-F479F91CBFA1}"/>
              </a:ext>
            </a:extLst>
          </p:cNvPr>
          <p:cNvGraphicFramePr>
            <a:graphicFrameLocks noGrp="1"/>
          </p:cNvGraphicFramePr>
          <p:nvPr>
            <p:extLst>
              <p:ext uri="{D42A27DB-BD31-4B8C-83A1-F6EECF244321}">
                <p14:modId xmlns:p14="http://schemas.microsoft.com/office/powerpoint/2010/main" val="1661816493"/>
              </p:ext>
            </p:extLst>
          </p:nvPr>
        </p:nvGraphicFramePr>
        <p:xfrm>
          <a:off x="75106" y="685416"/>
          <a:ext cx="2797567" cy="344301"/>
        </p:xfrm>
        <a:graphic>
          <a:graphicData uri="http://schemas.openxmlformats.org/drawingml/2006/table">
            <a:tbl>
              <a:tblPr/>
              <a:tblGrid>
                <a:gridCol w="1067894">
                  <a:extLst>
                    <a:ext uri="{9D8B030D-6E8A-4147-A177-3AD203B41FA5}">
                      <a16:colId xmlns:a16="http://schemas.microsoft.com/office/drawing/2014/main" val="20000"/>
                    </a:ext>
                  </a:extLst>
                </a:gridCol>
                <a:gridCol w="17296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8/10/2026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83BC6461-F483-72C6-B096-2398B30821F6}"/>
              </a:ext>
            </a:extLst>
          </p:cNvPr>
          <p:cNvGraphicFramePr>
            <a:graphicFrameLocks noGrp="1"/>
          </p:cNvGraphicFramePr>
          <p:nvPr>
            <p:extLst>
              <p:ext uri="{D42A27DB-BD31-4B8C-83A1-F6EECF244321}">
                <p14:modId xmlns:p14="http://schemas.microsoft.com/office/powerpoint/2010/main" val="4177781778"/>
              </p:ext>
            </p:extLst>
          </p:nvPr>
        </p:nvGraphicFramePr>
        <p:xfrm>
          <a:off x="6655878" y="678432"/>
          <a:ext cx="5417039" cy="687835"/>
        </p:xfrm>
        <a:graphic>
          <a:graphicData uri="http://schemas.openxmlformats.org/drawingml/2006/table">
            <a:tbl>
              <a:tblPr>
                <a:tableStyleId>{5C22544A-7EE6-4342-B048-85BDC9FD1C3A}</a:tableStyleId>
              </a:tblPr>
              <a:tblGrid>
                <a:gridCol w="1057969">
                  <a:extLst>
                    <a:ext uri="{9D8B030D-6E8A-4147-A177-3AD203B41FA5}">
                      <a16:colId xmlns:a16="http://schemas.microsoft.com/office/drawing/2014/main" val="2456552316"/>
                    </a:ext>
                  </a:extLst>
                </a:gridCol>
                <a:gridCol w="937707">
                  <a:extLst>
                    <a:ext uri="{9D8B030D-6E8A-4147-A177-3AD203B41FA5}">
                      <a16:colId xmlns:a16="http://schemas.microsoft.com/office/drawing/2014/main" val="2327174630"/>
                    </a:ext>
                  </a:extLst>
                </a:gridCol>
                <a:gridCol w="1533277">
                  <a:extLst>
                    <a:ext uri="{9D8B030D-6E8A-4147-A177-3AD203B41FA5}">
                      <a16:colId xmlns:a16="http://schemas.microsoft.com/office/drawing/2014/main" val="1100051595"/>
                    </a:ext>
                  </a:extLst>
                </a:gridCol>
                <a:gridCol w="925036">
                  <a:extLst>
                    <a:ext uri="{9D8B030D-6E8A-4147-A177-3AD203B41FA5}">
                      <a16:colId xmlns:a16="http://schemas.microsoft.com/office/drawing/2014/main" val="2042261034"/>
                    </a:ext>
                  </a:extLst>
                </a:gridCol>
                <a:gridCol w="963050">
                  <a:extLst>
                    <a:ext uri="{9D8B030D-6E8A-4147-A177-3AD203B41FA5}">
                      <a16:colId xmlns:a16="http://schemas.microsoft.com/office/drawing/2014/main" val="2815874248"/>
                    </a:ext>
                  </a:extLst>
                </a:gridCol>
              </a:tblGrid>
              <a:tr h="33625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1583">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$164,899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$108K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15021E2D-E603-8E90-9FB9-EF437D8FBFFA}"/>
              </a:ext>
            </a:extLst>
          </p:cNvPr>
          <p:cNvGraphicFramePr>
            <a:graphicFrameLocks noGrp="1"/>
          </p:cNvGraphicFramePr>
          <p:nvPr/>
        </p:nvGraphicFramePr>
        <p:xfrm>
          <a:off x="2813528" y="685416"/>
          <a:ext cx="3829275" cy="68783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7564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2194">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4646CB18-1B9B-930B-89CC-885478A70C3F}"/>
              </a:ext>
            </a:extLst>
          </p:cNvPr>
          <p:cNvGraphicFramePr>
            <a:graphicFrameLocks noGrp="1"/>
          </p:cNvGraphicFramePr>
          <p:nvPr>
            <p:extLst>
              <p:ext uri="{D42A27DB-BD31-4B8C-83A1-F6EECF244321}">
                <p14:modId xmlns:p14="http://schemas.microsoft.com/office/powerpoint/2010/main" val="1536110649"/>
              </p:ext>
            </p:extLst>
          </p:nvPr>
        </p:nvGraphicFramePr>
        <p:xfrm>
          <a:off x="75107" y="1029716"/>
          <a:ext cx="2738422" cy="336551"/>
        </p:xfrm>
        <a:graphic>
          <a:graphicData uri="http://schemas.openxmlformats.org/drawingml/2006/table">
            <a:tbl>
              <a:tblPr/>
              <a:tblGrid>
                <a:gridCol w="1059273">
                  <a:extLst>
                    <a:ext uri="{9D8B030D-6E8A-4147-A177-3AD203B41FA5}">
                      <a16:colId xmlns:a16="http://schemas.microsoft.com/office/drawing/2014/main" val="20000"/>
                    </a:ext>
                  </a:extLst>
                </a:gridCol>
                <a:gridCol w="1679149">
                  <a:extLst>
                    <a:ext uri="{9D8B030D-6E8A-4147-A177-3AD203B41FA5}">
                      <a16:colId xmlns:a16="http://schemas.microsoft.com/office/drawing/2014/main" val="20001"/>
                    </a:ext>
                  </a:extLst>
                </a:gridCol>
              </a:tblGrid>
              <a:tr h="33655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7/15/26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3BCAE11-FEFD-464E-3809-4805738D3E05}"/>
              </a:ext>
            </a:extLst>
          </p:cNvPr>
          <p:cNvGraphicFramePr>
            <a:graphicFrameLocks noGrp="1"/>
          </p:cNvGraphicFramePr>
          <p:nvPr>
            <p:extLst>
              <p:ext uri="{D42A27DB-BD31-4B8C-83A1-F6EECF244321}">
                <p14:modId xmlns:p14="http://schemas.microsoft.com/office/powerpoint/2010/main" val="3337447075"/>
              </p:ext>
            </p:extLst>
          </p:nvPr>
        </p:nvGraphicFramePr>
        <p:xfrm>
          <a:off x="4853354" y="1379230"/>
          <a:ext cx="7219564" cy="3883922"/>
        </p:xfrm>
        <a:graphic>
          <a:graphicData uri="http://schemas.openxmlformats.org/drawingml/2006/table">
            <a:tbl>
              <a:tblPr>
                <a:tableStyleId>{5C22544A-7EE6-4342-B048-85BDC9FD1C3A}</a:tableStyleId>
              </a:tblPr>
              <a:tblGrid>
                <a:gridCol w="2642504">
                  <a:extLst>
                    <a:ext uri="{9D8B030D-6E8A-4147-A177-3AD203B41FA5}">
                      <a16:colId xmlns:a16="http://schemas.microsoft.com/office/drawing/2014/main" val="2456552316"/>
                    </a:ext>
                  </a:extLst>
                </a:gridCol>
                <a:gridCol w="546866">
                  <a:extLst>
                    <a:ext uri="{9D8B030D-6E8A-4147-A177-3AD203B41FA5}">
                      <a16:colId xmlns:a16="http://schemas.microsoft.com/office/drawing/2014/main" val="1100051595"/>
                    </a:ext>
                  </a:extLst>
                </a:gridCol>
                <a:gridCol w="506393">
                  <a:extLst>
                    <a:ext uri="{9D8B030D-6E8A-4147-A177-3AD203B41FA5}">
                      <a16:colId xmlns:a16="http://schemas.microsoft.com/office/drawing/2014/main" val="2042261034"/>
                    </a:ext>
                  </a:extLst>
                </a:gridCol>
                <a:gridCol w="3523801">
                  <a:extLst>
                    <a:ext uri="{9D8B030D-6E8A-4147-A177-3AD203B41FA5}">
                      <a16:colId xmlns:a16="http://schemas.microsoft.com/office/drawing/2014/main" val="2815874248"/>
                    </a:ext>
                  </a:extLst>
                </a:gridCol>
              </a:tblGrid>
              <a:tr h="30630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62350">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Received HLA/Architecture assessment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rPr>
                        <a:t>Document complete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748893264"/>
                  </a:ext>
                </a:extLst>
              </a:tr>
              <a:tr h="2473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Alignment of scope/requirements (HLA) with BDE/BL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mn-cs"/>
                        </a:rPr>
                        <a:t>2/26</a:t>
                      </a: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Leslie approved on 2/26/26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805706767"/>
                  </a:ext>
                </a:extLst>
              </a:tr>
              <a:tr h="26116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Detailed Requirements/Epics creation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mn-cs"/>
                        </a:rPr>
                        <a:t>3/13</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Surekha (TA) to deliver; Nidia is meeting with Surekha on 2/11 to support Epics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943924009"/>
                  </a:ext>
                </a:extLst>
              </a:tr>
              <a:tr h="29123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SOW/Vendor sign-off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sngStrike" kern="1200">
                          <a:solidFill>
                            <a:schemeClr val="tx1"/>
                          </a:solidFill>
                          <a:effectLst/>
                          <a:latin typeface="Aptos" panose="020B0004020202020204" pitchFamily="34" charset="0"/>
                          <a:ea typeface="+mn-ea"/>
                          <a:cs typeface="+mn-cs"/>
                        </a:rPr>
                        <a:t>2/13 </a:t>
                      </a:r>
                      <a:r>
                        <a:rPr lang="en-US" sz="850" b="0" strike="noStrike" kern="1200">
                          <a:solidFill>
                            <a:schemeClr val="tx1"/>
                          </a:solidFill>
                          <a:effectLst/>
                          <a:latin typeface="Aptos" panose="020B0004020202020204" pitchFamily="34" charset="0"/>
                          <a:ea typeface="+mn-ea"/>
                          <a:cs typeface="+mn-cs"/>
                        </a:rPr>
                        <a: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gn="l" defTabSz="685858" rtl="0" eaLnBrk="1" fontAlgn="base" latinLnBrk="0" hangingPunct="1">
                        <a:lnSpc>
                          <a:spcPct val="114999"/>
                        </a:lnSpc>
                        <a:spcBef>
                          <a:spcPts val="300"/>
                        </a:spcBef>
                        <a:spcAft>
                          <a:spcPts val="800"/>
                        </a:spcAft>
                        <a:buNone/>
                      </a:pPr>
                      <a:r>
                        <a:rPr lang="en-US" sz="850" b="0" i="0" u="none" strike="noStrike" kern="100">
                          <a:solidFill>
                            <a:schemeClr val="dk1"/>
                          </a:solidFill>
                          <a:effectLst/>
                          <a:latin typeface="Aptos" panose="020B0004020202020204" pitchFamily="34" charset="0"/>
                          <a:ea typeface="+mn-ea"/>
                          <a:cs typeface="+mn-cs"/>
                        </a:rPr>
                        <a:t>Contract is with procurement as of 3/13 and finalizing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073210692"/>
                  </a:ext>
                </a:extLst>
              </a:tr>
              <a:tr h="208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Solution Approach (Tech)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2/27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387139067"/>
                  </a:ext>
                </a:extLst>
              </a:tr>
              <a:tr h="23171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Master Test Strategy (MTS)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strike="sngStrike" kern="1200">
                          <a:solidFill>
                            <a:schemeClr val="tx1"/>
                          </a:solidFill>
                          <a:effectLst/>
                          <a:latin typeface="Aptos" panose="020B0004020202020204" pitchFamily="34" charset="0"/>
                          <a:ea typeface="+mn-ea"/>
                          <a:cs typeface="+mn-cs"/>
                        </a:rPr>
                        <a:t>2/223</a:t>
                      </a:r>
                      <a:r>
                        <a:rPr lang="en-US" sz="850" b="0" strike="noStrike" kern="1200">
                          <a:solidFill>
                            <a:schemeClr val="tx1"/>
                          </a:solidFill>
                          <a:effectLst/>
                          <a:latin typeface="Aptos" panose="020B0004020202020204" pitchFamily="34" charset="0"/>
                          <a:ea typeface="+mn-ea"/>
                          <a:cs typeface="+mn-cs"/>
                        </a:rPr>
                        <a:t>/2</a:t>
                      </a:r>
                      <a:r>
                        <a:rPr lang="en-US" sz="850" b="0" strike="sngStrike" kern="1200">
                          <a:solidFill>
                            <a:schemeClr val="tx1"/>
                          </a:solidFill>
                          <a:effectLst/>
                          <a:latin typeface="Aptos" panose="020B0004020202020204" pitchFamily="34" charset="0"/>
                          <a:ea typeface="+mn-ea"/>
                          <a:cs typeface="+mn-cs"/>
                        </a:rPr>
                        <a:t>7</a:t>
                      </a:r>
                      <a:endParaRPr lang="en-US" sz="850" strike="sngStrike">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Times New Roman"/>
                        </a:rPr>
                        <a:t>Draft version is ready based on the new requirement 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775249404"/>
                  </a:ext>
                </a:extLst>
              </a:tr>
              <a:tr h="283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Line Estimate based on the requirements change of replacing PRC Bot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124305577"/>
                  </a:ext>
                </a:extLst>
              </a:tr>
              <a:tr h="283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dk1"/>
                          </a:solidFill>
                          <a:effectLst/>
                          <a:latin typeface="Aptos" panose="020B0004020202020204" pitchFamily="34" charset="0"/>
                          <a:ea typeface="+mn-ea"/>
                          <a:cs typeface="+mn-cs"/>
                        </a:rPr>
                        <a:t>Development (DDIT)</a:t>
                      </a:r>
                      <a:endParaRPr lang="en-US" sz="850" b="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sngStrike">
                          <a:latin typeface="Aptos" panose="020B0004020202020204" pitchFamily="34" charset="0"/>
                        </a:rPr>
                        <a:t>5/27</a:t>
                      </a:r>
                      <a:r>
                        <a:rPr lang="en-US" sz="850" strike="noStrike">
                          <a:latin typeface="Aptos" panose="020B0004020202020204" pitchFamily="34" charset="0"/>
                        </a:rPr>
                        <a:t> 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Team is prioritizing the DDIT to complete. However, this does not affect the schedule timeline. Updated schedule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165178776"/>
                  </a:ext>
                </a:extLst>
              </a:tr>
              <a:tr h="283421">
                <a:tc>
                  <a:txBody>
                    <a:bodyPr/>
                    <a:lstStyle/>
                    <a:p>
                      <a:pPr marL="114300" marR="0" lvl="0" indent="0" algn="l" rtl="0">
                        <a:lnSpc>
                          <a:spcPct val="95000"/>
                        </a:lnSpc>
                        <a:spcBef>
                          <a:spcPct val="0"/>
                        </a:spcBef>
                        <a:spcAft>
                          <a:spcPct val="50000"/>
                        </a:spcAft>
                        <a:buClrTx/>
                        <a:buSzTx/>
                        <a:buFontTx/>
                        <a:buNone/>
                      </a:pPr>
                      <a:r>
                        <a:rPr lang="en-US" sz="850" b="0" kern="1200">
                          <a:solidFill>
                            <a:schemeClr val="dk1"/>
                          </a:solidFill>
                          <a:effectLst/>
                          <a:latin typeface="Aptos" panose="020B0004020202020204" pitchFamily="34" charset="0"/>
                          <a:ea typeface="+mn-ea"/>
                          <a:cs typeface="+mn-cs"/>
                        </a:rPr>
                        <a:t>E2E testing</a:t>
                      </a:r>
                      <a:endParaRPr lang="en-US" sz="850" b="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kern="1200">
                          <a:solidFill>
                            <a:schemeClr val="dk1"/>
                          </a:solidFill>
                          <a:effectLst/>
                          <a:latin typeface="Aptos" panose="020B0004020202020204" pitchFamily="34" charset="0"/>
                          <a:ea typeface="+mn-ea"/>
                          <a:cs typeface="+mn-cs"/>
                        </a:rPr>
                        <a:t>6/25- 7/8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E2E completed for EW line. Received file from </a:t>
                      </a:r>
                      <a:r>
                        <a:rPr lang="en-US" sz="850" b="0" i="0" err="1">
                          <a:solidFill>
                            <a:srgbClr val="000000"/>
                          </a:solidFill>
                          <a:effectLst/>
                          <a:latin typeface="Aptos" panose="020B0004020202020204" pitchFamily="34" charset="0"/>
                          <a:cs typeface="Times New Roman"/>
                        </a:rPr>
                        <a:t>Firstvet</a:t>
                      </a:r>
                      <a:r>
                        <a:rPr lang="en-US" sz="850" b="0" i="0">
                          <a:solidFill>
                            <a:srgbClr val="000000"/>
                          </a:solidFill>
                          <a:effectLst/>
                          <a:latin typeface="Aptos" panose="020B0004020202020204" pitchFamily="34" charset="0"/>
                          <a:cs typeface="Times New Roman"/>
                        </a:rPr>
                        <a:t> and AT line is proceeding on the test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534325618"/>
                  </a:ext>
                </a:extLst>
              </a:tr>
              <a:tr h="0">
                <a:tc>
                  <a:txBody>
                    <a:bodyPr/>
                    <a:lstStyle/>
                    <a:p>
                      <a:pPr marL="0" marR="0" algn="l">
                        <a:buNone/>
                      </a:pPr>
                      <a:r>
                        <a:rPr lang="en-US" sz="850" b="0">
                          <a:effectLst/>
                          <a:latin typeface="Aptos" panose="020B0004020202020204" pitchFamily="34" charset="0"/>
                          <a:ea typeface="Aptos" panose="020B0004020202020204" pitchFamily="34" charset="0"/>
                          <a:cs typeface="Aptos" panose="020B0004020202020204" pitchFamily="34" charset="0"/>
                        </a:rPr>
                        <a:t>UAT testing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EW line received UAT sign Off and AT line working with Business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159911778"/>
                  </a:ext>
                </a:extLst>
              </a:tr>
              <a:tr h="242594">
                <a:tc>
                  <a:txBody>
                    <a:bodyPr/>
                    <a:lstStyle/>
                    <a:p>
                      <a:pPr marL="0" marR="0" algn="l">
                        <a:buNone/>
                      </a:pPr>
                      <a:r>
                        <a:rPr lang="en-US" sz="850" b="0">
                          <a:effectLst/>
                          <a:latin typeface="Aptos" panose="020B0004020202020204" pitchFamily="34" charset="0"/>
                          <a:ea typeface="Aptos" panose="020B0004020202020204" pitchFamily="34" charset="0"/>
                          <a:cs typeface="Aptos" panose="020B0004020202020204" pitchFamily="34" charset="0"/>
                        </a:rPr>
                        <a:t>Deploy and staging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7/9-7/14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EW line will start the staging process for code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625090117"/>
                  </a:ext>
                </a:extLst>
              </a:tr>
              <a:tr h="283421">
                <a:tc>
                  <a:txBody>
                    <a:bodyPr/>
                    <a:lstStyle/>
                    <a:p>
                      <a:pPr marL="0" marR="0">
                        <a:buNone/>
                      </a:pPr>
                      <a:r>
                        <a:rPr lang="en-US" sz="850">
                          <a:effectLst/>
                          <a:latin typeface="Aptos" panose="020B0004020202020204" pitchFamily="34" charset="0"/>
                          <a:ea typeface="Aptos" panose="020B0004020202020204" pitchFamily="34" charset="0"/>
                          <a:cs typeface="Aptos" panose="020B0004020202020204" pitchFamily="34" charset="0"/>
                        </a:rPr>
                        <a:t>Production Release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711860512"/>
                  </a:ext>
                </a:extLst>
              </a:tr>
            </a:tbl>
          </a:graphicData>
        </a:graphic>
      </p:graphicFrame>
      <p:graphicFrame>
        <p:nvGraphicFramePr>
          <p:cNvPr id="29" name="Table 28">
            <a:extLst>
              <a:ext uri="{FF2B5EF4-FFF2-40B4-BE49-F238E27FC236}">
                <a16:creationId xmlns:a16="http://schemas.microsoft.com/office/drawing/2014/main" id="{4032353D-8352-76FE-633D-99C717408F4F}"/>
              </a:ext>
            </a:extLst>
          </p:cNvPr>
          <p:cNvGraphicFramePr>
            <a:graphicFrameLocks noGrp="1"/>
          </p:cNvGraphicFramePr>
          <p:nvPr>
            <p:extLst>
              <p:ext uri="{D42A27DB-BD31-4B8C-83A1-F6EECF244321}">
                <p14:modId xmlns:p14="http://schemas.microsoft.com/office/powerpoint/2010/main" val="2959621155"/>
              </p:ext>
            </p:extLst>
          </p:nvPr>
        </p:nvGraphicFramePr>
        <p:xfrm>
          <a:off x="4853354" y="5243756"/>
          <a:ext cx="7219564" cy="1439355"/>
        </p:xfrm>
        <a:graphic>
          <a:graphicData uri="http://schemas.openxmlformats.org/drawingml/2006/table">
            <a:tbl>
              <a:tblPr>
                <a:tableStyleId>{5C22544A-7EE6-4342-B048-85BDC9FD1C3A}</a:tableStyleId>
              </a:tblPr>
              <a:tblGrid>
                <a:gridCol w="2663916">
                  <a:extLst>
                    <a:ext uri="{9D8B030D-6E8A-4147-A177-3AD203B41FA5}">
                      <a16:colId xmlns:a16="http://schemas.microsoft.com/office/drawing/2014/main" val="2456552316"/>
                    </a:ext>
                  </a:extLst>
                </a:gridCol>
                <a:gridCol w="523117">
                  <a:extLst>
                    <a:ext uri="{9D8B030D-6E8A-4147-A177-3AD203B41FA5}">
                      <a16:colId xmlns:a16="http://schemas.microsoft.com/office/drawing/2014/main" val="1100051595"/>
                    </a:ext>
                  </a:extLst>
                </a:gridCol>
                <a:gridCol w="581921">
                  <a:extLst>
                    <a:ext uri="{9D8B030D-6E8A-4147-A177-3AD203B41FA5}">
                      <a16:colId xmlns:a16="http://schemas.microsoft.com/office/drawing/2014/main" val="2042261034"/>
                    </a:ext>
                  </a:extLst>
                </a:gridCol>
                <a:gridCol w="3450610">
                  <a:extLst>
                    <a:ext uri="{9D8B030D-6E8A-4147-A177-3AD203B41FA5}">
                      <a16:colId xmlns:a16="http://schemas.microsoft.com/office/drawing/2014/main" val="2815874248"/>
                    </a:ext>
                  </a:extLst>
                </a:gridCol>
              </a:tblGrid>
              <a:tr h="29567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8238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Risk: </a:t>
                      </a:r>
                      <a:r>
                        <a:rPr lang="en-US" sz="850" kern="1200">
                          <a:solidFill>
                            <a:schemeClr val="dk1"/>
                          </a:solidFill>
                          <a:latin typeface="Aptos" panose="020B0004020202020204" pitchFamily="34" charset="0"/>
                          <a:ea typeface="+mn-ea"/>
                          <a:cs typeface="+mn-cs"/>
                        </a:rPr>
                        <a:t>If </a:t>
                      </a:r>
                      <a:r>
                        <a:rPr lang="en-US" sz="850" b="0" strike="noStrike" kern="1200">
                          <a:solidFill>
                            <a:schemeClr val="tx1"/>
                          </a:solidFill>
                          <a:effectLst/>
                          <a:latin typeface="Aptos" panose="020B0004020202020204" pitchFamily="34" charset="0"/>
                          <a:ea typeface="+mn-ea"/>
                          <a:cs typeface="+mn-cs"/>
                        </a:rPr>
                        <a:t>consumers choose not to share data, they will be unable to complete the purchase; from the NW side we will only see a lead sent and will have no visibility into why the funnel dropped on the FV side. </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850" b="0">
                          <a:latin typeface="Aptos" panose="020B0004020202020204" pitchFamily="34" charset="0"/>
                        </a:rPr>
                        <a:t>C</a:t>
                      </a:r>
                    </a:p>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Unless FV sends additional fields, our systems cannot capture this reason—creating a risk that reporting deliverables (David Lee’s team) are based on data that does not exist.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337499024"/>
                  </a:ext>
                </a:extLst>
              </a:tr>
              <a:tr h="510705">
                <a:tc>
                  <a:txBody>
                    <a:bodyPr/>
                    <a:lstStyle/>
                    <a:p>
                      <a:r>
                        <a:rPr lang="en-US" sz="850" kern="1200">
                          <a:solidFill>
                            <a:schemeClr val="dk1"/>
                          </a:solidFill>
                          <a:effectLst/>
                          <a:latin typeface="Aptos" panose="020B0004020202020204" pitchFamily="34" charset="0"/>
                          <a:ea typeface="+mn-ea"/>
                          <a:cs typeface="+mn-cs"/>
                        </a:rPr>
                        <a:t>Due to the current security event to secure MPIQEC activity the resources from EW are being pulled in to support it.</a:t>
                      </a:r>
                    </a:p>
                    <a:p>
                      <a:r>
                        <a:rPr lang="en-US" sz="850" kern="1200">
                          <a:solidFill>
                            <a:schemeClr val="dk1"/>
                          </a:solidFill>
                          <a:effectLst/>
                          <a:latin typeface="Aptos" panose="020B0004020202020204" pitchFamily="34" charset="0"/>
                          <a:ea typeface="+mn-ea"/>
                          <a:cs typeface="+mn-cs"/>
                        </a:rPr>
                        <a:t> </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EW is planning to complete the DDIT as scheduled on time for 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47572538"/>
                  </a:ext>
                </a:extLst>
              </a:tr>
            </a:tbl>
          </a:graphicData>
        </a:graphic>
      </p:graphicFrame>
      <p:sp>
        <p:nvSpPr>
          <p:cNvPr id="33" name="Flowchart: Connector 32">
            <a:extLst>
              <a:ext uri="{FF2B5EF4-FFF2-40B4-BE49-F238E27FC236}">
                <a16:creationId xmlns:a16="http://schemas.microsoft.com/office/drawing/2014/main" id="{655215DA-A254-CDCA-0F05-A6A31868AF81}"/>
              </a:ext>
            </a:extLst>
          </p:cNvPr>
          <p:cNvSpPr/>
          <p:nvPr/>
        </p:nvSpPr>
        <p:spPr>
          <a:xfrm>
            <a:off x="6574235" y="667718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5CE6D0FD-F2D6-DF4E-9D9B-D9C7190B36AB}"/>
              </a:ext>
            </a:extLst>
          </p:cNvPr>
          <p:cNvSpPr/>
          <p:nvPr/>
        </p:nvSpPr>
        <p:spPr>
          <a:xfrm>
            <a:off x="7671396" y="6667431"/>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CF310F1-9E14-0184-9DC3-129D8A72E0C8}"/>
              </a:ext>
            </a:extLst>
          </p:cNvPr>
          <p:cNvSpPr/>
          <p:nvPr/>
        </p:nvSpPr>
        <p:spPr>
          <a:xfrm>
            <a:off x="8737194" y="667994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CD4820B5-3E41-6880-03A7-0412C708BCE1}"/>
              </a:ext>
            </a:extLst>
          </p:cNvPr>
          <p:cNvSpPr/>
          <p:nvPr/>
        </p:nvSpPr>
        <p:spPr>
          <a:xfrm>
            <a:off x="3303638" y="1129287"/>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FF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4AF856CC-8C93-3712-6716-6611BBAB5C97}"/>
              </a:ext>
            </a:extLst>
          </p:cNvPr>
          <p:cNvSpPr/>
          <p:nvPr/>
        </p:nvSpPr>
        <p:spPr>
          <a:xfrm>
            <a:off x="4286105" y="1129286"/>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Flowchart: Connector 45">
            <a:extLst>
              <a:ext uri="{FF2B5EF4-FFF2-40B4-BE49-F238E27FC236}">
                <a16:creationId xmlns:a16="http://schemas.microsoft.com/office/drawing/2014/main" id="{5E75A1BF-8B36-BBBE-5408-144D373FD351}"/>
              </a:ext>
            </a:extLst>
          </p:cNvPr>
          <p:cNvSpPr/>
          <p:nvPr/>
        </p:nvSpPr>
        <p:spPr>
          <a:xfrm>
            <a:off x="5143033" y="1129286"/>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Flowchart: Connector 46">
            <a:extLst>
              <a:ext uri="{FF2B5EF4-FFF2-40B4-BE49-F238E27FC236}">
                <a16:creationId xmlns:a16="http://schemas.microsoft.com/office/drawing/2014/main" id="{5AF25202-73E3-3E01-9297-7EC91DC886FE}"/>
              </a:ext>
            </a:extLst>
          </p:cNvPr>
          <p:cNvSpPr/>
          <p:nvPr/>
        </p:nvSpPr>
        <p:spPr>
          <a:xfrm>
            <a:off x="6078524" y="1121337"/>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3C1111DB-D66C-89EA-7D09-064310E92A1B}"/>
              </a:ext>
            </a:extLst>
          </p:cNvPr>
          <p:cNvSpPr txBox="1"/>
          <p:nvPr/>
        </p:nvSpPr>
        <p:spPr>
          <a:xfrm>
            <a:off x="-2104" y="1587099"/>
            <a:ext cx="4855458" cy="2957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000000"/>
                </a:solidFill>
                <a:effectLst/>
                <a:uLnTx/>
                <a:uFillTx/>
                <a:latin typeface="Aptos" panose="020B0004020202020204" pitchFamily="34" charset="0"/>
              </a:rPr>
              <a:t>Status:  </a:t>
            </a: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Overall Status </a:t>
            </a:r>
            <a:r>
              <a:rPr kumimoji="0" lang="en-US" sz="850" b="1" i="0" u="none" strike="noStrike" kern="100" cap="none" spc="0" normalizeH="0" baseline="0" noProof="0">
                <a:ln>
                  <a:noFill/>
                </a:ln>
                <a:solidFill>
                  <a:srgbClr val="00B050"/>
                </a:solidFill>
                <a:effectLst/>
                <a:uLnTx/>
                <a:uFillTx/>
                <a:latin typeface="Aptos" panose="020B0004020202020204" pitchFamily="34" charset="0"/>
                <a:cs typeface="Times New Roman"/>
              </a:rPr>
              <a:t>GREEN</a:t>
            </a:r>
            <a:endParaRPr kumimoji="0" lang="en-US" sz="850" b="1" i="0" u="none" strike="noStrike" kern="100" cap="none" spc="0" normalizeH="0" baseline="0" noProof="0">
              <a:ln>
                <a:noFill/>
              </a:ln>
              <a:solidFill>
                <a:srgbClr val="00B050"/>
              </a:solidFill>
              <a:effectLst/>
              <a:highlight>
                <a:srgbClr val="00FF00"/>
              </a:highlight>
              <a:uLnTx/>
              <a:uFillTx/>
              <a:latin typeface="Aptos" panose="020B0004020202020204" pitchFamily="34" charset="0"/>
              <a:cs typeface="Times New Rom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Line Estimates  received; budget approval in progress.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Original effort was estimated at $140K and new estimates are at </a:t>
            </a:r>
            <a:r>
              <a:rPr kumimoji="0" lang="en-US" sz="850" b="1" i="0" u="none" strike="noStrike" kern="1200" cap="none" spc="0" normalizeH="0" baseline="0" noProof="0">
                <a:ln>
                  <a:noFill/>
                </a:ln>
                <a:solidFill>
                  <a:srgbClr val="000000"/>
                </a:solidFill>
                <a:effectLst/>
                <a:uLnTx/>
                <a:uFillTx/>
                <a:latin typeface="Aptos" panose="020B0004020202020204" pitchFamily="34" charset="0"/>
              </a:rPr>
              <a:t>$273K</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Scope has not changed; test automation 332 hours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HLA has not been modified and has been broken down into detailed requirements</a:t>
            </a:r>
            <a:endPar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srgbClr val="000000"/>
                </a:solidFill>
                <a:effectLst/>
                <a:uLnTx/>
                <a:uFillTx/>
                <a:latin typeface="Aptos" panose="020B0004020202020204" pitchFamily="34" charset="0"/>
              </a:rPr>
              <a:t>Critical‑path milestones</a:t>
            </a:r>
            <a:r>
              <a:rPr kumimoji="0" lang="en-US" sz="850" b="0" i="0" u="none" strike="noStrike" kern="1200" cap="none" spc="0" normalizeH="0" baseline="0" noProof="0">
                <a:ln>
                  <a:noFill/>
                </a:ln>
                <a:solidFill>
                  <a:srgbClr val="000000"/>
                </a:solidFill>
                <a:effectLst/>
                <a:uLnTx/>
                <a:uFillTx/>
                <a:latin typeface="Aptos" panose="020B0004020202020204" pitchFamily="34" charset="0"/>
              </a:rPr>
              <a:t>:.</a:t>
            </a:r>
            <a:endPar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rPr>
              <a:t>Reporting development is in progress and will be completed by August 12| Owner: David Lee</a:t>
            </a:r>
            <a:endParaRPr kumimoji="0" lang="en-US" sz="850" b="0" i="0" u="none" strike="noStrike" kern="1200" cap="none" spc="0" normalizeH="0" baseline="0" noProof="0">
              <a:ln>
                <a:noFill/>
              </a:ln>
              <a:solidFill>
                <a:srgbClr val="000000"/>
              </a:solidFill>
              <a:effectLst/>
              <a:uLnTx/>
              <a:uFillTx/>
              <a:latin typeface="Aptos" panose="020B0004020202020204" pitchFamily="34" charset="0"/>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Project went live in production successfully. Test files received from First Vet was validated successfully.</a:t>
            </a: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a:t>
            </a:r>
            <a:endParaRPr kumimoji="0" lang="en-US" sz="850" b="1"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endParaRP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Reporting will be completed after July 15</a:t>
            </a:r>
            <a:r>
              <a:rPr kumimoji="0" lang="en-US" sz="850" b="0" i="0" u="none" strike="noStrike" kern="100" cap="none" spc="0" normalizeH="0" baseline="30000" noProof="0">
                <a:ln>
                  <a:noFill/>
                </a:ln>
                <a:solidFill>
                  <a:srgbClr val="000000"/>
                </a:solidFill>
                <a:effectLst/>
                <a:uLnTx/>
                <a:uFillTx/>
                <a:latin typeface="Aptos" panose="020B0004020202020204" pitchFamily="34" charset="0"/>
                <a:ea typeface="Aptos" panose="020B0004020202020204" pitchFamily="34" charset="0"/>
                <a:cs typeface="Times New Roman"/>
              </a:rPr>
              <a:t>th</a:t>
            </a: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 as it does not affect the product development. </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srgbClr val="000000"/>
                </a:solidFill>
                <a:effectLst/>
                <a:uLnTx/>
                <a:uFillTx/>
                <a:latin typeface="Aptos" panose="020B0004020202020204" pitchFamily="34" charset="0"/>
                <a:cs typeface="Times New Roman"/>
              </a:rPr>
              <a:t>Next Steps:</a:t>
            </a: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Reporting team to confirm dashboard and complete development. </a:t>
            </a:r>
            <a:endParaRPr kumimoji="0" lang="en-US" sz="850" b="0" i="0" u="none" strike="noStrike" kern="100" cap="none" spc="0" normalizeH="0" baseline="0" noProof="0">
              <a:ln>
                <a:noFill/>
              </a:ln>
              <a:solidFill>
                <a:srgbClr val="000000"/>
              </a:solidFill>
              <a:effectLst/>
              <a:uLnTx/>
              <a:uFillTx/>
              <a:latin typeface="Aptos" panose="020B0004020202020204" pitchFamily="34" charset="0"/>
              <a:cs typeface="Arial"/>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Arial"/>
            </a:endParaRP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Arial"/>
            </a:endParaRP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none" strike="noStrike" kern="100" cap="none" spc="0" normalizeH="0" baseline="0" noProof="0">
              <a:ln>
                <a:noFill/>
              </a:ln>
              <a:solidFill>
                <a:srgbClr val="000000"/>
              </a:solidFill>
              <a:effectLst/>
              <a:uLnTx/>
              <a:uFillTx/>
              <a:latin typeface="Arial"/>
              <a:ea typeface="+mn-ea"/>
              <a:cs typeface="Times New Roman"/>
            </a:endParaRPr>
          </a:p>
        </p:txBody>
      </p:sp>
      <p:sp>
        <p:nvSpPr>
          <p:cNvPr id="10" name="TextBox 9">
            <a:extLst>
              <a:ext uri="{FF2B5EF4-FFF2-40B4-BE49-F238E27FC236}">
                <a16:creationId xmlns:a16="http://schemas.microsoft.com/office/drawing/2014/main" id="{4202141F-4EA9-0FA2-F814-504CB3276E78}"/>
              </a:ext>
            </a:extLst>
          </p:cNvPr>
          <p:cNvSpPr txBox="1"/>
          <p:nvPr/>
        </p:nvSpPr>
        <p:spPr>
          <a:xfrm>
            <a:off x="9362590" y="93152"/>
            <a:ext cx="2923560" cy="496931"/>
          </a:xfrm>
          <a:prstGeom prst="rect">
            <a:avLst/>
          </a:prstGeom>
          <a:noFill/>
        </p:spPr>
        <p:txBody>
          <a:bodyPr wrap="square" lIns="91440" tIns="45720" rIns="91440" bIns="45720" anchor="t">
            <a:spAutoFit/>
          </a:bodyPr>
          <a:lstStyle/>
          <a:p>
            <a:pPr>
              <a:lnSpc>
                <a:spcPct val="112000"/>
              </a:lnSpc>
              <a:defRPr/>
            </a:pPr>
            <a:r>
              <a:rPr lang="en-US" sz="1200">
                <a:latin typeface="Aptos"/>
              </a:rPr>
              <a:t>Project Manager :  Rekha Kothandaraman</a:t>
            </a:r>
            <a:endParaRPr lang="en-US">
              <a:latin typeface="Aptos"/>
            </a:endParaRPr>
          </a:p>
          <a:p>
            <a:pPr marR="0" lvl="0" indent="0" fontAlgn="auto">
              <a:lnSpc>
                <a:spcPct val="112000"/>
              </a:lnSpc>
              <a:spcBef>
                <a:spcPts val="0"/>
              </a:spcBef>
              <a:spcAft>
                <a:spcPts val="0"/>
              </a:spcAft>
              <a:buClrTx/>
              <a:buSzTx/>
              <a:buFontTx/>
              <a:buNone/>
              <a:tabLst/>
              <a:defRPr/>
            </a:pPr>
            <a:r>
              <a:rPr lang="en-US" sz="1200" err="1">
                <a:latin typeface="Aptos"/>
              </a:rPr>
              <a:t>OpEx</a:t>
            </a:r>
            <a:r>
              <a:rPr lang="en-US" sz="1200">
                <a:latin typeface="Aptos"/>
              </a:rPr>
              <a:t> Business Lead: Nidia Gudino</a:t>
            </a:r>
          </a:p>
        </p:txBody>
      </p:sp>
    </p:spTree>
    <p:extLst>
      <p:ext uri="{BB962C8B-B14F-4D97-AF65-F5344CB8AC3E}">
        <p14:creationId xmlns:p14="http://schemas.microsoft.com/office/powerpoint/2010/main" val="3480374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nvGraphicFramePr>
        <p:xfrm>
          <a:off x="5570290" y="6298691"/>
          <a:ext cx="6546606" cy="386554"/>
        </p:xfrm>
        <a:graphic>
          <a:graphicData uri="http://schemas.openxmlformats.org/drawingml/2006/table">
            <a:tbl>
              <a:tblPr/>
              <a:tblGrid>
                <a:gridCol w="556271">
                  <a:extLst>
                    <a:ext uri="{9D8B030D-6E8A-4147-A177-3AD203B41FA5}">
                      <a16:colId xmlns:a16="http://schemas.microsoft.com/office/drawing/2014/main" val="20000"/>
                    </a:ext>
                  </a:extLst>
                </a:gridCol>
                <a:gridCol w="281941">
                  <a:extLst>
                    <a:ext uri="{9D8B030D-6E8A-4147-A177-3AD203B41FA5}">
                      <a16:colId xmlns:a16="http://schemas.microsoft.com/office/drawing/2014/main" val="20001"/>
                    </a:ext>
                  </a:extLst>
                </a:gridCol>
                <a:gridCol w="694928">
                  <a:extLst>
                    <a:ext uri="{9D8B030D-6E8A-4147-A177-3AD203B41FA5}">
                      <a16:colId xmlns:a16="http://schemas.microsoft.com/office/drawing/2014/main" val="20002"/>
                    </a:ext>
                  </a:extLst>
                </a:gridCol>
                <a:gridCol w="277768">
                  <a:extLst>
                    <a:ext uri="{9D8B030D-6E8A-4147-A177-3AD203B41FA5}">
                      <a16:colId xmlns:a16="http://schemas.microsoft.com/office/drawing/2014/main" val="20003"/>
                    </a:ext>
                  </a:extLst>
                </a:gridCol>
                <a:gridCol w="610292">
                  <a:extLst>
                    <a:ext uri="{9D8B030D-6E8A-4147-A177-3AD203B41FA5}">
                      <a16:colId xmlns:a16="http://schemas.microsoft.com/office/drawing/2014/main" val="20004"/>
                    </a:ext>
                  </a:extLst>
                </a:gridCol>
                <a:gridCol w="475182">
                  <a:extLst>
                    <a:ext uri="{9D8B030D-6E8A-4147-A177-3AD203B41FA5}">
                      <a16:colId xmlns:a16="http://schemas.microsoft.com/office/drawing/2014/main" val="20005"/>
                    </a:ext>
                  </a:extLst>
                </a:gridCol>
                <a:gridCol w="521454">
                  <a:extLst>
                    <a:ext uri="{9D8B030D-6E8A-4147-A177-3AD203B41FA5}">
                      <a16:colId xmlns:a16="http://schemas.microsoft.com/office/drawing/2014/main" val="20006"/>
                    </a:ext>
                  </a:extLst>
                </a:gridCol>
                <a:gridCol w="338466">
                  <a:extLst>
                    <a:ext uri="{9D8B030D-6E8A-4147-A177-3AD203B41FA5}">
                      <a16:colId xmlns:a16="http://schemas.microsoft.com/office/drawing/2014/main" val="20007"/>
                    </a:ext>
                  </a:extLst>
                </a:gridCol>
                <a:gridCol w="1258533">
                  <a:extLst>
                    <a:ext uri="{9D8B030D-6E8A-4147-A177-3AD203B41FA5}">
                      <a16:colId xmlns:a16="http://schemas.microsoft.com/office/drawing/2014/main" val="20008"/>
                    </a:ext>
                  </a:extLst>
                </a:gridCol>
                <a:gridCol w="346932">
                  <a:extLst>
                    <a:ext uri="{9D8B030D-6E8A-4147-A177-3AD203B41FA5}">
                      <a16:colId xmlns:a16="http://schemas.microsoft.com/office/drawing/2014/main" val="20009"/>
                    </a:ext>
                  </a:extLst>
                </a:gridCol>
                <a:gridCol w="1184839">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9257" y="186479"/>
            <a:ext cx="5855983" cy="517320"/>
          </a:xfrm>
        </p:spPr>
        <p:txBody>
          <a:bodyPr vert="horz">
            <a:noAutofit/>
          </a:bodyPr>
          <a:lstStyle/>
          <a:p>
            <a:r>
              <a:rPr lang="fr-FR">
                <a:solidFill>
                  <a:srgbClr val="29389F"/>
                </a:solidFill>
              </a:rPr>
              <a:t>Data Center Production Migration</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2385038387"/>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08/21/2026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2702646945"/>
              </p:ext>
            </p:extLst>
          </p:nvPr>
        </p:nvGraphicFramePr>
        <p:xfrm>
          <a:off x="6640300" y="927650"/>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666075741"/>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1350646781"/>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7/24/2026 (Cutover)</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8/17/2026 (Retirement)</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2272209998"/>
              </p:ext>
            </p:extLst>
          </p:nvPr>
        </p:nvGraphicFramePr>
        <p:xfrm>
          <a:off x="5570290" y="1963776"/>
          <a:ext cx="6484606" cy="3400318"/>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91226">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Production Cutover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5774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Warranty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4 outstanding defects remaining.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35774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Dallas Retirement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900" b="0" i="0" u="none" strike="noStrike" noProof="0">
                          <a:solidFill>
                            <a:srgbClr val="000000"/>
                          </a:solidFill>
                          <a:latin typeface="Aptos"/>
                        </a:rPr>
                        <a:t>8/13</a:t>
                      </a:r>
                    </a:p>
                    <a:p>
                      <a:pPr lvl="0" algn="ctr">
                        <a:buNone/>
                      </a:pP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29427646"/>
                  </a:ext>
                </a:extLst>
              </a:tr>
              <a:tr h="324770">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Irvine Retirement Completed</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8/17</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704749405"/>
                  </a:ext>
                </a:extLst>
              </a:tr>
              <a:tr h="32477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Retrospective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491871358"/>
                  </a:ext>
                </a:extLst>
              </a:tr>
              <a:tr h="36374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1060909"/>
                  </a:ext>
                </a:extLst>
              </a:tr>
              <a:tr h="334009">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125628"/>
                  </a:ext>
                </a:extLst>
              </a:tr>
              <a:tr h="33400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758640"/>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2487432257"/>
              </p:ext>
            </p:extLst>
          </p:nvPr>
        </p:nvGraphicFramePr>
        <p:xfrm>
          <a:off x="5583499" y="5507330"/>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4072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078441" y="6409672"/>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42028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2012527"/>
            <a:ext cx="5226187" cy="2426562"/>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mn-lt"/>
                <a:cs typeface="+mn-lt"/>
              </a:rPr>
              <a:t>The DCM Migration cutover has implemented on 7/24 successfully.  Physical Server Retirement scheduled to complete on 8/17.  On Schedule</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Highlights: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Data Center Physical Retirement  </a:t>
            </a:r>
          </a:p>
          <a:p>
            <a:pPr marL="628650" lvl="1"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Dallas: 8/10 – 8/13  (Completed)</a:t>
            </a:r>
          </a:p>
          <a:p>
            <a:pPr marL="628650" lvl="1"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Irvine:  8/13 – 8/17</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Four Warranty defects remain outstanding and are being actively addressed. </a:t>
            </a: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Project Retrospective</a:t>
            </a:r>
          </a:p>
        </p:txBody>
      </p:sp>
      <p:sp>
        <p:nvSpPr>
          <p:cNvPr id="18" name="TextBox 17">
            <a:extLst>
              <a:ext uri="{FF2B5EF4-FFF2-40B4-BE49-F238E27FC236}">
                <a16:creationId xmlns:a16="http://schemas.microsoft.com/office/drawing/2014/main" id="{21D33B76-9480-B3DD-5A56-0F37DB3D8563}"/>
              </a:ext>
            </a:extLst>
          </p:cNvPr>
          <p:cNvSpPr txBox="1"/>
          <p:nvPr/>
        </p:nvSpPr>
        <p:spPr>
          <a:xfrm>
            <a:off x="9370344" y="172755"/>
            <a:ext cx="4210510" cy="496931"/>
          </a:xfrm>
          <a:prstGeom prst="rect">
            <a:avLst/>
          </a:prstGeom>
          <a:noFill/>
        </p:spPr>
        <p:txBody>
          <a:bodyPr wrap="none" lIns="0" tIns="0" rIns="0" bIns="0" rtlCol="0" anchor="t">
            <a:noAutofit/>
          </a:bodyPr>
          <a:lstStyle>
            <a:defPPr>
              <a:defRPr lang="en-US"/>
            </a:defPPr>
            <a:lvl1pPr>
              <a:lnSpc>
                <a:spcPct val="112000"/>
              </a:lnSpc>
              <a:defRPr sz="1200">
                <a:latin typeface="Aptos" panose="020B0004020202020204" pitchFamily="34" charset="0"/>
              </a:defRPr>
            </a:lvl1pPr>
          </a:lstStyle>
          <a:p>
            <a:r>
              <a:rPr lang="en-US">
                <a:latin typeface="Aptos"/>
              </a:rPr>
              <a:t>Project Manager : Kinney Barbour</a:t>
            </a:r>
          </a:p>
          <a:p>
            <a:r>
              <a:rPr lang="en-US" err="1">
                <a:latin typeface="Aptos"/>
              </a:rPr>
              <a:t>OpEx</a:t>
            </a:r>
            <a:r>
              <a:rPr lang="en-US">
                <a:latin typeface="Aptos"/>
              </a:rPr>
              <a:t> Business : Melissa Morris</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5BECF816-BF03-1A24-9E22-150488E0E776}"/>
              </a:ext>
            </a:extLst>
          </p:cNvPr>
          <p:cNvSpPr/>
          <p:nvPr/>
        </p:nvSpPr>
        <p:spPr>
          <a:xfrm>
            <a:off x="6155241"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466ECE63-3FCC-CE1A-80CD-E5B21711D1CB}"/>
              </a:ext>
            </a:extLst>
          </p:cNvPr>
          <p:cNvSpPr/>
          <p:nvPr/>
        </p:nvSpPr>
        <p:spPr>
          <a:xfrm>
            <a:off x="5155695"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182732CE-778F-4F42-E246-031DDEF9B1F8}"/>
              </a:ext>
            </a:extLst>
          </p:cNvPr>
          <p:cNvSpPr/>
          <p:nvPr/>
        </p:nvSpPr>
        <p:spPr>
          <a:xfrm>
            <a:off x="3291939"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4224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B2F0-4580-F6C2-5051-5CBC3173A03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2BE4F1F-3225-1E70-24E9-5FFAC76DF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2BE4F1F-3225-1E70-24E9-5FFAC76DF3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63AD4511-D4B7-A078-B036-440C2ACFC8D9}"/>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0502D40-DD86-9371-5DD1-EF34C378EAFF}"/>
              </a:ext>
            </a:extLst>
          </p:cNvPr>
          <p:cNvSpPr>
            <a:spLocks noGrp="1"/>
          </p:cNvSpPr>
          <p:nvPr>
            <p:ph type="title"/>
          </p:nvPr>
        </p:nvSpPr>
        <p:spPr>
          <a:xfrm>
            <a:off x="231954" y="304994"/>
            <a:ext cx="9223030" cy="498410"/>
          </a:xfrm>
        </p:spPr>
        <p:txBody>
          <a:bodyPr vert="horz">
            <a:normAutofit/>
          </a:bodyPr>
          <a:lstStyle/>
          <a:p>
            <a:pPr lvl="0">
              <a:lnSpc>
                <a:spcPct val="100000"/>
              </a:lnSpc>
              <a:defRPr/>
            </a:pPr>
            <a:r>
              <a:rPr lang="sv-SE" sz="2000">
                <a:latin typeface="Times New Roman"/>
                <a:cs typeface="Times New Roman"/>
              </a:rPr>
              <a:t>N</a:t>
            </a:r>
            <a:r>
              <a:rPr lang="sv-SE" sz="2000">
                <a:solidFill>
                  <a:srgbClr val="1C57A5"/>
                </a:solidFill>
                <a:latin typeface="Times New Roman"/>
                <a:cs typeface="Times New Roman"/>
              </a:rPr>
              <a:t>W Pet - </a:t>
            </a:r>
            <a:r>
              <a:rPr lang="en-US" sz="2000">
                <a:solidFill>
                  <a:srgbClr val="1C57A5"/>
                </a:solidFill>
                <a:latin typeface="Times New Roman"/>
                <a:cs typeface="Times New Roman"/>
              </a:rPr>
              <a:t>Update Legacy Portal Interface to UAV3 - CHG0033774 - Deployed</a:t>
            </a:r>
          </a:p>
        </p:txBody>
      </p:sp>
      <p:graphicFrame>
        <p:nvGraphicFramePr>
          <p:cNvPr id="11" name="Group 513">
            <a:extLst>
              <a:ext uri="{FF2B5EF4-FFF2-40B4-BE49-F238E27FC236}">
                <a16:creationId xmlns:a16="http://schemas.microsoft.com/office/drawing/2014/main" id="{05C32E88-CCBE-B044-767A-2F65F050CBDB}"/>
              </a:ext>
            </a:extLst>
          </p:cNvPr>
          <p:cNvGraphicFramePr>
            <a:graphicFrameLocks noGrp="1"/>
          </p:cNvGraphicFramePr>
          <p:nvPr>
            <p:extLst>
              <p:ext uri="{D42A27DB-BD31-4B8C-83A1-F6EECF244321}">
                <p14:modId xmlns:p14="http://schemas.microsoft.com/office/powerpoint/2010/main" val="2879578321"/>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cap="none" normalizeH="0" baseline="0">
                          <a:ln>
                            <a:noFill/>
                          </a:ln>
                          <a:solidFill>
                            <a:schemeClr val="tx1"/>
                          </a:solidFill>
                          <a:effectLst/>
                          <a:latin typeface="Arial"/>
                        </a:rPr>
                        <a:t>08/10/26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7039604-CAFB-9C58-F0B7-F5FBDDBE4895}"/>
              </a:ext>
            </a:extLst>
          </p:cNvPr>
          <p:cNvGraphicFramePr>
            <a:graphicFrameLocks noGrp="1"/>
          </p:cNvGraphicFramePr>
          <p:nvPr/>
        </p:nvGraphicFramePr>
        <p:xfrm>
          <a:off x="6772135"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1050" b="1" kern="1200">
                          <a:solidFill>
                            <a:schemeClr val="tx1"/>
                          </a:solidFill>
                          <a:effectLst/>
                          <a:latin typeface="+mn-lt"/>
                          <a:ea typeface="+mn-ea"/>
                          <a:cs typeface="+mn-cs"/>
                        </a:rPr>
                        <a:t>$</a:t>
                      </a:r>
                      <a:r>
                        <a:rPr lang="en-US" sz="1050" b="0" i="0" u="none" strike="noStrike" kern="1200">
                          <a:solidFill>
                            <a:schemeClr val="dk1"/>
                          </a:solidFill>
                          <a:latin typeface="+mn-lt"/>
                          <a:ea typeface="+mn-ea"/>
                          <a:cs typeface="+mn-cs"/>
                        </a:rPr>
                        <a:t>67,200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050" b="1"/>
                        <a:t>$34,673</a:t>
                      </a: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r>
                        <a:rPr lang="en-US" sz="1050" b="1" kern="1200">
                          <a:solidFill>
                            <a:schemeClr val="tx1"/>
                          </a:solidFill>
                          <a:effectLst/>
                          <a:latin typeface="+mn-lt"/>
                          <a:ea typeface="+mn-ea"/>
                          <a:cs typeface="+mn-cs"/>
                        </a:rPr>
                        <a:t>$20K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050"/>
                        <a:t>$20K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1050" b="0" kern="1200">
                          <a:solidFill>
                            <a:schemeClr val="tx1"/>
                          </a:solidFill>
                          <a:effectLst/>
                          <a:latin typeface="+mn-lt"/>
                          <a:ea typeface="+mn-ea"/>
                          <a:cs typeface="+mn-cs"/>
                        </a:rPr>
                        <a:t>$67K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1F7138E-F5AC-6909-C1EB-40B0D65ABEEC}"/>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51FEE23-0C7F-4105-1A6D-3EC466F78A3B}"/>
              </a:ext>
            </a:extLst>
          </p:cNvPr>
          <p:cNvGraphicFramePr>
            <a:graphicFrameLocks noGrp="1"/>
          </p:cNvGraphicFramePr>
          <p:nvPr/>
        </p:nvGraphicFramePr>
        <p:xfrm>
          <a:off x="231953" y="1271951"/>
          <a:ext cx="2581575" cy="411690"/>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sngStrike">
                          <a:solidFill>
                            <a:schemeClr val="tx1"/>
                          </a:solidFill>
                        </a:rPr>
                        <a:t>May  14 2026</a:t>
                      </a:r>
                    </a:p>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sngStrike">
                          <a:solidFill>
                            <a:schemeClr val="tx1"/>
                          </a:solidFill>
                        </a:rPr>
                        <a:t>May 20</a:t>
                      </a:r>
                      <a:r>
                        <a:rPr lang="en-US" sz="700" b="1" strike="sngStrike" baseline="30000">
                          <a:solidFill>
                            <a:schemeClr val="tx1"/>
                          </a:solidFill>
                        </a:rPr>
                        <a:t>   </a:t>
                      </a:r>
                      <a:r>
                        <a:rPr lang="en-US" sz="700" b="1" strike="sngStrike">
                          <a:solidFill>
                            <a:schemeClr val="tx1"/>
                          </a:solidFill>
                        </a:rPr>
                        <a:t>2026</a:t>
                      </a:r>
                    </a:p>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noStrike">
                          <a:solidFill>
                            <a:schemeClr val="tx1"/>
                          </a:solidFill>
                        </a:rPr>
                        <a:t>Aug 5</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A8260D5-6AA9-D2C1-CE5B-005266EC586F}"/>
              </a:ext>
            </a:extLst>
          </p:cNvPr>
          <p:cNvGraphicFramePr>
            <a:graphicFrameLocks noGrp="1"/>
          </p:cNvGraphicFramePr>
          <p:nvPr>
            <p:extLst>
              <p:ext uri="{D42A27DB-BD31-4B8C-83A1-F6EECF244321}">
                <p14:modId xmlns:p14="http://schemas.microsoft.com/office/powerpoint/2010/main" val="768863231"/>
              </p:ext>
            </p:extLst>
          </p:nvPr>
        </p:nvGraphicFramePr>
        <p:xfrm>
          <a:off x="4854769" y="1696099"/>
          <a:ext cx="7269726" cy="2205487"/>
        </p:xfrm>
        <a:graphic>
          <a:graphicData uri="http://schemas.openxmlformats.org/drawingml/2006/table">
            <a:tbl>
              <a:tblPr>
                <a:tableStyleId>{5C22544A-7EE6-4342-B048-85BDC9FD1C3A}</a:tableStyleId>
              </a:tblPr>
              <a:tblGrid>
                <a:gridCol w="2660865">
                  <a:extLst>
                    <a:ext uri="{9D8B030D-6E8A-4147-A177-3AD203B41FA5}">
                      <a16:colId xmlns:a16="http://schemas.microsoft.com/office/drawing/2014/main" val="2456552316"/>
                    </a:ext>
                  </a:extLst>
                </a:gridCol>
                <a:gridCol w="399341">
                  <a:extLst>
                    <a:ext uri="{9D8B030D-6E8A-4147-A177-3AD203B41FA5}">
                      <a16:colId xmlns:a16="http://schemas.microsoft.com/office/drawing/2014/main" val="1100051595"/>
                    </a:ext>
                  </a:extLst>
                </a:gridCol>
                <a:gridCol w="435275">
                  <a:extLst>
                    <a:ext uri="{9D8B030D-6E8A-4147-A177-3AD203B41FA5}">
                      <a16:colId xmlns:a16="http://schemas.microsoft.com/office/drawing/2014/main" val="2042261034"/>
                    </a:ext>
                  </a:extLst>
                </a:gridCol>
                <a:gridCol w="377424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r>
                        <a:rPr lang="en-US" sz="850" b="1">
                          <a:solidFill>
                            <a:schemeClr val="tx1"/>
                          </a:solidFill>
                          <a:latin typeface="Aptos" panose="020B0004020202020204" pitchFamily="34" charset="0"/>
                        </a:rPr>
                        <a:t>Scope and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r>
                        <a:rPr lang="en-US" sz="850" b="1">
                          <a:solidFill>
                            <a:schemeClr val="tx1"/>
                          </a:solidFill>
                          <a:latin typeface="Aptos" panose="020B0004020202020204" pitchFamily="34" charset="0"/>
                        </a:rPr>
                        <a:t>Design Doc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Aptos" panose="020B0004020202020204" pitchFamily="34" charset="0"/>
                        </a:rPr>
                        <a:t>I</a:t>
                      </a:r>
                      <a:r>
                        <a:rPr lang="en-US" sz="850" b="0" i="0" u="none" strike="noStrike" kern="100" noProof="0">
                          <a:solidFill>
                            <a:schemeClr val="dk1"/>
                          </a:solidFill>
                          <a:effectLst/>
                          <a:latin typeface="Aptos" panose="020B0004020202020204" pitchFamily="34" charset="0"/>
                          <a:ea typeface="+mn-ea"/>
                          <a:cs typeface="+mn-cs"/>
                        </a:rPr>
                        <a:t>ncorporated BDE 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r>
                        <a:rPr lang="en-US" sz="850" b="1">
                          <a:solidFill>
                            <a:schemeClr val="tx1"/>
                          </a:solidFill>
                          <a:latin typeface="Aptos" panose="020B0004020202020204" pitchFamily="34" charset="0"/>
                        </a:rPr>
                        <a:t>Detailed Plan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Aptos" panose="020B0004020202020204" pitchFamily="34" charset="0"/>
                        </a:rPr>
                        <a:t>Scott (TA) to deliver; Nidia met with Scott on 1/30 to support Epic creations.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r>
                        <a:rPr lang="en-US" sz="850" b="1">
                          <a:solidFill>
                            <a:schemeClr val="tx1"/>
                          </a:solidFill>
                          <a:latin typeface="Aptos" panose="020B0004020202020204" pitchFamily="34" charset="0"/>
                        </a:rPr>
                        <a:t>Dev  &amp;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 </a:t>
                      </a: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Aptos" panose="020B0004020202020204" pitchFamily="34" charset="0"/>
                          <a:cs typeface="Times New Roman"/>
                        </a:rPr>
                        <a:t>Josh shared with IT teams on  2/23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r>
                        <a:rPr lang="en-US" sz="850" b="1">
                          <a:solidFill>
                            <a:schemeClr val="tx1"/>
                          </a:solidFill>
                          <a:latin typeface="Aptos" panose="020B0004020202020204" pitchFamily="34" charset="0"/>
                        </a:rPr>
                        <a:t>UNAM Regression testing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Times New Roman"/>
                        </a:rPr>
                        <a:t>Line estimates are being received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Aptos" panose="020B0004020202020204" pitchFamily="34" charset="0"/>
                          <a:ea typeface="+mn-ea"/>
                          <a:cs typeface="+mn-cs"/>
                        </a:rPr>
                        <a:t>This failed after all the testing is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97C636B1-8A8C-80E1-F679-341FF24354AC}"/>
              </a:ext>
            </a:extLst>
          </p:cNvPr>
          <p:cNvGraphicFramePr>
            <a:graphicFrameLocks noGrp="1"/>
          </p:cNvGraphicFramePr>
          <p:nvPr>
            <p:extLst>
              <p:ext uri="{D42A27DB-BD31-4B8C-83A1-F6EECF244321}">
                <p14:modId xmlns:p14="http://schemas.microsoft.com/office/powerpoint/2010/main" val="3448378415"/>
              </p:ext>
            </p:extLst>
          </p:nvPr>
        </p:nvGraphicFramePr>
        <p:xfrm>
          <a:off x="4854769" y="3941472"/>
          <a:ext cx="7254527" cy="1890857"/>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40126">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During final testing in staging, the connectivity failed and didn’t pass testing as the APIs failed to connect in the back end</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6/30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API issues, Payment issues were resolved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7499024"/>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There is one open issue where NW Mobile app not able to use SSO for login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Portal team is looking into the issue and expected the fix.</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This issue has been resolved and got sign off</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61305726"/>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UNAM issue reported where Email is not enrolled with policy</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7/28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Aptos" panose="020B0004020202020204" pitchFamily="34" charset="0"/>
                          <a:ea typeface="+mn-ea"/>
                          <a:cs typeface="+mn-cs"/>
                        </a:rPr>
                        <a:t>UNUM data issue reported functional wise its good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3870397"/>
                  </a:ext>
                </a:extLst>
              </a:tr>
            </a:tbl>
          </a:graphicData>
        </a:graphic>
      </p:graphicFrame>
      <p:sp>
        <p:nvSpPr>
          <p:cNvPr id="33" name="Flowchart: Connector 32">
            <a:extLst>
              <a:ext uri="{FF2B5EF4-FFF2-40B4-BE49-F238E27FC236}">
                <a16:creationId xmlns:a16="http://schemas.microsoft.com/office/drawing/2014/main" id="{4C96F16B-6E83-671A-C1F0-6DB67391875D}"/>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6DD89E1-3EF1-B72A-651E-530BA4972946}"/>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99167821-28DD-864D-841C-B2D608F91D56}"/>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C650BE7-C202-3CD4-452D-101D29FED8D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2413875C-412C-45CD-14CA-650C16441BEA}"/>
              </a:ext>
            </a:extLst>
          </p:cNvPr>
          <p:cNvSpPr txBox="1"/>
          <p:nvPr/>
        </p:nvSpPr>
        <p:spPr>
          <a:xfrm>
            <a:off x="111476" y="1707676"/>
            <a:ext cx="4727581" cy="458593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50" b="1">
                <a:solidFill>
                  <a:prstClr val="black"/>
                </a:solidFill>
                <a:latin typeface="Aptos" panose="020B0004020202020204" pitchFamily="34" charset="0"/>
              </a:rPr>
              <a:t>RED status is as the delivery date was moved multiple times due to change in firewall Keys and testing not passed in staging.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Go to Green: Confirmed the change for 5</a:t>
            </a:r>
            <a:r>
              <a:rPr kumimoji="0" lang="en-US" sz="850" b="1" i="0" u="none" strike="noStrike" kern="1200" cap="none" spc="0" normalizeH="0" baseline="30000" noProof="0">
                <a:ln>
                  <a:noFill/>
                </a:ln>
                <a:solidFill>
                  <a:prstClr val="black"/>
                </a:solidFill>
                <a:effectLst/>
                <a:uLnTx/>
                <a:uFillTx/>
                <a:latin typeface="Aptos" panose="020B0004020202020204" pitchFamily="34" charset="0"/>
              </a:rPr>
              <a:t>th</a:t>
            </a:r>
            <a:r>
              <a:rPr kumimoji="0" lang="en-US" sz="850" b="1" i="0" u="none" strike="noStrike" kern="1200" cap="none" spc="0" normalizeH="0" baseline="0" noProof="0">
                <a:ln>
                  <a:noFill/>
                </a:ln>
                <a:solidFill>
                  <a:prstClr val="black"/>
                </a:solidFill>
                <a:effectLst/>
                <a:uLnTx/>
                <a:uFillTx/>
                <a:latin typeface="Aptos" panose="020B0004020202020204" pitchFamily="34" charset="0"/>
              </a:rPr>
              <a:t> Aug all testing passed and got Go decision.</a:t>
            </a:r>
          </a:p>
          <a:p>
            <a:pPr lvl="0">
              <a:spcBef>
                <a:spcPts val="200"/>
              </a:spcBef>
            </a:pPr>
            <a:r>
              <a:rPr lang="en-US" sz="850" b="1">
                <a:solidFill>
                  <a:schemeClr val="dk1"/>
                </a:solidFill>
                <a:latin typeface="Aptos" panose="020B0004020202020204" pitchFamily="34" charset="0"/>
              </a:rPr>
              <a:t>The project aims to upgrade from EUA V2 to EUA V3 for portal authentication. This upgrade is intended to remove dependencies on legacy systems, specifically Legacy CAM and Legacy IM.</a:t>
            </a:r>
          </a:p>
          <a:p>
            <a:pPr lvl="0">
              <a:spcBef>
                <a:spcPts val="200"/>
              </a:spcBef>
            </a:pPr>
            <a:r>
              <a:rPr lang="en-US" sz="850" b="1" i="0" u="none" strike="noStrike" noProof="0">
                <a:highlight>
                  <a:srgbClr val="C0C0C0"/>
                </a:highlight>
                <a:latin typeface="Aptos" panose="020B0004020202020204" pitchFamily="34" charset="0"/>
              </a:rPr>
              <a:t>Scope:</a:t>
            </a:r>
          </a:p>
          <a:p>
            <a:pPr marL="171450" lvl="0" indent="-171450">
              <a:spcBef>
                <a:spcPts val="200"/>
              </a:spcBef>
              <a:buFont typeface="Arial" panose="05000000000000000000" pitchFamily="2" charset="2"/>
              <a:buChar char="•"/>
            </a:pPr>
            <a:r>
              <a:rPr lang="en-US" sz="850" b="0" i="0" u="none" strike="noStrike" noProof="0">
                <a:latin typeface="Aptos" panose="020B0004020202020204" pitchFamily="34" charset="0"/>
              </a:rPr>
              <a:t>Scope has been identified and locked</a:t>
            </a:r>
          </a:p>
          <a:p>
            <a:pPr lvl="0">
              <a:spcBef>
                <a:spcPts val="200"/>
              </a:spcBef>
            </a:pPr>
            <a:r>
              <a:rPr lang="en-US" sz="850" b="1" i="0" u="none" strike="noStrike" noProof="0">
                <a:highlight>
                  <a:srgbClr val="C0C0C0"/>
                </a:highlight>
                <a:latin typeface="Aptos" panose="020B0004020202020204" pitchFamily="34" charset="0"/>
              </a:rPr>
              <a:t>Planning:</a:t>
            </a:r>
          </a:p>
          <a:p>
            <a:pPr marL="171450" lvl="0" indent="-171450">
              <a:spcBef>
                <a:spcPts val="200"/>
              </a:spcBef>
              <a:buFont typeface="Arial" panose="05000000000000000000" pitchFamily="2" charset="2"/>
              <a:buChar char="•"/>
            </a:pPr>
            <a:r>
              <a:rPr lang="en-US" sz="850" b="0" i="0" u="none" strike="noStrike" noProof="0">
                <a:latin typeface="Aptos" panose="020B0004020202020204" pitchFamily="34" charset="0"/>
              </a:rPr>
              <a:t>Will work with TB team to confirm the plan once the technical document is published</a:t>
            </a:r>
          </a:p>
          <a:p>
            <a:pPr lvl="0">
              <a:spcBef>
                <a:spcPts val="200"/>
              </a:spcBef>
            </a:pPr>
            <a:r>
              <a:rPr lang="en-US" sz="850" b="1" i="0" u="none" strike="noStrike" noProof="0">
                <a:highlight>
                  <a:srgbClr val="C0C0C0"/>
                </a:highlight>
                <a:latin typeface="Aptos" panose="020B0004020202020204" pitchFamily="34" charset="0"/>
              </a:rPr>
              <a:t>Current state</a:t>
            </a:r>
            <a:r>
              <a:rPr lang="en-US" sz="850" b="0" i="0" u="none" strike="noStrike" noProof="0">
                <a:highlight>
                  <a:srgbClr val="C0C0C0"/>
                </a:highlight>
                <a:latin typeface="Aptos" panose="020B0004020202020204" pitchFamily="34" charset="0"/>
              </a:rPr>
              <a:t>: </a:t>
            </a:r>
          </a:p>
          <a:p>
            <a:pPr marL="171450" lvl="0" indent="-171450">
              <a:spcBef>
                <a:spcPts val="200"/>
              </a:spcBef>
              <a:buFont typeface="Arial" panose="020B0604020202020204" pitchFamily="34" charset="0"/>
              <a:buChar char="•"/>
            </a:pPr>
            <a:r>
              <a:rPr lang="en-US" sz="850" b="0" i="0" u="none" strike="noStrike" noProof="0">
                <a:latin typeface="Aptos" panose="020B0004020202020204" pitchFamily="34" charset="0"/>
              </a:rPr>
              <a:t>Development in progress. Planned completion 03/31 Complete</a:t>
            </a:r>
          </a:p>
          <a:p>
            <a:pPr marL="171450" lvl="0" indent="-171450">
              <a:spcBef>
                <a:spcPts val="200"/>
              </a:spcBef>
              <a:buFont typeface="Arial" panose="020B0604020202020204" pitchFamily="34" charset="0"/>
              <a:buChar char="•"/>
            </a:pPr>
            <a:r>
              <a:rPr lang="en-US" sz="850" b="0" i="0" u="none" strike="noStrike" noProof="0">
                <a:latin typeface="Aptos" panose="020B0004020202020204" pitchFamily="34" charset="0"/>
              </a:rPr>
              <a:t>Testing - 4/16  Complete</a:t>
            </a:r>
          </a:p>
          <a:p>
            <a:pPr marL="171450" lvl="0" indent="-171450">
              <a:spcBef>
                <a:spcPts val="200"/>
              </a:spcBef>
              <a:buFont typeface="Arial" panose="020B0604020202020204" pitchFamily="34" charset="0"/>
              <a:buChar char="•"/>
            </a:pPr>
            <a:r>
              <a:rPr lang="en-US" sz="850" b="0" i="0" u="none" strike="noStrike" noProof="0">
                <a:latin typeface="Aptos" panose="020B0004020202020204" pitchFamily="34" charset="0"/>
              </a:rPr>
              <a:t>Inter E2E testing c. Complete</a:t>
            </a:r>
          </a:p>
          <a:p>
            <a:pPr marL="171450" lvl="0" indent="-171450">
              <a:spcBef>
                <a:spcPts val="200"/>
              </a:spcBef>
              <a:buFont typeface="Arial" panose="020B0604020202020204" pitchFamily="34" charset="0"/>
              <a:buChar char="•"/>
            </a:pPr>
            <a:r>
              <a:rPr lang="en-US" sz="850" b="0" i="0" u="none" strike="noStrike" noProof="0">
                <a:latin typeface="Aptos" panose="020B0004020202020204" pitchFamily="34" charset="0"/>
              </a:rPr>
              <a:t>UNAM testing by 04/24 Complete</a:t>
            </a:r>
          </a:p>
          <a:p>
            <a:pPr marL="171450" lvl="0" indent="-171450">
              <a:spcBef>
                <a:spcPts val="200"/>
              </a:spcBef>
              <a:buFont typeface="Arial" panose="020B0604020202020204" pitchFamily="34" charset="0"/>
              <a:buChar char="•"/>
              <a:defRPr/>
            </a:pPr>
            <a:r>
              <a:rPr lang="en-US" sz="850">
                <a:latin typeface="Aptos" panose="020B0004020202020204" pitchFamily="34" charset="0"/>
              </a:rPr>
              <a:t>Team has completed E2E testing and ready for UNAM regression testing  requested.</a:t>
            </a:r>
          </a:p>
          <a:p>
            <a:pPr marL="171450" indent="-171450">
              <a:spcBef>
                <a:spcPts val="200"/>
              </a:spcBef>
              <a:buFont typeface="Arial" panose="020B0604020202020204" pitchFamily="34" charset="0"/>
              <a:buChar char="•"/>
              <a:defRPr/>
            </a:pPr>
            <a:r>
              <a:rPr lang="en-US" sz="850" kern="100">
                <a:solidFill>
                  <a:prstClr val="black"/>
                </a:solidFill>
                <a:latin typeface="Aptos" panose="020B0004020202020204" pitchFamily="34" charset="0"/>
                <a:cs typeface="Times New Roman"/>
              </a:rPr>
              <a:t>API related issues were resolved  by MIM team</a:t>
            </a:r>
          </a:p>
          <a:p>
            <a:pPr marL="171450" indent="-171450">
              <a:spcBef>
                <a:spcPts val="200"/>
              </a:spcBef>
              <a:buFont typeface="Arial" panose="020B0604020202020204" pitchFamily="34" charset="0"/>
              <a:buChar char="•"/>
              <a:defRPr/>
            </a:pPr>
            <a:r>
              <a:rPr lang="en-US" sz="850" kern="100">
                <a:solidFill>
                  <a:prstClr val="black"/>
                </a:solidFill>
                <a:latin typeface="Aptos" panose="020B0004020202020204" pitchFamily="34" charset="0"/>
                <a:cs typeface="Times New Roman"/>
              </a:rPr>
              <a:t>This has been deployed and validated, Warranty period ends Sep 5</a:t>
            </a:r>
            <a:endParaRPr lang="en-US" sz="850">
              <a:latin typeface="Aptos" panose="020B0004020202020204" pitchFamily="34" charset="0"/>
            </a:endParaRPr>
          </a:p>
          <a:p>
            <a:pPr lvl="0">
              <a:spcBef>
                <a:spcPts val="200"/>
              </a:spcBef>
            </a:pPr>
            <a:r>
              <a:rPr lang="en-US" sz="850" b="1" i="0" u="none" strike="noStrike" noProof="0">
                <a:highlight>
                  <a:srgbClr val="C0C0C0"/>
                </a:highlight>
                <a:latin typeface="Aptos" panose="020B0004020202020204" pitchFamily="34" charset="0"/>
              </a:rPr>
              <a:t>Target Q1/Q2 2026 </a:t>
            </a:r>
          </a:p>
          <a:p>
            <a:pPr marL="171450" indent="-171450">
              <a:spcBef>
                <a:spcPts val="200"/>
              </a:spcBef>
              <a:buFont typeface="Arial" panose="05000000000000000000" pitchFamily="2" charset="2"/>
              <a:buChar char="•"/>
            </a:pPr>
            <a:r>
              <a:rPr lang="en-US" sz="850" b="0" i="0" u="none" strike="noStrike" noProof="0">
                <a:latin typeface="Aptos" panose="020B0004020202020204" pitchFamily="34" charset="0"/>
              </a:rPr>
              <a:t>Target delivery date </a:t>
            </a:r>
            <a:r>
              <a:rPr lang="en-US" sz="850">
                <a:latin typeface="Aptos" panose="020B0004020202020204" pitchFamily="34" charset="0"/>
              </a:rPr>
              <a:t>was 5/13.l</a:t>
            </a:r>
            <a:r>
              <a:rPr lang="en-US" sz="850" b="0" i="0" u="none" strike="noStrike" noProof="0">
                <a:latin typeface="Aptos" panose="020B0004020202020204" pitchFamily="34" charset="0"/>
              </a:rPr>
              <a:t> Went on hold as testing</a:t>
            </a:r>
            <a:r>
              <a:rPr lang="en-US" sz="850">
                <a:latin typeface="Aptos" panose="020B0004020202020204" pitchFamily="34" charset="0"/>
              </a:rPr>
              <a:t> did</a:t>
            </a:r>
            <a:r>
              <a:rPr lang="en-US" sz="850" b="0" i="0" u="none" strike="noStrike" noProof="0">
                <a:latin typeface="Aptos" panose="020B0004020202020204" pitchFamily="34" charset="0"/>
              </a:rPr>
              <a:t> not pass.</a:t>
            </a:r>
            <a:endParaRPr lang="en-US" sz="850" b="0" i="0" u="none" strike="noStrike" noProof="0">
              <a:latin typeface="Aptos" panose="020B0004020202020204" pitchFamily="34" charset="0"/>
              <a:cs typeface="Arial"/>
            </a:endParaRPr>
          </a:p>
          <a:p>
            <a:pPr marL="171450" lvl="0" indent="-171450">
              <a:spcBef>
                <a:spcPts val="200"/>
              </a:spcBef>
              <a:buFont typeface="Arial" panose="05000000000000000000" pitchFamily="2" charset="2"/>
              <a:buChar char="•"/>
            </a:pPr>
            <a:r>
              <a:rPr lang="en-US" sz="850">
                <a:latin typeface="Aptos" panose="020B0004020202020204" pitchFamily="34" charset="0"/>
              </a:rPr>
              <a:t>Next target date not confirmed; tentative date July 17</a:t>
            </a:r>
            <a:r>
              <a:rPr lang="en-US" sz="850" baseline="30000">
                <a:latin typeface="Aptos" panose="020B0004020202020204" pitchFamily="34" charset="0"/>
              </a:rPr>
              <a:t>th</a:t>
            </a:r>
            <a:endParaRPr lang="en-US" sz="850">
              <a:latin typeface="Aptos" panose="020B0004020202020204" pitchFamily="34" charset="0"/>
            </a:endParaRPr>
          </a:p>
          <a:p>
            <a:pPr marL="171450" lvl="0" indent="-171450">
              <a:spcBef>
                <a:spcPts val="200"/>
              </a:spcBef>
              <a:buFont typeface="Arial" panose="05000000000000000000" pitchFamily="2" charset="2"/>
              <a:buChar char="•"/>
            </a:pPr>
            <a:r>
              <a:rPr lang="en-US" sz="850" b="0" i="0" u="none" strike="noStrike" noProof="0">
                <a:latin typeface="Aptos" panose="020B0004020202020204" pitchFamily="34" charset="0"/>
              </a:rPr>
              <a:t>Go </a:t>
            </a:r>
            <a:r>
              <a:rPr lang="en-US" sz="850">
                <a:latin typeface="Aptos" panose="020B0004020202020204" pitchFamily="34" charset="0"/>
              </a:rPr>
              <a:t>No</a:t>
            </a:r>
            <a:r>
              <a:rPr lang="en-US" sz="850" b="0" i="0" u="none" strike="noStrike" noProof="0">
                <a:latin typeface="Aptos" panose="020B0004020202020204" pitchFamily="34" charset="0"/>
              </a:rPr>
              <a:t> Go scheduled on July 13</a:t>
            </a:r>
            <a:r>
              <a:rPr lang="en-US" sz="850" b="0" i="0" u="none" strike="noStrike" baseline="30000" noProof="0">
                <a:latin typeface="Aptos" panose="020B0004020202020204" pitchFamily="34" charset="0"/>
              </a:rPr>
              <a:t>th</a:t>
            </a:r>
            <a:r>
              <a:rPr lang="en-US" sz="850" b="0" i="0" u="none" strike="noStrike" noProof="0">
                <a:latin typeface="Aptos" panose="020B0004020202020204" pitchFamily="34" charset="0"/>
              </a:rPr>
              <a:t> to take a call</a:t>
            </a:r>
            <a:endParaRPr lang="en-US" sz="850" b="0" i="0" u="none" strike="noStrike" noProof="0">
              <a:highlight>
                <a:srgbClr val="00FF00"/>
              </a:highlight>
              <a:latin typeface="Aptos" panose="020B0004020202020204" pitchFamily="34" charset="0"/>
              <a:cs typeface="Arial"/>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Separate working session planned to fix the technical glitch.</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UNAM testing has been initiated and issue reports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Testing has been completed and no issues reported In relates to login and log off.</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Portal team to come up with resolution and schedule.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Sign off received from QA and staging</a:t>
            </a:r>
            <a:endParaRPr kumimoji="0" lang="en-US" sz="850" b="1" i="0" u="sng"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p:txBody>
      </p:sp>
      <p:sp>
        <p:nvSpPr>
          <p:cNvPr id="3" name="TextBox 2">
            <a:extLst>
              <a:ext uri="{FF2B5EF4-FFF2-40B4-BE49-F238E27FC236}">
                <a16:creationId xmlns:a16="http://schemas.microsoft.com/office/drawing/2014/main" id="{12F01CC3-8F92-1A23-46A6-1A29B14CDD7C}"/>
              </a:ext>
            </a:extLst>
          </p:cNvPr>
          <p:cNvSpPr txBox="1"/>
          <p:nvPr/>
        </p:nvSpPr>
        <p:spPr>
          <a:xfrm>
            <a:off x="9515820" y="56135"/>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t>
            </a:r>
            <a:r>
              <a:rPr lang="en-US" sz="1200">
                <a:solidFill>
                  <a:prstClr val="black"/>
                </a:solidFill>
                <a:latin typeface="Aptos" panose="02110004020202020204"/>
              </a:rPr>
              <a: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Chalam Buddha</a:t>
            </a:r>
            <a:endParaRPr lang="en-US">
              <a:solidFill>
                <a:prstClr val="black"/>
              </a:solidFill>
              <a:ea typeface="+mn-ea"/>
              <a:cs typeface="+mn-cs"/>
            </a:endParaRPr>
          </a:p>
        </p:txBody>
      </p:sp>
      <p:sp>
        <p:nvSpPr>
          <p:cNvPr id="6" name="Flowchart: Connector 5">
            <a:extLst>
              <a:ext uri="{FF2B5EF4-FFF2-40B4-BE49-F238E27FC236}">
                <a16:creationId xmlns:a16="http://schemas.microsoft.com/office/drawing/2014/main" id="{05BDBAFC-9521-DB4F-4BCA-291F8B06BEE8}"/>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8103F710-B0AF-B10E-563F-24AF16C6C215}"/>
              </a:ext>
            </a:extLst>
          </p:cNvPr>
          <p:cNvSpPr/>
          <p:nvPr/>
        </p:nvSpPr>
        <p:spPr>
          <a:xfrm>
            <a:off x="5219216" y="1406342"/>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E77AF664-5B57-9E6D-C471-A42B3CD72DDC}"/>
              </a:ext>
            </a:extLst>
          </p:cNvPr>
          <p:cNvSpPr/>
          <p:nvPr/>
        </p:nvSpPr>
        <p:spPr>
          <a:xfrm>
            <a:off x="3341791"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16957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96B60-704E-CFBE-772F-D3368F90836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EFF476-14AD-B8C4-464E-6CD6D3D2A6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6" name="Object 5" hidden="1">
                        <a:extLst>
                          <a:ext uri="{FF2B5EF4-FFF2-40B4-BE49-F238E27FC236}">
                            <a16:creationId xmlns:a16="http://schemas.microsoft.com/office/drawing/2014/main" id="{71EFF476-14AD-B8C4-464E-6CD6D3D2A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27486642-4B50-6048-DBAA-772C75E3AA99}"/>
              </a:ext>
            </a:extLst>
          </p:cNvPr>
          <p:cNvGraphicFramePr>
            <a:graphicFrameLocks noGrp="1"/>
          </p:cNvGraphicFramePr>
          <p:nvPr/>
        </p:nvGraphicFramePr>
        <p:xfrm>
          <a:off x="278340" y="399445"/>
          <a:ext cx="11477855" cy="917291"/>
        </p:xfrm>
        <a:graphic>
          <a:graphicData uri="http://schemas.openxmlformats.org/drawingml/2006/table">
            <a:tbl>
              <a:tblPr firstRow="1" bandRow="1">
                <a:tableStyleId>{5C22544A-7EE6-4342-B048-85BDC9FD1C3A}</a:tableStyleId>
              </a:tblPr>
              <a:tblGrid>
                <a:gridCol w="2018885">
                  <a:extLst>
                    <a:ext uri="{9D8B030D-6E8A-4147-A177-3AD203B41FA5}">
                      <a16:colId xmlns:a16="http://schemas.microsoft.com/office/drawing/2014/main" val="2968135294"/>
                    </a:ext>
                  </a:extLst>
                </a:gridCol>
                <a:gridCol w="1921743">
                  <a:extLst>
                    <a:ext uri="{9D8B030D-6E8A-4147-A177-3AD203B41FA5}">
                      <a16:colId xmlns:a16="http://schemas.microsoft.com/office/drawing/2014/main" val="1347475742"/>
                    </a:ext>
                  </a:extLst>
                </a:gridCol>
                <a:gridCol w="2225468">
                  <a:extLst>
                    <a:ext uri="{9D8B030D-6E8A-4147-A177-3AD203B41FA5}">
                      <a16:colId xmlns:a16="http://schemas.microsoft.com/office/drawing/2014/main" val="713459860"/>
                    </a:ext>
                  </a:extLst>
                </a:gridCol>
                <a:gridCol w="1663435">
                  <a:extLst>
                    <a:ext uri="{9D8B030D-6E8A-4147-A177-3AD203B41FA5}">
                      <a16:colId xmlns:a16="http://schemas.microsoft.com/office/drawing/2014/main" val="1083633558"/>
                    </a:ext>
                  </a:extLst>
                </a:gridCol>
                <a:gridCol w="1856068">
                  <a:extLst>
                    <a:ext uri="{9D8B030D-6E8A-4147-A177-3AD203B41FA5}">
                      <a16:colId xmlns:a16="http://schemas.microsoft.com/office/drawing/2014/main" val="3644672930"/>
                    </a:ext>
                  </a:extLst>
                </a:gridCol>
                <a:gridCol w="1792256">
                  <a:extLst>
                    <a:ext uri="{9D8B030D-6E8A-4147-A177-3AD203B41FA5}">
                      <a16:colId xmlns:a16="http://schemas.microsoft.com/office/drawing/2014/main" val="810249917"/>
                    </a:ext>
                  </a:extLst>
                </a:gridCol>
              </a:tblGrid>
              <a:tr h="269582">
                <a:tc gridSpan="6">
                  <a:txBody>
                    <a:bodyPr/>
                    <a:lstStyle/>
                    <a:p>
                      <a:pPr marL="0" marR="0" lvl="0" indent="0" algn="l">
                        <a:lnSpc>
                          <a:spcPct val="100000"/>
                        </a:lnSpc>
                        <a:spcBef>
                          <a:spcPts val="0"/>
                        </a:spcBef>
                        <a:spcAft>
                          <a:spcPts val="0"/>
                        </a:spcAft>
                        <a:buNone/>
                      </a:pPr>
                      <a:r>
                        <a:rPr lang="sv-SE" sz="1800" b="0" i="0" kern="1200">
                          <a:solidFill>
                            <a:schemeClr val="lt1"/>
                          </a:solidFill>
                          <a:effectLst/>
                          <a:latin typeface="+mn-lt"/>
                          <a:ea typeface="+mn-ea"/>
                          <a:cs typeface="+mn-cs"/>
                        </a:rPr>
                        <a:t>NW Pet - GW Cloud Platform Migration - Complete GWCP Migration - March</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endParaRPr lang="en-US" sz="18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sz="1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sz="1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8210663"/>
                  </a:ext>
                </a:extLst>
              </a:tr>
              <a:tr h="194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Executive Sponsor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IT Delivery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Business Delivery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Solution Architect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Tech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1" kern="1200">
                          <a:solidFill>
                            <a:schemeClr val="bg1">
                              <a:lumMod val="95000"/>
                            </a:schemeClr>
                          </a:solidFill>
                          <a:latin typeface="+mn-lt"/>
                          <a:ea typeface="+mn-ea"/>
                          <a:cs typeface="+mn-cs"/>
                        </a:rPr>
                        <a:t>QE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068466500"/>
                  </a:ext>
                </a:extLst>
              </a:tr>
              <a:tr h="307691">
                <a:tc>
                  <a:txBody>
                    <a:bodyPr/>
                    <a:lstStyle/>
                    <a:p>
                      <a:pPr lvl="0" algn="ctr">
                        <a:buNone/>
                      </a:pPr>
                      <a:r>
                        <a:rPr lang="en-US" sz="1000" b="1" kern="1200">
                          <a:solidFill>
                            <a:schemeClr val="tx1"/>
                          </a:solidFill>
                          <a:latin typeface="+mn-lt"/>
                          <a:ea typeface="+mn-ea"/>
                          <a:cs typeface="+mn-cs"/>
                        </a:rPr>
                        <a:t>Braden Love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Charles Hopper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Sastry Samavedam</a:t>
                      </a:r>
                      <a:endParaRPr lang="en-US" sz="1000" b="1" kern="1200" err="1">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1" kern="1200">
                          <a:solidFill>
                            <a:schemeClr val="tx1"/>
                          </a:solidFill>
                          <a:latin typeface="+mn-lt"/>
                          <a:ea typeface="+mn-ea"/>
                          <a:cs typeface="+mn-cs"/>
                        </a:rPr>
                        <a:t>Kiran Guniganti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Anuja Salgar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latinLnBrk="0" hangingPunct="1">
                        <a:lnSpc>
                          <a:spcPct val="100000"/>
                        </a:lnSpc>
                        <a:spcBef>
                          <a:spcPts val="0"/>
                        </a:spcBef>
                        <a:spcAft>
                          <a:spcPts val="0"/>
                        </a:spcAft>
                        <a:buNone/>
                      </a:pPr>
                      <a:r>
                        <a:rPr lang="en-US" sz="1000" b="1" kern="1200">
                          <a:solidFill>
                            <a:schemeClr val="tx1"/>
                          </a:solidFill>
                          <a:latin typeface="+mn-lt"/>
                          <a:ea typeface="+mn-ea"/>
                          <a:cs typeface="+mn-cs"/>
                        </a:rPr>
                        <a:t>Lisa 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0535"/>
                  </a:ext>
                </a:extLst>
              </a:tr>
            </a:tbl>
          </a:graphicData>
        </a:graphic>
      </p:graphicFrame>
      <p:graphicFrame>
        <p:nvGraphicFramePr>
          <p:cNvPr id="24" name="Table 23">
            <a:extLst>
              <a:ext uri="{FF2B5EF4-FFF2-40B4-BE49-F238E27FC236}">
                <a16:creationId xmlns:a16="http://schemas.microsoft.com/office/drawing/2014/main" id="{88FC4C9F-0108-A798-CACE-68D56F62ACEE}"/>
              </a:ext>
            </a:extLst>
          </p:cNvPr>
          <p:cNvGraphicFramePr>
            <a:graphicFrameLocks noGrp="1"/>
          </p:cNvGraphicFramePr>
          <p:nvPr/>
        </p:nvGraphicFramePr>
        <p:xfrm>
          <a:off x="5995012" y="1340385"/>
          <a:ext cx="2997396" cy="2486483"/>
        </p:xfrm>
        <a:graphic>
          <a:graphicData uri="http://schemas.openxmlformats.org/drawingml/2006/table">
            <a:tbl>
              <a:tblPr firstRow="1" bandRow="1">
                <a:tableStyleId>{5C22544A-7EE6-4342-B048-85BDC9FD1C3A}</a:tableStyleId>
              </a:tblPr>
              <a:tblGrid>
                <a:gridCol w="2997396">
                  <a:extLst>
                    <a:ext uri="{9D8B030D-6E8A-4147-A177-3AD203B41FA5}">
                      <a16:colId xmlns:a16="http://schemas.microsoft.com/office/drawing/2014/main" val="2968135294"/>
                    </a:ext>
                  </a:extLst>
                </a:gridCol>
              </a:tblGrid>
              <a:tr h="299203">
                <a:tc>
                  <a:txBody>
                    <a:bodyPr/>
                    <a:lstStyle/>
                    <a:p>
                      <a:pPr algn="ctr"/>
                      <a:r>
                        <a:rPr lang="en-US" sz="1100" b="1" kern="1200">
                          <a:solidFill>
                            <a:schemeClr val="bg1"/>
                          </a:solidFill>
                          <a:latin typeface="Arial"/>
                          <a:ea typeface="+mn-ea"/>
                          <a:cs typeface="+mn-cs"/>
                        </a:rPr>
                        <a:t>Budget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187280">
                <a:tc>
                  <a:txBody>
                    <a:bodyPr/>
                    <a:lstStyle/>
                    <a:p>
                      <a:pPr>
                        <a:lnSpc>
                          <a:spcPct val="150000"/>
                        </a:lnSpc>
                        <a:spcBef>
                          <a:spcPts val="300"/>
                        </a:spcBef>
                      </a:pPr>
                      <a:r>
                        <a:rPr lang="en-US" sz="1000" b="1">
                          <a:latin typeface="Arial"/>
                        </a:rPr>
                        <a:t>Status: Green</a:t>
                      </a:r>
                      <a:endParaRPr lang="en-US" sz="1000" b="1" i="0" u="none" strike="noStrike" kern="1200">
                        <a:solidFill>
                          <a:schemeClr val="dk1"/>
                        </a:solidFill>
                        <a:highlight>
                          <a:srgbClr val="00FF00"/>
                        </a:highlight>
                        <a:latin typeface="Arial"/>
                        <a:ea typeface="+mn-ea"/>
                        <a:cs typeface="+mn-cs"/>
                      </a:endParaRPr>
                    </a:p>
                    <a:p>
                      <a:pPr>
                        <a:lnSpc>
                          <a:spcPct val="150000"/>
                        </a:lnSpc>
                        <a:spcBef>
                          <a:spcPts val="300"/>
                        </a:spcBef>
                      </a:pPr>
                      <a:r>
                        <a:rPr lang="en-US" sz="1000" b="1" i="0" u="none" strike="noStrike" kern="1200">
                          <a:solidFill>
                            <a:schemeClr val="dk1"/>
                          </a:solidFill>
                          <a:latin typeface="Arial"/>
                          <a:ea typeface="+mn-ea"/>
                          <a:cs typeface="+mn-cs"/>
                        </a:rPr>
                        <a:t>Budget allocated: </a:t>
                      </a:r>
                      <a:r>
                        <a:rPr lang="en-US" sz="1000" b="0" i="0" u="none" strike="noStrike" kern="1200">
                          <a:solidFill>
                            <a:schemeClr val="dk1"/>
                          </a:solidFill>
                          <a:latin typeface="Arial"/>
                          <a:ea typeface="+mn-ea"/>
                          <a:cs typeface="+mn-cs"/>
                        </a:rPr>
                        <a:t>$350,000</a:t>
                      </a:r>
                    </a:p>
                    <a:p>
                      <a:pPr>
                        <a:lnSpc>
                          <a:spcPct val="150000"/>
                        </a:lnSpc>
                        <a:spcBef>
                          <a:spcPts val="300"/>
                        </a:spcBef>
                      </a:pPr>
                      <a:r>
                        <a:rPr lang="en-US" sz="1000" b="1" i="0" u="none" strike="noStrike" kern="1200">
                          <a:solidFill>
                            <a:schemeClr val="dk1"/>
                          </a:solidFill>
                          <a:latin typeface="Arial"/>
                          <a:ea typeface="+mn-ea"/>
                          <a:cs typeface="+mn-cs"/>
                        </a:rPr>
                        <a:t>Team working on : </a:t>
                      </a:r>
                      <a:r>
                        <a:rPr lang="en-US" sz="1000" b="0" i="0" u="none" strike="noStrike" kern="1200">
                          <a:solidFill>
                            <a:schemeClr val="dk1"/>
                          </a:solidFill>
                          <a:latin typeface="Arial"/>
                          <a:ea typeface="+mn-ea"/>
                          <a:cs typeface="+mn-cs"/>
                        </a:rPr>
                        <a:t>Business team, MIM</a:t>
                      </a:r>
                    </a:p>
                    <a:p>
                      <a:pPr>
                        <a:lnSpc>
                          <a:spcPct val="150000"/>
                        </a:lnSpc>
                        <a:spcBef>
                          <a:spcPts val="300"/>
                        </a:spcBef>
                      </a:pPr>
                      <a:r>
                        <a:rPr lang="en-US" sz="1000" b="1" i="0" u="none" strike="noStrike" kern="1200">
                          <a:solidFill>
                            <a:schemeClr val="dk1"/>
                          </a:solidFill>
                          <a:latin typeface="Arial"/>
                          <a:ea typeface="+mn-ea"/>
                          <a:cs typeface="+mn-cs"/>
                        </a:rPr>
                        <a:t>Resources allocated:</a:t>
                      </a:r>
                    </a:p>
                    <a:p>
                      <a:pPr>
                        <a:lnSpc>
                          <a:spcPct val="150000"/>
                        </a:lnSpc>
                        <a:spcBef>
                          <a:spcPts val="300"/>
                        </a:spcBef>
                      </a:pPr>
                      <a:r>
                        <a:rPr lang="en-US" sz="1000" b="1" i="0" u="none" strike="noStrike" kern="1200">
                          <a:solidFill>
                            <a:schemeClr val="dk1"/>
                          </a:solidFill>
                          <a:latin typeface="Arial"/>
                          <a:ea typeface="+mn-ea"/>
                          <a:cs typeface="+mn-cs"/>
                        </a:rPr>
                        <a:t>Future resource requirement: </a:t>
                      </a:r>
                      <a:r>
                        <a:rPr lang="en-US" sz="1000" b="0" i="0" u="none" strike="noStrike" kern="1200">
                          <a:solidFill>
                            <a:schemeClr val="dk1"/>
                          </a:solidFill>
                          <a:latin typeface="Arial"/>
                          <a:ea typeface="+mn-ea"/>
                          <a:cs typeface="+mn-cs"/>
                        </a:rPr>
                        <a:t>Test lead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25" name="Table 24">
            <a:extLst>
              <a:ext uri="{FF2B5EF4-FFF2-40B4-BE49-F238E27FC236}">
                <a16:creationId xmlns:a16="http://schemas.microsoft.com/office/drawing/2014/main" id="{EFD7D98D-FCB9-590D-E91B-575DD5645F8F}"/>
              </a:ext>
            </a:extLst>
          </p:cNvPr>
          <p:cNvGraphicFramePr>
            <a:graphicFrameLocks noGrp="1"/>
          </p:cNvGraphicFramePr>
          <p:nvPr/>
        </p:nvGraphicFramePr>
        <p:xfrm>
          <a:off x="9006289" y="1331204"/>
          <a:ext cx="2742551" cy="2506786"/>
        </p:xfrm>
        <a:graphic>
          <a:graphicData uri="http://schemas.openxmlformats.org/drawingml/2006/table">
            <a:tbl>
              <a:tblPr firstRow="1" bandRow="1">
                <a:tableStyleId>{5C22544A-7EE6-4342-B048-85BDC9FD1C3A}</a:tableStyleId>
              </a:tblPr>
              <a:tblGrid>
                <a:gridCol w="2742551">
                  <a:extLst>
                    <a:ext uri="{9D8B030D-6E8A-4147-A177-3AD203B41FA5}">
                      <a16:colId xmlns:a16="http://schemas.microsoft.com/office/drawing/2014/main" val="2968135294"/>
                    </a:ext>
                  </a:extLst>
                </a:gridCol>
              </a:tblGrid>
              <a:tr h="309479">
                <a:tc>
                  <a:txBody>
                    <a:bodyPr/>
                    <a:lstStyle/>
                    <a:p>
                      <a:pPr marL="0" marR="0" lvl="0" indent="0" algn="ctr" defTabSz="914400" rtl="0" eaLnBrk="1" latinLnBrk="0" hangingPunct="1">
                        <a:lnSpc>
                          <a:spcPct val="100000"/>
                        </a:lnSpc>
                        <a:spcBef>
                          <a:spcPts val="0"/>
                        </a:spcBef>
                        <a:spcAft>
                          <a:spcPts val="600"/>
                        </a:spcAft>
                        <a:buClrTx/>
                        <a:buSzTx/>
                        <a:buFont typeface="Arial" panose="020B0604020202020204" pitchFamily="34" charset="0"/>
                        <a:buNone/>
                      </a:pPr>
                      <a:r>
                        <a:rPr lang="en-US" sz="1100" b="1" kern="1200">
                          <a:solidFill>
                            <a:schemeClr val="bg1"/>
                          </a:solidFill>
                          <a:latin typeface="+mn-lt"/>
                          <a:ea typeface="+mn-ea"/>
                          <a:cs typeface="+mn-cs"/>
                        </a:rPr>
                        <a:t>Overall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197307">
                <a:tc>
                  <a:txBody>
                    <a:bodyPr/>
                    <a:lstStyle/>
                    <a:p>
                      <a:pPr marL="0" marR="0" lvl="0" indent="0" algn="l" rtl="0" eaLnBrk="1" fontAlgn="auto" latinLnBrk="0" hangingPunct="1">
                        <a:lnSpc>
                          <a:spcPct val="100000"/>
                        </a:lnSpc>
                        <a:spcBef>
                          <a:spcPts val="0"/>
                        </a:spcBef>
                        <a:spcAft>
                          <a:spcPts val="600"/>
                        </a:spcAft>
                        <a:buClrTx/>
                        <a:buSzTx/>
                        <a:buNone/>
                      </a:pPr>
                      <a:r>
                        <a:rPr lang="en-US" sz="1050" b="1" kern="1200" noProof="0">
                          <a:solidFill>
                            <a:schemeClr val="dk1"/>
                          </a:solidFill>
                          <a:effectLst/>
                          <a:latin typeface="Arial"/>
                          <a:ea typeface="+mn-ea"/>
                          <a:cs typeface="+mn-cs"/>
                        </a:rPr>
                        <a:t>Overall Status:</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mn-lt"/>
                          <a:ea typeface="+mn-ea"/>
                          <a:cs typeface="+mn-cs"/>
                        </a:rPr>
                        <a:t>Green</a:t>
                      </a:r>
                      <a:endParaRPr lang="en-US" sz="1050" kern="1200" noProof="0">
                        <a:solidFill>
                          <a:schemeClr val="dk1"/>
                        </a:solidFill>
                        <a:effectLst/>
                        <a:highlight>
                          <a:srgbClr val="00FF00"/>
                        </a:highlight>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Scope:</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Arial"/>
                          <a:ea typeface="+mn-ea"/>
                          <a:cs typeface="+mn-cs"/>
                        </a:rPr>
                        <a:t>Green</a:t>
                      </a: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Schedule:</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mn-lt"/>
                          <a:ea typeface="+mn-ea"/>
                          <a:cs typeface="+mn-cs"/>
                        </a:rPr>
                        <a:t>Green</a:t>
                      </a: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Budget:</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Arial"/>
                          <a:ea typeface="+mn-ea"/>
                          <a:cs typeface="+mn-cs"/>
                        </a:rPr>
                        <a:t>Green</a:t>
                      </a:r>
                    </a:p>
                    <a:p>
                      <a:pPr marL="0" marR="0" lvl="0" indent="0" algn="l" defTabSz="914400" rtl="0" eaLnBrk="1" fontAlgn="base" latinLnBrk="0" hangingPunct="1">
                        <a:lnSpc>
                          <a:spcPct val="100000"/>
                        </a:lnSpc>
                        <a:spcBef>
                          <a:spcPts val="0"/>
                        </a:spcBef>
                        <a:spcAft>
                          <a:spcPts val="600"/>
                        </a:spcAft>
                        <a:buClrTx/>
                        <a:buSzTx/>
                        <a:buFont typeface="Arial" panose="020B0604020202020204" pitchFamily="34" charset="0"/>
                        <a:buNone/>
                      </a:pPr>
                      <a:endParaRPr lang="en-US" sz="1400" b="0" kern="1200">
                        <a:solidFill>
                          <a:schemeClr val="dk1"/>
                        </a:solidFill>
                        <a:latin typeface="Arial"/>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33" name="Table 32">
            <a:extLst>
              <a:ext uri="{FF2B5EF4-FFF2-40B4-BE49-F238E27FC236}">
                <a16:creationId xmlns:a16="http://schemas.microsoft.com/office/drawing/2014/main" id="{AAB5C356-8048-EEE3-FAE2-276F8195E61F}"/>
              </a:ext>
            </a:extLst>
          </p:cNvPr>
          <p:cNvGraphicFramePr>
            <a:graphicFrameLocks noGrp="1"/>
          </p:cNvGraphicFramePr>
          <p:nvPr/>
        </p:nvGraphicFramePr>
        <p:xfrm>
          <a:off x="279159" y="1313171"/>
          <a:ext cx="5670346" cy="5314744"/>
        </p:xfrm>
        <a:graphic>
          <a:graphicData uri="http://schemas.openxmlformats.org/drawingml/2006/table">
            <a:tbl>
              <a:tblPr firstRow="1" bandRow="1">
                <a:tableStyleId>{5C22544A-7EE6-4342-B048-85BDC9FD1C3A}</a:tableStyleId>
              </a:tblPr>
              <a:tblGrid>
                <a:gridCol w="5670346">
                  <a:extLst>
                    <a:ext uri="{9D8B030D-6E8A-4147-A177-3AD203B41FA5}">
                      <a16:colId xmlns:a16="http://schemas.microsoft.com/office/drawing/2014/main" val="2968135294"/>
                    </a:ext>
                  </a:extLst>
                </a:gridCol>
              </a:tblGrid>
              <a:tr h="252574">
                <a:tc>
                  <a:txBody>
                    <a:bodyPr/>
                    <a:lstStyle/>
                    <a:p>
                      <a:pPr algn="ctr"/>
                      <a:r>
                        <a:rPr lang="en-US" sz="1100" b="1" kern="1200">
                          <a:solidFill>
                            <a:schemeClr val="bg1"/>
                          </a:solidFill>
                          <a:latin typeface="+mn-lt"/>
                          <a:ea typeface="+mn-ea"/>
                          <a:cs typeface="+mn-cs"/>
                        </a:rPr>
                        <a:t>Overview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3313180">
                <a:tc>
                  <a:txBody>
                    <a:bodyPr/>
                    <a:lstStyle/>
                    <a:p>
                      <a:pPr marL="0" lvl="0" indent="0" algn="l">
                        <a:lnSpc>
                          <a:spcPct val="100000"/>
                        </a:lnSpc>
                        <a:spcBef>
                          <a:spcPts val="200"/>
                        </a:spcBef>
                        <a:spcAft>
                          <a:spcPts val="0"/>
                        </a:spcAft>
                        <a:buNone/>
                      </a:pPr>
                      <a:r>
                        <a:rPr lang="en-US" sz="850" b="1" i="0" u="none" strike="noStrike" noProof="0">
                          <a:latin typeface="+mn-lt"/>
                        </a:rPr>
                        <a:t>This project is aims to migrate the current Guidewire classic platform to Guidewire cloud infrastructure, w</a:t>
                      </a:r>
                      <a:r>
                        <a:rPr lang="en-US" sz="850" b="1" i="0" u="none" strike="noStrike" kern="1200" err="1">
                          <a:solidFill>
                            <a:schemeClr val="dk1"/>
                          </a:solidFill>
                          <a:latin typeface="+mn-lt"/>
                          <a:ea typeface="+mn-ea"/>
                          <a:cs typeface="+mn-cs"/>
                        </a:rPr>
                        <a:t>hich</a:t>
                      </a:r>
                      <a:r>
                        <a:rPr lang="en-US" sz="850" b="1" i="0" u="none" strike="noStrike" kern="1200">
                          <a:solidFill>
                            <a:schemeClr val="dk1"/>
                          </a:solidFill>
                          <a:latin typeface="+mn-lt"/>
                          <a:ea typeface="+mn-ea"/>
                          <a:cs typeface="+mn-cs"/>
                        </a:rPr>
                        <a:t> is a secure, reliable, and scalable environment where you can build, deploy, and manage insurance software in the cloud.</a:t>
                      </a:r>
                      <a:endParaRPr lang="en-US" sz="850"/>
                    </a:p>
                    <a:p>
                      <a:pPr marL="0" lvl="0" indent="0" algn="l">
                        <a:lnSpc>
                          <a:spcPct val="100000"/>
                        </a:lnSpc>
                        <a:spcBef>
                          <a:spcPts val="200"/>
                        </a:spcBef>
                        <a:spcAft>
                          <a:spcPts val="0"/>
                        </a:spcAft>
                        <a:buNone/>
                      </a:pPr>
                      <a:r>
                        <a:rPr lang="en-US" sz="900" b="1" i="0" u="none" strike="noStrike" noProof="0">
                          <a:highlight>
                            <a:srgbClr val="00FF00"/>
                          </a:highlight>
                          <a:latin typeface="+mn-lt"/>
                        </a:rPr>
                        <a:t>Scope</a:t>
                      </a:r>
                      <a:r>
                        <a:rPr lang="en-US" sz="900" b="1" i="0" u="none" strike="noStrike" noProof="0">
                          <a:latin typeface="+mn-lt"/>
                        </a:rPr>
                        <a:t>: </a:t>
                      </a:r>
                    </a:p>
                    <a:p>
                      <a:pPr marL="171450" lvl="0" indent="-171450" algn="l">
                        <a:lnSpc>
                          <a:spcPct val="100000"/>
                        </a:lnSpc>
                        <a:spcBef>
                          <a:spcPts val="200"/>
                        </a:spcBef>
                        <a:spcAft>
                          <a:spcPts val="0"/>
                        </a:spcAft>
                        <a:buFont typeface="Arial"/>
                        <a:buChar char="•"/>
                      </a:pPr>
                      <a:r>
                        <a:rPr lang="en-US" sz="900" b="0" i="0" u="none" strike="noStrike" noProof="0">
                          <a:latin typeface="+mn-lt"/>
                        </a:rPr>
                        <a:t>Initial NW dev support to GWCP lift and shift and E2E testing Scope is defined</a:t>
                      </a:r>
                      <a:endParaRPr lang="en-US" sz="900"/>
                    </a:p>
                    <a:p>
                      <a:pPr marL="171450" lvl="0" indent="-171450" algn="l">
                        <a:lnSpc>
                          <a:spcPct val="100000"/>
                        </a:lnSpc>
                        <a:spcBef>
                          <a:spcPts val="200"/>
                        </a:spcBef>
                        <a:spcAft>
                          <a:spcPts val="0"/>
                        </a:spcAft>
                        <a:buFont typeface="Arial"/>
                        <a:buChar char="•"/>
                      </a:pPr>
                      <a:r>
                        <a:rPr lang="en-US" sz="900" b="0" i="0" u="none" strike="noStrike" noProof="0">
                          <a:latin typeface="+mn-lt"/>
                        </a:rPr>
                        <a:t>Scope refinement and finalization in progress and targeted on 01/22 - Complete</a:t>
                      </a:r>
                      <a:endParaRPr lang="en-US" sz="900" b="0">
                        <a:latin typeface="+mn-lt"/>
                      </a:endParaRPr>
                    </a:p>
                    <a:p>
                      <a:pPr marL="0" lvl="0" indent="0" algn="l">
                        <a:lnSpc>
                          <a:spcPct val="100000"/>
                        </a:lnSpc>
                        <a:spcBef>
                          <a:spcPts val="200"/>
                        </a:spcBef>
                        <a:spcAft>
                          <a:spcPts val="0"/>
                        </a:spcAft>
                        <a:buNone/>
                      </a:pPr>
                      <a:r>
                        <a:rPr lang="en-US" sz="900" b="1" i="0" u="none" strike="noStrike" noProof="0">
                          <a:highlight>
                            <a:srgbClr val="00FF00"/>
                          </a:highlight>
                          <a:latin typeface="+mn-lt"/>
                        </a:rPr>
                        <a:t>Planning:</a:t>
                      </a:r>
                      <a:r>
                        <a:rPr lang="en-US" sz="900" b="1" i="0" u="none" strike="noStrike" noProof="0">
                          <a:latin typeface="+mn-lt"/>
                        </a:rPr>
                        <a:t>  </a:t>
                      </a:r>
                      <a:r>
                        <a:rPr lang="en-US" sz="900" b="0" i="0" u="none" strike="noStrike" noProof="0">
                          <a:latin typeface="+mn-lt"/>
                        </a:rPr>
                        <a:t>In Progress ETA 1/27 </a:t>
                      </a:r>
                    </a:p>
                    <a:p>
                      <a:pPr marL="171450" lvl="0" indent="-171450" algn="l">
                        <a:lnSpc>
                          <a:spcPct val="100000"/>
                        </a:lnSpc>
                        <a:spcBef>
                          <a:spcPts val="200"/>
                        </a:spcBef>
                        <a:spcAft>
                          <a:spcPts val="0"/>
                        </a:spcAft>
                        <a:buFont typeface="Arial"/>
                        <a:buChar char="•"/>
                      </a:pPr>
                      <a:r>
                        <a:rPr lang="en-US" sz="900" b="0" i="0" u="none" strike="noStrike" noProof="0">
                          <a:latin typeface="+mn-lt"/>
                        </a:rPr>
                        <a:t>Cross application dependencies needs to be factored in</a:t>
                      </a:r>
                    </a:p>
                    <a:p>
                      <a:pPr marL="171450" lvl="0" indent="-171450" algn="l">
                        <a:lnSpc>
                          <a:spcPct val="100000"/>
                        </a:lnSpc>
                        <a:spcBef>
                          <a:spcPts val="200"/>
                        </a:spcBef>
                        <a:spcAft>
                          <a:spcPts val="0"/>
                        </a:spcAft>
                        <a:buFont typeface="Arial"/>
                        <a:buChar char="•"/>
                      </a:pPr>
                      <a:r>
                        <a:rPr lang="en-US" sz="900" b="0" i="0" u="none" strike="noStrike" noProof="0">
                          <a:latin typeface="+mn-lt"/>
                        </a:rPr>
                        <a:t>Kickoff call completed on 02/18</a:t>
                      </a:r>
                    </a:p>
                    <a:p>
                      <a:pPr marL="0" lvl="0" indent="0" algn="l">
                        <a:lnSpc>
                          <a:spcPct val="100000"/>
                        </a:lnSpc>
                        <a:spcBef>
                          <a:spcPts val="200"/>
                        </a:spcBef>
                        <a:spcAft>
                          <a:spcPts val="0"/>
                        </a:spcAft>
                        <a:buNone/>
                      </a:pPr>
                      <a:r>
                        <a:rPr lang="en-US" sz="900" b="1" i="0" u="none" strike="noStrike" noProof="0">
                          <a:highlight>
                            <a:srgbClr val="00FF00"/>
                          </a:highlight>
                          <a:latin typeface="+mn-lt"/>
                        </a:rPr>
                        <a:t>Current state</a:t>
                      </a:r>
                    </a:p>
                    <a:p>
                      <a:pPr marL="171450" lvl="0" indent="-171450" algn="l">
                        <a:lnSpc>
                          <a:spcPct val="100000"/>
                        </a:lnSpc>
                        <a:spcBef>
                          <a:spcPts val="200"/>
                        </a:spcBef>
                        <a:spcAft>
                          <a:spcPts val="0"/>
                        </a:spcAft>
                        <a:buFont typeface="Arial"/>
                        <a:buChar char="•"/>
                      </a:pPr>
                      <a:r>
                        <a:rPr lang="en-US" sz="900" b="0" i="0" u="none" strike="noStrike" noProof="0">
                          <a:latin typeface="+mn-lt"/>
                        </a:rPr>
                        <a:t>Initial NW dev support to GWCP lift and shift  - </a:t>
                      </a:r>
                      <a:r>
                        <a:rPr lang="en-US" sz="900" b="0" i="0" u="none" strike="noStrike" noProof="0">
                          <a:highlight>
                            <a:srgbClr val="00FF00"/>
                          </a:highlight>
                          <a:latin typeface="+mn-lt"/>
                        </a:rPr>
                        <a:t>Complete</a:t>
                      </a:r>
                      <a:endParaRPr lang="en-US" sz="900">
                        <a:highlight>
                          <a:srgbClr val="00FF00"/>
                        </a:highlight>
                      </a:endParaRP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Environment setup on QA and PERF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Technical session with the lines – 3/4 -  </a:t>
                      </a:r>
                      <a:r>
                        <a:rPr lang="en-US" sz="900" b="0" i="0" u="none" strike="noStrike" noProof="0">
                          <a:highlight>
                            <a:srgbClr val="00FF00"/>
                          </a:highlight>
                          <a:latin typeface="+mn-lt"/>
                        </a:rPr>
                        <a:t>Complete</a:t>
                      </a:r>
                    </a:p>
                    <a:p>
                      <a:pPr marL="171450" marR="0" lvl="0" indent="-171450" algn="l" rtl="0" eaLnBrk="1" fontAlgn="auto" latinLnBrk="0" hangingPunct="1">
                        <a:lnSpc>
                          <a:spcPct val="100000"/>
                        </a:lnSpc>
                        <a:spcBef>
                          <a:spcPts val="200"/>
                        </a:spcBef>
                        <a:spcAft>
                          <a:spcPts val="0"/>
                        </a:spcAft>
                        <a:buClrTx/>
                        <a:buSzTx/>
                        <a:buFont typeface="Arial" panose="020B0604020202020204" pitchFamily="34" charset="0"/>
                        <a:buChar char="•"/>
                      </a:pPr>
                      <a:r>
                        <a:rPr lang="en-US" sz="900" b="0" i="0" u="none" strike="noStrike" noProof="0">
                          <a:latin typeface="+mn-lt"/>
                        </a:rPr>
                        <a:t>3/20 SS team to hand over the environments to other lines for testing 4/05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e2e testing by all lines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UAT completed and sign off – </a:t>
                      </a:r>
                      <a:r>
                        <a:rPr lang="en-US" sz="900" b="0" i="0" u="none" strike="noStrike" noProof="0">
                          <a:highlight>
                            <a:srgbClr val="00FF00"/>
                          </a:highlight>
                          <a:latin typeface="+mn-lt"/>
                        </a:rPr>
                        <a:t>Complete</a:t>
                      </a:r>
                    </a:p>
                    <a:p>
                      <a:pPr marL="0" lvl="0" indent="0" algn="l">
                        <a:lnSpc>
                          <a:spcPct val="100000"/>
                        </a:lnSpc>
                        <a:spcBef>
                          <a:spcPts val="200"/>
                        </a:spcBef>
                        <a:spcAft>
                          <a:spcPts val="0"/>
                        </a:spcAft>
                        <a:buNone/>
                      </a:pPr>
                      <a:r>
                        <a:rPr lang="en-US" sz="900" b="1" i="0" u="none" strike="noStrike" noProof="0">
                          <a:highlight>
                            <a:srgbClr val="00FF00"/>
                          </a:highlight>
                          <a:latin typeface="+mn-lt"/>
                        </a:rPr>
                        <a:t>Target Q2 2026 </a:t>
                      </a:r>
                    </a:p>
                    <a:p>
                      <a:pPr marL="0" marR="0" lvl="0" indent="0" algn="l" defTabSz="914400" rtl="0" eaLnBrk="1" fontAlgn="auto" latinLnBrk="0" hangingPunct="1">
                        <a:lnSpc>
                          <a:spcPct val="100000"/>
                        </a:lnSpc>
                        <a:spcBef>
                          <a:spcPts val="200"/>
                        </a:spcBef>
                        <a:spcAft>
                          <a:spcPts val="0"/>
                        </a:spcAft>
                        <a:buClrTx/>
                        <a:buSzTx/>
                        <a:buFontTx/>
                        <a:buNone/>
                        <a:tabLst/>
                        <a:defRPr/>
                      </a:pPr>
                      <a:r>
                        <a:rPr lang="en-US" sz="900" b="0" i="0" u="none" strike="noStrike" noProof="0">
                          <a:latin typeface="+mn-lt"/>
                        </a:rPr>
                        <a:t>-     Go/no GO scheduled on 05/29</a:t>
                      </a:r>
                      <a:endParaRPr lang="en-US" sz="900" b="1" i="0" u="none" strike="noStrike" noProof="0">
                        <a:highlight>
                          <a:srgbClr val="00FF00"/>
                        </a:highlight>
                        <a:latin typeface="+mn-lt"/>
                      </a:endParaRPr>
                    </a:p>
                    <a:p>
                      <a:pPr marL="171450" lvl="0" indent="-171450" algn="l">
                        <a:lnSpc>
                          <a:spcPct val="100000"/>
                        </a:lnSpc>
                        <a:spcBef>
                          <a:spcPts val="200"/>
                        </a:spcBef>
                        <a:spcAft>
                          <a:spcPts val="0"/>
                        </a:spcAft>
                        <a:buFont typeface="Arial"/>
                        <a:buChar char="•"/>
                      </a:pPr>
                      <a:r>
                        <a:rPr lang="en-US" sz="900" b="0" i="0" u="none" strike="noStrike" noProof="0">
                          <a:latin typeface="+mn-lt"/>
                        </a:rPr>
                        <a:t> Production deployment targeted on 06/12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r h="1742484">
                <a:tc>
                  <a:txBody>
                    <a:bodyPr/>
                    <a:lstStyle/>
                    <a:p>
                      <a:pPr marL="0" lvl="0" indent="0" algn="l">
                        <a:lnSpc>
                          <a:spcPct val="100000"/>
                        </a:lnSpc>
                        <a:spcBef>
                          <a:spcPts val="200"/>
                        </a:spcBef>
                        <a:spcAft>
                          <a:spcPts val="0"/>
                        </a:spcAft>
                        <a:buNone/>
                      </a:pPr>
                      <a:endParaRPr lang="en-US" sz="850" b="0" i="0" u="none" strike="noStrike" noProof="0">
                        <a:latin typeface="+mn-lt"/>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1697471283"/>
                  </a:ext>
                </a:extLst>
              </a:tr>
            </a:tbl>
          </a:graphicData>
        </a:graphic>
      </p:graphicFrame>
      <p:graphicFrame>
        <p:nvGraphicFramePr>
          <p:cNvPr id="21" name="Table 20">
            <a:extLst>
              <a:ext uri="{FF2B5EF4-FFF2-40B4-BE49-F238E27FC236}">
                <a16:creationId xmlns:a16="http://schemas.microsoft.com/office/drawing/2014/main" id="{67585A15-C5B3-C547-1E3E-499C60223351}"/>
              </a:ext>
            </a:extLst>
          </p:cNvPr>
          <p:cNvGraphicFramePr>
            <a:graphicFrameLocks noGrp="1"/>
          </p:cNvGraphicFramePr>
          <p:nvPr/>
        </p:nvGraphicFramePr>
        <p:xfrm>
          <a:off x="5995011" y="3815625"/>
          <a:ext cx="5742439" cy="3047999"/>
        </p:xfrm>
        <a:graphic>
          <a:graphicData uri="http://schemas.openxmlformats.org/drawingml/2006/table">
            <a:tbl>
              <a:tblPr firstRow="1" bandRow="1">
                <a:tableStyleId>{5C22544A-7EE6-4342-B048-85BDC9FD1C3A}</a:tableStyleId>
              </a:tblPr>
              <a:tblGrid>
                <a:gridCol w="5742439">
                  <a:extLst>
                    <a:ext uri="{9D8B030D-6E8A-4147-A177-3AD203B41FA5}">
                      <a16:colId xmlns:a16="http://schemas.microsoft.com/office/drawing/2014/main" val="2968135294"/>
                    </a:ext>
                  </a:extLst>
                </a:gridCol>
              </a:tblGrid>
              <a:tr h="329843">
                <a:tc>
                  <a:txBody>
                    <a:bodyPr/>
                    <a:lstStyle/>
                    <a:p>
                      <a:pPr algn="ctr"/>
                      <a:r>
                        <a:rPr lang="en-US" sz="1100" b="1" i="0">
                          <a:latin typeface="Arial"/>
                        </a:rPr>
                        <a:t>Accomplishments/Risks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718156">
                <a:tc>
                  <a:txBody>
                    <a:bodyPr/>
                    <a:lstStyle/>
                    <a:p>
                      <a:pPr marL="0" lvl="0" indent="0">
                        <a:spcBef>
                          <a:spcPts val="300"/>
                        </a:spcBef>
                        <a:buNone/>
                      </a:pPr>
                      <a:endParaRPr lang="en-US" sz="900" b="1"/>
                    </a:p>
                    <a:p>
                      <a:pPr marL="0" lvl="0" indent="0">
                        <a:spcBef>
                          <a:spcPts val="300"/>
                        </a:spcBef>
                        <a:buNone/>
                      </a:pPr>
                      <a:r>
                        <a:rPr lang="en-US" sz="1000" b="1">
                          <a:latin typeface="Arial"/>
                        </a:rPr>
                        <a:t>Risk: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a:latin typeface="Arial"/>
                        </a:rPr>
                        <a:t>Classic lower environments platform will be decommissioned after June 12</a:t>
                      </a:r>
                      <a:r>
                        <a:rPr lang="en-US" sz="1000" baseline="30000">
                          <a:latin typeface="Arial"/>
                        </a:rPr>
                        <a:t>th</a:t>
                      </a:r>
                      <a:r>
                        <a:rPr lang="en-US" sz="1000">
                          <a:latin typeface="Arial"/>
                        </a:rPr>
                        <a:t>, this has ben communicated to all the lines</a:t>
                      </a:r>
                    </a:p>
                    <a:p>
                      <a:pPr marL="0" lvl="0" indent="0">
                        <a:spcBef>
                          <a:spcPts val="300"/>
                        </a:spcBef>
                        <a:buFont typeface="Arial"/>
                        <a:buNone/>
                      </a:pPr>
                      <a:r>
                        <a:rPr lang="en-US" sz="1000" b="1">
                          <a:latin typeface="Arial"/>
                        </a:rPr>
                        <a:t>Mitigation: </a:t>
                      </a:r>
                    </a:p>
                    <a:p>
                      <a:pPr marL="171450" lvl="0" indent="-171450">
                        <a:spcBef>
                          <a:spcPts val="300"/>
                        </a:spcBef>
                        <a:buFont typeface="Arial"/>
                        <a:buChar char="•"/>
                      </a:pPr>
                      <a:r>
                        <a:rPr lang="en-US" sz="1000">
                          <a:latin typeface="Arial"/>
                        </a:rPr>
                        <a:t>Build and align on the overall strategy for environment utilization and deployment governance</a:t>
                      </a:r>
                    </a:p>
                    <a:p>
                      <a:pPr marL="171450" lvl="0" indent="-171450">
                        <a:spcBef>
                          <a:spcPts val="300"/>
                        </a:spcBef>
                        <a:buFont typeface="Arial" panose="020B0604020202020204" pitchFamily="34" charset="0"/>
                        <a:buChar char="•"/>
                      </a:pPr>
                      <a:r>
                        <a:rPr lang="en-US" sz="1000">
                          <a:latin typeface="Arial"/>
                        </a:rPr>
                        <a:t>Maintain close communication with GWCP team to ensure the environments are always available for testing</a:t>
                      </a:r>
                    </a:p>
                    <a:p>
                      <a:pPr marL="171450" lvl="0" indent="-171450">
                        <a:spcBef>
                          <a:spcPts val="300"/>
                        </a:spcBef>
                        <a:buFont typeface="Arial" panose="020B0604020202020204" pitchFamily="34" charset="0"/>
                        <a:buChar char="•"/>
                      </a:pPr>
                      <a:r>
                        <a:rPr lang="en-US" sz="1000">
                          <a:latin typeface="Arial"/>
                        </a:rPr>
                        <a:t>Making sure teams continue use Cloud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11" name="Table 10">
            <a:extLst>
              <a:ext uri="{FF2B5EF4-FFF2-40B4-BE49-F238E27FC236}">
                <a16:creationId xmlns:a16="http://schemas.microsoft.com/office/drawing/2014/main" id="{D414BBA2-7021-7BA3-49D0-F2B94C92D68D}"/>
              </a:ext>
            </a:extLst>
          </p:cNvPr>
          <p:cNvGraphicFramePr>
            <a:graphicFrameLocks noGrp="1"/>
          </p:cNvGraphicFramePr>
          <p:nvPr/>
        </p:nvGraphicFramePr>
        <p:xfrm>
          <a:off x="278780" y="4899899"/>
          <a:ext cx="5680036" cy="1961008"/>
        </p:xfrm>
        <a:graphic>
          <a:graphicData uri="http://schemas.openxmlformats.org/drawingml/2006/table">
            <a:tbl>
              <a:tblPr firstRow="1" bandRow="1">
                <a:tableStyleId>{5C22544A-7EE6-4342-B048-85BDC9FD1C3A}</a:tableStyleId>
              </a:tblPr>
              <a:tblGrid>
                <a:gridCol w="5680036">
                  <a:extLst>
                    <a:ext uri="{9D8B030D-6E8A-4147-A177-3AD203B41FA5}">
                      <a16:colId xmlns:a16="http://schemas.microsoft.com/office/drawing/2014/main" val="2968135294"/>
                    </a:ext>
                  </a:extLst>
                </a:gridCol>
              </a:tblGrid>
              <a:tr h="269369">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b="1" kern="1200">
                          <a:solidFill>
                            <a:schemeClr val="bg1"/>
                          </a:solidFill>
                          <a:latin typeface="+mn-lt"/>
                          <a:ea typeface="+mn-ea"/>
                          <a:cs typeface="+mn-cs"/>
                        </a:rPr>
                        <a:t>Dependencies/Assumptions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1691639">
                <a:tc>
                  <a:txBody>
                    <a:bodyPr/>
                    <a:lstStyle/>
                    <a:p>
                      <a:pPr fontAlgn="t">
                        <a:lnSpc>
                          <a:spcPts val="1500"/>
                        </a:lnSpc>
                        <a:buNone/>
                      </a:pPr>
                      <a:r>
                        <a:rPr lang="en-US" sz="1000" b="1" i="0">
                          <a:effectLst/>
                          <a:latin typeface="Arial"/>
                        </a:rPr>
                        <a:t>Environment Strategy for Upcoming Releases</a:t>
                      </a:r>
                    </a:p>
                    <a:p>
                      <a:pPr fontAlgn="t">
                        <a:lnSpc>
                          <a:spcPts val="1500"/>
                        </a:lnSpc>
                        <a:buNone/>
                      </a:pPr>
                      <a:r>
                        <a:rPr lang="en-US" sz="1000" b="0" i="0">
                          <a:effectLst/>
                          <a:latin typeface="Arial"/>
                        </a:rPr>
                        <a:t>The team are leveraging </a:t>
                      </a:r>
                      <a:r>
                        <a:rPr lang="en-US" sz="1000" b="1" i="0">
                          <a:effectLst/>
                          <a:latin typeface="Arial"/>
                        </a:rPr>
                        <a:t>GWCP lower‑tier environments</a:t>
                      </a:r>
                      <a:r>
                        <a:rPr lang="en-US" sz="1000" b="0" i="0">
                          <a:effectLst/>
                          <a:latin typeface="Arial"/>
                        </a:rPr>
                        <a:t> for the next </a:t>
                      </a:r>
                      <a:r>
                        <a:rPr lang="en-US" sz="1000" b="1" i="0">
                          <a:effectLst/>
                          <a:latin typeface="Arial"/>
                        </a:rPr>
                        <a:t>three months of releases</a:t>
                      </a:r>
                      <a:r>
                        <a:rPr lang="en-US" sz="1000" b="0" i="0">
                          <a:effectLst/>
                          <a:latin typeface="Arial"/>
                        </a:rPr>
                        <a:t>.</a:t>
                      </a:r>
                      <a:br>
                        <a:rPr lang="en-US" sz="1000" b="0" i="0">
                          <a:effectLst/>
                          <a:latin typeface="Arial"/>
                        </a:rPr>
                      </a:br>
                      <a:r>
                        <a:rPr lang="en-US" sz="1000" b="0" i="0">
                          <a:effectLst/>
                          <a:latin typeface="Arial"/>
                        </a:rPr>
                        <a:t>This approach will:</a:t>
                      </a:r>
                    </a:p>
                    <a:p>
                      <a:pPr marL="171450" indent="-171450" fontAlgn="t">
                        <a:lnSpc>
                          <a:spcPts val="1500"/>
                        </a:lnSpc>
                        <a:buFont typeface="Arial" panose="020B0604020202020204" pitchFamily="34" charset="0"/>
                        <a:buChar char="•"/>
                      </a:pPr>
                      <a:r>
                        <a:rPr lang="en-US" sz="1000" b="0" i="0">
                          <a:effectLst/>
                          <a:latin typeface="Arial"/>
                        </a:rPr>
                        <a:t>Enable </a:t>
                      </a:r>
                      <a:r>
                        <a:rPr lang="en-US" sz="1000" b="1" i="0">
                          <a:effectLst/>
                          <a:latin typeface="Arial"/>
                        </a:rPr>
                        <a:t>continuous end‑to‑end testing</a:t>
                      </a:r>
                      <a:r>
                        <a:rPr lang="en-US" sz="1000" b="0" i="0">
                          <a:effectLst/>
                          <a:latin typeface="Arial"/>
                        </a:rPr>
                        <a:t> across all teams</a:t>
                      </a:r>
                    </a:p>
                    <a:p>
                      <a:pPr marL="171450" indent="-171450" fontAlgn="t">
                        <a:lnSpc>
                          <a:spcPts val="1500"/>
                        </a:lnSpc>
                        <a:buFont typeface="Arial" panose="020B0604020202020204" pitchFamily="34" charset="0"/>
                        <a:buChar char="•"/>
                      </a:pPr>
                      <a:r>
                        <a:rPr lang="en-US" sz="1000" b="0" i="0">
                          <a:effectLst/>
                          <a:latin typeface="Arial"/>
                        </a:rPr>
                        <a:t>Reduce disruptions by </a:t>
                      </a:r>
                      <a:r>
                        <a:rPr lang="en-US" sz="1000" b="1" i="0">
                          <a:effectLst/>
                          <a:latin typeface="Arial"/>
                        </a:rPr>
                        <a:t>eliminating frequent environment path changes</a:t>
                      </a:r>
                      <a:endParaRPr lang="en-US" sz="1000" b="0" i="0">
                        <a:effectLst/>
                        <a:latin typeface="Arial"/>
                      </a:endParaRPr>
                    </a:p>
                    <a:p>
                      <a:pPr marL="171450" indent="-171450" fontAlgn="t">
                        <a:lnSpc>
                          <a:spcPts val="1500"/>
                        </a:lnSpc>
                        <a:buFont typeface="Arial" panose="020B0604020202020204" pitchFamily="34" charset="0"/>
                        <a:buChar char="•"/>
                      </a:pPr>
                      <a:r>
                        <a:rPr lang="en-US" sz="1000" b="0" i="0">
                          <a:effectLst/>
                          <a:latin typeface="Arial"/>
                        </a:rPr>
                        <a:t>Improve </a:t>
                      </a:r>
                      <a:r>
                        <a:rPr lang="en-US" sz="1000" b="1" i="0">
                          <a:effectLst/>
                          <a:latin typeface="Arial"/>
                        </a:rPr>
                        <a:t>predictability and stability</a:t>
                      </a:r>
                      <a:r>
                        <a:rPr lang="en-US" sz="1000" b="0" i="0">
                          <a:effectLst/>
                          <a:latin typeface="Arial"/>
                        </a:rPr>
                        <a:t> in the overall release cycle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spTree>
    <p:extLst>
      <p:ext uri="{BB962C8B-B14F-4D97-AF65-F5344CB8AC3E}">
        <p14:creationId xmlns:p14="http://schemas.microsoft.com/office/powerpoint/2010/main" val="1461984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A248-289E-1DC2-8FE1-88E9482D9EF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EC8A15F-A45B-F5AE-8B4B-DB7D4A26E6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EC8A15F-A45B-F5AE-8B4B-DB7D4A26E6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0698E4A8-BC14-B06E-FA10-57A0E4783E96}"/>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C91D711-EAFB-B62F-E188-014E42C4FDE8}"/>
              </a:ext>
            </a:extLst>
          </p:cNvPr>
          <p:cNvSpPr>
            <a:spLocks noGrp="1"/>
          </p:cNvSpPr>
          <p:nvPr>
            <p:ph type="title"/>
          </p:nvPr>
        </p:nvSpPr>
        <p:spPr>
          <a:xfrm>
            <a:off x="231954" y="101795"/>
            <a:ext cx="9281086" cy="788695"/>
          </a:xfrm>
        </p:spPr>
        <p:txBody>
          <a:bodyPr vert="horz">
            <a:normAutofit/>
          </a:bodyPr>
          <a:lstStyle/>
          <a:p>
            <a:r>
              <a:rPr lang="en-US">
                <a:solidFill>
                  <a:srgbClr val="0070C0"/>
                </a:solidFill>
                <a:latin typeface="Aptos Display" panose="02110004020202020204"/>
              </a:rPr>
              <a:t>Talend to Python Migration</a:t>
            </a:r>
            <a:endParaRPr lang="en-US"/>
          </a:p>
        </p:txBody>
      </p:sp>
      <p:graphicFrame>
        <p:nvGraphicFramePr>
          <p:cNvPr id="11" name="Group 513">
            <a:extLst>
              <a:ext uri="{FF2B5EF4-FFF2-40B4-BE49-F238E27FC236}">
                <a16:creationId xmlns:a16="http://schemas.microsoft.com/office/drawing/2014/main" id="{81653CB4-091E-2B56-F4B5-4F204E636035}"/>
              </a:ext>
            </a:extLst>
          </p:cNvPr>
          <p:cNvGraphicFramePr>
            <a:graphicFrameLocks noGrp="1"/>
          </p:cNvGraphicFramePr>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1050" b="1" i="0" u="none" strike="noStrike" cap="none" normalizeH="0" baseline="0">
                          <a:ln>
                            <a:noFill/>
                          </a:ln>
                          <a:solidFill>
                            <a:schemeClr val="tx1"/>
                          </a:solidFill>
                          <a:effectLst/>
                          <a:latin typeface="Arial"/>
                        </a:rPr>
                        <a:t>7/20/2026</a:t>
                      </a:r>
                      <a:endParaRPr kumimoji="0" lang="en-GB" sz="1050" b="1" i="0" u="none" strike="noStrike" cap="none" normalizeH="0" baseline="0">
                        <a:ln>
                          <a:noFill/>
                        </a:ln>
                        <a:solidFill>
                          <a:schemeClr val="tx1"/>
                        </a:solidFill>
                        <a:effectLst/>
                        <a:latin typeface="Arial"/>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4675AEAE-4CE6-0664-1C7F-7B315F6B6F54}"/>
              </a:ext>
            </a:extLst>
          </p:cNvPr>
          <p:cNvGraphicFramePr>
            <a:graphicFrameLocks noGrp="1"/>
          </p:cNvGraphicFramePr>
          <p:nvPr/>
        </p:nvGraphicFramePr>
        <p:xfrm>
          <a:off x="6757621"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72DC618D-3C08-1274-95C7-67307B7A2371}"/>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1570892B-CCE4-B298-EC37-9E8F33B9FFA3}"/>
              </a:ext>
            </a:extLst>
          </p:cNvPr>
          <p:cNvGraphicFramePr>
            <a:graphicFrameLocks noGrp="1"/>
          </p:cNvGraphicFramePr>
          <p:nvPr/>
        </p:nvGraphicFramePr>
        <p:xfrm>
          <a:off x="224696" y="1286465"/>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1000" strike="noStrike">
                          <a:solidFill>
                            <a:schemeClr val="tx1"/>
                          </a:solidFill>
                          <a:latin typeface="+mn-lt"/>
                        </a:rPr>
                        <a:t>7/7</a:t>
                      </a:r>
                      <a:endParaRPr kumimoji="0" lang="en-US" sz="1000" strike="noStrike">
                        <a:solidFill>
                          <a:schemeClr val="tx1"/>
                        </a:solidFill>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1BE0812-A22D-92C1-C325-BA9E0FA59214}"/>
              </a:ext>
            </a:extLst>
          </p:cNvPr>
          <p:cNvGraphicFramePr>
            <a:graphicFrameLocks noGrp="1"/>
          </p:cNvGraphicFramePr>
          <p:nvPr>
            <p:extLst>
              <p:ext uri="{D42A27DB-BD31-4B8C-83A1-F6EECF244321}">
                <p14:modId xmlns:p14="http://schemas.microsoft.com/office/powerpoint/2010/main" val="1342887547"/>
              </p:ext>
            </p:extLst>
          </p:nvPr>
        </p:nvGraphicFramePr>
        <p:xfrm>
          <a:off x="4854769" y="1986385"/>
          <a:ext cx="7269724" cy="2694402"/>
        </p:xfrm>
        <a:graphic>
          <a:graphicData uri="http://schemas.openxmlformats.org/drawingml/2006/table">
            <a:tbl>
              <a:tblPr>
                <a:tableStyleId>{5C22544A-7EE6-4342-B048-85BDC9FD1C3A}</a:tableStyleId>
              </a:tblPr>
              <a:tblGrid>
                <a:gridCol w="2550318">
                  <a:extLst>
                    <a:ext uri="{9D8B030D-6E8A-4147-A177-3AD203B41FA5}">
                      <a16:colId xmlns:a16="http://schemas.microsoft.com/office/drawing/2014/main" val="2456552316"/>
                    </a:ext>
                  </a:extLst>
                </a:gridCol>
                <a:gridCol w="509887">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ANT Files Dev and Testing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a:lnSpc>
                          <a:spcPct val="95000"/>
                        </a:lnSpc>
                        <a:spcBef>
                          <a:spcPct val="0"/>
                        </a:spcBef>
                        <a:spcAft>
                          <a:spcPct val="50000"/>
                        </a:spcAft>
                        <a:buNone/>
                        <a:tabLst/>
                      </a:pPr>
                      <a:r>
                        <a:rPr lang="en-US" sz="850" b="0" strike="noStrike" kern="1200">
                          <a:solidFill>
                            <a:schemeClr val="tx1"/>
                          </a:solidFill>
                          <a:effectLst/>
                          <a:latin typeface="Aptos" panose="020B0004020202020204" pitchFamily="34" charset="0"/>
                          <a:ea typeface="+mn-ea"/>
                          <a:cs typeface="+mn-cs"/>
                        </a:rPr>
                        <a:t>2/25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a:lnSpc>
                          <a:spcPct val="95000"/>
                        </a:lnSpc>
                        <a:spcBef>
                          <a:spcPct val="0"/>
                        </a:spcBef>
                        <a:spcAft>
                          <a:spcPct val="50000"/>
                        </a:spcAft>
                        <a:buNone/>
                      </a:pPr>
                      <a:r>
                        <a:rPr lang="en-US" sz="850">
                          <a:latin typeface="Aptos" panose="020B0004020202020204" pitchFamily="34" charset="0"/>
                        </a:rPr>
                        <a:t>ANT Prod Deployment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a:lnSpc>
                          <a:spcPct val="95000"/>
                        </a:lnSpc>
                        <a:spcBef>
                          <a:spcPct val="0"/>
                        </a:spcBef>
                        <a:spcAft>
                          <a:spcPct val="50000"/>
                        </a:spcAft>
                        <a:buNone/>
                        <a:tabLst/>
                        <a:defRPr/>
                      </a:pPr>
                      <a:r>
                        <a:rPr lang="en-US" sz="850" b="0" strike="noStrike" kern="1200">
                          <a:solidFill>
                            <a:schemeClr val="tx1"/>
                          </a:solidFill>
                          <a:effectLst/>
                          <a:latin typeface="Aptos" panose="020B0004020202020204" pitchFamily="34" charset="0"/>
                          <a:ea typeface="+mn-ea"/>
                          <a:cs typeface="+mn-cs"/>
                        </a:rPr>
                        <a:t>4/15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DOG and CAT E2E testing and UAT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DOG and CAT Prod Deployment</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5/26</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4043492510"/>
                  </a:ext>
                </a:extLst>
              </a:tr>
              <a:tr h="23617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PIG, Remittance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5/29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PIG, Remittance Production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36175">
                <a:tc>
                  <a:txBody>
                    <a:bodyPr/>
                    <a:lstStyle/>
                    <a:p>
                      <a:pPr marL="114300" marR="0" lvl="0" indent="0" algn="l">
                        <a:lnSpc>
                          <a:spcPct val="95000"/>
                        </a:lnSpc>
                        <a:spcBef>
                          <a:spcPct val="0"/>
                        </a:spcBef>
                        <a:spcAft>
                          <a:spcPct val="50000"/>
                        </a:spcAft>
                        <a:buNone/>
                      </a:pPr>
                      <a:r>
                        <a:rPr lang="en-US" sz="850" b="1" i="0" u="none" strike="noStrike" kern="1200" noProof="0">
                          <a:solidFill>
                            <a:schemeClr val="tx1"/>
                          </a:solidFill>
                          <a:latin typeface="Aptos" panose="020B0004020202020204" pitchFamily="34" charset="0"/>
                          <a:ea typeface="+mn-ea"/>
                          <a:cs typeface="Arial"/>
                        </a:rPr>
                        <a:t>EDI Files, OP Reports E2E and UAT</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Aptos" panose="020B0004020202020204" pitchFamily="34" charset="0"/>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r h="236174">
                <a:tc>
                  <a:txBody>
                    <a:bodyPr/>
                    <a:lstStyle/>
                    <a:p>
                      <a:pPr marL="114300" lvl="0" indent="0" algn="l">
                        <a:lnSpc>
                          <a:spcPct val="95000"/>
                        </a:lnSpc>
                        <a:spcBef>
                          <a:spcPct val="0"/>
                        </a:spcBef>
                        <a:spcAft>
                          <a:spcPct val="50000"/>
                        </a:spcAft>
                        <a:buNone/>
                      </a:pPr>
                      <a:r>
                        <a:rPr lang="en-US" sz="850" b="1" i="0" u="none" strike="noStrike" kern="1200" noProof="0">
                          <a:solidFill>
                            <a:schemeClr val="tx1"/>
                          </a:solidFill>
                          <a:latin typeface="Aptos" panose="020B0004020202020204" pitchFamily="34" charset="0"/>
                          <a:ea typeface="+mn-ea"/>
                          <a:cs typeface="Arial"/>
                        </a:rPr>
                        <a:t>EDI Files, OP Reports Production</a:t>
                      </a:r>
                      <a:endParaRPr lang="en-US" sz="850" kern="1200">
                        <a:solidFill>
                          <a:schemeClr val="dk1"/>
                        </a:solidFill>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6/11</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944897433"/>
                  </a:ext>
                </a:extLst>
              </a:tr>
              <a:tr h="236174">
                <a:tc>
                  <a:txBody>
                    <a:bodyPr/>
                    <a:lstStyle/>
                    <a:p>
                      <a:pPr marL="114300" lvl="0" indent="0" algn="l">
                        <a:lnSpc>
                          <a:spcPct val="95000"/>
                        </a:lnSpc>
                        <a:spcBef>
                          <a:spcPct val="0"/>
                        </a:spcBef>
                        <a:spcAft>
                          <a:spcPct val="50000"/>
                        </a:spcAft>
                        <a:buNone/>
                      </a:pPr>
                      <a:r>
                        <a:rPr lang="en-US" sz="850" b="1" i="0" u="none" strike="noStrike" kern="1200" noProof="0">
                          <a:solidFill>
                            <a:schemeClr val="tx1"/>
                          </a:solidFill>
                          <a:latin typeface="Aptos" panose="020B0004020202020204" pitchFamily="34" charset="0"/>
                          <a:ea typeface="+mn-ea"/>
                          <a:cs typeface="Arial"/>
                        </a:rPr>
                        <a:t>Phase 3 Production</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6/30</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4191335617"/>
                  </a:ext>
                </a:extLst>
              </a:tr>
              <a:tr h="236174">
                <a:tc>
                  <a:txBody>
                    <a:bodyPr/>
                    <a:lstStyle/>
                    <a:p>
                      <a:pPr marL="114300" lvl="0" indent="0" algn="l">
                        <a:lnSpc>
                          <a:spcPct val="95000"/>
                        </a:lnSpc>
                        <a:spcBef>
                          <a:spcPct val="0"/>
                        </a:spcBef>
                        <a:spcAft>
                          <a:spcPct val="50000"/>
                        </a:spcAft>
                        <a:buNone/>
                      </a:pPr>
                      <a:r>
                        <a:rPr lang="en-US" sz="850" b="1" i="0" u="none" strike="noStrike" kern="1200" noProof="0">
                          <a:solidFill>
                            <a:schemeClr val="tx1"/>
                          </a:solidFill>
                          <a:latin typeface="Aptos" panose="020B0004020202020204" pitchFamily="34" charset="0"/>
                          <a:ea typeface="+mn-ea"/>
                          <a:cs typeface="Arial"/>
                        </a:rPr>
                        <a:t>Phase 2 Production</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strike="sngStrike">
                          <a:latin typeface="Aptos" panose="020B0004020202020204" pitchFamily="34" charset="0"/>
                        </a:rPr>
                        <a:t>7/7</a:t>
                      </a:r>
                      <a:r>
                        <a:rPr lang="en-US" sz="850">
                          <a:latin typeface="Aptos" panose="020B0004020202020204" pitchFamily="34" charset="0"/>
                        </a:rPr>
                        <a:t> 7/14</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0" lvl="0" indent="0" algn="l">
                        <a:lnSpc>
                          <a:spcPct val="100000"/>
                        </a:lnSpc>
                        <a:spcBef>
                          <a:spcPts val="0"/>
                        </a:spcBef>
                        <a:spcAft>
                          <a:spcPts val="0"/>
                        </a:spcAft>
                        <a:buFont typeface="Arial"/>
                        <a:buNone/>
                      </a:pPr>
                      <a:r>
                        <a:rPr lang="en-US" sz="850" b="0" i="0" u="none" strike="noStrike" kern="1200" noProof="0">
                          <a:solidFill>
                            <a:schemeClr val="dk1"/>
                          </a:solidFill>
                          <a:effectLst/>
                          <a:latin typeface="Aptos" panose="020B0004020202020204" pitchFamily="34" charset="0"/>
                          <a:ea typeface="+mn-ea"/>
                          <a:cs typeface="Times New Roman"/>
                        </a:rPr>
                        <a:t>REN, Medone, Concourse – Live in Production</a:t>
                      </a:r>
                      <a:endParaRPr lang="en-US" sz="850">
                        <a:latin typeface="Aptos" panose="020B0004020202020204" pitchFamily="34" charset="0"/>
                      </a:endParaRPr>
                    </a:p>
                    <a:p>
                      <a:pPr lvl="0">
                        <a:buNone/>
                      </a:pPr>
                      <a:r>
                        <a:rPr lang="en-US" sz="850" b="0" i="0" u="none" strike="noStrike" kern="1200" noProof="0">
                          <a:solidFill>
                            <a:schemeClr val="dk1"/>
                          </a:solidFill>
                          <a:effectLst/>
                          <a:latin typeface="Aptos" panose="020B0004020202020204" pitchFamily="34" charset="0"/>
                          <a:ea typeface="+mn-ea"/>
                          <a:cs typeface="Times New Roman"/>
                        </a:rPr>
                        <a:t>ECIF, S3 – Development and Testing Ongoing</a:t>
                      </a:r>
                      <a:endParaRPr lang="en-US" sz="850">
                        <a:latin typeface="Aptos" panose="020B0004020202020204" pitchFamily="34" charset="0"/>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1760694659"/>
                  </a:ext>
                </a:extLst>
              </a:tr>
            </a:tbl>
          </a:graphicData>
        </a:graphic>
      </p:graphicFrame>
      <p:graphicFrame>
        <p:nvGraphicFramePr>
          <p:cNvPr id="29" name="Table 28">
            <a:extLst>
              <a:ext uri="{FF2B5EF4-FFF2-40B4-BE49-F238E27FC236}">
                <a16:creationId xmlns:a16="http://schemas.microsoft.com/office/drawing/2014/main" id="{B433CFC7-39C9-4E14-3371-BD557695A86B}"/>
              </a:ext>
            </a:extLst>
          </p:cNvPr>
          <p:cNvGraphicFramePr>
            <a:graphicFrameLocks noGrp="1"/>
          </p:cNvGraphicFramePr>
          <p:nvPr>
            <p:extLst>
              <p:ext uri="{D42A27DB-BD31-4B8C-83A1-F6EECF244321}">
                <p14:modId xmlns:p14="http://schemas.microsoft.com/office/powerpoint/2010/main" val="2840570974"/>
              </p:ext>
            </p:extLst>
          </p:nvPr>
        </p:nvGraphicFramePr>
        <p:xfrm>
          <a:off x="4920083" y="4971994"/>
          <a:ext cx="7254527" cy="1109322"/>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95759">
                <a:tc>
                  <a:txBody>
                    <a:bodyPr/>
                    <a:lstStyle/>
                    <a:p>
                      <a:pPr marL="0" marR="0" lvl="0" indent="0" algn="l" rtl="0" eaLnBrk="1" fontAlgn="auto" latinLnBrk="0" hangingPunct="1">
                        <a:lnSpc>
                          <a:spcPct val="115000"/>
                        </a:lnSpc>
                        <a:spcBef>
                          <a:spcPts val="0"/>
                        </a:spcBef>
                        <a:spcAft>
                          <a:spcPts val="800"/>
                        </a:spcAft>
                        <a:buClrTx/>
                        <a:buSzTx/>
                        <a:buFontTx/>
                        <a:buNone/>
                      </a:pPr>
                      <a:r>
                        <a:rPr lang="en-US" sz="800">
                          <a:latin typeface="+mn-lt"/>
                        </a:rPr>
                        <a:t>There is no scheduled warranty by when the Talend jobs will stop running</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7/7</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00" b="0" strike="noStrike" kern="1200">
                          <a:solidFill>
                            <a:schemeClr val="tx1"/>
                          </a:solidFill>
                          <a:effectLst/>
                          <a:latin typeface="+mn-lt"/>
                          <a:ea typeface="+mn-ea"/>
                          <a:cs typeface="+mn-cs"/>
                        </a:rPr>
                        <a:t>GIN component was migrated to Python on 6/30 and Planning to move the remaining jobs on 7/7</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A6D05910-0998-0B92-C63D-A33130125C67}"/>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CDD1F46F-241B-4FC1-A30D-F90AAF2E5A4A}"/>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863E84BA-533E-B28E-7338-B2EFFE6A3EB3}"/>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4C0C232A-E4DC-7AF6-6A59-8E3ABAE798B9}"/>
              </a:ext>
            </a:extLst>
          </p:cNvPr>
          <p:cNvSpPr/>
          <p:nvPr/>
        </p:nvSpPr>
        <p:spPr>
          <a:xfrm>
            <a:off x="3303638"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4120D0A5-EB6F-991C-B3B1-3C3ADAA7C74C}"/>
              </a:ext>
            </a:extLst>
          </p:cNvPr>
          <p:cNvSpPr/>
          <p:nvPr/>
        </p:nvSpPr>
        <p:spPr>
          <a:xfrm>
            <a:off x="5143033"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96C6F5DE-9CC8-74FD-0FBC-2B81FC6B7A02}"/>
              </a:ext>
            </a:extLst>
          </p:cNvPr>
          <p:cNvSpPr/>
          <p:nvPr/>
        </p:nvSpPr>
        <p:spPr>
          <a:xfrm>
            <a:off x="6078524"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F159992-7792-EF88-89AB-94BFAB5F2BE8}"/>
              </a:ext>
            </a:extLst>
          </p:cNvPr>
          <p:cNvSpPr txBox="1"/>
          <p:nvPr/>
        </p:nvSpPr>
        <p:spPr>
          <a:xfrm>
            <a:off x="111476" y="1707675"/>
            <a:ext cx="4743293" cy="140301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Yellow</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endParaRPr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Highlights: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b="1" kern="100">
                <a:solidFill>
                  <a:prstClr val="black"/>
                </a:solidFill>
                <a:latin typeface="Aptos" panose="020B0004020202020204" pitchFamily="34" charset="0"/>
                <a:cs typeface="Arial"/>
              </a:rPr>
              <a:t>ANT</a:t>
            </a:r>
            <a:r>
              <a:rPr lang="en-US" sz="850" b="1" kern="100">
                <a:solidFill>
                  <a:prstClr val="black"/>
                </a:solidFill>
                <a:latin typeface="Aptos" panose="020B0004020202020204" pitchFamily="34" charset="0"/>
              </a:rPr>
              <a:t>, DOG, CAT, RAT, PIG, BAA</a:t>
            </a:r>
            <a:r>
              <a:rPr lang="en-US" sz="850" b="1" kern="100">
                <a:solidFill>
                  <a:prstClr val="black"/>
                </a:solidFill>
                <a:latin typeface="Aptos" panose="020B0004020202020204" pitchFamily="34" charset="0"/>
                <a:cs typeface="Arial"/>
              </a:rPr>
              <a:t>, EDI &amp; OP reports :</a:t>
            </a:r>
            <a:r>
              <a:rPr lang="en-US" sz="850" kern="100">
                <a:solidFill>
                  <a:prstClr val="black"/>
                </a:solidFill>
                <a:latin typeface="Aptos" panose="020B0004020202020204" pitchFamily="34" charset="0"/>
                <a:cs typeface="Arial"/>
              </a:rPr>
              <a:t> </a:t>
            </a:r>
            <a:r>
              <a:rPr lang="en-US" sz="850" kern="100">
                <a:solidFill>
                  <a:prstClr val="black"/>
                </a:solidFill>
                <a:latin typeface="Aptos" panose="020B0004020202020204" pitchFamily="34" charset="0"/>
                <a:ea typeface="+mn-lt"/>
                <a:cs typeface="+mn-lt"/>
              </a:rPr>
              <a:t>Live in Production</a:t>
            </a:r>
          </a:p>
          <a:p>
            <a:pPr marL="171450" indent="-171450">
              <a:lnSpc>
                <a:spcPct val="114999"/>
              </a:lnSpc>
              <a:spcBef>
                <a:spcPts val="200"/>
              </a:spcBef>
              <a:buSzPts val="1000"/>
              <a:buFont typeface="Arial" panose="020B0604020202020204" pitchFamily="34" charset="0"/>
              <a:buChar char="•"/>
              <a:defRPr/>
            </a:pPr>
            <a:r>
              <a:rPr lang="en-US" sz="850" kern="100">
                <a:solidFill>
                  <a:prstClr val="black"/>
                </a:solidFill>
                <a:latin typeface="Aptos" panose="020B0004020202020204" pitchFamily="34" charset="0"/>
                <a:cs typeface="Times New Roman"/>
              </a:rPr>
              <a:t>Phase 3 GIN components – Live in Production</a:t>
            </a:r>
          </a:p>
          <a:p>
            <a:pPr marL="171450" indent="-171450">
              <a:lnSpc>
                <a:spcPct val="114999"/>
              </a:lnSpc>
              <a:spcBef>
                <a:spcPts val="200"/>
              </a:spcBef>
              <a:buSzPts val="1000"/>
              <a:buFont typeface="Arial" panose="020B0604020202020204" pitchFamily="34" charset="0"/>
              <a:buChar char="•"/>
              <a:defRPr/>
            </a:pPr>
            <a:r>
              <a:rPr lang="en-US" sz="850" kern="100">
                <a:solidFill>
                  <a:prstClr val="black"/>
                </a:solidFill>
                <a:latin typeface="Aptos" panose="020B0004020202020204" pitchFamily="34" charset="0"/>
                <a:cs typeface="Times New Roman"/>
              </a:rPr>
              <a:t>Phase 2 – </a:t>
            </a:r>
            <a:r>
              <a:rPr lang="en-US" sz="850" kern="100" err="1">
                <a:solidFill>
                  <a:prstClr val="black"/>
                </a:solidFill>
                <a:latin typeface="Aptos" panose="020B0004020202020204" pitchFamily="34" charset="0"/>
                <a:cs typeface="Times New Roman"/>
              </a:rPr>
              <a:t>Medone</a:t>
            </a:r>
            <a:r>
              <a:rPr lang="en-US" sz="850" kern="100">
                <a:solidFill>
                  <a:prstClr val="black"/>
                </a:solidFill>
                <a:latin typeface="Aptos" panose="020B0004020202020204" pitchFamily="34" charset="0"/>
                <a:cs typeface="Times New Roman"/>
              </a:rPr>
              <a:t> and </a:t>
            </a:r>
            <a:r>
              <a:rPr lang="en-US" sz="850" kern="100" err="1">
                <a:solidFill>
                  <a:prstClr val="black"/>
                </a:solidFill>
                <a:latin typeface="Aptos" panose="020B0004020202020204" pitchFamily="34" charset="0"/>
                <a:cs typeface="Times New Roman"/>
              </a:rPr>
              <a:t>Concurse</a:t>
            </a:r>
            <a:r>
              <a:rPr lang="en-US" sz="850" kern="100">
                <a:solidFill>
                  <a:prstClr val="black"/>
                </a:solidFill>
                <a:latin typeface="Aptos" panose="020B0004020202020204" pitchFamily="34" charset="0"/>
                <a:cs typeface="Times New Roman"/>
              </a:rPr>
              <a:t> Deployed and live in production</a:t>
            </a:r>
          </a:p>
          <a:p>
            <a:pPr marL="171450" indent="-171450">
              <a:lnSpc>
                <a:spcPct val="114999"/>
              </a:lnSpc>
              <a:spcBef>
                <a:spcPts val="200"/>
              </a:spcBef>
              <a:buSzPts val="1000"/>
              <a:buFont typeface="Arial" panose="020B0604020202020204" pitchFamily="34" charset="0"/>
              <a:buChar char="•"/>
              <a:defRPr/>
            </a:pPr>
            <a:r>
              <a:rPr lang="en-US" sz="850" kern="100">
                <a:solidFill>
                  <a:prstClr val="black"/>
                </a:solidFill>
                <a:latin typeface="Aptos" panose="020B0004020202020204" pitchFamily="34" charset="0"/>
                <a:cs typeface="Times New Roman"/>
              </a:rPr>
              <a:t>Phase 2 – S3 and ECIF Live in production</a:t>
            </a:r>
          </a:p>
        </p:txBody>
      </p:sp>
      <p:sp>
        <p:nvSpPr>
          <p:cNvPr id="3" name="TextBox 2">
            <a:extLst>
              <a:ext uri="{FF2B5EF4-FFF2-40B4-BE49-F238E27FC236}">
                <a16:creationId xmlns:a16="http://schemas.microsoft.com/office/drawing/2014/main" id="{8EA13B89-3E26-5531-52FC-24065B0D32F2}"/>
              </a:ext>
            </a:extLst>
          </p:cNvPr>
          <p:cNvSpPr txBox="1"/>
          <p:nvPr/>
        </p:nvSpPr>
        <p:spPr>
          <a:xfrm>
            <a:off x="9350357" y="71618"/>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t>
            </a:r>
            <a:r>
              <a:rPr lang="en-US" sz="1200">
                <a:solidFill>
                  <a:prstClr val="black"/>
                </a:solidFill>
                <a:latin typeface="Aptos" panose="02110004020202020204"/>
              </a:rPr>
              <a:t>Rekha Kothandaraman</a:t>
            </a:r>
            <a:endParaRPr lang="en-US">
              <a:solidFill>
                <a:prstClr val="black"/>
              </a:solidFill>
              <a:ea typeface="+mn-ea"/>
              <a:cs typeface="+mn-cs"/>
            </a:endParaRPr>
          </a:p>
          <a:p>
            <a:pPr>
              <a:lnSpc>
                <a:spcPct val="112000"/>
              </a:lnSpc>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a:t>
            </a:r>
            <a:r>
              <a:rPr lang="en-US" sz="1200">
                <a:solidFill>
                  <a:prstClr val="black"/>
                </a:solidFill>
                <a:latin typeface="Aptos" panose="02110004020202020204"/>
              </a:rPr>
              <a:t>Victor</a:t>
            </a:r>
            <a:endParaRPr lang="en-US" sz="1200" b="0" i="0" u="none" strike="noStrike" kern="1200" cap="none" spc="0" normalizeH="0" baseline="0" noProof="0">
              <a:ln>
                <a:noFill/>
              </a:ln>
              <a:solidFill>
                <a:prstClr val="black"/>
              </a:solidFill>
              <a:effectLst/>
              <a:uLnTx/>
              <a:uFillTx/>
              <a:latin typeface="Aptos" panose="02110004020202020204"/>
            </a:endParaRPr>
          </a:p>
        </p:txBody>
      </p:sp>
      <p:sp>
        <p:nvSpPr>
          <p:cNvPr id="6" name="Flowchart: Connector 5">
            <a:extLst>
              <a:ext uri="{FF2B5EF4-FFF2-40B4-BE49-F238E27FC236}">
                <a16:creationId xmlns:a16="http://schemas.microsoft.com/office/drawing/2014/main" id="{88AB5541-7B6B-5DA1-B510-D5E29D1D5207}"/>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093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871E4-7479-133C-D662-47AD04CE4CE1}"/>
              </a:ext>
            </a:extLst>
          </p:cNvPr>
          <p:cNvSpPr>
            <a:spLocks noGrp="1"/>
          </p:cNvSpPr>
          <p:nvPr>
            <p:ph type="title"/>
          </p:nvPr>
        </p:nvSpPr>
        <p:spPr/>
        <p:txBody>
          <a:bodyPr/>
          <a:lstStyle/>
          <a:p>
            <a:r>
              <a:rPr lang="en-US"/>
              <a:t>Planning Funnel</a:t>
            </a:r>
          </a:p>
        </p:txBody>
      </p:sp>
    </p:spTree>
    <p:extLst>
      <p:ext uri="{BB962C8B-B14F-4D97-AF65-F5344CB8AC3E}">
        <p14:creationId xmlns:p14="http://schemas.microsoft.com/office/powerpoint/2010/main" val="1674353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E2D9-8625-2669-BD55-89B0675546B5}"/>
              </a:ext>
            </a:extLst>
          </p:cNvPr>
          <p:cNvSpPr>
            <a:spLocks noGrp="1"/>
          </p:cNvSpPr>
          <p:nvPr>
            <p:ph type="title"/>
          </p:nvPr>
        </p:nvSpPr>
        <p:spPr>
          <a:xfrm>
            <a:off x="127654" y="60298"/>
            <a:ext cx="10515600" cy="653214"/>
          </a:xfrm>
        </p:spPr>
        <p:txBody>
          <a:bodyPr>
            <a:normAutofit/>
          </a:bodyPr>
          <a:lstStyle/>
          <a:p>
            <a:r>
              <a:rPr lang="en-US"/>
              <a:t>Business Backlog</a:t>
            </a:r>
          </a:p>
        </p:txBody>
      </p:sp>
      <p:sp>
        <p:nvSpPr>
          <p:cNvPr id="5" name="TextBox 4">
            <a:extLst>
              <a:ext uri="{FF2B5EF4-FFF2-40B4-BE49-F238E27FC236}">
                <a16:creationId xmlns:a16="http://schemas.microsoft.com/office/drawing/2014/main" id="{F67FBA47-4F21-65A7-C6EC-AE485E33DBA3}"/>
              </a:ext>
            </a:extLst>
          </p:cNvPr>
          <p:cNvSpPr txBox="1"/>
          <p:nvPr/>
        </p:nvSpPr>
        <p:spPr>
          <a:xfrm>
            <a:off x="175758" y="585103"/>
            <a:ext cx="1083509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Of the 7 items currently in Business Backlog, 3 have been received through IT Intake but returned to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pending further business input. And 3 are new pending triage.  The remainder are placeholders for 2027 identified focus areas pending business requirements and a new intake. </a:t>
            </a:r>
          </a:p>
        </p:txBody>
      </p:sp>
      <p:grpSp>
        <p:nvGrpSpPr>
          <p:cNvPr id="6" name="Group 5">
            <a:extLst>
              <a:ext uri="{FF2B5EF4-FFF2-40B4-BE49-F238E27FC236}">
                <a16:creationId xmlns:a16="http://schemas.microsoft.com/office/drawing/2014/main" id="{A8FC1BD2-486D-BEFF-8946-D818DEF338CA}"/>
              </a:ext>
            </a:extLst>
          </p:cNvPr>
          <p:cNvGrpSpPr/>
          <p:nvPr/>
        </p:nvGrpSpPr>
        <p:grpSpPr>
          <a:xfrm>
            <a:off x="9629191" y="73824"/>
            <a:ext cx="2435155" cy="911208"/>
            <a:chOff x="7996335" y="4089215"/>
            <a:chExt cx="3004322" cy="1323375"/>
          </a:xfrm>
        </p:grpSpPr>
        <p:pic>
          <p:nvPicPr>
            <p:cNvPr id="7" name="Picture 6">
              <a:extLst>
                <a:ext uri="{FF2B5EF4-FFF2-40B4-BE49-F238E27FC236}">
                  <a16:creationId xmlns:a16="http://schemas.microsoft.com/office/drawing/2014/main" id="{59D23E1A-92BF-AC53-0EB9-E28B6C97E660}"/>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8" name="Picture 7">
              <a:extLst>
                <a:ext uri="{FF2B5EF4-FFF2-40B4-BE49-F238E27FC236}">
                  <a16:creationId xmlns:a16="http://schemas.microsoft.com/office/drawing/2014/main" id="{E5748CCD-4216-2509-B9BF-D0AED089EE0D}"/>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13" name="Picture 12">
            <a:extLst>
              <a:ext uri="{FF2B5EF4-FFF2-40B4-BE49-F238E27FC236}">
                <a16:creationId xmlns:a16="http://schemas.microsoft.com/office/drawing/2014/main" id="{835835D1-05EE-8B5F-D59C-2E4293710605}"/>
              </a:ext>
            </a:extLst>
          </p:cNvPr>
          <p:cNvPicPr>
            <a:picLocks noChangeAspect="1"/>
          </p:cNvPicPr>
          <p:nvPr/>
        </p:nvPicPr>
        <p:blipFill>
          <a:blip r:embed="rId4"/>
          <a:stretch>
            <a:fillRect/>
          </a:stretch>
        </p:blipFill>
        <p:spPr>
          <a:xfrm>
            <a:off x="118139" y="1573846"/>
            <a:ext cx="11851369" cy="5210329"/>
          </a:xfrm>
          <a:prstGeom prst="rect">
            <a:avLst/>
          </a:prstGeom>
        </p:spPr>
      </p:pic>
    </p:spTree>
    <p:extLst>
      <p:ext uri="{BB962C8B-B14F-4D97-AF65-F5344CB8AC3E}">
        <p14:creationId xmlns:p14="http://schemas.microsoft.com/office/powerpoint/2010/main" val="1893153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538AD-EC2D-3336-EBF6-84D27B880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0BFF3-C894-4091-63CD-179A487BB9A3}"/>
              </a:ext>
            </a:extLst>
          </p:cNvPr>
          <p:cNvSpPr>
            <a:spLocks noGrp="1"/>
          </p:cNvSpPr>
          <p:nvPr>
            <p:ph type="title"/>
          </p:nvPr>
        </p:nvSpPr>
        <p:spPr>
          <a:xfrm>
            <a:off x="517088" y="202821"/>
            <a:ext cx="10515600" cy="653214"/>
          </a:xfrm>
        </p:spPr>
        <p:txBody>
          <a:bodyPr>
            <a:normAutofit/>
          </a:bodyPr>
          <a:lstStyle/>
          <a:p>
            <a:r>
              <a:rPr lang="en-US"/>
              <a:t>Plan Backlog</a:t>
            </a:r>
          </a:p>
        </p:txBody>
      </p:sp>
      <p:grpSp>
        <p:nvGrpSpPr>
          <p:cNvPr id="3" name="Group 2">
            <a:extLst>
              <a:ext uri="{FF2B5EF4-FFF2-40B4-BE49-F238E27FC236}">
                <a16:creationId xmlns:a16="http://schemas.microsoft.com/office/drawing/2014/main" id="{9C8936F3-9E28-C611-B8CC-5E92156FE034}"/>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4F9FC2BA-F4E1-8F3E-F307-5111AB8C36D6}"/>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9CF673F1-B616-F4CF-4A6A-77000FC6A240}"/>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8" name="Picture 7">
            <a:extLst>
              <a:ext uri="{FF2B5EF4-FFF2-40B4-BE49-F238E27FC236}">
                <a16:creationId xmlns:a16="http://schemas.microsoft.com/office/drawing/2014/main" id="{9A7E0CF2-D945-EBD4-5D17-122F4D05D67A}"/>
              </a:ext>
            </a:extLst>
          </p:cNvPr>
          <p:cNvPicPr>
            <a:picLocks noChangeAspect="1"/>
          </p:cNvPicPr>
          <p:nvPr/>
        </p:nvPicPr>
        <p:blipFill>
          <a:blip r:embed="rId4"/>
          <a:stretch>
            <a:fillRect/>
          </a:stretch>
        </p:blipFill>
        <p:spPr>
          <a:xfrm>
            <a:off x="0" y="1432728"/>
            <a:ext cx="12192000" cy="1135071"/>
          </a:xfrm>
          <a:prstGeom prst="rect">
            <a:avLst/>
          </a:prstGeom>
        </p:spPr>
      </p:pic>
    </p:spTree>
    <p:extLst>
      <p:ext uri="{BB962C8B-B14F-4D97-AF65-F5344CB8AC3E}">
        <p14:creationId xmlns:p14="http://schemas.microsoft.com/office/powerpoint/2010/main" val="1597447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11F9-78FB-C1C0-FF45-61AC3A6CC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7E7F5-D848-10C5-BAC6-31C6097B6E5D}"/>
              </a:ext>
            </a:extLst>
          </p:cNvPr>
          <p:cNvSpPr>
            <a:spLocks noGrp="1"/>
          </p:cNvSpPr>
          <p:nvPr>
            <p:ph type="title"/>
          </p:nvPr>
        </p:nvSpPr>
        <p:spPr>
          <a:xfrm>
            <a:off x="56190" y="8510"/>
            <a:ext cx="10515600" cy="653214"/>
          </a:xfrm>
        </p:spPr>
        <p:txBody>
          <a:bodyPr>
            <a:normAutofit/>
          </a:bodyPr>
          <a:lstStyle/>
          <a:p>
            <a:r>
              <a:rPr lang="en-US"/>
              <a:t>HLA Backlog</a:t>
            </a:r>
          </a:p>
        </p:txBody>
      </p:sp>
      <p:sp>
        <p:nvSpPr>
          <p:cNvPr id="5" name="TextBox 4">
            <a:extLst>
              <a:ext uri="{FF2B5EF4-FFF2-40B4-BE49-F238E27FC236}">
                <a16:creationId xmlns:a16="http://schemas.microsoft.com/office/drawing/2014/main" id="{101C4DFC-4319-1AF0-CB55-8732D60637DE}"/>
              </a:ext>
            </a:extLst>
          </p:cNvPr>
          <p:cNvSpPr txBox="1"/>
          <p:nvPr/>
        </p:nvSpPr>
        <p:spPr>
          <a:xfrm>
            <a:off x="286639" y="684855"/>
            <a:ext cx="91121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10 items currently in assessment / estimation process. </a:t>
            </a:r>
          </a:p>
        </p:txBody>
      </p:sp>
      <p:grpSp>
        <p:nvGrpSpPr>
          <p:cNvPr id="3" name="Group 2">
            <a:extLst>
              <a:ext uri="{FF2B5EF4-FFF2-40B4-BE49-F238E27FC236}">
                <a16:creationId xmlns:a16="http://schemas.microsoft.com/office/drawing/2014/main" id="{B2653FB4-6E17-3B9E-6A88-493DB0FED80B}"/>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7B6245B3-71A1-905F-426C-5B418E61F6ED}"/>
                </a:ext>
              </a:extLst>
            </p:cNvPr>
            <p:cNvPicPr>
              <a:picLocks noChangeAspect="1"/>
            </p:cNvPicPr>
            <p:nvPr/>
          </p:nvPicPr>
          <p:blipFill>
            <a:blip r:embed="rId3"/>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CDAEFD7F-672B-F232-FD4A-2C0357030621}"/>
                </a:ext>
              </a:extLst>
            </p:cNvPr>
            <p:cNvPicPr>
              <a:picLocks noChangeAspect="1"/>
            </p:cNvPicPr>
            <p:nvPr/>
          </p:nvPicPr>
          <p:blipFill>
            <a:blip r:embed="rId4"/>
            <a:stretch>
              <a:fillRect/>
            </a:stretch>
          </p:blipFill>
          <p:spPr>
            <a:xfrm>
              <a:off x="7996335" y="4089215"/>
              <a:ext cx="3004322" cy="1043764"/>
            </a:xfrm>
            <a:prstGeom prst="rect">
              <a:avLst/>
            </a:prstGeom>
          </p:spPr>
        </p:pic>
      </p:grpSp>
      <p:pic>
        <p:nvPicPr>
          <p:cNvPr id="9" name="Picture 8">
            <a:extLst>
              <a:ext uri="{FF2B5EF4-FFF2-40B4-BE49-F238E27FC236}">
                <a16:creationId xmlns:a16="http://schemas.microsoft.com/office/drawing/2014/main" id="{3EEA034D-BD87-71C7-F79C-E7A5FF58D81D}"/>
              </a:ext>
            </a:extLst>
          </p:cNvPr>
          <p:cNvPicPr>
            <a:picLocks noChangeAspect="1"/>
          </p:cNvPicPr>
          <p:nvPr/>
        </p:nvPicPr>
        <p:blipFill>
          <a:blip r:embed="rId5"/>
          <a:stretch>
            <a:fillRect/>
          </a:stretch>
        </p:blipFill>
        <p:spPr>
          <a:xfrm>
            <a:off x="337704" y="1308196"/>
            <a:ext cx="11516591" cy="5549803"/>
          </a:xfrm>
          <a:prstGeom prst="rect">
            <a:avLst/>
          </a:prstGeom>
        </p:spPr>
      </p:pic>
    </p:spTree>
    <p:extLst>
      <p:ext uri="{BB962C8B-B14F-4D97-AF65-F5344CB8AC3E}">
        <p14:creationId xmlns:p14="http://schemas.microsoft.com/office/powerpoint/2010/main" val="276542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C5885-C519-2FCF-C75A-CCA60ACAE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E68C0-5E70-F147-25FE-08CB58450FDD}"/>
              </a:ext>
            </a:extLst>
          </p:cNvPr>
          <p:cNvSpPr>
            <a:spLocks noGrp="1"/>
          </p:cNvSpPr>
          <p:nvPr>
            <p:ph type="title"/>
          </p:nvPr>
        </p:nvSpPr>
        <p:spPr>
          <a:xfrm>
            <a:off x="56190" y="8510"/>
            <a:ext cx="10515600" cy="653214"/>
          </a:xfrm>
        </p:spPr>
        <p:txBody>
          <a:bodyPr>
            <a:normAutofit/>
          </a:bodyPr>
          <a:lstStyle/>
          <a:p>
            <a:r>
              <a:rPr lang="en-US"/>
              <a:t>Pending Funding Backlog -</a:t>
            </a:r>
          </a:p>
        </p:txBody>
      </p:sp>
      <p:sp>
        <p:nvSpPr>
          <p:cNvPr id="5" name="TextBox 4">
            <a:extLst>
              <a:ext uri="{FF2B5EF4-FFF2-40B4-BE49-F238E27FC236}">
                <a16:creationId xmlns:a16="http://schemas.microsoft.com/office/drawing/2014/main" id="{24B61576-C7DA-F043-DC8B-C554798D2BF7}"/>
              </a:ext>
            </a:extLst>
          </p:cNvPr>
          <p:cNvSpPr txBox="1"/>
          <p:nvPr/>
        </p:nvSpPr>
        <p:spPr>
          <a:xfrm>
            <a:off x="56190" y="703288"/>
            <a:ext cx="97638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Aptos" panose="02110004020202020204"/>
              </a:rPr>
              <a:t>4</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total items pending funding and prioritization. One requires </a:t>
            </a:r>
            <a:r>
              <a:rPr lang="en-US">
                <a:solidFill>
                  <a:prstClr val="black"/>
                </a:solidFill>
                <a:latin typeface="Aptos" panose="02110004020202020204"/>
              </a:rPr>
              <a:t>f</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ollow</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-up with external team to understand 2027 </a:t>
            </a:r>
            <a:r>
              <a:rPr lang="en-US">
                <a:solidFill>
                  <a:prstClr val="black"/>
                </a:solidFill>
                <a:latin typeface="Aptos" panose="02110004020202020204"/>
              </a:rPr>
              <a:t>external funding impacts. </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3" name="Group 2">
            <a:extLst>
              <a:ext uri="{FF2B5EF4-FFF2-40B4-BE49-F238E27FC236}">
                <a16:creationId xmlns:a16="http://schemas.microsoft.com/office/drawing/2014/main" id="{A9ACB3FE-3B26-68C3-7280-B290084325B5}"/>
              </a:ext>
            </a:extLst>
          </p:cNvPr>
          <p:cNvGrpSpPr/>
          <p:nvPr/>
        </p:nvGrpSpPr>
        <p:grpSpPr>
          <a:xfrm>
            <a:off x="9049412" y="3"/>
            <a:ext cx="3014941" cy="998232"/>
            <a:chOff x="7996335" y="4089215"/>
            <a:chExt cx="3004322" cy="1323375"/>
          </a:xfrm>
        </p:grpSpPr>
        <p:pic>
          <p:nvPicPr>
            <p:cNvPr id="6" name="Picture 5">
              <a:extLst>
                <a:ext uri="{FF2B5EF4-FFF2-40B4-BE49-F238E27FC236}">
                  <a16:creationId xmlns:a16="http://schemas.microsoft.com/office/drawing/2014/main" id="{F75D128C-6013-B609-2FF3-CC27C418C96F}"/>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1E2957DB-40BD-8124-76FE-1DB6B81BC6A5}"/>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9" name="Picture 8">
            <a:extLst>
              <a:ext uri="{FF2B5EF4-FFF2-40B4-BE49-F238E27FC236}">
                <a16:creationId xmlns:a16="http://schemas.microsoft.com/office/drawing/2014/main" id="{105BDD7D-B317-2868-01C0-3B2165AFA23F}"/>
              </a:ext>
            </a:extLst>
          </p:cNvPr>
          <p:cNvPicPr>
            <a:picLocks noChangeAspect="1"/>
          </p:cNvPicPr>
          <p:nvPr/>
        </p:nvPicPr>
        <p:blipFill>
          <a:blip r:embed="rId4"/>
          <a:stretch>
            <a:fillRect/>
          </a:stretch>
        </p:blipFill>
        <p:spPr>
          <a:xfrm>
            <a:off x="0" y="1522502"/>
            <a:ext cx="12192000" cy="4367659"/>
          </a:xfrm>
          <a:prstGeom prst="rect">
            <a:avLst/>
          </a:prstGeom>
        </p:spPr>
      </p:pic>
    </p:spTree>
    <p:extLst>
      <p:ext uri="{BB962C8B-B14F-4D97-AF65-F5344CB8AC3E}">
        <p14:creationId xmlns:p14="http://schemas.microsoft.com/office/powerpoint/2010/main" val="6346055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C4DB-CB6B-A7D1-3794-C7BE906C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8538-1C87-6A46-B3F4-276C1E688F15}"/>
              </a:ext>
            </a:extLst>
          </p:cNvPr>
          <p:cNvSpPr>
            <a:spLocks noGrp="1"/>
          </p:cNvSpPr>
          <p:nvPr>
            <p:ph type="title"/>
          </p:nvPr>
        </p:nvSpPr>
        <p:spPr>
          <a:xfrm>
            <a:off x="197597" y="28841"/>
            <a:ext cx="10515600" cy="653214"/>
          </a:xfrm>
        </p:spPr>
        <p:txBody>
          <a:bodyPr>
            <a:normAutofit/>
          </a:bodyPr>
          <a:lstStyle/>
          <a:p>
            <a:r>
              <a:rPr lang="en-US"/>
              <a:t>Closed / On Hold in Last Month </a:t>
            </a:r>
          </a:p>
        </p:txBody>
      </p:sp>
      <p:sp>
        <p:nvSpPr>
          <p:cNvPr id="5" name="TextBox 4">
            <a:extLst>
              <a:ext uri="{FF2B5EF4-FFF2-40B4-BE49-F238E27FC236}">
                <a16:creationId xmlns:a16="http://schemas.microsoft.com/office/drawing/2014/main" id="{228EC7C2-4B3A-5CDD-F597-67EAAC41807A}"/>
              </a:ext>
            </a:extLst>
          </p:cNvPr>
          <p:cNvSpPr txBox="1"/>
          <p:nvPr/>
        </p:nvSpPr>
        <p:spPr>
          <a:xfrm>
            <a:off x="107302" y="609616"/>
            <a:ext cx="106961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Items that were denied funding, de-prioritized, or closed for other reasons in the last month</a:t>
            </a:r>
          </a:p>
        </p:txBody>
      </p:sp>
      <p:grpSp>
        <p:nvGrpSpPr>
          <p:cNvPr id="3" name="Group 2">
            <a:extLst>
              <a:ext uri="{FF2B5EF4-FFF2-40B4-BE49-F238E27FC236}">
                <a16:creationId xmlns:a16="http://schemas.microsoft.com/office/drawing/2014/main" id="{6885FAB6-52C2-7CFD-9938-CC85944C6432}"/>
              </a:ext>
            </a:extLst>
          </p:cNvPr>
          <p:cNvGrpSpPr/>
          <p:nvPr/>
        </p:nvGrpSpPr>
        <p:grpSpPr>
          <a:xfrm>
            <a:off x="9629191" y="73824"/>
            <a:ext cx="2435155" cy="842823"/>
            <a:chOff x="7996335" y="4089215"/>
            <a:chExt cx="3004322" cy="1323375"/>
          </a:xfrm>
        </p:grpSpPr>
        <p:pic>
          <p:nvPicPr>
            <p:cNvPr id="6" name="Picture 5">
              <a:extLst>
                <a:ext uri="{FF2B5EF4-FFF2-40B4-BE49-F238E27FC236}">
                  <a16:creationId xmlns:a16="http://schemas.microsoft.com/office/drawing/2014/main" id="{CBA3C111-E5ED-15C5-B314-3F41E570309C}"/>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16866666-F4F3-B95E-81D5-EB32182A51A3}"/>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9" name="Picture 8">
            <a:extLst>
              <a:ext uri="{FF2B5EF4-FFF2-40B4-BE49-F238E27FC236}">
                <a16:creationId xmlns:a16="http://schemas.microsoft.com/office/drawing/2014/main" id="{01E948CB-9931-82A8-7FB3-5129DCDBF194}"/>
              </a:ext>
            </a:extLst>
          </p:cNvPr>
          <p:cNvPicPr>
            <a:picLocks noChangeAspect="1"/>
          </p:cNvPicPr>
          <p:nvPr/>
        </p:nvPicPr>
        <p:blipFill>
          <a:blip r:embed="rId4"/>
          <a:stretch>
            <a:fillRect/>
          </a:stretch>
        </p:blipFill>
        <p:spPr>
          <a:xfrm>
            <a:off x="0" y="1340094"/>
            <a:ext cx="12192000" cy="4908290"/>
          </a:xfrm>
          <a:prstGeom prst="rect">
            <a:avLst/>
          </a:prstGeom>
        </p:spPr>
      </p:pic>
    </p:spTree>
    <p:extLst>
      <p:ext uri="{BB962C8B-B14F-4D97-AF65-F5344CB8AC3E}">
        <p14:creationId xmlns:p14="http://schemas.microsoft.com/office/powerpoint/2010/main" val="775285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A506F-2664-1C52-7295-57C6AC018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79994-19C2-74EF-70B4-771552B78437}"/>
              </a:ext>
            </a:extLst>
          </p:cNvPr>
          <p:cNvSpPr>
            <a:spLocks noGrp="1"/>
          </p:cNvSpPr>
          <p:nvPr>
            <p:ph type="title"/>
          </p:nvPr>
        </p:nvSpPr>
        <p:spPr>
          <a:xfrm>
            <a:off x="197597" y="28841"/>
            <a:ext cx="10515600" cy="653214"/>
          </a:xfrm>
        </p:spPr>
        <p:txBody>
          <a:bodyPr>
            <a:normAutofit/>
          </a:bodyPr>
          <a:lstStyle/>
          <a:p>
            <a:r>
              <a:rPr lang="en-US"/>
              <a:t>Plan to Build Start</a:t>
            </a:r>
          </a:p>
        </p:txBody>
      </p:sp>
      <p:sp>
        <p:nvSpPr>
          <p:cNvPr id="5" name="TextBox 4">
            <a:extLst>
              <a:ext uri="{FF2B5EF4-FFF2-40B4-BE49-F238E27FC236}">
                <a16:creationId xmlns:a16="http://schemas.microsoft.com/office/drawing/2014/main" id="{88E2DDD4-E84E-84E3-EBE6-41C879DCB811}"/>
              </a:ext>
            </a:extLst>
          </p:cNvPr>
          <p:cNvSpPr txBox="1"/>
          <p:nvPr/>
        </p:nvSpPr>
        <p:spPr>
          <a:xfrm>
            <a:off x="75819" y="744921"/>
            <a:ext cx="1084867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Currently 8 items in Plan to Build, 4 are in progress and 4 are pending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businessrequirements</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3" name="Group 2">
            <a:extLst>
              <a:ext uri="{FF2B5EF4-FFF2-40B4-BE49-F238E27FC236}">
                <a16:creationId xmlns:a16="http://schemas.microsoft.com/office/drawing/2014/main" id="{E968DBF9-8249-914D-BBBA-270078E990E5}"/>
              </a:ext>
            </a:extLst>
          </p:cNvPr>
          <p:cNvGrpSpPr/>
          <p:nvPr/>
        </p:nvGrpSpPr>
        <p:grpSpPr>
          <a:xfrm>
            <a:off x="9681027" y="91707"/>
            <a:ext cx="2435154" cy="813544"/>
            <a:chOff x="7996335" y="4089215"/>
            <a:chExt cx="3004322" cy="1323375"/>
          </a:xfrm>
        </p:grpSpPr>
        <p:pic>
          <p:nvPicPr>
            <p:cNvPr id="6" name="Picture 5">
              <a:extLst>
                <a:ext uri="{FF2B5EF4-FFF2-40B4-BE49-F238E27FC236}">
                  <a16:creationId xmlns:a16="http://schemas.microsoft.com/office/drawing/2014/main" id="{4D80B057-3640-0522-09E6-260020208181}"/>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418AA6EB-3D5C-3E76-A5D5-719876AECF19}"/>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9" name="Picture 8">
            <a:extLst>
              <a:ext uri="{FF2B5EF4-FFF2-40B4-BE49-F238E27FC236}">
                <a16:creationId xmlns:a16="http://schemas.microsoft.com/office/drawing/2014/main" id="{52ADABDC-3E89-7D3E-36AF-C7840D5F635A}"/>
              </a:ext>
            </a:extLst>
          </p:cNvPr>
          <p:cNvPicPr>
            <a:picLocks noChangeAspect="1"/>
          </p:cNvPicPr>
          <p:nvPr/>
        </p:nvPicPr>
        <p:blipFill>
          <a:blip r:embed="rId4"/>
          <a:stretch>
            <a:fillRect/>
          </a:stretch>
        </p:blipFill>
        <p:spPr>
          <a:xfrm>
            <a:off x="0" y="1620235"/>
            <a:ext cx="12192000" cy="4947565"/>
          </a:xfrm>
          <a:prstGeom prst="rect">
            <a:avLst/>
          </a:prstGeom>
        </p:spPr>
      </p:pic>
    </p:spTree>
    <p:extLst>
      <p:ext uri="{BB962C8B-B14F-4D97-AF65-F5344CB8AC3E}">
        <p14:creationId xmlns:p14="http://schemas.microsoft.com/office/powerpoint/2010/main" val="20650326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8CEC-B7FA-4BDA-AD3D-E1AD0C53A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9C381-8332-0816-2227-9CA95062D8C2}"/>
              </a:ext>
            </a:extLst>
          </p:cNvPr>
          <p:cNvSpPr>
            <a:spLocks noGrp="1"/>
          </p:cNvSpPr>
          <p:nvPr>
            <p:ph type="title"/>
          </p:nvPr>
        </p:nvSpPr>
        <p:spPr>
          <a:xfrm>
            <a:off x="197597" y="28841"/>
            <a:ext cx="10515600" cy="653214"/>
          </a:xfrm>
        </p:spPr>
        <p:txBody>
          <a:bodyPr>
            <a:normAutofit/>
          </a:bodyPr>
          <a:lstStyle/>
          <a:p>
            <a:r>
              <a:rPr lang="en-US"/>
              <a:t>Plan to Build /Ready for Hand-off</a:t>
            </a:r>
          </a:p>
        </p:txBody>
      </p:sp>
      <p:sp>
        <p:nvSpPr>
          <p:cNvPr id="5" name="TextBox 4">
            <a:extLst>
              <a:ext uri="{FF2B5EF4-FFF2-40B4-BE49-F238E27FC236}">
                <a16:creationId xmlns:a16="http://schemas.microsoft.com/office/drawing/2014/main" id="{C6FA3BE6-CCCC-31E5-E23F-BB04B938CE79}"/>
              </a:ext>
            </a:extLst>
          </p:cNvPr>
          <p:cNvSpPr txBox="1"/>
          <p:nvPr/>
        </p:nvSpPr>
        <p:spPr>
          <a:xfrm>
            <a:off x="75815" y="682055"/>
            <a:ext cx="1084867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Currently 7 items pending straight to the line hand-off.  Two on the list will move to Carryover at the end of September</a:t>
            </a:r>
          </a:p>
        </p:txBody>
      </p:sp>
      <p:grpSp>
        <p:nvGrpSpPr>
          <p:cNvPr id="3" name="Group 2">
            <a:extLst>
              <a:ext uri="{FF2B5EF4-FFF2-40B4-BE49-F238E27FC236}">
                <a16:creationId xmlns:a16="http://schemas.microsoft.com/office/drawing/2014/main" id="{46BBABAA-B772-203F-9D86-38415C26CAF1}"/>
              </a:ext>
            </a:extLst>
          </p:cNvPr>
          <p:cNvGrpSpPr/>
          <p:nvPr/>
        </p:nvGrpSpPr>
        <p:grpSpPr>
          <a:xfrm>
            <a:off x="9681030" y="91711"/>
            <a:ext cx="2435155" cy="813545"/>
            <a:chOff x="7996335" y="4089215"/>
            <a:chExt cx="3004322" cy="1323375"/>
          </a:xfrm>
        </p:grpSpPr>
        <p:pic>
          <p:nvPicPr>
            <p:cNvPr id="6" name="Picture 5">
              <a:extLst>
                <a:ext uri="{FF2B5EF4-FFF2-40B4-BE49-F238E27FC236}">
                  <a16:creationId xmlns:a16="http://schemas.microsoft.com/office/drawing/2014/main" id="{EE0094C0-AD54-32EC-D692-195DD0A78C67}"/>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CC7882DD-D8F0-68A5-B4EE-25D99696B1D6}"/>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11" name="Picture 10">
            <a:extLst>
              <a:ext uri="{FF2B5EF4-FFF2-40B4-BE49-F238E27FC236}">
                <a16:creationId xmlns:a16="http://schemas.microsoft.com/office/drawing/2014/main" id="{0B2F5094-FAF9-5B7B-5293-3E1B9C5A46A9}"/>
              </a:ext>
            </a:extLst>
          </p:cNvPr>
          <p:cNvPicPr>
            <a:picLocks noChangeAspect="1"/>
          </p:cNvPicPr>
          <p:nvPr/>
        </p:nvPicPr>
        <p:blipFill>
          <a:blip r:embed="rId4"/>
          <a:stretch>
            <a:fillRect/>
          </a:stretch>
        </p:blipFill>
        <p:spPr>
          <a:xfrm>
            <a:off x="0" y="1575465"/>
            <a:ext cx="12192000" cy="4797639"/>
          </a:xfrm>
          <a:prstGeom prst="rect">
            <a:avLst/>
          </a:prstGeom>
        </p:spPr>
      </p:pic>
    </p:spTree>
    <p:extLst>
      <p:ext uri="{BB962C8B-B14F-4D97-AF65-F5344CB8AC3E}">
        <p14:creationId xmlns:p14="http://schemas.microsoft.com/office/powerpoint/2010/main" val="1546739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D4D78-9E7F-95E9-E0FB-8CB5EE7C4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CC3E9-0D64-0F86-5290-1F820212288C}"/>
              </a:ext>
            </a:extLst>
          </p:cNvPr>
          <p:cNvSpPr>
            <a:spLocks noGrp="1"/>
          </p:cNvSpPr>
          <p:nvPr>
            <p:ph type="title"/>
          </p:nvPr>
        </p:nvSpPr>
        <p:spPr>
          <a:xfrm>
            <a:off x="197597" y="28841"/>
            <a:ext cx="10515600" cy="653214"/>
          </a:xfrm>
        </p:spPr>
        <p:txBody>
          <a:bodyPr>
            <a:normAutofit/>
          </a:bodyPr>
          <a:lstStyle/>
          <a:p>
            <a:r>
              <a:rPr lang="en-US"/>
              <a:t>Carryover</a:t>
            </a:r>
          </a:p>
        </p:txBody>
      </p:sp>
      <p:sp>
        <p:nvSpPr>
          <p:cNvPr id="5" name="TextBox 4">
            <a:extLst>
              <a:ext uri="{FF2B5EF4-FFF2-40B4-BE49-F238E27FC236}">
                <a16:creationId xmlns:a16="http://schemas.microsoft.com/office/drawing/2014/main" id="{DD3B2E5F-7AD9-EB77-2DB1-78DF7CE78644}"/>
              </a:ext>
            </a:extLst>
          </p:cNvPr>
          <p:cNvSpPr txBox="1"/>
          <p:nvPr/>
        </p:nvSpPr>
        <p:spPr>
          <a:xfrm>
            <a:off x="75815" y="682055"/>
            <a:ext cx="1084867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Currently 1 items listed as carryover into the 1st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qtr</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due to a decision not to take this work on in 4</a:t>
            </a:r>
            <a:r>
              <a:rPr kumimoji="0" lang="en-US" sz="1800" b="0" i="0" u="none" strike="noStrike" kern="1200" cap="none" spc="0" normalizeH="0" baseline="30000" noProof="0">
                <a:ln>
                  <a:noFill/>
                </a:ln>
                <a:solidFill>
                  <a:prstClr val="black"/>
                </a:solidFill>
                <a:effectLst/>
                <a:uLnTx/>
                <a:uFillTx/>
                <a:latin typeface="Aptos" panose="02110004020202020204"/>
                <a:ea typeface="+mn-ea"/>
                <a:cs typeface="+mn-cs"/>
              </a:rPr>
              <a:t>th</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quarter due to Open Enrollment impacts.  I expect two more to join this list by the end of September.</a:t>
            </a:r>
          </a:p>
        </p:txBody>
      </p:sp>
      <p:grpSp>
        <p:nvGrpSpPr>
          <p:cNvPr id="3" name="Group 2">
            <a:extLst>
              <a:ext uri="{FF2B5EF4-FFF2-40B4-BE49-F238E27FC236}">
                <a16:creationId xmlns:a16="http://schemas.microsoft.com/office/drawing/2014/main" id="{D1C111C8-3355-497F-2BF8-C8F06B82EA14}"/>
              </a:ext>
            </a:extLst>
          </p:cNvPr>
          <p:cNvGrpSpPr/>
          <p:nvPr/>
        </p:nvGrpSpPr>
        <p:grpSpPr>
          <a:xfrm>
            <a:off x="9681030" y="91711"/>
            <a:ext cx="2435155" cy="813545"/>
            <a:chOff x="7996335" y="4089215"/>
            <a:chExt cx="3004322" cy="1323375"/>
          </a:xfrm>
        </p:grpSpPr>
        <p:pic>
          <p:nvPicPr>
            <p:cNvPr id="6" name="Picture 5">
              <a:extLst>
                <a:ext uri="{FF2B5EF4-FFF2-40B4-BE49-F238E27FC236}">
                  <a16:creationId xmlns:a16="http://schemas.microsoft.com/office/drawing/2014/main" id="{84931E09-3AC3-37A4-9131-6D07452E38B4}"/>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732EB5BD-4E03-B0D7-A540-85C5A5C4B35D}"/>
                </a:ext>
              </a:extLst>
            </p:cNvPr>
            <p:cNvPicPr>
              <a:picLocks noChangeAspect="1"/>
            </p:cNvPicPr>
            <p:nvPr/>
          </p:nvPicPr>
          <p:blipFill>
            <a:blip r:embed="rId3"/>
            <a:stretch>
              <a:fillRect/>
            </a:stretch>
          </p:blipFill>
          <p:spPr>
            <a:xfrm>
              <a:off x="7996335" y="4089215"/>
              <a:ext cx="3004322" cy="1043764"/>
            </a:xfrm>
            <a:prstGeom prst="rect">
              <a:avLst/>
            </a:prstGeom>
          </p:spPr>
        </p:pic>
      </p:grpSp>
      <p:pic>
        <p:nvPicPr>
          <p:cNvPr id="8" name="Picture 7">
            <a:extLst>
              <a:ext uri="{FF2B5EF4-FFF2-40B4-BE49-F238E27FC236}">
                <a16:creationId xmlns:a16="http://schemas.microsoft.com/office/drawing/2014/main" id="{DB6F2EC3-DC0E-4EBE-748A-4E27368649E3}"/>
              </a:ext>
            </a:extLst>
          </p:cNvPr>
          <p:cNvPicPr>
            <a:picLocks noChangeAspect="1"/>
          </p:cNvPicPr>
          <p:nvPr/>
        </p:nvPicPr>
        <p:blipFill>
          <a:blip r:embed="rId4"/>
          <a:stretch>
            <a:fillRect/>
          </a:stretch>
        </p:blipFill>
        <p:spPr>
          <a:xfrm>
            <a:off x="0" y="1918730"/>
            <a:ext cx="12192000" cy="1259380"/>
          </a:xfrm>
          <a:prstGeom prst="rect">
            <a:avLst/>
          </a:prstGeom>
        </p:spPr>
      </p:pic>
    </p:spTree>
    <p:extLst>
      <p:ext uri="{BB962C8B-B14F-4D97-AF65-F5344CB8AC3E}">
        <p14:creationId xmlns:p14="http://schemas.microsoft.com/office/powerpoint/2010/main" val="3317769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2316-16F4-10A0-4BB0-DE99DBFB6735}"/>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21957381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33C3-68E3-AC04-B550-73AC11694101}"/>
              </a:ext>
            </a:extLst>
          </p:cNvPr>
          <p:cNvSpPr>
            <a:spLocks noGrp="1"/>
          </p:cNvSpPr>
          <p:nvPr>
            <p:ph type="title"/>
          </p:nvPr>
        </p:nvSpPr>
        <p:spPr/>
        <p:txBody>
          <a:bodyPr/>
          <a:lstStyle/>
          <a:p>
            <a:r>
              <a:rPr lang="en-US"/>
              <a:t>2026 Release Status – Work in Process</a:t>
            </a:r>
          </a:p>
        </p:txBody>
      </p:sp>
    </p:spTree>
    <p:extLst>
      <p:ext uri="{BB962C8B-B14F-4D97-AF65-F5344CB8AC3E}">
        <p14:creationId xmlns:p14="http://schemas.microsoft.com/office/powerpoint/2010/main" val="2274631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BFF8-AF16-CB83-E97D-B3F74170C4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3715C9-7F10-C771-F6DF-52596F4A4F5B}"/>
              </a:ext>
            </a:extLst>
          </p:cNvPr>
          <p:cNvSpPr>
            <a:spLocks noGrp="1"/>
          </p:cNvSpPr>
          <p:nvPr>
            <p:ph type="sldNum" sz="quarter" idx="4294967295"/>
          </p:nvPr>
        </p:nvSpPr>
        <p:spPr>
          <a:xfrm>
            <a:off x="11379200" y="6599238"/>
            <a:ext cx="812800" cy="182562"/>
          </a:xfrm>
        </p:spPr>
        <p:txBody>
          <a:bodyPr/>
          <a:lstStyle/>
          <a:p>
            <a:r>
              <a:rPr lang="en-US"/>
              <a:t>1</a:t>
            </a:r>
          </a:p>
        </p:txBody>
      </p:sp>
      <p:sp>
        <p:nvSpPr>
          <p:cNvPr id="7" name="Title 1">
            <a:extLst>
              <a:ext uri="{FF2B5EF4-FFF2-40B4-BE49-F238E27FC236}">
                <a16:creationId xmlns:a16="http://schemas.microsoft.com/office/drawing/2014/main" id="{F51DCE84-6890-7DD9-3ED4-6DE064AC679C}"/>
              </a:ext>
            </a:extLst>
          </p:cNvPr>
          <p:cNvSpPr txBox="1">
            <a:spLocks/>
          </p:cNvSpPr>
          <p:nvPr/>
        </p:nvSpPr>
        <p:spPr>
          <a:xfrm>
            <a:off x="1707908" y="224644"/>
            <a:ext cx="7844635" cy="877729"/>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rgbClr val="FFFFFF"/>
                </a:solidFill>
                <a:latin typeface="Arial" panose="020B0604020202020204" pitchFamily="34" charset="0"/>
                <a:cs typeface="Arial" panose="020B0604020202020204" pitchFamily="34" charset="0"/>
              </a:rPr>
              <a:t>2026 Release Calendar Status</a:t>
            </a:r>
          </a:p>
        </p:txBody>
      </p:sp>
      <p:graphicFrame>
        <p:nvGraphicFramePr>
          <p:cNvPr id="9" name="Content Placeholder 6">
            <a:extLst>
              <a:ext uri="{FF2B5EF4-FFF2-40B4-BE49-F238E27FC236}">
                <a16:creationId xmlns:a16="http://schemas.microsoft.com/office/drawing/2014/main" id="{D8DAB8BD-F2CE-33D3-F88F-F110A262366A}"/>
              </a:ext>
            </a:extLst>
          </p:cNvPr>
          <p:cNvGraphicFramePr>
            <a:graphicFrameLocks/>
          </p:cNvGraphicFramePr>
          <p:nvPr>
            <p:extLst>
              <p:ext uri="{D42A27DB-BD31-4B8C-83A1-F6EECF244321}">
                <p14:modId xmlns:p14="http://schemas.microsoft.com/office/powerpoint/2010/main" val="1327209315"/>
              </p:ext>
            </p:extLst>
          </p:nvPr>
        </p:nvGraphicFramePr>
        <p:xfrm>
          <a:off x="1710077" y="1279785"/>
          <a:ext cx="7844635" cy="3618622"/>
        </p:xfrm>
        <a:graphic>
          <a:graphicData uri="http://schemas.openxmlformats.org/drawingml/2006/table">
            <a:tbl>
              <a:tblPr firstRow="1" bandRow="1">
                <a:tableStyleId>{5C22544A-7EE6-4342-B048-85BDC9FD1C3A}</a:tableStyleId>
              </a:tblPr>
              <a:tblGrid>
                <a:gridCol w="963912">
                  <a:extLst>
                    <a:ext uri="{9D8B030D-6E8A-4147-A177-3AD203B41FA5}">
                      <a16:colId xmlns:a16="http://schemas.microsoft.com/office/drawing/2014/main" val="4167442545"/>
                    </a:ext>
                  </a:extLst>
                </a:gridCol>
                <a:gridCol w="1773936">
                  <a:extLst>
                    <a:ext uri="{9D8B030D-6E8A-4147-A177-3AD203B41FA5}">
                      <a16:colId xmlns:a16="http://schemas.microsoft.com/office/drawing/2014/main" val="258443298"/>
                    </a:ext>
                  </a:extLst>
                </a:gridCol>
                <a:gridCol w="932688">
                  <a:extLst>
                    <a:ext uri="{9D8B030D-6E8A-4147-A177-3AD203B41FA5}">
                      <a16:colId xmlns:a16="http://schemas.microsoft.com/office/drawing/2014/main" val="633811816"/>
                    </a:ext>
                  </a:extLst>
                </a:gridCol>
                <a:gridCol w="1060704">
                  <a:extLst>
                    <a:ext uri="{9D8B030D-6E8A-4147-A177-3AD203B41FA5}">
                      <a16:colId xmlns:a16="http://schemas.microsoft.com/office/drawing/2014/main" val="1124280525"/>
                    </a:ext>
                  </a:extLst>
                </a:gridCol>
                <a:gridCol w="833232">
                  <a:extLst>
                    <a:ext uri="{9D8B030D-6E8A-4147-A177-3AD203B41FA5}">
                      <a16:colId xmlns:a16="http://schemas.microsoft.com/office/drawing/2014/main" val="420331214"/>
                    </a:ext>
                  </a:extLst>
                </a:gridCol>
                <a:gridCol w="2280163">
                  <a:extLst>
                    <a:ext uri="{9D8B030D-6E8A-4147-A177-3AD203B41FA5}">
                      <a16:colId xmlns:a16="http://schemas.microsoft.com/office/drawing/2014/main" val="620455063"/>
                    </a:ext>
                  </a:extLst>
                </a:gridCol>
              </a:tblGrid>
              <a:tr h="326280">
                <a:tc>
                  <a:txBody>
                    <a:bodyPr/>
                    <a:lstStyle/>
                    <a:p>
                      <a:pPr algn="ctr" fontAlgn="b">
                        <a:buNone/>
                      </a:pPr>
                      <a:r>
                        <a:rPr lang="en-US" sz="900" u="none" strike="noStrike">
                          <a:effectLst/>
                        </a:rPr>
                        <a:t>Target Release Date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Project Name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Delivery Leader</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Op Ex Business Lead</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Status</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Note (reason for release date push)</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606021483"/>
                  </a:ext>
                </a:extLst>
              </a:tr>
              <a:tr h="182958">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900" u="none" strike="noStrike">
                          <a:effectLst/>
                          <a:latin typeface="+mn-lt"/>
                        </a:rPr>
                        <a:t>Add a Pet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Rekha K</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Nidia Gudino</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Implemented</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5810614"/>
                  </a:ext>
                </a:extLst>
              </a:tr>
              <a:tr h="182958">
                <a:tc>
                  <a:txBody>
                    <a:bodyPr/>
                    <a:lstStyle/>
                    <a:p>
                      <a:pPr lvl="0" algn="l">
                        <a:buNone/>
                      </a:pPr>
                      <a:r>
                        <a:rPr lang="en-US" sz="900" u="none" strike="noStrike">
                          <a:effectLst/>
                        </a:rPr>
                        <a:t>9/16/2026</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lvl="0" algn="l">
                        <a:buNone/>
                      </a:pPr>
                      <a:r>
                        <a:rPr lang="en-US" sz="900" u="none" strike="noStrike">
                          <a:effectLst/>
                          <a:latin typeface="+mn-lt"/>
                        </a:rPr>
                        <a:t>Firstvet Consultation File – IR change request</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lvl="0" algn="ctr">
                        <a:buNone/>
                      </a:pPr>
                      <a:r>
                        <a:rPr lang="en-US" sz="900" u="none" strike="noStrike">
                          <a:effectLst/>
                          <a:latin typeface="+mn-lt"/>
                        </a:rPr>
                        <a:t>Rekha K</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lvl="0" algn="ctr">
                        <a:buNone/>
                      </a:pPr>
                      <a:r>
                        <a:rPr lang="en-US" sz="900" u="none" strike="noStrike">
                          <a:effectLst/>
                          <a:latin typeface="+mn-lt"/>
                        </a:rPr>
                        <a:t>Kelly Heitman</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lvl="0" algn="ctr">
                        <a:buNone/>
                      </a:pPr>
                      <a:r>
                        <a:rPr lang="en-US" sz="900" u="none" strike="noStrike">
                          <a:effectLst/>
                          <a:latin typeface="+mn-lt"/>
                        </a:rPr>
                        <a:t>Implemented</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lvl="0" algn="ctr">
                        <a:buNone/>
                      </a:pPr>
                      <a:endParaRPr lang="en-US" sz="900" b="0" i="0" u="none" strike="noStrike">
                        <a:solidFill>
                          <a:srgbClr val="000000"/>
                        </a:solidFill>
                        <a:effectLst/>
                        <a:latin typeface="Aptos Narrow"/>
                      </a:endParaRPr>
                    </a:p>
                  </a:txBody>
                  <a:tcPr marL="5237" marR="5237" marT="5237" marB="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65969429"/>
                  </a:ext>
                </a:extLst>
              </a:tr>
              <a:tr h="326280">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900" u="none" strike="noStrike">
                          <a:effectLst/>
                          <a:latin typeface="+mn-lt"/>
                        </a:rPr>
                        <a:t>MVP3 UW Question Reduction (Find a Vet)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Sara Andrews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b="0" i="0" u="none" strike="noStrike">
                          <a:solidFill>
                            <a:srgbClr val="000000"/>
                          </a:solidFill>
                          <a:effectLst/>
                          <a:latin typeface="+mn-lt"/>
                        </a:rPr>
                        <a:t>Implemented</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65048570"/>
                  </a:ext>
                </a:extLst>
              </a:tr>
              <a:tr h="182958">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900" u="none" strike="noStrike">
                          <a:effectLst/>
                          <a:latin typeface="+mn-lt"/>
                        </a:rPr>
                        <a:t>Pet Model Law Reboot(Forms)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V Dinesh</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Gary Wilson</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On Schedule</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147585"/>
                  </a:ext>
                </a:extLst>
              </a:tr>
              <a:tr h="326280">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900" u="none" strike="noStrike">
                          <a:effectLst/>
                          <a:latin typeface="+mn-lt"/>
                        </a:rPr>
                        <a:t>Pricing Segmentation - (R9) NV, AK, ND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u="none" strike="noStrike">
                          <a:effectLst/>
                          <a:latin typeface="+mn-lt"/>
                        </a:rPr>
                        <a:t>Alex  Suarez</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900" b="0" i="0" u="none" strike="noStrike">
                          <a:solidFill>
                            <a:srgbClr val="000000"/>
                          </a:solidFill>
                          <a:effectLst/>
                          <a:latin typeface="+mn-lt"/>
                        </a:rPr>
                        <a:t>Implemented</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52198339"/>
                  </a:ext>
                </a:extLst>
              </a:tr>
              <a:tr h="326280">
                <a:tc>
                  <a:txBody>
                    <a:bodyPr/>
                    <a:lstStyle/>
                    <a:p>
                      <a:pPr algn="l" fontAlgn="b">
                        <a:buNone/>
                      </a:pPr>
                      <a:r>
                        <a:rPr lang="en-US" sz="900" u="none" strike="noStrike">
                          <a:effectLst/>
                        </a:rPr>
                        <a:t>9/23/2026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MVP3 UW Question Reduction (Find a Vet) - Warranty</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Sara Andrews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Aptos Narrow"/>
                        </a:rPr>
                        <a:t>Minor release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899597630"/>
                  </a:ext>
                </a:extLst>
              </a:tr>
              <a:tr h="326280">
                <a:tc>
                  <a:txBody>
                    <a:bodyPr/>
                    <a:lstStyle/>
                    <a:p>
                      <a:pPr lvl="0" algn="l">
                        <a:buNone/>
                      </a:pPr>
                      <a:r>
                        <a:rPr lang="en-US" sz="900" u="none" strike="noStrike">
                          <a:effectLst/>
                        </a:rPr>
                        <a:t>9/23/2026</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rgbClr val="FEF5F0"/>
                    </a:solidFill>
                  </a:tcPr>
                </a:tc>
                <a:tc>
                  <a:txBody>
                    <a:bodyPr/>
                    <a:lstStyle/>
                    <a:p>
                      <a:pPr lvl="0" algn="l">
                        <a:buNone/>
                      </a:pPr>
                      <a:r>
                        <a:rPr lang="en-US" sz="900" u="none" strike="noStrike">
                          <a:effectLst/>
                          <a:latin typeface="+mn-lt"/>
                        </a:rPr>
                        <a:t>Firstvet 1 Production defect</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rgbClr val="FEF5F0"/>
                    </a:solidFill>
                  </a:tcPr>
                </a:tc>
                <a:tc>
                  <a:txBody>
                    <a:bodyPr/>
                    <a:lstStyle/>
                    <a:p>
                      <a:pPr lvl="0" algn="ctr">
                        <a:buNone/>
                      </a:pPr>
                      <a:r>
                        <a:rPr lang="en-US" sz="900" u="none" strike="noStrike">
                          <a:effectLst/>
                          <a:latin typeface="+mn-lt"/>
                        </a:rPr>
                        <a:t>Rekha K</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rgbClr val="FEF5F0"/>
                    </a:solidFill>
                  </a:tcPr>
                </a:tc>
                <a:tc>
                  <a:txBody>
                    <a:bodyPr/>
                    <a:lstStyle/>
                    <a:p>
                      <a:pPr lvl="0" algn="ctr">
                        <a:buNone/>
                      </a:pPr>
                      <a:r>
                        <a:rPr lang="en-US" sz="900" u="none" strike="noStrike">
                          <a:effectLst/>
                          <a:latin typeface="+mn-lt"/>
                        </a:rPr>
                        <a:t>Kelly Heitman</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rgbClr val="FEF5F0"/>
                    </a:solidFill>
                  </a:tcPr>
                </a:tc>
                <a:tc>
                  <a:txBody>
                    <a:bodyPr/>
                    <a:lstStyle/>
                    <a:p>
                      <a:pPr lvl="0" algn="ctr">
                        <a:buNone/>
                      </a:pPr>
                      <a:r>
                        <a:rPr lang="en-US" sz="900" b="0" i="0" u="none" strike="noStrike">
                          <a:solidFill>
                            <a:srgbClr val="000000"/>
                          </a:solidFill>
                          <a:effectLst/>
                          <a:latin typeface="+mn-lt"/>
                        </a:rPr>
                        <a:t>On Schedule</a:t>
                      </a:r>
                    </a:p>
                  </a:txBody>
                  <a:tcPr marL="5237" marR="5237" marT="5237" marB="0" anchor="b">
                    <a:lnL w="12700">
                      <a:solidFill>
                        <a:schemeClr val="tx1"/>
                      </a:solidFill>
                    </a:lnL>
                    <a:lnR w="12700">
                      <a:solidFill>
                        <a:schemeClr val="tx1"/>
                      </a:solidFill>
                    </a:lnR>
                    <a:lnT w="12700">
                      <a:solidFill>
                        <a:schemeClr val="tx1"/>
                      </a:solidFill>
                    </a:lnT>
                    <a:lnB w="12700">
                      <a:solidFill>
                        <a:schemeClr val="tx1"/>
                      </a:solidFill>
                    </a:lnB>
                    <a:solidFill>
                      <a:srgbClr val="FEF5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ptos Narrow"/>
                        </a:rPr>
                        <a:t>Minor release</a:t>
                      </a:r>
                    </a:p>
                    <a:p>
                      <a:pPr lvl="0" algn="ctr">
                        <a:buNone/>
                      </a:pPr>
                      <a:endParaRPr lang="en-US" sz="900" b="0" i="0" u="none" strike="noStrike">
                        <a:solidFill>
                          <a:srgbClr val="000000"/>
                        </a:solidFill>
                        <a:effectLst/>
                        <a:latin typeface="Aptos Narrow"/>
                      </a:endParaRPr>
                    </a:p>
                  </a:txBody>
                  <a:tcPr marL="5237" marR="5237" marT="5237" marB="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964575062"/>
                  </a:ext>
                </a:extLst>
              </a:tr>
              <a:tr h="0">
                <a:tc>
                  <a:txBody>
                    <a:bodyPr/>
                    <a:lstStyle/>
                    <a:p>
                      <a:pPr algn="l" fontAlgn="b">
                        <a:buNone/>
                      </a:pPr>
                      <a:r>
                        <a:rPr lang="en-US" sz="900" b="0" i="0" u="none" strike="noStrike">
                          <a:solidFill>
                            <a:srgbClr val="000000"/>
                          </a:solidFill>
                          <a:effectLst/>
                          <a:latin typeface="Aptos Narrow"/>
                        </a:rPr>
                        <a:t>10/7/2026</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u="none" strike="noStrike">
                          <a:effectLst/>
                          <a:latin typeface="+mn-lt"/>
                        </a:rPr>
                        <a:t>UW Optimization MVP2 (Dark Launch)</a:t>
                      </a:r>
                      <a:endParaRPr lang="en-US" sz="900" b="0" i="0" u="none" strike="noStrike">
                        <a:solidFill>
                          <a:srgbClr val="000000"/>
                        </a:solidFill>
                        <a:effectLst/>
                        <a:latin typeface="+mn-lt"/>
                      </a:endParaRPr>
                    </a:p>
                    <a:p>
                      <a:pPr algn="l" fontAlgn="b">
                        <a:buNone/>
                      </a:pP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mn-lt"/>
                        </a:rPr>
                        <a:t>Lalitha K </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80328294"/>
                  </a:ext>
                </a:extLst>
              </a:tr>
              <a:tr h="182958">
                <a:tc>
                  <a:txBody>
                    <a:bodyPr/>
                    <a:lstStyle/>
                    <a:p>
                      <a:pPr algn="l" fontAlgn="b">
                        <a:buNone/>
                      </a:pPr>
                      <a:r>
                        <a:rPr lang="en-US" sz="900" u="none" strike="noStrike">
                          <a:effectLst/>
                        </a:rPr>
                        <a:t>10/14/2026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Pricing Segmentation - (R10) RI, DC, CT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Alex  Suarez</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3487540921"/>
                  </a:ext>
                </a:extLst>
              </a:tr>
              <a:tr h="182958">
                <a:tc>
                  <a:txBody>
                    <a:bodyPr/>
                    <a:lstStyle/>
                    <a:p>
                      <a:pPr algn="l" fontAlgn="b">
                        <a:buNone/>
                      </a:pPr>
                      <a:r>
                        <a:rPr lang="en-US" sz="900" b="0" i="0" u="none" strike="noStrike">
                          <a:solidFill>
                            <a:srgbClr val="000000"/>
                          </a:solidFill>
                          <a:effectLst/>
                          <a:latin typeface="Aptos Narrow"/>
                        </a:rPr>
                        <a:t>10/14/2026</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b="0" i="0" u="none" strike="noStrike">
                          <a:solidFill>
                            <a:srgbClr val="000000"/>
                          </a:solidFill>
                          <a:effectLst/>
                          <a:latin typeface="+mn-lt"/>
                        </a:rPr>
                        <a:t>Scalability for 1-2 M policies</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mn-lt"/>
                        </a:rPr>
                        <a:t>Dinesh</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marL="0" lvl="0" algn="ctr" defTabSz="914400" rtl="0" eaLnBrk="1" latinLnBrk="0" hangingPunct="1">
                        <a:buNone/>
                      </a:pPr>
                      <a:r>
                        <a:rPr lang="en-US" sz="900" b="0" i="0" u="none" strike="noStrike" kern="1200">
                          <a:solidFill>
                            <a:srgbClr val="000000"/>
                          </a:solidFill>
                          <a:effectLst/>
                          <a:latin typeface="+mn-lt"/>
                          <a:ea typeface="+mn-ea"/>
                          <a:cs typeface="+mn-cs"/>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017104877"/>
                  </a:ext>
                </a:extLst>
              </a:tr>
              <a:tr h="182958">
                <a:tc>
                  <a:txBody>
                    <a:bodyPr/>
                    <a:lstStyle/>
                    <a:p>
                      <a:pPr lvl="0" algn="l">
                        <a:buNone/>
                      </a:pPr>
                      <a:r>
                        <a:rPr lang="en-US" sz="900" u="none" strike="noStrike">
                          <a:effectLst/>
                          <a:highlight>
                            <a:srgbClr val="FFFF00"/>
                          </a:highlight>
                        </a:rPr>
                        <a:t>10/14/2026</a:t>
                      </a:r>
                    </a:p>
                  </a:txBody>
                  <a:tcPr marL="5237" marR="5237" marT="5237" marB="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l">
                        <a:buNone/>
                      </a:pPr>
                      <a:r>
                        <a:rPr lang="en-US" sz="900" u="none" strike="noStrike">
                          <a:effectLst/>
                          <a:highlight>
                            <a:srgbClr val="FFFF00"/>
                          </a:highlight>
                          <a:latin typeface="+mn-lt"/>
                        </a:rPr>
                        <a:t>Firstvet consultation file error message fix</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r>
                        <a:rPr lang="en-US" sz="900" u="none" strike="noStrike">
                          <a:effectLst/>
                          <a:highlight>
                            <a:srgbClr val="FFFF00"/>
                          </a:highlight>
                          <a:latin typeface="+mn-lt"/>
                        </a:rPr>
                        <a:t>Rekha K</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r>
                        <a:rPr lang="en-US" sz="900" u="none" strike="noStrike">
                          <a:effectLst/>
                          <a:highlight>
                            <a:srgbClr val="FFFF00"/>
                          </a:highlight>
                          <a:latin typeface="+mn-lt"/>
                        </a:rPr>
                        <a:t>Kelly Heitman</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r>
                        <a:rPr lang="en-US" sz="900" u="none" strike="noStrike">
                          <a:effectLst/>
                          <a:highlight>
                            <a:srgbClr val="FFFF00"/>
                          </a:highlight>
                          <a:latin typeface="+mn-lt"/>
                        </a:rPr>
                        <a:t>On schedule</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endParaRPr lang="en-US" sz="900" b="0" i="0" u="none" strike="noStrike">
                        <a:solidFill>
                          <a:srgbClr val="000000"/>
                        </a:solidFill>
                        <a:effectLst/>
                        <a:latin typeface="Aptos Narrow"/>
                      </a:endParaRPr>
                    </a:p>
                  </a:txBody>
                  <a:tcPr marL="5237" marR="5237" marT="5237" marB="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1576230784"/>
                  </a:ext>
                </a:extLst>
              </a:tr>
              <a:tr h="182958">
                <a:tc>
                  <a:txBody>
                    <a:bodyPr/>
                    <a:lstStyle/>
                    <a:p>
                      <a:pPr lvl="0" algn="l">
                        <a:buNone/>
                      </a:pPr>
                      <a:r>
                        <a:rPr lang="en-US" sz="900" u="none" strike="noStrike">
                          <a:effectLst/>
                        </a:rPr>
                        <a:t>10/21/2026</a:t>
                      </a:r>
                    </a:p>
                  </a:txBody>
                  <a:tcPr marL="5237" marR="5237" marT="5237" marB="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l">
                        <a:buNone/>
                      </a:pPr>
                      <a:r>
                        <a:rPr lang="en-US" sz="900" u="none" strike="noStrike">
                          <a:effectLst/>
                          <a:latin typeface="+mn-lt"/>
                        </a:rPr>
                        <a:t>Employer Portal (Dark  Launch)</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r>
                        <a:rPr lang="en-US" sz="900" u="none" strike="noStrike">
                          <a:effectLst/>
                          <a:latin typeface="+mn-lt"/>
                        </a:rPr>
                        <a:t>Ali</a:t>
                      </a: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endParaRPr lang="en-US" sz="900" u="none" strike="noStrike">
                        <a:effectLst/>
                        <a:highlight>
                          <a:srgbClr val="FFFF00"/>
                        </a:highlight>
                        <a:latin typeface="+mn-lt"/>
                      </a:endParaRP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endParaRPr lang="en-US" sz="900" u="none" strike="noStrike">
                        <a:effectLst/>
                        <a:highlight>
                          <a:srgbClr val="FFFF00"/>
                        </a:highlight>
                        <a:latin typeface="+mn-lt"/>
                      </a:endParaRPr>
                    </a:p>
                  </a:txBody>
                  <a:tcPr marL="5237" marR="5237" marT="52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tc>
                  <a:txBody>
                    <a:bodyPr/>
                    <a:lstStyle/>
                    <a:p>
                      <a:pPr lvl="0" algn="ctr">
                        <a:buNone/>
                      </a:pPr>
                      <a:endParaRPr lang="en-US" sz="900" b="0" i="0" u="none" strike="noStrike">
                        <a:solidFill>
                          <a:srgbClr val="000000"/>
                        </a:solidFill>
                        <a:effectLst/>
                        <a:latin typeface="Aptos Narrow"/>
                      </a:endParaRPr>
                    </a:p>
                  </a:txBody>
                  <a:tcPr marL="5237" marR="5237" marT="5237" marB="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rgbClr val="F2F7FC"/>
                    </a:solidFill>
                  </a:tcPr>
                </a:tc>
                <a:extLst>
                  <a:ext uri="{0D108BD9-81ED-4DB2-BD59-A6C34878D82A}">
                    <a16:rowId xmlns:a16="http://schemas.microsoft.com/office/drawing/2014/main" val="3015023305"/>
                  </a:ext>
                </a:extLst>
              </a:tr>
            </a:tbl>
          </a:graphicData>
        </a:graphic>
      </p:graphicFrame>
    </p:spTree>
    <p:extLst>
      <p:ext uri="{BB962C8B-B14F-4D97-AF65-F5344CB8AC3E}">
        <p14:creationId xmlns:p14="http://schemas.microsoft.com/office/powerpoint/2010/main" val="33765287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B0BB-4954-2012-6C98-92E7CE4A0B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AEAF6F-BBF7-8420-6CEE-5BC8763AF40B}"/>
              </a:ext>
            </a:extLst>
          </p:cNvPr>
          <p:cNvSpPr>
            <a:spLocks noGrp="1"/>
          </p:cNvSpPr>
          <p:nvPr>
            <p:ph type="sldNum" sz="quarter" idx="4294967295"/>
          </p:nvPr>
        </p:nvSpPr>
        <p:spPr>
          <a:xfrm>
            <a:off x="11379200" y="6599238"/>
            <a:ext cx="812800" cy="182562"/>
          </a:xfrm>
        </p:spPr>
        <p:txBody>
          <a:bodyPr/>
          <a:lstStyle/>
          <a:p>
            <a:r>
              <a:rPr lang="en-US"/>
              <a:t>1</a:t>
            </a:r>
          </a:p>
        </p:txBody>
      </p:sp>
      <p:sp>
        <p:nvSpPr>
          <p:cNvPr id="7" name="Title 1">
            <a:extLst>
              <a:ext uri="{FF2B5EF4-FFF2-40B4-BE49-F238E27FC236}">
                <a16:creationId xmlns:a16="http://schemas.microsoft.com/office/drawing/2014/main" id="{60EE5A69-E7DE-6408-1764-F752F551D79D}"/>
              </a:ext>
            </a:extLst>
          </p:cNvPr>
          <p:cNvSpPr txBox="1">
            <a:spLocks/>
          </p:cNvSpPr>
          <p:nvPr/>
        </p:nvSpPr>
        <p:spPr>
          <a:xfrm>
            <a:off x="1707908" y="224644"/>
            <a:ext cx="7844635" cy="877729"/>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rgbClr val="FFFFFF"/>
                </a:solidFill>
                <a:latin typeface="Arial" panose="020B0604020202020204" pitchFamily="34" charset="0"/>
                <a:cs typeface="Arial" panose="020B0604020202020204" pitchFamily="34" charset="0"/>
              </a:rPr>
              <a:t>2026 Release Calendar Status</a:t>
            </a:r>
          </a:p>
        </p:txBody>
      </p:sp>
      <p:graphicFrame>
        <p:nvGraphicFramePr>
          <p:cNvPr id="9" name="Content Placeholder 6">
            <a:extLst>
              <a:ext uri="{FF2B5EF4-FFF2-40B4-BE49-F238E27FC236}">
                <a16:creationId xmlns:a16="http://schemas.microsoft.com/office/drawing/2014/main" id="{1DFD94F3-ADAF-706E-9D07-D1E5E98E6112}"/>
              </a:ext>
            </a:extLst>
          </p:cNvPr>
          <p:cNvGraphicFramePr>
            <a:graphicFrameLocks/>
          </p:cNvGraphicFramePr>
          <p:nvPr>
            <p:extLst>
              <p:ext uri="{D42A27DB-BD31-4B8C-83A1-F6EECF244321}">
                <p14:modId xmlns:p14="http://schemas.microsoft.com/office/powerpoint/2010/main" val="4237067172"/>
              </p:ext>
            </p:extLst>
          </p:nvPr>
        </p:nvGraphicFramePr>
        <p:xfrm>
          <a:off x="1700784" y="1140395"/>
          <a:ext cx="7844635" cy="3331056"/>
        </p:xfrm>
        <a:graphic>
          <a:graphicData uri="http://schemas.openxmlformats.org/drawingml/2006/table">
            <a:tbl>
              <a:tblPr firstRow="1" bandRow="1">
                <a:tableStyleId>{5C22544A-7EE6-4342-B048-85BDC9FD1C3A}</a:tableStyleId>
              </a:tblPr>
              <a:tblGrid>
                <a:gridCol w="963912">
                  <a:extLst>
                    <a:ext uri="{9D8B030D-6E8A-4147-A177-3AD203B41FA5}">
                      <a16:colId xmlns:a16="http://schemas.microsoft.com/office/drawing/2014/main" val="4167442545"/>
                    </a:ext>
                  </a:extLst>
                </a:gridCol>
                <a:gridCol w="1773936">
                  <a:extLst>
                    <a:ext uri="{9D8B030D-6E8A-4147-A177-3AD203B41FA5}">
                      <a16:colId xmlns:a16="http://schemas.microsoft.com/office/drawing/2014/main" val="258443298"/>
                    </a:ext>
                  </a:extLst>
                </a:gridCol>
                <a:gridCol w="932688">
                  <a:extLst>
                    <a:ext uri="{9D8B030D-6E8A-4147-A177-3AD203B41FA5}">
                      <a16:colId xmlns:a16="http://schemas.microsoft.com/office/drawing/2014/main" val="633811816"/>
                    </a:ext>
                  </a:extLst>
                </a:gridCol>
                <a:gridCol w="1060704">
                  <a:extLst>
                    <a:ext uri="{9D8B030D-6E8A-4147-A177-3AD203B41FA5}">
                      <a16:colId xmlns:a16="http://schemas.microsoft.com/office/drawing/2014/main" val="1124280525"/>
                    </a:ext>
                  </a:extLst>
                </a:gridCol>
                <a:gridCol w="833232">
                  <a:extLst>
                    <a:ext uri="{9D8B030D-6E8A-4147-A177-3AD203B41FA5}">
                      <a16:colId xmlns:a16="http://schemas.microsoft.com/office/drawing/2014/main" val="420331214"/>
                    </a:ext>
                  </a:extLst>
                </a:gridCol>
                <a:gridCol w="2280163">
                  <a:extLst>
                    <a:ext uri="{9D8B030D-6E8A-4147-A177-3AD203B41FA5}">
                      <a16:colId xmlns:a16="http://schemas.microsoft.com/office/drawing/2014/main" val="620455063"/>
                    </a:ext>
                  </a:extLst>
                </a:gridCol>
              </a:tblGrid>
              <a:tr h="326280">
                <a:tc>
                  <a:txBody>
                    <a:bodyPr/>
                    <a:lstStyle/>
                    <a:p>
                      <a:pPr algn="ctr" fontAlgn="b">
                        <a:buNone/>
                      </a:pPr>
                      <a:r>
                        <a:rPr lang="en-US" sz="900" u="none" strike="noStrike">
                          <a:effectLst/>
                        </a:rPr>
                        <a:t>Target Release Date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Project Name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Delivery Leader</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Op Ex Business Lead</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Status</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Note (reason for release date push)</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606021483"/>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Pricing Segmentation - (R11)</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Alex  Suarez</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1840954593"/>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UW Optimization MVP2</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Lalitha K</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Sarah Andrews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lvl="0" algn="ctr">
                        <a:buNone/>
                      </a:pPr>
                      <a:r>
                        <a:rPr lang="en-US" sz="900" u="none" strike="noStrike">
                          <a:effectLst/>
                          <a:latin typeface="+mn-lt"/>
                        </a:rPr>
                        <a:t>On Hold</a:t>
                      </a:r>
                      <a:endParaRPr lang="en-US"/>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Aptos Narrow"/>
                        </a:rPr>
                        <a:t>EW will dark launch on 9/30 / SS is on hold until further assessment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478678738"/>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Tailwind Phase 1 (Go-Live)</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Shilpa</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Dan Clausing</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TBD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500911077"/>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Employer Portal (Go-Live)</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Ali D </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TBD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806826658"/>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GIN 2026 Update</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Chalam</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NA (risk project)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TBD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1855251569"/>
                  </a:ext>
                </a:extLst>
              </a:tr>
              <a:tr h="326280">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MMPC - Multiple Denial Code Handling Enhancement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Alex  Suarez</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3125944282"/>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latin typeface="+mn-lt"/>
                        </a:rPr>
                        <a:t>PEC Product &amp; UW Enhancements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Kinney B</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latin typeface="+mn-lt"/>
                        </a:rPr>
                        <a:t>Gary Wilson</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b="0" i="0" u="none" strike="noStrike">
                          <a:solidFill>
                            <a:srgbClr val="000000"/>
                          </a:solidFill>
                          <a:effectLst/>
                          <a:latin typeface="+mn-lt"/>
                        </a:rPr>
                        <a:t>On Schedule</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511759832"/>
                  </a:ext>
                </a:extLst>
              </a:tr>
              <a:tr h="182958">
                <a:tc>
                  <a:txBody>
                    <a:bodyPr/>
                    <a:lstStyle/>
                    <a:p>
                      <a:pPr algn="l" fontAlgn="b">
                        <a:buNone/>
                      </a:pPr>
                      <a:r>
                        <a:rPr lang="en-US" sz="900" u="none" strike="noStrike">
                          <a:effectLst/>
                        </a:rPr>
                        <a:t>12/9/2026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MPPC to MPI</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Lalitha K</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Gary Wilson</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Dark Launch</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Aptos Narrow"/>
                        </a:rPr>
                        <a:t>Pending Steering committee approval </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3978643491"/>
                  </a:ext>
                </a:extLst>
              </a:tr>
              <a:tr h="182958">
                <a:tc>
                  <a:txBody>
                    <a:bodyPr/>
                    <a:lstStyle/>
                    <a:p>
                      <a:pPr algn="l" fontAlgn="b">
                        <a:buNone/>
                      </a:pPr>
                      <a:r>
                        <a:rPr lang="en-US" sz="900" u="none" strike="noStrike">
                          <a:effectLst/>
                        </a:rPr>
                        <a:t>12/09/2026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Sales Commission Reporting</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Chalam</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Ellis Ryan</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TBD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Aptos Narrow" panose="020B0004020202020204" pitchFamily="34" charset="0"/>
                        </a:rPr>
                        <a:t>Originally for 11/11</a:t>
                      </a: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114911242"/>
                  </a:ext>
                </a:extLst>
              </a:tr>
              <a:tr h="182958">
                <a:tc>
                  <a:txBody>
                    <a:bodyPr/>
                    <a:lstStyle/>
                    <a:p>
                      <a:pPr algn="l" fontAlgn="b">
                        <a:buNone/>
                      </a:pPr>
                      <a:r>
                        <a:rPr lang="en-US" sz="900" u="none" strike="noStrike">
                          <a:effectLst/>
                        </a:rPr>
                        <a:t>12/09/2026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UW Optimization MVP2 (Dark Launch)</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Lalitha K</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Sarah Andrews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lvl="0" algn="ctr">
                        <a:buNone/>
                      </a:pPr>
                      <a:r>
                        <a:rPr lang="en-US" sz="900" u="none" strike="noStrike">
                          <a:effectLst/>
                          <a:latin typeface="+mn-lt"/>
                        </a:rPr>
                        <a:t>On Hold</a:t>
                      </a:r>
                      <a:endParaRPr lang="en-US"/>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Aptos Narrow"/>
                        </a:rPr>
                        <a:t>Originally slotted for 11/11</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866755470"/>
                  </a:ext>
                </a:extLst>
              </a:tr>
              <a:tr h="182958">
                <a:tc>
                  <a:txBody>
                    <a:bodyPr/>
                    <a:lstStyle/>
                    <a:p>
                      <a:pPr algn="l" fontAlgn="b">
                        <a:buNone/>
                      </a:pPr>
                      <a:r>
                        <a:rPr lang="en-US" sz="900" u="none" strike="noStrike">
                          <a:effectLst/>
                        </a:rPr>
                        <a:t>On Hold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Informatica to Python</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Chalam</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NA (risk project)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lvl="0" algn="ctr">
                        <a:buNone/>
                      </a:pPr>
                      <a:r>
                        <a:rPr lang="en-US" sz="900" u="none" strike="noStrike">
                          <a:effectLst/>
                          <a:latin typeface="+mn-lt"/>
                        </a:rPr>
                        <a:t>On Hold</a:t>
                      </a:r>
                      <a:endParaRPr lang="en-US" sz="900"/>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576475158"/>
                  </a:ext>
                </a:extLst>
              </a:tr>
              <a:tr h="182958">
                <a:tc>
                  <a:txBody>
                    <a:bodyPr/>
                    <a:lstStyle/>
                    <a:p>
                      <a:pPr algn="l" fontAlgn="b">
                        <a:buNone/>
                      </a:pPr>
                      <a:r>
                        <a:rPr lang="en-US" sz="900" u="none" strike="noStrike">
                          <a:effectLst/>
                        </a:rPr>
                        <a:t>12/9/2026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Employer Portal (Post Prod-Support)</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Ali D </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TBD</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1059792196"/>
                  </a:ext>
                </a:extLst>
              </a:tr>
              <a:tr h="182958">
                <a:tc>
                  <a:txBody>
                    <a:bodyPr/>
                    <a:lstStyle/>
                    <a:p>
                      <a:pPr algn="l" fontAlgn="b">
                        <a:buNone/>
                      </a:pPr>
                      <a:r>
                        <a:rPr lang="en-US" sz="900" u="none" strike="noStrike">
                          <a:effectLst/>
                        </a:rPr>
                        <a:t>10/14/2026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latin typeface="+mn-lt"/>
                        </a:rPr>
                        <a:t>UW Optimization MVP1</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Lalitha K</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latin typeface="+mn-lt"/>
                        </a:rPr>
                        <a:t>Sarah Andrews</a:t>
                      </a:r>
                      <a:endParaRPr lang="en-US" sz="900" b="0" i="0" u="none" strike="noStrike">
                        <a:solidFill>
                          <a:srgbClr val="000000"/>
                        </a:solidFill>
                        <a:effectLst/>
                        <a:latin typeface="+mn-lt"/>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lvl="0" algn="ctr">
                        <a:buNone/>
                      </a:pPr>
                      <a:r>
                        <a:rPr lang="en-US" sz="900" u="none" strike="noStrike">
                          <a:effectLst/>
                          <a:latin typeface="+mn-lt"/>
                        </a:rPr>
                        <a:t>On Hold</a:t>
                      </a:r>
                      <a:endParaRPr lang="en-US"/>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b="0" i="0" u="none" strike="noStrike">
                          <a:solidFill>
                            <a:srgbClr val="000000"/>
                          </a:solidFill>
                          <a:effectLst/>
                          <a:latin typeface="Aptos Narrow"/>
                        </a:rPr>
                        <a:t>Due to business risk assessment and loss ratio concerns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949246866"/>
                  </a:ext>
                </a:extLst>
              </a:tr>
            </a:tbl>
          </a:graphicData>
        </a:graphic>
      </p:graphicFrame>
    </p:spTree>
    <p:extLst>
      <p:ext uri="{BB962C8B-B14F-4D97-AF65-F5344CB8AC3E}">
        <p14:creationId xmlns:p14="http://schemas.microsoft.com/office/powerpoint/2010/main" val="14785725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14A4-C523-37A8-903D-FD6BA0FC3688}"/>
            </a:ext>
          </a:extLst>
        </p:cNvPr>
        <p:cNvGrpSpPr/>
        <p:nvPr/>
      </p:nvGrpSpPr>
      <p:grpSpPr>
        <a:xfrm>
          <a:off x="0" y="0"/>
          <a:ext cx="0" cy="0"/>
          <a:chOff x="0" y="0"/>
          <a:chExt cx="0" cy="0"/>
        </a:xfrm>
      </p:grpSpPr>
      <p:graphicFrame>
        <p:nvGraphicFramePr>
          <p:cNvPr id="3" name="Table 26">
            <a:extLst>
              <a:ext uri="{FF2B5EF4-FFF2-40B4-BE49-F238E27FC236}">
                <a16:creationId xmlns:a16="http://schemas.microsoft.com/office/drawing/2014/main" id="{B8690847-D2B0-A832-1C3F-0D915A7BFF26}"/>
              </a:ext>
            </a:extLst>
          </p:cNvPr>
          <p:cNvGraphicFramePr>
            <a:graphicFrameLocks noGrp="1"/>
          </p:cNvGraphicFramePr>
          <p:nvPr>
            <p:extLst>
              <p:ext uri="{D42A27DB-BD31-4B8C-83A1-F6EECF244321}">
                <p14:modId xmlns:p14="http://schemas.microsoft.com/office/powerpoint/2010/main" val="3635269388"/>
              </p:ext>
            </p:extLst>
          </p:nvPr>
        </p:nvGraphicFramePr>
        <p:xfrm>
          <a:off x="81007" y="0"/>
          <a:ext cx="12191238" cy="6694182"/>
        </p:xfrm>
        <a:graphic>
          <a:graphicData uri="http://schemas.openxmlformats.org/drawingml/2006/table">
            <a:tbl>
              <a:tblPr>
                <a:tableStyleId>{5C22544A-7EE6-4342-B048-85BDC9FD1C3A}</a:tableStyleId>
              </a:tblPr>
              <a:tblGrid>
                <a:gridCol w="272510">
                  <a:extLst>
                    <a:ext uri="{9D8B030D-6E8A-4147-A177-3AD203B41FA5}">
                      <a16:colId xmlns:a16="http://schemas.microsoft.com/office/drawing/2014/main" val="2525420652"/>
                    </a:ext>
                  </a:extLst>
                </a:gridCol>
                <a:gridCol w="5039992">
                  <a:extLst>
                    <a:ext uri="{9D8B030D-6E8A-4147-A177-3AD203B41FA5}">
                      <a16:colId xmlns:a16="http://schemas.microsoft.com/office/drawing/2014/main" val="590107795"/>
                    </a:ext>
                  </a:extLst>
                </a:gridCol>
                <a:gridCol w="2405088">
                  <a:extLst>
                    <a:ext uri="{9D8B030D-6E8A-4147-A177-3AD203B41FA5}">
                      <a16:colId xmlns:a16="http://schemas.microsoft.com/office/drawing/2014/main" val="2967749251"/>
                    </a:ext>
                  </a:extLst>
                </a:gridCol>
                <a:gridCol w="771091">
                  <a:extLst>
                    <a:ext uri="{9D8B030D-6E8A-4147-A177-3AD203B41FA5}">
                      <a16:colId xmlns:a16="http://schemas.microsoft.com/office/drawing/2014/main" val="237713812"/>
                    </a:ext>
                  </a:extLst>
                </a:gridCol>
                <a:gridCol w="900890">
                  <a:extLst>
                    <a:ext uri="{9D8B030D-6E8A-4147-A177-3AD203B41FA5}">
                      <a16:colId xmlns:a16="http://schemas.microsoft.com/office/drawing/2014/main" val="1948340634"/>
                    </a:ext>
                  </a:extLst>
                </a:gridCol>
                <a:gridCol w="740579">
                  <a:extLst>
                    <a:ext uri="{9D8B030D-6E8A-4147-A177-3AD203B41FA5}">
                      <a16:colId xmlns:a16="http://schemas.microsoft.com/office/drawing/2014/main" val="1706538460"/>
                    </a:ext>
                  </a:extLst>
                </a:gridCol>
                <a:gridCol w="179978">
                  <a:extLst>
                    <a:ext uri="{9D8B030D-6E8A-4147-A177-3AD203B41FA5}">
                      <a16:colId xmlns:a16="http://schemas.microsoft.com/office/drawing/2014/main" val="3409914011"/>
                    </a:ext>
                  </a:extLst>
                </a:gridCol>
                <a:gridCol w="995270">
                  <a:extLst>
                    <a:ext uri="{9D8B030D-6E8A-4147-A177-3AD203B41FA5}">
                      <a16:colId xmlns:a16="http://schemas.microsoft.com/office/drawing/2014/main" val="932551106"/>
                    </a:ext>
                  </a:extLst>
                </a:gridCol>
                <a:gridCol w="885840">
                  <a:extLst>
                    <a:ext uri="{9D8B030D-6E8A-4147-A177-3AD203B41FA5}">
                      <a16:colId xmlns:a16="http://schemas.microsoft.com/office/drawing/2014/main" val="1827904607"/>
                    </a:ext>
                  </a:extLst>
                </a:gridCol>
              </a:tblGrid>
              <a:tr h="557900">
                <a:tc gridSpan="3">
                  <a:txBody>
                    <a:bodyPr/>
                    <a:lstStyle/>
                    <a:p>
                      <a:pPr marL="0" marR="0" lvl="0" indent="0" algn="l" defTabSz="914400" rtl="0" eaLnBrk="1" fontAlgn="auto" latinLnBrk="0" hangingPunct="1">
                        <a:lnSpc>
                          <a:spcPct val="105000"/>
                        </a:lnSpc>
                        <a:spcBef>
                          <a:spcPts val="0"/>
                        </a:spcBef>
                        <a:spcAft>
                          <a:spcPts val="0"/>
                        </a:spcAft>
                        <a:buClrTx/>
                        <a:buSzTx/>
                        <a:buFont typeface="Calibri" panose="020F0502020204030204" pitchFamily="34" charset="0"/>
                        <a:buNone/>
                        <a:tabLst/>
                        <a:defRPr/>
                      </a:pPr>
                      <a:r>
                        <a:rPr lang="en-US" sz="2400" b="1">
                          <a:solidFill>
                            <a:schemeClr val="bg1"/>
                          </a:solidFill>
                          <a:effectLst/>
                          <a:latin typeface="+mn-lt"/>
                          <a:cs typeface="Arial"/>
                        </a:rPr>
                        <a:t>Nationwide Financial Portfolio Project Detail: Pet (9/9)</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tc hMerge="1">
                  <a:txBody>
                    <a:bodyPr/>
                    <a:lstStyle/>
                    <a:p>
                      <a:pPr marL="0" marR="0" lvl="0" indent="0">
                        <a:lnSpc>
                          <a:spcPct val="105000"/>
                        </a:lnSpc>
                        <a:spcBef>
                          <a:spcPts val="0"/>
                        </a:spcBef>
                        <a:spcAft>
                          <a:spcPts val="0"/>
                        </a:spcAft>
                        <a:buFont typeface="Calibri" panose="020F0502020204030204" pitchFamily="34" charset="0"/>
                        <a:buNone/>
                      </a:pPr>
                      <a:r>
                        <a:rPr lang="en-US" sz="2400" b="1">
                          <a:solidFill>
                            <a:schemeClr val="bg1"/>
                          </a:solidFill>
                          <a:effectLst/>
                          <a:latin typeface="+mn-lt"/>
                          <a:ea typeface="Times New Roman" panose="02020603050405020304" pitchFamily="18" charset="0"/>
                          <a:cs typeface="Arial"/>
                        </a:rPr>
                        <a:t>Personal Lines $2M+ Project Detail</a:t>
                      </a:r>
                      <a:endParaRPr lang="en-US" sz="2400" b="1">
                        <a:solidFill>
                          <a:schemeClr val="bg1"/>
                        </a:solidFill>
                        <a:effectLst/>
                        <a:latin typeface="+mn-lt"/>
                        <a:ea typeface="Calibri" panose="020F0502020204030204"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marL="0" marR="0" lvl="0" indent="0" algn="ctr">
                        <a:lnSpc>
                          <a:spcPct val="105000"/>
                        </a:lnSpc>
                        <a:spcBef>
                          <a:spcPts val="0"/>
                        </a:spcBef>
                        <a:spcAft>
                          <a:spcPts val="0"/>
                        </a:spcAft>
                        <a:buFont typeface="Calibri" panose="020F0502020204030204" pitchFamily="34" charset="0"/>
                        <a:buNone/>
                      </a:pPr>
                      <a:r>
                        <a:rPr lang="en-US" sz="1100" b="1">
                          <a:solidFill>
                            <a:schemeClr val="bg1"/>
                          </a:solidFill>
                          <a:effectLst/>
                          <a:latin typeface="Arial"/>
                          <a:cs typeface="Arial"/>
                        </a:rPr>
                        <a:t>SLT Sponsor:  Joel Carnes / Misty Kuamoo</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a:r>
                        <a:rPr lang="en-US" sz="1100" b="1">
                          <a:solidFill>
                            <a:schemeClr val="bg1"/>
                          </a:solidFill>
                          <a:latin typeface="Arial"/>
                          <a:cs typeface="Arial"/>
                        </a:rPr>
                        <a:t>Execution Owner:  Andromeda Thompson / Braden Love</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marR="0" lvl="0" indent="0">
                        <a:lnSpc>
                          <a:spcPct val="105000"/>
                        </a:lnSpc>
                        <a:spcBef>
                          <a:spcPts val="0"/>
                        </a:spcBef>
                        <a:spcAft>
                          <a:spcPts val="0"/>
                        </a:spcAft>
                        <a:buFont typeface="Calibri" panose="020F0502020204030204" pitchFamily="34" charset="0"/>
                        <a:buNone/>
                      </a:pPr>
                      <a:endParaRPr lang="en-US" sz="2400" b="1">
                        <a:solidFill>
                          <a:schemeClr val="bg1"/>
                        </a:solidFill>
                        <a:effectLst/>
                        <a:latin typeface="+mn-lt"/>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extLst>
                  <a:ext uri="{0D108BD9-81ED-4DB2-BD59-A6C34878D82A}">
                    <a16:rowId xmlns:a16="http://schemas.microsoft.com/office/drawing/2014/main" val="1308997112"/>
                  </a:ext>
                </a:extLst>
              </a:tr>
              <a:tr h="7152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Arial"/>
                          <a:ea typeface="Calibri"/>
                          <a:cs typeface="Arial"/>
                        </a:rPr>
                        <a:t>Y</a:t>
                      </a:r>
                    </a:p>
                  </a:txBody>
                  <a:tcPr marL="95153" marR="95153"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lvl="0" algn="l" fontAlgn="b"/>
                      <a:r>
                        <a:rPr lang="en-US" sz="1800" b="1" i="0" u="none" strike="noStrike" kern="1200">
                          <a:solidFill>
                            <a:schemeClr val="dk1"/>
                          </a:solidFill>
                          <a:effectLst/>
                          <a:latin typeface="+mn-lt"/>
                          <a:ea typeface="+mn-ea"/>
                          <a:cs typeface="+mn-cs"/>
                        </a:rPr>
                        <a:t>Pet Portfolio (Pet Platform Transformation) incl. Payroll Experience &amp; Partner Portal</a:t>
                      </a:r>
                      <a:endParaRPr lang="en-US" sz="1400" b="1" i="0" u="none" strike="noStrike">
                        <a:solidFill>
                          <a:srgbClr val="000000"/>
                        </a:solidFill>
                        <a:effectLst/>
                        <a:latin typeface="Arial"/>
                        <a:cs typeface="Arial"/>
                      </a:endParaRPr>
                    </a:p>
                  </a:txBody>
                  <a:tcPr marL="95153" marR="9911"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a:cs typeface="Arial"/>
                        </a:rPr>
                        <a:t>Capabilities:</a:t>
                      </a:r>
                      <a:r>
                        <a:rPr kumimoji="0" lang="en-US" sz="1100" b="1" i="0" u="none" strike="noStrike" kern="1200" cap="none" spc="0" normalizeH="0" baseline="0" noProof="0">
                          <a:ln>
                            <a:noFill/>
                          </a:ln>
                          <a:solidFill>
                            <a:prstClr val="black"/>
                          </a:solidFill>
                          <a:effectLst/>
                          <a:uLnTx/>
                          <a:uFillTx/>
                          <a:latin typeface="+mn-lt"/>
                          <a:cs typeface="Calibri"/>
                        </a:rPr>
                        <a:t> </a:t>
                      </a:r>
                    </a:p>
                    <a:p>
                      <a:pPr marL="0" marR="0" lvl="0" indent="0"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prstClr val="black"/>
                          </a:solidFill>
                          <a:effectLst/>
                          <a:uLnTx/>
                          <a:uFillTx/>
                          <a:latin typeface="+mn-lt"/>
                          <a:cs typeface="Calibri"/>
                        </a:rPr>
                        <a:t>Modernizing policy administration, billing and claims system</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Scope: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AD4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Schedule: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Y</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Budget: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Arial"/>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hMerge="1">
                  <a:txBody>
                    <a:bodyPr/>
                    <a:lstStyle/>
                    <a:p>
                      <a:pPr marL="0" marR="0" lvl="0" indent="0" algn="ctr" defTabSz="914400" rtl="0" eaLnBrk="1" fontAlgn="auto" latinLnBrk="0" hangingPunct="1">
                        <a:lnSpc>
                          <a:spcPct val="100000"/>
                        </a:lnSpc>
                        <a:spcBef>
                          <a:spcPts val="1800"/>
                        </a:spcBef>
                        <a:spcAft>
                          <a:spcPts val="0"/>
                        </a:spcAft>
                        <a:buClrTx/>
                        <a:buSzTx/>
                        <a:buFontTx/>
                        <a:buNone/>
                        <a:tabLst/>
                        <a:defRPr/>
                      </a:pPr>
                      <a:endParaRPr lang="en-US" sz="1100" b="1" i="0">
                        <a:solidFill>
                          <a:schemeClr val="tx1"/>
                        </a:solidFill>
                        <a:latin typeface="Arial"/>
                        <a:cs typeface="Arial"/>
                      </a:endParaRP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Actual / Forecast: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Biz Case On-Track: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Yes</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402274444"/>
                  </a:ext>
                </a:extLst>
              </a:tr>
              <a:tr h="257492">
                <a:tc gridSpan="9">
                  <a:txBody>
                    <a:bodyPr/>
                    <a:lstStyle/>
                    <a:p>
                      <a:pPr algn="l"/>
                      <a:r>
                        <a:rPr lang="en-US" sz="1200" b="1" kern="1200">
                          <a:solidFill>
                            <a:schemeClr val="tx1"/>
                          </a:solidFill>
                          <a:latin typeface="Arial"/>
                          <a:ea typeface="+mn-ea"/>
                          <a:cs typeface="Arial"/>
                        </a:rPr>
                        <a:t>Business Case Outcome: </a:t>
                      </a:r>
                      <a:r>
                        <a:rPr lang="en-US" sz="1200" b="0" i="0" kern="1200">
                          <a:solidFill>
                            <a:schemeClr val="dk1"/>
                          </a:solidFill>
                          <a:effectLst/>
                          <a:latin typeface="Arial"/>
                          <a:ea typeface="+mn-ea"/>
                          <a:cs typeface="Arial"/>
                        </a:rPr>
                        <a:t>Platform Modernization - Pricing sophistication, integration capabilities, &amp; technology risk mitigation</a:t>
                      </a:r>
                      <a:endParaRPr lang="en-US" sz="1200" b="0" i="1">
                        <a:solidFill>
                          <a:schemeClr val="tx1"/>
                        </a:solidFill>
                        <a:latin typeface="Arial"/>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Business Case Outcome: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Arial" panose="020B0604020202020204" pitchFamily="34" charset="0"/>
                        </a:rPr>
                        <a:t>X</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Arial" panose="020B0604020202020204" pitchFamily="34" charset="0"/>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i="0">
                        <a:solidFill>
                          <a:schemeClr val="tx1"/>
                        </a:solidFill>
                        <a:latin typeface="Arial" panose="020B0604020202020204" pitchFamily="34" charset="0"/>
                        <a:cs typeface="Arial" panose="020B0604020202020204" pitchFamily="34" charset="0"/>
                      </a:endParaRPr>
                    </a:p>
                  </a:txBody>
                  <a:tcP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0770179"/>
                  </a:ext>
                </a:extLst>
              </a:tr>
              <a:tr h="257492">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1200" b="1" i="0" kern="1200">
                          <a:solidFill>
                            <a:schemeClr val="tx1"/>
                          </a:solidFill>
                          <a:latin typeface="Arial"/>
                          <a:ea typeface="+mn-ea"/>
                          <a:cs typeface="Arial"/>
                        </a:rPr>
                        <a:t>Prior Key Milestones Delivered: &lt;30-60-90&gt;</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tc>
                <a:tc gridSpan="7">
                  <a:txBody>
                    <a:bodyPr/>
                    <a:lstStyle/>
                    <a:p>
                      <a:r>
                        <a:rPr lang="en-US" sz="1200" b="1" i="0" u="none" strike="noStrike">
                          <a:solidFill>
                            <a:srgbClr val="000000"/>
                          </a:solidFill>
                          <a:effectLst/>
                          <a:latin typeface="Arial"/>
                          <a:cs typeface="Arial"/>
                        </a:rPr>
                        <a:t>Next Key </a:t>
                      </a:r>
                      <a:r>
                        <a:rPr lang="en-US" sz="1200" b="1" i="0" kern="1200">
                          <a:solidFill>
                            <a:schemeClr val="tx1"/>
                          </a:solidFill>
                          <a:latin typeface="Arial"/>
                          <a:ea typeface="+mn-ea"/>
                          <a:cs typeface="Arial"/>
                        </a:rPr>
                        <a:t>Milestones</a:t>
                      </a:r>
                      <a:r>
                        <a:rPr lang="en-US" sz="1200" b="1" i="0" u="none" strike="noStrike">
                          <a:solidFill>
                            <a:srgbClr val="000000"/>
                          </a:solidFill>
                          <a:effectLst/>
                          <a:latin typeface="Arial"/>
                          <a:cs typeface="Arial"/>
                        </a:rPr>
                        <a:t> Planned: </a:t>
                      </a:r>
                      <a:r>
                        <a:rPr lang="en-US" sz="1200" b="1" i="0" kern="1200">
                          <a:solidFill>
                            <a:schemeClr val="tx1"/>
                          </a:solidFill>
                          <a:latin typeface="Arial"/>
                          <a:ea typeface="+mn-ea"/>
                          <a:cs typeface="Arial"/>
                        </a:rPr>
                        <a:t>&lt;30-60-90&gt;</a:t>
                      </a:r>
                      <a:endParaRPr lang="en-US">
                        <a:latin typeface="Arial"/>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6505692"/>
                  </a:ext>
                </a:extLst>
              </a:tr>
              <a:tr h="3581400">
                <a:tc gridSpan="2">
                  <a:txBody>
                    <a:bodyPr/>
                    <a:lstStyle/>
                    <a:p>
                      <a:pPr mar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Program status: Yellow. </a:t>
                      </a:r>
                      <a:r>
                        <a:rPr lang="en-US" sz="800">
                          <a:solidFill>
                            <a:srgbClr val="000000"/>
                          </a:solidFill>
                          <a:latin typeface="Arial" panose="020B0604020202020204" pitchFamily="34" charset="0"/>
                          <a:cs typeface="Arial" panose="020B0604020202020204" pitchFamily="34" charset="0"/>
                        </a:rPr>
                        <a:t>Program remains on an executable path; however, Employer Portal schedule contingency has been fully consumed, requiring active risk mitigation to maintain target delivery dates.</a:t>
                      </a:r>
                    </a:p>
                    <a:p>
                      <a:pPr mar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Employer Portal: </a:t>
                      </a:r>
                    </a:p>
                    <a:p>
                      <a:pPr marL="628650" lvl="1" indent="-171450" algn="l">
                        <a:lnSpc>
                          <a:spcPct val="100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Bundle 4 completed, and the first production dark launch was successfully executed.</a:t>
                      </a:r>
                    </a:p>
                    <a:p>
                      <a:pPr marL="628650" lvl="1" indent="-171450" algn="l">
                        <a:lnSpc>
                          <a:spcPct val="100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Bundle 5 and 6 schedule at risk due to scope change.</a:t>
                      </a:r>
                    </a:p>
                    <a:p>
                      <a:pPr marL="0" lv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Payroll Billing Defects: </a:t>
                      </a:r>
                    </a:p>
                    <a:p>
                      <a:pPr marL="628650" lvl="1" indent="-171450" algn="l">
                        <a:lnSpc>
                          <a:spcPct val="100000"/>
                        </a:lnSpc>
                        <a:spcBef>
                          <a:spcPts val="0"/>
                        </a:spcBef>
                        <a:spcAft>
                          <a:spcPts val="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Trending Green. Wave 2 was deployed to production on 8/19, one day ahead of plan. Wave 1 was previously deployed.</a:t>
                      </a:r>
                    </a:p>
                    <a:p>
                      <a:pPr marL="0" lv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Policy Migration: </a:t>
                      </a:r>
                    </a:p>
                    <a:p>
                      <a:pPr marL="628650" lvl="1" indent="-171450">
                        <a:spcAft>
                          <a:spcPts val="10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PA and MD releases deployed; validation is underway</a:t>
                      </a:r>
                    </a:p>
                    <a:p>
                      <a:pPr marL="628650" lvl="1" indent="-171450">
                        <a:spcAft>
                          <a:spcPts val="10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Manual Migration discovery has begun. The SOW is currently in development</a:t>
                      </a:r>
                    </a:p>
                    <a:p>
                      <a:pPr algn="l">
                        <a:lnSpc>
                          <a:spcPct val="100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Major Medical:  </a:t>
                      </a:r>
                    </a:p>
                    <a:p>
                      <a:pPr marL="628650" lvl="1" indent="-171450" algn="l">
                        <a:lnSpc>
                          <a:spcPct val="100000"/>
                        </a:lnSpc>
                        <a:spcBef>
                          <a:spcPts val="0"/>
                        </a:spcBef>
                        <a:spcAft>
                          <a:spcPts val="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Development is in progress. Resource capacity constraints may impact the schedule</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endParaRPr lang="en-US" sz="800" b="1">
                        <a:solidFill>
                          <a:srgbClr val="000000"/>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NY/Unapproved State Product Build: </a:t>
                      </a:r>
                      <a:r>
                        <a:rPr lang="en-US" sz="800" b="0">
                          <a:solidFill>
                            <a:srgbClr val="000000"/>
                          </a:solidFill>
                          <a:latin typeface="Arial" panose="020B0604020202020204" pitchFamily="34" charset="0"/>
                          <a:cs typeface="Arial" panose="020B0604020202020204" pitchFamily="34" charset="0"/>
                        </a:rPr>
                        <a:t>SOW development underway with Cognizant</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MM-to-MM :  </a:t>
                      </a:r>
                      <a:r>
                        <a:rPr lang="en-US" sz="800" b="0">
                          <a:solidFill>
                            <a:srgbClr val="171717"/>
                          </a:solidFill>
                          <a:latin typeface="Arial" panose="020B0604020202020204" pitchFamily="34" charset="0"/>
                          <a:cs typeface="Arial" panose="020B0604020202020204" pitchFamily="34" charset="0"/>
                        </a:rPr>
                        <a:t>SOW development underway with ITS</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endParaRPr lang="en-US" sz="800" b="1">
                        <a:solidFill>
                          <a:srgbClr val="000000"/>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Conversions progress (as of 8/19) </a:t>
                      </a:r>
                      <a:r>
                        <a:rPr lang="en-US" sz="800" i="1">
                          <a:solidFill>
                            <a:srgbClr val="000000"/>
                          </a:solidFill>
                          <a:latin typeface="Arial" panose="020B0604020202020204" pitchFamily="34" charset="0"/>
                          <a:cs typeface="Arial" panose="020B0604020202020204" pitchFamily="34" charset="0"/>
                        </a:rPr>
                        <a:t>excludes Major Medical, legacy products and DOI-unapproved states </a:t>
                      </a:r>
                      <a:r>
                        <a:rPr lang="en-US" sz="900" i="1">
                          <a:solidFill>
                            <a:srgbClr val="000000"/>
                          </a:solidFill>
                          <a:latin typeface="Arial" panose="020B0604020202020204" pitchFamily="34" charset="0"/>
                          <a:cs typeface="Arial" panose="020B0604020202020204" pitchFamily="34" charset="0"/>
                        </a:rPr>
                        <a:t>:</a:t>
                      </a:r>
                    </a:p>
                    <a:p>
                      <a:pPr marL="628650" lvl="1" indent="-171450">
                        <a:spcAft>
                          <a:spcPts val="100"/>
                        </a:spcAft>
                        <a:buFont typeface="Arial" panose="020B0604020202020204" pitchFamily="34" charset="0"/>
                        <a:buChar char="•"/>
                      </a:pPr>
                      <a:endParaRPr lang="en-US" sz="900">
                        <a:solidFill>
                          <a:srgbClr val="000000"/>
                        </a:solidFill>
                        <a:latin typeface="Arial" panose="020B0604020202020204" pitchFamily="34" charset="0"/>
                        <a:cs typeface="Arial" panose="020B0604020202020204" pitchFamily="34" charset="0"/>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Key Business Outcome Metric (KPI): </a:t>
                      </a:r>
                    </a:p>
                    <a:p>
                      <a:pPr algn="ctr" fontAlgn="b"/>
                      <a:endParaRPr lang="en-US" sz="1100" b="1"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7">
                  <a:txBody>
                    <a:bodyPr/>
                    <a:lstStyle/>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Employer Portal – Key Milestones</a:t>
                      </a:r>
                    </a:p>
                    <a:p>
                      <a:pPr lvl="1">
                        <a:spcAft>
                          <a:spcPts val="0"/>
                        </a:spcAft>
                      </a:pPr>
                      <a:r>
                        <a:rPr lang="en-US" sz="800" b="0">
                          <a:solidFill>
                            <a:srgbClr val="171717"/>
                          </a:solidFill>
                          <a:latin typeface="Arial" panose="020B0604020202020204" pitchFamily="34" charset="0"/>
                          <a:cs typeface="Arial" panose="020B0604020202020204" pitchFamily="34" charset="0"/>
                        </a:rPr>
                        <a:t>• </a:t>
                      </a:r>
                      <a:r>
                        <a:rPr lang="en-US" sz="800">
                          <a:solidFill>
                            <a:srgbClr val="000000"/>
                          </a:solidFill>
                          <a:latin typeface="Arial" panose="020B0604020202020204" pitchFamily="34" charset="0"/>
                          <a:cs typeface="Arial" panose="020B0604020202020204" pitchFamily="34" charset="0"/>
                        </a:rPr>
                        <a:t>Bundle 5 Testing: 9/29; Bundle 6 Testing: 10/2</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IAM Dark Launch: 10/8</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Portal Dark Launch: 10/21</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Finance Dark Launch: 10/23</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Production Go-Live: 11/11</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Warranty Release: 12/9</a:t>
                      </a:r>
                    </a:p>
                    <a:p>
                      <a:pPr marL="0" marR="0" lvl="0" indent="0" algn="l" defTabSz="914400" rtl="0" eaLnBrk="1" fontAlgn="auto" latinLnBrk="0" hangingPunct="1">
                        <a:lnSpc>
                          <a:spcPct val="98000"/>
                        </a:lnSpc>
                        <a:spcBef>
                          <a:spcPts val="0"/>
                        </a:spcBef>
                        <a:spcAft>
                          <a:spcPts val="0"/>
                        </a:spcAft>
                        <a:buClrTx/>
                        <a:buSzTx/>
                        <a:buFontTx/>
                        <a:buNone/>
                        <a:tabLst/>
                        <a:defRPr/>
                      </a:pPr>
                      <a:r>
                        <a:rPr lang="en-US" sz="800" b="1">
                          <a:solidFill>
                            <a:srgbClr val="171717"/>
                          </a:solidFill>
                          <a:latin typeface="Arial" panose="020B0604020202020204" pitchFamily="34" charset="0"/>
                          <a:cs typeface="Arial" panose="020B0604020202020204" pitchFamily="34" charset="0"/>
                        </a:rPr>
                        <a:t>Payroll Billing Defects: </a:t>
                      </a:r>
                    </a:p>
                    <a:p>
                      <a:pPr marL="628650" marR="0" lvl="1" indent="-171450" algn="l" defTabSz="914400" rtl="0" eaLnBrk="1" fontAlgn="auto" latinLnBrk="0" hangingPunct="1">
                        <a:lnSpc>
                          <a:spcPct val="98000"/>
                        </a:lnSpc>
                        <a:spcBef>
                          <a:spcPts val="0"/>
                        </a:spcBef>
                        <a:spcAft>
                          <a:spcPts val="0"/>
                        </a:spcAft>
                        <a:buClrTx/>
                        <a:buSzTx/>
                        <a:buFont typeface="Arial" panose="020B0604020202020204" pitchFamily="34" charset="0"/>
                        <a:buChar char="•"/>
                        <a:tabLst/>
                        <a:defRPr/>
                      </a:pPr>
                      <a:r>
                        <a:rPr lang="en-US" sz="800">
                          <a:solidFill>
                            <a:srgbClr val="000000"/>
                          </a:solidFill>
                          <a:latin typeface="Arial" panose="020B0604020202020204" pitchFamily="34" charset="0"/>
                          <a:cs typeface="Arial" panose="020B0604020202020204" pitchFamily="34" charset="0"/>
                        </a:rPr>
                        <a:t>Wave 3  deployment scheduled for  9/17</a:t>
                      </a:r>
                    </a:p>
                    <a:p>
                      <a:pPr marL="628650" marR="0" lvl="1" indent="-171450" algn="l" defTabSz="914400" rtl="0" eaLnBrk="1" fontAlgn="auto" latinLnBrk="0" hangingPunct="1">
                        <a:lnSpc>
                          <a:spcPct val="98000"/>
                        </a:lnSpc>
                        <a:spcBef>
                          <a:spcPts val="0"/>
                        </a:spcBef>
                        <a:spcAft>
                          <a:spcPts val="0"/>
                        </a:spcAft>
                        <a:buClrTx/>
                        <a:buSzTx/>
                        <a:buFont typeface="Arial" panose="020B0604020202020204" pitchFamily="34" charset="0"/>
                        <a:buChar char="•"/>
                        <a:tabLst/>
                        <a:defRPr/>
                      </a:pPr>
                      <a:r>
                        <a:rPr lang="en-US" sz="800">
                          <a:solidFill>
                            <a:srgbClr val="000000"/>
                          </a:solidFill>
                          <a:latin typeface="Arial" panose="020B0604020202020204" pitchFamily="34" charset="0"/>
                          <a:cs typeface="Arial" panose="020B0604020202020204" pitchFamily="34" charset="0"/>
                        </a:rPr>
                        <a:t>Wave 4 analysis underway</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Policy Migration:  </a:t>
                      </a:r>
                      <a:r>
                        <a:rPr lang="en-US" sz="800" b="0">
                          <a:solidFill>
                            <a:srgbClr val="171717"/>
                          </a:solidFill>
                          <a:latin typeface="Arial" panose="020B0604020202020204" pitchFamily="34" charset="0"/>
                          <a:cs typeface="Arial" panose="020B0604020202020204" pitchFamily="34" charset="0"/>
                        </a:rPr>
                        <a:t>Manual Migration SOW approved; Discovery phase completed.</a:t>
                      </a:r>
                    </a:p>
                    <a:p>
                      <a:pPr algn="l">
                        <a:lnSpc>
                          <a:spcPct val="98000"/>
                        </a:lnSpc>
                        <a:spcBef>
                          <a:spcPts val="0"/>
                        </a:spcBef>
                        <a:spcAft>
                          <a:spcPts val="0"/>
                        </a:spcAft>
                      </a:pPr>
                      <a:endParaRPr lang="en-US" sz="800" b="0">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MM-to-MM Migration: </a:t>
                      </a:r>
                      <a:r>
                        <a:rPr lang="en-US" sz="800" b="0">
                          <a:solidFill>
                            <a:srgbClr val="171717"/>
                          </a:solidFill>
                          <a:latin typeface="Arial" panose="020B0604020202020204" pitchFamily="34" charset="0"/>
                          <a:cs typeface="Arial" panose="020B0604020202020204" pitchFamily="34" charset="0"/>
                        </a:rPr>
                        <a:t>SOW approved; discover completed.</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Major Medical Product Build: </a:t>
                      </a:r>
                      <a:r>
                        <a:rPr lang="en-US" sz="800" b="0">
                          <a:solidFill>
                            <a:srgbClr val="171717"/>
                          </a:solidFill>
                          <a:latin typeface="Arial" panose="020B0604020202020204" pitchFamily="34" charset="0"/>
                          <a:cs typeface="Arial" panose="020B0604020202020204" pitchFamily="34" charset="0"/>
                        </a:rPr>
                        <a:t>Resource gap addressed; development is progressing as planned.</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New York Product Build : </a:t>
                      </a:r>
                      <a:r>
                        <a:rPr lang="en-US" sz="800" b="0">
                          <a:solidFill>
                            <a:srgbClr val="171717"/>
                          </a:solidFill>
                          <a:latin typeface="Arial" panose="020B0604020202020204" pitchFamily="34" charset="0"/>
                          <a:cs typeface="Arial" panose="020B0604020202020204" pitchFamily="34" charset="0"/>
                        </a:rPr>
                        <a:t>SOW finalized. Core team staffed; discovery phase is beginning.</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u="sng">
                          <a:solidFill>
                            <a:srgbClr val="171717"/>
                          </a:solidFill>
                          <a:latin typeface="Arial" panose="020B0604020202020204" pitchFamily="34" charset="0"/>
                          <a:cs typeface="Arial" panose="020B0604020202020204" pitchFamily="34" charset="0"/>
                        </a:rPr>
                        <a:t>Key Risks:</a:t>
                      </a:r>
                    </a:p>
                    <a:p>
                      <a:pPr lvl="0"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Employer Portal Schedule: </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Risk: </a:t>
                      </a:r>
                      <a:r>
                        <a:rPr lang="en-US" sz="800" b="0">
                          <a:solidFill>
                            <a:srgbClr val="171717"/>
                          </a:solidFill>
                          <a:latin typeface="Arial" panose="020B0604020202020204" pitchFamily="34" charset="0"/>
                          <a:cs typeface="Arial" panose="020B0604020202020204" pitchFamily="34" charset="0"/>
                        </a:rPr>
                        <a:t>The approved rebaseline has no remaining schedule contingency. Bundle 6 testing, scope decisions, and defect remediation activities could impact October dark launch milestones and the 11/11 go-live.</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Mitigation: </a:t>
                      </a:r>
                      <a:r>
                        <a:rPr lang="en-US" sz="800" b="0">
                          <a:solidFill>
                            <a:srgbClr val="171717"/>
                          </a:solidFill>
                          <a:latin typeface="Arial" panose="020B0604020202020204" pitchFamily="34" charset="0"/>
                          <a:cs typeface="Arial" panose="020B0604020202020204" pitchFamily="34" charset="0"/>
                        </a:rPr>
                        <a:t>Daily defect and backlog triage is in place; non-MVP scope has been deferred to future releases to protect critical milestones.</a:t>
                      </a:r>
                    </a:p>
                    <a:p>
                      <a:pPr marL="0" lvl="0" indent="0" algn="l">
                        <a:lnSpc>
                          <a:spcPct val="98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2027 Funding: </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Risk: </a:t>
                      </a:r>
                      <a:r>
                        <a:rPr lang="en-US" sz="800" b="0">
                          <a:solidFill>
                            <a:srgbClr val="171717"/>
                          </a:solidFill>
                          <a:latin typeface="Arial" panose="020B0604020202020204" pitchFamily="34" charset="0"/>
                          <a:cs typeface="Arial" panose="020B0604020202020204" pitchFamily="34" charset="0"/>
                        </a:rPr>
                        <a:t>Preliminary forecasts indicate an additional funding requirement of approximately $2M for 2027.</a:t>
                      </a:r>
                    </a:p>
                    <a:p>
                      <a:pPr marL="628650" lvl="1" indent="-171450" algn="l">
                        <a:lnSpc>
                          <a:spcPct val="98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Mitigation: Pet Portfolio and Finance teams are evaluating funding options and accelerating eligible work into 2026 to reduce 2027 demand.</a:t>
                      </a: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kern="1200">
                        <a:solidFill>
                          <a:schemeClr val="dk1"/>
                        </a:solidFill>
                        <a:effectLst/>
                        <a:latin typeface="+mn-lt"/>
                        <a:ea typeface="+mn-ea"/>
                        <a:cs typeface="Arial" panose="020B0604020202020204" pitchFamily="34"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rial" panose="020B0604020202020204" pitchFamily="34" charset="0"/>
                        <a:cs typeface="Arial" panose="020B0604020202020204" pitchFamily="34" charset="0"/>
                      </a:endParaRPr>
                    </a:p>
                  </a:txBody>
                  <a:tcPr marL="0" marR="0"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2786969"/>
                  </a:ext>
                </a:extLst>
              </a:tr>
              <a:tr h="201168">
                <a:tc gridSpan="2">
                  <a:txBody>
                    <a:bodyPr/>
                    <a:lstStyle/>
                    <a:p>
                      <a:pPr lvl="0">
                        <a:buNone/>
                      </a:pPr>
                      <a:r>
                        <a:rPr lang="en-US" sz="1200" b="1" i="0" kern="1200">
                          <a:solidFill>
                            <a:schemeClr val="tx1"/>
                          </a:solidFill>
                          <a:latin typeface="Arial" panose="020B0604020202020204" pitchFamily="34" charset="0"/>
                          <a:ea typeface="+mn-ea"/>
                          <a:cs typeface="Arial" panose="020B0604020202020204" pitchFamily="34" charset="0"/>
                        </a:rPr>
                        <a:t>Benefits:</a:t>
                      </a:r>
                      <a:endParaRPr lang="en-US" sz="1200" b="0" i="0" kern="1200">
                        <a:solidFill>
                          <a:schemeClr val="tx1"/>
                        </a:solidFill>
                        <a:latin typeface="Arial" panose="020B0604020202020204" pitchFamily="34" charset="0"/>
                        <a:ea typeface="+mn-ea"/>
                        <a:cs typeface="Arial" panose="020B0604020202020204" pitchFamily="34" charset="0"/>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Key Business Outcome Metric (KPI): </a:t>
                      </a:r>
                    </a:p>
                  </a:txBody>
                  <a:tcPr marL="9525" marR="9525" marT="9525" marB="0" anchor="ctr"/>
                </a:tc>
                <a:tc gridSpan="7">
                  <a:txBody>
                    <a:bodyPr/>
                    <a:lstStyle/>
                    <a:p>
                      <a:pPr lvl="0">
                        <a:buNone/>
                      </a:pPr>
                      <a:r>
                        <a:rPr lang="en-US" sz="900" b="1" i="0" u="none" strike="noStrike" kern="1200">
                          <a:solidFill>
                            <a:schemeClr val="tx1"/>
                          </a:solidFill>
                          <a:effectLst/>
                          <a:latin typeface="Arial"/>
                          <a:ea typeface="+mn-ea"/>
                          <a:cs typeface="Arial"/>
                        </a:rPr>
                        <a:t> </a:t>
                      </a:r>
                      <a:r>
                        <a:rPr lang="en-US" sz="1200" b="1" i="0" u="none" strike="noStrike" kern="1200">
                          <a:solidFill>
                            <a:schemeClr val="tx1"/>
                          </a:solidFill>
                          <a:effectLst/>
                          <a:latin typeface="Arial"/>
                          <a:ea typeface="+mn-ea"/>
                          <a:cs typeface="Arial"/>
                        </a:rPr>
                        <a:t>Key Performance Indicators:</a:t>
                      </a:r>
                      <a:endParaRPr lang="en-US" sz="1100" b="1" i="0" kern="1200">
                        <a:solidFill>
                          <a:schemeClr val="tx1"/>
                        </a:solidFill>
                        <a:latin typeface="Arial"/>
                        <a:ea typeface="+mn-ea"/>
                        <a:cs typeface="Aria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kern="1200">
                        <a:solidFill>
                          <a:schemeClr val="dk1"/>
                        </a:solidFill>
                        <a:effectLst/>
                        <a:latin typeface="+mn-lt"/>
                        <a:ea typeface="+mn-ea"/>
                        <a:cs typeface="Arial" panose="020B060402020202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rial" panose="020B0604020202020204" pitchFamily="34" charset="0"/>
                        <a:cs typeface="Arial" panose="020B0604020202020204" pitchFamily="34" charset="0"/>
                      </a:endParaRPr>
                    </a:p>
                  </a:txBody>
                  <a:tcPr marL="0" marR="0" anchorCtr="1"/>
                </a:tc>
                <a:extLst>
                  <a:ext uri="{0D108BD9-81ED-4DB2-BD59-A6C34878D82A}">
                    <a16:rowId xmlns:a16="http://schemas.microsoft.com/office/drawing/2014/main" val="34340670"/>
                  </a:ext>
                </a:extLst>
              </a:tr>
              <a:tr h="933462">
                <a:tc gridSpan="2">
                  <a:txBody>
                    <a:bodyPr/>
                    <a:lstStyle/>
                    <a:p>
                      <a:pPr marL="0" marR="0" lvl="0" indent="0" algn="l" defTabSz="914400" rtl="0" eaLnBrk="1" fontAlgn="base" latinLnBrk="0" hangingPunct="1">
                        <a:lnSpc>
                          <a:spcPct val="100000"/>
                        </a:lnSpc>
                        <a:spcBef>
                          <a:spcPts val="0"/>
                        </a:spcBef>
                        <a:spcAft>
                          <a:spcPts val="0"/>
                        </a:spcAft>
                        <a:buClrTx/>
                        <a:buSzTx/>
                        <a:buFont typeface="+mj-lt"/>
                        <a:buNone/>
                        <a:tabLst/>
                        <a:defRPr/>
                      </a:pPr>
                      <a:r>
                        <a:rPr lang="en-US" sz="900" b="1" i="0" kern="1200">
                          <a:solidFill>
                            <a:schemeClr val="dk1"/>
                          </a:solidFill>
                          <a:effectLst/>
                          <a:latin typeface="Arial"/>
                          <a:ea typeface="+mn-ea"/>
                          <a:cs typeface="Arial"/>
                        </a:rPr>
                        <a:t>Platform Modernization</a:t>
                      </a:r>
                      <a:r>
                        <a:rPr lang="en-US" sz="900" b="0" i="0" kern="1200">
                          <a:solidFill>
                            <a:schemeClr val="dk1"/>
                          </a:solidFill>
                          <a:effectLst/>
                          <a:latin typeface="Arial"/>
                          <a:ea typeface="+mn-ea"/>
                          <a:cs typeface="Arial"/>
                        </a:rPr>
                        <a:t>:  </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Pricing sophistication</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Integration capabilities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Technology risk mitigation</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7">
                  <a:txBody>
                    <a:bodyPr/>
                    <a:lstStyle/>
                    <a:p>
                      <a:pPr marL="228600" indent="-228600">
                        <a:buFont typeface="+mj-lt"/>
                        <a:buAutoNum type="arabicPeriod"/>
                      </a:pPr>
                      <a:r>
                        <a:rPr lang="en-US" sz="900" b="0" kern="1200">
                          <a:solidFill>
                            <a:schemeClr val="tx1"/>
                          </a:solidFill>
                          <a:latin typeface="Arial"/>
                          <a:ea typeface="+mn-ea"/>
                          <a:cs typeface="Arial"/>
                        </a:rPr>
                        <a:t>Faster product launches and channel growth</a:t>
                      </a:r>
                    </a:p>
                    <a:p>
                      <a:pPr marL="228600" indent="-228600">
                        <a:buFont typeface="+mj-lt"/>
                        <a:buAutoNum type="arabicPeriod"/>
                      </a:pPr>
                      <a:r>
                        <a:rPr lang="en-US" sz="900" b="0" kern="1200">
                          <a:solidFill>
                            <a:schemeClr val="tx1"/>
                          </a:solidFill>
                          <a:latin typeface="Arial"/>
                          <a:ea typeface="+mn-ea"/>
                          <a:cs typeface="Arial"/>
                        </a:rPr>
                        <a:t>More agile product administration and lifecycle management</a:t>
                      </a:r>
                    </a:p>
                    <a:p>
                      <a:pPr marL="228600" indent="-228600">
                        <a:buFont typeface="+mj-lt"/>
                        <a:buAutoNum type="arabicPeriod"/>
                      </a:pPr>
                      <a:r>
                        <a:rPr lang="en-US" sz="900" b="0" i="0" strike="noStrike" kern="1200">
                          <a:solidFill>
                            <a:schemeClr val="tx1"/>
                          </a:solidFill>
                          <a:effectLst/>
                          <a:latin typeface="Arial"/>
                          <a:ea typeface="+mn-ea"/>
                          <a:cs typeface="Arial"/>
                        </a:rPr>
                        <a:t>Quicker time to market for new products and changes</a:t>
                      </a:r>
                    </a:p>
                    <a:p>
                      <a:pPr marL="228600" indent="-228600">
                        <a:buFont typeface="+mj-lt"/>
                        <a:buAutoNum type="arabicPeriod"/>
                      </a:pPr>
                      <a:r>
                        <a:rPr lang="en-US" sz="900" b="0" i="0" strike="noStrike" kern="1200">
                          <a:solidFill>
                            <a:schemeClr val="tx1"/>
                          </a:solidFill>
                          <a:effectLst/>
                          <a:latin typeface="Arial"/>
                          <a:ea typeface="+mn-ea"/>
                          <a:cs typeface="Arial"/>
                        </a:rPr>
                        <a:t>Better customer and partner experience through self-service</a:t>
                      </a:r>
                    </a:p>
                    <a:p>
                      <a:pPr marL="228600" indent="-228600">
                        <a:buFont typeface="+mj-lt"/>
                        <a:buAutoNum type="arabicPeriod"/>
                      </a:pPr>
                      <a:r>
                        <a:rPr lang="en-US" sz="900" b="0" i="0" strike="noStrike" kern="1200">
                          <a:solidFill>
                            <a:schemeClr val="tx1"/>
                          </a:solidFill>
                          <a:effectLst/>
                          <a:latin typeface="Arial"/>
                          <a:ea typeface="+mn-ea"/>
                          <a:cs typeface="Arial"/>
                        </a:rPr>
                        <a:t>Lower cost and risk through modernization and legacy retirement</a:t>
                      </a:r>
                      <a:endParaRPr lang="en-US" sz="1100" b="0" i="0" u="none" strike="noStrike" kern="1200" cap="none" spc="0" normalizeH="0" baseline="0" noProof="0">
                        <a:ln>
                          <a:noFill/>
                        </a:ln>
                        <a:solidFill>
                          <a:prstClr val="black"/>
                        </a:solidFill>
                        <a:effectLst/>
                        <a:uLnTx/>
                        <a:uFillTx/>
                        <a:latin typeface="Arial"/>
                        <a:ea typeface="+mn-ea"/>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2770255"/>
                  </a:ext>
                </a:extLst>
              </a:tr>
            </a:tbl>
          </a:graphicData>
        </a:graphic>
      </p:graphicFrame>
      <p:sp>
        <p:nvSpPr>
          <p:cNvPr id="6" name="Slide Number Placeholder 3">
            <a:extLst>
              <a:ext uri="{FF2B5EF4-FFF2-40B4-BE49-F238E27FC236}">
                <a16:creationId xmlns:a16="http://schemas.microsoft.com/office/drawing/2014/main" id="{ADEA65D8-A62F-D8DC-0271-6F1AC007555F}"/>
              </a:ext>
            </a:extLst>
          </p:cNvPr>
          <p:cNvSpPr>
            <a:spLocks noGrp="1"/>
          </p:cNvSpPr>
          <p:nvPr>
            <p:ph type="sldNum" sz="quarter" idx="12"/>
          </p:nvPr>
        </p:nvSpPr>
        <p:spPr>
          <a:xfrm>
            <a:off x="9166781"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654EDE-1844-45C5-B77B-942F00315BA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0" name="Table 9">
            <a:extLst>
              <a:ext uri="{FF2B5EF4-FFF2-40B4-BE49-F238E27FC236}">
                <a16:creationId xmlns:a16="http://schemas.microsoft.com/office/drawing/2014/main" id="{7B4A27DA-1429-F3F6-385D-DEC4031440EB}"/>
              </a:ext>
            </a:extLst>
          </p:cNvPr>
          <p:cNvGraphicFramePr>
            <a:graphicFrameLocks noGrp="1"/>
          </p:cNvGraphicFramePr>
          <p:nvPr>
            <p:extLst>
              <p:ext uri="{D42A27DB-BD31-4B8C-83A1-F6EECF244321}">
                <p14:modId xmlns:p14="http://schemas.microsoft.com/office/powerpoint/2010/main" val="3815484566"/>
              </p:ext>
            </p:extLst>
          </p:nvPr>
        </p:nvGraphicFramePr>
        <p:xfrm>
          <a:off x="200889" y="4298764"/>
          <a:ext cx="4416553" cy="1132588"/>
        </p:xfrm>
        <a:graphic>
          <a:graphicData uri="http://schemas.openxmlformats.org/drawingml/2006/table">
            <a:tbl>
              <a:tblPr firstRow="1" bandRow="1">
                <a:tableStyleId>{5C22544A-7EE6-4342-B048-85BDC9FD1C3A}</a:tableStyleId>
              </a:tblPr>
              <a:tblGrid>
                <a:gridCol w="883620">
                  <a:extLst>
                    <a:ext uri="{9D8B030D-6E8A-4147-A177-3AD203B41FA5}">
                      <a16:colId xmlns:a16="http://schemas.microsoft.com/office/drawing/2014/main" val="679191874"/>
                    </a:ext>
                  </a:extLst>
                </a:gridCol>
                <a:gridCol w="764868">
                  <a:extLst>
                    <a:ext uri="{9D8B030D-6E8A-4147-A177-3AD203B41FA5}">
                      <a16:colId xmlns:a16="http://schemas.microsoft.com/office/drawing/2014/main" val="840097192"/>
                    </a:ext>
                  </a:extLst>
                </a:gridCol>
                <a:gridCol w="794661">
                  <a:extLst>
                    <a:ext uri="{9D8B030D-6E8A-4147-A177-3AD203B41FA5}">
                      <a16:colId xmlns:a16="http://schemas.microsoft.com/office/drawing/2014/main" val="3377124956"/>
                    </a:ext>
                  </a:extLst>
                </a:gridCol>
                <a:gridCol w="1173886">
                  <a:extLst>
                    <a:ext uri="{9D8B030D-6E8A-4147-A177-3AD203B41FA5}">
                      <a16:colId xmlns:a16="http://schemas.microsoft.com/office/drawing/2014/main" val="864659225"/>
                    </a:ext>
                  </a:extLst>
                </a:gridCol>
                <a:gridCol w="799518">
                  <a:extLst>
                    <a:ext uri="{9D8B030D-6E8A-4147-A177-3AD203B41FA5}">
                      <a16:colId xmlns:a16="http://schemas.microsoft.com/office/drawing/2014/main" val="3415057659"/>
                    </a:ext>
                  </a:extLst>
                </a:gridCol>
              </a:tblGrid>
              <a:tr h="255875">
                <a:tc>
                  <a:txBody>
                    <a:bodyPr/>
                    <a:lstStyle/>
                    <a:p>
                      <a:pPr algn="ctr"/>
                      <a:r>
                        <a:rPr lang="en-US" sz="700">
                          <a:latin typeface="Arial" panose="020B0604020202020204" pitchFamily="34" charset="0"/>
                          <a:cs typeface="Arial" panose="020B0604020202020204" pitchFamily="34" charset="0"/>
                        </a:rPr>
                        <a:t>Product</a:t>
                      </a:r>
                    </a:p>
                  </a:txBody>
                  <a:tcPr anchor="ctr"/>
                </a:tc>
                <a:tc>
                  <a:txBody>
                    <a:bodyPr/>
                    <a:lstStyle/>
                    <a:p>
                      <a:pPr algn="ctr"/>
                      <a:r>
                        <a:rPr lang="en-US" sz="700">
                          <a:latin typeface="Arial" panose="020B0604020202020204" pitchFamily="34" charset="0"/>
                          <a:cs typeface="Arial" panose="020B0604020202020204" pitchFamily="34" charset="0"/>
                        </a:rPr>
                        <a:t>States Deployed</a:t>
                      </a:r>
                    </a:p>
                  </a:txBody>
                  <a:tcPr anchor="ctr"/>
                </a:tc>
                <a:tc>
                  <a:txBody>
                    <a:bodyPr/>
                    <a:lstStyle/>
                    <a:p>
                      <a:pPr algn="ctr"/>
                      <a:r>
                        <a:rPr lang="en-US" sz="700">
                          <a:latin typeface="Arial" panose="020B0604020202020204" pitchFamily="34" charset="0"/>
                          <a:cs typeface="Arial" panose="020B0604020202020204" pitchFamily="34" charset="0"/>
                        </a:rPr>
                        <a:t>Policies Migrated</a:t>
                      </a:r>
                    </a:p>
                  </a:txBody>
                  <a:tcPr anchor="ctr"/>
                </a:tc>
                <a:tc>
                  <a:txBody>
                    <a:bodyPr/>
                    <a:lstStyle/>
                    <a:p>
                      <a:pPr algn="ctr"/>
                      <a:r>
                        <a:rPr lang="en-US" sz="700">
                          <a:latin typeface="Arial" panose="020B0604020202020204" pitchFamily="34" charset="0"/>
                          <a:cs typeface="Arial" panose="020B0604020202020204" pitchFamily="34" charset="0"/>
                        </a:rPr>
                        <a:t>Original Premium Migrated</a:t>
                      </a:r>
                    </a:p>
                  </a:txBody>
                  <a:tcPr anchor="ctr"/>
                </a:tc>
                <a:tc>
                  <a:txBody>
                    <a:bodyPr/>
                    <a:lstStyle/>
                    <a:p>
                      <a:pPr algn="ctr"/>
                      <a:r>
                        <a:rPr lang="en-US" sz="700">
                          <a:latin typeface="Arial" panose="020B0604020202020204" pitchFamily="34" charset="0"/>
                          <a:cs typeface="Arial" panose="020B0604020202020204" pitchFamily="34" charset="0"/>
                        </a:rPr>
                        <a:t>% Complete</a:t>
                      </a:r>
                    </a:p>
                  </a:txBody>
                  <a:tcPr anchor="ctr"/>
                </a:tc>
                <a:extLst>
                  <a:ext uri="{0D108BD9-81ED-4DB2-BD59-A6C34878D82A}">
                    <a16:rowId xmlns:a16="http://schemas.microsoft.com/office/drawing/2014/main" val="3115914163"/>
                  </a:ext>
                </a:extLst>
              </a:tr>
              <a:tr h="173729">
                <a:tc>
                  <a:txBody>
                    <a:bodyPr/>
                    <a:lstStyle/>
                    <a:p>
                      <a:r>
                        <a:rPr lang="en-US" sz="700" b="1">
                          <a:latin typeface="Arial" panose="020B0604020202020204" pitchFamily="34" charset="0"/>
                          <a:cs typeface="Arial" panose="020B0604020202020204" pitchFamily="34" charset="0"/>
                        </a:rPr>
                        <a:t>MM to MPI</a:t>
                      </a:r>
                    </a:p>
                  </a:txBody>
                  <a:tcPr anchor="ctr"/>
                </a:tc>
                <a:tc>
                  <a:txBody>
                    <a:bodyPr/>
                    <a:lstStyle/>
                    <a:p>
                      <a:pPr algn="ctr"/>
                      <a:r>
                        <a:rPr lang="en-US" sz="700">
                          <a:latin typeface="Arial" panose="020B0604020202020204" pitchFamily="34" charset="0"/>
                          <a:cs typeface="Arial" panose="020B0604020202020204" pitchFamily="34" charset="0"/>
                        </a:rPr>
                        <a:t>CA</a:t>
                      </a:r>
                    </a:p>
                  </a:txBody>
                  <a:tcPr anchor="ctr"/>
                </a:tc>
                <a:tc>
                  <a:txBody>
                    <a:bodyPr/>
                    <a:lstStyle/>
                    <a:p>
                      <a:pPr algn="ctr" fontAlgn="base">
                        <a:lnSpc>
                          <a:spcPts val="975"/>
                        </a:lnSpc>
                        <a:buNone/>
                      </a:pPr>
                      <a:r>
                        <a:rPr lang="en-US" sz="700" b="0" i="0">
                          <a:solidFill>
                            <a:srgbClr val="000000"/>
                          </a:solidFill>
                          <a:effectLst/>
                          <a:latin typeface="Arial"/>
                          <a:cs typeface="Arial"/>
                        </a:rPr>
                        <a:t>66,550</a:t>
                      </a:r>
                    </a:p>
                  </a:txBody>
                  <a:tcPr anchor="ctr"/>
                </a:tc>
                <a:tc>
                  <a:txBody>
                    <a:bodyPr/>
                    <a:lstStyle/>
                    <a:p>
                      <a:pPr algn="ctr" fontAlgn="base">
                        <a:lnSpc>
                          <a:spcPts val="975"/>
                        </a:lnSpc>
                        <a:buNone/>
                      </a:pPr>
                      <a:r>
                        <a:rPr lang="en-US" sz="700" b="0" i="0">
                          <a:solidFill>
                            <a:srgbClr val="000000"/>
                          </a:solidFill>
                          <a:effectLst/>
                          <a:latin typeface="Arial"/>
                          <a:cs typeface="Arial"/>
                        </a:rPr>
                        <a:t>$58.6M​</a:t>
                      </a:r>
                    </a:p>
                  </a:txBody>
                  <a:tcPr anchor="ctr"/>
                </a:tc>
                <a:tc>
                  <a:txBody>
                    <a:bodyPr/>
                    <a:lstStyle/>
                    <a:p>
                      <a:pPr algn="ctr" fontAlgn="base">
                        <a:lnSpc>
                          <a:spcPts val="975"/>
                        </a:lnSpc>
                        <a:buNone/>
                      </a:pPr>
                      <a:r>
                        <a:rPr lang="en-US" sz="700" b="0" i="0">
                          <a:solidFill>
                            <a:srgbClr val="000000"/>
                          </a:solidFill>
                          <a:effectLst/>
                          <a:latin typeface="Arial"/>
                          <a:cs typeface="Arial"/>
                        </a:rPr>
                        <a:t>99.7%​</a:t>
                      </a:r>
                    </a:p>
                  </a:txBody>
                  <a:tcPr anchor="ctr"/>
                </a:tc>
                <a:extLst>
                  <a:ext uri="{0D108BD9-81ED-4DB2-BD59-A6C34878D82A}">
                    <a16:rowId xmlns:a16="http://schemas.microsoft.com/office/drawing/2014/main" val="4030249844"/>
                  </a:ext>
                </a:extLst>
              </a:tr>
              <a:tr h="173729">
                <a:tc>
                  <a:txBody>
                    <a:bodyPr/>
                    <a:lstStyle/>
                    <a:p>
                      <a:r>
                        <a:rPr lang="en-US" sz="700" b="1">
                          <a:latin typeface="Arial" panose="020B0604020202020204" pitchFamily="34" charset="0"/>
                          <a:cs typeface="Arial" panose="020B0604020202020204" pitchFamily="34" charset="0"/>
                        </a:rPr>
                        <a:t>MPP to MPPC</a:t>
                      </a:r>
                    </a:p>
                  </a:txBody>
                  <a:tcPr anchor="ctr"/>
                </a:tc>
                <a:tc>
                  <a:txBody>
                    <a:bodyPr/>
                    <a:lstStyle/>
                    <a:p>
                      <a:pPr algn="ctr"/>
                      <a:r>
                        <a:rPr lang="en-US" sz="700">
                          <a:latin typeface="Arial" panose="020B0604020202020204" pitchFamily="34" charset="0"/>
                          <a:cs typeface="Arial" panose="020B0604020202020204" pitchFamily="34" charset="0"/>
                        </a:rPr>
                        <a:t>49</a:t>
                      </a:r>
                    </a:p>
                  </a:txBody>
                  <a:tcPr anchor="ctr"/>
                </a:tc>
                <a:tc>
                  <a:txBody>
                    <a:bodyPr/>
                    <a:lstStyle/>
                    <a:p>
                      <a:pPr algn="ctr" fontAlgn="base">
                        <a:lnSpc>
                          <a:spcPts val="975"/>
                        </a:lnSpc>
                        <a:buNone/>
                      </a:pPr>
                      <a:r>
                        <a:rPr lang="en-US" sz="700" b="0" i="0">
                          <a:solidFill>
                            <a:srgbClr val="000000"/>
                          </a:solidFill>
                          <a:effectLst/>
                          <a:latin typeface="Arial"/>
                          <a:cs typeface="Arial"/>
                        </a:rPr>
                        <a:t>531,739</a:t>
                      </a:r>
                    </a:p>
                  </a:txBody>
                  <a:tcPr anchor="ctr"/>
                </a:tc>
                <a:tc>
                  <a:txBody>
                    <a:bodyPr/>
                    <a:lstStyle/>
                    <a:p>
                      <a:pPr algn="ctr" fontAlgn="base">
                        <a:lnSpc>
                          <a:spcPts val="975"/>
                        </a:lnSpc>
                        <a:buNone/>
                      </a:pPr>
                      <a:r>
                        <a:rPr lang="en-US" sz="700" b="0" i="0">
                          <a:solidFill>
                            <a:srgbClr val="000000"/>
                          </a:solidFill>
                          <a:effectLst/>
                          <a:latin typeface="Arial"/>
                          <a:cs typeface="Arial"/>
                        </a:rPr>
                        <a:t>$424.3M​</a:t>
                      </a:r>
                    </a:p>
                  </a:txBody>
                  <a:tcPr anchor="ctr"/>
                </a:tc>
                <a:tc>
                  <a:txBody>
                    <a:bodyPr/>
                    <a:lstStyle/>
                    <a:p>
                      <a:pPr algn="ctr" fontAlgn="base">
                        <a:lnSpc>
                          <a:spcPts val="975"/>
                        </a:lnSpc>
                        <a:buNone/>
                      </a:pPr>
                      <a:r>
                        <a:rPr lang="en-US" sz="700" b="0" i="0">
                          <a:solidFill>
                            <a:srgbClr val="000000"/>
                          </a:solidFill>
                          <a:effectLst/>
                          <a:latin typeface="Arial"/>
                          <a:cs typeface="Arial"/>
                        </a:rPr>
                        <a:t>86.5%​</a:t>
                      </a:r>
                    </a:p>
                  </a:txBody>
                  <a:tcPr anchor="ctr"/>
                </a:tc>
                <a:extLst>
                  <a:ext uri="{0D108BD9-81ED-4DB2-BD59-A6C34878D82A}">
                    <a16:rowId xmlns:a16="http://schemas.microsoft.com/office/drawing/2014/main" val="1186921205"/>
                  </a:ext>
                </a:extLst>
              </a:tr>
              <a:tr h="173729">
                <a:tc>
                  <a:txBody>
                    <a:bodyPr/>
                    <a:lstStyle/>
                    <a:p>
                      <a:r>
                        <a:rPr lang="en-US" sz="700" b="1">
                          <a:latin typeface="Arial" panose="020B0604020202020204" pitchFamily="34" charset="0"/>
                          <a:cs typeface="Arial" panose="020B0604020202020204" pitchFamily="34" charset="0"/>
                        </a:rPr>
                        <a:t>WP to MPI</a:t>
                      </a:r>
                    </a:p>
                  </a:txBody>
                  <a:tcPr anchor="ctr"/>
                </a:tc>
                <a:tc>
                  <a:txBody>
                    <a:bodyPr/>
                    <a:lstStyle/>
                    <a:p>
                      <a:pPr algn="ctr"/>
                      <a:r>
                        <a:rPr lang="en-US" sz="700">
                          <a:latin typeface="Arial" panose="020B0604020202020204" pitchFamily="34" charset="0"/>
                          <a:cs typeface="Arial" panose="020B0604020202020204" pitchFamily="34" charset="0"/>
                        </a:rPr>
                        <a:t>25</a:t>
                      </a:r>
                    </a:p>
                  </a:txBody>
                  <a:tcPr anchor="ctr"/>
                </a:tc>
                <a:tc>
                  <a:txBody>
                    <a:bodyPr/>
                    <a:lstStyle/>
                    <a:p>
                      <a:pPr algn="ctr" fontAlgn="base">
                        <a:lnSpc>
                          <a:spcPts val="975"/>
                        </a:lnSpc>
                        <a:buNone/>
                      </a:pPr>
                      <a:r>
                        <a:rPr lang="en-US" sz="700" b="0" i="0">
                          <a:solidFill>
                            <a:srgbClr val="000000"/>
                          </a:solidFill>
                          <a:effectLst/>
                          <a:latin typeface="Arial"/>
                          <a:cs typeface="Arial"/>
                        </a:rPr>
                        <a:t>37,946</a:t>
                      </a:r>
                      <a:endParaRPr lang="en-US" sz="700" b="0" i="0">
                        <a:solidFill>
                          <a:srgbClr val="000000"/>
                        </a:solidFill>
                        <a:effectLst/>
                        <a:latin typeface="Arial" panose="020B0604020202020204" pitchFamily="34" charset="0"/>
                        <a:cs typeface="Arial" panose="020B0604020202020204" pitchFamily="34" charset="0"/>
                      </a:endParaRPr>
                    </a:p>
                  </a:txBody>
                  <a:tcPr anchor="ctr"/>
                </a:tc>
                <a:tc>
                  <a:txBody>
                    <a:bodyPr/>
                    <a:lstStyle/>
                    <a:p>
                      <a:pPr algn="ctr"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$81.1M​</a:t>
                      </a:r>
                    </a:p>
                  </a:txBody>
                  <a:tcPr anchor="ctr"/>
                </a:tc>
                <a:tc>
                  <a:txBody>
                    <a:bodyPr/>
                    <a:lstStyle/>
                    <a:p>
                      <a:pPr algn="ctr" fontAlgn="base">
                        <a:lnSpc>
                          <a:spcPts val="975"/>
                        </a:lnSpc>
                        <a:buNone/>
                      </a:pPr>
                      <a:r>
                        <a:rPr lang="en-US" sz="700" b="0" i="0">
                          <a:solidFill>
                            <a:srgbClr val="000000"/>
                          </a:solidFill>
                          <a:effectLst/>
                          <a:latin typeface="Arial"/>
                          <a:cs typeface="Arial"/>
                        </a:rPr>
                        <a:t>79.9%​</a:t>
                      </a:r>
                    </a:p>
                  </a:txBody>
                  <a:tcPr anchor="ctr"/>
                </a:tc>
                <a:extLst>
                  <a:ext uri="{0D108BD9-81ED-4DB2-BD59-A6C34878D82A}">
                    <a16:rowId xmlns:a16="http://schemas.microsoft.com/office/drawing/2014/main" val="4086376779"/>
                  </a:ext>
                </a:extLst>
              </a:tr>
              <a:tr h="173729">
                <a:tc>
                  <a:txBody>
                    <a:bodyPr/>
                    <a:lstStyle/>
                    <a:p>
                      <a:r>
                        <a:rPr lang="en-US" sz="700" b="1">
                          <a:latin typeface="Arial" panose="020B0604020202020204" pitchFamily="34" charset="0"/>
                          <a:cs typeface="Arial" panose="020B0604020202020204" pitchFamily="34" charset="0"/>
                        </a:rPr>
                        <a:t>Total</a:t>
                      </a:r>
                    </a:p>
                  </a:txBody>
                  <a:tcPr anchor="ctr"/>
                </a:tc>
                <a:tc>
                  <a:txBody>
                    <a:bodyPr/>
                    <a:lstStyle/>
                    <a:p>
                      <a:pPr algn="ctr"/>
                      <a:endParaRPr lang="en-US" sz="700">
                        <a:latin typeface="Arial" panose="020B0604020202020204" pitchFamily="34" charset="0"/>
                        <a:cs typeface="Arial" panose="020B0604020202020204" pitchFamily="34" charset="0"/>
                      </a:endParaRPr>
                    </a:p>
                  </a:txBody>
                  <a:tcPr anchor="ctr"/>
                </a:tc>
                <a:tc>
                  <a:txBody>
                    <a:bodyPr/>
                    <a:lstStyle/>
                    <a:p>
                      <a:pPr algn="ctr" fontAlgn="base">
                        <a:lnSpc>
                          <a:spcPts val="975"/>
                        </a:lnSpc>
                        <a:buNone/>
                      </a:pPr>
                      <a:r>
                        <a:rPr lang="en-US" sz="700" b="1" i="0">
                          <a:solidFill>
                            <a:srgbClr val="000000"/>
                          </a:solidFill>
                          <a:effectLst/>
                          <a:latin typeface="Arial"/>
                          <a:cs typeface="Arial"/>
                        </a:rPr>
                        <a:t>635,984</a:t>
                      </a:r>
                    </a:p>
                  </a:txBody>
                  <a:tcPr anchor="ctr"/>
                </a:tc>
                <a:tc>
                  <a:txBody>
                    <a:bodyPr/>
                    <a:lstStyle/>
                    <a:p>
                      <a:pPr algn="ctr" fontAlgn="base">
                        <a:lnSpc>
                          <a:spcPts val="975"/>
                        </a:lnSpc>
                        <a:buNone/>
                      </a:pPr>
                      <a:r>
                        <a:rPr lang="en-US" sz="700" b="1" i="0">
                          <a:solidFill>
                            <a:srgbClr val="000000"/>
                          </a:solidFill>
                          <a:effectLst/>
                          <a:latin typeface="Arial"/>
                          <a:cs typeface="Arial"/>
                        </a:rPr>
                        <a:t>$564 M</a:t>
                      </a:r>
                      <a:r>
                        <a:rPr lang="en-US" sz="700" b="0" i="0">
                          <a:solidFill>
                            <a:srgbClr val="000000"/>
                          </a:solidFill>
                          <a:effectLst/>
                          <a:latin typeface="Arial"/>
                          <a:cs typeface="Arial"/>
                        </a:rPr>
                        <a:t>​</a:t>
                      </a:r>
                    </a:p>
                  </a:txBody>
                  <a:tcPr anchor="ctr"/>
                </a:tc>
                <a:tc>
                  <a:txBody>
                    <a:bodyPr/>
                    <a:lstStyle/>
                    <a:p>
                      <a:pPr algn="ctr" fontAlgn="base">
                        <a:lnSpc>
                          <a:spcPts val="975"/>
                        </a:lnSpc>
                        <a:buNone/>
                      </a:pPr>
                      <a:r>
                        <a:rPr lang="en-US" sz="700" b="1" i="0">
                          <a:solidFill>
                            <a:srgbClr val="000000"/>
                          </a:solidFill>
                          <a:effectLst/>
                          <a:latin typeface="Arial"/>
                          <a:cs typeface="Arial"/>
                        </a:rPr>
                        <a:t>86.6%</a:t>
                      </a:r>
                      <a:r>
                        <a:rPr lang="en-US" sz="700" b="0" i="0">
                          <a:solidFill>
                            <a:srgbClr val="000000"/>
                          </a:solidFill>
                          <a:effectLst/>
                          <a:latin typeface="Arial"/>
                          <a:cs typeface="Arial"/>
                        </a:rPr>
                        <a:t>​</a:t>
                      </a:r>
                    </a:p>
                  </a:txBody>
                  <a:tcPr anchor="ctr"/>
                </a:tc>
                <a:extLst>
                  <a:ext uri="{0D108BD9-81ED-4DB2-BD59-A6C34878D82A}">
                    <a16:rowId xmlns:a16="http://schemas.microsoft.com/office/drawing/2014/main" val="170691192"/>
                  </a:ext>
                </a:extLst>
              </a:tr>
            </a:tbl>
          </a:graphicData>
        </a:graphic>
      </p:graphicFrame>
    </p:spTree>
    <p:extLst>
      <p:ext uri="{BB962C8B-B14F-4D97-AF65-F5344CB8AC3E}">
        <p14:creationId xmlns:p14="http://schemas.microsoft.com/office/powerpoint/2010/main" val="17276867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606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Nationwide PPT Them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_16x9_DefaultFonts (2).pptx" id="{4A116120-14DC-44AE-895A-BB9EC9B2E46C}" vid="{87BE85A8-A234-4591-A5EB-9F67432B8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Nationwid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 id="{8770B975-6170-4C50-83C8-92AD895E586B}" vid="{8A0355FC-28E4-4C9A-BCFB-0A62A5CEE97B}"/>
    </a:ext>
  </a:extLst>
</a:theme>
</file>

<file path=ppt/theme/theme4.xml><?xml version="1.0" encoding="utf-8"?>
<a:theme xmlns:a="http://schemas.openxmlformats.org/drawingml/2006/main" name="3_Office Theme">
  <a:themeElements>
    <a:clrScheme name="Pricing sophistticatio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F0AB2B94E9164080AE6A7AF0D97188" ma:contentTypeVersion="9" ma:contentTypeDescription="Create a new document." ma:contentTypeScope="" ma:versionID="3b2a4e93513da2868a1dace0c5defd20">
  <xsd:schema xmlns:xsd="http://www.w3.org/2001/XMLSchema" xmlns:xs="http://www.w3.org/2001/XMLSchema" xmlns:p="http://schemas.microsoft.com/office/2006/metadata/properties" xmlns:ns2="2e1d4e07-6760-4f2a-9312-949aaba4a6da" xmlns:ns3="b7d811bb-603c-460a-9cfd-cf190d9133f6" targetNamespace="http://schemas.microsoft.com/office/2006/metadata/properties" ma:root="true" ma:fieldsID="0d96902118c4f37bde9f7d6f0bbef530" ns2:_="" ns3:_="">
    <xsd:import namespace="2e1d4e07-6760-4f2a-9312-949aaba4a6da"/>
    <xsd:import namespace="b7d811bb-603c-460a-9cfd-cf190d9133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1d4e07-6760-4f2a-9312-949aaba4a6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b0a7d3-0568-4cb5-b861-555e3d31153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d811bb-603c-460a-9cfd-cf190d9133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3a11e6-3e35-4797-b11b-7cd9f7711061}" ma:internalName="TaxCatchAll" ma:showField="CatchAllData" ma:web="b7d811bb-603c-460a-9cfd-cf190d9133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e1d4e07-6760-4f2a-9312-949aaba4a6da">
      <Terms xmlns="http://schemas.microsoft.com/office/infopath/2007/PartnerControls"/>
    </lcf76f155ced4ddcb4097134ff3c332f>
    <TaxCatchAll xmlns="b7d811bb-603c-460a-9cfd-cf190d9133f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7B1AC1-9AB1-45EF-9F36-E98C13CE4C6A}">
  <ds:schemaRefs>
    <ds:schemaRef ds:uri="2e1d4e07-6760-4f2a-9312-949aaba4a6da"/>
    <ds:schemaRef ds:uri="b7d811bb-603c-460a-9cfd-cf190d9133f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D42540A-0313-43AB-89B8-EF9A0850FA65}">
  <ds:schemaRefs>
    <ds:schemaRef ds:uri="2e1d4e07-6760-4f2a-9312-949aaba4a6da"/>
    <ds:schemaRef ds:uri="b7d811bb-603c-460a-9cfd-cf190d9133f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BB7C299-CEFF-4947-9C2B-F6A727F819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Nationwide_16x9_DefaultFonts</Template>
  <Application>Microsoft Office PowerPoint</Application>
  <PresentationFormat>Widescreen</PresentationFormat>
  <Slides>54</Slides>
  <Notes>35</Notes>
  <HiddenSlides>0</HiddenSlides>
  <ScaleCrop>false</ScaleCrop>
  <HeadingPairs>
    <vt:vector size="4" baseType="variant">
      <vt:variant>
        <vt:lpstr>Theme</vt:lpstr>
      </vt:variant>
      <vt:variant>
        <vt:i4>4</vt:i4>
      </vt:variant>
      <vt:variant>
        <vt:lpstr>Slide Titles</vt:lpstr>
      </vt:variant>
      <vt:variant>
        <vt:i4>54</vt:i4>
      </vt:variant>
    </vt:vector>
  </HeadingPairs>
  <TitlesOfParts>
    <vt:vector size="58" baseType="lpstr">
      <vt:lpstr>Nationwide PPT Theme</vt:lpstr>
      <vt:lpstr>Office Theme</vt:lpstr>
      <vt:lpstr>Nationwide</vt:lpstr>
      <vt:lpstr>3_Office Theme</vt:lpstr>
      <vt:lpstr>2026 Weekly Portfolio Status</vt:lpstr>
      <vt:lpstr>Red Projects</vt:lpstr>
      <vt:lpstr>PowerPoint Presentation</vt:lpstr>
      <vt:lpstr>GIN / Batch Stabilization </vt:lpstr>
      <vt:lpstr>Yellow Projects</vt:lpstr>
      <vt:lpstr>MPI Underwriting Optimization MVP1 &amp; MVP2  Increase new business writings by simplifying point-of-sale underwriting and accelerating rule-based decisions</vt:lpstr>
      <vt:lpstr>MPI Underwriting Optimization MVP 3 Increase new business writings by simplifying point-of-sale underwriting and accelerating rule-based decisions.</vt:lpstr>
      <vt:lpstr>MPPC to MPI Conversion at Notice of Cancel Deliver the ability to offer cancelled MPPC policies conversion to MPI upon termination of working with the employer</vt:lpstr>
      <vt:lpstr>Portal Stabilization </vt:lpstr>
      <vt:lpstr>GIN Long Term Stability – Scalability to 1-2M policies </vt:lpstr>
      <vt:lpstr>PPT: NY and Unapproved States Product Build</vt:lpstr>
      <vt:lpstr>PPT: Pet Major Medical On GIN</vt:lpstr>
      <vt:lpstr>TaiLWIND Flagship AI </vt:lpstr>
      <vt:lpstr>Green Projects</vt:lpstr>
      <vt:lpstr>PPT: Pet REN2GIN Policy Migration</vt:lpstr>
      <vt:lpstr>PowerPoint Presentation</vt:lpstr>
      <vt:lpstr>GIN – API V2 to V5 upgrade </vt:lpstr>
      <vt:lpstr>PEC Product &amp; Underwriting Enhancements</vt:lpstr>
      <vt:lpstr>MPPC UW Questions Reduction MVP3</vt:lpstr>
      <vt:lpstr>Enhance Multi Denial Code Claims Z160/Z151</vt:lpstr>
      <vt:lpstr>MPI Pricing Segmentation Sophistication</vt:lpstr>
      <vt:lpstr>NW Pet: Enhancement for Commission Reporting  - Internal Batch </vt:lpstr>
      <vt:lpstr>2026 GIN Updates</vt:lpstr>
      <vt:lpstr>NW Pet: CPP Right to Delete and Right to access (Externally funded)</vt:lpstr>
      <vt:lpstr>NW Pet: Vulnerabilities Remediation</vt:lpstr>
      <vt:lpstr>PowerPoint Presentation</vt:lpstr>
      <vt:lpstr>Projects on Hold</vt:lpstr>
      <vt:lpstr>NW Pet – Convert: Move Informatica Power Center to Python</vt:lpstr>
      <vt:lpstr>Completed Projects</vt:lpstr>
      <vt:lpstr>Refresh the Windows 2022 Server</vt:lpstr>
      <vt:lpstr>Pet Model Law Reboot  Weekly Status Update</vt:lpstr>
      <vt:lpstr>FirstVet Consultation File - API</vt:lpstr>
      <vt:lpstr>Add-a-Pet Improvements Streamline the add‑a‑pet quote flow to boost conversion by showing the right products and eliminating redundant data entry</vt:lpstr>
      <vt:lpstr>Pet Paperless eDelivery – Status</vt:lpstr>
      <vt:lpstr>Non-Insurance Bundle v1 (Portfolio ID: 1024485) Providing our VB partners with additional non-insurance options</vt:lpstr>
      <vt:lpstr>Data Center Production Migration</vt:lpstr>
      <vt:lpstr>NW Pet - Update Legacy Portal Interface to UAV3 - CHG0033774 - Deployed</vt:lpstr>
      <vt:lpstr>PowerPoint Presentation</vt:lpstr>
      <vt:lpstr>Talend to Python Migration</vt:lpstr>
      <vt:lpstr>Planning Funnel</vt:lpstr>
      <vt:lpstr>Business Backlog</vt:lpstr>
      <vt:lpstr>Plan Backlog</vt:lpstr>
      <vt:lpstr>HLA Backlog</vt:lpstr>
      <vt:lpstr>Pending Funding Backlog -</vt:lpstr>
      <vt:lpstr>Closed / On Hold in Last Month </vt:lpstr>
      <vt:lpstr>Plan to Build Start</vt:lpstr>
      <vt:lpstr>Plan to Build /Ready for Hand-off</vt:lpstr>
      <vt:lpstr>Carryover</vt:lpstr>
      <vt:lpstr>Appendix</vt:lpstr>
      <vt:lpstr>2026 Release Status – Work in Process</vt:lpstr>
      <vt:lpstr>PowerPoint Presentation</vt:lpstr>
      <vt:lpstr>PowerPoint Presentation</vt:lpstr>
      <vt:lpstr>PowerPoint Presentation</vt:lpstr>
      <vt:lpstr>PowerPoint Presentation</vt:lpstr>
    </vt:vector>
  </TitlesOfParts>
  <Company>Nationwide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Trudeau, Cindy</dc:creator>
  <cp:revision>1</cp:revision>
  <dcterms:created xsi:type="dcterms:W3CDTF">2026-02-24T14:26:59Z</dcterms:created>
  <dcterms:modified xsi:type="dcterms:W3CDTF">2026-10-12T21:54:19Z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0x01010089F0AB2B94E9164080AE6A7AF0D97188</vt:lpwstr>
  </property>
  <property fmtid="{D5CDD505-2E9C-101B-9397-08002B2CF9AE}" pid="3" name="MSIP_Label_92ea8e88-16c4-4b55-a945-7bd6248db4bf_Enabled">
    <vt:lpwstr>true</vt:lpwstr>
  </property>
  <property fmtid="{D5CDD505-2E9C-101B-9397-08002B2CF9AE}" pid="4" name="MSIP_Label_92ea8e88-16c4-4b55-a945-7bd6248db4bf_SetDate">
    <vt:lpwstr>2023-09-28T14:46:45Z</vt:lpwstr>
  </property>
  <property fmtid="{D5CDD505-2E9C-101B-9397-08002B2CF9AE}" pid="5" name="MSIP_Label_92ea8e88-16c4-4b55-a945-7bd6248db4bf_Method">
    <vt:lpwstr>Standard</vt:lpwstr>
  </property>
  <property fmtid="{D5CDD505-2E9C-101B-9397-08002B2CF9AE}" pid="6" name="MSIP_Label_92ea8e88-16c4-4b55-a945-7bd6248db4bf_Name">
    <vt:lpwstr>Internal</vt:lpwstr>
  </property>
  <property fmtid="{D5CDD505-2E9C-101B-9397-08002B2CF9AE}" pid="7" name="MSIP_Label_92ea8e88-16c4-4b55-a945-7bd6248db4bf_SiteId">
    <vt:lpwstr>22140e4c-d390-45c2-b297-a26c516dc461</vt:lpwstr>
  </property>
  <property fmtid="{D5CDD505-2E9C-101B-9397-08002B2CF9AE}" pid="8" name="MSIP_Label_92ea8e88-16c4-4b55-a945-7bd6248db4bf_ActionId">
    <vt:lpwstr>dcd6a9bd-bbce-4372-a7dd-aa128be87831</vt:lpwstr>
  </property>
  <property fmtid="{D5CDD505-2E9C-101B-9397-08002B2CF9AE}" pid="9" name="MSIP_Label_92ea8e88-16c4-4b55-a945-7bd6248db4bf_ContentBits">
    <vt:lpwstr>0</vt:lpwstr>
  </property>
  <property fmtid="{D5CDD505-2E9C-101B-9397-08002B2CF9AE}" pid="10" name="MediaServiceImageTags">
    <vt:lpwstr/>
  </property>
</Properties>
</file>
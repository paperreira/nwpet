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41E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Header text"/>
          <p:cNvSpPr txBox="1"/>
          <p:nvPr/>
        </p:nvSpPr>
        <p:spPr>
          <a:xfrm>
            <a:off x="274320" y="109728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 i="0" spc="100">
                <a:solidFill>
                  <a:srgbClr val="6FD6C9"/>
                </a:solidFill>
                <a:latin typeface="Arial"/>
              </a:rPr>
              <a:t>PET IT DELIVERY | ROLE GUIDE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Delivery Coordinator: First Line of Portfolio Governance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6DCF2"/>
                </a:solidFill>
                <a:latin typeface="Arial"/>
              </a:rPr>
              <a:t>The role keeps Planview Portfolio accurate and executive-ready, so project managers and scrum masters can focus on delivery and leaders see data that reflects reality.</a:t>
            </a:r>
          </a:p>
        </p:txBody>
      </p:sp>
      <p:sp>
        <p:nvSpPr>
          <p:cNvPr id="4" name="Chip Planview Portfolio"/>
          <p:cNvSpPr/>
          <p:nvPr/>
        </p:nvSpPr>
        <p:spPr>
          <a:xfrm>
            <a:off x="274320" y="1024128"/>
            <a:ext cx="1325880" cy="210312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>
            <a:noFill/>
          </a:ln>
          <a:effectLst/>
        </p:spPr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Planview Portfolio</a:t>
            </a:r>
          </a:p>
        </p:txBody>
      </p:sp>
      <p:sp>
        <p:nvSpPr>
          <p:cNvPr id="5" name="Chip Schedules and Releases"/>
          <p:cNvSpPr/>
          <p:nvPr/>
        </p:nvSpPr>
        <p:spPr>
          <a:xfrm>
            <a:off x="1673352" y="1024128"/>
            <a:ext cx="1600200" cy="210312"/>
          </a:xfrm>
          <a:prstGeom prst="roundRect">
            <a:avLst>
              <a:gd name="adj" fmla="val 50000"/>
            </a:avLst>
          </a:prstGeom>
          <a:solidFill>
            <a:srgbClr val="0A7D74"/>
          </a:solidFill>
          <a:ln>
            <a:noFill/>
          </a:ln>
          <a:effectLst/>
        </p:spPr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Schedules and Releases</a:t>
            </a:r>
          </a:p>
        </p:txBody>
      </p:sp>
      <p:sp>
        <p:nvSpPr>
          <p:cNvPr id="6" name="Chip Allocations"/>
          <p:cNvSpPr/>
          <p:nvPr/>
        </p:nvSpPr>
        <p:spPr>
          <a:xfrm>
            <a:off x="3346704" y="1024128"/>
            <a:ext cx="960120" cy="210312"/>
          </a:xfrm>
          <a:prstGeom prst="roundRect">
            <a:avLst>
              <a:gd name="adj" fmla="val 50000"/>
            </a:avLst>
          </a:prstGeom>
          <a:solidFill>
            <a:srgbClr val="6A3FB5"/>
          </a:solidFill>
          <a:ln>
            <a:noFill/>
          </a:ln>
          <a:effectLst/>
        </p:spPr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Allocations</a:t>
            </a:r>
          </a:p>
        </p:txBody>
      </p:sp>
      <p:sp>
        <p:nvSpPr>
          <p:cNvPr id="7" name="Chip Financials"/>
          <p:cNvSpPr/>
          <p:nvPr/>
        </p:nvSpPr>
        <p:spPr>
          <a:xfrm>
            <a:off x="4379976" y="1024128"/>
            <a:ext cx="896112" cy="210312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>
            <a:noFill/>
          </a:ln>
          <a:effectLst/>
        </p:spPr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Financials</a:t>
            </a:r>
          </a:p>
        </p:txBody>
      </p:sp>
      <p:sp>
        <p:nvSpPr>
          <p:cNvPr id="8" name="Chip Weekly, Fridays 10 AM"/>
          <p:cNvSpPr/>
          <p:nvPr/>
        </p:nvSpPr>
        <p:spPr>
          <a:xfrm>
            <a:off x="5349240" y="1024128"/>
            <a:ext cx="1554480" cy="210312"/>
          </a:xfrm>
          <a:prstGeom prst="roundRect">
            <a:avLst>
              <a:gd name="adj" fmla="val 50000"/>
            </a:avLst>
          </a:prstGeom>
          <a:solidFill>
            <a:srgbClr val="5B6478"/>
          </a:solidFill>
          <a:ln>
            <a:noFill/>
          </a:ln>
          <a:effectLst/>
        </p:spPr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Weekly, Fridays 10 AM</a:t>
            </a:r>
          </a:p>
        </p:txBody>
      </p:sp>
      <p:sp>
        <p:nvSpPr>
          <p:cNvPr id="9" name="Logo panel"/>
          <p:cNvSpPr/>
          <p:nvPr/>
        </p:nvSpPr>
        <p:spPr>
          <a:xfrm>
            <a:off x="10012680" y="274320"/>
            <a:ext cx="190195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0" name="Nationwide logo" descr="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8" y="338328"/>
            <a:ext cx="531120" cy="658368"/>
          </a:xfrm>
          <a:prstGeom prst="rect">
            <a:avLst/>
          </a:prstGeom>
        </p:spPr>
      </p:pic>
      <p:cxnSp>
        <p:nvCxnSpPr>
          <p:cNvPr id="11" name="Logo divider"/>
          <p:cNvCxnSpPr/>
          <p:nvPr/>
        </p:nvCxnSpPr>
        <p:spPr>
          <a:xfrm>
            <a:off x="10863072" y="393192"/>
            <a:ext cx="0" cy="548640"/>
          </a:xfrm>
          <a:prstGeom prst="line">
            <a:avLst/>
          </a:prstGeom>
          <a:ln w="9525">
            <a:solidFill>
              <a:srgbClr val="C9D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et IT Delivery logo" descr="p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38328"/>
            <a:ext cx="931190" cy="658368"/>
          </a:xfrm>
          <a:prstGeom prst="rect">
            <a:avLst/>
          </a:prstGeom>
        </p:spPr>
      </p:pic>
      <p:grpSp>
        <p:nvGrpSpPr>
          <p:cNvPr id="13" name="Category 1: Status and RAG Integrity"/>
          <p:cNvGrpSpPr/>
          <p:nvPr/>
        </p:nvGrpSpPr>
        <p:grpSpPr>
          <a:xfrm>
            <a:off x="274320" y="1408176"/>
            <a:ext cx="2226564" cy="3163824"/>
            <a:chOff x="274320" y="1408176"/>
            <a:chExt cx="2226564" cy="3163824"/>
          </a:xfrm>
        </p:grpSpPr>
        <p:sp>
          <p:nvSpPr>
            <p:cNvPr id="14" name="Card and duty list"/>
            <p:cNvSpPr/>
            <p:nvPr/>
          </p:nvSpPr>
          <p:spPr>
            <a:xfrm>
              <a:off x="274320" y="1408176"/>
              <a:ext cx="2226564" cy="316382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4DAE8"/>
              </a:solidFill>
            </a:ln>
            <a:effectLst/>
          </p:spPr>
          <p:txBody>
            <a:bodyPr rtlCol="0" anchor="t" wrap="square" lIns="109728" tIns="612647"/>
            <a:lstStyle/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800" b="1" i="0" spc="100">
                  <a:solidFill>
                    <a:srgbClr val="5B6478"/>
                  </a:solidFill>
                  <a:latin typeface="Arial"/>
                </a:rPr>
                <a:t>WHAT THE ROLE DOES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0047BB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Runs the weekly RAG status report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0047BB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Confirms every Yellow or Red has a clear explanation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0047BB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Flags Green projects with overdue milestones or open changes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0047BB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Flags status changes with no supporting comments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0047BB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Checks the executive narrative is present and current</a:t>
              </a:r>
            </a:p>
          </p:txBody>
        </p:sp>
        <p:sp>
          <p:nvSpPr>
            <p:cNvPr id="15" name="Card header"/>
            <p:cNvSpPr/>
            <p:nvPr/>
          </p:nvSpPr>
          <p:spPr>
            <a:xfrm>
              <a:off x="274320" y="1408176"/>
              <a:ext cx="2226564" cy="548640"/>
            </a:xfrm>
            <a:prstGeom prst="round2SameRect">
              <a:avLst>
                <a:gd name="adj1" fmla="val 12000"/>
                <a:gd name="adj2" fmla="val 0"/>
              </a:avLst>
            </a:prstGeom>
            <a:solidFill>
              <a:srgbClr val="0047BB"/>
            </a:solidFill>
            <a:ln>
              <a:noFill/>
            </a:ln>
            <a:effectLst/>
          </p:spPr>
          <p:txBody>
            <a:bodyPr rtlCol="0" anchor="ctr" wrap="square" lIns="109728" rIns="73152" tIns="54864" bIns="36576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800" b="1" i="0" spc="100">
                  <a:solidFill>
                    <a:srgbClr val="FFFFFF"/>
                  </a:solidFill>
                  <a:latin typeface="Arial"/>
                </a:rPr>
                <a:t>CATEGORY 1</a:t>
              </a:r>
            </a:p>
            <a:p>
              <a:pPr algn="l">
                <a:lnSpc>
                  <a:spcPct val="9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Georgia"/>
                </a:rPr>
                <a:t>Status and RAG Integrity</a:t>
              </a:r>
            </a:p>
          </p:txBody>
        </p:sp>
        <p:sp>
          <p:nvSpPr>
            <p:cNvPr id="16" name="Why it matters"/>
            <p:cNvSpPr/>
            <p:nvPr/>
          </p:nvSpPr>
          <p:spPr>
            <a:xfrm>
              <a:off x="356616" y="3986784"/>
              <a:ext cx="2061972" cy="512064"/>
            </a:xfrm>
            <a:prstGeom prst="roundRect">
              <a:avLst>
                <a:gd name="adj" fmla="val 10000"/>
              </a:avLst>
            </a:prstGeom>
            <a:solidFill>
              <a:srgbClr val="E8EFFB"/>
            </a:solidFill>
            <a:ln>
              <a:noFill/>
            </a:ln>
            <a:effectLst/>
          </p:spPr>
          <p:txBody>
            <a:bodyPr rtlCol="0" anchor="ctr" wrap="square" lIns="82296" rIns="73152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750" b="1" i="0" spc="100">
                  <a:solidFill>
                    <a:srgbClr val="0047BB"/>
                  </a:solidFill>
                  <a:latin typeface="Arial"/>
                </a:rPr>
                <a:t>WHY IT MATTERS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Status tells the truth before leaders see it. No surprises in reviews.</a:t>
              </a:r>
            </a:p>
          </p:txBody>
        </p:sp>
      </p:grpSp>
      <p:grpSp>
        <p:nvGrpSpPr>
          <p:cNvPr id="17" name="Category 2: Milestones, Releases and Changes"/>
          <p:cNvGrpSpPr/>
          <p:nvPr/>
        </p:nvGrpSpPr>
        <p:grpSpPr>
          <a:xfrm>
            <a:off x="2628900" y="1408176"/>
            <a:ext cx="2226564" cy="3163824"/>
            <a:chOff x="2628900" y="1408176"/>
            <a:chExt cx="2226564" cy="3163824"/>
          </a:xfrm>
        </p:grpSpPr>
        <p:sp>
          <p:nvSpPr>
            <p:cNvPr id="18" name="Card and duty list"/>
            <p:cNvSpPr/>
            <p:nvPr/>
          </p:nvSpPr>
          <p:spPr>
            <a:xfrm>
              <a:off x="2628900" y="1408176"/>
              <a:ext cx="2226564" cy="316382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4DAE8"/>
              </a:solidFill>
            </a:ln>
            <a:effectLst/>
          </p:spPr>
          <p:txBody>
            <a:bodyPr rtlCol="0" anchor="t" wrap="square" lIns="109728" tIns="612647"/>
            <a:lstStyle/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800" b="1" i="0" spc="100">
                  <a:solidFill>
                    <a:srgbClr val="5B6478"/>
                  </a:solidFill>
                  <a:latin typeface="Arial"/>
                </a:rPr>
                <a:t>WHAT THE ROLE DOES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0A7D74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Runs Milestone Schedule, Release and Change reports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0A7D74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Finds past-due milestones still marked Open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0A7D74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Finds delivered releases not yet marked Complete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0A7D74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Asks if each open change request should stay open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0A7D74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Asks if an open change should move status to at least Yellow</a:t>
              </a:r>
            </a:p>
          </p:txBody>
        </p:sp>
        <p:sp>
          <p:nvSpPr>
            <p:cNvPr id="19" name="Card header"/>
            <p:cNvSpPr/>
            <p:nvPr/>
          </p:nvSpPr>
          <p:spPr>
            <a:xfrm>
              <a:off x="2628900" y="1408176"/>
              <a:ext cx="2226564" cy="548640"/>
            </a:xfrm>
            <a:prstGeom prst="round2SameRect">
              <a:avLst>
                <a:gd name="adj1" fmla="val 12000"/>
                <a:gd name="adj2" fmla="val 0"/>
              </a:avLst>
            </a:prstGeom>
            <a:solidFill>
              <a:srgbClr val="0A7D74"/>
            </a:solidFill>
            <a:ln>
              <a:noFill/>
            </a:ln>
            <a:effectLst/>
          </p:spPr>
          <p:txBody>
            <a:bodyPr rtlCol="0" anchor="ctr" wrap="square" lIns="109728" rIns="73152" tIns="54864" bIns="36576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800" b="1" i="0" spc="100">
                  <a:solidFill>
                    <a:srgbClr val="FFFFFF"/>
                  </a:solidFill>
                  <a:latin typeface="Arial"/>
                </a:rPr>
                <a:t>CATEGORY 2</a:t>
              </a:r>
            </a:p>
            <a:p>
              <a:pPr algn="l">
                <a:lnSpc>
                  <a:spcPct val="9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Georgia"/>
                </a:rPr>
                <a:t>Milestones, Releases and Changes</a:t>
              </a:r>
            </a:p>
          </p:txBody>
        </p:sp>
        <p:sp>
          <p:nvSpPr>
            <p:cNvPr id="20" name="Why it matters"/>
            <p:cNvSpPr/>
            <p:nvPr/>
          </p:nvSpPr>
          <p:spPr>
            <a:xfrm>
              <a:off x="2711196" y="3986784"/>
              <a:ext cx="2061972" cy="512064"/>
            </a:xfrm>
            <a:prstGeom prst="roundRect">
              <a:avLst>
                <a:gd name="adj" fmla="val 10000"/>
              </a:avLst>
            </a:prstGeom>
            <a:solidFill>
              <a:srgbClr val="E5F4F2"/>
            </a:solidFill>
            <a:ln>
              <a:noFill/>
            </a:ln>
            <a:effectLst/>
          </p:spPr>
          <p:txBody>
            <a:bodyPr rtlCol="0" anchor="ctr" wrap="square" lIns="82296" rIns="73152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750" b="1" i="0" spc="100">
                  <a:solidFill>
                    <a:srgbClr val="0A7D74"/>
                  </a:solidFill>
                  <a:latin typeface="Arial"/>
                </a:rPr>
                <a:t>WHY IT MATTERS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Schedules match reality, and scope changes are visible in project health.</a:t>
              </a:r>
            </a:p>
          </p:txBody>
        </p:sp>
      </p:grpSp>
      <p:grpSp>
        <p:nvGrpSpPr>
          <p:cNvPr id="21" name="Category 3: Schedule Compliance"/>
          <p:cNvGrpSpPr/>
          <p:nvPr/>
        </p:nvGrpSpPr>
        <p:grpSpPr>
          <a:xfrm>
            <a:off x="4983480" y="1408176"/>
            <a:ext cx="2226564" cy="3163824"/>
            <a:chOff x="4983480" y="1408176"/>
            <a:chExt cx="2226564" cy="3163824"/>
          </a:xfrm>
        </p:grpSpPr>
        <p:sp>
          <p:nvSpPr>
            <p:cNvPr id="22" name="Card and duty list"/>
            <p:cNvSpPr/>
            <p:nvPr/>
          </p:nvSpPr>
          <p:spPr>
            <a:xfrm>
              <a:off x="4983480" y="1408176"/>
              <a:ext cx="2226564" cy="316382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4DAE8"/>
              </a:solidFill>
            </a:ln>
            <a:effectLst/>
          </p:spPr>
          <p:txBody>
            <a:bodyPr rtlCol="0" anchor="t" wrap="square" lIns="109728" tIns="612647"/>
            <a:lstStyle/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800" b="1" i="0" spc="100">
                  <a:solidFill>
                    <a:srgbClr val="5B6478"/>
                  </a:solidFill>
                  <a:latin typeface="Arial"/>
                </a:rPr>
                <a:t>WHAT THE ROLE DOES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6A3FB5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Sets up a shared past-due task report anyone can bookmark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6A3FB5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Runs it every Friday by 10 AM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6A3FB5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Emails each task owner with past-due items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6A3FB5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Follows up until updated or reforecast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6A3FB5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Escalates repeat exceptions to the delivery lead</a:t>
              </a:r>
            </a:p>
          </p:txBody>
        </p:sp>
        <p:sp>
          <p:nvSpPr>
            <p:cNvPr id="23" name="Card header"/>
            <p:cNvSpPr/>
            <p:nvPr/>
          </p:nvSpPr>
          <p:spPr>
            <a:xfrm>
              <a:off x="4983480" y="1408176"/>
              <a:ext cx="2226564" cy="548640"/>
            </a:xfrm>
            <a:prstGeom prst="round2SameRect">
              <a:avLst>
                <a:gd name="adj1" fmla="val 12000"/>
                <a:gd name="adj2" fmla="val 0"/>
              </a:avLst>
            </a:prstGeom>
            <a:solidFill>
              <a:srgbClr val="6A3FB5"/>
            </a:solidFill>
            <a:ln>
              <a:noFill/>
            </a:ln>
            <a:effectLst/>
          </p:spPr>
          <p:txBody>
            <a:bodyPr rtlCol="0" anchor="ctr" wrap="square" lIns="109728" rIns="73152" tIns="54864" bIns="36576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800" b="1" i="0" spc="100">
                  <a:solidFill>
                    <a:srgbClr val="FFFFFF"/>
                  </a:solidFill>
                  <a:latin typeface="Arial"/>
                </a:rPr>
                <a:t>CATEGORY 3</a:t>
              </a:r>
            </a:p>
            <a:p>
              <a:pPr algn="l">
                <a:lnSpc>
                  <a:spcPct val="9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Georgia"/>
                </a:rPr>
                <a:t>Schedule Compliance</a:t>
              </a:r>
            </a:p>
          </p:txBody>
        </p:sp>
        <p:sp>
          <p:nvSpPr>
            <p:cNvPr id="24" name="Why it matters"/>
            <p:cNvSpPr/>
            <p:nvPr/>
          </p:nvSpPr>
          <p:spPr>
            <a:xfrm>
              <a:off x="5065776" y="3986784"/>
              <a:ext cx="2061972" cy="512064"/>
            </a:xfrm>
            <a:prstGeom prst="roundRect">
              <a:avLst>
                <a:gd name="adj" fmla="val 10000"/>
              </a:avLst>
            </a:prstGeom>
            <a:solidFill>
              <a:srgbClr val="F0EAFA"/>
            </a:solidFill>
            <a:ln>
              <a:noFill/>
            </a:ln>
            <a:effectLst/>
          </p:spPr>
          <p:txBody>
            <a:bodyPr rtlCol="0" anchor="ctr" wrap="square" lIns="82296" rIns="73152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750" b="1" i="0" spc="100">
                  <a:solidFill>
                    <a:srgbClr val="6A3FB5"/>
                  </a:solidFill>
                  <a:latin typeface="Arial"/>
                </a:rPr>
                <a:t>WHY IT MATTERS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One shared view keeps everyone accountable, and schedules stay current weekly.</a:t>
              </a:r>
            </a:p>
          </p:txBody>
        </p:sp>
      </p:grpSp>
      <p:grpSp>
        <p:nvGrpSpPr>
          <p:cNvPr id="25" name="Category 4: Capacity and Allocations"/>
          <p:cNvGrpSpPr/>
          <p:nvPr/>
        </p:nvGrpSpPr>
        <p:grpSpPr>
          <a:xfrm>
            <a:off x="7338060" y="1408176"/>
            <a:ext cx="2226564" cy="3163824"/>
            <a:chOff x="7338060" y="1408176"/>
            <a:chExt cx="2226564" cy="3163824"/>
          </a:xfrm>
        </p:grpSpPr>
        <p:sp>
          <p:nvSpPr>
            <p:cNvPr id="26" name="Card and duty list"/>
            <p:cNvSpPr/>
            <p:nvPr/>
          </p:nvSpPr>
          <p:spPr>
            <a:xfrm>
              <a:off x="7338060" y="1408176"/>
              <a:ext cx="2226564" cy="316382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4DAE8"/>
              </a:solidFill>
            </a:ln>
            <a:effectLst/>
          </p:spPr>
          <p:txBody>
            <a:bodyPr rtlCol="0" anchor="t" wrap="square" lIns="109728" tIns="612647"/>
            <a:lstStyle/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800" b="1" i="0" spc="100">
                  <a:solidFill>
                    <a:srgbClr val="5B6478"/>
                  </a:solidFill>
                  <a:latin typeface="Arial"/>
                </a:rPr>
                <a:t>WHAT THE ROLE DOES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B26A00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Reviews allocation reports for each resource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B26A00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Confirms allocations total 8 hours per day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B26A00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Corrects clear allocation gaps or overages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B26A00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Asks the project manager when the right project is unclear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B26A00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Reports capacity exceptions</a:t>
              </a:r>
            </a:p>
          </p:txBody>
        </p:sp>
        <p:sp>
          <p:nvSpPr>
            <p:cNvPr id="27" name="Card header"/>
            <p:cNvSpPr/>
            <p:nvPr/>
          </p:nvSpPr>
          <p:spPr>
            <a:xfrm>
              <a:off x="7338060" y="1408176"/>
              <a:ext cx="2226564" cy="548640"/>
            </a:xfrm>
            <a:prstGeom prst="round2SameRect">
              <a:avLst>
                <a:gd name="adj1" fmla="val 12000"/>
                <a:gd name="adj2" fmla="val 0"/>
              </a:avLst>
            </a:prstGeom>
            <a:solidFill>
              <a:srgbClr val="B26A00"/>
            </a:solidFill>
            <a:ln>
              <a:noFill/>
            </a:ln>
            <a:effectLst/>
          </p:spPr>
          <p:txBody>
            <a:bodyPr rtlCol="0" anchor="ctr" wrap="square" lIns="109728" rIns="73152" tIns="54864" bIns="36576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800" b="1" i="0" spc="100">
                  <a:solidFill>
                    <a:srgbClr val="FFFFFF"/>
                  </a:solidFill>
                  <a:latin typeface="Arial"/>
                </a:rPr>
                <a:t>CATEGORY 4</a:t>
              </a:r>
            </a:p>
            <a:p>
              <a:pPr algn="l">
                <a:lnSpc>
                  <a:spcPct val="9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Georgia"/>
                </a:rPr>
                <a:t>Capacity and Allocations</a:t>
              </a:r>
            </a:p>
          </p:txBody>
        </p:sp>
        <p:sp>
          <p:nvSpPr>
            <p:cNvPr id="28" name="Why it matters"/>
            <p:cNvSpPr/>
            <p:nvPr/>
          </p:nvSpPr>
          <p:spPr>
            <a:xfrm>
              <a:off x="7420356" y="3986784"/>
              <a:ext cx="2061972" cy="512064"/>
            </a:xfrm>
            <a:prstGeom prst="roundRect">
              <a:avLst>
                <a:gd name="adj" fmla="val 10000"/>
              </a:avLst>
            </a:prstGeom>
            <a:solidFill>
              <a:srgbClr val="FBF1E2"/>
            </a:solidFill>
            <a:ln>
              <a:noFill/>
            </a:ln>
            <a:effectLst/>
          </p:spPr>
          <p:txBody>
            <a:bodyPr rtlCol="0" anchor="ctr" wrap="square" lIns="82296" rIns="73152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750" b="1" i="0" spc="100">
                  <a:solidFill>
                    <a:srgbClr val="8F5500"/>
                  </a:solidFill>
                  <a:latin typeface="Arial"/>
                </a:rPr>
                <a:t>WHY IT MATTERS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Hours land on the right work, so cost and capacity data can be trusted.</a:t>
              </a:r>
            </a:p>
          </p:txBody>
        </p:sp>
      </p:grpSp>
      <p:grpSp>
        <p:nvGrpSpPr>
          <p:cNvPr id="29" name="Category 5: Financials and Timesheets"/>
          <p:cNvGrpSpPr/>
          <p:nvPr/>
        </p:nvGrpSpPr>
        <p:grpSpPr>
          <a:xfrm>
            <a:off x="9692640" y="1408176"/>
            <a:ext cx="2226564" cy="3163824"/>
            <a:chOff x="9692640" y="1408176"/>
            <a:chExt cx="2226564" cy="3163824"/>
          </a:xfrm>
        </p:grpSpPr>
        <p:sp>
          <p:nvSpPr>
            <p:cNvPr id="30" name="Card and duty list"/>
            <p:cNvSpPr/>
            <p:nvPr/>
          </p:nvSpPr>
          <p:spPr>
            <a:xfrm>
              <a:off x="9692640" y="1408176"/>
              <a:ext cx="2226564" cy="316382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4DAE8"/>
              </a:solidFill>
            </a:ln>
            <a:effectLst/>
          </p:spPr>
          <p:txBody>
            <a:bodyPr rtlCol="0" anchor="t" wrap="square" lIns="109728" tIns="612647"/>
            <a:lstStyle/>
            <a:p>
              <a:pPr algn="l">
                <a:spcBef>
                  <a:spcPts val="0"/>
                </a:spcBef>
                <a:spcAft>
                  <a:spcPts val="300"/>
                </a:spcAft>
              </a:pPr>
              <a:r>
                <a:rPr sz="800" b="1" i="0" spc="100">
                  <a:solidFill>
                    <a:srgbClr val="5B6478"/>
                  </a:solidFill>
                  <a:latin typeface="Arial"/>
                </a:rPr>
                <a:t>WHAT THE ROLE DOES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141E4F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Updates and validates Planview financials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141E4F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Prepares financials for the Monday leadership review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141E4F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Reports financial variance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141E4F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Sends timesheet reminders</a:t>
              </a:r>
            </a:p>
            <a:p>
              <a:pPr algn="l" marL="155448" indent="-155448">
                <a:spcBef>
                  <a:spcPts val="0"/>
                </a:spcBef>
                <a:spcAft>
                  <a:spcPts val="150"/>
                </a:spcAft>
                <a:buClr>
                  <a:srgbClr val="141E4F"/>
                </a:buClr>
                <a:buFont typeface="Segoe UI Symbol"/>
                <a:buChar char="✓"/>
              </a:pPr>
              <a:r>
                <a:rPr sz="950" b="0" i="0">
                  <a:solidFill>
                    <a:srgbClr val="1D2433"/>
                  </a:solidFill>
                  <a:latin typeface="Arial"/>
                </a:rPr>
                <a:t>Tracks timesheet compliance</a:t>
              </a:r>
            </a:p>
          </p:txBody>
        </p:sp>
        <p:sp>
          <p:nvSpPr>
            <p:cNvPr id="31" name="Card header"/>
            <p:cNvSpPr/>
            <p:nvPr/>
          </p:nvSpPr>
          <p:spPr>
            <a:xfrm>
              <a:off x="9692640" y="1408176"/>
              <a:ext cx="2226564" cy="548640"/>
            </a:xfrm>
            <a:prstGeom prst="round2SameRect">
              <a:avLst>
                <a:gd name="adj1" fmla="val 12000"/>
                <a:gd name="adj2" fmla="val 0"/>
              </a:avLst>
            </a:prstGeom>
            <a:solidFill>
              <a:srgbClr val="141E4F"/>
            </a:solidFill>
            <a:ln>
              <a:noFill/>
            </a:ln>
            <a:effectLst/>
          </p:spPr>
          <p:txBody>
            <a:bodyPr rtlCol="0" anchor="ctr" wrap="square" lIns="109728" rIns="73152" tIns="54864" bIns="36576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800" b="1" i="0" spc="100">
                  <a:solidFill>
                    <a:srgbClr val="FFFFFF"/>
                  </a:solidFill>
                  <a:latin typeface="Arial"/>
                </a:rPr>
                <a:t>CATEGORY 5</a:t>
              </a:r>
            </a:p>
            <a:p>
              <a:pPr algn="l">
                <a:lnSpc>
                  <a:spcPct val="9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Georgia"/>
                </a:rPr>
                <a:t>Financials and Timesheets</a:t>
              </a:r>
            </a:p>
          </p:txBody>
        </p:sp>
        <p:sp>
          <p:nvSpPr>
            <p:cNvPr id="32" name="Why it matters"/>
            <p:cNvSpPr/>
            <p:nvPr/>
          </p:nvSpPr>
          <p:spPr>
            <a:xfrm>
              <a:off x="9774936" y="3986784"/>
              <a:ext cx="2061972" cy="512064"/>
            </a:xfrm>
            <a:prstGeom prst="roundRect">
              <a:avLst>
                <a:gd name="adj" fmla="val 10000"/>
              </a:avLst>
            </a:prstGeom>
            <a:solidFill>
              <a:srgbClr val="ECEEF6"/>
            </a:solidFill>
            <a:ln>
              <a:noFill/>
            </a:ln>
            <a:effectLst/>
          </p:spPr>
          <p:txBody>
            <a:bodyPr rtlCol="0" anchor="ctr" wrap="square" lIns="82296" rIns="73152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750" b="1" i="0" spc="100">
                  <a:solidFill>
                    <a:srgbClr val="141E4F"/>
                  </a:solidFill>
                  <a:latin typeface="Arial"/>
                </a:rPr>
                <a:t>WHY IT MATTERS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Leaders review accurate spend and forecasts, and actuals stay complete.</a:t>
              </a:r>
            </a:p>
          </p:txBody>
        </p:sp>
      </p:grpSp>
      <p:grpSp>
        <p:nvGrpSpPr>
          <p:cNvPr id="33" name="Weekly governance rhythm"/>
          <p:cNvGrpSpPr/>
          <p:nvPr/>
        </p:nvGrpSpPr>
        <p:grpSpPr>
          <a:xfrm>
            <a:off x="274320" y="4681728"/>
            <a:ext cx="4971592" cy="1719072"/>
            <a:chOff x="274320" y="4681728"/>
            <a:chExt cx="4971592" cy="1719072"/>
          </a:xfrm>
        </p:grpSpPr>
        <p:sp>
          <p:nvSpPr>
            <p:cNvPr id="34" name="Rhythm panel"/>
            <p:cNvSpPr/>
            <p:nvPr/>
          </p:nvSpPr>
          <p:spPr>
            <a:xfrm>
              <a:off x="274320" y="4681728"/>
              <a:ext cx="4971592" cy="1719072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4DAE8"/>
              </a:solidFill>
            </a:ln>
            <a:effectLst/>
          </p:spPr>
          <p:txBody>
            <a:bodyPr rtlCol="0" anchor="t" wrap="square" lIns="118872" tIns="73152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0047BB"/>
                  </a:solidFill>
                  <a:latin typeface="Georgia"/>
                </a:rPr>
                <a:t>Weekly governance rhythm</a:t>
              </a:r>
            </a:p>
          </p:txBody>
        </p:sp>
        <p:sp>
          <p:nvSpPr>
            <p:cNvPr id="35" name="Step 1"/>
            <p:cNvSpPr/>
            <p:nvPr/>
          </p:nvSpPr>
          <p:spPr>
            <a:xfrm>
              <a:off x="393192" y="5047488"/>
              <a:ext cx="1060704" cy="914400"/>
            </a:xfrm>
            <a:prstGeom prst="roundRect">
              <a:avLst>
                <a:gd name="adj" fmla="val 7000"/>
              </a:avLst>
            </a:prstGeom>
            <a:solidFill>
              <a:srgbClr val="EEF2FA"/>
            </a:solidFill>
            <a:ln>
              <a:noFill/>
            </a:ln>
            <a:effectLst/>
          </p:spPr>
          <p:txBody>
            <a:bodyPr rtlCol="0" anchor="t" wrap="square" lIns="64008" rIns="45720" bIns="36576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750" b="1" i="0">
                  <a:solidFill>
                    <a:srgbClr val="0047BB"/>
                  </a:solidFill>
                  <a:latin typeface="Arial"/>
                </a:rPr>
                <a:t>FRIDAY BY 10 AM</a:t>
              </a:r>
            </a:p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950" b="1" i="0">
                  <a:solidFill>
                    <a:srgbClr val="141E4F"/>
                  </a:solidFill>
                  <a:latin typeface="Arial"/>
                </a:rPr>
                <a:t>Run the reports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5B6478"/>
                  </a:solidFill>
                  <a:latin typeface="Arial"/>
                </a:rPr>
                <a:t>RAG, milestones, releases, changes, tasks, allocations</a:t>
              </a:r>
            </a:p>
          </p:txBody>
        </p:sp>
        <p:sp>
          <p:nvSpPr>
            <p:cNvPr id="36" name="Arrow"/>
            <p:cNvSpPr/>
            <p:nvPr/>
          </p:nvSpPr>
          <p:spPr>
            <a:xfrm>
              <a:off x="1495043" y="5458968"/>
              <a:ext cx="91440" cy="91440"/>
            </a:xfrm>
            <a:prstGeom prst="rightArrow">
              <a:avLst/>
            </a:prstGeom>
            <a:solidFill>
              <a:srgbClr val="0047BB"/>
            </a:solidFill>
            <a:ln>
              <a:noFill/>
            </a:ln>
            <a:effectLst/>
          </p:spPr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37" name="Step 2"/>
            <p:cNvSpPr/>
            <p:nvPr/>
          </p:nvSpPr>
          <p:spPr>
            <a:xfrm>
              <a:off x="1618487" y="5047488"/>
              <a:ext cx="1060704" cy="914400"/>
            </a:xfrm>
            <a:prstGeom prst="roundRect">
              <a:avLst>
                <a:gd name="adj" fmla="val 7000"/>
              </a:avLst>
            </a:prstGeom>
            <a:solidFill>
              <a:srgbClr val="EEF2FA"/>
            </a:solidFill>
            <a:ln>
              <a:noFill/>
            </a:ln>
            <a:effectLst/>
          </p:spPr>
          <p:txBody>
            <a:bodyPr rtlCol="0" anchor="t" wrap="square" lIns="64008" rIns="45720" bIns="36576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750" b="1" i="0">
                  <a:solidFill>
                    <a:srgbClr val="0047BB"/>
                  </a:solidFill>
                  <a:latin typeface="Arial"/>
                </a:rPr>
                <a:t>FRIDAY</a:t>
              </a:r>
            </a:p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950" b="1" i="0">
                  <a:solidFill>
                    <a:srgbClr val="141E4F"/>
                  </a:solidFill>
                  <a:latin typeface="Arial"/>
                </a:rPr>
                <a:t>Notify owners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5B6478"/>
                  </a:solidFill>
                  <a:latin typeface="Arial"/>
                </a:rPr>
                <a:t>One clear note per exception to the responsible owner</a:t>
              </a:r>
            </a:p>
          </p:txBody>
        </p:sp>
        <p:sp>
          <p:nvSpPr>
            <p:cNvPr id="38" name="Arrow"/>
            <p:cNvSpPr/>
            <p:nvPr/>
          </p:nvSpPr>
          <p:spPr>
            <a:xfrm>
              <a:off x="2720339" y="5458968"/>
              <a:ext cx="91440" cy="91440"/>
            </a:xfrm>
            <a:prstGeom prst="rightArrow">
              <a:avLst/>
            </a:prstGeom>
            <a:solidFill>
              <a:srgbClr val="0047BB"/>
            </a:solidFill>
            <a:ln>
              <a:noFill/>
            </a:ln>
            <a:effectLst/>
          </p:spPr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39" name="Step 3"/>
            <p:cNvSpPr/>
            <p:nvPr/>
          </p:nvSpPr>
          <p:spPr>
            <a:xfrm>
              <a:off x="2843784" y="5047488"/>
              <a:ext cx="1060704" cy="914400"/>
            </a:xfrm>
            <a:prstGeom prst="roundRect">
              <a:avLst>
                <a:gd name="adj" fmla="val 7000"/>
              </a:avLst>
            </a:prstGeom>
            <a:solidFill>
              <a:srgbClr val="EEF2FA"/>
            </a:solidFill>
            <a:ln>
              <a:noFill/>
            </a:ln>
            <a:effectLst/>
          </p:spPr>
          <p:txBody>
            <a:bodyPr rtlCol="0" anchor="t" wrap="square" lIns="64008" rIns="45720" bIns="36576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750" b="1" i="0">
                  <a:solidFill>
                    <a:srgbClr val="0047BB"/>
                  </a:solidFill>
                  <a:latin typeface="Arial"/>
                </a:rPr>
                <a:t>BY EOD MONDAY</a:t>
              </a:r>
            </a:p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950" b="1" i="0">
                  <a:solidFill>
                    <a:srgbClr val="141E4F"/>
                  </a:solidFill>
                  <a:latin typeface="Arial"/>
                </a:rPr>
                <a:t>Owners update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5B6478"/>
                  </a:solidFill>
                  <a:latin typeface="Arial"/>
                </a:rPr>
                <a:t>Status, completion or a revised forecast</a:t>
              </a:r>
            </a:p>
          </p:txBody>
        </p:sp>
        <p:sp>
          <p:nvSpPr>
            <p:cNvPr id="40" name="Arrow"/>
            <p:cNvSpPr/>
            <p:nvPr/>
          </p:nvSpPr>
          <p:spPr>
            <a:xfrm>
              <a:off x="3945635" y="5458968"/>
              <a:ext cx="91440" cy="91440"/>
            </a:xfrm>
            <a:prstGeom prst="rightArrow">
              <a:avLst/>
            </a:prstGeom>
            <a:solidFill>
              <a:srgbClr val="0047BB"/>
            </a:solidFill>
            <a:ln>
              <a:noFill/>
            </a:ln>
            <a:effectLst/>
          </p:spPr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41" name="Step 4"/>
            <p:cNvSpPr/>
            <p:nvPr/>
          </p:nvSpPr>
          <p:spPr>
            <a:xfrm>
              <a:off x="4069079" y="5047488"/>
              <a:ext cx="1060704" cy="914400"/>
            </a:xfrm>
            <a:prstGeom prst="roundRect">
              <a:avLst>
                <a:gd name="adj" fmla="val 7000"/>
              </a:avLst>
            </a:prstGeom>
            <a:solidFill>
              <a:srgbClr val="EEF2FA"/>
            </a:solidFill>
            <a:ln>
              <a:noFill/>
            </a:ln>
            <a:effectLst/>
          </p:spPr>
          <p:txBody>
            <a:bodyPr rtlCol="0" anchor="t" wrap="square" lIns="64008" rIns="45720" bIns="36576"/>
            <a:lstStyle/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750" b="1" i="0">
                  <a:solidFill>
                    <a:srgbClr val="0047BB"/>
                  </a:solidFill>
                  <a:latin typeface="Arial"/>
                </a:rPr>
                <a:t>MONDAY</a:t>
              </a:r>
            </a:p>
            <a:p>
              <a:pPr algn="l">
                <a:spcBef>
                  <a:spcPts val="0"/>
                </a:spcBef>
                <a:spcAft>
                  <a:spcPts val="100"/>
                </a:spcAft>
              </a:pPr>
              <a:r>
                <a:rPr sz="950" b="1" i="0">
                  <a:solidFill>
                    <a:srgbClr val="141E4F"/>
                  </a:solidFill>
                  <a:latin typeface="Arial"/>
                </a:rPr>
                <a:t>Leadership review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5B6478"/>
                  </a:solidFill>
                  <a:latin typeface="Arial"/>
                </a:rPr>
                <a:t>Clean financials and status data</a:t>
              </a:r>
            </a:p>
          </p:txBody>
        </p:sp>
        <p:sp>
          <p:nvSpPr>
            <p:cNvPr id="42" name="Sample note"/>
            <p:cNvSpPr/>
            <p:nvPr/>
          </p:nvSpPr>
          <p:spPr>
            <a:xfrm>
              <a:off x="393192" y="6025896"/>
              <a:ext cx="4733848" cy="310896"/>
            </a:xfrm>
            <a:prstGeom prst="rect">
              <a:avLst/>
            </a:prstGeom>
            <a:solidFill>
              <a:srgbClr val="FFF8EE"/>
            </a:solidFill>
            <a:ln>
              <a:noFill/>
            </a:ln>
            <a:effectLst/>
          </p:spPr>
          <p:txBody>
            <a:bodyPr rtlCol="0" anchor="ctr" wrap="square" lIns="109728" rIns="73152" tIns="27432" bIns="27432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00" b="1" i="0">
                  <a:solidFill>
                    <a:srgbClr val="A4520F"/>
                  </a:solidFill>
                  <a:latin typeface="Arial"/>
                </a:rPr>
                <a:t>Sample note: </a:t>
              </a:r>
              <a:r>
                <a:rPr sz="800" b="0" i="0">
                  <a:solidFill>
                    <a:srgbClr val="3A4256"/>
                  </a:solidFill>
                  <a:latin typeface="Arial"/>
                </a:rPr>
                <a:t>Milestone “UAT Complete” was due 10/10 and remains Open in Planview. Please update the status or provide a revised forecast by EOD Monday.</a:t>
              </a:r>
            </a:p>
          </p:txBody>
        </p:sp>
        <p:sp>
          <p:nvSpPr>
            <p:cNvPr id="43" name="Note accent"/>
            <p:cNvSpPr/>
            <p:nvPr/>
          </p:nvSpPr>
          <p:spPr>
            <a:xfrm>
              <a:off x="393192" y="6025896"/>
              <a:ext cx="36576" cy="310896"/>
            </a:xfrm>
            <a:prstGeom prst="rect">
              <a:avLst/>
            </a:prstGeom>
            <a:solidFill>
              <a:srgbClr val="E8731A"/>
            </a:solidFill>
            <a:ln>
              <a:noFill/>
            </a:ln>
            <a:effectLst/>
          </p:spPr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44" name="Where the line is"/>
          <p:cNvGrpSpPr/>
          <p:nvPr/>
        </p:nvGrpSpPr>
        <p:grpSpPr>
          <a:xfrm>
            <a:off x="5373928" y="4681728"/>
            <a:ext cx="3207715" cy="1719072"/>
            <a:chOff x="5373928" y="4681728"/>
            <a:chExt cx="3207715" cy="1719072"/>
          </a:xfrm>
        </p:grpSpPr>
        <p:sp>
          <p:nvSpPr>
            <p:cNvPr id="45" name="Line panel"/>
            <p:cNvSpPr/>
            <p:nvPr/>
          </p:nvSpPr>
          <p:spPr>
            <a:xfrm>
              <a:off x="5373928" y="4681728"/>
              <a:ext cx="3207715" cy="1719072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4DAE8"/>
              </a:solidFill>
            </a:ln>
            <a:effectLst/>
          </p:spPr>
          <p:txBody>
            <a:bodyPr rtlCol="0" anchor="t" wrap="square" lIns="118872" tIns="73152" bIns="64008"/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0047BB"/>
                  </a:solidFill>
                  <a:latin typeface="Georgia"/>
                </a:rPr>
                <a:t>Where the line is</a:t>
              </a:r>
            </a:p>
          </p:txBody>
        </p:sp>
        <p:sp>
          <p:nvSpPr>
            <p:cNvPr id="46" name="The Role Does"/>
            <p:cNvSpPr txBox="1"/>
            <p:nvPr/>
          </p:nvSpPr>
          <p:spPr>
            <a:xfrm>
              <a:off x="5492800" y="5029200"/>
              <a:ext cx="1572768" cy="1097280"/>
            </a:xfrm>
            <a:prstGeom prst="rect">
              <a:avLst/>
            </a:prstGeom>
            <a:noFill/>
          </p:spPr>
          <p:txBody>
            <a:bodyPr wrap="square" lIns="0" rIns="36576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</a:pPr>
              <a:r>
                <a:rPr sz="800" b="1" i="0" spc="100">
                  <a:solidFill>
                    <a:srgbClr val="0A7D74"/>
                  </a:solidFill>
                  <a:latin typeface="Arial"/>
                </a:rPr>
                <a:t>THE ROLE DOES</a:t>
              </a:r>
            </a:p>
            <a:p>
              <a:pPr algn="l" marL="146304" indent="-146304">
                <a:spcBef>
                  <a:spcPts val="0"/>
                </a:spcBef>
                <a:spcAft>
                  <a:spcPts val="150"/>
                </a:spcAft>
                <a:buClr>
                  <a:srgbClr val="0A7D74"/>
                </a:buClr>
                <a:buFont typeface="Segoe UI Symbol"/>
                <a:buChar char="✓"/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Identifies issues</a:t>
              </a:r>
            </a:p>
            <a:p>
              <a:pPr algn="l" marL="146304" indent="-146304">
                <a:spcBef>
                  <a:spcPts val="0"/>
                </a:spcBef>
                <a:spcAft>
                  <a:spcPts val="150"/>
                </a:spcAft>
                <a:buClr>
                  <a:srgbClr val="0A7D74"/>
                </a:buClr>
                <a:buFont typeface="Segoe UI Symbol"/>
                <a:buChar char="✓"/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Notifies owners</a:t>
              </a:r>
            </a:p>
            <a:p>
              <a:pPr algn="l" marL="146304" indent="-146304">
                <a:spcBef>
                  <a:spcPts val="0"/>
                </a:spcBef>
                <a:spcAft>
                  <a:spcPts val="150"/>
                </a:spcAft>
                <a:buClr>
                  <a:srgbClr val="0A7D74"/>
                </a:buClr>
                <a:buFont typeface="Segoe UI Symbol"/>
                <a:buChar char="✓"/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Recommends corrections</a:t>
              </a:r>
            </a:p>
            <a:p>
              <a:pPr algn="l" marL="146304" indent="-146304">
                <a:spcBef>
                  <a:spcPts val="0"/>
                </a:spcBef>
                <a:spcAft>
                  <a:spcPts val="150"/>
                </a:spcAft>
                <a:buClr>
                  <a:srgbClr val="0A7D74"/>
                </a:buClr>
                <a:buFont typeface="Segoe UI Symbol"/>
                <a:buChar char="✓"/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Follows up to closure</a:t>
              </a:r>
            </a:p>
            <a:p>
              <a:pPr algn="l" marL="146304" indent="-146304">
                <a:spcBef>
                  <a:spcPts val="0"/>
                </a:spcBef>
                <a:spcAft>
                  <a:spcPts val="150"/>
                </a:spcAft>
                <a:buClr>
                  <a:srgbClr val="0A7D74"/>
                </a:buClr>
                <a:buFont typeface="Segoe UI Symbol"/>
                <a:buChar char="✓"/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Produces governance reports</a:t>
              </a:r>
            </a:p>
          </p:txBody>
        </p:sp>
        <p:sp>
          <p:nvSpPr>
            <p:cNvPr id="47" name="Owners Decide"/>
            <p:cNvSpPr txBox="1"/>
            <p:nvPr/>
          </p:nvSpPr>
          <p:spPr>
            <a:xfrm>
              <a:off x="7065568" y="5029200"/>
              <a:ext cx="1389888" cy="1097280"/>
            </a:xfrm>
            <a:prstGeom prst="rect">
              <a:avLst/>
            </a:prstGeom>
            <a:noFill/>
          </p:spPr>
          <p:txBody>
            <a:bodyPr wrap="square" lIns="0" rIns="36576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</a:pPr>
              <a:r>
                <a:rPr sz="800" b="1" i="0" spc="100">
                  <a:solidFill>
                    <a:srgbClr val="C2412D"/>
                  </a:solidFill>
                  <a:latin typeface="Arial"/>
                </a:rPr>
                <a:t>OWNERS DECIDE</a:t>
              </a:r>
            </a:p>
            <a:p>
              <a:pPr algn="l" marL="146304" indent="-146304">
                <a:spcBef>
                  <a:spcPts val="0"/>
                </a:spcBef>
                <a:spcAft>
                  <a:spcPts val="150"/>
                </a:spcAft>
                <a:buClr>
                  <a:srgbClr val="C2412D"/>
                </a:buClr>
                <a:buFont typeface="Segoe UI Symbol"/>
                <a:buChar char="✕"/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Final RAG status</a:t>
              </a:r>
            </a:p>
            <a:p>
              <a:pPr algn="l" marL="146304" indent="-146304">
                <a:spcBef>
                  <a:spcPts val="0"/>
                </a:spcBef>
                <a:spcAft>
                  <a:spcPts val="150"/>
                </a:spcAft>
                <a:buClr>
                  <a:srgbClr val="C2412D"/>
                </a:buClr>
                <a:buFont typeface="Segoe UI Symbol"/>
                <a:buChar char="✕"/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Forecast dates</a:t>
              </a:r>
            </a:p>
            <a:p>
              <a:pPr algn="l" marL="146304" indent="-146304">
                <a:spcBef>
                  <a:spcPts val="0"/>
                </a:spcBef>
                <a:spcAft>
                  <a:spcPts val="150"/>
                </a:spcAft>
                <a:buClr>
                  <a:srgbClr val="C2412D"/>
                </a:buClr>
                <a:buFont typeface="Segoe UI Symbol"/>
                <a:buChar char="✕"/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Scope and change approval</a:t>
              </a:r>
            </a:p>
            <a:p>
              <a:pPr algn="l" marL="146304" indent="-146304">
                <a:spcBef>
                  <a:spcPts val="0"/>
                </a:spcBef>
                <a:spcAft>
                  <a:spcPts val="150"/>
                </a:spcAft>
                <a:buClr>
                  <a:srgbClr val="C2412D"/>
                </a:buClr>
                <a:buFont typeface="Segoe UI Symbol"/>
                <a:buChar char="✕"/>
              </a:pPr>
              <a:r>
                <a:rPr sz="900" b="0" i="0">
                  <a:solidFill>
                    <a:srgbClr val="1D2433"/>
                  </a:solidFill>
                  <a:latin typeface="Arial"/>
                </a:rPr>
                <a:t>Delivery priorities</a:t>
              </a:r>
            </a:p>
          </p:txBody>
        </p:sp>
        <p:sp>
          <p:nvSpPr>
            <p:cNvPr id="48" name="Line footnote"/>
            <p:cNvSpPr txBox="1"/>
            <p:nvPr/>
          </p:nvSpPr>
          <p:spPr>
            <a:xfrm>
              <a:off x="5492800" y="6163056"/>
              <a:ext cx="2969971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5B6478"/>
                  </a:solidFill>
                  <a:latin typeface="Arial"/>
                </a:rPr>
                <a:t>Quality checker, not decision maker.</a:t>
              </a:r>
            </a:p>
          </p:txBody>
        </p:sp>
      </p:grpSp>
      <p:sp>
        <p:nvSpPr>
          <p:cNvPr id="49" name="Benefits to team and portfolio"/>
          <p:cNvSpPr/>
          <p:nvPr/>
        </p:nvSpPr>
        <p:spPr>
          <a:xfrm>
            <a:off x="8709660" y="4681728"/>
            <a:ext cx="3207715" cy="1719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4DAE8"/>
            </a:solidFill>
          </a:ln>
          <a:effectLst/>
        </p:spPr>
        <p:txBody>
          <a:bodyPr rtlCol="0" anchor="t" wrap="square" lIns="118872" t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0047BB"/>
                </a:solidFill>
                <a:latin typeface="Georgia"/>
              </a:rPr>
              <a:t>Benefits to team and portfolio</a:t>
            </a:r>
          </a:p>
          <a:p>
            <a:pPr algn="l" marL="155448" indent="-155448">
              <a:spcBef>
                <a:spcPts val="0"/>
              </a:spcBef>
              <a:spcAft>
                <a:spcPts val="400"/>
              </a:spcAft>
              <a:buClr>
                <a:srgbClr val="0A7D74"/>
              </a:buClr>
              <a:buFont typeface="Segoe UI Symbol"/>
              <a:buChar char="▲"/>
            </a:pPr>
            <a:r>
              <a:rPr sz="950" b="0" i="0">
                <a:solidFill>
                  <a:srgbClr val="1D2433"/>
                </a:solidFill>
                <a:latin typeface="Arial"/>
              </a:rPr>
              <a:t>Project managers and scrum masters focus on delivery</a:t>
            </a:r>
          </a:p>
          <a:p>
            <a:pPr algn="l" marL="155448" indent="-155448">
              <a:spcBef>
                <a:spcPts val="0"/>
              </a:spcBef>
              <a:spcAft>
                <a:spcPts val="400"/>
              </a:spcAft>
              <a:buClr>
                <a:srgbClr val="0A7D74"/>
              </a:buClr>
              <a:buFont typeface="Segoe UI Symbol"/>
              <a:buChar char="▲"/>
            </a:pPr>
            <a:r>
              <a:rPr sz="950" b="0" i="0">
                <a:solidFill>
                  <a:srgbClr val="1D2433"/>
                </a:solidFill>
                <a:latin typeface="Arial"/>
              </a:rPr>
              <a:t>Planview stays the trusted system of record</a:t>
            </a:r>
          </a:p>
          <a:p>
            <a:pPr algn="l" marL="155448" indent="-155448">
              <a:spcBef>
                <a:spcPts val="0"/>
              </a:spcBef>
              <a:spcAft>
                <a:spcPts val="400"/>
              </a:spcAft>
              <a:buClr>
                <a:srgbClr val="0A7D74"/>
              </a:buClr>
              <a:buFont typeface="Segoe UI Symbol"/>
              <a:buChar char="▲"/>
            </a:pPr>
            <a:r>
              <a:rPr sz="950" b="0" i="0">
                <a:solidFill>
                  <a:srgbClr val="1D2433"/>
                </a:solidFill>
                <a:latin typeface="Arial"/>
              </a:rPr>
              <a:t>Issues surface early, before leadership reviews</a:t>
            </a:r>
          </a:p>
          <a:p>
            <a:pPr algn="l" marL="155448" indent="-155448">
              <a:spcBef>
                <a:spcPts val="0"/>
              </a:spcBef>
              <a:spcAft>
                <a:spcPts val="400"/>
              </a:spcAft>
              <a:buClr>
                <a:srgbClr val="0A7D74"/>
              </a:buClr>
              <a:buFont typeface="Segoe UI Symbol"/>
              <a:buChar char="▲"/>
            </a:pPr>
            <a:r>
              <a:rPr sz="950" b="0" i="0">
                <a:solidFill>
                  <a:srgbClr val="1D2433"/>
                </a:solidFill>
                <a:latin typeface="Arial"/>
              </a:rPr>
              <a:t>Consistent standards across every project</a:t>
            </a:r>
          </a:p>
          <a:p>
            <a:pPr algn="l" marL="155448" indent="-155448">
              <a:spcBef>
                <a:spcPts val="0"/>
              </a:spcBef>
              <a:spcAft>
                <a:spcPts val="400"/>
              </a:spcAft>
              <a:buClr>
                <a:srgbClr val="0A7D74"/>
              </a:buClr>
              <a:buFont typeface="Segoe UI Symbol"/>
              <a:buChar char="▲"/>
            </a:pPr>
            <a:r>
              <a:rPr sz="950" b="0" i="0">
                <a:solidFill>
                  <a:srgbClr val="1D2433"/>
                </a:solidFill>
                <a:latin typeface="Arial"/>
              </a:rPr>
              <a:t>Better return on the Planview investment</a:t>
            </a:r>
          </a:p>
        </p:txBody>
      </p:sp>
      <p:sp>
        <p:nvSpPr>
          <p:cNvPr id="50" name="Footer band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1E4F"/>
          </a:solidFill>
          <a:ln>
            <a:noFill/>
          </a:ln>
          <a:effectLst/>
        </p:spPr>
        <p:txBody>
          <a:bodyPr rtlCol="0" anchor="ctr" wrap="square" lIns="274320" rIns="27432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FFFFFF"/>
                </a:solidFill>
                <a:latin typeface="Georgia"/>
              </a:rPr>
              <a:t>Accurate data. Clear status. Ready for leaders every Monday.</a:t>
            </a:r>
          </a:p>
        </p:txBody>
      </p:sp>
      <p:sp>
        <p:nvSpPr>
          <p:cNvPr id="51" name="Footer note"/>
          <p:cNvSpPr txBox="1"/>
          <p:nvPr/>
        </p:nvSpPr>
        <p:spPr>
          <a:xfrm>
            <a:off x="7589520" y="6473952"/>
            <a:ext cx="4325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B9C2E0"/>
                </a:solidFill>
                <a:latin typeface="Arial"/>
              </a:rPr>
              <a:t>Pet IT Delivery internal role guide. Proposed Delivery Coordinator responsibilities for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
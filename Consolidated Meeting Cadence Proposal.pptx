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8"/>
    <p:sldId id="258" r:id="rId9"/>
    <p:sldId id="259" r:id="rId10"/>
    <p:sldId id="260" r:id="rId11"/>
    <p:sldId id="261" r:id="rId12"/>
    <p:sldId id="262" r:id="rId5"/>
    <p:sldId id="263" r:id="rId4"/>
    <p:sldId id="264" r:id="rId3"/>
    <p:sldId id="265" r:id="rId2"/>
    <p:sldId id="266"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40" d="100"/>
          <a:sy n="140" d="100"/>
        </p:scale>
        <p:origin x="92"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Recurring attendee-hours per year</c:v>
                </c:pt>
              </c:strCache>
            </c:strRef>
          </c:tx>
          <c:dPt>
            <c:idx val="0"/>
            <c:spPr>
              <a:solidFill>
                <a:srgbClr val="141B4D"/>
              </a:solidFill>
            </c:spPr>
          </c:dPt>
          <c:dPt>
            <c:idx val="1"/>
            <c:spPr>
              <a:solidFill>
                <a:srgbClr val="9DB3DB"/>
              </a:solidFill>
            </c:spPr>
          </c:dPt>
          <c:dPt>
            <c:idx val="2"/>
            <c:spPr>
              <a:solidFill>
                <a:srgbClr val="009788"/>
              </a:solidFill>
            </c:spPr>
          </c:dPt>
          <c:cat>
            <c:strRef>
              <c:f>Sheet1!$A$2:$A$4</c:f>
              <c:strCache>
                <c:ptCount val="3"/>
                <c:pt idx="0">
                  <c:v>Today</c:v>
                </c:pt>
                <c:pt idx="1">
                  <c:v>Tiered proposal</c:v>
                </c:pt>
                <c:pt idx="2">
                  <c:v>One cadence</c:v>
                </c:pt>
              </c:strCache>
            </c:strRef>
          </c:cat>
          <c:val>
            <c:numRef>
              <c:f>Sheet1!$B$2:$B$4</c:f>
              <c:numCache>
                <c:formatCode>General</c:formatCode>
                <c:ptCount val="3"/>
                <c:pt idx="0">
                  <c:v>9480</c:v>
                </c:pt>
                <c:pt idx="1">
                  <c:v>3300</c:v>
                </c:pt>
                <c:pt idx="2">
                  <c:v>1996</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gapWidth val="70"/>
        <c:axId val="500000"/>
        <c:axId val="500001"/>
      </c:barChart>
      <c:catAx>
        <c:axId val="500000"/>
        <c:scaling>
          <c:orientation val="minMax"/>
        </c:scaling>
        <c:delete val="0"/>
        <c:axPos val="b"/>
        <c:majorTickMark val="out"/>
        <c:minorTickMark val="none"/>
        <c:tickLblPos val="nextTo"/>
        <c:spPr>
          <a:ln>
            <a:solidFill>
              <a:srgbClr val="9AA3B5"/>
            </a:solidFill>
          </a:ln>
        </c:spPr>
        <c:txPr>
          <a:bodyPr/>
          <a:lstStyle/>
          <a:p>
            <a:pPr>
              <a:defRPr sz="1400"/>
            </a:pPr>
          </a:p>
        </c:txPr>
        <c:crossAx val="500001"/>
        <c:crosses val="autoZero"/>
        <c:auto val="1"/>
        <c:lblAlgn val="ctr"/>
        <c:lblOffset val="100"/>
        <c:noMultiLvlLbl val="0"/>
      </c:catAx>
      <c:valAx>
        <c:axId val="500001"/>
        <c:scaling/>
        <c:delete/>
        <c:axPos val="l"/>
        <c:majorTickMark val="out"/>
        <c:minorTickMark val="none"/>
        <c:tickLblPos val="nextTo"/>
        <c:crossAx val="500000"/>
        <c:crosses val="autoZero"/>
      </c:valAx>
    </c:plotArea>
    <c:dispBlanksAs val="gap"/>
  </c:chart>
  <c:txPr>
    <a:bodyPr/>
    <a:lstStyle/>
    <a:p>
      <a:pPr>
        <a:defRPr sz="13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method as the tiered proposal. Future hours: 22 projects x 3 required attendees x 0.5 hr x 52 weeks = 1,716; weekly Portfolio Pulse 8 x 0.5 x 52 = 208; monthly Portfolio Review 6 x 1 x 12 = 72. Total 1,996.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on this slide come from the original Meetings Proposal. Only 8% of recurring hours sit in Small and Straight to the Lines work, so separate size tiers for them save little.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details are taken from the original proposal (slide 5). The $5M figure reflects the current sizing bands as described by the delivery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Projects follow one cadence with no size tiers. Leadership visibility comes from the standard weekly update and dashboard, discussed by exception in the weekly Portfolio Pulse, with money and trends in the monthly Portfolio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pulse comes from information, not attendance. Every project posts the same update every week, so the dashboard is complete before the Monday Pulse.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attendees are the minimum needed to make the decision each meeting exists for. The Pulse estimate assumes 3 TPMs join on average each week.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Thresholds are suggestions to start the conversation, not current policy.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Tiered proposal figure is its three-strategy case (3,300 hours). Today = 9,480 hours from the original proposal. If 6 TPMs join the Pulse each week instead of 3, the total is 2,074 hours, still a 78% reduction.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78 = 3 attendees x 0.5 hr x 52 weeks per project. 280 = Portfolio Pulse 208 plus Portfolio Review 72.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Savings from cancelled project syncs are not counted in the 1,996-hour estimate.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leadership confidence rating answers the key concern directly: is the pulse strong enough? If not, adjust at 90 days.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D43D-C1EE-C8C4-EFCD-8BE2BC4B4B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A2FE2E-2040-ED77-5B4C-60AD0D955F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0AB901-AD8C-EEB0-9138-4C85EC6D910D}"/>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5" name="Footer Placeholder 4">
            <a:extLst>
              <a:ext uri="{FF2B5EF4-FFF2-40B4-BE49-F238E27FC236}">
                <a16:creationId xmlns:a16="http://schemas.microsoft.com/office/drawing/2014/main" id="{E853B94F-8FB3-0F47-B2A2-5207C6255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5840D-D1A7-368B-F292-650A0579EFBA}"/>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2354002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AA83F-0D66-A30D-B81A-B2C37A5F5E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CA160-4E04-555A-FD6B-73BC604DCA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68B963-94BC-5ABF-EDAC-656371384010}"/>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5" name="Footer Placeholder 4">
            <a:extLst>
              <a:ext uri="{FF2B5EF4-FFF2-40B4-BE49-F238E27FC236}">
                <a16:creationId xmlns:a16="http://schemas.microsoft.com/office/drawing/2014/main" id="{6148D7D0-21B5-214C-6D20-AC0AF2EF40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CAEF05-4883-4DE9-7FD8-E27456764810}"/>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3489813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53C4-1A8F-E638-0FC1-FF4C8D9A03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E78FFA-F741-0B2C-5B23-F298DD0504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134A79-3182-4873-C02D-FF6AFBDD9A67}"/>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5" name="Footer Placeholder 4">
            <a:extLst>
              <a:ext uri="{FF2B5EF4-FFF2-40B4-BE49-F238E27FC236}">
                <a16:creationId xmlns:a16="http://schemas.microsoft.com/office/drawing/2014/main" id="{CA5E5F70-5AC1-B729-4958-2B6F6BA31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E1F3E-20AE-AD29-2F71-88C59A919447}"/>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804556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1B690-2720-5112-3FBD-00502DF80A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77349-D7FE-81C1-BCA2-0CA151F1C5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101A2F-7ED7-F960-5237-2342E52392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EF7699-537A-DED6-288C-6E96DA0DAA21}"/>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6" name="Footer Placeholder 5">
            <a:extLst>
              <a:ext uri="{FF2B5EF4-FFF2-40B4-BE49-F238E27FC236}">
                <a16:creationId xmlns:a16="http://schemas.microsoft.com/office/drawing/2014/main" id="{0ACF9E2D-C61A-BDDC-2A14-BD26A3DD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C3350F-3D1B-F413-FF21-C25A1BF85154}"/>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93142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1889E-E810-DB22-2450-B3EC721565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7138F8-7FF5-7E8A-B3C5-A9C7BE89AA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AE15F3-E7FA-BB96-6B36-A0C080F794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B6E103-4892-9C97-5353-F2EA35A59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985BF9-C8CF-8976-C70E-CDDC1C1414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96EDB1-F953-A153-EC00-6C960EE227E0}"/>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8" name="Footer Placeholder 7">
            <a:extLst>
              <a:ext uri="{FF2B5EF4-FFF2-40B4-BE49-F238E27FC236}">
                <a16:creationId xmlns:a16="http://schemas.microsoft.com/office/drawing/2014/main" id="{B1DE0762-8DB2-88F5-FCA4-98F6CB2156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F76DFC-6AD4-FAC0-045A-8F4E92F2DE4F}"/>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2141909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9859C-C9B1-6AA1-3151-DBE3427D5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1AFE54-B39C-E84F-1FC9-FC09536F44EF}"/>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4" name="Footer Placeholder 3">
            <a:extLst>
              <a:ext uri="{FF2B5EF4-FFF2-40B4-BE49-F238E27FC236}">
                <a16:creationId xmlns:a16="http://schemas.microsoft.com/office/drawing/2014/main" id="{EC8FFA47-7B75-E42C-4F0C-3B683ADE50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4069C6-59CC-BFD5-CC9C-9FC360418DAD}"/>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2625077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326CC7-4B48-2B49-3F57-3F73DDE5BDC4}"/>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3" name="Footer Placeholder 2">
            <a:extLst>
              <a:ext uri="{FF2B5EF4-FFF2-40B4-BE49-F238E27FC236}">
                <a16:creationId xmlns:a16="http://schemas.microsoft.com/office/drawing/2014/main" id="{E8362A2D-0C9F-254E-AD9F-827732F2B7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973121-5896-DA82-761A-5255F94D3860}"/>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3373725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931FD-988F-F8F3-4EB7-7AFEC1D73A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650B29-E8F2-B6F3-4740-3E1781E74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4B53DC-0548-7E69-B936-EED654C5C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19E149-C0FE-EF4F-F357-0571106313F3}"/>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6" name="Footer Placeholder 5">
            <a:extLst>
              <a:ext uri="{FF2B5EF4-FFF2-40B4-BE49-F238E27FC236}">
                <a16:creationId xmlns:a16="http://schemas.microsoft.com/office/drawing/2014/main" id="{D267D5C9-8393-B8B7-7337-345F4A62E0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E0250F-EBDB-BB2E-6D36-42038B3CCCFC}"/>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856168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570F3-54B3-E855-1EC3-0C5CB02700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85A535-AAA5-C04C-81D0-BFE04CEEBF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F5C272-6257-D90D-3C39-0C879558FB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D0C52-27E9-DAE7-325D-DA7D422A921B}"/>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6" name="Footer Placeholder 5">
            <a:extLst>
              <a:ext uri="{FF2B5EF4-FFF2-40B4-BE49-F238E27FC236}">
                <a16:creationId xmlns:a16="http://schemas.microsoft.com/office/drawing/2014/main" id="{0825D2E0-A484-8E0F-1E1C-CC25E2582D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E63264-95CA-4DF1-CD93-4B71CE78324F}"/>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1908461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25B8B-318A-495C-4F3D-DC9E26433B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7F0296-E20B-EC4A-FD75-3AE9A82169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C481F-FE8B-1B3E-2C3E-0DF99C35705D}"/>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5" name="Footer Placeholder 4">
            <a:extLst>
              <a:ext uri="{FF2B5EF4-FFF2-40B4-BE49-F238E27FC236}">
                <a16:creationId xmlns:a16="http://schemas.microsoft.com/office/drawing/2014/main" id="{721DA00C-A7C1-73F7-85E7-E1C12CAF4C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B08FC-4481-1F3B-836F-027EED7C5EC3}"/>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420201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DD5593-DF3E-C04A-4CC4-CB552313E1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E52007-8EFE-849C-8C55-DF579E3E08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9B2DD-DD4C-1E81-ECBB-7C2BEE1D352B}"/>
              </a:ext>
            </a:extLst>
          </p:cNvPr>
          <p:cNvSpPr>
            <a:spLocks noGrp="1"/>
          </p:cNvSpPr>
          <p:nvPr>
            <p:ph type="dt" sz="half" idx="10"/>
          </p:nvPr>
        </p:nvSpPr>
        <p:spPr/>
        <p:txBody>
          <a:bodyPr/>
          <a:lstStyle/>
          <a:p>
            <a:fld id="{B958D268-5451-4E79-85BF-696312FC8684}" type="datetimeFigureOut">
              <a:rPr lang="en-US" smtClean="0"/>
              <a:t>10/9/2026</a:t>
            </a:fld>
            <a:endParaRPr lang="en-US"/>
          </a:p>
        </p:txBody>
      </p:sp>
      <p:sp>
        <p:nvSpPr>
          <p:cNvPr id="5" name="Footer Placeholder 4">
            <a:extLst>
              <a:ext uri="{FF2B5EF4-FFF2-40B4-BE49-F238E27FC236}">
                <a16:creationId xmlns:a16="http://schemas.microsoft.com/office/drawing/2014/main" id="{CC4F9762-CC6F-7324-02DB-5C42B9901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2D7AAC-320F-E1E4-121C-D9C9F915492C}"/>
              </a:ext>
            </a:extLst>
          </p:cNvPr>
          <p:cNvSpPr>
            <a:spLocks noGrp="1"/>
          </p:cNvSpPr>
          <p:nvPr>
            <p:ph type="sldNum" sz="quarter" idx="12"/>
          </p:nvPr>
        </p:nvSpPr>
        <p:spPr/>
        <p:txBody>
          <a:bodyPr/>
          <a:lstStyle/>
          <a:p>
            <a:fld id="{E1FE1E28-30C2-405D-86FB-1B2DA4063064}" type="slidenum">
              <a:rPr lang="en-US" smtClean="0"/>
              <a:t>‹#›</a:t>
            </a:fld>
            <a:endParaRPr lang="en-US"/>
          </a:p>
        </p:txBody>
      </p:sp>
    </p:spTree>
    <p:extLst>
      <p:ext uri="{BB962C8B-B14F-4D97-AF65-F5344CB8AC3E}">
        <p14:creationId xmlns:p14="http://schemas.microsoft.com/office/powerpoint/2010/main" val="24627898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8626EF-3FB1-8F67-1036-88DE3792B1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1DC59D-4AAD-FF11-52D7-22083918E4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835E5D-1EA7-FC26-70B1-281011C2AF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58D268-5451-4E79-85BF-696312FC8684}" type="datetimeFigureOut">
              <a:rPr lang="en-US" smtClean="0"/>
              <a:t>10/9/2026</a:t>
            </a:fld>
            <a:endParaRPr lang="en-US"/>
          </a:p>
        </p:txBody>
      </p:sp>
      <p:sp>
        <p:nvSpPr>
          <p:cNvPr id="5" name="Footer Placeholder 4">
            <a:extLst>
              <a:ext uri="{FF2B5EF4-FFF2-40B4-BE49-F238E27FC236}">
                <a16:creationId xmlns:a16="http://schemas.microsoft.com/office/drawing/2014/main" id="{C726E33D-5B6B-C775-E2C0-66E29D0D2A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9D368C-B36B-C3E8-F7D4-6F6BBB51C8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FE1E28-30C2-405D-86FB-1B2DA4063064}" type="slidenum">
              <a:rPr lang="en-US" smtClean="0"/>
              <a:t>‹#›</a:t>
            </a:fld>
            <a:endParaRPr lang="en-US"/>
          </a:p>
        </p:txBody>
      </p:sp>
    </p:spTree>
    <p:extLst>
      <p:ext uri="{BB962C8B-B14F-4D97-AF65-F5344CB8AC3E}">
        <p14:creationId xmlns:p14="http://schemas.microsoft.com/office/powerpoint/2010/main" val="3940107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One cadence releases 7,484 recurring attendee-hours a year</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Stat card 1"/>
          <p:cNvSpPr/>
          <p:nvPr/>
        </p:nvSpPr>
        <p:spPr>
          <a:xfrm>
            <a:off x="411480" y="1417320"/>
            <a:ext cx="3611880" cy="2788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at strip 1"/>
          <p:cNvSpPr/>
          <p:nvPr/>
        </p:nvSpPr>
        <p:spPr>
          <a:xfrm>
            <a:off x="411480" y="1417320"/>
            <a:ext cx="3611880" cy="91440"/>
          </a:xfrm>
          <a:prstGeom prst="rect">
            <a:avLst/>
          </a:prstGeom>
          <a:solidFill>
            <a:srgbClr val="4A5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1"/>
          <p:cNvSpPr txBox="1"/>
          <p:nvPr/>
        </p:nvSpPr>
        <p:spPr>
          <a:xfrm>
            <a:off x="411480" y="1691640"/>
            <a:ext cx="3611880" cy="1051560"/>
          </a:xfrm>
          <a:prstGeom prst="rect">
            <a:avLst/>
          </a:prstGeom>
          <a:noFill/>
        </p:spPr>
        <p:txBody>
          <a:bodyPr wrap="square" lIns="45720" tIns="45720" rIns="45720" bIns="45720" anchor="ctr">
            <a:noAutofit/>
          </a:bodyPr>
          <a:lstStyle/>
          <a:p>
            <a:pPr marL="0" indent="0" algn="ctr">
              <a:buNone/>
            </a:pPr>
            <a:r>
              <a:rPr lang="en-US" sz="6600" b="1" dirty="0">
                <a:solidFill>
                  <a:srgbClr val="FFFFFF"/>
                </a:solidFill>
                <a:latin typeface="Georgia"/>
                <a:ea typeface="Georgia"/>
                <a:cs typeface="Georgia"/>
              </a:rPr>
              <a:t>9,480</a:t>
            </a:r>
          </a:p>
        </p:txBody>
      </p:sp>
      <p:sp>
        <p:nvSpPr>
          <p:cNvPr id="7" name="Stat unit 1"/>
          <p:cNvSpPr txBox="1"/>
          <p:nvPr/>
        </p:nvSpPr>
        <p:spPr>
          <a:xfrm>
            <a:off x="411480" y="2743200"/>
            <a:ext cx="3611880" cy="365760"/>
          </a:xfrm>
          <a:prstGeom prst="rect">
            <a:avLst/>
          </a:prstGeom>
          <a:noFill/>
        </p:spPr>
        <p:txBody>
          <a:bodyPr wrap="square" lIns="45720" tIns="45720" rIns="45720" bIns="45720" anchor="ctr">
            <a:noAutofit/>
          </a:bodyPr>
          <a:lstStyle/>
          <a:p>
            <a:pPr marL="0" indent="0" algn="ctr">
              <a:buNone/>
            </a:pPr>
            <a:r>
              <a:rPr lang="en-US" sz="1700" b="0" spc="100" dirty="0">
                <a:solidFill>
                  <a:srgbClr val="E6ECF8"/>
                </a:solidFill>
                <a:latin typeface="Arial"/>
                <a:ea typeface="Arial"/>
                <a:cs typeface="Arial"/>
              </a:rPr>
              <a:t>hours</a:t>
            </a:r>
          </a:p>
        </p:txBody>
      </p:sp>
      <p:sp>
        <p:nvSpPr>
          <p:cNvPr id="8" name="Stat label 1"/>
          <p:cNvSpPr txBox="1"/>
          <p:nvPr/>
        </p:nvSpPr>
        <p:spPr>
          <a:xfrm>
            <a:off x="685800" y="3154680"/>
            <a:ext cx="3063240" cy="777240"/>
          </a:xfrm>
          <a:prstGeom prst="rect">
            <a:avLst/>
          </a:prstGeom>
          <a:noFill/>
        </p:spPr>
        <p:txBody>
          <a:bodyPr wrap="square" lIns="45720" tIns="45720" rIns="45720" bIns="45720" anchor="t">
            <a:noAutofit/>
          </a:bodyPr>
          <a:lstStyle/>
          <a:p>
            <a:pPr marL="0" indent="0" algn="ctr">
              <a:buNone/>
            </a:pPr>
            <a:r>
              <a:rPr lang="en-US" sz="1500" b="0" dirty="0">
                <a:solidFill>
                  <a:srgbClr val="FFFFFF"/>
                </a:solidFill>
                <a:latin typeface="Arial"/>
                <a:ea typeface="Arial"/>
                <a:cs typeface="Arial"/>
              </a:rPr>
              <a:t>Current layered recurring attendee-hours</a:t>
            </a:r>
          </a:p>
        </p:txBody>
      </p:sp>
      <p:sp>
        <p:nvSpPr>
          <p:cNvPr id="9" name="Stat card 2"/>
          <p:cNvSpPr/>
          <p:nvPr/>
        </p:nvSpPr>
        <p:spPr>
          <a:xfrm>
            <a:off x="4288536" y="1417320"/>
            <a:ext cx="3611880" cy="278892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strip 2"/>
          <p:cNvSpPr/>
          <p:nvPr/>
        </p:nvSpPr>
        <p:spPr>
          <a:xfrm>
            <a:off x="4288536" y="1417320"/>
            <a:ext cx="3611880" cy="91440"/>
          </a:xfrm>
          <a:prstGeom prst="rect">
            <a:avLst/>
          </a:prstGeom>
          <a:solidFill>
            <a:srgbClr val="4A8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2"/>
          <p:cNvSpPr txBox="1"/>
          <p:nvPr/>
        </p:nvSpPr>
        <p:spPr>
          <a:xfrm>
            <a:off x="4288536" y="1691640"/>
            <a:ext cx="3611880" cy="1051560"/>
          </a:xfrm>
          <a:prstGeom prst="rect">
            <a:avLst/>
          </a:prstGeom>
          <a:noFill/>
        </p:spPr>
        <p:txBody>
          <a:bodyPr wrap="square" lIns="45720" tIns="45720" rIns="45720" bIns="45720" anchor="ctr">
            <a:noAutofit/>
          </a:bodyPr>
          <a:lstStyle/>
          <a:p>
            <a:pPr marL="0" indent="0" algn="ctr">
              <a:buNone/>
            </a:pPr>
            <a:r>
              <a:rPr lang="en-US" sz="6600" b="1" dirty="0">
                <a:solidFill>
                  <a:srgbClr val="FFFFFF"/>
                </a:solidFill>
                <a:latin typeface="Georgia"/>
                <a:ea typeface="Georgia"/>
                <a:cs typeface="Georgia"/>
              </a:rPr>
              <a:t>1,996</a:t>
            </a:r>
          </a:p>
        </p:txBody>
      </p:sp>
      <p:sp>
        <p:nvSpPr>
          <p:cNvPr id="12" name="Stat unit 2"/>
          <p:cNvSpPr txBox="1"/>
          <p:nvPr/>
        </p:nvSpPr>
        <p:spPr>
          <a:xfrm>
            <a:off x="4288536" y="2743200"/>
            <a:ext cx="3611880" cy="365760"/>
          </a:xfrm>
          <a:prstGeom prst="rect">
            <a:avLst/>
          </a:prstGeom>
          <a:noFill/>
        </p:spPr>
        <p:txBody>
          <a:bodyPr wrap="square" lIns="45720" tIns="45720" rIns="45720" bIns="45720" anchor="ctr">
            <a:noAutofit/>
          </a:bodyPr>
          <a:lstStyle/>
          <a:p>
            <a:pPr marL="0" indent="0" algn="ctr">
              <a:buNone/>
            </a:pPr>
            <a:r>
              <a:rPr lang="en-US" sz="1700" b="0" spc="100" dirty="0">
                <a:solidFill>
                  <a:srgbClr val="E6ECF8"/>
                </a:solidFill>
                <a:latin typeface="Arial"/>
                <a:ea typeface="Arial"/>
                <a:cs typeface="Arial"/>
              </a:rPr>
              <a:t>hours</a:t>
            </a:r>
          </a:p>
        </p:txBody>
      </p:sp>
      <p:sp>
        <p:nvSpPr>
          <p:cNvPr id="13" name="Stat label 2"/>
          <p:cNvSpPr txBox="1"/>
          <p:nvPr/>
        </p:nvSpPr>
        <p:spPr>
          <a:xfrm>
            <a:off x="4562856" y="3154680"/>
            <a:ext cx="3063240" cy="777240"/>
          </a:xfrm>
          <a:prstGeom prst="rect">
            <a:avLst/>
          </a:prstGeom>
          <a:noFill/>
        </p:spPr>
        <p:txBody>
          <a:bodyPr wrap="square" lIns="45720" tIns="45720" rIns="45720" bIns="45720" anchor="t">
            <a:noAutofit/>
          </a:bodyPr>
          <a:lstStyle/>
          <a:p>
            <a:pPr marL="0" indent="0" algn="ctr">
              <a:buNone/>
            </a:pPr>
            <a:r>
              <a:rPr lang="en-US" sz="1500" b="0" dirty="0">
                <a:solidFill>
                  <a:srgbClr val="FFFFFF"/>
                </a:solidFill>
                <a:latin typeface="Arial"/>
                <a:ea typeface="Arial"/>
                <a:cs typeface="Arial"/>
              </a:rPr>
              <a:t>Future recurring attendee-hours (one cadence)</a:t>
            </a:r>
          </a:p>
        </p:txBody>
      </p:sp>
      <p:sp>
        <p:nvSpPr>
          <p:cNvPr id="14" name="Stat card 3"/>
          <p:cNvSpPr/>
          <p:nvPr/>
        </p:nvSpPr>
        <p:spPr>
          <a:xfrm>
            <a:off x="8165592" y="1417320"/>
            <a:ext cx="3611880" cy="2788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 strip 3"/>
          <p:cNvSpPr/>
          <p:nvPr/>
        </p:nvSpPr>
        <p:spPr>
          <a:xfrm>
            <a:off x="8165592" y="1417320"/>
            <a:ext cx="3611880" cy="91440"/>
          </a:xfrm>
          <a:prstGeom prst="rect">
            <a:avLst/>
          </a:prstGeom>
          <a:solidFill>
            <a:srgbClr val="5CC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at 3"/>
          <p:cNvSpPr txBox="1"/>
          <p:nvPr/>
        </p:nvSpPr>
        <p:spPr>
          <a:xfrm>
            <a:off x="8165592" y="1691640"/>
            <a:ext cx="3611880" cy="1051560"/>
          </a:xfrm>
          <a:prstGeom prst="rect">
            <a:avLst/>
          </a:prstGeom>
          <a:noFill/>
        </p:spPr>
        <p:txBody>
          <a:bodyPr wrap="square" lIns="45720" tIns="45720" rIns="45720" bIns="45720" anchor="ctr">
            <a:noAutofit/>
          </a:bodyPr>
          <a:lstStyle/>
          <a:p>
            <a:pPr marL="0" indent="0" algn="ctr">
              <a:buNone/>
            </a:pPr>
            <a:r>
              <a:rPr lang="en-US" sz="6600" b="1" dirty="0">
                <a:solidFill>
                  <a:srgbClr val="FFFFFF"/>
                </a:solidFill>
                <a:latin typeface="Georgia"/>
                <a:ea typeface="Georgia"/>
                <a:cs typeface="Georgia"/>
              </a:rPr>
              <a:t>7,484</a:t>
            </a:r>
          </a:p>
        </p:txBody>
      </p:sp>
      <p:sp>
        <p:nvSpPr>
          <p:cNvPr id="17" name="Stat unit 3"/>
          <p:cNvSpPr txBox="1"/>
          <p:nvPr/>
        </p:nvSpPr>
        <p:spPr>
          <a:xfrm>
            <a:off x="8165592" y="2743200"/>
            <a:ext cx="3611880" cy="365760"/>
          </a:xfrm>
          <a:prstGeom prst="rect">
            <a:avLst/>
          </a:prstGeom>
          <a:noFill/>
        </p:spPr>
        <p:txBody>
          <a:bodyPr wrap="square" lIns="45720" tIns="45720" rIns="45720" bIns="45720" anchor="ctr">
            <a:noAutofit/>
          </a:bodyPr>
          <a:lstStyle/>
          <a:p>
            <a:pPr marL="0" indent="0" algn="ctr">
              <a:buNone/>
            </a:pPr>
            <a:r>
              <a:rPr lang="en-US" sz="1700" b="0" spc="100" dirty="0">
                <a:solidFill>
                  <a:srgbClr val="E6ECF8"/>
                </a:solidFill>
                <a:latin typeface="Arial"/>
                <a:ea typeface="Arial"/>
                <a:cs typeface="Arial"/>
              </a:rPr>
              <a:t>hours released</a:t>
            </a:r>
          </a:p>
        </p:txBody>
      </p:sp>
      <p:sp>
        <p:nvSpPr>
          <p:cNvPr id="18" name="Stat label 3"/>
          <p:cNvSpPr txBox="1"/>
          <p:nvPr/>
        </p:nvSpPr>
        <p:spPr>
          <a:xfrm>
            <a:off x="8439912" y="3154680"/>
            <a:ext cx="3063240" cy="777240"/>
          </a:xfrm>
          <a:prstGeom prst="rect">
            <a:avLst/>
          </a:prstGeom>
          <a:noFill/>
        </p:spPr>
        <p:txBody>
          <a:bodyPr wrap="square" lIns="45720" tIns="45720" rIns="45720" bIns="45720" anchor="t">
            <a:noAutofit/>
          </a:bodyPr>
          <a:lstStyle/>
          <a:p>
            <a:pPr marL="0" indent="0" algn="ctr">
              <a:buNone/>
            </a:pPr>
            <a:r>
              <a:rPr lang="en-US" sz="1500" b="0" dirty="0">
                <a:solidFill>
                  <a:srgbClr val="FFFFFF"/>
                </a:solidFill>
                <a:latin typeface="Arial"/>
                <a:ea typeface="Arial"/>
                <a:cs typeface="Arial"/>
              </a:rPr>
              <a:t>78.9% reduction in recurring attendee-hours</a:t>
            </a:r>
          </a:p>
        </p:txBody>
      </p:sp>
      <p:sp>
        <p:nvSpPr>
          <p:cNvPr id="19" name="Value band"/>
          <p:cNvSpPr/>
          <p:nvPr/>
        </p:nvSpPr>
        <p:spPr>
          <a:xfrm>
            <a:off x="411480" y="4526280"/>
            <a:ext cx="11365992" cy="8686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Value accent"/>
          <p:cNvSpPr/>
          <p:nvPr/>
        </p:nvSpPr>
        <p:spPr>
          <a:xfrm>
            <a:off x="411480" y="4526280"/>
            <a:ext cx="73152" cy="86868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ue text"/>
          <p:cNvSpPr txBox="1"/>
          <p:nvPr/>
        </p:nvSpPr>
        <p:spPr>
          <a:xfrm>
            <a:off x="731520" y="4526280"/>
            <a:ext cx="10972800" cy="86868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$748,400  </a:t>
            </a:r>
            <a:r>
              <a:rPr lang="en-US" sz="1600" b="0" dirty="0">
                <a:solidFill>
                  <a:srgbClr val="1A1A1A"/>
                </a:solidFill>
                <a:latin typeface="Arial"/>
                <a:ea typeface="Arial"/>
                <a:cs typeface="Arial"/>
              </a:rPr>
              <a:t>annual capacity value released, valued at $100 per attendee-hour.</a:t>
            </a:r>
          </a:p>
        </p:txBody>
      </p:sp>
      <p:sp>
        <p:nvSpPr>
          <p:cNvPr id="22" name="Footnote"/>
          <p:cNvSpPr txBox="1"/>
          <p:nvPr/>
        </p:nvSpPr>
        <p:spPr>
          <a:xfrm>
            <a:off x="411480" y="5669280"/>
            <a:ext cx="11338560" cy="320040"/>
          </a:xfrm>
          <a:prstGeom prst="rect">
            <a:avLst/>
          </a:prstGeom>
          <a:noFill/>
        </p:spPr>
        <p:txBody>
          <a:bodyPr wrap="square" lIns="45720" tIns="45720" rIns="45720" bIns="45720" anchor="ctr">
            <a:noAutofit/>
          </a:bodyPr>
          <a:lstStyle/>
          <a:p>
            <a:pPr marL="0" indent="0" algn="l">
              <a:buNone/>
            </a:pPr>
            <a:r>
              <a:rPr lang="en-US" sz="1050" b="0" i="1" dirty="0">
                <a:solidFill>
                  <a:srgbClr val="5F6673"/>
                </a:solidFill>
                <a:latin typeface="Arial"/>
                <a:ea typeface="Arial"/>
                <a:cs typeface="Arial"/>
              </a:rPr>
              <a:t>Recurring run-rate only, using the tiered proposal's method (30-minute meetings, $100 per attendee-hour). Event-based checkpoints are excluded in both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Meetings are fragmented across 52 types and 22 projects</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Fact box 1"/>
          <p:cNvSpPr/>
          <p:nvPr/>
        </p:nvSpPr>
        <p:spPr>
          <a:xfrm>
            <a:off x="411480" y="1371600"/>
            <a:ext cx="2670048" cy="1325880"/>
          </a:xfrm>
          <a:prstGeom prst="rect">
            <a:avLst/>
          </a:prstGeom>
          <a:solidFill>
            <a:srgbClr val="EEF2FA"/>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ct 1"/>
          <p:cNvSpPr txBox="1"/>
          <p:nvPr/>
        </p:nvSpPr>
        <p:spPr>
          <a:xfrm>
            <a:off x="411480" y="1463040"/>
            <a:ext cx="2670048" cy="685800"/>
          </a:xfrm>
          <a:prstGeom prst="rect">
            <a:avLst/>
          </a:prstGeom>
          <a:noFill/>
        </p:spPr>
        <p:txBody>
          <a:bodyPr wrap="square" lIns="45720" tIns="45720" rIns="45720" bIns="45720" anchor="ctr">
            <a:noAutofit/>
          </a:bodyPr>
          <a:lstStyle/>
          <a:p>
            <a:pPr marL="0" indent="0" algn="ctr">
              <a:buNone/>
            </a:pPr>
            <a:r>
              <a:rPr lang="en-US" sz="4000" b="1" dirty="0">
                <a:solidFill>
                  <a:srgbClr val="0047BB"/>
                </a:solidFill>
                <a:latin typeface="Georgia"/>
                <a:ea typeface="Georgia"/>
                <a:cs typeface="Georgia"/>
              </a:rPr>
              <a:t>52</a:t>
            </a:r>
          </a:p>
        </p:txBody>
      </p:sp>
      <p:sp>
        <p:nvSpPr>
          <p:cNvPr id="6" name="Fact label 1"/>
          <p:cNvSpPr txBox="1"/>
          <p:nvPr/>
        </p:nvSpPr>
        <p:spPr>
          <a:xfrm>
            <a:off x="411480" y="2148840"/>
            <a:ext cx="2670048" cy="411480"/>
          </a:xfrm>
          <a:prstGeom prst="rect">
            <a:avLst/>
          </a:prstGeom>
          <a:noFill/>
        </p:spPr>
        <p:txBody>
          <a:bodyPr wrap="square" lIns="45720" tIns="45720" rIns="45720" bIns="45720" anchor="ctr">
            <a:noAutofit/>
          </a:bodyPr>
          <a:lstStyle/>
          <a:p>
            <a:pPr marL="0" indent="0" algn="ctr">
              <a:buNone/>
            </a:pPr>
            <a:r>
              <a:rPr lang="en-US" sz="1500" b="0" dirty="0">
                <a:solidFill>
                  <a:srgbClr val="1A1A1A"/>
                </a:solidFill>
                <a:latin typeface="Arial"/>
                <a:ea typeface="Arial"/>
                <a:cs typeface="Arial"/>
              </a:rPr>
              <a:t>distinct meeting types</a:t>
            </a:r>
          </a:p>
        </p:txBody>
      </p:sp>
      <p:sp>
        <p:nvSpPr>
          <p:cNvPr id="7" name="Fact box 2"/>
          <p:cNvSpPr/>
          <p:nvPr/>
        </p:nvSpPr>
        <p:spPr>
          <a:xfrm>
            <a:off x="3310128" y="1371600"/>
            <a:ext cx="2670048" cy="1325880"/>
          </a:xfrm>
          <a:prstGeom prst="rect">
            <a:avLst/>
          </a:prstGeom>
          <a:solidFill>
            <a:srgbClr val="EEF2FA"/>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t 2"/>
          <p:cNvSpPr txBox="1"/>
          <p:nvPr/>
        </p:nvSpPr>
        <p:spPr>
          <a:xfrm>
            <a:off x="3310128" y="1463040"/>
            <a:ext cx="2670048" cy="685800"/>
          </a:xfrm>
          <a:prstGeom prst="rect">
            <a:avLst/>
          </a:prstGeom>
          <a:noFill/>
        </p:spPr>
        <p:txBody>
          <a:bodyPr wrap="square" lIns="45720" tIns="45720" rIns="45720" bIns="45720" anchor="ctr">
            <a:noAutofit/>
          </a:bodyPr>
          <a:lstStyle/>
          <a:p>
            <a:pPr marL="0" indent="0" algn="ctr">
              <a:buNone/>
            </a:pPr>
            <a:r>
              <a:rPr lang="en-US" sz="4000" b="1" dirty="0">
                <a:solidFill>
                  <a:srgbClr val="0047BB"/>
                </a:solidFill>
                <a:latin typeface="Georgia"/>
                <a:ea typeface="Georgia"/>
                <a:cs typeface="Georgia"/>
              </a:rPr>
              <a:t>22</a:t>
            </a:r>
          </a:p>
        </p:txBody>
      </p:sp>
      <p:sp>
        <p:nvSpPr>
          <p:cNvPr id="9" name="Fact label 2"/>
          <p:cNvSpPr txBox="1"/>
          <p:nvPr/>
        </p:nvSpPr>
        <p:spPr>
          <a:xfrm>
            <a:off x="3310128" y="2148840"/>
            <a:ext cx="2670048" cy="411480"/>
          </a:xfrm>
          <a:prstGeom prst="rect">
            <a:avLst/>
          </a:prstGeom>
          <a:noFill/>
        </p:spPr>
        <p:txBody>
          <a:bodyPr wrap="square" lIns="45720" tIns="45720" rIns="45720" bIns="45720" anchor="ctr">
            <a:noAutofit/>
          </a:bodyPr>
          <a:lstStyle/>
          <a:p>
            <a:pPr marL="0" indent="0" algn="ctr">
              <a:buNone/>
            </a:pPr>
            <a:r>
              <a:rPr lang="en-US" sz="1500" b="0" dirty="0">
                <a:solidFill>
                  <a:srgbClr val="1A1A1A"/>
                </a:solidFill>
                <a:latin typeface="Arial"/>
                <a:ea typeface="Arial"/>
                <a:cs typeface="Arial"/>
              </a:rPr>
              <a:t>projects</a:t>
            </a:r>
          </a:p>
        </p:txBody>
      </p:sp>
      <p:sp>
        <p:nvSpPr>
          <p:cNvPr id="10" name="Fact box 3"/>
          <p:cNvSpPr/>
          <p:nvPr/>
        </p:nvSpPr>
        <p:spPr>
          <a:xfrm>
            <a:off x="6208776" y="1371600"/>
            <a:ext cx="2670048" cy="1325880"/>
          </a:xfrm>
          <a:prstGeom prst="rect">
            <a:avLst/>
          </a:prstGeom>
          <a:solidFill>
            <a:srgbClr val="EEF2FA"/>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act 3"/>
          <p:cNvSpPr txBox="1"/>
          <p:nvPr/>
        </p:nvSpPr>
        <p:spPr>
          <a:xfrm>
            <a:off x="6208776" y="1463040"/>
            <a:ext cx="2670048" cy="685800"/>
          </a:xfrm>
          <a:prstGeom prst="rect">
            <a:avLst/>
          </a:prstGeom>
          <a:noFill/>
        </p:spPr>
        <p:txBody>
          <a:bodyPr wrap="square" lIns="45720" tIns="45720" rIns="45720" bIns="45720" anchor="ctr">
            <a:noAutofit/>
          </a:bodyPr>
          <a:lstStyle/>
          <a:p>
            <a:pPr marL="0" indent="0" algn="ctr">
              <a:buNone/>
            </a:pPr>
            <a:r>
              <a:rPr lang="en-US" sz="4000" b="1" dirty="0">
                <a:solidFill>
                  <a:srgbClr val="0047BB"/>
                </a:solidFill>
                <a:latin typeface="Georgia"/>
                <a:ea typeface="Georgia"/>
                <a:cs typeface="Georgia"/>
              </a:rPr>
              <a:t>31</a:t>
            </a:r>
          </a:p>
        </p:txBody>
      </p:sp>
      <p:sp>
        <p:nvSpPr>
          <p:cNvPr id="12" name="Fact label 3"/>
          <p:cNvSpPr txBox="1"/>
          <p:nvPr/>
        </p:nvSpPr>
        <p:spPr>
          <a:xfrm>
            <a:off x="6208776" y="2148840"/>
            <a:ext cx="2670048" cy="411480"/>
          </a:xfrm>
          <a:prstGeom prst="rect">
            <a:avLst/>
          </a:prstGeom>
          <a:noFill/>
        </p:spPr>
        <p:txBody>
          <a:bodyPr wrap="square" lIns="45720" tIns="45720" rIns="45720" bIns="45720" anchor="ctr">
            <a:noAutofit/>
          </a:bodyPr>
          <a:lstStyle/>
          <a:p>
            <a:pPr marL="0" indent="0" algn="ctr">
              <a:buNone/>
            </a:pPr>
            <a:r>
              <a:rPr lang="en-US" sz="1500" b="0" dirty="0">
                <a:solidFill>
                  <a:srgbClr val="1A1A1A"/>
                </a:solidFill>
                <a:latin typeface="Arial"/>
                <a:ea typeface="Arial"/>
                <a:cs typeface="Arial"/>
              </a:rPr>
              <a:t>recurring meeting types</a:t>
            </a:r>
          </a:p>
        </p:txBody>
      </p:sp>
      <p:sp>
        <p:nvSpPr>
          <p:cNvPr id="13" name="Fact box 4"/>
          <p:cNvSpPr/>
          <p:nvPr/>
        </p:nvSpPr>
        <p:spPr>
          <a:xfrm>
            <a:off x="9107424" y="1371600"/>
            <a:ext cx="2670048" cy="1325880"/>
          </a:xfrm>
          <a:prstGeom prst="rect">
            <a:avLst/>
          </a:prstGeom>
          <a:solidFill>
            <a:srgbClr val="EEF2FA"/>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act 4"/>
          <p:cNvSpPr txBox="1"/>
          <p:nvPr/>
        </p:nvSpPr>
        <p:spPr>
          <a:xfrm>
            <a:off x="9107424" y="1463040"/>
            <a:ext cx="2670048" cy="685800"/>
          </a:xfrm>
          <a:prstGeom prst="rect">
            <a:avLst/>
          </a:prstGeom>
          <a:noFill/>
        </p:spPr>
        <p:txBody>
          <a:bodyPr wrap="square" lIns="45720" tIns="45720" rIns="45720" bIns="45720" anchor="ctr">
            <a:noAutofit/>
          </a:bodyPr>
          <a:lstStyle/>
          <a:p>
            <a:pPr marL="0" indent="0" algn="ctr">
              <a:buNone/>
            </a:pPr>
            <a:r>
              <a:rPr lang="en-US" sz="4000" b="1" dirty="0">
                <a:solidFill>
                  <a:srgbClr val="0047BB"/>
                </a:solidFill>
                <a:latin typeface="Georgia"/>
                <a:ea typeface="Georgia"/>
                <a:cs typeface="Georgia"/>
              </a:rPr>
              <a:t>1.41</a:t>
            </a:r>
          </a:p>
        </p:txBody>
      </p:sp>
      <p:sp>
        <p:nvSpPr>
          <p:cNvPr id="15" name="Fact label 4"/>
          <p:cNvSpPr txBox="1"/>
          <p:nvPr/>
        </p:nvSpPr>
        <p:spPr>
          <a:xfrm>
            <a:off x="9107424" y="2148840"/>
            <a:ext cx="2670048" cy="411480"/>
          </a:xfrm>
          <a:prstGeom prst="rect">
            <a:avLst/>
          </a:prstGeom>
          <a:noFill/>
        </p:spPr>
        <p:txBody>
          <a:bodyPr wrap="square" lIns="45720" tIns="45720" rIns="45720" bIns="45720" anchor="ctr">
            <a:noAutofit/>
          </a:bodyPr>
          <a:lstStyle/>
          <a:p>
            <a:pPr marL="0" indent="0" algn="ctr">
              <a:buNone/>
            </a:pPr>
            <a:r>
              <a:rPr lang="en-US" sz="1500" b="0" dirty="0">
                <a:solidFill>
                  <a:srgbClr val="1A1A1A"/>
                </a:solidFill>
                <a:latin typeface="Arial"/>
                <a:ea typeface="Arial"/>
                <a:cs typeface="Arial"/>
              </a:rPr>
              <a:t>recurring types per project (avg)</a:t>
            </a:r>
          </a:p>
        </p:txBody>
      </p:sp>
      <p:sp>
        <p:nvSpPr>
          <p:cNvPr id="16" name="Bar heading"/>
          <p:cNvSpPr txBox="1"/>
          <p:nvPr/>
        </p:nvSpPr>
        <p:spPr>
          <a:xfrm>
            <a:off x="411480" y="2971800"/>
            <a:ext cx="10972800" cy="365760"/>
          </a:xfrm>
          <a:prstGeom prst="rect">
            <a:avLst/>
          </a:prstGeom>
          <a:noFill/>
        </p:spPr>
        <p:txBody>
          <a:bodyPr wrap="square" lIns="45720" tIns="45720" rIns="45720" bIns="45720" anchor="ctr">
            <a:noAutofit/>
          </a:bodyPr>
          <a:lstStyle/>
          <a:p>
            <a:pPr marL="0" indent="0" algn="l">
              <a:buNone/>
            </a:pPr>
            <a:r>
              <a:rPr lang="en-US" sz="1700" b="1" dirty="0">
                <a:solidFill>
                  <a:srgbClr val="141B4D"/>
                </a:solidFill>
                <a:latin typeface="Arial"/>
                <a:ea typeface="Arial"/>
                <a:cs typeface="Arial"/>
              </a:rPr>
              <a:t>Where the recurring hours sit today</a:t>
            </a:r>
          </a:p>
        </p:txBody>
      </p:sp>
      <p:sp>
        <p:nvSpPr>
          <p:cNvPr id="17" name="Bar sub"/>
          <p:cNvSpPr txBox="1"/>
          <p:nvPr/>
        </p:nvSpPr>
        <p:spPr>
          <a:xfrm>
            <a:off x="411480" y="3310128"/>
            <a:ext cx="10972800" cy="320040"/>
          </a:xfrm>
          <a:prstGeom prst="rect">
            <a:avLst/>
          </a:prstGeom>
          <a:noFill/>
        </p:spPr>
        <p:txBody>
          <a:bodyPr wrap="square" lIns="45720" tIns="45720" rIns="45720" bIns="45720" anchor="ctr">
            <a:noAutofit/>
          </a:bodyPr>
          <a:lstStyle/>
          <a:p>
            <a:pPr marL="0" indent="0" algn="l">
              <a:buNone/>
            </a:pPr>
            <a:r>
              <a:rPr lang="en-US" sz="1300" b="0" dirty="0">
                <a:solidFill>
                  <a:srgbClr val="5F6673"/>
                </a:solidFill>
                <a:latin typeface="Arial"/>
                <a:ea typeface="Arial"/>
                <a:cs typeface="Arial"/>
              </a:rPr>
              <a:t>Share of 9,246 current project recurring attendee-hours</a:t>
            </a:r>
          </a:p>
        </p:txBody>
      </p:sp>
      <p:sp>
        <p:nvSpPr>
          <p:cNvPr id="18" name="Bar medium large"/>
          <p:cNvSpPr/>
          <p:nvPr/>
        </p:nvSpPr>
        <p:spPr>
          <a:xfrm>
            <a:off x="411480" y="3749039"/>
            <a:ext cx="10502176" cy="86868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r small"/>
          <p:cNvSpPr/>
          <p:nvPr/>
        </p:nvSpPr>
        <p:spPr>
          <a:xfrm>
            <a:off x="10913656" y="3749039"/>
            <a:ext cx="863815" cy="868680"/>
          </a:xfrm>
          <a:prstGeom prst="rect">
            <a:avLst/>
          </a:prstGeom>
          <a:solidFill>
            <a:srgbClr val="9DB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r label big"/>
          <p:cNvSpPr txBox="1"/>
          <p:nvPr/>
        </p:nvSpPr>
        <p:spPr>
          <a:xfrm>
            <a:off x="594360" y="3749039"/>
            <a:ext cx="5486400" cy="868680"/>
          </a:xfrm>
          <a:prstGeom prst="rect">
            <a:avLst/>
          </a:prstGeom>
          <a:noFill/>
        </p:spPr>
        <p:txBody>
          <a:bodyPr wrap="square" lIns="45720" tIns="45720" rIns="45720" bIns="45720" anchor="ctr">
            <a:noAutofit/>
          </a:bodyPr>
          <a:lstStyle/>
          <a:p>
            <a:pPr marL="0" indent="0" algn="l">
              <a:buNone/>
            </a:pPr>
            <a:r>
              <a:rPr lang="en-US" sz="1600" b="1" dirty="0">
                <a:solidFill>
                  <a:srgbClr val="FFFFFF"/>
                </a:solidFill>
                <a:latin typeface="Arial"/>
                <a:ea typeface="Arial"/>
                <a:cs typeface="Arial"/>
              </a:rPr>
              <a:t>Medium / Large</a:t>
            </a:r>
          </a:p>
          <a:p>
            <a:pPr marL="0" indent="0" algn="l">
              <a:buNone/>
            </a:pPr>
            <a:r>
              <a:rPr lang="en-US" sz="1400" b="0" dirty="0">
                <a:solidFill>
                  <a:srgbClr val="FFFFFF"/>
                </a:solidFill>
                <a:latin typeface="Arial"/>
                <a:ea typeface="Arial"/>
                <a:cs typeface="Arial"/>
              </a:rPr>
              <a:t>8,544 hours  (92%)</a:t>
            </a:r>
          </a:p>
        </p:txBody>
      </p:sp>
      <p:sp>
        <p:nvSpPr>
          <p:cNvPr id="21" name="Bar label small"/>
          <p:cNvSpPr txBox="1"/>
          <p:nvPr/>
        </p:nvSpPr>
        <p:spPr>
          <a:xfrm>
            <a:off x="9052560" y="4663440"/>
            <a:ext cx="2724912" cy="548640"/>
          </a:xfrm>
          <a:prstGeom prst="rect">
            <a:avLst/>
          </a:prstGeom>
          <a:noFill/>
        </p:spPr>
        <p:txBody>
          <a:bodyPr wrap="square" lIns="45720" tIns="45720" rIns="45720" bIns="45720" anchor="t">
            <a:noAutofit/>
          </a:bodyPr>
          <a:lstStyle/>
          <a:p>
            <a:pPr marL="0" indent="0" algn="r">
              <a:buNone/>
            </a:pPr>
            <a:r>
              <a:rPr lang="en-US" sz="1300" b="1" dirty="0">
                <a:solidFill>
                  <a:srgbClr val="141B4D"/>
                </a:solidFill>
                <a:latin typeface="Arial"/>
                <a:ea typeface="Arial"/>
                <a:cs typeface="Arial"/>
              </a:rPr>
              <a:t>Small / Straight to the Lines</a:t>
            </a:r>
          </a:p>
          <a:p>
            <a:pPr marL="0" indent="0" algn="r">
              <a:buNone/>
            </a:pPr>
            <a:r>
              <a:rPr lang="en-US" sz="1300" b="0" dirty="0">
                <a:solidFill>
                  <a:srgbClr val="1A1A1A"/>
                </a:solidFill>
                <a:latin typeface="Arial"/>
                <a:ea typeface="Arial"/>
                <a:cs typeface="Arial"/>
              </a:rPr>
              <a:t>702 hours  (8%)</a:t>
            </a:r>
          </a:p>
        </p:txBody>
      </p:sp>
      <p:sp>
        <p:nvSpPr>
          <p:cNvPr id="22" name="Key message bar"/>
          <p:cNvSpPr/>
          <p:nvPr/>
        </p:nvSpPr>
        <p:spPr>
          <a:xfrm>
            <a:off x="411480" y="598932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Key message accent"/>
          <p:cNvSpPr/>
          <p:nvPr/>
        </p:nvSpPr>
        <p:spPr>
          <a:xfrm>
            <a:off x="411480" y="598932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Key message"/>
          <p:cNvSpPr txBox="1"/>
          <p:nvPr/>
        </p:nvSpPr>
        <p:spPr>
          <a:xfrm>
            <a:off x="640080" y="598932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The problem is duplicated coordination, not project size.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Sizing by cost alone adds rules without adding control</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Tier heading"/>
          <p:cNvSpPr txBox="1"/>
          <p:nvPr/>
        </p:nvSpPr>
        <p:spPr>
          <a:xfrm>
            <a:off x="411480" y="1234440"/>
            <a:ext cx="7406640" cy="365760"/>
          </a:xfrm>
          <a:prstGeom prst="rect">
            <a:avLst/>
          </a:prstGeom>
          <a:noFill/>
        </p:spPr>
        <p:txBody>
          <a:bodyPr wrap="square" lIns="45720" tIns="45720" rIns="45720" bIns="45720" anchor="ctr">
            <a:noAutofit/>
          </a:bodyPr>
          <a:lstStyle/>
          <a:p>
            <a:pPr marL="0" indent="0" algn="l">
              <a:buNone/>
            </a:pPr>
            <a:r>
              <a:rPr lang="en-US" sz="1600" b="1" dirty="0">
                <a:solidFill>
                  <a:srgbClr val="141B4D"/>
                </a:solidFill>
                <a:latin typeface="Arial"/>
                <a:ea typeface="Arial"/>
                <a:cs typeface="Arial"/>
              </a:rPr>
              <a:t>The tiered proposal: three rule sets for one team</a:t>
            </a:r>
          </a:p>
        </p:txBody>
      </p:sp>
      <p:sp>
        <p:nvSpPr>
          <p:cNvPr id="5" name="Tier header 1"/>
          <p:cNvSpPr/>
          <p:nvPr/>
        </p:nvSpPr>
        <p:spPr>
          <a:xfrm>
            <a:off x="411480" y="1691640"/>
            <a:ext cx="2331720" cy="68580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er name 1"/>
          <p:cNvSpPr txBox="1"/>
          <p:nvPr/>
        </p:nvSpPr>
        <p:spPr>
          <a:xfrm>
            <a:off x="411480" y="1691640"/>
            <a:ext cx="2331720" cy="685800"/>
          </a:xfrm>
          <a:prstGeom prst="rect">
            <a:avLst/>
          </a:prstGeom>
          <a:noFill/>
        </p:spPr>
        <p:txBody>
          <a:bodyPr wrap="square" lIns="45720" tIns="45720" rIns="45720" bIns="45720" anchor="ctr">
            <a:noAutofit/>
          </a:bodyPr>
          <a:lstStyle/>
          <a:p>
            <a:pPr marL="0" indent="0" algn="ctr">
              <a:buNone/>
            </a:pPr>
            <a:r>
              <a:rPr lang="en-US" sz="1500" b="1" dirty="0">
                <a:solidFill>
                  <a:srgbClr val="FFFFFF"/>
                </a:solidFill>
                <a:latin typeface="Georgia"/>
                <a:ea typeface="Georgia"/>
                <a:cs typeface="Georgia"/>
              </a:rPr>
              <a:t>Medium / Large</a:t>
            </a:r>
          </a:p>
        </p:txBody>
      </p:sp>
      <p:sp>
        <p:nvSpPr>
          <p:cNvPr id="7" name="Tier card 1"/>
          <p:cNvSpPr/>
          <p:nvPr/>
        </p:nvSpPr>
        <p:spPr>
          <a:xfrm>
            <a:off x="411480" y="2377440"/>
            <a:ext cx="2331720" cy="214884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er body 1"/>
          <p:cNvSpPr txBox="1"/>
          <p:nvPr/>
        </p:nvSpPr>
        <p:spPr>
          <a:xfrm>
            <a:off x="548640" y="2514600"/>
            <a:ext cx="2057400" cy="1920240"/>
          </a:xfrm>
          <a:prstGeom prst="rect">
            <a:avLst/>
          </a:prstGeom>
          <a:noFill/>
        </p:spPr>
        <p:txBody>
          <a:bodyPr wrap="square" lIns="45720" tIns="45720" rIns="45720" bIns="45720" anchor="t">
            <a:noAutofit/>
          </a:bodyPr>
          <a:lstStyle/>
          <a:p>
            <a:pPr marL="0" indent="0" algn="l">
              <a:buNone/>
            </a:pPr>
            <a:r>
              <a:rPr lang="en-US" sz="1200" b="1" dirty="0">
                <a:solidFill>
                  <a:srgbClr val="141B4D"/>
                </a:solidFill>
                <a:latin typeface="Arial"/>
                <a:ea typeface="Arial"/>
                <a:cs typeface="Arial"/>
              </a:rPr>
              <a:t>Core forum</a:t>
            </a:r>
          </a:p>
          <a:p>
            <a:pPr marL="0" indent="0" algn="l">
              <a:spcAft>
                <a:spcPts val="1000"/>
              </a:spcAft>
              <a:buNone/>
            </a:pPr>
            <a:r>
              <a:rPr lang="en-US" sz="1400" b="0" dirty="0">
                <a:solidFill>
                  <a:srgbClr val="1A1A1A"/>
                </a:solidFill>
                <a:latin typeface="Arial"/>
                <a:ea typeface="Arial"/>
                <a:cs typeface="Arial"/>
              </a:rPr>
              <a:t>Weekly, 6 attendees</a:t>
            </a:r>
          </a:p>
          <a:p>
            <a:pPr marL="0" indent="0" algn="l">
              <a:buNone/>
            </a:pPr>
            <a:r>
              <a:rPr lang="en-US" sz="1200" b="1" dirty="0">
                <a:solidFill>
                  <a:srgbClr val="141B4D"/>
                </a:solidFill>
                <a:latin typeface="Arial"/>
                <a:ea typeface="Arial"/>
                <a:cs typeface="Arial"/>
              </a:rPr>
              <a:t>Meeting types</a:t>
            </a:r>
          </a:p>
          <a:p>
            <a:pPr marL="0" indent="0" algn="l">
              <a:buNone/>
            </a:pPr>
            <a:r>
              <a:rPr lang="en-US" sz="1400" b="0" dirty="0">
                <a:solidFill>
                  <a:srgbClr val="1A1A1A"/>
                </a:solidFill>
                <a:latin typeface="Arial"/>
                <a:ea typeface="Arial"/>
                <a:cs typeface="Arial"/>
              </a:rPr>
              <a:t>9 lifecycle + 8 event-based types</a:t>
            </a:r>
          </a:p>
        </p:txBody>
      </p:sp>
      <p:sp>
        <p:nvSpPr>
          <p:cNvPr id="9" name="Tier header 2"/>
          <p:cNvSpPr/>
          <p:nvPr/>
        </p:nvSpPr>
        <p:spPr>
          <a:xfrm>
            <a:off x="2926080" y="1691640"/>
            <a:ext cx="2331720" cy="68580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er name 2"/>
          <p:cNvSpPr txBox="1"/>
          <p:nvPr/>
        </p:nvSpPr>
        <p:spPr>
          <a:xfrm>
            <a:off x="2926080" y="1691640"/>
            <a:ext cx="2331720" cy="685800"/>
          </a:xfrm>
          <a:prstGeom prst="rect">
            <a:avLst/>
          </a:prstGeom>
          <a:noFill/>
        </p:spPr>
        <p:txBody>
          <a:bodyPr wrap="square" lIns="45720" tIns="45720" rIns="45720" bIns="45720" anchor="ctr">
            <a:noAutofit/>
          </a:bodyPr>
          <a:lstStyle/>
          <a:p>
            <a:pPr marL="0" indent="0" algn="ctr">
              <a:buNone/>
            </a:pPr>
            <a:r>
              <a:rPr lang="en-US" sz="1500" b="1" dirty="0">
                <a:solidFill>
                  <a:srgbClr val="FFFFFF"/>
                </a:solidFill>
                <a:latin typeface="Georgia"/>
                <a:ea typeface="Georgia"/>
                <a:cs typeface="Georgia"/>
              </a:rPr>
              <a:t>Small</a:t>
            </a:r>
          </a:p>
        </p:txBody>
      </p:sp>
      <p:sp>
        <p:nvSpPr>
          <p:cNvPr id="11" name="Tier card 2"/>
          <p:cNvSpPr/>
          <p:nvPr/>
        </p:nvSpPr>
        <p:spPr>
          <a:xfrm>
            <a:off x="2926080" y="2377440"/>
            <a:ext cx="2331720" cy="214884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ier body 2"/>
          <p:cNvSpPr txBox="1"/>
          <p:nvPr/>
        </p:nvSpPr>
        <p:spPr>
          <a:xfrm>
            <a:off x="3063240" y="2514600"/>
            <a:ext cx="2057400" cy="1920240"/>
          </a:xfrm>
          <a:prstGeom prst="rect">
            <a:avLst/>
          </a:prstGeom>
          <a:noFill/>
        </p:spPr>
        <p:txBody>
          <a:bodyPr wrap="square" lIns="45720" tIns="45720" rIns="45720" bIns="45720" anchor="t">
            <a:noAutofit/>
          </a:bodyPr>
          <a:lstStyle/>
          <a:p>
            <a:pPr marL="0" indent="0" algn="l">
              <a:buNone/>
            </a:pPr>
            <a:r>
              <a:rPr lang="en-US" sz="1200" b="1" dirty="0">
                <a:solidFill>
                  <a:srgbClr val="0047BB"/>
                </a:solidFill>
                <a:latin typeface="Arial"/>
                <a:ea typeface="Arial"/>
                <a:cs typeface="Arial"/>
              </a:rPr>
              <a:t>Core forum</a:t>
            </a:r>
          </a:p>
          <a:p>
            <a:pPr marL="0" indent="0" algn="l">
              <a:spcAft>
                <a:spcPts val="1000"/>
              </a:spcAft>
              <a:buNone/>
            </a:pPr>
            <a:r>
              <a:rPr lang="en-US" sz="1400" b="0" dirty="0">
                <a:solidFill>
                  <a:srgbClr val="1A1A1A"/>
                </a:solidFill>
                <a:latin typeface="Arial"/>
                <a:ea typeface="Arial"/>
                <a:cs typeface="Arial"/>
              </a:rPr>
              <a:t>Every other week, 6 attendees</a:t>
            </a:r>
          </a:p>
          <a:p>
            <a:pPr marL="0" indent="0" algn="l">
              <a:buNone/>
            </a:pPr>
            <a:r>
              <a:rPr lang="en-US" sz="1200" b="1" dirty="0">
                <a:solidFill>
                  <a:srgbClr val="0047BB"/>
                </a:solidFill>
                <a:latin typeface="Arial"/>
                <a:ea typeface="Arial"/>
                <a:cs typeface="Arial"/>
              </a:rPr>
              <a:t>Meeting types</a:t>
            </a:r>
          </a:p>
          <a:p>
            <a:pPr marL="0" indent="0" algn="l">
              <a:buNone/>
            </a:pPr>
            <a:r>
              <a:rPr lang="en-US" sz="1400" b="0" dirty="0">
                <a:solidFill>
                  <a:srgbClr val="1A1A1A"/>
                </a:solidFill>
                <a:latin typeface="Arial"/>
                <a:ea typeface="Arial"/>
                <a:cs typeface="Arial"/>
              </a:rPr>
              <a:t>3 standard + 2 kickoff types</a:t>
            </a:r>
          </a:p>
        </p:txBody>
      </p:sp>
      <p:sp>
        <p:nvSpPr>
          <p:cNvPr id="13" name="Tier header 3"/>
          <p:cNvSpPr/>
          <p:nvPr/>
        </p:nvSpPr>
        <p:spPr>
          <a:xfrm>
            <a:off x="5440680" y="1691640"/>
            <a:ext cx="2331720" cy="685800"/>
          </a:xfrm>
          <a:prstGeom prst="rect">
            <a:avLst/>
          </a:prstGeom>
          <a:solidFill>
            <a:srgbClr val="005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ier name 3"/>
          <p:cNvSpPr txBox="1"/>
          <p:nvPr/>
        </p:nvSpPr>
        <p:spPr>
          <a:xfrm>
            <a:off x="5440680" y="1691640"/>
            <a:ext cx="2331720" cy="685800"/>
          </a:xfrm>
          <a:prstGeom prst="rect">
            <a:avLst/>
          </a:prstGeom>
          <a:noFill/>
        </p:spPr>
        <p:txBody>
          <a:bodyPr wrap="square" lIns="45720" tIns="45720" rIns="45720" bIns="45720" anchor="ctr">
            <a:noAutofit/>
          </a:bodyPr>
          <a:lstStyle/>
          <a:p>
            <a:pPr marL="0" indent="0" algn="ctr">
              <a:buNone/>
            </a:pPr>
            <a:r>
              <a:rPr lang="en-US" sz="1500" b="1" dirty="0">
                <a:solidFill>
                  <a:srgbClr val="FFFFFF"/>
                </a:solidFill>
                <a:latin typeface="Georgia"/>
                <a:ea typeface="Georgia"/>
                <a:cs typeface="Georgia"/>
              </a:rPr>
              <a:t>Straight to the Lines</a:t>
            </a:r>
          </a:p>
        </p:txBody>
      </p:sp>
      <p:sp>
        <p:nvSpPr>
          <p:cNvPr id="15" name="Tier card 3"/>
          <p:cNvSpPr/>
          <p:nvPr/>
        </p:nvSpPr>
        <p:spPr>
          <a:xfrm>
            <a:off x="5440680" y="2377440"/>
            <a:ext cx="2331720" cy="214884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ier body 3"/>
          <p:cNvSpPr txBox="1"/>
          <p:nvPr/>
        </p:nvSpPr>
        <p:spPr>
          <a:xfrm>
            <a:off x="5577840" y="2514600"/>
            <a:ext cx="2057400" cy="1920240"/>
          </a:xfrm>
          <a:prstGeom prst="rect">
            <a:avLst/>
          </a:prstGeom>
          <a:noFill/>
        </p:spPr>
        <p:txBody>
          <a:bodyPr wrap="square" lIns="45720" tIns="45720" rIns="45720" bIns="45720" anchor="t">
            <a:noAutofit/>
          </a:bodyPr>
          <a:lstStyle/>
          <a:p>
            <a:pPr marL="0" indent="0" algn="l">
              <a:buNone/>
            </a:pPr>
            <a:r>
              <a:rPr lang="en-US" sz="1200" b="1" dirty="0">
                <a:solidFill>
                  <a:srgbClr val="00566E"/>
                </a:solidFill>
                <a:latin typeface="Arial"/>
                <a:ea typeface="Arial"/>
                <a:cs typeface="Arial"/>
              </a:rPr>
              <a:t>Core forum</a:t>
            </a:r>
          </a:p>
          <a:p>
            <a:pPr marL="0" indent="0" algn="l">
              <a:spcAft>
                <a:spcPts val="1000"/>
              </a:spcAft>
              <a:buNone/>
            </a:pPr>
            <a:r>
              <a:rPr lang="en-US" sz="1400" b="0" dirty="0">
                <a:solidFill>
                  <a:srgbClr val="1A1A1A"/>
                </a:solidFill>
                <a:latin typeface="Arial"/>
                <a:ea typeface="Arial"/>
                <a:cs typeface="Arial"/>
              </a:rPr>
              <a:t>Monthly, 4 attendees</a:t>
            </a:r>
          </a:p>
          <a:p>
            <a:pPr marL="0" indent="0" algn="l">
              <a:buNone/>
            </a:pPr>
            <a:r>
              <a:rPr lang="en-US" sz="1200" b="1" dirty="0">
                <a:solidFill>
                  <a:srgbClr val="00566E"/>
                </a:solidFill>
                <a:latin typeface="Arial"/>
                <a:ea typeface="Arial"/>
                <a:cs typeface="Arial"/>
              </a:rPr>
              <a:t>Meeting types</a:t>
            </a:r>
          </a:p>
          <a:p>
            <a:pPr marL="0" indent="0" algn="l">
              <a:buNone/>
            </a:pPr>
            <a:r>
              <a:rPr lang="en-US" sz="1400" b="0" dirty="0">
                <a:solidFill>
                  <a:srgbClr val="1A1A1A"/>
                </a:solidFill>
                <a:latin typeface="Arial"/>
                <a:ea typeface="Arial"/>
                <a:cs typeface="Arial"/>
              </a:rPr>
              <a:t>1 Finance &amp; Risk Review</a:t>
            </a:r>
          </a:p>
        </p:txBody>
      </p:sp>
      <p:sp>
        <p:nvSpPr>
          <p:cNvPr id="17" name="Tier caveat"/>
          <p:cNvSpPr txBox="1"/>
          <p:nvPr/>
        </p:nvSpPr>
        <p:spPr>
          <a:xfrm>
            <a:off x="411480" y="4617720"/>
            <a:ext cx="7406640" cy="548640"/>
          </a:xfrm>
          <a:prstGeom prst="rect">
            <a:avLst/>
          </a:prstGeom>
          <a:noFill/>
        </p:spPr>
        <p:txBody>
          <a:bodyPr wrap="square" lIns="45720" tIns="45720" rIns="45720" bIns="45720" anchor="t">
            <a:noAutofit/>
          </a:bodyPr>
          <a:lstStyle/>
          <a:p>
            <a:pPr marL="0" indent="0" algn="l">
              <a:buNone/>
            </a:pPr>
            <a:r>
              <a:rPr lang="en-US" sz="1250" b="0" i="1" dirty="0">
                <a:solidFill>
                  <a:srgbClr val="5F6673"/>
                </a:solidFill>
                <a:latin typeface="Arial"/>
                <a:ea typeface="Arial"/>
                <a:cs typeface="Arial"/>
              </a:rPr>
              <a:t>Each project must first be classified, and re-classified when its budget changes. The proposal's own Phase 3 still has to classify two projects and separate Medium from Large.</a:t>
            </a:r>
          </a:p>
        </p:txBody>
      </p:sp>
      <p:sp>
        <p:nvSpPr>
          <p:cNvPr id="18" name="Why panel"/>
          <p:cNvSpPr/>
          <p:nvPr/>
        </p:nvSpPr>
        <p:spPr>
          <a:xfrm>
            <a:off x="8092440" y="1234440"/>
            <a:ext cx="3685032" cy="393192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Why text"/>
          <p:cNvSpPr txBox="1"/>
          <p:nvPr/>
        </p:nvSpPr>
        <p:spPr>
          <a:xfrm>
            <a:off x="8275320" y="1371600"/>
            <a:ext cx="3383280" cy="3749039"/>
          </a:xfrm>
          <a:prstGeom prst="rect">
            <a:avLst/>
          </a:prstGeom>
          <a:noFill/>
        </p:spPr>
        <p:txBody>
          <a:bodyPr wrap="square" lIns="45720" tIns="45720" rIns="45720" bIns="45720" anchor="t">
            <a:noAutofit/>
          </a:bodyPr>
          <a:lstStyle/>
          <a:p>
            <a:pPr marL="0" indent="0" algn="l">
              <a:spcAft>
                <a:spcPts val="800"/>
              </a:spcAft>
              <a:buNone/>
            </a:pPr>
            <a:r>
              <a:rPr lang="en-US" sz="1600" b="1" dirty="0">
                <a:solidFill>
                  <a:srgbClr val="141B4D"/>
                </a:solidFill>
                <a:latin typeface="Arial"/>
                <a:ea typeface="Arial"/>
                <a:cs typeface="Arial"/>
              </a:rPr>
              <a:t>Why one cadence is simpler</a:t>
            </a:r>
          </a:p>
          <a:p>
            <a:pPr marL="228600" indent="-228600" algn="l">
              <a:spcAft>
                <a:spcPts val="800"/>
              </a:spcAft>
              <a:buFont typeface="Arial"/>
              <a:buChar char="•"/>
            </a:pPr>
            <a:r>
              <a:rPr lang="en-US" sz="1350" b="0" dirty="0">
                <a:solidFill>
                  <a:srgbClr val="1A1A1A"/>
                </a:solidFill>
                <a:latin typeface="Arial"/>
                <a:ea typeface="Arial"/>
                <a:cs typeface="Arial"/>
              </a:rPr>
              <a:t>Cost does not predict coordination need. Risk, dependencies and the number of teams do.</a:t>
            </a:r>
          </a:p>
          <a:p>
            <a:pPr marL="228600" indent="-228600" algn="l">
              <a:spcAft>
                <a:spcPts val="800"/>
              </a:spcAft>
              <a:buFont typeface="Arial"/>
              <a:buChar char="•"/>
            </a:pPr>
            <a:r>
              <a:rPr lang="en-US" sz="1350" b="0" dirty="0">
                <a:solidFill>
                  <a:srgbClr val="1A1A1A"/>
                </a:solidFill>
                <a:latin typeface="Arial"/>
                <a:ea typeface="Arial"/>
                <a:cs typeface="Arial"/>
              </a:rPr>
              <a:t>The largest projects are about $5M, so "large" says little about complexity.</a:t>
            </a:r>
          </a:p>
          <a:p>
            <a:pPr marL="228600" indent="-228600" algn="l">
              <a:spcAft>
                <a:spcPts val="800"/>
              </a:spcAft>
              <a:buFont typeface="Arial"/>
              <a:buChar char="•"/>
            </a:pPr>
            <a:r>
              <a:rPr lang="en-US" sz="1350" b="0" dirty="0">
                <a:solidFill>
                  <a:srgbClr val="1A1A1A"/>
                </a:solidFill>
                <a:latin typeface="Arial"/>
                <a:ea typeface="Arial"/>
                <a:cs typeface="Arial"/>
              </a:rPr>
              <a:t>Small and Straight to the Lines work holds only 8% of recurring hours.</a:t>
            </a:r>
          </a:p>
          <a:p>
            <a:pPr marL="228600" indent="-228600" algn="l">
              <a:buFont typeface="Arial"/>
              <a:buChar char="•"/>
            </a:pPr>
            <a:r>
              <a:rPr lang="en-US" sz="1350" b="0" dirty="0">
                <a:solidFill>
                  <a:srgbClr val="1A1A1A"/>
                </a:solidFill>
                <a:latin typeface="Arial"/>
                <a:ea typeface="Arial"/>
                <a:cs typeface="Arial"/>
              </a:rPr>
              <a:t>One rule is easier to teach, follow and audit than three.</a:t>
            </a:r>
          </a:p>
        </p:txBody>
      </p:sp>
      <p:sp>
        <p:nvSpPr>
          <p:cNvPr id="20" name="Key message bar"/>
          <p:cNvSpPr/>
          <p:nvPr/>
        </p:nvSpPr>
        <p:spPr>
          <a:xfrm>
            <a:off x="411480" y="598932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Key message accent"/>
          <p:cNvSpPr/>
          <p:nvPr/>
        </p:nvSpPr>
        <p:spPr>
          <a:xfrm>
            <a:off x="411480" y="598932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Key message"/>
          <p:cNvSpPr txBox="1"/>
          <p:nvPr/>
        </p:nvSpPr>
        <p:spPr>
          <a:xfrm>
            <a:off x="640080" y="598932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Let the work's risk add checkpoints, not its budget add meetings.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Three recurring meetings, plus checkpoints when needed</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Layer 1 label box"/>
          <p:cNvSpPr/>
          <p:nvPr/>
        </p:nvSpPr>
        <p:spPr>
          <a:xfrm>
            <a:off x="411480" y="1261872"/>
            <a:ext cx="3108960" cy="8046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yer 1 label"/>
          <p:cNvSpPr txBox="1"/>
          <p:nvPr/>
        </p:nvSpPr>
        <p:spPr>
          <a:xfrm>
            <a:off x="640080" y="1261872"/>
            <a:ext cx="2834640" cy="804672"/>
          </a:xfrm>
          <a:prstGeom prst="rect">
            <a:avLst/>
          </a:prstGeom>
          <a:noFill/>
        </p:spPr>
        <p:txBody>
          <a:bodyPr wrap="square" lIns="45720" tIns="45720" rIns="45720" bIns="45720" anchor="ctr">
            <a:noAutofit/>
          </a:bodyPr>
          <a:lstStyle/>
          <a:p>
            <a:pPr marL="0" indent="0" algn="l">
              <a:buNone/>
            </a:pPr>
            <a:r>
              <a:rPr lang="en-US" sz="2000" b="1" dirty="0">
                <a:solidFill>
                  <a:srgbClr val="FFFFFF"/>
                </a:solidFill>
                <a:latin typeface="Georgia"/>
                <a:ea typeface="Georgia"/>
                <a:cs typeface="Georgia"/>
              </a:rPr>
              <a:t>Portfolio Review</a:t>
            </a:r>
          </a:p>
        </p:txBody>
      </p:sp>
      <p:sp>
        <p:nvSpPr>
          <p:cNvPr id="6" name="Layer 1 body box"/>
          <p:cNvSpPr/>
          <p:nvPr/>
        </p:nvSpPr>
        <p:spPr>
          <a:xfrm>
            <a:off x="3520440" y="1261872"/>
            <a:ext cx="82570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ayer 1 text"/>
          <p:cNvSpPr txBox="1"/>
          <p:nvPr/>
        </p:nvSpPr>
        <p:spPr>
          <a:xfrm>
            <a:off x="3749039" y="1261872"/>
            <a:ext cx="5715000" cy="804672"/>
          </a:xfrm>
          <a:prstGeom prst="rect">
            <a:avLst/>
          </a:prstGeom>
          <a:noFill/>
        </p:spPr>
        <p:txBody>
          <a:bodyPr wrap="square" lIns="45720" tIns="45720" rIns="45720" bIns="45720" anchor="ctr">
            <a:noAutofit/>
          </a:bodyPr>
          <a:lstStyle/>
          <a:p>
            <a:pPr marL="0" indent="0" algn="l">
              <a:buNone/>
            </a:pPr>
            <a:r>
              <a:rPr lang="en-US" sz="1350" b="0" dirty="0">
                <a:solidFill>
                  <a:srgbClr val="1A1A1A"/>
                </a:solidFill>
                <a:latin typeface="Arial"/>
                <a:ea typeface="Arial"/>
                <a:cs typeface="Arial"/>
              </a:rPr>
              <a:t>Monthly, 60 minutes. Budget versus forecast, capacity, benefits and trends across the portfolio. Reprioritize and fund.</a:t>
            </a:r>
          </a:p>
        </p:txBody>
      </p:sp>
      <p:sp>
        <p:nvSpPr>
          <p:cNvPr id="8" name="Layer 1 badge"/>
          <p:cNvSpPr/>
          <p:nvPr/>
        </p:nvSpPr>
        <p:spPr>
          <a:xfrm>
            <a:off x="9692640" y="1417319"/>
            <a:ext cx="1920240" cy="493776"/>
          </a:xfrm>
          <a:prstGeom prst="rect">
            <a:avLst/>
          </a:prstGeom>
          <a:solidFill>
            <a:srgbClr val="FFFFFF"/>
          </a:solidFill>
          <a:ln w="19050">
            <a:solidFill>
              <a:srgbClr val="14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yer 1 badge text"/>
          <p:cNvSpPr txBox="1"/>
          <p:nvPr/>
        </p:nvSpPr>
        <p:spPr>
          <a:xfrm>
            <a:off x="9692640" y="1417319"/>
            <a:ext cx="1920240" cy="493776"/>
          </a:xfrm>
          <a:prstGeom prst="rect">
            <a:avLst/>
          </a:prstGeom>
          <a:noFill/>
        </p:spPr>
        <p:txBody>
          <a:bodyPr wrap="square" lIns="45720" tIns="45720" rIns="45720" bIns="45720" anchor="ctr">
            <a:noAutofit/>
          </a:bodyPr>
          <a:lstStyle/>
          <a:p>
            <a:pPr marL="0" indent="0" algn="ctr">
              <a:buNone/>
            </a:pPr>
            <a:r>
              <a:rPr lang="en-US" sz="1350" b="1" dirty="0">
                <a:solidFill>
                  <a:srgbClr val="141B4D"/>
                </a:solidFill>
                <a:latin typeface="Arial"/>
                <a:ea typeface="Arial"/>
                <a:cs typeface="Arial"/>
              </a:rPr>
              <a:t>Monthly, 6 people</a:t>
            </a:r>
          </a:p>
        </p:txBody>
      </p:sp>
      <p:sp>
        <p:nvSpPr>
          <p:cNvPr id="10" name="Layer 2 label box"/>
          <p:cNvSpPr/>
          <p:nvPr/>
        </p:nvSpPr>
        <p:spPr>
          <a:xfrm>
            <a:off x="411480" y="2167128"/>
            <a:ext cx="3108960" cy="804672"/>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ayer 2 label"/>
          <p:cNvSpPr txBox="1"/>
          <p:nvPr/>
        </p:nvSpPr>
        <p:spPr>
          <a:xfrm>
            <a:off x="640080" y="2167128"/>
            <a:ext cx="2834640" cy="804672"/>
          </a:xfrm>
          <a:prstGeom prst="rect">
            <a:avLst/>
          </a:prstGeom>
          <a:noFill/>
        </p:spPr>
        <p:txBody>
          <a:bodyPr wrap="square" lIns="45720" tIns="45720" rIns="45720" bIns="45720" anchor="ctr">
            <a:noAutofit/>
          </a:bodyPr>
          <a:lstStyle/>
          <a:p>
            <a:pPr marL="0" indent="0" algn="l">
              <a:buNone/>
            </a:pPr>
            <a:r>
              <a:rPr lang="en-US" sz="2000" b="1" dirty="0">
                <a:solidFill>
                  <a:srgbClr val="FFFFFF"/>
                </a:solidFill>
                <a:latin typeface="Georgia"/>
                <a:ea typeface="Georgia"/>
                <a:cs typeface="Georgia"/>
              </a:rPr>
              <a:t>Portfolio Pulse</a:t>
            </a:r>
          </a:p>
        </p:txBody>
      </p:sp>
      <p:sp>
        <p:nvSpPr>
          <p:cNvPr id="12" name="Layer 2 body box"/>
          <p:cNvSpPr/>
          <p:nvPr/>
        </p:nvSpPr>
        <p:spPr>
          <a:xfrm>
            <a:off x="3520440" y="2167128"/>
            <a:ext cx="82570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yer 2 text"/>
          <p:cNvSpPr txBox="1"/>
          <p:nvPr/>
        </p:nvSpPr>
        <p:spPr>
          <a:xfrm>
            <a:off x="3749039" y="2167128"/>
            <a:ext cx="5715000" cy="804672"/>
          </a:xfrm>
          <a:prstGeom prst="rect">
            <a:avLst/>
          </a:prstGeom>
          <a:noFill/>
        </p:spPr>
        <p:txBody>
          <a:bodyPr wrap="square" lIns="45720" tIns="45720" rIns="45720" bIns="45720" anchor="ctr">
            <a:noAutofit/>
          </a:bodyPr>
          <a:lstStyle/>
          <a:p>
            <a:pPr marL="0" indent="0" algn="l">
              <a:buNone/>
            </a:pPr>
            <a:r>
              <a:rPr lang="en-US" sz="1350" b="0" dirty="0">
                <a:solidFill>
                  <a:srgbClr val="1A1A1A"/>
                </a:solidFill>
                <a:latin typeface="Arial"/>
                <a:ea typeface="Arial"/>
                <a:cs typeface="Arial"/>
              </a:rPr>
              <a:t>Weekly, 30 minutes. Leadership reviews the dashboard for all 22 projects and works only red, amber and pending decisions.</a:t>
            </a:r>
          </a:p>
        </p:txBody>
      </p:sp>
      <p:sp>
        <p:nvSpPr>
          <p:cNvPr id="14" name="Layer 2 badge"/>
          <p:cNvSpPr/>
          <p:nvPr/>
        </p:nvSpPr>
        <p:spPr>
          <a:xfrm>
            <a:off x="9692640" y="2322576"/>
            <a:ext cx="1920240" cy="493776"/>
          </a:xfrm>
          <a:prstGeom prst="rect">
            <a:avLst/>
          </a:prstGeom>
          <a:solidFill>
            <a:srgbClr val="FFFFFF"/>
          </a:solidFill>
          <a:ln w="19050">
            <a:solidFill>
              <a:srgbClr val="0047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ayer 2 badge text"/>
          <p:cNvSpPr txBox="1"/>
          <p:nvPr/>
        </p:nvSpPr>
        <p:spPr>
          <a:xfrm>
            <a:off x="9692640" y="2322576"/>
            <a:ext cx="1920240" cy="493776"/>
          </a:xfrm>
          <a:prstGeom prst="rect">
            <a:avLst/>
          </a:prstGeom>
          <a:noFill/>
        </p:spPr>
        <p:txBody>
          <a:bodyPr wrap="square" lIns="45720" tIns="45720" rIns="45720" bIns="45720" anchor="ctr">
            <a:noAutofit/>
          </a:bodyPr>
          <a:lstStyle/>
          <a:p>
            <a:pPr marL="0" indent="0" algn="ctr">
              <a:buNone/>
            </a:pPr>
            <a:r>
              <a:rPr lang="en-US" sz="1350" b="1" dirty="0">
                <a:solidFill>
                  <a:srgbClr val="0047BB"/>
                </a:solidFill>
                <a:latin typeface="Arial"/>
                <a:ea typeface="Arial"/>
                <a:cs typeface="Arial"/>
              </a:rPr>
              <a:t>Weekly, 5 people</a:t>
            </a:r>
          </a:p>
        </p:txBody>
      </p:sp>
      <p:sp>
        <p:nvSpPr>
          <p:cNvPr id="16" name="Layer 3 label box"/>
          <p:cNvSpPr/>
          <p:nvPr/>
        </p:nvSpPr>
        <p:spPr>
          <a:xfrm>
            <a:off x="411480" y="3072384"/>
            <a:ext cx="3108960" cy="804672"/>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yer 3 label"/>
          <p:cNvSpPr txBox="1"/>
          <p:nvPr/>
        </p:nvSpPr>
        <p:spPr>
          <a:xfrm>
            <a:off x="640080" y="3072384"/>
            <a:ext cx="2834640" cy="804672"/>
          </a:xfrm>
          <a:prstGeom prst="rect">
            <a:avLst/>
          </a:prstGeom>
          <a:noFill/>
        </p:spPr>
        <p:txBody>
          <a:bodyPr wrap="square" lIns="45720" tIns="45720" rIns="45720" bIns="45720" anchor="ctr">
            <a:noAutofit/>
          </a:bodyPr>
          <a:lstStyle/>
          <a:p>
            <a:pPr marL="0" indent="0" algn="l">
              <a:buNone/>
            </a:pPr>
            <a:r>
              <a:rPr lang="en-US" sz="2000" b="1" dirty="0">
                <a:solidFill>
                  <a:srgbClr val="FFFFFF"/>
                </a:solidFill>
                <a:latin typeface="Georgia"/>
                <a:ea typeface="Georgia"/>
                <a:cs typeface="Georgia"/>
              </a:rPr>
              <a:t>Project Sync</a:t>
            </a:r>
          </a:p>
        </p:txBody>
      </p:sp>
      <p:sp>
        <p:nvSpPr>
          <p:cNvPr id="18" name="Layer 3 body box"/>
          <p:cNvSpPr/>
          <p:nvPr/>
        </p:nvSpPr>
        <p:spPr>
          <a:xfrm>
            <a:off x="3520440" y="3072384"/>
            <a:ext cx="82570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ayer 3 text"/>
          <p:cNvSpPr txBox="1"/>
          <p:nvPr/>
        </p:nvSpPr>
        <p:spPr>
          <a:xfrm>
            <a:off x="3749039" y="3072384"/>
            <a:ext cx="5715000" cy="804672"/>
          </a:xfrm>
          <a:prstGeom prst="rect">
            <a:avLst/>
          </a:prstGeom>
          <a:noFill/>
        </p:spPr>
        <p:txBody>
          <a:bodyPr wrap="square" lIns="45720" tIns="45720" rIns="45720" bIns="45720" anchor="ctr">
            <a:noAutofit/>
          </a:bodyPr>
          <a:lstStyle/>
          <a:p>
            <a:pPr marL="0" indent="0" algn="l">
              <a:buNone/>
            </a:pPr>
            <a:r>
              <a:rPr lang="en-US" sz="1350" b="0" dirty="0">
                <a:solidFill>
                  <a:srgbClr val="1A1A1A"/>
                </a:solidFill>
                <a:latin typeface="Arial"/>
                <a:ea typeface="Arial"/>
                <a:cs typeface="Arial"/>
              </a:rPr>
              <a:t>Weekly, 30 minutes, every project in the same format: risks, blockers, dependencies and next decisions.</a:t>
            </a:r>
          </a:p>
        </p:txBody>
      </p:sp>
      <p:sp>
        <p:nvSpPr>
          <p:cNvPr id="20" name="Layer 3 badge"/>
          <p:cNvSpPr/>
          <p:nvPr/>
        </p:nvSpPr>
        <p:spPr>
          <a:xfrm>
            <a:off x="9692640" y="3227832"/>
            <a:ext cx="1920240" cy="493776"/>
          </a:xfrm>
          <a:prstGeom prst="rect">
            <a:avLst/>
          </a:prstGeom>
          <a:solidFill>
            <a:srgbClr val="FFFFFF"/>
          </a:solidFill>
          <a:ln w="19050">
            <a:solidFill>
              <a:srgbClr val="0097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yer 3 badge text"/>
          <p:cNvSpPr txBox="1"/>
          <p:nvPr/>
        </p:nvSpPr>
        <p:spPr>
          <a:xfrm>
            <a:off x="9692640" y="3227832"/>
            <a:ext cx="1920240" cy="493776"/>
          </a:xfrm>
          <a:prstGeom prst="rect">
            <a:avLst/>
          </a:prstGeom>
          <a:noFill/>
        </p:spPr>
        <p:txBody>
          <a:bodyPr wrap="square" lIns="45720" tIns="45720" rIns="45720" bIns="45720" anchor="ctr">
            <a:noAutofit/>
          </a:bodyPr>
          <a:lstStyle/>
          <a:p>
            <a:pPr marL="0" indent="0" algn="ctr">
              <a:buNone/>
            </a:pPr>
            <a:r>
              <a:rPr lang="en-US" sz="1350" b="1" dirty="0">
                <a:solidFill>
                  <a:srgbClr val="009788"/>
                </a:solidFill>
                <a:latin typeface="Arial"/>
                <a:ea typeface="Arial"/>
                <a:cs typeface="Arial"/>
              </a:rPr>
              <a:t>Weekly, 3 people</a:t>
            </a:r>
          </a:p>
        </p:txBody>
      </p:sp>
      <p:sp>
        <p:nvSpPr>
          <p:cNvPr id="22" name="Layer 4 label box"/>
          <p:cNvSpPr/>
          <p:nvPr/>
        </p:nvSpPr>
        <p:spPr>
          <a:xfrm>
            <a:off x="411480" y="3977639"/>
            <a:ext cx="3108960" cy="804672"/>
          </a:xfrm>
          <a:prstGeom prst="rect">
            <a:avLst/>
          </a:prstGeom>
          <a:solidFill>
            <a:srgbClr val="005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ayer 4 label"/>
          <p:cNvSpPr txBox="1"/>
          <p:nvPr/>
        </p:nvSpPr>
        <p:spPr>
          <a:xfrm>
            <a:off x="640080" y="3977639"/>
            <a:ext cx="2834640" cy="804672"/>
          </a:xfrm>
          <a:prstGeom prst="rect">
            <a:avLst/>
          </a:prstGeom>
          <a:noFill/>
        </p:spPr>
        <p:txBody>
          <a:bodyPr wrap="square" lIns="45720" tIns="45720" rIns="45720" bIns="45720" anchor="ctr">
            <a:noAutofit/>
          </a:bodyPr>
          <a:lstStyle/>
          <a:p>
            <a:pPr marL="0" indent="0" algn="l">
              <a:buNone/>
            </a:pPr>
            <a:r>
              <a:rPr lang="en-US" sz="2000" b="1" dirty="0">
                <a:solidFill>
                  <a:srgbClr val="FFFFFF"/>
                </a:solidFill>
                <a:latin typeface="Georgia"/>
                <a:ea typeface="Georgia"/>
                <a:cs typeface="Georgia"/>
              </a:rPr>
              <a:t>Checkpoints</a:t>
            </a:r>
          </a:p>
        </p:txBody>
      </p:sp>
      <p:sp>
        <p:nvSpPr>
          <p:cNvPr id="24" name="Layer 4 body box"/>
          <p:cNvSpPr/>
          <p:nvPr/>
        </p:nvSpPr>
        <p:spPr>
          <a:xfrm>
            <a:off x="3520440" y="3977639"/>
            <a:ext cx="82570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ayer 4 text"/>
          <p:cNvSpPr txBox="1"/>
          <p:nvPr/>
        </p:nvSpPr>
        <p:spPr>
          <a:xfrm>
            <a:off x="3749039" y="3977639"/>
            <a:ext cx="5715000" cy="804672"/>
          </a:xfrm>
          <a:prstGeom prst="rect">
            <a:avLst/>
          </a:prstGeom>
          <a:noFill/>
        </p:spPr>
        <p:txBody>
          <a:bodyPr wrap="square" lIns="45720" tIns="45720" rIns="45720" bIns="45720" anchor="ctr">
            <a:noAutofit/>
          </a:bodyPr>
          <a:lstStyle/>
          <a:p>
            <a:pPr marL="0" indent="0" algn="l">
              <a:buNone/>
            </a:pPr>
            <a:r>
              <a:rPr lang="en-US" sz="1350" b="0" dirty="0">
                <a:solidFill>
                  <a:srgbClr val="1A1A1A"/>
                </a:solidFill>
                <a:latin typeface="Arial"/>
                <a:ea typeface="Arial"/>
                <a:cs typeface="Arial"/>
              </a:rPr>
              <a:t>Requirements, design, estimate approval, Go / No-Go and closeout, held only when the phase calls for them.</a:t>
            </a:r>
          </a:p>
        </p:txBody>
      </p:sp>
      <p:sp>
        <p:nvSpPr>
          <p:cNvPr id="26" name="Layer 4 badge"/>
          <p:cNvSpPr/>
          <p:nvPr/>
        </p:nvSpPr>
        <p:spPr>
          <a:xfrm>
            <a:off x="9692640" y="4133087"/>
            <a:ext cx="1920240" cy="493776"/>
          </a:xfrm>
          <a:prstGeom prst="rect">
            <a:avLst/>
          </a:prstGeom>
          <a:solidFill>
            <a:srgbClr val="FFFFFF"/>
          </a:solidFill>
          <a:ln w="19050">
            <a:solidFill>
              <a:srgbClr val="005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ayer 4 badge text"/>
          <p:cNvSpPr txBox="1"/>
          <p:nvPr/>
        </p:nvSpPr>
        <p:spPr>
          <a:xfrm>
            <a:off x="9692640" y="4133087"/>
            <a:ext cx="1920240" cy="493776"/>
          </a:xfrm>
          <a:prstGeom prst="rect">
            <a:avLst/>
          </a:prstGeom>
          <a:noFill/>
        </p:spPr>
        <p:txBody>
          <a:bodyPr wrap="square" lIns="45720" tIns="45720" rIns="45720" bIns="45720" anchor="ctr">
            <a:noAutofit/>
          </a:bodyPr>
          <a:lstStyle/>
          <a:p>
            <a:pPr marL="0" indent="0" algn="ctr">
              <a:buNone/>
            </a:pPr>
            <a:r>
              <a:rPr lang="en-US" sz="1350" b="1" dirty="0">
                <a:solidFill>
                  <a:srgbClr val="00566E"/>
                </a:solidFill>
                <a:latin typeface="Arial"/>
                <a:ea typeface="Arial"/>
                <a:cs typeface="Arial"/>
              </a:rPr>
              <a:t>Event-based</a:t>
            </a:r>
          </a:p>
        </p:txBody>
      </p:sp>
      <p:sp>
        <p:nvSpPr>
          <p:cNvPr id="28" name="Layer 5 label box"/>
          <p:cNvSpPr/>
          <p:nvPr/>
        </p:nvSpPr>
        <p:spPr>
          <a:xfrm>
            <a:off x="411480" y="4882896"/>
            <a:ext cx="3108960" cy="804672"/>
          </a:xfrm>
          <a:prstGeom prst="rect">
            <a:avLst/>
          </a:prstGeom>
          <a:solidFill>
            <a:srgbClr val="3A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ayer 5 label"/>
          <p:cNvSpPr txBox="1"/>
          <p:nvPr/>
        </p:nvSpPr>
        <p:spPr>
          <a:xfrm>
            <a:off x="640080" y="4882896"/>
            <a:ext cx="2834640" cy="804672"/>
          </a:xfrm>
          <a:prstGeom prst="rect">
            <a:avLst/>
          </a:prstGeom>
          <a:noFill/>
        </p:spPr>
        <p:txBody>
          <a:bodyPr wrap="square" lIns="45720" tIns="45720" rIns="45720" bIns="45720" anchor="ctr">
            <a:noAutofit/>
          </a:bodyPr>
          <a:lstStyle/>
          <a:p>
            <a:pPr marL="0" indent="0" algn="l">
              <a:buNone/>
            </a:pPr>
            <a:r>
              <a:rPr lang="en-US" sz="2000" b="1" dirty="0">
                <a:solidFill>
                  <a:srgbClr val="FFFFFF"/>
                </a:solidFill>
                <a:latin typeface="Georgia"/>
                <a:ea typeface="Georgia"/>
                <a:cs typeface="Georgia"/>
              </a:rPr>
              <a:t>Weekly Update</a:t>
            </a:r>
          </a:p>
        </p:txBody>
      </p:sp>
      <p:sp>
        <p:nvSpPr>
          <p:cNvPr id="30" name="Layer 5 body box"/>
          <p:cNvSpPr/>
          <p:nvPr/>
        </p:nvSpPr>
        <p:spPr>
          <a:xfrm>
            <a:off x="3520440" y="4882896"/>
            <a:ext cx="82570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ayer 5 text"/>
          <p:cNvSpPr txBox="1"/>
          <p:nvPr/>
        </p:nvSpPr>
        <p:spPr>
          <a:xfrm>
            <a:off x="3749039" y="4882896"/>
            <a:ext cx="5715000" cy="804672"/>
          </a:xfrm>
          <a:prstGeom prst="rect">
            <a:avLst/>
          </a:prstGeom>
          <a:noFill/>
        </p:spPr>
        <p:txBody>
          <a:bodyPr wrap="square" lIns="45720" tIns="45720" rIns="45720" bIns="45720" anchor="ctr">
            <a:noAutofit/>
          </a:bodyPr>
          <a:lstStyle/>
          <a:p>
            <a:pPr marL="0" indent="0" algn="l">
              <a:buNone/>
            </a:pPr>
            <a:r>
              <a:rPr lang="en-US" sz="1350" b="0" dirty="0">
                <a:solidFill>
                  <a:srgbClr val="1A1A1A"/>
                </a:solidFill>
                <a:latin typeface="Arial"/>
                <a:ea typeface="Arial"/>
                <a:cs typeface="Arial"/>
              </a:rPr>
              <a:t>One standard written update per project, due Friday at noon. It feeds the dashboard, so status never needs a meeting.</a:t>
            </a:r>
          </a:p>
        </p:txBody>
      </p:sp>
      <p:sp>
        <p:nvSpPr>
          <p:cNvPr id="32" name="Layer 5 badge"/>
          <p:cNvSpPr/>
          <p:nvPr/>
        </p:nvSpPr>
        <p:spPr>
          <a:xfrm>
            <a:off x="9692640" y="5038344"/>
            <a:ext cx="1920240" cy="493776"/>
          </a:xfrm>
          <a:prstGeom prst="rect">
            <a:avLst/>
          </a:prstGeom>
          <a:solidFill>
            <a:srgbClr val="FFFFFF"/>
          </a:solidFill>
          <a:ln w="19050">
            <a:solidFill>
              <a:srgbClr val="3A4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ayer 5 badge text"/>
          <p:cNvSpPr txBox="1"/>
          <p:nvPr/>
        </p:nvSpPr>
        <p:spPr>
          <a:xfrm>
            <a:off x="9692640" y="5038344"/>
            <a:ext cx="1920240" cy="493776"/>
          </a:xfrm>
          <a:prstGeom prst="rect">
            <a:avLst/>
          </a:prstGeom>
          <a:noFill/>
        </p:spPr>
        <p:txBody>
          <a:bodyPr wrap="square" lIns="45720" tIns="45720" rIns="45720" bIns="45720" anchor="ctr">
            <a:noAutofit/>
          </a:bodyPr>
          <a:lstStyle/>
          <a:p>
            <a:pPr marL="0" indent="0" algn="ctr">
              <a:buNone/>
            </a:pPr>
            <a:r>
              <a:rPr lang="en-US" sz="1350" b="1" dirty="0">
                <a:solidFill>
                  <a:srgbClr val="3A4A7A"/>
                </a:solidFill>
                <a:latin typeface="Arial"/>
                <a:ea typeface="Arial"/>
                <a:cs typeface="Arial"/>
              </a:rPr>
              <a:t>No meeting</a:t>
            </a:r>
          </a:p>
        </p:txBody>
      </p:sp>
      <p:sp>
        <p:nvSpPr>
          <p:cNvPr id="34" name="Key message bar"/>
          <p:cNvSpPr/>
          <p:nvPr/>
        </p:nvSpPr>
        <p:spPr>
          <a:xfrm>
            <a:off x="411480" y="598932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Key message accent"/>
          <p:cNvSpPr/>
          <p:nvPr/>
        </p:nvSpPr>
        <p:spPr>
          <a:xfrm>
            <a:off x="411480" y="598932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Key message"/>
          <p:cNvSpPr txBox="1"/>
          <p:nvPr/>
        </p:nvSpPr>
        <p:spPr>
          <a:xfrm>
            <a:off x="640080" y="598932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Every project runs the same rhythm. Leadership sees all of it every week.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How leadership keeps a weekly pulse on every project</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Step 1 header"/>
          <p:cNvSpPr/>
          <p:nvPr/>
        </p:nvSpPr>
        <p:spPr>
          <a:xfrm>
            <a:off x="411480" y="1325880"/>
            <a:ext cx="2331720" cy="566928"/>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ep 1 when"/>
          <p:cNvSpPr txBox="1"/>
          <p:nvPr/>
        </p:nvSpPr>
        <p:spPr>
          <a:xfrm>
            <a:off x="411480" y="1325880"/>
            <a:ext cx="2331720" cy="566928"/>
          </a:xfrm>
          <a:prstGeom prst="rect">
            <a:avLst/>
          </a:prstGeom>
          <a:noFill/>
        </p:spPr>
        <p:txBody>
          <a:bodyPr wrap="square" lIns="45720" tIns="45720" rIns="45720" bIns="45720" anchor="ctr">
            <a:noAutofit/>
          </a:bodyPr>
          <a:lstStyle/>
          <a:p>
            <a:pPr marL="0" indent="0" algn="ctr">
              <a:buNone/>
            </a:pPr>
            <a:r>
              <a:rPr lang="en-US" sz="1400" b="1" dirty="0">
                <a:solidFill>
                  <a:srgbClr val="FFFFFF"/>
                </a:solidFill>
                <a:latin typeface="Arial"/>
                <a:ea typeface="Arial"/>
                <a:cs typeface="Arial"/>
              </a:rPr>
              <a:t>Tuesday to Thursday</a:t>
            </a:r>
          </a:p>
        </p:txBody>
      </p:sp>
      <p:sp>
        <p:nvSpPr>
          <p:cNvPr id="6" name="Step 1 card"/>
          <p:cNvSpPr/>
          <p:nvPr/>
        </p:nvSpPr>
        <p:spPr>
          <a:xfrm>
            <a:off x="411480" y="1892807"/>
            <a:ext cx="2331720" cy="210312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ep 1 text"/>
          <p:cNvSpPr txBox="1"/>
          <p:nvPr/>
        </p:nvSpPr>
        <p:spPr>
          <a:xfrm>
            <a:off x="594360" y="2011680"/>
            <a:ext cx="1965960" cy="1920240"/>
          </a:xfrm>
          <a:prstGeom prst="rect">
            <a:avLst/>
          </a:prstGeom>
          <a:noFill/>
        </p:spPr>
        <p:txBody>
          <a:bodyPr wrap="square" lIns="45720" tIns="45720" rIns="45720" bIns="45720" anchor="t">
            <a:noAutofit/>
          </a:bodyPr>
          <a:lstStyle/>
          <a:p>
            <a:pPr marL="0" indent="0" algn="l">
              <a:spcAft>
                <a:spcPts val="800"/>
              </a:spcAft>
              <a:buNone/>
            </a:pPr>
            <a:r>
              <a:rPr lang="en-US" sz="1800" b="1" dirty="0">
                <a:solidFill>
                  <a:srgbClr val="009788"/>
                </a:solidFill>
                <a:latin typeface="Georgia"/>
                <a:ea typeface="Georgia"/>
                <a:cs typeface="Georgia"/>
              </a:rPr>
              <a:t>Project Syncs</a:t>
            </a:r>
          </a:p>
          <a:p>
            <a:pPr marL="0" indent="0" algn="l">
              <a:lnSpc>
                <a:spcPct val="110000"/>
              </a:lnSpc>
              <a:buNone/>
            </a:pPr>
            <a:r>
              <a:rPr lang="en-US" sz="1400" b="0" dirty="0">
                <a:solidFill>
                  <a:srgbClr val="1A1A1A"/>
                </a:solidFill>
                <a:latin typeface="Arial"/>
                <a:ea typeface="Arial"/>
                <a:cs typeface="Arial"/>
              </a:rPr>
              <a:t>30 minutes each. Teams work risks, blockers and next decisions.</a:t>
            </a:r>
          </a:p>
        </p:txBody>
      </p:sp>
      <p:sp>
        <p:nvSpPr>
          <p:cNvPr id="8" name="Step arrow 1"/>
          <p:cNvSpPr/>
          <p:nvPr/>
        </p:nvSpPr>
        <p:spPr>
          <a:xfrm>
            <a:off x="2775204" y="2788920"/>
            <a:ext cx="164592" cy="274320"/>
          </a:xfrm>
          <a:prstGeom prst="rightArrow">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ep 2 header"/>
          <p:cNvSpPr/>
          <p:nvPr/>
        </p:nvSpPr>
        <p:spPr>
          <a:xfrm>
            <a:off x="2971800" y="1325880"/>
            <a:ext cx="2331720" cy="566928"/>
          </a:xfrm>
          <a:prstGeom prst="rect">
            <a:avLst/>
          </a:prstGeom>
          <a:solidFill>
            <a:srgbClr val="005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2 when"/>
          <p:cNvSpPr txBox="1"/>
          <p:nvPr/>
        </p:nvSpPr>
        <p:spPr>
          <a:xfrm>
            <a:off x="2971800" y="1325880"/>
            <a:ext cx="2331720" cy="566928"/>
          </a:xfrm>
          <a:prstGeom prst="rect">
            <a:avLst/>
          </a:prstGeom>
          <a:noFill/>
        </p:spPr>
        <p:txBody>
          <a:bodyPr wrap="square" lIns="45720" tIns="45720" rIns="45720" bIns="45720" anchor="ctr">
            <a:noAutofit/>
          </a:bodyPr>
          <a:lstStyle/>
          <a:p>
            <a:pPr marL="0" indent="0" algn="ctr">
              <a:buNone/>
            </a:pPr>
            <a:r>
              <a:rPr lang="en-US" sz="1400" b="1" dirty="0">
                <a:solidFill>
                  <a:srgbClr val="FFFFFF"/>
                </a:solidFill>
                <a:latin typeface="Arial"/>
                <a:ea typeface="Arial"/>
                <a:cs typeface="Arial"/>
              </a:rPr>
              <a:t>Friday by noon</a:t>
            </a:r>
          </a:p>
        </p:txBody>
      </p:sp>
      <p:sp>
        <p:nvSpPr>
          <p:cNvPr id="11" name="Step 2 card"/>
          <p:cNvSpPr/>
          <p:nvPr/>
        </p:nvSpPr>
        <p:spPr>
          <a:xfrm>
            <a:off x="2971800" y="1892807"/>
            <a:ext cx="2331720" cy="210312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ep 2 text"/>
          <p:cNvSpPr txBox="1"/>
          <p:nvPr/>
        </p:nvSpPr>
        <p:spPr>
          <a:xfrm>
            <a:off x="3154680" y="2011680"/>
            <a:ext cx="1965960" cy="1920240"/>
          </a:xfrm>
          <a:prstGeom prst="rect">
            <a:avLst/>
          </a:prstGeom>
          <a:noFill/>
        </p:spPr>
        <p:txBody>
          <a:bodyPr wrap="square" lIns="45720" tIns="45720" rIns="45720" bIns="45720" anchor="t">
            <a:noAutofit/>
          </a:bodyPr>
          <a:lstStyle/>
          <a:p>
            <a:pPr marL="0" indent="0" algn="l">
              <a:spcAft>
                <a:spcPts val="800"/>
              </a:spcAft>
              <a:buNone/>
            </a:pPr>
            <a:r>
              <a:rPr lang="en-US" sz="1800" b="1" dirty="0">
                <a:solidFill>
                  <a:srgbClr val="00566E"/>
                </a:solidFill>
                <a:latin typeface="Georgia"/>
                <a:ea typeface="Georgia"/>
                <a:cs typeface="Georgia"/>
              </a:rPr>
              <a:t>Weekly Updates</a:t>
            </a:r>
          </a:p>
          <a:p>
            <a:pPr marL="0" indent="0" algn="l">
              <a:lnSpc>
                <a:spcPct val="110000"/>
              </a:lnSpc>
              <a:buNone/>
            </a:pPr>
            <a:r>
              <a:rPr lang="en-US" sz="1400" b="0" dirty="0">
                <a:solidFill>
                  <a:srgbClr val="1A1A1A"/>
                </a:solidFill>
                <a:latin typeface="Arial"/>
                <a:ea typeface="Arial"/>
                <a:cs typeface="Arial"/>
              </a:rPr>
              <a:t>Each TPM posts the standard update. The dashboard refreshes for all 22 projects.</a:t>
            </a:r>
          </a:p>
        </p:txBody>
      </p:sp>
      <p:sp>
        <p:nvSpPr>
          <p:cNvPr id="13" name="Step arrow 2"/>
          <p:cNvSpPr/>
          <p:nvPr/>
        </p:nvSpPr>
        <p:spPr>
          <a:xfrm>
            <a:off x="5335524" y="2788920"/>
            <a:ext cx="164592" cy="274320"/>
          </a:xfrm>
          <a:prstGeom prst="rightArrow">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3 header"/>
          <p:cNvSpPr/>
          <p:nvPr/>
        </p:nvSpPr>
        <p:spPr>
          <a:xfrm>
            <a:off x="5532120" y="1325880"/>
            <a:ext cx="2331720" cy="566928"/>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3 when"/>
          <p:cNvSpPr txBox="1"/>
          <p:nvPr/>
        </p:nvSpPr>
        <p:spPr>
          <a:xfrm>
            <a:off x="5532120" y="1325880"/>
            <a:ext cx="2331720" cy="566928"/>
          </a:xfrm>
          <a:prstGeom prst="rect">
            <a:avLst/>
          </a:prstGeom>
          <a:noFill/>
        </p:spPr>
        <p:txBody>
          <a:bodyPr wrap="square" lIns="45720" tIns="45720" rIns="45720" bIns="45720" anchor="ctr">
            <a:noAutofit/>
          </a:bodyPr>
          <a:lstStyle/>
          <a:p>
            <a:pPr marL="0" indent="0" algn="ctr">
              <a:buNone/>
            </a:pPr>
            <a:r>
              <a:rPr lang="en-US" sz="1400" b="1" dirty="0">
                <a:solidFill>
                  <a:srgbClr val="FFFFFF"/>
                </a:solidFill>
                <a:latin typeface="Arial"/>
                <a:ea typeface="Arial"/>
                <a:cs typeface="Arial"/>
              </a:rPr>
              <a:t>Monday</a:t>
            </a:r>
          </a:p>
        </p:txBody>
      </p:sp>
      <p:sp>
        <p:nvSpPr>
          <p:cNvPr id="16" name="Step 3 card"/>
          <p:cNvSpPr/>
          <p:nvPr/>
        </p:nvSpPr>
        <p:spPr>
          <a:xfrm>
            <a:off x="5532120" y="1892807"/>
            <a:ext cx="2331720" cy="210312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tep 3 text"/>
          <p:cNvSpPr txBox="1"/>
          <p:nvPr/>
        </p:nvSpPr>
        <p:spPr>
          <a:xfrm>
            <a:off x="5715000" y="2011680"/>
            <a:ext cx="1965960" cy="1920240"/>
          </a:xfrm>
          <a:prstGeom prst="rect">
            <a:avLst/>
          </a:prstGeom>
          <a:noFill/>
        </p:spPr>
        <p:txBody>
          <a:bodyPr wrap="square" lIns="45720" tIns="45720" rIns="45720" bIns="45720" anchor="t">
            <a:noAutofit/>
          </a:bodyPr>
          <a:lstStyle/>
          <a:p>
            <a:pPr marL="0" indent="0" algn="l">
              <a:spcAft>
                <a:spcPts val="800"/>
              </a:spcAft>
              <a:buNone/>
            </a:pPr>
            <a:r>
              <a:rPr lang="en-US" sz="1800" b="1" dirty="0">
                <a:solidFill>
                  <a:srgbClr val="0047BB"/>
                </a:solidFill>
                <a:latin typeface="Georgia"/>
                <a:ea typeface="Georgia"/>
                <a:cs typeface="Georgia"/>
              </a:rPr>
              <a:t>Portfolio Pulse</a:t>
            </a:r>
          </a:p>
          <a:p>
            <a:pPr marL="0" indent="0" algn="l">
              <a:lnSpc>
                <a:spcPct val="110000"/>
              </a:lnSpc>
              <a:buNone/>
            </a:pPr>
            <a:r>
              <a:rPr lang="en-US" sz="1400" b="0" dirty="0">
                <a:solidFill>
                  <a:srgbClr val="1A1A1A"/>
                </a:solidFill>
                <a:latin typeface="Arial"/>
                <a:ea typeface="Arial"/>
                <a:cs typeface="Arial"/>
              </a:rPr>
              <a:t>30 minutes. Leadership works only red, amber and decisions needed.</a:t>
            </a:r>
          </a:p>
        </p:txBody>
      </p:sp>
      <p:sp>
        <p:nvSpPr>
          <p:cNvPr id="18" name="Monthly bar"/>
          <p:cNvSpPr/>
          <p:nvPr/>
        </p:nvSpPr>
        <p:spPr>
          <a:xfrm>
            <a:off x="411480" y="4206240"/>
            <a:ext cx="7452360" cy="11887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Monthly accent"/>
          <p:cNvSpPr/>
          <p:nvPr/>
        </p:nvSpPr>
        <p:spPr>
          <a:xfrm>
            <a:off x="411480" y="4206240"/>
            <a:ext cx="73152" cy="11887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onthly text"/>
          <p:cNvSpPr txBox="1"/>
          <p:nvPr/>
        </p:nvSpPr>
        <p:spPr>
          <a:xfrm>
            <a:off x="685800" y="4206240"/>
            <a:ext cx="7040880" cy="1188720"/>
          </a:xfrm>
          <a:prstGeom prst="rect">
            <a:avLst/>
          </a:prstGeom>
          <a:noFill/>
        </p:spPr>
        <p:txBody>
          <a:bodyPr wrap="square" lIns="45720" tIns="45720" rIns="45720" bIns="45720" anchor="ctr">
            <a:noAutofit/>
          </a:bodyPr>
          <a:lstStyle/>
          <a:p>
            <a:pPr marL="0" indent="0" algn="l">
              <a:spcAft>
                <a:spcPts val="300"/>
              </a:spcAft>
              <a:buNone/>
            </a:pPr>
            <a:r>
              <a:rPr lang="en-US" sz="1300" b="1" dirty="0">
                <a:solidFill>
                  <a:srgbClr val="5CC2B6"/>
                </a:solidFill>
                <a:latin typeface="Arial"/>
                <a:ea typeface="Arial"/>
                <a:cs typeface="Arial"/>
              </a:rPr>
              <a:t>First Monday of each month, after the Pulse</a:t>
            </a:r>
          </a:p>
          <a:p>
            <a:pPr marL="0" indent="0" algn="l">
              <a:spcAft>
                <a:spcPts val="300"/>
              </a:spcAft>
              <a:buNone/>
            </a:pPr>
            <a:r>
              <a:rPr lang="en-US" sz="1900" b="1" dirty="0">
                <a:solidFill>
                  <a:srgbClr val="FFFFFF"/>
                </a:solidFill>
                <a:latin typeface="Georgia"/>
                <a:ea typeface="Georgia"/>
                <a:cs typeface="Georgia"/>
              </a:rPr>
              <a:t>Portfolio Review, 60 minutes</a:t>
            </a:r>
          </a:p>
          <a:p>
            <a:pPr marL="0" indent="0" algn="l">
              <a:buNone/>
            </a:pPr>
            <a:r>
              <a:rPr lang="en-US" sz="1350" b="0" dirty="0">
                <a:solidFill>
                  <a:srgbClr val="FFFFFF"/>
                </a:solidFill>
                <a:latin typeface="Arial"/>
                <a:ea typeface="Arial"/>
                <a:cs typeface="Arial"/>
              </a:rPr>
              <a:t>Budget versus forecast, capacity, benefits and trends. Reprioritize and fund.</a:t>
            </a:r>
          </a:p>
        </p:txBody>
      </p:sp>
      <p:sp>
        <p:nvSpPr>
          <p:cNvPr id="21" name="Sees panel"/>
          <p:cNvSpPr/>
          <p:nvPr/>
        </p:nvSpPr>
        <p:spPr>
          <a:xfrm>
            <a:off x="8092440" y="1325880"/>
            <a:ext cx="3685032" cy="406908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es accent"/>
          <p:cNvSpPr/>
          <p:nvPr/>
        </p:nvSpPr>
        <p:spPr>
          <a:xfrm>
            <a:off x="8092440" y="1325880"/>
            <a:ext cx="3685032" cy="73152"/>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ees text"/>
          <p:cNvSpPr txBox="1"/>
          <p:nvPr/>
        </p:nvSpPr>
        <p:spPr>
          <a:xfrm>
            <a:off x="8275320" y="1463040"/>
            <a:ext cx="3383280" cy="3886200"/>
          </a:xfrm>
          <a:prstGeom prst="rect">
            <a:avLst/>
          </a:prstGeom>
          <a:noFill/>
        </p:spPr>
        <p:txBody>
          <a:bodyPr wrap="square" lIns="45720" tIns="45720" rIns="45720" bIns="45720" anchor="t">
            <a:noAutofit/>
          </a:bodyPr>
          <a:lstStyle/>
          <a:p>
            <a:pPr marL="0" indent="0" algn="l">
              <a:spcAft>
                <a:spcPts val="1000"/>
              </a:spcAft>
              <a:buNone/>
            </a:pPr>
            <a:r>
              <a:rPr lang="en-US" sz="1600" b="1" dirty="0">
                <a:solidFill>
                  <a:srgbClr val="141B4D"/>
                </a:solidFill>
                <a:latin typeface="Arial"/>
                <a:ea typeface="Arial"/>
                <a:cs typeface="Arial"/>
              </a:rPr>
              <a:t>What leadership sees every week</a:t>
            </a:r>
          </a:p>
          <a:p>
            <a:pPr marL="228600" indent="-228600" algn="l">
              <a:spcAft>
                <a:spcPts val="800"/>
              </a:spcAft>
              <a:buFont typeface="Arial"/>
              <a:buChar char="•"/>
            </a:pPr>
            <a:r>
              <a:rPr lang="en-US" sz="1350" b="0" dirty="0">
                <a:solidFill>
                  <a:srgbClr val="1A1A1A"/>
                </a:solidFill>
                <a:latin typeface="Arial"/>
                <a:ea typeface="Arial"/>
                <a:cs typeface="Arial"/>
              </a:rPr>
              <a:t>Status for all 22 projects: schedule, cost, scope and risk, each red, amber or green</a:t>
            </a:r>
          </a:p>
          <a:p>
            <a:pPr marL="228600" indent="-228600" algn="l">
              <a:spcAft>
                <a:spcPts val="800"/>
              </a:spcAft>
              <a:buFont typeface="Arial"/>
              <a:buChar char="•"/>
            </a:pPr>
            <a:r>
              <a:rPr lang="en-US" sz="1350" b="0" dirty="0">
                <a:solidFill>
                  <a:srgbClr val="1A1A1A"/>
                </a:solidFill>
                <a:latin typeface="Arial"/>
                <a:ea typeface="Arial"/>
                <a:cs typeface="Arial"/>
              </a:rPr>
              <a:t>Next milestone and its date</a:t>
            </a:r>
          </a:p>
          <a:p>
            <a:pPr marL="228600" indent="-228600" algn="l">
              <a:spcAft>
                <a:spcPts val="800"/>
              </a:spcAft>
              <a:buFont typeface="Arial"/>
              <a:buChar char="•"/>
            </a:pPr>
            <a:r>
              <a:rPr lang="en-US" sz="1350" b="0" dirty="0">
                <a:solidFill>
                  <a:srgbClr val="1A1A1A"/>
                </a:solidFill>
                <a:latin typeface="Arial"/>
                <a:ea typeface="Arial"/>
                <a:cs typeface="Arial"/>
              </a:rPr>
              <a:t>Top risks and open blockers</a:t>
            </a:r>
          </a:p>
          <a:p>
            <a:pPr marL="228600" indent="-228600" algn="l">
              <a:spcAft>
                <a:spcPts val="800"/>
              </a:spcAft>
              <a:buFont typeface="Arial"/>
              <a:buChar char="•"/>
            </a:pPr>
            <a:r>
              <a:rPr lang="en-US" sz="1350" b="0" dirty="0">
                <a:solidFill>
                  <a:srgbClr val="1A1A1A"/>
                </a:solidFill>
                <a:latin typeface="Arial"/>
                <a:ea typeface="Arial"/>
                <a:cs typeface="Arial"/>
              </a:rPr>
              <a:t>Decisions needed, and by when</a:t>
            </a:r>
          </a:p>
          <a:p>
            <a:pPr marL="228600" indent="-228600" algn="l">
              <a:spcAft>
                <a:spcPts val="800"/>
              </a:spcAft>
              <a:buFont typeface="Arial"/>
              <a:buChar char="•"/>
            </a:pPr>
            <a:r>
              <a:rPr lang="en-US" sz="1350" b="0" dirty="0">
                <a:solidFill>
                  <a:srgbClr val="1A1A1A"/>
                </a:solidFill>
                <a:latin typeface="Arial"/>
                <a:ea typeface="Arial"/>
                <a:cs typeface="Arial"/>
              </a:rPr>
              <a:t>What changed since last week</a:t>
            </a:r>
          </a:p>
        </p:txBody>
      </p:sp>
      <p:sp>
        <p:nvSpPr>
          <p:cNvPr id="24" name="Key message bar"/>
          <p:cNvSpPr/>
          <p:nvPr/>
        </p:nvSpPr>
        <p:spPr>
          <a:xfrm>
            <a:off x="411480" y="598932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Key message accent"/>
          <p:cNvSpPr/>
          <p:nvPr/>
        </p:nvSpPr>
        <p:spPr>
          <a:xfrm>
            <a:off x="411480" y="598932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Key message"/>
          <p:cNvSpPr txBox="1"/>
          <p:nvPr/>
        </p:nvSpPr>
        <p:spPr>
          <a:xfrm>
            <a:off x="640080" y="598932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Leadership sees every project every week, without sitting in every project meeting.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Bare-minimum attendance: deciders attend, others on call</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11480" y="1280160"/>
          <a:ext cx="11365992" cy="4480560"/>
        </p:xfrm>
        <a:graphic>
          <a:graphicData uri="http://schemas.openxmlformats.org/drawingml/2006/table">
            <a:tbl>
              <a:tblPr firstRow="1" bandRow="1">
                <a:tableStyleId>{5C22544A-7EE6-4342-B048-85BDC9FD1C3A}</a:tableStyleId>
              </a:tblPr>
              <a:tblGrid>
                <a:gridCol w="2148840"/>
                <a:gridCol w="3291840"/>
                <a:gridCol w="3429000"/>
                <a:gridCol w="2496312"/>
              </a:tblGrid>
              <a:tr h="457200">
                <a:tc>
                  <a:txBody>
                    <a:bodyPr wrap="square"/>
                    <a:lstStyle/>
                    <a:p>
                      <a:pPr algn="ctr"/>
                      <a:r>
                        <a:rPr sz="1400" b="1">
                          <a:solidFill>
                            <a:srgbClr val="FFFFFF"/>
                          </a:solidFill>
                          <a:latin typeface="Arial"/>
                        </a:rPr>
                        <a:t>Meeting</a:t>
                      </a:r>
                    </a:p>
                  </a:txBody>
                  <a:tcPr marL="109728" marR="109728" marT="45720" marB="45720" anchor="ctr">
                    <a:solidFill>
                      <a:srgbClr val="141B4D"/>
                    </a:solidFill>
                  </a:tcPr>
                </a:tc>
                <a:tc>
                  <a:txBody>
                    <a:bodyPr wrap="square"/>
                    <a:lstStyle/>
                    <a:p>
                      <a:pPr algn="ctr"/>
                      <a:r>
                        <a:rPr sz="1400" b="1">
                          <a:solidFill>
                            <a:srgbClr val="FFFFFF"/>
                          </a:solidFill>
                          <a:latin typeface="Arial"/>
                        </a:rPr>
                        <a:t>Must attend</a:t>
                      </a:r>
                    </a:p>
                  </a:txBody>
                  <a:tcPr marL="109728" marR="109728" marT="45720" marB="45720" anchor="ctr">
                    <a:solidFill>
                      <a:srgbClr val="141B4D"/>
                    </a:solidFill>
                  </a:tcPr>
                </a:tc>
                <a:tc>
                  <a:txBody>
                    <a:bodyPr wrap="square"/>
                    <a:lstStyle/>
                    <a:p>
                      <a:pPr algn="ctr"/>
                      <a:r>
                        <a:rPr sz="1400" b="1">
                          <a:solidFill>
                            <a:srgbClr val="FFFFFF"/>
                          </a:solidFill>
                          <a:latin typeface="Arial"/>
                        </a:rPr>
                        <a:t>Joins only when needed</a:t>
                      </a:r>
                    </a:p>
                  </a:txBody>
                  <a:tcPr marL="109728" marR="109728" marT="45720" marB="45720" anchor="ctr">
                    <a:solidFill>
                      <a:srgbClr val="141B4D"/>
                    </a:solidFill>
                  </a:tcPr>
                </a:tc>
                <a:tc>
                  <a:txBody>
                    <a:bodyPr wrap="square"/>
                    <a:lstStyle/>
                    <a:p>
                      <a:pPr algn="ctr"/>
                      <a:r>
                        <a:rPr sz="1400" b="1">
                          <a:solidFill>
                            <a:srgbClr val="FFFFFF"/>
                          </a:solidFill>
                          <a:latin typeface="Arial"/>
                        </a:rPr>
                        <a:t>Gets the written update</a:t>
                      </a:r>
                    </a:p>
                  </a:txBody>
                  <a:tcPr marL="109728" marR="109728" marT="45720" marB="45720" anchor="ctr">
                    <a:solidFill>
                      <a:srgbClr val="141B4D"/>
                    </a:solidFill>
                  </a:tcPr>
                </a:tc>
              </a:tr>
              <a:tr h="1005840">
                <a:tc>
                  <a:txBody>
                    <a:bodyPr wrap="square"/>
                    <a:lstStyle/>
                    <a:p>
                      <a:pPr algn="l"/>
                      <a:r>
                        <a:rPr sz="1350" b="1">
                          <a:solidFill>
                            <a:srgbClr val="141B4D"/>
                          </a:solidFill>
                          <a:latin typeface="Arial"/>
                        </a:rPr>
                        <a:t>Project Sync</a:t>
                      </a:r>
                    </a:p>
                    <a:p>
                      <a:pPr algn="l"/>
                      <a:r>
                        <a:rPr sz="1350" b="0">
                          <a:solidFill>
                            <a:srgbClr val="141B4D"/>
                          </a:solidFill>
                          <a:latin typeface="Arial"/>
                        </a:rPr>
                        <a:t>weekly, 30 min</a:t>
                      </a:r>
                    </a:p>
                  </a:txBody>
                  <a:tcPr marL="109728" marR="109728" marT="45720" marB="45720" anchor="ctr">
                    <a:solidFill>
                      <a:srgbClr val="FFFFFF"/>
                    </a:solidFill>
                  </a:tcPr>
                </a:tc>
                <a:tc>
                  <a:txBody>
                    <a:bodyPr wrap="square"/>
                    <a:lstStyle/>
                    <a:p>
                      <a:pPr algn="l"/>
                      <a:r>
                        <a:rPr sz="1300" b="0">
                          <a:solidFill>
                            <a:srgbClr val="1A1A1A"/>
                          </a:solidFill>
                          <a:latin typeface="Arial"/>
                        </a:rPr>
                        <a:t>TPM (runs it)</a:t>
                      </a:r>
                    </a:p>
                    <a:p>
                      <a:pPr algn="l"/>
                      <a:r>
                        <a:rPr sz="1300" b="0">
                          <a:solidFill>
                            <a:srgbClr val="1A1A1A"/>
                          </a:solidFill>
                          <a:latin typeface="Arial"/>
                        </a:rPr>
                        <a:t>Product Owner or Business Lead</a:t>
                      </a:r>
                    </a:p>
                    <a:p>
                      <a:pPr algn="l"/>
                      <a:r>
                        <a:rPr sz="1300" b="0">
                          <a:solidFill>
                            <a:srgbClr val="1A1A1A"/>
                          </a:solidFill>
                          <a:latin typeface="Arial"/>
                        </a:rPr>
                        <a:t>Tech Lead</a:t>
                      </a:r>
                    </a:p>
                  </a:txBody>
                  <a:tcPr marL="109728" marR="109728" marT="45720" marB="45720" anchor="ctr">
                    <a:solidFill>
                      <a:srgbClr val="FFFFFF"/>
                    </a:solidFill>
                  </a:tcPr>
                </a:tc>
                <a:tc>
                  <a:txBody>
                    <a:bodyPr wrap="square"/>
                    <a:lstStyle/>
                    <a:p>
                      <a:pPr algn="l"/>
                      <a:r>
                        <a:rPr sz="1300" b="0">
                          <a:solidFill>
                            <a:srgbClr val="1A1A1A"/>
                          </a:solidFill>
                          <a:latin typeface="Arial"/>
                        </a:rPr>
                        <a:t>Agile Lead, Architect, QE, Release, SRE, SMEs, for their agenda item only</a:t>
                      </a:r>
                    </a:p>
                  </a:txBody>
                  <a:tcPr marL="109728" marR="109728" marT="45720" marB="45720" anchor="ctr">
                    <a:solidFill>
                      <a:srgbClr val="FFFFFF"/>
                    </a:solidFill>
                  </a:tcPr>
                </a:tc>
                <a:tc>
                  <a:txBody>
                    <a:bodyPr wrap="square"/>
                    <a:lstStyle/>
                    <a:p>
                      <a:pPr algn="l"/>
                      <a:r>
                        <a:rPr sz="1300" b="0">
                          <a:solidFill>
                            <a:srgbClr val="1A1A1A"/>
                          </a:solidFill>
                          <a:latin typeface="Arial"/>
                        </a:rPr>
                        <a:t>Agile Leads, sponsors, stakeholders</a:t>
                      </a:r>
                    </a:p>
                  </a:txBody>
                  <a:tcPr marL="109728" marR="109728" marT="45720" marB="45720" anchor="ctr">
                    <a:solidFill>
                      <a:srgbClr val="FFFFFF"/>
                    </a:solidFill>
                  </a:tcPr>
                </a:tc>
              </a:tr>
              <a:tr h="1005840">
                <a:tc>
                  <a:txBody>
                    <a:bodyPr wrap="square"/>
                    <a:lstStyle/>
                    <a:p>
                      <a:pPr algn="l"/>
                      <a:r>
                        <a:rPr sz="1350" b="1">
                          <a:solidFill>
                            <a:srgbClr val="141B4D"/>
                          </a:solidFill>
                          <a:latin typeface="Arial"/>
                        </a:rPr>
                        <a:t>Portfolio Pulse</a:t>
                      </a:r>
                    </a:p>
                    <a:p>
                      <a:pPr algn="l"/>
                      <a:r>
                        <a:rPr sz="1350" b="0">
                          <a:solidFill>
                            <a:srgbClr val="141B4D"/>
                          </a:solidFill>
                          <a:latin typeface="Arial"/>
                        </a:rPr>
                        <a:t>weekly, 30 min</a:t>
                      </a:r>
                    </a:p>
                  </a:txBody>
                  <a:tcPr marL="109728" marR="109728" marT="45720" marB="45720" anchor="ctr">
                    <a:solidFill>
                      <a:srgbClr val="EEF2FA"/>
                    </a:solidFill>
                  </a:tcPr>
                </a:tc>
                <a:tc>
                  <a:txBody>
                    <a:bodyPr wrap="square"/>
                    <a:lstStyle/>
                    <a:p>
                      <a:pPr algn="l"/>
                      <a:r>
                        <a:rPr sz="1300" b="0">
                          <a:solidFill>
                            <a:srgbClr val="1A1A1A"/>
                          </a:solidFill>
                          <a:latin typeface="Arial"/>
                        </a:rPr>
                        <a:t>Director or AVP (chair)</a:t>
                      </a:r>
                    </a:p>
                    <a:p>
                      <a:pPr algn="l"/>
                      <a:r>
                        <a:rPr sz="1300" b="0">
                          <a:solidFill>
                            <a:srgbClr val="1A1A1A"/>
                          </a:solidFill>
                          <a:latin typeface="Arial"/>
                        </a:rPr>
                        <a:t>Portfolio lead (runs it)</a:t>
                      </a:r>
                    </a:p>
                    <a:p>
                      <a:pPr algn="l"/>
                      <a:r>
                        <a:rPr sz="1300" b="0">
                          <a:solidFill>
                            <a:srgbClr val="1A1A1A"/>
                          </a:solidFill>
                          <a:latin typeface="Arial"/>
                        </a:rPr>
                        <a:t>Strategy business owners (up to 3)</a:t>
                      </a:r>
                    </a:p>
                  </a:txBody>
                  <a:tcPr marL="109728" marR="109728" marT="45720" marB="45720" anchor="ctr">
                    <a:solidFill>
                      <a:srgbClr val="EEF2FA"/>
                    </a:solidFill>
                  </a:tcPr>
                </a:tc>
                <a:tc>
                  <a:txBody>
                    <a:bodyPr wrap="square"/>
                    <a:lstStyle/>
                    <a:p>
                      <a:pPr algn="l"/>
                      <a:r>
                        <a:rPr sz="1300" b="0">
                          <a:solidFill>
                            <a:srgbClr val="1A1A1A"/>
                          </a:solidFill>
                          <a:latin typeface="Arial"/>
                        </a:rPr>
                        <a:t>TPMs of red or amber projects, for their slot only</a:t>
                      </a:r>
                    </a:p>
                  </a:txBody>
                  <a:tcPr marL="109728" marR="109728" marT="45720" marB="45720" anchor="ctr">
                    <a:solidFill>
                      <a:srgbClr val="EEF2FA"/>
                    </a:solidFill>
                  </a:tcPr>
                </a:tc>
                <a:tc>
                  <a:txBody>
                    <a:bodyPr wrap="square"/>
                    <a:lstStyle/>
                    <a:p>
                      <a:pPr algn="l"/>
                      <a:r>
                        <a:rPr sz="1300" b="0">
                          <a:solidFill>
                            <a:srgbClr val="1A1A1A"/>
                          </a:solidFill>
                          <a:latin typeface="Arial"/>
                        </a:rPr>
                        <a:t>All TPMs and the Planning team</a:t>
                      </a:r>
                    </a:p>
                  </a:txBody>
                  <a:tcPr marL="109728" marR="109728" marT="45720" marB="45720" anchor="ctr">
                    <a:solidFill>
                      <a:srgbClr val="EEF2FA"/>
                    </a:solidFill>
                  </a:tcPr>
                </a:tc>
              </a:tr>
              <a:tr h="1005840">
                <a:tc>
                  <a:txBody>
                    <a:bodyPr wrap="square"/>
                    <a:lstStyle/>
                    <a:p>
                      <a:pPr algn="l"/>
                      <a:r>
                        <a:rPr sz="1350" b="1">
                          <a:solidFill>
                            <a:srgbClr val="141B4D"/>
                          </a:solidFill>
                          <a:latin typeface="Arial"/>
                        </a:rPr>
                        <a:t>Portfolio Review</a:t>
                      </a:r>
                    </a:p>
                    <a:p>
                      <a:pPr algn="l"/>
                      <a:r>
                        <a:rPr sz="1350" b="0">
                          <a:solidFill>
                            <a:srgbClr val="141B4D"/>
                          </a:solidFill>
                          <a:latin typeface="Arial"/>
                        </a:rPr>
                        <a:t>monthly, 60 min</a:t>
                      </a:r>
                    </a:p>
                  </a:txBody>
                  <a:tcPr marL="109728" marR="109728" marT="45720" marB="45720" anchor="ctr">
                    <a:solidFill>
                      <a:srgbClr val="FFFFFF"/>
                    </a:solidFill>
                  </a:tcPr>
                </a:tc>
                <a:tc>
                  <a:txBody>
                    <a:bodyPr wrap="square"/>
                    <a:lstStyle/>
                    <a:p>
                      <a:pPr algn="l"/>
                      <a:r>
                        <a:rPr sz="1300" b="0">
                          <a:solidFill>
                            <a:srgbClr val="1A1A1A"/>
                          </a:solidFill>
                          <a:latin typeface="Arial"/>
                        </a:rPr>
                        <a:t>Director or AVP (chair)</a:t>
                      </a:r>
                    </a:p>
                    <a:p>
                      <a:pPr algn="l"/>
                      <a:r>
                        <a:rPr sz="1300" b="0">
                          <a:solidFill>
                            <a:srgbClr val="1A1A1A"/>
                          </a:solidFill>
                          <a:latin typeface="Arial"/>
                        </a:rPr>
                        <a:t>Portfolio lead (runs it)</a:t>
                      </a:r>
                    </a:p>
                    <a:p>
                      <a:pPr algn="l"/>
                      <a:r>
                        <a:rPr sz="1300" b="0">
                          <a:solidFill>
                            <a:srgbClr val="1A1A1A"/>
                          </a:solidFill>
                          <a:latin typeface="Arial"/>
                        </a:rPr>
                        <a:t>Finance partner</a:t>
                      </a:r>
                    </a:p>
                    <a:p>
                      <a:pPr algn="l"/>
                      <a:r>
                        <a:rPr sz="1300" b="0">
                          <a:solidFill>
                            <a:srgbClr val="1A1A1A"/>
                          </a:solidFill>
                          <a:latin typeface="Arial"/>
                        </a:rPr>
                        <a:t>Strategy business owners (up to 3)</a:t>
                      </a:r>
                    </a:p>
                  </a:txBody>
                  <a:tcPr marL="109728" marR="109728" marT="45720" marB="45720" anchor="ctr">
                    <a:solidFill>
                      <a:srgbClr val="FFFFFF"/>
                    </a:solidFill>
                  </a:tcPr>
                </a:tc>
                <a:tc>
                  <a:txBody>
                    <a:bodyPr wrap="square"/>
                    <a:lstStyle/>
                    <a:p>
                      <a:pPr algn="l"/>
                      <a:r>
                        <a:rPr sz="1300" b="0">
                          <a:solidFill>
                            <a:srgbClr val="1A1A1A"/>
                          </a:solidFill>
                          <a:latin typeface="Arial"/>
                        </a:rPr>
                        <a:t>TPMs if asked; architects for capacity trade-offs</a:t>
                      </a:r>
                    </a:p>
                  </a:txBody>
                  <a:tcPr marL="109728" marR="109728" marT="45720" marB="45720" anchor="ctr">
                    <a:solidFill>
                      <a:srgbClr val="FFFFFF"/>
                    </a:solidFill>
                  </a:tcPr>
                </a:tc>
                <a:tc>
                  <a:txBody>
                    <a:bodyPr wrap="square"/>
                    <a:lstStyle/>
                    <a:p>
                      <a:pPr algn="l"/>
                      <a:r>
                        <a:rPr sz="1300" b="0">
                          <a:solidFill>
                            <a:srgbClr val="1A1A1A"/>
                          </a:solidFill>
                          <a:latin typeface="Arial"/>
                        </a:rPr>
                        <a:t>All TPMs and sponsors</a:t>
                      </a:r>
                    </a:p>
                  </a:txBody>
                  <a:tcPr marL="109728" marR="109728" marT="45720" marB="45720" anchor="ctr">
                    <a:solidFill>
                      <a:srgbClr val="FFFFFF"/>
                    </a:solidFill>
                  </a:tcPr>
                </a:tc>
              </a:tr>
              <a:tr h="1005840">
                <a:tc>
                  <a:txBody>
                    <a:bodyPr wrap="square"/>
                    <a:lstStyle/>
                    <a:p>
                      <a:pPr algn="l"/>
                      <a:r>
                        <a:rPr sz="1350" b="1">
                          <a:solidFill>
                            <a:srgbClr val="141B4D"/>
                          </a:solidFill>
                          <a:latin typeface="Arial"/>
                        </a:rPr>
                        <a:t>Checkpoints</a:t>
                      </a:r>
                    </a:p>
                    <a:p>
                      <a:pPr algn="l"/>
                      <a:r>
                        <a:rPr sz="1350" b="0">
                          <a:solidFill>
                            <a:srgbClr val="141B4D"/>
                          </a:solidFill>
                          <a:latin typeface="Arial"/>
                        </a:rPr>
                        <a:t>as needed</a:t>
                      </a:r>
                    </a:p>
                  </a:txBody>
                  <a:tcPr marL="109728" marR="109728" marT="45720" marB="45720" anchor="ctr">
                    <a:solidFill>
                      <a:srgbClr val="EEF2FA"/>
                    </a:solidFill>
                  </a:tcPr>
                </a:tc>
                <a:tc>
                  <a:txBody>
                    <a:bodyPr wrap="square"/>
                    <a:lstStyle/>
                    <a:p>
                      <a:pPr algn="l"/>
                      <a:r>
                        <a:rPr sz="1300" b="0">
                          <a:solidFill>
                            <a:srgbClr val="1A1A1A"/>
                          </a:solidFill>
                          <a:latin typeface="Arial"/>
                        </a:rPr>
                        <a:t>The decision owner and the people doing the work</a:t>
                      </a:r>
                    </a:p>
                  </a:txBody>
                  <a:tcPr marL="109728" marR="109728" marT="45720" marB="45720" anchor="ctr">
                    <a:solidFill>
                      <a:srgbClr val="EEF2FA"/>
                    </a:solidFill>
                  </a:tcPr>
                </a:tc>
                <a:tc>
                  <a:txBody>
                    <a:bodyPr wrap="square"/>
                    <a:lstStyle/>
                    <a:p>
                      <a:pPr algn="l"/>
                      <a:r>
                        <a:rPr sz="1300" b="0">
                          <a:solidFill>
                            <a:srgbClr val="1A1A1A"/>
                          </a:solidFill>
                          <a:latin typeface="Arial"/>
                        </a:rPr>
                        <a:t>Example, Go / No-Go: TPM, Release Management, QE lead, Product Owner</a:t>
                      </a:r>
                    </a:p>
                  </a:txBody>
                  <a:tcPr marL="109728" marR="109728" marT="45720" marB="45720" anchor="ctr">
                    <a:solidFill>
                      <a:srgbClr val="EEF2FA"/>
                    </a:solidFill>
                  </a:tcPr>
                </a:tc>
                <a:tc>
                  <a:txBody>
                    <a:bodyPr wrap="square"/>
                    <a:lstStyle/>
                    <a:p>
                      <a:pPr algn="l"/>
                      <a:r>
                        <a:rPr sz="1300" b="0">
                          <a:solidFill>
                            <a:srgbClr val="1A1A1A"/>
                          </a:solidFill>
                          <a:latin typeface="Arial"/>
                        </a:rPr>
                        <a:t>Core project team</a:t>
                      </a:r>
                    </a:p>
                  </a:txBody>
                  <a:tcPr marL="109728" marR="109728" marT="45720" marB="45720" anchor="ctr">
                    <a:solidFill>
                      <a:srgbClr val="EEF2FA"/>
                    </a:solidFill>
                  </a:tcPr>
                </a:tc>
              </a:tr>
            </a:tbl>
          </a:graphicData>
        </a:graphic>
      </p:graphicFrame>
      <p:sp>
        <p:nvSpPr>
          <p:cNvPr id="5" name="Key message bar"/>
          <p:cNvSpPr/>
          <p:nvPr/>
        </p:nvSpPr>
        <p:spPr>
          <a:xfrm>
            <a:off x="411480" y="603504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ey message accent"/>
          <p:cNvSpPr/>
          <p:nvPr/>
        </p:nvSpPr>
        <p:spPr>
          <a:xfrm>
            <a:off x="411480" y="603504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message"/>
          <p:cNvSpPr txBox="1"/>
          <p:nvPr/>
        </p:nvSpPr>
        <p:spPr>
          <a:xfrm>
            <a:off x="640080" y="603504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Attendance follows decision rights, not awareness.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Early-warning triggers surface slips before they grow</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11480" y="1280160"/>
          <a:ext cx="11365992" cy="3749040"/>
        </p:xfrm>
        <a:graphic>
          <a:graphicData uri="http://schemas.openxmlformats.org/drawingml/2006/table">
            <a:tbl>
              <a:tblPr firstRow="1" bandRow="1">
                <a:tableStyleId>{5C22544A-7EE6-4342-B048-85BDC9FD1C3A}</a:tableStyleId>
              </a:tblPr>
              <a:tblGrid>
                <a:gridCol w="1828800"/>
                <a:gridCol w="3657600"/>
                <a:gridCol w="3566160"/>
                <a:gridCol w="2313432"/>
              </a:tblGrid>
              <a:tr h="457200">
                <a:tc>
                  <a:txBody>
                    <a:bodyPr wrap="square"/>
                    <a:lstStyle/>
                    <a:p>
                      <a:pPr algn="ctr"/>
                      <a:r>
                        <a:rPr sz="1400" b="1">
                          <a:solidFill>
                            <a:srgbClr val="FFFFFF"/>
                          </a:solidFill>
                          <a:latin typeface="Arial"/>
                        </a:rPr>
                        <a:t>Signal</a:t>
                      </a:r>
                    </a:p>
                  </a:txBody>
                  <a:tcPr marL="109728" marR="109728" marT="45720" marB="45720" anchor="ctr">
                    <a:solidFill>
                      <a:srgbClr val="141B4D"/>
                    </a:solidFill>
                  </a:tcPr>
                </a:tc>
                <a:tc>
                  <a:txBody>
                    <a:bodyPr wrap="square"/>
                    <a:lstStyle/>
                    <a:p>
                      <a:pPr algn="ctr"/>
                      <a:r>
                        <a:rPr sz="1400" b="1">
                          <a:solidFill>
                            <a:srgbClr val="FFFFFF"/>
                          </a:solidFill>
                          <a:latin typeface="Arial"/>
                        </a:rPr>
                        <a:t>Amber</a:t>
                      </a:r>
                    </a:p>
                  </a:txBody>
                  <a:tcPr marL="109728" marR="109728" marT="45720" marB="45720" anchor="ctr">
                    <a:solidFill>
                      <a:srgbClr val="141B4D"/>
                    </a:solidFill>
                  </a:tcPr>
                </a:tc>
                <a:tc>
                  <a:txBody>
                    <a:bodyPr wrap="square"/>
                    <a:lstStyle/>
                    <a:p>
                      <a:pPr algn="ctr"/>
                      <a:r>
                        <a:rPr sz="1400" b="1">
                          <a:solidFill>
                            <a:srgbClr val="FFFFFF"/>
                          </a:solidFill>
                          <a:latin typeface="Arial"/>
                        </a:rPr>
                        <a:t>Red</a:t>
                      </a:r>
                    </a:p>
                  </a:txBody>
                  <a:tcPr marL="109728" marR="109728" marT="45720" marB="45720" anchor="ctr">
                    <a:solidFill>
                      <a:srgbClr val="141B4D"/>
                    </a:solidFill>
                  </a:tcPr>
                </a:tc>
                <a:tc>
                  <a:txBody>
                    <a:bodyPr wrap="square"/>
                    <a:lstStyle/>
                    <a:p>
                      <a:pPr algn="ctr"/>
                      <a:r>
                        <a:rPr sz="1400" b="1">
                          <a:solidFill>
                            <a:srgbClr val="FFFFFF"/>
                          </a:solidFill>
                          <a:latin typeface="Arial"/>
                        </a:rPr>
                        <a:t>Where it goes</a:t>
                      </a:r>
                    </a:p>
                  </a:txBody>
                  <a:tcPr marL="109728" marR="109728" marT="45720" marB="45720" anchor="ctr">
                    <a:solidFill>
                      <a:srgbClr val="141B4D"/>
                    </a:solidFill>
                  </a:tcPr>
                </a:tc>
              </a:tr>
              <a:tr h="548640">
                <a:tc>
                  <a:txBody>
                    <a:bodyPr wrap="square"/>
                    <a:lstStyle/>
                    <a:p>
                      <a:pPr algn="l"/>
                      <a:r>
                        <a:rPr sz="1400" b="1">
                          <a:solidFill>
                            <a:srgbClr val="141B4D"/>
                          </a:solidFill>
                          <a:latin typeface="Arial"/>
                        </a:rPr>
                        <a:t>Schedule</a:t>
                      </a:r>
                    </a:p>
                  </a:txBody>
                  <a:tcPr marL="109728" marR="109728" marT="45720" marB="45720" anchor="ctr">
                    <a:solidFill>
                      <a:srgbClr val="FFFFFF"/>
                    </a:solidFill>
                  </a:tcPr>
                </a:tc>
                <a:tc>
                  <a:txBody>
                    <a:bodyPr wrap="square"/>
                    <a:lstStyle/>
                    <a:p>
                      <a:pPr algn="l"/>
                      <a:r>
                        <a:rPr sz="1300" b="0">
                          <a:solidFill>
                            <a:srgbClr val="1A1A1A"/>
                          </a:solidFill>
                          <a:latin typeface="Arial"/>
                        </a:rPr>
                        <a:t>Milestone missed, or forecast finish up to 2 weeks late</a:t>
                      </a:r>
                    </a:p>
                  </a:txBody>
                  <a:tcPr marL="109728" marR="109728" marT="45720" marB="45720" anchor="ctr">
                    <a:solidFill>
                      <a:srgbClr val="FFFFFF"/>
                    </a:solidFill>
                  </a:tcPr>
                </a:tc>
                <a:tc>
                  <a:txBody>
                    <a:bodyPr wrap="square"/>
                    <a:lstStyle/>
                    <a:p>
                      <a:pPr algn="l"/>
                      <a:r>
                        <a:rPr sz="1300" b="0">
                          <a:solidFill>
                            <a:srgbClr val="1A1A1A"/>
                          </a:solidFill>
                          <a:latin typeface="Arial"/>
                        </a:rPr>
                        <a:t>More than 2 weeks late, or a gate date at risk</a:t>
                      </a:r>
                    </a:p>
                  </a:txBody>
                  <a:tcPr marL="109728" marR="109728" marT="45720" marB="45720" anchor="ctr">
                    <a:solidFill>
                      <a:srgbClr val="FFFFFF"/>
                    </a:solidFill>
                  </a:tcPr>
                </a:tc>
                <a:tc>
                  <a:txBody>
                    <a:bodyPr wrap="square"/>
                    <a:lstStyle/>
                    <a:p>
                      <a:pPr algn="l"/>
                      <a:r>
                        <a:rPr sz="1300" b="0">
                          <a:solidFill>
                            <a:srgbClr val="1A1A1A"/>
                          </a:solidFill>
                          <a:latin typeface="Arial"/>
                        </a:rPr>
                        <a:t>Portfolio Pulse</a:t>
                      </a:r>
                    </a:p>
                  </a:txBody>
                  <a:tcPr marL="109728" marR="109728" marT="45720" marB="45720" anchor="ctr">
                    <a:solidFill>
                      <a:srgbClr val="FFFFFF"/>
                    </a:solidFill>
                  </a:tcPr>
                </a:tc>
              </a:tr>
              <a:tr h="548640">
                <a:tc>
                  <a:txBody>
                    <a:bodyPr wrap="square"/>
                    <a:lstStyle/>
                    <a:p>
                      <a:pPr algn="l"/>
                      <a:r>
                        <a:rPr sz="1400" b="1">
                          <a:solidFill>
                            <a:srgbClr val="141B4D"/>
                          </a:solidFill>
                          <a:latin typeface="Arial"/>
                        </a:rPr>
                        <a:t>Cost</a:t>
                      </a:r>
                    </a:p>
                  </a:txBody>
                  <a:tcPr marL="109728" marR="109728" marT="45720" marB="45720" anchor="ctr">
                    <a:solidFill>
                      <a:srgbClr val="EEF2FA"/>
                    </a:solidFill>
                  </a:tcPr>
                </a:tc>
                <a:tc>
                  <a:txBody>
                    <a:bodyPr wrap="square"/>
                    <a:lstStyle/>
                    <a:p>
                      <a:pPr algn="l"/>
                      <a:r>
                        <a:rPr sz="1300" b="0">
                          <a:solidFill>
                            <a:srgbClr val="1A1A1A"/>
                          </a:solidFill>
                          <a:latin typeface="Arial"/>
                        </a:rPr>
                        <a:t>Forecast more than 5% over budget</a:t>
                      </a:r>
                    </a:p>
                  </a:txBody>
                  <a:tcPr marL="109728" marR="109728" marT="45720" marB="45720" anchor="ctr">
                    <a:solidFill>
                      <a:srgbClr val="EEF2FA"/>
                    </a:solidFill>
                  </a:tcPr>
                </a:tc>
                <a:tc>
                  <a:txBody>
                    <a:bodyPr wrap="square"/>
                    <a:lstStyle/>
                    <a:p>
                      <a:pPr algn="l"/>
                      <a:r>
                        <a:rPr sz="1300" b="0">
                          <a:solidFill>
                            <a:srgbClr val="1A1A1A"/>
                          </a:solidFill>
                          <a:latin typeface="Arial"/>
                        </a:rPr>
                        <a:t>Forecast more than 10% over budget</a:t>
                      </a:r>
                    </a:p>
                  </a:txBody>
                  <a:tcPr marL="109728" marR="109728" marT="45720" marB="45720" anchor="ctr">
                    <a:solidFill>
                      <a:srgbClr val="EEF2FA"/>
                    </a:solidFill>
                  </a:tcPr>
                </a:tc>
                <a:tc>
                  <a:txBody>
                    <a:bodyPr wrap="square"/>
                    <a:lstStyle/>
                    <a:p>
                      <a:pPr algn="l"/>
                      <a:r>
                        <a:rPr sz="1300" b="0">
                          <a:solidFill>
                            <a:srgbClr val="1A1A1A"/>
                          </a:solidFill>
                          <a:latin typeface="Arial"/>
                        </a:rPr>
                        <a:t>Pulse; Review for funding</a:t>
                      </a:r>
                    </a:p>
                  </a:txBody>
                  <a:tcPr marL="109728" marR="109728" marT="45720" marB="45720" anchor="ctr">
                    <a:solidFill>
                      <a:srgbClr val="EEF2FA"/>
                    </a:solidFill>
                  </a:tcPr>
                </a:tc>
              </a:tr>
              <a:tr h="548640">
                <a:tc>
                  <a:txBody>
                    <a:bodyPr wrap="square"/>
                    <a:lstStyle/>
                    <a:p>
                      <a:pPr algn="l"/>
                      <a:r>
                        <a:rPr sz="1400" b="1">
                          <a:solidFill>
                            <a:srgbClr val="141B4D"/>
                          </a:solidFill>
                          <a:latin typeface="Arial"/>
                        </a:rPr>
                        <a:t>Blockers</a:t>
                      </a:r>
                    </a:p>
                  </a:txBody>
                  <a:tcPr marL="109728" marR="109728" marT="45720" marB="45720" anchor="ctr">
                    <a:solidFill>
                      <a:srgbClr val="FFFFFF"/>
                    </a:solidFill>
                  </a:tcPr>
                </a:tc>
                <a:tc>
                  <a:txBody>
                    <a:bodyPr wrap="square"/>
                    <a:lstStyle/>
                    <a:p>
                      <a:pPr algn="l"/>
                      <a:r>
                        <a:rPr sz="1300" b="0">
                          <a:solidFill>
                            <a:srgbClr val="1A1A1A"/>
                          </a:solidFill>
                          <a:latin typeface="Arial"/>
                        </a:rPr>
                        <a:t>Open more than 5 business days</a:t>
                      </a:r>
                    </a:p>
                  </a:txBody>
                  <a:tcPr marL="109728" marR="109728" marT="45720" marB="45720" anchor="ctr">
                    <a:solidFill>
                      <a:srgbClr val="FFFFFF"/>
                    </a:solidFill>
                  </a:tcPr>
                </a:tc>
                <a:tc>
                  <a:txBody>
                    <a:bodyPr wrap="square"/>
                    <a:lstStyle/>
                    <a:p>
                      <a:pPr algn="l"/>
                      <a:r>
                        <a:rPr sz="1300" b="0">
                          <a:solidFill>
                            <a:srgbClr val="1A1A1A"/>
                          </a:solidFill>
                          <a:latin typeface="Arial"/>
                        </a:rPr>
                        <a:t>Open more than 10 business days, or blocking a gate</a:t>
                      </a:r>
                    </a:p>
                  </a:txBody>
                  <a:tcPr marL="109728" marR="109728" marT="45720" marB="45720" anchor="ctr">
                    <a:solidFill>
                      <a:srgbClr val="FFFFFF"/>
                    </a:solidFill>
                  </a:tcPr>
                </a:tc>
                <a:tc>
                  <a:txBody>
                    <a:bodyPr wrap="square"/>
                    <a:lstStyle/>
                    <a:p>
                      <a:pPr algn="l"/>
                      <a:r>
                        <a:rPr sz="1300" b="0">
                          <a:solidFill>
                            <a:srgbClr val="1A1A1A"/>
                          </a:solidFill>
                          <a:latin typeface="Arial"/>
                        </a:rPr>
                        <a:t>Portfolio Pulse</a:t>
                      </a:r>
                    </a:p>
                  </a:txBody>
                  <a:tcPr marL="109728" marR="109728" marT="45720" marB="45720" anchor="ctr">
                    <a:solidFill>
                      <a:srgbClr val="FFFFFF"/>
                    </a:solidFill>
                  </a:tcPr>
                </a:tc>
              </a:tr>
              <a:tr h="548640">
                <a:tc>
                  <a:txBody>
                    <a:bodyPr wrap="square"/>
                    <a:lstStyle/>
                    <a:p>
                      <a:pPr algn="l"/>
                      <a:r>
                        <a:rPr sz="1400" b="1">
                          <a:solidFill>
                            <a:srgbClr val="141B4D"/>
                          </a:solidFill>
                          <a:latin typeface="Arial"/>
                        </a:rPr>
                        <a:t>Scope</a:t>
                      </a:r>
                    </a:p>
                  </a:txBody>
                  <a:tcPr marL="109728" marR="109728" marT="45720" marB="45720" anchor="ctr">
                    <a:solidFill>
                      <a:srgbClr val="EEF2FA"/>
                    </a:solidFill>
                  </a:tcPr>
                </a:tc>
                <a:tc>
                  <a:txBody>
                    <a:bodyPr wrap="square"/>
                    <a:lstStyle/>
                    <a:p>
                      <a:pPr algn="l"/>
                      <a:r>
                        <a:rPr sz="1300" b="0">
                          <a:solidFill>
                            <a:srgbClr val="1A1A1A"/>
                          </a:solidFill>
                          <a:latin typeface="Arial"/>
                        </a:rPr>
                        <a:t>Change request pending</a:t>
                      </a:r>
                    </a:p>
                  </a:txBody>
                  <a:tcPr marL="109728" marR="109728" marT="45720" marB="45720" anchor="ctr">
                    <a:solidFill>
                      <a:srgbClr val="EEF2FA"/>
                    </a:solidFill>
                  </a:tcPr>
                </a:tc>
                <a:tc>
                  <a:txBody>
                    <a:bodyPr wrap="square"/>
                    <a:lstStyle/>
                    <a:p>
                      <a:pPr algn="l"/>
                      <a:r>
                        <a:rPr sz="1300" b="0">
                          <a:solidFill>
                            <a:srgbClr val="1A1A1A"/>
                          </a:solidFill>
                          <a:latin typeface="Arial"/>
                        </a:rPr>
                        <a:t>Change affects the date or budget</a:t>
                      </a:r>
                    </a:p>
                  </a:txBody>
                  <a:tcPr marL="109728" marR="109728" marT="45720" marB="45720" anchor="ctr">
                    <a:solidFill>
                      <a:srgbClr val="EEF2FA"/>
                    </a:solidFill>
                  </a:tcPr>
                </a:tc>
                <a:tc>
                  <a:txBody>
                    <a:bodyPr wrap="square"/>
                    <a:lstStyle/>
                    <a:p>
                      <a:pPr algn="l"/>
                      <a:r>
                        <a:rPr sz="1300" b="0">
                          <a:solidFill>
                            <a:srgbClr val="1A1A1A"/>
                          </a:solidFill>
                          <a:latin typeface="Arial"/>
                        </a:rPr>
                        <a:t>Pulse for a decision</a:t>
                      </a:r>
                    </a:p>
                  </a:txBody>
                  <a:tcPr marL="109728" marR="109728" marT="45720" marB="45720" anchor="ctr">
                    <a:solidFill>
                      <a:srgbClr val="EEF2FA"/>
                    </a:solidFill>
                  </a:tcPr>
                </a:tc>
              </a:tr>
              <a:tr h="548640">
                <a:tc>
                  <a:txBody>
                    <a:bodyPr wrap="square"/>
                    <a:lstStyle/>
                    <a:p>
                      <a:pPr algn="l"/>
                      <a:r>
                        <a:rPr sz="1400" b="1">
                          <a:solidFill>
                            <a:srgbClr val="141B4D"/>
                          </a:solidFill>
                          <a:latin typeface="Arial"/>
                        </a:rPr>
                        <a:t>Resources</a:t>
                      </a:r>
                    </a:p>
                  </a:txBody>
                  <a:tcPr marL="109728" marR="109728" marT="45720" marB="45720" anchor="ctr">
                    <a:solidFill>
                      <a:srgbClr val="FFFFFF"/>
                    </a:solidFill>
                  </a:tcPr>
                </a:tc>
                <a:tc>
                  <a:txBody>
                    <a:bodyPr wrap="square"/>
                    <a:lstStyle/>
                    <a:p>
                      <a:pPr algn="l"/>
                      <a:r>
                        <a:rPr sz="1300" b="0">
                          <a:solidFill>
                            <a:srgbClr val="1A1A1A"/>
                          </a:solidFill>
                          <a:latin typeface="Arial"/>
                        </a:rPr>
                        <a:t>Key role at risk, or a shared-resource conflict</a:t>
                      </a:r>
                    </a:p>
                  </a:txBody>
                  <a:tcPr marL="109728" marR="109728" marT="45720" marB="45720" anchor="ctr">
                    <a:solidFill>
                      <a:srgbClr val="FFFFFF"/>
                    </a:solidFill>
                  </a:tcPr>
                </a:tc>
                <a:tc>
                  <a:txBody>
                    <a:bodyPr wrap="square"/>
                    <a:lstStyle/>
                    <a:p>
                      <a:pPr algn="l"/>
                      <a:r>
                        <a:rPr sz="1300" b="0">
                          <a:solidFill>
                            <a:srgbClr val="1A1A1A"/>
                          </a:solidFill>
                          <a:latin typeface="Arial"/>
                        </a:rPr>
                        <a:t>Key role unfilled for 2 weeks or more</a:t>
                      </a:r>
                    </a:p>
                  </a:txBody>
                  <a:tcPr marL="109728" marR="109728" marT="45720" marB="45720" anchor="ctr">
                    <a:solidFill>
                      <a:srgbClr val="FFFFFF"/>
                    </a:solidFill>
                  </a:tcPr>
                </a:tc>
                <a:tc>
                  <a:txBody>
                    <a:bodyPr wrap="square"/>
                    <a:lstStyle/>
                    <a:p>
                      <a:pPr algn="l"/>
                      <a:r>
                        <a:rPr sz="1300" b="0">
                          <a:solidFill>
                            <a:srgbClr val="1A1A1A"/>
                          </a:solidFill>
                          <a:latin typeface="Arial"/>
                        </a:rPr>
                        <a:t>Portfolio Pulse</a:t>
                      </a:r>
                    </a:p>
                  </a:txBody>
                  <a:tcPr marL="109728" marR="109728" marT="45720" marB="45720" anchor="ctr">
                    <a:solidFill>
                      <a:srgbClr val="FFFFFF"/>
                    </a:solidFill>
                  </a:tcPr>
                </a:tc>
              </a:tr>
              <a:tr h="548640">
                <a:tc>
                  <a:txBody>
                    <a:bodyPr wrap="square"/>
                    <a:lstStyle/>
                    <a:p>
                      <a:pPr algn="l"/>
                      <a:r>
                        <a:rPr sz="1400" b="1">
                          <a:solidFill>
                            <a:srgbClr val="141B4D"/>
                          </a:solidFill>
                          <a:latin typeface="Arial"/>
                        </a:rPr>
                        <a:t>Missing update</a:t>
                      </a:r>
                    </a:p>
                  </a:txBody>
                  <a:tcPr marL="109728" marR="109728" marT="45720" marB="45720" anchor="ctr">
                    <a:solidFill>
                      <a:srgbClr val="EEF2FA"/>
                    </a:solidFill>
                  </a:tcPr>
                </a:tc>
                <a:tc>
                  <a:txBody>
                    <a:bodyPr wrap="square"/>
                    <a:lstStyle/>
                    <a:p>
                      <a:pPr algn="l"/>
                      <a:r>
                        <a:rPr sz="1300" b="0">
                          <a:solidFill>
                            <a:srgbClr val="1A1A1A"/>
                          </a:solidFill>
                          <a:latin typeface="Arial"/>
                        </a:rPr>
                        <a:t>No update by Friday noon: automatically amber</a:t>
                      </a:r>
                    </a:p>
                  </a:txBody>
                  <a:tcPr marL="109728" marR="109728" marT="45720" marB="45720" anchor="ctr">
                    <a:solidFill>
                      <a:srgbClr val="EEF2FA"/>
                    </a:solidFill>
                  </a:tcPr>
                </a:tc>
                <a:tc>
                  <a:txBody>
                    <a:bodyPr wrap="square"/>
                    <a:lstStyle/>
                    <a:p>
                      <a:pPr algn="l"/>
                      <a:r>
                        <a:rPr sz="1300" b="0">
                          <a:solidFill>
                            <a:srgbClr val="1A1A1A"/>
                          </a:solidFill>
                          <a:latin typeface="Arial"/>
                        </a:rPr>
                        <a:t>Two missed updates in a row</a:t>
                      </a:r>
                    </a:p>
                  </a:txBody>
                  <a:tcPr marL="109728" marR="109728" marT="45720" marB="45720" anchor="ctr">
                    <a:solidFill>
                      <a:srgbClr val="EEF2FA"/>
                    </a:solidFill>
                  </a:tcPr>
                </a:tc>
                <a:tc>
                  <a:txBody>
                    <a:bodyPr wrap="square"/>
                    <a:lstStyle/>
                    <a:p>
                      <a:pPr algn="l"/>
                      <a:r>
                        <a:rPr sz="1300" b="0">
                          <a:solidFill>
                            <a:srgbClr val="1A1A1A"/>
                          </a:solidFill>
                          <a:latin typeface="Arial"/>
                        </a:rPr>
                        <a:t>Portfolio lead follows up</a:t>
                      </a:r>
                    </a:p>
                  </a:txBody>
                  <a:tcPr marL="109728" marR="109728" marT="45720" marB="45720" anchor="ctr">
                    <a:solidFill>
                      <a:srgbClr val="EEF2FA"/>
                    </a:solidFill>
                  </a:tcPr>
                </a:tc>
              </a:tr>
            </a:tbl>
          </a:graphicData>
        </a:graphic>
      </p:graphicFrame>
      <p:sp>
        <p:nvSpPr>
          <p:cNvPr id="5" name="Footnote"/>
          <p:cNvSpPr txBox="1"/>
          <p:nvPr/>
        </p:nvSpPr>
        <p:spPr>
          <a:xfrm>
            <a:off x="411480" y="5440680"/>
            <a:ext cx="11338560" cy="320040"/>
          </a:xfrm>
          <a:prstGeom prst="rect">
            <a:avLst/>
          </a:prstGeom>
          <a:noFill/>
        </p:spPr>
        <p:txBody>
          <a:bodyPr wrap="square" lIns="45720" tIns="45720" rIns="45720" bIns="45720" anchor="ctr">
            <a:noAutofit/>
          </a:bodyPr>
          <a:lstStyle/>
          <a:p>
            <a:pPr marL="0" indent="0" algn="l">
              <a:buNone/>
            </a:pPr>
            <a:r>
              <a:rPr lang="en-US" sz="1050" b="0" i="1" dirty="0">
                <a:solidFill>
                  <a:srgbClr val="5F6673"/>
                </a:solidFill>
                <a:latin typeface="Arial"/>
                <a:ea typeface="Arial"/>
                <a:cs typeface="Arial"/>
              </a:rPr>
              <a:t>Proposed starting thresholds. Calibrate them with leadership during the first 90 days.</a:t>
            </a:r>
          </a:p>
        </p:txBody>
      </p:sp>
      <p:sp>
        <p:nvSpPr>
          <p:cNvPr id="6" name="Key message bar"/>
          <p:cNvSpPr/>
          <p:nvPr/>
        </p:nvSpPr>
        <p:spPr>
          <a:xfrm>
            <a:off x="411480" y="589788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ey message accent"/>
          <p:cNvSpPr/>
          <p:nvPr/>
        </p:nvSpPr>
        <p:spPr>
          <a:xfrm>
            <a:off x="411480" y="589788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Key message"/>
          <p:cNvSpPr txBox="1"/>
          <p:nvPr/>
        </p:nvSpPr>
        <p:spPr>
          <a:xfrm>
            <a:off x="640080" y="589788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Slips are caught by rule every week, not by chance in a meeting.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One cadence cuts recurring hours by 79%, versus 65% tiered</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graphicFrame>
        <p:nvGraphicFramePr>
          <p:cNvPr id="4" name="Chart 3"/>
          <p:cNvGraphicFramePr>
            <a:graphicFrameLocks noGrp="1"/>
          </p:cNvGraphicFramePr>
          <p:nvPr/>
        </p:nvGraphicFramePr>
        <p:xfrm>
          <a:off x="411480" y="1280160"/>
          <a:ext cx="7315200" cy="4526280"/>
        </p:xfrm>
        <a:graphic>
          <a:graphicData uri="http://schemas.openxmlformats.org/drawingml/2006/chart">
            <c:chart xmlns:c="http://schemas.openxmlformats.org/drawingml/2006/chart" r:id="rId2"/>
          </a:graphicData>
        </a:graphic>
      </p:graphicFrame>
      <p:sp>
        <p:nvSpPr>
          <p:cNvPr id="5" name="Chart card 1"/>
          <p:cNvSpPr/>
          <p:nvPr/>
        </p:nvSpPr>
        <p:spPr>
          <a:xfrm>
            <a:off x="8001000" y="1280160"/>
            <a:ext cx="3776472" cy="123444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art card 1 text"/>
          <p:cNvSpPr txBox="1"/>
          <p:nvPr/>
        </p:nvSpPr>
        <p:spPr>
          <a:xfrm>
            <a:off x="8229600" y="1280160"/>
            <a:ext cx="3474720" cy="1234440"/>
          </a:xfrm>
          <a:prstGeom prst="rect">
            <a:avLst/>
          </a:prstGeom>
          <a:noFill/>
        </p:spPr>
        <p:txBody>
          <a:bodyPr wrap="square" lIns="45720" tIns="45720" rIns="45720" bIns="45720" anchor="ctr">
            <a:noAutofit/>
          </a:bodyPr>
          <a:lstStyle/>
          <a:p>
            <a:pPr marL="0" indent="0" algn="l">
              <a:buNone/>
            </a:pPr>
            <a:r>
              <a:rPr lang="en-US" sz="3000" b="1" dirty="0">
                <a:solidFill>
                  <a:srgbClr val="FFFFFF"/>
                </a:solidFill>
                <a:latin typeface="Georgia"/>
                <a:ea typeface="Georgia"/>
                <a:cs typeface="Georgia"/>
              </a:rPr>
              <a:t>9,480 → 1,996</a:t>
            </a:r>
          </a:p>
          <a:p>
            <a:pPr marL="0" indent="0" algn="l">
              <a:buNone/>
            </a:pPr>
            <a:r>
              <a:rPr lang="en-US" sz="1400" b="0" dirty="0">
                <a:solidFill>
                  <a:srgbClr val="E6ECF8"/>
                </a:solidFill>
                <a:latin typeface="Arial"/>
                <a:ea typeface="Arial"/>
                <a:cs typeface="Arial"/>
              </a:rPr>
              <a:t>total recurring attendee-hours</a:t>
            </a:r>
          </a:p>
        </p:txBody>
      </p:sp>
      <p:sp>
        <p:nvSpPr>
          <p:cNvPr id="7" name="Chart card 2"/>
          <p:cNvSpPr/>
          <p:nvPr/>
        </p:nvSpPr>
        <p:spPr>
          <a:xfrm>
            <a:off x="8001000" y="2633472"/>
            <a:ext cx="3776472" cy="1298448"/>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art card 2 text"/>
          <p:cNvSpPr txBox="1"/>
          <p:nvPr/>
        </p:nvSpPr>
        <p:spPr>
          <a:xfrm>
            <a:off x="8229600" y="2633472"/>
            <a:ext cx="3474720" cy="1298448"/>
          </a:xfrm>
          <a:prstGeom prst="rect">
            <a:avLst/>
          </a:prstGeom>
          <a:noFill/>
        </p:spPr>
        <p:txBody>
          <a:bodyPr wrap="square" lIns="45720" tIns="45720" rIns="45720" bIns="45720" anchor="ctr">
            <a:noAutofit/>
          </a:bodyPr>
          <a:lstStyle/>
          <a:p>
            <a:pPr marL="0" indent="0" algn="l">
              <a:buNone/>
            </a:pPr>
            <a:r>
              <a:rPr lang="en-US" sz="3000" b="1" dirty="0">
                <a:solidFill>
                  <a:srgbClr val="FFFFFF"/>
                </a:solidFill>
                <a:latin typeface="Georgia"/>
                <a:ea typeface="Georgia"/>
                <a:cs typeface="Georgia"/>
              </a:rPr>
              <a:t>7,484 hours</a:t>
            </a:r>
          </a:p>
          <a:p>
            <a:pPr marL="0" indent="0" algn="l">
              <a:buNone/>
            </a:pPr>
            <a:r>
              <a:rPr lang="en-US" sz="1400" b="0" dirty="0">
                <a:solidFill>
                  <a:srgbClr val="FFFFFF"/>
                </a:solidFill>
                <a:latin typeface="Arial"/>
                <a:ea typeface="Arial"/>
                <a:cs typeface="Arial"/>
              </a:rPr>
              <a:t>released annually</a:t>
            </a:r>
          </a:p>
          <a:p>
            <a:pPr marL="0" indent="0" algn="l">
              <a:buNone/>
            </a:pPr>
            <a:r>
              <a:rPr lang="en-US" sz="1500" b="1" dirty="0">
                <a:solidFill>
                  <a:srgbClr val="FFFFFF"/>
                </a:solidFill>
                <a:latin typeface="Arial"/>
                <a:ea typeface="Arial"/>
                <a:cs typeface="Arial"/>
              </a:rPr>
              <a:t>$748,400 at $100 / hour</a:t>
            </a:r>
          </a:p>
        </p:txBody>
      </p:sp>
      <p:sp>
        <p:nvSpPr>
          <p:cNvPr id="9" name="Chart card 3"/>
          <p:cNvSpPr/>
          <p:nvPr/>
        </p:nvSpPr>
        <p:spPr>
          <a:xfrm>
            <a:off x="8001000" y="4050791"/>
            <a:ext cx="3776472" cy="175564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art card 3 text"/>
          <p:cNvSpPr txBox="1"/>
          <p:nvPr/>
        </p:nvSpPr>
        <p:spPr>
          <a:xfrm>
            <a:off x="8183879" y="4096512"/>
            <a:ext cx="3520440" cy="1664208"/>
          </a:xfrm>
          <a:prstGeom prst="rect">
            <a:avLst/>
          </a:prstGeom>
          <a:noFill/>
        </p:spPr>
        <p:txBody>
          <a:bodyPr wrap="square" lIns="45720" tIns="45720" rIns="45720" bIns="45720" anchor="ctr">
            <a:noAutofit/>
          </a:bodyPr>
          <a:lstStyle/>
          <a:p>
            <a:pPr marL="0" indent="0" algn="l">
              <a:spcAft>
                <a:spcPts val="400"/>
              </a:spcAft>
              <a:buNone/>
            </a:pPr>
            <a:r>
              <a:rPr lang="en-US" sz="1400" b="1" dirty="0">
                <a:solidFill>
                  <a:srgbClr val="141B4D"/>
                </a:solidFill>
                <a:latin typeface="Arial"/>
                <a:ea typeface="Arial"/>
                <a:cs typeface="Arial"/>
              </a:rPr>
              <a:t>How 1,996 is built</a:t>
            </a:r>
          </a:p>
          <a:p>
            <a:pPr marL="0" indent="0" algn="l">
              <a:spcAft>
                <a:spcPts val="200"/>
              </a:spcAft>
              <a:buNone/>
            </a:pPr>
            <a:r>
              <a:rPr lang="en-US" sz="1250" b="0" dirty="0">
                <a:solidFill>
                  <a:srgbClr val="1A1A1A"/>
                </a:solidFill>
                <a:latin typeface="Arial"/>
                <a:ea typeface="Arial"/>
                <a:cs typeface="Arial"/>
              </a:rPr>
              <a:t>Project Syncs   22 x 3 x 30 min x 52 = 1,716</a:t>
            </a:r>
          </a:p>
          <a:p>
            <a:pPr marL="0" indent="0" algn="l">
              <a:spcAft>
                <a:spcPts val="200"/>
              </a:spcAft>
              <a:buNone/>
            </a:pPr>
            <a:r>
              <a:rPr lang="en-US" sz="1250" b="0" dirty="0">
                <a:solidFill>
                  <a:srgbClr val="1A1A1A"/>
                </a:solidFill>
                <a:latin typeface="Arial"/>
                <a:ea typeface="Arial"/>
                <a:cs typeface="Arial"/>
              </a:rPr>
              <a:t>Portfolio Pulse   8 x 30 min x 52 = 208</a:t>
            </a:r>
          </a:p>
          <a:p>
            <a:pPr marL="0" indent="0" algn="l">
              <a:spcAft>
                <a:spcPts val="400"/>
              </a:spcAft>
              <a:buNone/>
            </a:pPr>
            <a:r>
              <a:rPr lang="en-US" sz="1250" b="0" dirty="0">
                <a:solidFill>
                  <a:srgbClr val="1A1A1A"/>
                </a:solidFill>
                <a:latin typeface="Arial"/>
                <a:ea typeface="Arial"/>
                <a:cs typeface="Arial"/>
              </a:rPr>
              <a:t>Portfolio Review   6 x 60 min x 12 = 72</a:t>
            </a:r>
          </a:p>
          <a:p>
            <a:pPr marL="0" indent="0" algn="l">
              <a:buNone/>
            </a:pPr>
            <a:r>
              <a:rPr lang="en-US" sz="1100" b="0" i="1" dirty="0">
                <a:solidFill>
                  <a:srgbClr val="5F6673"/>
                </a:solidFill>
                <a:latin typeface="Arial"/>
                <a:ea typeface="Arial"/>
                <a:cs typeface="Arial"/>
              </a:rPr>
              <a:t>Pulse: 5 required plus 3 TPMs on average</a:t>
            </a:r>
          </a:p>
        </p:txBody>
      </p:sp>
      <p:sp>
        <p:nvSpPr>
          <p:cNvPr id="11" name="Key message bar"/>
          <p:cNvSpPr/>
          <p:nvPr/>
        </p:nvSpPr>
        <p:spPr>
          <a:xfrm>
            <a:off x="411480" y="598932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Key message accent"/>
          <p:cNvSpPr/>
          <p:nvPr/>
        </p:nvSpPr>
        <p:spPr>
          <a:xfrm>
            <a:off x="411480" y="598932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ey message"/>
          <p:cNvSpPr txBox="1"/>
          <p:nvPr/>
        </p:nvSpPr>
        <p:spPr>
          <a:xfrm>
            <a:off x="640080" y="598932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One cadence releases 1,304 more hours a year than the tiered proposal ($130,400).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Side by side: the tiered proposal versus one cadence</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11480" y="1280160"/>
          <a:ext cx="11365991" cy="3968496"/>
        </p:xfrm>
        <a:graphic>
          <a:graphicData uri="http://schemas.openxmlformats.org/drawingml/2006/table">
            <a:tbl>
              <a:tblPr firstRow="1" bandRow="1">
                <a:tableStyleId>{5C22544A-7EE6-4342-B048-85BDC9FD1C3A}</a:tableStyleId>
              </a:tblPr>
              <a:tblGrid>
                <a:gridCol w="3108960"/>
                <a:gridCol w="4206240"/>
                <a:gridCol w="4050791"/>
              </a:tblGrid>
              <a:tr h="457200">
                <a:tc>
                  <a:txBody>
                    <a:bodyPr wrap="square"/>
                    <a:lstStyle/>
                    <a:p>
                      <a:pPr algn="ctr"/>
                      <a:r>
                        <a:rPr sz="1400" b="1">
                          <a:solidFill>
                            <a:srgbClr val="FFFFFF"/>
                          </a:solidFill>
                          <a:latin typeface="Arial"/>
                        </a:rPr>
                        <a:t/>
                      </a:r>
                    </a:p>
                  </a:txBody>
                  <a:tcPr marL="109728" marR="109728" marT="45720" marB="45720" anchor="ctr">
                    <a:solidFill>
                      <a:srgbClr val="141B4D"/>
                    </a:solidFill>
                  </a:tcPr>
                </a:tc>
                <a:tc>
                  <a:txBody>
                    <a:bodyPr wrap="square"/>
                    <a:lstStyle/>
                    <a:p>
                      <a:pPr algn="ctr"/>
                      <a:r>
                        <a:rPr sz="1400" b="1">
                          <a:solidFill>
                            <a:srgbClr val="FFFFFF"/>
                          </a:solidFill>
                          <a:latin typeface="Arial"/>
                        </a:rPr>
                        <a:t>Tiered proposal</a:t>
                      </a:r>
                    </a:p>
                  </a:txBody>
                  <a:tcPr marL="109728" marR="109728" marT="45720" marB="45720" anchor="ctr">
                    <a:solidFill>
                      <a:srgbClr val="141B4D"/>
                    </a:solidFill>
                  </a:tcPr>
                </a:tc>
                <a:tc>
                  <a:txBody>
                    <a:bodyPr wrap="square"/>
                    <a:lstStyle/>
                    <a:p>
                      <a:pPr algn="ctr"/>
                      <a:r>
                        <a:rPr sz="1400" b="1">
                          <a:solidFill>
                            <a:srgbClr val="FFFFFF"/>
                          </a:solidFill>
                          <a:latin typeface="Arial"/>
                        </a:rPr>
                        <a:t>One cadence</a:t>
                      </a:r>
                    </a:p>
                  </a:txBody>
                  <a:tcPr marL="109728" marR="109728" marT="45720" marB="45720" anchor="ctr">
                    <a:solidFill>
                      <a:srgbClr val="141B4D"/>
                    </a:solidFill>
                  </a:tcPr>
                </a:tc>
              </a:tr>
              <a:tr h="438912">
                <a:tc>
                  <a:txBody>
                    <a:bodyPr wrap="square"/>
                    <a:lstStyle/>
                    <a:p>
                      <a:pPr algn="l"/>
                      <a:r>
                        <a:rPr sz="1350" b="1">
                          <a:solidFill>
                            <a:srgbClr val="141B4D"/>
                          </a:solidFill>
                          <a:latin typeface="Arial"/>
                        </a:rPr>
                        <a:t>Project size tiers</a:t>
                      </a:r>
                    </a:p>
                  </a:txBody>
                  <a:tcPr marL="109728" marR="109728" marT="45720" marB="45720" anchor="ctr">
                    <a:solidFill>
                      <a:srgbClr val="FFFFFF"/>
                    </a:solidFill>
                  </a:tcPr>
                </a:tc>
                <a:tc>
                  <a:txBody>
                    <a:bodyPr wrap="square"/>
                    <a:lstStyle/>
                    <a:p>
                      <a:pPr algn="ctr"/>
                      <a:r>
                        <a:rPr sz="1350" b="0">
                          <a:solidFill>
                            <a:srgbClr val="1A1A1A"/>
                          </a:solidFill>
                          <a:latin typeface="Arial"/>
                        </a:rPr>
                        <a:t>3 (by cost)</a:t>
                      </a:r>
                    </a:p>
                  </a:txBody>
                  <a:tcPr marL="109728" marR="109728" marT="45720" marB="45720" anchor="ctr">
                    <a:solidFill>
                      <a:srgbClr val="FFFFFF"/>
                    </a:solidFill>
                  </a:tcPr>
                </a:tc>
                <a:tc>
                  <a:txBody>
                    <a:bodyPr wrap="square"/>
                    <a:lstStyle/>
                    <a:p>
                      <a:pPr algn="ctr"/>
                      <a:r>
                        <a:rPr sz="1350" b="0">
                          <a:solidFill>
                            <a:srgbClr val="1A1A1A"/>
                          </a:solidFill>
                          <a:latin typeface="Arial"/>
                        </a:rPr>
                        <a:t>None</a:t>
                      </a:r>
                    </a:p>
                  </a:txBody>
                  <a:tcPr marL="109728" marR="109728" marT="45720" marB="45720" anchor="ctr">
                    <a:solidFill>
                      <a:srgbClr val="FFFFFF"/>
                    </a:solidFill>
                  </a:tcPr>
                </a:tc>
              </a:tr>
              <a:tr h="438912">
                <a:tc>
                  <a:txBody>
                    <a:bodyPr wrap="square"/>
                    <a:lstStyle/>
                    <a:p>
                      <a:pPr algn="l"/>
                      <a:r>
                        <a:rPr sz="1350" b="1">
                          <a:solidFill>
                            <a:srgbClr val="141B4D"/>
                          </a:solidFill>
                          <a:latin typeface="Arial"/>
                        </a:rPr>
                        <a:t>Project forum</a:t>
                      </a:r>
                    </a:p>
                  </a:txBody>
                  <a:tcPr marL="109728" marR="109728" marT="45720" marB="45720" anchor="ctr">
                    <a:solidFill>
                      <a:srgbClr val="EEF2FA"/>
                    </a:solidFill>
                  </a:tcPr>
                </a:tc>
                <a:tc>
                  <a:txBody>
                    <a:bodyPr wrap="square"/>
                    <a:lstStyle/>
                    <a:p>
                      <a:pPr algn="ctr"/>
                      <a:r>
                        <a:rPr sz="1350" b="0">
                          <a:solidFill>
                            <a:srgbClr val="1A1A1A"/>
                          </a:solidFill>
                          <a:latin typeface="Arial"/>
                        </a:rPr>
                        <a:t>Weekly, every other week or monthly; 6 or 4 attendees</a:t>
                      </a:r>
                    </a:p>
                  </a:txBody>
                  <a:tcPr marL="109728" marR="109728" marT="45720" marB="45720" anchor="ctr">
                    <a:solidFill>
                      <a:srgbClr val="EEF2FA"/>
                    </a:solidFill>
                  </a:tcPr>
                </a:tc>
                <a:tc>
                  <a:txBody>
                    <a:bodyPr wrap="square"/>
                    <a:lstStyle/>
                    <a:p>
                      <a:pPr algn="ctr"/>
                      <a:r>
                        <a:rPr sz="1350" b="0">
                          <a:solidFill>
                            <a:srgbClr val="1A1A1A"/>
                          </a:solidFill>
                          <a:latin typeface="Arial"/>
                        </a:rPr>
                        <a:t>Weekly for all; 3 required</a:t>
                      </a:r>
                    </a:p>
                  </a:txBody>
                  <a:tcPr marL="109728" marR="109728" marT="45720" marB="45720" anchor="ctr">
                    <a:solidFill>
                      <a:srgbClr val="EEF2FA"/>
                    </a:solidFill>
                  </a:tcPr>
                </a:tc>
              </a:tr>
              <a:tr h="438912">
                <a:tc>
                  <a:txBody>
                    <a:bodyPr wrap="square"/>
                    <a:lstStyle/>
                    <a:p>
                      <a:pPr algn="l"/>
                      <a:r>
                        <a:rPr sz="1350" b="1">
                          <a:solidFill>
                            <a:srgbClr val="141B4D"/>
                          </a:solidFill>
                          <a:latin typeface="Arial"/>
                        </a:rPr>
                        <a:t>Leadership forums</a:t>
                      </a:r>
                    </a:p>
                  </a:txBody>
                  <a:tcPr marL="109728" marR="109728" marT="45720" marB="45720" anchor="ctr">
                    <a:solidFill>
                      <a:srgbClr val="FFFFFF"/>
                    </a:solidFill>
                  </a:tcPr>
                </a:tc>
                <a:tc>
                  <a:txBody>
                    <a:bodyPr wrap="square"/>
                    <a:lstStyle/>
                    <a:p>
                      <a:pPr algn="ctr"/>
                      <a:r>
                        <a:rPr sz="1350" b="0">
                          <a:solidFill>
                            <a:srgbClr val="1A1A1A"/>
                          </a:solidFill>
                          <a:latin typeface="Arial"/>
                        </a:rPr>
                        <a:t>Weekly per strategy (8) plus portfolio every other week (6)</a:t>
                      </a:r>
                    </a:p>
                  </a:txBody>
                  <a:tcPr marL="109728" marR="109728" marT="45720" marB="45720" anchor="ctr">
                    <a:solidFill>
                      <a:srgbClr val="FFFFFF"/>
                    </a:solidFill>
                  </a:tcPr>
                </a:tc>
                <a:tc>
                  <a:txBody>
                    <a:bodyPr wrap="square"/>
                    <a:lstStyle/>
                    <a:p>
                      <a:pPr algn="ctr"/>
                      <a:r>
                        <a:rPr sz="1350" b="0">
                          <a:solidFill>
                            <a:srgbClr val="1A1A1A"/>
                          </a:solidFill>
                          <a:latin typeface="Arial"/>
                        </a:rPr>
                        <a:t>Weekly Pulse (5) plus monthly Review (6)</a:t>
                      </a:r>
                    </a:p>
                  </a:txBody>
                  <a:tcPr marL="109728" marR="109728" marT="45720" marB="45720" anchor="ctr">
                    <a:solidFill>
                      <a:srgbClr val="FFFFFF"/>
                    </a:solidFill>
                  </a:tcPr>
                </a:tc>
              </a:tr>
              <a:tr h="438912">
                <a:tc>
                  <a:txBody>
                    <a:bodyPr wrap="square"/>
                    <a:lstStyle/>
                    <a:p>
                      <a:pPr algn="l"/>
                      <a:r>
                        <a:rPr sz="1350" b="1">
                          <a:solidFill>
                            <a:srgbClr val="141B4D"/>
                          </a:solidFill>
                          <a:latin typeface="Arial"/>
                        </a:rPr>
                        <a:t>Leadership visibility</a:t>
                      </a:r>
                    </a:p>
                  </a:txBody>
                  <a:tcPr marL="109728" marR="109728" marT="45720" marB="45720" anchor="ctr">
                    <a:solidFill>
                      <a:srgbClr val="EEF2FA"/>
                    </a:solidFill>
                  </a:tcPr>
                </a:tc>
                <a:tc>
                  <a:txBody>
                    <a:bodyPr wrap="square"/>
                    <a:lstStyle/>
                    <a:p>
                      <a:pPr algn="ctr"/>
                      <a:r>
                        <a:rPr sz="1350" b="0">
                          <a:solidFill>
                            <a:srgbClr val="1A1A1A"/>
                          </a:solidFill>
                          <a:latin typeface="Arial"/>
                        </a:rPr>
                        <a:t>Projects discussed within strategy forums</a:t>
                      </a:r>
                    </a:p>
                  </a:txBody>
                  <a:tcPr marL="109728" marR="109728" marT="45720" marB="45720" anchor="ctr">
                    <a:solidFill>
                      <a:srgbClr val="EEF2FA"/>
                    </a:solidFill>
                  </a:tcPr>
                </a:tc>
                <a:tc>
                  <a:txBody>
                    <a:bodyPr wrap="square"/>
                    <a:lstStyle/>
                    <a:p>
                      <a:pPr algn="ctr"/>
                      <a:r>
                        <a:rPr sz="1350" b="0">
                          <a:solidFill>
                            <a:srgbClr val="1A1A1A"/>
                          </a:solidFill>
                          <a:latin typeface="Arial"/>
                        </a:rPr>
                        <a:t>All 22 projects on one dashboard every week</a:t>
                      </a:r>
                    </a:p>
                  </a:txBody>
                  <a:tcPr marL="109728" marR="109728" marT="45720" marB="45720" anchor="ctr">
                    <a:solidFill>
                      <a:srgbClr val="EEF2FA"/>
                    </a:solidFill>
                  </a:tcPr>
                </a:tc>
              </a:tr>
              <a:tr h="438912">
                <a:tc>
                  <a:txBody>
                    <a:bodyPr wrap="square"/>
                    <a:lstStyle/>
                    <a:p>
                      <a:pPr algn="l"/>
                      <a:r>
                        <a:rPr sz="1350" b="1">
                          <a:solidFill>
                            <a:srgbClr val="141B4D"/>
                          </a:solidFill>
                          <a:latin typeface="Arial"/>
                        </a:rPr>
                        <a:t>Early-warning triggers</a:t>
                      </a:r>
                    </a:p>
                  </a:txBody>
                  <a:tcPr marL="109728" marR="109728" marT="45720" marB="45720" anchor="ctr">
                    <a:solidFill>
                      <a:srgbClr val="FFFFFF"/>
                    </a:solidFill>
                  </a:tcPr>
                </a:tc>
                <a:tc>
                  <a:txBody>
                    <a:bodyPr wrap="square"/>
                    <a:lstStyle/>
                    <a:p>
                      <a:pPr algn="ctr"/>
                      <a:r>
                        <a:rPr sz="1350" b="0">
                          <a:solidFill>
                            <a:srgbClr val="1A1A1A"/>
                          </a:solidFill>
                          <a:latin typeface="Arial"/>
                        </a:rPr>
                        <a:t>None stated</a:t>
                      </a:r>
                    </a:p>
                  </a:txBody>
                  <a:tcPr marL="109728" marR="109728" marT="45720" marB="45720" anchor="ctr">
                    <a:solidFill>
                      <a:srgbClr val="FFFFFF"/>
                    </a:solidFill>
                  </a:tcPr>
                </a:tc>
                <a:tc>
                  <a:txBody>
                    <a:bodyPr wrap="square"/>
                    <a:lstStyle/>
                    <a:p>
                      <a:pPr algn="ctr"/>
                      <a:r>
                        <a:rPr sz="1350" b="0">
                          <a:solidFill>
                            <a:srgbClr val="1A1A1A"/>
                          </a:solidFill>
                          <a:latin typeface="Arial"/>
                        </a:rPr>
                        <a:t>Amber and red thresholds for 6 signals</a:t>
                      </a:r>
                    </a:p>
                  </a:txBody>
                  <a:tcPr marL="109728" marR="109728" marT="45720" marB="45720" anchor="ctr">
                    <a:solidFill>
                      <a:srgbClr val="FFFFFF"/>
                    </a:solidFill>
                  </a:tcPr>
                </a:tc>
              </a:tr>
              <a:tr h="438912">
                <a:tc>
                  <a:txBody>
                    <a:bodyPr wrap="square"/>
                    <a:lstStyle/>
                    <a:p>
                      <a:pPr algn="l"/>
                      <a:r>
                        <a:rPr sz="1350" b="1">
                          <a:solidFill>
                            <a:srgbClr val="141B4D"/>
                          </a:solidFill>
                          <a:latin typeface="Arial"/>
                        </a:rPr>
                        <a:t>Recurring attendee-hours</a:t>
                      </a:r>
                    </a:p>
                  </a:txBody>
                  <a:tcPr marL="109728" marR="109728" marT="45720" marB="45720" anchor="ctr">
                    <a:solidFill>
                      <a:srgbClr val="EEF2FA"/>
                    </a:solidFill>
                  </a:tcPr>
                </a:tc>
                <a:tc>
                  <a:txBody>
                    <a:bodyPr wrap="square"/>
                    <a:lstStyle/>
                    <a:p>
                      <a:pPr algn="ctr"/>
                      <a:r>
                        <a:rPr sz="1350" b="0">
                          <a:solidFill>
                            <a:srgbClr val="1A1A1A"/>
                          </a:solidFill>
                          <a:latin typeface="Arial"/>
                        </a:rPr>
                        <a:t>3,300</a:t>
                      </a:r>
                    </a:p>
                  </a:txBody>
                  <a:tcPr marL="109728" marR="109728" marT="45720" marB="45720" anchor="ctr">
                    <a:solidFill>
                      <a:srgbClr val="EEF2FA"/>
                    </a:solidFill>
                  </a:tcPr>
                </a:tc>
                <a:tc>
                  <a:txBody>
                    <a:bodyPr wrap="square"/>
                    <a:lstStyle/>
                    <a:p>
                      <a:pPr algn="ctr"/>
                      <a:r>
                        <a:rPr sz="1350" b="1">
                          <a:solidFill>
                            <a:srgbClr val="0047BB"/>
                          </a:solidFill>
                          <a:latin typeface="Arial"/>
                        </a:rPr>
                        <a:t>1,996</a:t>
                      </a:r>
                    </a:p>
                  </a:txBody>
                  <a:tcPr marL="109728" marR="109728" marT="45720" marB="45720" anchor="ctr">
                    <a:solidFill>
                      <a:srgbClr val="EEF2FA"/>
                    </a:solidFill>
                  </a:tcPr>
                </a:tc>
              </a:tr>
              <a:tr h="438912">
                <a:tc>
                  <a:txBody>
                    <a:bodyPr wrap="square"/>
                    <a:lstStyle/>
                    <a:p>
                      <a:pPr algn="l"/>
                      <a:r>
                        <a:rPr sz="1350" b="1">
                          <a:solidFill>
                            <a:srgbClr val="141B4D"/>
                          </a:solidFill>
                          <a:latin typeface="Arial"/>
                        </a:rPr>
                        <a:t>Reduction from 9,480</a:t>
                      </a:r>
                    </a:p>
                  </a:txBody>
                  <a:tcPr marL="109728" marR="109728" marT="45720" marB="45720" anchor="ctr">
                    <a:solidFill>
                      <a:srgbClr val="FFFFFF"/>
                    </a:solidFill>
                  </a:tcPr>
                </a:tc>
                <a:tc>
                  <a:txBody>
                    <a:bodyPr wrap="square"/>
                    <a:lstStyle/>
                    <a:p>
                      <a:pPr algn="ctr"/>
                      <a:r>
                        <a:rPr sz="1350" b="0">
                          <a:solidFill>
                            <a:srgbClr val="1A1A1A"/>
                          </a:solidFill>
                          <a:latin typeface="Arial"/>
                        </a:rPr>
                        <a:t>65.2%</a:t>
                      </a:r>
                    </a:p>
                  </a:txBody>
                  <a:tcPr marL="109728" marR="109728" marT="45720" marB="45720" anchor="ctr">
                    <a:solidFill>
                      <a:srgbClr val="FFFFFF"/>
                    </a:solidFill>
                  </a:tcPr>
                </a:tc>
                <a:tc>
                  <a:txBody>
                    <a:bodyPr wrap="square"/>
                    <a:lstStyle/>
                    <a:p>
                      <a:pPr algn="ctr"/>
                      <a:r>
                        <a:rPr sz="1350" b="1">
                          <a:solidFill>
                            <a:srgbClr val="0047BB"/>
                          </a:solidFill>
                          <a:latin typeface="Arial"/>
                        </a:rPr>
                        <a:t>78.9%</a:t>
                      </a:r>
                    </a:p>
                  </a:txBody>
                  <a:tcPr marL="109728" marR="109728" marT="45720" marB="45720" anchor="ctr">
                    <a:solidFill>
                      <a:srgbClr val="FFFFFF"/>
                    </a:solidFill>
                  </a:tcPr>
                </a:tc>
              </a:tr>
              <a:tr h="438912">
                <a:tc>
                  <a:txBody>
                    <a:bodyPr wrap="square"/>
                    <a:lstStyle/>
                    <a:p>
                      <a:pPr algn="l"/>
                      <a:r>
                        <a:rPr sz="1350" b="1">
                          <a:solidFill>
                            <a:srgbClr val="141B4D"/>
                          </a:solidFill>
                          <a:latin typeface="Arial"/>
                        </a:rPr>
                        <a:t>Capacity value</a:t>
                      </a:r>
                    </a:p>
                  </a:txBody>
                  <a:tcPr marL="109728" marR="109728" marT="45720" marB="45720" anchor="ctr">
                    <a:solidFill>
                      <a:srgbClr val="EEF2FA"/>
                    </a:solidFill>
                  </a:tcPr>
                </a:tc>
                <a:tc>
                  <a:txBody>
                    <a:bodyPr wrap="square"/>
                    <a:lstStyle/>
                    <a:p>
                      <a:pPr algn="ctr"/>
                      <a:r>
                        <a:rPr sz="1350" b="0">
                          <a:solidFill>
                            <a:srgbClr val="1A1A1A"/>
                          </a:solidFill>
                          <a:latin typeface="Arial"/>
                        </a:rPr>
                        <a:t>$618,000</a:t>
                      </a:r>
                    </a:p>
                  </a:txBody>
                  <a:tcPr marL="109728" marR="109728" marT="45720" marB="45720" anchor="ctr">
                    <a:solidFill>
                      <a:srgbClr val="EEF2FA"/>
                    </a:solidFill>
                  </a:tcPr>
                </a:tc>
                <a:tc>
                  <a:txBody>
                    <a:bodyPr wrap="square"/>
                    <a:lstStyle/>
                    <a:p>
                      <a:pPr algn="ctr"/>
                      <a:r>
                        <a:rPr sz="1350" b="1">
                          <a:solidFill>
                            <a:srgbClr val="0047BB"/>
                          </a:solidFill>
                          <a:latin typeface="Arial"/>
                        </a:rPr>
                        <a:t>$748,400</a:t>
                      </a:r>
                    </a:p>
                  </a:txBody>
                  <a:tcPr marL="109728" marR="109728" marT="45720" marB="45720" anchor="ctr">
                    <a:solidFill>
                      <a:srgbClr val="EEF2FA"/>
                    </a:solidFill>
                  </a:tcPr>
                </a:tc>
              </a:tr>
            </a:tbl>
          </a:graphicData>
        </a:graphic>
      </p:graphicFrame>
      <p:sp>
        <p:nvSpPr>
          <p:cNvPr id="5" name="Model band"/>
          <p:cNvSpPr/>
          <p:nvPr/>
        </p:nvSpPr>
        <p:spPr>
          <a:xfrm>
            <a:off x="411480" y="5413248"/>
            <a:ext cx="11365992" cy="457200"/>
          </a:xfrm>
          <a:prstGeom prst="rect">
            <a:avLst/>
          </a:prstGeom>
          <a:solidFill>
            <a:srgbClr val="DC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odel accent"/>
          <p:cNvSpPr/>
          <p:nvPr/>
        </p:nvSpPr>
        <p:spPr>
          <a:xfrm>
            <a:off x="411480" y="5413248"/>
            <a:ext cx="73152" cy="45720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odel text"/>
          <p:cNvSpPr txBox="1"/>
          <p:nvPr/>
        </p:nvSpPr>
        <p:spPr>
          <a:xfrm>
            <a:off x="685800" y="5413248"/>
            <a:ext cx="10972800" cy="457200"/>
          </a:xfrm>
          <a:prstGeom prst="rect">
            <a:avLst/>
          </a:prstGeom>
          <a:noFill/>
        </p:spPr>
        <p:txBody>
          <a:bodyPr wrap="square" lIns="45720" tIns="45720" rIns="45720" bIns="45720" anchor="ctr">
            <a:noAutofit/>
          </a:bodyPr>
          <a:lstStyle/>
          <a:p>
            <a:pPr marL="0" indent="0" algn="l">
              <a:buNone/>
            </a:pPr>
            <a:r>
              <a:rPr lang="en-US" sz="1400" b="1" dirty="0">
                <a:solidFill>
                  <a:srgbClr val="0047BB"/>
                </a:solidFill>
                <a:latin typeface="Arial"/>
                <a:ea typeface="Arial"/>
                <a:cs typeface="Arial"/>
              </a:rPr>
              <a:t>Model:  </a:t>
            </a:r>
            <a:r>
              <a:rPr lang="en-US" sz="1500" b="0" i="1" dirty="0">
                <a:solidFill>
                  <a:srgbClr val="1A1A1A"/>
                </a:solidFill>
                <a:latin typeface="Georgia"/>
                <a:ea typeface="Georgia"/>
                <a:cs typeface="Georgia"/>
              </a:rPr>
              <a:t>Future recurring attendee-hours = (projects x 78) + 280.  22 projects = 1,996.</a:t>
            </a:r>
          </a:p>
        </p:txBody>
      </p:sp>
      <p:sp>
        <p:nvSpPr>
          <p:cNvPr id="8" name="Key message bar"/>
          <p:cNvSpPr/>
          <p:nvPr/>
        </p:nvSpPr>
        <p:spPr>
          <a:xfrm>
            <a:off x="411480" y="603504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ey message accent"/>
          <p:cNvSpPr/>
          <p:nvPr/>
        </p:nvSpPr>
        <p:spPr>
          <a:xfrm>
            <a:off x="411480" y="603504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ey message"/>
          <p:cNvSpPr txBox="1"/>
          <p:nvPr/>
        </p:nvSpPr>
        <p:spPr>
          <a:xfrm>
            <a:off x="640080" y="603504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Conservative: one cadence counts all 22 projects; the tiered model counted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Five rules keep meetings useful and cost effective</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Rule 1 label box"/>
          <p:cNvSpPr/>
          <p:nvPr/>
        </p:nvSpPr>
        <p:spPr>
          <a:xfrm>
            <a:off x="411480" y="1280160"/>
            <a:ext cx="4023360" cy="8046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ule 1 label"/>
          <p:cNvSpPr txBox="1"/>
          <p:nvPr/>
        </p:nvSpPr>
        <p:spPr>
          <a:xfrm>
            <a:off x="640080" y="1280160"/>
            <a:ext cx="3749039" cy="804672"/>
          </a:xfrm>
          <a:prstGeom prst="rect">
            <a:avLst/>
          </a:prstGeom>
          <a:noFill/>
        </p:spPr>
        <p:txBody>
          <a:bodyPr wrap="square" lIns="45720" tIns="45720" rIns="45720" bIns="45720" anchor="ctr">
            <a:noAutofit/>
          </a:bodyPr>
          <a:lstStyle/>
          <a:p>
            <a:pPr marL="0" indent="0" algn="l">
              <a:buNone/>
            </a:pPr>
            <a:r>
              <a:rPr lang="en-US" sz="1600" b="1" dirty="0">
                <a:solidFill>
                  <a:srgbClr val="FFFFFF"/>
                </a:solidFill>
                <a:latin typeface="Arial"/>
                <a:ea typeface="Arial"/>
                <a:cs typeface="Arial"/>
              </a:rPr>
              <a:t>Update first, meet second</a:t>
            </a:r>
          </a:p>
        </p:txBody>
      </p:sp>
      <p:sp>
        <p:nvSpPr>
          <p:cNvPr id="6" name="Rule 1 body box"/>
          <p:cNvSpPr/>
          <p:nvPr/>
        </p:nvSpPr>
        <p:spPr>
          <a:xfrm>
            <a:off x="4434840" y="1280160"/>
            <a:ext cx="73426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le 1 text"/>
          <p:cNvSpPr txBox="1"/>
          <p:nvPr/>
        </p:nvSpPr>
        <p:spPr>
          <a:xfrm>
            <a:off x="4663440" y="1280160"/>
            <a:ext cx="6949440" cy="804672"/>
          </a:xfrm>
          <a:prstGeom prst="rect">
            <a:avLst/>
          </a:prstGeom>
          <a:noFill/>
        </p:spPr>
        <p:txBody>
          <a:bodyPr wrap="square" lIns="45720" tIns="45720" rIns="45720" bIns="45720" anchor="ctr">
            <a:noAutofit/>
          </a:bodyPr>
          <a:lstStyle/>
          <a:p>
            <a:pPr marL="0" indent="0" algn="l">
              <a:buNone/>
            </a:pPr>
            <a:r>
              <a:rPr lang="en-US" sz="1500" b="0" dirty="0">
                <a:solidFill>
                  <a:srgbClr val="1A1A1A"/>
                </a:solidFill>
                <a:latin typeface="Arial"/>
                <a:ea typeface="Arial"/>
                <a:cs typeface="Arial"/>
              </a:rPr>
              <a:t>The standard update is due Friday at noon. No update means the project shows amber.</a:t>
            </a:r>
          </a:p>
        </p:txBody>
      </p:sp>
      <p:sp>
        <p:nvSpPr>
          <p:cNvPr id="8" name="Rule 2 label box"/>
          <p:cNvSpPr/>
          <p:nvPr/>
        </p:nvSpPr>
        <p:spPr>
          <a:xfrm>
            <a:off x="411480" y="2194560"/>
            <a:ext cx="4023360" cy="804672"/>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ule 2 label"/>
          <p:cNvSpPr txBox="1"/>
          <p:nvPr/>
        </p:nvSpPr>
        <p:spPr>
          <a:xfrm>
            <a:off x="640080" y="2194560"/>
            <a:ext cx="3749039" cy="804672"/>
          </a:xfrm>
          <a:prstGeom prst="rect">
            <a:avLst/>
          </a:prstGeom>
          <a:noFill/>
        </p:spPr>
        <p:txBody>
          <a:bodyPr wrap="square" lIns="45720" tIns="45720" rIns="45720" bIns="45720" anchor="ctr">
            <a:noAutofit/>
          </a:bodyPr>
          <a:lstStyle/>
          <a:p>
            <a:pPr marL="0" indent="0" algn="l">
              <a:buNone/>
            </a:pPr>
            <a:r>
              <a:rPr lang="en-US" sz="1600" b="1" dirty="0">
                <a:solidFill>
                  <a:srgbClr val="FFFFFF"/>
                </a:solidFill>
                <a:latin typeface="Arial"/>
                <a:ea typeface="Arial"/>
                <a:cs typeface="Arial"/>
              </a:rPr>
              <a:t>Exceptions get the airtime</a:t>
            </a:r>
          </a:p>
        </p:txBody>
      </p:sp>
      <p:sp>
        <p:nvSpPr>
          <p:cNvPr id="10" name="Rule 2 body box"/>
          <p:cNvSpPr/>
          <p:nvPr/>
        </p:nvSpPr>
        <p:spPr>
          <a:xfrm>
            <a:off x="4434840" y="2194560"/>
            <a:ext cx="73426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ule 2 text"/>
          <p:cNvSpPr txBox="1"/>
          <p:nvPr/>
        </p:nvSpPr>
        <p:spPr>
          <a:xfrm>
            <a:off x="4663440" y="2194560"/>
            <a:ext cx="6949440" cy="804672"/>
          </a:xfrm>
          <a:prstGeom prst="rect">
            <a:avLst/>
          </a:prstGeom>
          <a:noFill/>
        </p:spPr>
        <p:txBody>
          <a:bodyPr wrap="square" lIns="45720" tIns="45720" rIns="45720" bIns="45720" anchor="ctr">
            <a:noAutofit/>
          </a:bodyPr>
          <a:lstStyle/>
          <a:p>
            <a:pPr marL="0" indent="0" algn="l">
              <a:buNone/>
            </a:pPr>
            <a:r>
              <a:rPr lang="en-US" sz="1500" b="0" dirty="0">
                <a:solidFill>
                  <a:srgbClr val="1A1A1A"/>
                </a:solidFill>
                <a:latin typeface="Arial"/>
                <a:ea typeface="Arial"/>
                <a:cs typeface="Arial"/>
              </a:rPr>
              <a:t>Green projects are read, not discussed. Meetings cover red, amber and decisions.</a:t>
            </a:r>
          </a:p>
        </p:txBody>
      </p:sp>
      <p:sp>
        <p:nvSpPr>
          <p:cNvPr id="12" name="Rule 3 label box"/>
          <p:cNvSpPr/>
          <p:nvPr/>
        </p:nvSpPr>
        <p:spPr>
          <a:xfrm>
            <a:off x="411480" y="3108960"/>
            <a:ext cx="4023360" cy="804672"/>
          </a:xfrm>
          <a:prstGeom prst="rect">
            <a:avLst/>
          </a:prstGeom>
          <a:solidFill>
            <a:srgbClr val="005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ule 3 label"/>
          <p:cNvSpPr txBox="1"/>
          <p:nvPr/>
        </p:nvSpPr>
        <p:spPr>
          <a:xfrm>
            <a:off x="640080" y="3108960"/>
            <a:ext cx="3749039" cy="804672"/>
          </a:xfrm>
          <a:prstGeom prst="rect">
            <a:avLst/>
          </a:prstGeom>
          <a:noFill/>
        </p:spPr>
        <p:txBody>
          <a:bodyPr wrap="square" lIns="45720" tIns="45720" rIns="45720" bIns="45720" anchor="ctr">
            <a:noAutofit/>
          </a:bodyPr>
          <a:lstStyle/>
          <a:p>
            <a:pPr marL="0" indent="0" algn="l">
              <a:buNone/>
            </a:pPr>
            <a:r>
              <a:rPr lang="en-US" sz="1600" b="1" dirty="0">
                <a:solidFill>
                  <a:srgbClr val="FFFFFF"/>
                </a:solidFill>
                <a:latin typeface="Arial"/>
                <a:ea typeface="Arial"/>
                <a:cs typeface="Arial"/>
              </a:rPr>
              <a:t>No decision, no project meeting</a:t>
            </a:r>
          </a:p>
        </p:txBody>
      </p:sp>
      <p:sp>
        <p:nvSpPr>
          <p:cNvPr id="14" name="Rule 3 body box"/>
          <p:cNvSpPr/>
          <p:nvPr/>
        </p:nvSpPr>
        <p:spPr>
          <a:xfrm>
            <a:off x="4434840" y="3108960"/>
            <a:ext cx="73426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ule 3 text"/>
          <p:cNvSpPr txBox="1"/>
          <p:nvPr/>
        </p:nvSpPr>
        <p:spPr>
          <a:xfrm>
            <a:off x="4663440" y="3108960"/>
            <a:ext cx="6949440" cy="804672"/>
          </a:xfrm>
          <a:prstGeom prst="rect">
            <a:avLst/>
          </a:prstGeom>
          <a:noFill/>
        </p:spPr>
        <p:txBody>
          <a:bodyPr wrap="square" lIns="45720" tIns="45720" rIns="45720" bIns="45720" anchor="ctr">
            <a:noAutofit/>
          </a:bodyPr>
          <a:lstStyle/>
          <a:p>
            <a:pPr marL="0" indent="0" algn="l">
              <a:buNone/>
            </a:pPr>
            <a:r>
              <a:rPr lang="en-US" sz="1500" b="0" dirty="0">
                <a:solidFill>
                  <a:srgbClr val="1A1A1A"/>
                </a:solidFill>
                <a:latin typeface="Arial"/>
                <a:ea typeface="Arial"/>
                <a:cs typeface="Arial"/>
              </a:rPr>
              <a:t>Nothing to decide or unblock? Cancel the sync. The written update is still required.</a:t>
            </a:r>
          </a:p>
        </p:txBody>
      </p:sp>
      <p:sp>
        <p:nvSpPr>
          <p:cNvPr id="16" name="Rule 4 label box"/>
          <p:cNvSpPr/>
          <p:nvPr/>
        </p:nvSpPr>
        <p:spPr>
          <a:xfrm>
            <a:off x="411480" y="4023360"/>
            <a:ext cx="4023360" cy="804672"/>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ule 4 label"/>
          <p:cNvSpPr txBox="1"/>
          <p:nvPr/>
        </p:nvSpPr>
        <p:spPr>
          <a:xfrm>
            <a:off x="640080" y="4023360"/>
            <a:ext cx="3749039" cy="804672"/>
          </a:xfrm>
          <a:prstGeom prst="rect">
            <a:avLst/>
          </a:prstGeom>
          <a:noFill/>
        </p:spPr>
        <p:txBody>
          <a:bodyPr wrap="square" lIns="45720" tIns="45720" rIns="45720" bIns="45720" anchor="ctr">
            <a:noAutofit/>
          </a:bodyPr>
          <a:lstStyle/>
          <a:p>
            <a:pPr marL="0" indent="0" algn="l">
              <a:buNone/>
            </a:pPr>
            <a:r>
              <a:rPr lang="en-US" sz="1600" b="1" dirty="0">
                <a:solidFill>
                  <a:srgbClr val="FFFFFF"/>
                </a:solidFill>
                <a:latin typeface="Arial"/>
                <a:ea typeface="Arial"/>
                <a:cs typeface="Arial"/>
              </a:rPr>
              <a:t>Specialists by invitation</a:t>
            </a:r>
          </a:p>
        </p:txBody>
      </p:sp>
      <p:sp>
        <p:nvSpPr>
          <p:cNvPr id="18" name="Rule 4 body box"/>
          <p:cNvSpPr/>
          <p:nvPr/>
        </p:nvSpPr>
        <p:spPr>
          <a:xfrm>
            <a:off x="4434840" y="4023360"/>
            <a:ext cx="73426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ule 4 text"/>
          <p:cNvSpPr txBox="1"/>
          <p:nvPr/>
        </p:nvSpPr>
        <p:spPr>
          <a:xfrm>
            <a:off x="4663440" y="4023360"/>
            <a:ext cx="6949440" cy="804672"/>
          </a:xfrm>
          <a:prstGeom prst="rect">
            <a:avLst/>
          </a:prstGeom>
          <a:noFill/>
        </p:spPr>
        <p:txBody>
          <a:bodyPr wrap="square" lIns="45720" tIns="45720" rIns="45720" bIns="45720" anchor="ctr">
            <a:noAutofit/>
          </a:bodyPr>
          <a:lstStyle/>
          <a:p>
            <a:pPr marL="0" indent="0" algn="l">
              <a:buNone/>
            </a:pPr>
            <a:r>
              <a:rPr lang="en-US" sz="1500" b="0" dirty="0">
                <a:solidFill>
                  <a:srgbClr val="1A1A1A"/>
                </a:solidFill>
                <a:latin typeface="Arial"/>
                <a:ea typeface="Arial"/>
                <a:cs typeface="Arial"/>
              </a:rPr>
              <a:t>Architects, QE, Release and SRE join for their agenda item, then leave.</a:t>
            </a:r>
          </a:p>
        </p:txBody>
      </p:sp>
      <p:sp>
        <p:nvSpPr>
          <p:cNvPr id="20" name="Rule 5 label box"/>
          <p:cNvSpPr/>
          <p:nvPr/>
        </p:nvSpPr>
        <p:spPr>
          <a:xfrm>
            <a:off x="411480" y="4937760"/>
            <a:ext cx="4023360" cy="804672"/>
          </a:xfrm>
          <a:prstGeom prst="rect">
            <a:avLst/>
          </a:prstGeom>
          <a:solidFill>
            <a:srgbClr val="3A4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ule 5 label"/>
          <p:cNvSpPr txBox="1"/>
          <p:nvPr/>
        </p:nvSpPr>
        <p:spPr>
          <a:xfrm>
            <a:off x="640080" y="4937760"/>
            <a:ext cx="3749039" cy="804672"/>
          </a:xfrm>
          <a:prstGeom prst="rect">
            <a:avLst/>
          </a:prstGeom>
          <a:noFill/>
        </p:spPr>
        <p:txBody>
          <a:bodyPr wrap="square" lIns="45720" tIns="45720" rIns="45720" bIns="45720" anchor="ctr">
            <a:noAutofit/>
          </a:bodyPr>
          <a:lstStyle/>
          <a:p>
            <a:pPr marL="0" indent="0" algn="l">
              <a:buNone/>
            </a:pPr>
            <a:r>
              <a:rPr lang="en-US" sz="1600" b="1" dirty="0">
                <a:solidFill>
                  <a:srgbClr val="FFFFFF"/>
                </a:solidFill>
                <a:latin typeface="Arial"/>
                <a:ea typeface="Arial"/>
                <a:cs typeface="Arial"/>
              </a:rPr>
              <a:t>Escalate one level, log once</a:t>
            </a:r>
          </a:p>
        </p:txBody>
      </p:sp>
      <p:sp>
        <p:nvSpPr>
          <p:cNvPr id="22" name="Rule 5 body box"/>
          <p:cNvSpPr/>
          <p:nvPr/>
        </p:nvSpPr>
        <p:spPr>
          <a:xfrm>
            <a:off x="4434840" y="4937760"/>
            <a:ext cx="7342631" cy="804672"/>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ule 5 text"/>
          <p:cNvSpPr txBox="1"/>
          <p:nvPr/>
        </p:nvSpPr>
        <p:spPr>
          <a:xfrm>
            <a:off x="4663440" y="4937760"/>
            <a:ext cx="6949440" cy="804672"/>
          </a:xfrm>
          <a:prstGeom prst="rect">
            <a:avLst/>
          </a:prstGeom>
          <a:noFill/>
        </p:spPr>
        <p:txBody>
          <a:bodyPr wrap="square" lIns="45720" tIns="45720" rIns="45720" bIns="45720" anchor="ctr">
            <a:noAutofit/>
          </a:bodyPr>
          <a:lstStyle/>
          <a:p>
            <a:pPr marL="0" indent="0" algn="l">
              <a:buNone/>
            </a:pPr>
            <a:r>
              <a:rPr lang="en-US" sz="1500" b="0" dirty="0">
                <a:solidFill>
                  <a:srgbClr val="1A1A1A"/>
                </a:solidFill>
                <a:latin typeface="Arial"/>
                <a:ea typeface="Arial"/>
                <a:cs typeface="Arial"/>
              </a:rPr>
              <a:t>Project Sync to Pulse to Review. Decisions and risks are recorded once, in the RAID log.</a:t>
            </a:r>
          </a:p>
        </p:txBody>
      </p:sp>
      <p:sp>
        <p:nvSpPr>
          <p:cNvPr id="24" name="Key message bar"/>
          <p:cNvSpPr/>
          <p:nvPr/>
        </p:nvSpPr>
        <p:spPr>
          <a:xfrm>
            <a:off x="411480" y="5943600"/>
            <a:ext cx="11365992" cy="5029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Key message accent"/>
          <p:cNvSpPr/>
          <p:nvPr/>
        </p:nvSpPr>
        <p:spPr>
          <a:xfrm>
            <a:off x="411480" y="5943600"/>
            <a:ext cx="73152" cy="50292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Key message"/>
          <p:cNvSpPr txBox="1"/>
          <p:nvPr/>
        </p:nvSpPr>
        <p:spPr>
          <a:xfrm>
            <a:off x="640080" y="5943600"/>
            <a:ext cx="10972800" cy="502920"/>
          </a:xfrm>
          <a:prstGeom prst="rect">
            <a:avLst/>
          </a:prstGeom>
          <a:noFill/>
        </p:spPr>
        <p:txBody>
          <a:bodyPr wrap="square" lIns="45720" tIns="45720" rIns="45720" bIns="45720" anchor="ctr">
            <a:noAutofit/>
          </a:bodyPr>
          <a:lstStyle/>
          <a:p>
            <a:pPr marL="0" indent="0" algn="l">
              <a:buNone/>
            </a:pPr>
            <a:r>
              <a:rPr lang="en-US" sz="1250" b="1" dirty="0">
                <a:solidFill>
                  <a:srgbClr val="009788"/>
                </a:solidFill>
                <a:latin typeface="Arial"/>
                <a:ea typeface="Arial"/>
                <a:cs typeface="Arial"/>
              </a:rPr>
              <a:t>Key message   </a:t>
            </a:r>
            <a:r>
              <a:rPr lang="en-US" sz="1400" b="0" dirty="0">
                <a:solidFill>
                  <a:srgbClr val="FFFFFF"/>
                </a:solidFill>
                <a:latin typeface="Arial"/>
                <a:ea typeface="Arial"/>
                <a:cs typeface="Arial"/>
              </a:rPr>
              <a:t>The Pulse never skips. Project syncs skip only when there is nothing to decide.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Roll out in three phases</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Phase 1 header"/>
          <p:cNvSpPr/>
          <p:nvPr/>
        </p:nvSpPr>
        <p:spPr>
          <a:xfrm>
            <a:off x="411480" y="1325880"/>
            <a:ext cx="3605784" cy="105156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ase 1 title"/>
          <p:cNvSpPr txBox="1"/>
          <p:nvPr/>
        </p:nvSpPr>
        <p:spPr>
          <a:xfrm>
            <a:off x="685800" y="1325880"/>
            <a:ext cx="3240024" cy="1051560"/>
          </a:xfrm>
          <a:prstGeom prst="rect">
            <a:avLst/>
          </a:prstGeom>
          <a:noFill/>
        </p:spPr>
        <p:txBody>
          <a:bodyPr wrap="square" lIns="45720" tIns="45720" rIns="45720" bIns="45720" anchor="ctr">
            <a:noAutofit/>
          </a:bodyPr>
          <a:lstStyle/>
          <a:p>
            <a:pPr marL="0" indent="0" algn="l">
              <a:buNone/>
            </a:pPr>
            <a:r>
              <a:rPr lang="en-US" sz="1400" b="0" spc="100" dirty="0">
                <a:solidFill>
                  <a:srgbClr val="E6ECF8"/>
                </a:solidFill>
                <a:latin typeface="Arial"/>
                <a:ea typeface="Arial"/>
                <a:cs typeface="Arial"/>
              </a:rPr>
              <a:t>Phase 1</a:t>
            </a:r>
          </a:p>
          <a:p>
            <a:pPr marL="0" indent="0" algn="l">
              <a:buNone/>
            </a:pPr>
            <a:r>
              <a:rPr lang="en-US" sz="2600" b="1" dirty="0">
                <a:solidFill>
                  <a:srgbClr val="FFFFFF"/>
                </a:solidFill>
                <a:latin typeface="Georgia"/>
                <a:ea typeface="Georgia"/>
                <a:cs typeface="Georgia"/>
              </a:rPr>
              <a:t>Standardize</a:t>
            </a:r>
          </a:p>
        </p:txBody>
      </p:sp>
      <p:sp>
        <p:nvSpPr>
          <p:cNvPr id="6" name="Phase 1 card"/>
          <p:cNvSpPr/>
          <p:nvPr/>
        </p:nvSpPr>
        <p:spPr>
          <a:xfrm>
            <a:off x="411480" y="2377440"/>
            <a:ext cx="3605784" cy="237744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hase 1 text"/>
          <p:cNvSpPr txBox="1"/>
          <p:nvPr/>
        </p:nvSpPr>
        <p:spPr>
          <a:xfrm>
            <a:off x="685800" y="2560320"/>
            <a:ext cx="3057144" cy="2103120"/>
          </a:xfrm>
          <a:prstGeom prst="rect">
            <a:avLst/>
          </a:prstGeom>
          <a:noFill/>
        </p:spPr>
        <p:txBody>
          <a:bodyPr wrap="square" lIns="45720" tIns="45720" rIns="45720" bIns="45720" anchor="t">
            <a:noAutofit/>
          </a:bodyPr>
          <a:lstStyle/>
          <a:p>
            <a:pPr marL="0" indent="0" algn="l">
              <a:lnSpc>
                <a:spcPct val="110000"/>
              </a:lnSpc>
              <a:buNone/>
            </a:pPr>
            <a:r>
              <a:rPr lang="en-US" sz="1500" b="0" dirty="0">
                <a:solidFill>
                  <a:srgbClr val="1A1A1A"/>
                </a:solidFill>
                <a:latin typeface="Arial"/>
                <a:ea typeface="Arial"/>
                <a:cs typeface="Arial"/>
              </a:rPr>
              <a:t>Publish the cadence charter, the standard weekly update, the dashboard and the early-warning triggers. Name required attendees.</a:t>
            </a:r>
          </a:p>
        </p:txBody>
      </p:sp>
      <p:sp>
        <p:nvSpPr>
          <p:cNvPr id="8" name="Phase arrow 1"/>
          <p:cNvSpPr/>
          <p:nvPr/>
        </p:nvSpPr>
        <p:spPr>
          <a:xfrm>
            <a:off x="4053840" y="1737360"/>
            <a:ext cx="201168" cy="228600"/>
          </a:xfrm>
          <a:prstGeom prst="rightArrow">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hase 2 header"/>
          <p:cNvSpPr/>
          <p:nvPr/>
        </p:nvSpPr>
        <p:spPr>
          <a:xfrm>
            <a:off x="4291584" y="1325880"/>
            <a:ext cx="3605784" cy="105156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hase 2 title"/>
          <p:cNvSpPr txBox="1"/>
          <p:nvPr/>
        </p:nvSpPr>
        <p:spPr>
          <a:xfrm>
            <a:off x="4565904" y="1325880"/>
            <a:ext cx="3240024" cy="1051560"/>
          </a:xfrm>
          <a:prstGeom prst="rect">
            <a:avLst/>
          </a:prstGeom>
          <a:noFill/>
        </p:spPr>
        <p:txBody>
          <a:bodyPr wrap="square" lIns="45720" tIns="45720" rIns="45720" bIns="45720" anchor="ctr">
            <a:noAutofit/>
          </a:bodyPr>
          <a:lstStyle/>
          <a:p>
            <a:pPr marL="0" indent="0" algn="l">
              <a:buNone/>
            </a:pPr>
            <a:r>
              <a:rPr lang="en-US" sz="1400" b="0" spc="100" dirty="0">
                <a:solidFill>
                  <a:srgbClr val="E6ECF8"/>
                </a:solidFill>
                <a:latin typeface="Arial"/>
                <a:ea typeface="Arial"/>
                <a:cs typeface="Arial"/>
              </a:rPr>
              <a:t>Phase 2</a:t>
            </a:r>
          </a:p>
          <a:p>
            <a:pPr marL="0" indent="0" algn="l">
              <a:buNone/>
            </a:pPr>
            <a:r>
              <a:rPr lang="en-US" sz="2600" b="1" dirty="0">
                <a:solidFill>
                  <a:srgbClr val="FFFFFF"/>
                </a:solidFill>
                <a:latin typeface="Georgia"/>
                <a:ea typeface="Georgia"/>
                <a:cs typeface="Georgia"/>
              </a:rPr>
              <a:t>Launch</a:t>
            </a:r>
          </a:p>
        </p:txBody>
      </p:sp>
      <p:sp>
        <p:nvSpPr>
          <p:cNvPr id="11" name="Phase 2 card"/>
          <p:cNvSpPr/>
          <p:nvPr/>
        </p:nvSpPr>
        <p:spPr>
          <a:xfrm>
            <a:off x="4291584" y="2377440"/>
            <a:ext cx="3605784" cy="237744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hase 2 text"/>
          <p:cNvSpPr txBox="1"/>
          <p:nvPr/>
        </p:nvSpPr>
        <p:spPr>
          <a:xfrm>
            <a:off x="4565904" y="2560320"/>
            <a:ext cx="3057144" cy="2103120"/>
          </a:xfrm>
          <a:prstGeom prst="rect">
            <a:avLst/>
          </a:prstGeom>
          <a:noFill/>
        </p:spPr>
        <p:txBody>
          <a:bodyPr wrap="square" lIns="45720" tIns="45720" rIns="45720" bIns="45720" anchor="t">
            <a:noAutofit/>
          </a:bodyPr>
          <a:lstStyle/>
          <a:p>
            <a:pPr marL="0" indent="0" algn="l">
              <a:lnSpc>
                <a:spcPct val="110000"/>
              </a:lnSpc>
              <a:buNone/>
            </a:pPr>
            <a:r>
              <a:rPr lang="en-US" sz="1500" b="0" dirty="0">
                <a:solidFill>
                  <a:srgbClr val="1A1A1A"/>
                </a:solidFill>
                <a:latin typeface="Arial"/>
                <a:ea typeface="Arial"/>
                <a:cs typeface="Arial"/>
              </a:rPr>
              <a:t>Move every project to the weekly Project Sync. Start the weekly Pulse and monthly Review. Retire size tiers and duplicate forums.</a:t>
            </a:r>
          </a:p>
        </p:txBody>
      </p:sp>
      <p:sp>
        <p:nvSpPr>
          <p:cNvPr id="13" name="Phase arrow 2"/>
          <p:cNvSpPr/>
          <p:nvPr/>
        </p:nvSpPr>
        <p:spPr>
          <a:xfrm>
            <a:off x="7933943" y="1737360"/>
            <a:ext cx="201168" cy="228600"/>
          </a:xfrm>
          <a:prstGeom prst="rightArrow">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hase 3 header"/>
          <p:cNvSpPr/>
          <p:nvPr/>
        </p:nvSpPr>
        <p:spPr>
          <a:xfrm>
            <a:off x="8171687" y="1325880"/>
            <a:ext cx="3605784" cy="105156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hase 3 title"/>
          <p:cNvSpPr txBox="1"/>
          <p:nvPr/>
        </p:nvSpPr>
        <p:spPr>
          <a:xfrm>
            <a:off x="8446008" y="1325880"/>
            <a:ext cx="3240024" cy="1051560"/>
          </a:xfrm>
          <a:prstGeom prst="rect">
            <a:avLst/>
          </a:prstGeom>
          <a:noFill/>
        </p:spPr>
        <p:txBody>
          <a:bodyPr wrap="square" lIns="45720" tIns="45720" rIns="45720" bIns="45720" anchor="ctr">
            <a:noAutofit/>
          </a:bodyPr>
          <a:lstStyle/>
          <a:p>
            <a:pPr marL="0" indent="0" algn="l">
              <a:buNone/>
            </a:pPr>
            <a:r>
              <a:rPr lang="en-US" sz="1400" b="0" spc="100" dirty="0">
                <a:solidFill>
                  <a:srgbClr val="E6ECF8"/>
                </a:solidFill>
                <a:latin typeface="Arial"/>
                <a:ea typeface="Arial"/>
                <a:cs typeface="Arial"/>
              </a:rPr>
              <a:t>Phase 3</a:t>
            </a:r>
          </a:p>
          <a:p>
            <a:pPr marL="0" indent="0" algn="l">
              <a:buNone/>
            </a:pPr>
            <a:r>
              <a:rPr lang="en-US" sz="2600" b="1" dirty="0">
                <a:solidFill>
                  <a:srgbClr val="FFFFFF"/>
                </a:solidFill>
                <a:latin typeface="Georgia"/>
                <a:ea typeface="Georgia"/>
                <a:cs typeface="Georgia"/>
              </a:rPr>
              <a:t>Measure</a:t>
            </a:r>
          </a:p>
        </p:txBody>
      </p:sp>
      <p:sp>
        <p:nvSpPr>
          <p:cNvPr id="16" name="Phase 3 card"/>
          <p:cNvSpPr/>
          <p:nvPr/>
        </p:nvSpPr>
        <p:spPr>
          <a:xfrm>
            <a:off x="8171687" y="2377440"/>
            <a:ext cx="3605784" cy="2377440"/>
          </a:xfrm>
          <a:prstGeom prst="rect">
            <a:avLst/>
          </a:prstGeom>
          <a:solidFill>
            <a:srgbClr val="FFFFFF"/>
          </a:solidFill>
          <a:ln w="12700">
            <a:solidFill>
              <a:srgbClr val="D3DA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hase 3 text"/>
          <p:cNvSpPr txBox="1"/>
          <p:nvPr/>
        </p:nvSpPr>
        <p:spPr>
          <a:xfrm>
            <a:off x="8446008" y="2560320"/>
            <a:ext cx="3057144" cy="2103120"/>
          </a:xfrm>
          <a:prstGeom prst="rect">
            <a:avLst/>
          </a:prstGeom>
          <a:noFill/>
        </p:spPr>
        <p:txBody>
          <a:bodyPr wrap="square" lIns="45720" tIns="45720" rIns="45720" bIns="45720" anchor="t">
            <a:noAutofit/>
          </a:bodyPr>
          <a:lstStyle/>
          <a:p>
            <a:pPr marL="0" indent="0" algn="l">
              <a:lnSpc>
                <a:spcPct val="110000"/>
              </a:lnSpc>
              <a:buNone/>
            </a:pPr>
            <a:r>
              <a:rPr lang="en-US" sz="1500" b="0" dirty="0">
                <a:solidFill>
                  <a:srgbClr val="1A1A1A"/>
                </a:solidFill>
                <a:latin typeface="Arial"/>
                <a:ea typeface="Arial"/>
                <a:cs typeface="Arial"/>
              </a:rPr>
              <a:t>Track hours, decisions and slips monthly. At 90 days, ask leadership whether their pulse is strong enough, and adjust.</a:t>
            </a:r>
          </a:p>
        </p:txBody>
      </p:sp>
      <p:sp>
        <p:nvSpPr>
          <p:cNvPr id="18" name="Track band"/>
          <p:cNvSpPr/>
          <p:nvPr/>
        </p:nvSpPr>
        <p:spPr>
          <a:xfrm>
            <a:off x="411480" y="5029200"/>
            <a:ext cx="11365992" cy="1143000"/>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rack accent"/>
          <p:cNvSpPr/>
          <p:nvPr/>
        </p:nvSpPr>
        <p:spPr>
          <a:xfrm>
            <a:off x="411480" y="5029200"/>
            <a:ext cx="73152" cy="1143000"/>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ck text"/>
          <p:cNvSpPr txBox="1"/>
          <p:nvPr/>
        </p:nvSpPr>
        <p:spPr>
          <a:xfrm>
            <a:off x="731520" y="5120640"/>
            <a:ext cx="10972800" cy="1005840"/>
          </a:xfrm>
          <a:prstGeom prst="rect">
            <a:avLst/>
          </a:prstGeom>
          <a:noFill/>
        </p:spPr>
        <p:txBody>
          <a:bodyPr wrap="square" lIns="45720" tIns="45720" rIns="45720" bIns="45720" anchor="ctr">
            <a:noAutofit/>
          </a:bodyPr>
          <a:lstStyle/>
          <a:p>
            <a:pPr marL="0" indent="0" algn="l">
              <a:spcAft>
                <a:spcPts val="600"/>
              </a:spcAft>
              <a:buNone/>
            </a:pPr>
            <a:r>
              <a:rPr lang="en-US" sz="1500" b="1" dirty="0">
                <a:solidFill>
                  <a:srgbClr val="141B4D"/>
                </a:solidFill>
                <a:latin typeface="Arial"/>
                <a:ea typeface="Arial"/>
                <a:cs typeface="Arial"/>
              </a:rPr>
              <a:t>Track success through</a:t>
            </a:r>
          </a:p>
          <a:p>
            <a:pPr marL="0" indent="0" algn="l">
              <a:buNone/>
            </a:pPr>
            <a:r>
              <a:rPr lang="en-US" sz="1400" b="0" dirty="0">
                <a:solidFill>
                  <a:srgbClr val="1A1A1A"/>
                </a:solidFill>
                <a:latin typeface="Arial"/>
                <a:ea typeface="Arial"/>
                <a:cs typeface="Arial"/>
              </a:rPr>
              <a:t>Recurring meeting hours      Decisions made      Overdue actions      Slips flagged amber before red      Leadership confidence rating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11480" y="274320"/>
            <a:ext cx="11338560" cy="685800"/>
          </a:xfrm>
          <a:prstGeom prst="rect">
            <a:avLst/>
          </a:prstGeom>
          <a:noFill/>
        </p:spPr>
        <p:txBody>
          <a:bodyPr wrap="square" lIns="45720" tIns="45720" rIns="45720" bIns="45720" anchor="ctr">
            <a:noAutofit/>
          </a:bodyPr>
          <a:lstStyle/>
          <a:p>
            <a:pPr marL="0" indent="0" algn="l">
              <a:buNone/>
            </a:pPr>
            <a:r>
              <a:rPr lang="en-US" sz="2800" b="1" dirty="0">
                <a:solidFill>
                  <a:srgbClr val="0047BB"/>
                </a:solidFill>
                <a:latin typeface="Georgia"/>
                <a:ea typeface="Georgia"/>
                <a:cs typeface="Georgia"/>
              </a:rPr>
              <a:t>Decision requested: adopt one cadence for every project</a:t>
            </a:r>
          </a:p>
        </p:txBody>
      </p:sp>
      <p:cxnSp>
        <p:nvCxnSpPr>
          <p:cNvPr id="3" name="Title rule"/>
          <p:cNvCxnSpPr/>
          <p:nvPr/>
        </p:nvCxnSpPr>
        <p:spPr>
          <a:xfrm>
            <a:off x="411480" y="1051560"/>
            <a:ext cx="11365992" cy="0"/>
          </a:xfrm>
          <a:prstGeom prst="line">
            <a:avLst/>
          </a:prstGeom>
          <a:ln w="15875">
            <a:solidFill>
              <a:srgbClr val="D3DAE6"/>
            </a:solidFill>
          </a:ln>
        </p:spPr>
        <p:style>
          <a:lnRef idx="2">
            <a:schemeClr val="accent1"/>
          </a:lnRef>
          <a:fillRef idx="0">
            <a:schemeClr val="accent1"/>
          </a:fillRef>
          <a:effectRef idx="1">
            <a:schemeClr val="accent1"/>
          </a:effectRef>
          <a:fontRef idx="minor">
            <a:schemeClr val="tx1"/>
          </a:fontRef>
        </p:style>
      </p:cxnSp>
      <p:sp>
        <p:nvSpPr>
          <p:cNvPr id="4" name="Ask 1 box"/>
          <p:cNvSpPr/>
          <p:nvPr/>
        </p:nvSpPr>
        <p:spPr>
          <a:xfrm>
            <a:off x="411480" y="1280160"/>
            <a:ext cx="11365992" cy="93268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sk 1 accent"/>
          <p:cNvSpPr/>
          <p:nvPr/>
        </p:nvSpPr>
        <p:spPr>
          <a:xfrm>
            <a:off x="411480" y="1280160"/>
            <a:ext cx="73152" cy="932688"/>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k 1 check box"/>
          <p:cNvSpPr/>
          <p:nvPr/>
        </p:nvSpPr>
        <p:spPr>
          <a:xfrm>
            <a:off x="777240" y="1499616"/>
            <a:ext cx="502920" cy="50292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sk 1 check"/>
          <p:cNvSpPr txBox="1"/>
          <p:nvPr/>
        </p:nvSpPr>
        <p:spPr>
          <a:xfrm>
            <a:off x="777240" y="1499616"/>
            <a:ext cx="502920" cy="502920"/>
          </a:xfrm>
          <a:prstGeom prst="rect">
            <a:avLst/>
          </a:prstGeom>
          <a:noFill/>
        </p:spPr>
        <p:txBody>
          <a:bodyPr wrap="square" lIns="0" tIns="0" rIns="0" bIns="0" anchor="ctr">
            <a:noAutofit/>
          </a:bodyPr>
          <a:lstStyle/>
          <a:p>
            <a:pPr marL="0" indent="0" algn="ctr">
              <a:buNone/>
            </a:pPr>
            <a:r>
              <a:rPr lang="en-US" sz="2200" b="1" dirty="0">
                <a:solidFill>
                  <a:srgbClr val="FFFFFF"/>
                </a:solidFill>
                <a:latin typeface="Arial"/>
                <a:ea typeface="Arial"/>
                <a:cs typeface="Arial"/>
              </a:rPr>
              <a:t>✓</a:t>
            </a:r>
          </a:p>
        </p:txBody>
      </p:sp>
      <p:sp>
        <p:nvSpPr>
          <p:cNvPr id="8" name="Ask 1 text"/>
          <p:cNvSpPr txBox="1"/>
          <p:nvPr/>
        </p:nvSpPr>
        <p:spPr>
          <a:xfrm>
            <a:off x="1508760" y="1280160"/>
            <a:ext cx="10058400" cy="932688"/>
          </a:xfrm>
          <a:prstGeom prst="rect">
            <a:avLst/>
          </a:prstGeom>
          <a:noFill/>
        </p:spPr>
        <p:txBody>
          <a:bodyPr wrap="square" lIns="45720" tIns="45720" rIns="45720" bIns="45720" anchor="ctr">
            <a:noAutofit/>
          </a:bodyPr>
          <a:lstStyle/>
          <a:p>
            <a:pPr marL="0" indent="0" algn="l">
              <a:buNone/>
            </a:pPr>
            <a:r>
              <a:rPr lang="en-US" sz="1600" b="0" dirty="0">
                <a:solidFill>
                  <a:srgbClr val="1A1A1A"/>
                </a:solidFill>
                <a:latin typeface="Arial"/>
                <a:ea typeface="Arial"/>
                <a:cs typeface="Arial"/>
              </a:rPr>
              <a:t>Adopt one meeting cadence for all projects in place of cost-based size tiers.</a:t>
            </a:r>
          </a:p>
        </p:txBody>
      </p:sp>
      <p:sp>
        <p:nvSpPr>
          <p:cNvPr id="9" name="Ask 2 box"/>
          <p:cNvSpPr/>
          <p:nvPr/>
        </p:nvSpPr>
        <p:spPr>
          <a:xfrm>
            <a:off x="411480" y="2359152"/>
            <a:ext cx="11365992" cy="93268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sk 2 accent"/>
          <p:cNvSpPr/>
          <p:nvPr/>
        </p:nvSpPr>
        <p:spPr>
          <a:xfrm>
            <a:off x="411480" y="2359152"/>
            <a:ext cx="73152" cy="932688"/>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sk 2 check box"/>
          <p:cNvSpPr/>
          <p:nvPr/>
        </p:nvSpPr>
        <p:spPr>
          <a:xfrm>
            <a:off x="777240" y="2578608"/>
            <a:ext cx="502920" cy="50292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sk 2 check"/>
          <p:cNvSpPr txBox="1"/>
          <p:nvPr/>
        </p:nvSpPr>
        <p:spPr>
          <a:xfrm>
            <a:off x="777240" y="2578608"/>
            <a:ext cx="502920" cy="502920"/>
          </a:xfrm>
          <a:prstGeom prst="rect">
            <a:avLst/>
          </a:prstGeom>
          <a:noFill/>
        </p:spPr>
        <p:txBody>
          <a:bodyPr wrap="square" lIns="0" tIns="0" rIns="0" bIns="0" anchor="ctr">
            <a:noAutofit/>
          </a:bodyPr>
          <a:lstStyle/>
          <a:p>
            <a:pPr marL="0" indent="0" algn="ctr">
              <a:buNone/>
            </a:pPr>
            <a:r>
              <a:rPr lang="en-US" sz="2200" b="1" dirty="0">
                <a:solidFill>
                  <a:srgbClr val="FFFFFF"/>
                </a:solidFill>
                <a:latin typeface="Arial"/>
                <a:ea typeface="Arial"/>
                <a:cs typeface="Arial"/>
              </a:rPr>
              <a:t>✓</a:t>
            </a:r>
          </a:p>
        </p:txBody>
      </p:sp>
      <p:sp>
        <p:nvSpPr>
          <p:cNvPr id="13" name="Ask 2 text"/>
          <p:cNvSpPr txBox="1"/>
          <p:nvPr/>
        </p:nvSpPr>
        <p:spPr>
          <a:xfrm>
            <a:off x="1508760" y="2359152"/>
            <a:ext cx="10058400" cy="932688"/>
          </a:xfrm>
          <a:prstGeom prst="rect">
            <a:avLst/>
          </a:prstGeom>
          <a:noFill/>
        </p:spPr>
        <p:txBody>
          <a:bodyPr wrap="square" lIns="45720" tIns="45720" rIns="45720" bIns="45720" anchor="ctr">
            <a:noAutofit/>
          </a:bodyPr>
          <a:lstStyle/>
          <a:p>
            <a:pPr marL="0" indent="0" algn="l">
              <a:buNone/>
            </a:pPr>
            <a:r>
              <a:rPr lang="en-US" sz="1600" b="0" dirty="0">
                <a:solidFill>
                  <a:srgbClr val="1A1A1A"/>
                </a:solidFill>
                <a:latin typeface="Arial"/>
                <a:ea typeface="Arial"/>
                <a:cs typeface="Arial"/>
              </a:rPr>
              <a:t>Approve the weekly Project Sync, weekly Portfolio Pulse and monthly Portfolio Review, with their required attendees.</a:t>
            </a:r>
          </a:p>
        </p:txBody>
      </p:sp>
      <p:sp>
        <p:nvSpPr>
          <p:cNvPr id="14" name="Ask 3 box"/>
          <p:cNvSpPr/>
          <p:nvPr/>
        </p:nvSpPr>
        <p:spPr>
          <a:xfrm>
            <a:off x="411480" y="3438144"/>
            <a:ext cx="11365992" cy="93268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sk 3 accent"/>
          <p:cNvSpPr/>
          <p:nvPr/>
        </p:nvSpPr>
        <p:spPr>
          <a:xfrm>
            <a:off x="411480" y="3438144"/>
            <a:ext cx="73152" cy="932688"/>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sk 3 check box"/>
          <p:cNvSpPr/>
          <p:nvPr/>
        </p:nvSpPr>
        <p:spPr>
          <a:xfrm>
            <a:off x="777240" y="3657600"/>
            <a:ext cx="502920" cy="50292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sk 3 check"/>
          <p:cNvSpPr txBox="1"/>
          <p:nvPr/>
        </p:nvSpPr>
        <p:spPr>
          <a:xfrm>
            <a:off x="777240" y="3657600"/>
            <a:ext cx="502920" cy="502920"/>
          </a:xfrm>
          <a:prstGeom prst="rect">
            <a:avLst/>
          </a:prstGeom>
          <a:noFill/>
        </p:spPr>
        <p:txBody>
          <a:bodyPr wrap="square" lIns="0" tIns="0" rIns="0" bIns="0" anchor="ctr">
            <a:noAutofit/>
          </a:bodyPr>
          <a:lstStyle/>
          <a:p>
            <a:pPr marL="0" indent="0" algn="ctr">
              <a:buNone/>
            </a:pPr>
            <a:r>
              <a:rPr lang="en-US" sz="2200" b="1" dirty="0">
                <a:solidFill>
                  <a:srgbClr val="FFFFFF"/>
                </a:solidFill>
                <a:latin typeface="Arial"/>
                <a:ea typeface="Arial"/>
                <a:cs typeface="Arial"/>
              </a:rPr>
              <a:t>✓</a:t>
            </a:r>
          </a:p>
        </p:txBody>
      </p:sp>
      <p:sp>
        <p:nvSpPr>
          <p:cNvPr id="18" name="Ask 3 text"/>
          <p:cNvSpPr txBox="1"/>
          <p:nvPr/>
        </p:nvSpPr>
        <p:spPr>
          <a:xfrm>
            <a:off x="1508760" y="3438144"/>
            <a:ext cx="10058400" cy="932688"/>
          </a:xfrm>
          <a:prstGeom prst="rect">
            <a:avLst/>
          </a:prstGeom>
          <a:noFill/>
        </p:spPr>
        <p:txBody>
          <a:bodyPr wrap="square" lIns="45720" tIns="45720" rIns="45720" bIns="45720" anchor="ctr">
            <a:noAutofit/>
          </a:bodyPr>
          <a:lstStyle/>
          <a:p>
            <a:pPr marL="0" indent="0" algn="l">
              <a:buNone/>
            </a:pPr>
            <a:r>
              <a:rPr lang="en-US" sz="1600" b="0" dirty="0">
                <a:solidFill>
                  <a:srgbClr val="1A1A1A"/>
                </a:solidFill>
                <a:latin typeface="Arial"/>
                <a:ea typeface="Arial"/>
                <a:cs typeface="Arial"/>
              </a:rPr>
              <a:t>Approve the standard weekly update, dashboard and early-warning triggers as the portfolio's pulse.</a:t>
            </a:r>
          </a:p>
        </p:txBody>
      </p:sp>
      <p:sp>
        <p:nvSpPr>
          <p:cNvPr id="19" name="Ask 4 box"/>
          <p:cNvSpPr/>
          <p:nvPr/>
        </p:nvSpPr>
        <p:spPr>
          <a:xfrm>
            <a:off x="411480" y="4517136"/>
            <a:ext cx="11365992" cy="932688"/>
          </a:xfrm>
          <a:prstGeom prst="rect">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sk 4 accent"/>
          <p:cNvSpPr/>
          <p:nvPr/>
        </p:nvSpPr>
        <p:spPr>
          <a:xfrm>
            <a:off x="411480" y="4517136"/>
            <a:ext cx="73152" cy="932688"/>
          </a:xfrm>
          <a:prstGeom prst="rect">
            <a:avLst/>
          </a:prstGeom>
          <a:solidFill>
            <a:srgbClr val="0097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sk 4 check box"/>
          <p:cNvSpPr/>
          <p:nvPr/>
        </p:nvSpPr>
        <p:spPr>
          <a:xfrm>
            <a:off x="777240" y="4736592"/>
            <a:ext cx="502920" cy="502920"/>
          </a:xfrm>
          <a:prstGeom prst="rect">
            <a:avLst/>
          </a:prstGeom>
          <a:solidFill>
            <a:srgbClr val="0047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sk 4 check"/>
          <p:cNvSpPr txBox="1"/>
          <p:nvPr/>
        </p:nvSpPr>
        <p:spPr>
          <a:xfrm>
            <a:off x="777240" y="4736592"/>
            <a:ext cx="502920" cy="502920"/>
          </a:xfrm>
          <a:prstGeom prst="rect">
            <a:avLst/>
          </a:prstGeom>
          <a:noFill/>
        </p:spPr>
        <p:txBody>
          <a:bodyPr wrap="square" lIns="0" tIns="0" rIns="0" bIns="0" anchor="ctr">
            <a:noAutofit/>
          </a:bodyPr>
          <a:lstStyle/>
          <a:p>
            <a:pPr marL="0" indent="0" algn="ctr">
              <a:buNone/>
            </a:pPr>
            <a:r>
              <a:rPr lang="en-US" sz="2200" b="1" dirty="0">
                <a:solidFill>
                  <a:srgbClr val="FFFFFF"/>
                </a:solidFill>
                <a:latin typeface="Arial"/>
                <a:ea typeface="Arial"/>
                <a:cs typeface="Arial"/>
              </a:rPr>
              <a:t>✓</a:t>
            </a:r>
          </a:p>
        </p:txBody>
      </p:sp>
      <p:sp>
        <p:nvSpPr>
          <p:cNvPr id="23" name="Ask 4 text"/>
          <p:cNvSpPr txBox="1"/>
          <p:nvPr/>
        </p:nvSpPr>
        <p:spPr>
          <a:xfrm>
            <a:off x="1508760" y="4517136"/>
            <a:ext cx="10058400" cy="932688"/>
          </a:xfrm>
          <a:prstGeom prst="rect">
            <a:avLst/>
          </a:prstGeom>
          <a:noFill/>
        </p:spPr>
        <p:txBody>
          <a:bodyPr wrap="square" lIns="45720" tIns="45720" rIns="45720" bIns="45720" anchor="ctr">
            <a:noAutofit/>
          </a:bodyPr>
          <a:lstStyle/>
          <a:p>
            <a:pPr marL="0" indent="0" algn="l">
              <a:buNone/>
            </a:pPr>
            <a:r>
              <a:rPr lang="en-US" sz="1600" b="0" dirty="0">
                <a:solidFill>
                  <a:srgbClr val="1A1A1A"/>
                </a:solidFill>
                <a:latin typeface="Arial"/>
                <a:ea typeface="Arial"/>
                <a:cs typeface="Arial"/>
              </a:rPr>
              <a:t>Accept 1,996 recurring attendee-hours ($748,400 released) as directional, and review at 90 days.</a:t>
            </a:r>
          </a:p>
        </p:txBody>
      </p:sp>
      <p:sp>
        <p:nvSpPr>
          <p:cNvPr id="24" name="Closing bar"/>
          <p:cNvSpPr/>
          <p:nvPr/>
        </p:nvSpPr>
        <p:spPr>
          <a:xfrm>
            <a:off x="411480" y="5715000"/>
            <a:ext cx="11365992" cy="68580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losing line"/>
          <p:cNvSpPr txBox="1"/>
          <p:nvPr/>
        </p:nvSpPr>
        <p:spPr>
          <a:xfrm>
            <a:off x="411480" y="5715000"/>
            <a:ext cx="11365992" cy="685800"/>
          </a:xfrm>
          <a:prstGeom prst="rect">
            <a:avLst/>
          </a:prstGeom>
          <a:noFill/>
        </p:spPr>
        <p:txBody>
          <a:bodyPr wrap="square" lIns="45720" tIns="45720" rIns="45720" bIns="45720" anchor="ctr">
            <a:noAutofit/>
          </a:bodyPr>
          <a:lstStyle/>
          <a:p>
            <a:pPr marL="0" indent="0" algn="ctr">
              <a:buNone/>
            </a:pPr>
            <a:r>
              <a:rPr lang="en-US" sz="2100" b="1" i="1" dirty="0">
                <a:solidFill>
                  <a:srgbClr val="FFFFFF"/>
                </a:solidFill>
                <a:latin typeface="Georgia"/>
                <a:ea typeface="Georgia"/>
                <a:cs typeface="Georgia"/>
              </a:rPr>
              <a:t>Weekly pulse.    Fewest people.    Decisions where they belong.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Nationwide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Perreira, Paula</dc:creator>
  <cp:lastModifiedBy>Perreira, Paula</cp:lastModifiedBy>
  <cp:revision>1</cp:revision>
  <dcterms:created xsi:type="dcterms:W3CDTF">2026-10-09T20:29:56Z</dcterms:created>
  <dcterms:modified xsi:type="dcterms:W3CDTF">2026-10-09T20:36:23Z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ea8e88-16c4-4b55-a945-7bd6248db4bf_Enabled">
    <vt:lpwstr>true</vt:lpwstr>
  </property>
  <property fmtid="{D5CDD505-2E9C-101B-9397-08002B2CF9AE}" pid="3" name="MSIP_Label_92ea8e88-16c4-4b55-a945-7bd6248db4bf_SetDate">
    <vt:lpwstr>2026-10-09T20:36:03Z</vt:lpwstr>
  </property>
  <property fmtid="{D5CDD505-2E9C-101B-9397-08002B2CF9AE}" pid="4" name="MSIP_Label_92ea8e88-16c4-4b55-a945-7bd6248db4bf_Method">
    <vt:lpwstr>Standard</vt:lpwstr>
  </property>
  <property fmtid="{D5CDD505-2E9C-101B-9397-08002B2CF9AE}" pid="5" name="MSIP_Label_92ea8e88-16c4-4b55-a945-7bd6248db4bf_Name">
    <vt:lpwstr>Internal</vt:lpwstr>
  </property>
  <property fmtid="{D5CDD505-2E9C-101B-9397-08002B2CF9AE}" pid="6" name="MSIP_Label_92ea8e88-16c4-4b55-a945-7bd6248db4bf_SiteId">
    <vt:lpwstr>22140e4c-d390-45c2-b297-a26c516dc461</vt:lpwstr>
  </property>
  <property fmtid="{D5CDD505-2E9C-101B-9397-08002B2CF9AE}" pid="7" name="MSIP_Label_92ea8e88-16c4-4b55-a945-7bd6248db4bf_ActionId">
    <vt:lpwstr>573a0d9d-858e-41a5-a819-9f40c3a4733c</vt:lpwstr>
  </property>
  <property fmtid="{D5CDD505-2E9C-101B-9397-08002B2CF9AE}" pid="8" name="MSIP_Label_92ea8e88-16c4-4b55-a945-7bd6248db4bf_ContentBits">
    <vt:lpwstr>0</vt:lpwstr>
  </property>
  <property fmtid="{D5CDD505-2E9C-101B-9397-08002B2CF9AE}" pid="9" name="MSIP_Label_92ea8e88-16c4-4b55-a945-7bd6248db4bf_Tag">
    <vt:lpwstr>10, 3, 0, 1</vt:lpwstr>
  </property>
</Properties>
</file>
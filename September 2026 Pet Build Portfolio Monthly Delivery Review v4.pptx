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74" r:id="rId7"/>
    <p:sldId id="275" r:id="rId8"/>
    <p:sldId id="27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deck (43)</c:v>
                </c:pt>
              </c:strCache>
            </c:strRef>
          </c:tx>
          <c:spPr>
            <a:solidFill>
              <a:srgbClr val="9FB8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Compl.</c:v>
                </c:pt>
                <c:pt idx="4">
                  <c:v>Not Assd.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29-4DF8-9406-B0EAD8BAA1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Planview (48)</c:v>
                </c:pt>
              </c:strCache>
            </c:strRef>
          </c:tx>
          <c:spPr>
            <a:solidFill>
              <a:srgbClr val="0047B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0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Compl.</c:v>
                </c:pt>
                <c:pt idx="4">
                  <c:v>Not Assd.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29-4DF8-9406-B0EAD8BAA1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0B-4CAB-A399-B8A4B170D376}"/>
              </c:ext>
            </c:extLst>
          </c:dPt>
          <c:dPt>
            <c:idx val="1"/>
            <c:bubble3D val="0"/>
            <c:spPr>
              <a:solidFill>
                <a:srgbClr val="E6A81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0B-4CAB-A399-B8A4B170D376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A0B-4CAB-A399-B8A4B170D376}"/>
              </c:ext>
            </c:extLst>
          </c:dPt>
          <c:dPt>
            <c:idx val="3"/>
            <c:bubble3D val="0"/>
            <c:spPr>
              <a:solidFill>
                <a:srgbClr val="0047B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A0B-4CAB-A399-B8A4B170D376}"/>
              </c:ext>
            </c:extLst>
          </c:dPt>
          <c:dPt>
            <c:idx val="4"/>
            <c:bubble3D val="0"/>
            <c:spPr>
              <a:solidFill>
                <a:srgbClr val="7A828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7A0B-4CAB-A399-B8A4B170D376}"/>
              </c:ext>
            </c:extLst>
          </c:dPt>
          <c:cat>
            <c:strRef>
              <c:f>Sheet1!$A$2:$A$6</c:f>
              <c:strCache>
                <c:ptCount val="5"/>
                <c:pt idx="0">
                  <c:v>Green</c:v>
                </c:pt>
                <c:pt idx="1">
                  <c:v>Yellow</c:v>
                </c:pt>
                <c:pt idx="2">
                  <c:v>Red</c:v>
                </c:pt>
                <c:pt idx="3">
                  <c:v>Completed</c:v>
                </c:pt>
                <c:pt idx="4">
                  <c:v>Not Assessed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0B-4CAB-A399-B8A4B170D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07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">
    <p:bg>
      <p:bgPr>
        <a:solidFill>
          <a:srgbClr val="0047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_sept/assets/nw_wordmark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927080" y="5989320"/>
            <a:ext cx="566928" cy="5577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— Monthly Build Portfolio Review  ·  September 2026 (status as of 9/30/2026)  ·  Nationwide Internal Use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build_sept/assets/rocke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0" y="1417320"/>
            <a:ext cx="3566160" cy="29352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914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BBD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13232" y="1371599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Build Portfolio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Review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31520" y="3456432"/>
            <a:ext cx="2194560" cy="0"/>
          </a:xfrm>
          <a:prstGeom prst="line">
            <a:avLst/>
          </a:prstGeom>
          <a:noFill/>
          <a:ln w="19050">
            <a:solidFill>
              <a:srgbClr val="7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Pet  |  Monthly Delivery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4041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month: </a:t>
            </a:r>
            <a:r>
              <a:rPr lang="en-US" sz="1150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      </a:t>
            </a:r>
            <a:r>
              <a:rPr lang="en-US" sz="1150" b="1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date: </a:t>
            </a:r>
            <a:r>
              <a:rPr lang="en-US" sz="1150" dirty="0">
                <a:solidFill>
                  <a:srgbClr val="DCE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9/30/2026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September remains executable, but four Red projects concentrate the immediate risk.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MIX — SOURCE-SET COMPARISON</a:t>
            </a:r>
            <a:endParaRPr lang="en-US" sz="9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463040"/>
          <a:ext cx="37490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310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scope and source coverage changed; mix is directional, not like-for-like.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315968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DELIVERY RISKS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315968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refresh from the latest weekly update and write in leadership language. The end-of-month Planview risk notes are out of date.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current status for: Employer Portal / Payroll Billing; Underwriting Question Optimization; PEC environment reset; TaiLWIND dependencies.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Consultation File API: confirm whether this risk is resolved before including it.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813816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FIVE ACHIEVEMENTS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38160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Improvements — production implementation completed 9/16 with monitoring/warranty.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MPPC UW Questions MVP3 — MVP3 production release 9/16; warranty release 9/23.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REN2GIN Migration — SOW finalized; discovery and migration progress across lines.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MM-to-MM Non-CA Migration — SOW finalized; kickoff, requirements, discovery underway.</a:t>
            </a:r>
            <a:endParaRPr lang="en-US" sz="830" dirty="0"/>
          </a:p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API v5 Upgrades — Claims DDIT in progress; added-API analysis complete.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813816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GO-LIVES / MILESTONES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138160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release milestones open — 10/12/2026 target dates in Planview.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Employer Portal go-live — 11/11/2026.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Billing Go Live — 11/11/2026.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Opt. MVP3 production 2/10/2027; schedule finish 4/30/2027.</a:t>
            </a:r>
            <a:endParaRPr lang="en-US" sz="83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83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 committed date is supplied: Not supplied.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502920" y="62362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update used only for supplemental context; September Planview remains authoritative.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91" name="Text 11"/>
          <p:cNvSpPr/>
          <p:nvPr/>
        </p:nvSpPr>
        <p:spPr>
          <a:xfrm>
            <a:off x="50292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UPDATES</a:t>
            </a:r>
            <a:endParaRPr lang="en-US" sz="950" dirty="0"/>
          </a:p>
        </p:txBody>
      </p:sp>
      <p:sp>
        <p:nvSpPr>
          <p:cNvPr id="92" name="Text 12"/>
          <p:cNvSpPr/>
          <p:nvPr/>
        </p:nvSpPr>
        <p:spPr>
          <a:xfrm>
            <a:off x="502920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(PPT Payroll Billing Employer Experience)</a:t>
            </a: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go-live target 11/11/2026. </a:t>
            </a: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to provide September progress on Bundles 5 and 6.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Phase 1 (Claims AI)</a:t>
            </a: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Transformation Service dark launched in production; 9/18 extraction and metrics demonstration completed.</a:t>
            </a:r>
            <a:endParaRPr lang="en-US" sz="830" dirty="0"/>
          </a:p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to add other updates leadership should know.</a:t>
            </a:r>
            <a:endParaRPr lang="en-US" sz="830" dirty="0"/>
          </a:p>
        </p:txBody>
      </p:sp>
      <p:sp>
        <p:nvSpPr>
          <p:cNvPr id="93" name="Text 11"/>
          <p:cNvSpPr/>
          <p:nvPr/>
        </p:nvSpPr>
        <p:spPr>
          <a:xfrm>
            <a:off x="4315968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950" dirty="0"/>
          </a:p>
        </p:txBody>
      </p:sp>
      <p:sp>
        <p:nvSpPr>
          <p:cNvPr id="94" name="Text 12"/>
          <p:cNvSpPr/>
          <p:nvPr/>
        </p:nvSpPr>
        <p:spPr>
          <a:xfrm>
            <a:off x="4315968" y="40050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4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provide the PPT and spend summary.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in September: go-lives and the value they bring to the business.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93124"/>
              </p:ext>
            </p:extLst>
          </p:nvPr>
        </p:nvGraphicFramePr>
        <p:xfrm>
          <a:off x="502920" y="1221555"/>
          <a:ext cx="11247120" cy="405993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Date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Statement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Leader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Add-A-Pet Improvements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in Planview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Draft: </a:t>
                      </a: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Streamlines the add-a-pet quote flow to boost conversion by showing the right products and eliminating redundant data entry.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Kothandaraman, Rekha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Enhancement - MPPC UW Questions MVP3 (Find a Vet)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9/16/2026 (warranty 9/23)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in Planview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Barbour, Kinney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Pricing Segmentation Sophistication (R9: NV, AK, ND)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 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go-live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Barbour, Kinney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Model Law Reboot (Forms)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provide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Scheduled 9/16/2026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go-live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the September Planview list.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status and provide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Dinesh, Venkata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September go-lives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add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add any other September production releases with a value statement.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532347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value statements come from the PM's August project description and need PM confirmation. Orange italic text marks placeholders awaiting September data or PM input.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and 2027 Pet portfolio roadmap.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add the roadmap (from Sandy).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 program and portfolio spend.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AND SPEND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500"/>
              </a:spcAft>
              <a:buSzPct val="100000"/>
              <a:buChar char="•"/>
            </a:pPr>
            <a:r>
              <a:rPr lang="en-US" sz="830" i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Placeholder: Cindy to add the PPT and spend slide.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Red and three Yellow projects require active mitigation entering October.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47120" cy="512064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– PPT Program (Program Overhead)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1014117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overhead work item. The Employer Portal risk is tracked under PPT Payroll Billing Employer Experience (1029802).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treatment pending Cindy review.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Portal go-live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FirstVet Consultation File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$16.5K budget request pending BDE; vendor integration and release readiness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10/30/2026; open release milestones 10/12/2026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PPT Payroll Billing Employer Experience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start behind plan; PDX development/testing and UAT dates not confirmed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Live 11/11/2026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Underwriting Question Optimization for MPI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1030240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status Red; remaining DDIT and cross-team sequencing; $150K 2027 funding approval item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4/30/2027; MVP3 production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NJ MPPC New Product and Rate Capping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1029148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 reporting work; rate-capping scope requires auditability and customer-service visibility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10/12/2026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PEC Product and Underwriting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validation on hold until 9/30 environment reset; E2E timing at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1/29/2027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TaiLWIND Phase 1 (Claims AI)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1029859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Cross-team dependency timing, DDIT completion risk, and phased testing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9/30/2027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2727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(no matching August source value).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delivery remains concentrated in active modernization and migration work.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50976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50292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- PPT - REN2GIN Policy migration-B2C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1014865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SOW finalized; migration discovery and policy conversion progress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4/10/2035; manual migration milestones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 – PPT – Major Medical – New Business on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1014368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 capacity commitment; refinement and DDIT progressing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2026 GIN Upgrades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Requirements/scope and line schedule being finalized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2/26/2027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2026 Product Rate Refresh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DDIT/UAT/production activity reported as complete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1/26/2027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Add-A-Pet Improvements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implementation completed 9/16; warranty monitoring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6/21/2028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Enhance Multi Denial Code Claims Z160/Z151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on hold / Nov release alignment; target 11/11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API v5 Upgrades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DDIT in progress; additional API analysis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Move Informatica Powercenter, SQL &amp; Windows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1029588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planning and line engagement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MPPC to MPI Conversion at Notice of Cancel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1031134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simplification and release planning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1/14/2027; release milestones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(no matching August source value).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projects also include completed releases and platform stability work moving through milestones.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50976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50292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Non-Insurance Pet Protection Bundle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1024485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release 7/15; reporting follow-up remains. Delivered before September.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Paperless E-Delivery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1026960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One-time data load and MMP2 warranty completed 7/31. Delivered before September.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10/29/2026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Enhancement - MPPC UW Questions MVP3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MVP3 release 9/16 and warranty release 9/23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finish 3/10/2027; MVP3.5 production 2/10/2027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and GIN Stability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 work and platform hardening in progress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3/31/2027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Portal Stability 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1029256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E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scope delivered; source supports continued platform work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Pricing Segmentation Sophistication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wave execution and state scope management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1/13/2027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QEC A/B Testing &amp; Tool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1028060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and experience optimization work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Refresh the Windows 2016 Server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1029977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OS upgrade delivery in progress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Data Center Transition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1022011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cutover 7/24. Delivered before September.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10/12/2026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(no matching August source value).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Planview marks five items Completed; four need PM confirmation before being reported as delivered.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4059936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Callback Widget for PET Tool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Stage = Completed.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 go-live date and value delivered.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Enhancement for Commission Reporting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1029608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Planview shows Completed, but the 8/31 weekly shows kickoff 8/26 and an 11/11 release.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MM to MM Non CA Migration Capability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1030589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Planview shows Completed, but the 8/31 weekly shows active work targeting March 2027.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4/30/2027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Unapproved States Product Build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1030587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Planview shows Completed, but the 8/31 weekly shows a vendor SOW due 9/11 and 2027 build funding.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12/31/2027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Small Projects allocation for MM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1015021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allocation bucket, not a delivered project. </a:t>
                      </a:r>
                      <a:r>
                        <a:rPr lang="en-US" sz="800" i="1" dirty="0">
                          <a:solidFill>
                            <a:srgbClr val="B8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to confirm.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finish 12/31/2026 in 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classification is based on the September Planview lifecycle field; no additional completion claims are added. NR = Not Reported.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Eighteen projects have no September overall RAG; visibility should not be confused with delivery health.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50292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AR Report vs. GL inconsistencies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/ P2B work shown;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Claims History Report for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1032289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description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Data Quality Submission Chatbot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1032487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intake / agent concept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10/16/2026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DNS &amp; Regi Updates Moniker to CSCglobal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1031784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 limited to registration movement;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Enable PED Override for MPPC Payroll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1030826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description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Enable Policy Search in EID in 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Policy-search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BPG8 Task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Task-date change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GIN Cap/Scalability to 1.5-2M policies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1032177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funding / scalability scope noted;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1/7/2027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IT Operational Risk Reserve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/ OTL support item;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= September Planview supplied no overall RAG. NR = Not Reported.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remaining Not Assessed items are retained as source gaps, not inferred health ratings.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69848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3020" y="1124712"/>
            <a:ext cx="146304" cy="146304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1069848"/>
            <a:ext cx="74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6292" y="1124712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9172" y="1069848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46304" cy="146304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06984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58284" y="1124712"/>
            <a:ext cx="146304" cy="146304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1164" y="10698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47120" cy="50292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Prev.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Delivery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7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MA Junk Fee Regulation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1029723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MA MPPC Dec Page Update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Form-mapping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12/14/2026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Perks Page + uplift in Portal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page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11/30/2026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Pet Analytics Model Outputs S3 Bucket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1030239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Governed analytics-output storage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12/8/2026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Phone Quote Email (BPG2) Enhancements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1031457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Quote-email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Portfolio Readiness OTL Reserve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1032181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item for 2026/2027 readiness;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12/31/2026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Remove MPPC Utilization Level Capping 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1032273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PA-specific cap removal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12/8/2026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Sales Conversion by Channel Reporting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1030930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REN/GIN conversion data alignment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3/31/2027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Pet: Unum Cobranding Capabilities for PET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1032297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Assessed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Embedded/authenticated PET cobranding scope supplied; no overall RAG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309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= September Planview supplied no overall RAG. NR = Not Reported.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is mixed: Red concentration rose while the source set expanded and many remain unassessed.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3152" cy="86868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0936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95728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95728" y="1188720"/>
            <a:ext cx="73152" cy="8686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05456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23744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88536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88536" y="1188720"/>
            <a:ext cx="73152" cy="868680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98264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A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16552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73152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74152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74152" y="1188720"/>
            <a:ext cx="73152" cy="86868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02168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66960" y="1188720"/>
            <a:ext cx="1801368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66960" y="1188720"/>
            <a:ext cx="73152" cy="868680"/>
          </a:xfrm>
          <a:prstGeom prst="rect">
            <a:avLst/>
          </a:prstGeom>
          <a:solidFill>
            <a:srgbClr val="7A82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76688" y="1225296"/>
            <a:ext cx="1618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82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094976" y="17007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286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DISTRIBUTION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251460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502920" y="4892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MONTH-OVER-MONTH MOVEMENT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5120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r>
              <a:rPr lang="en-US" sz="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not previously reportable: </a:t>
            </a:r>
            <a:r>
              <a:rPr lang="en-US" sz="9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2920" y="5715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RAG movements vs. the August reference; New includes projects newly present in September Planview, lifecycle-only Completed, and Not Assessed rows without an August RAG.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434340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RISKS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343400" y="250545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— Green→Yellow (QA environment reset / E2E).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Question Optimization — Green→Red.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Yellow→Red: PPT Program, FirstVet, PPT Payroll.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4343400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ITEMS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343400" y="373075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Consultation File API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Billing Employer Experience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Question Optimization for MPI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4343400" y="4846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YELLOW DELIVERY RISKS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343400" y="50566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QA environment reset / E2E.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dependent-team timing and DDIT completion.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 MPPC reporting work outstanding.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8183880" y="22860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SUCCESSES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183880" y="250545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Add-A-Pet implementation.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Enhancement MVP3 and warranty.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REN2GIN SOW / discovery.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MM-to-MM SOW / discovery.</a:t>
            </a:r>
            <a:endParaRPr lang="en-US" sz="830" dirty="0"/>
          </a:p>
        </p:txBody>
      </p:sp>
      <p:sp>
        <p:nvSpPr>
          <p:cNvPr id="40" name="Text 37"/>
          <p:cNvSpPr/>
          <p:nvPr/>
        </p:nvSpPr>
        <p:spPr>
          <a:xfrm>
            <a:off x="8183880" y="3611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WATCHLIST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183880" y="382219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funding / recovery.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Payroll UAT and resource coverage.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FirstVet budget / vendor integration.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$150K funding and sequencing.</a:t>
            </a:r>
            <a:endParaRPr lang="en-US" sz="83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 environment reset; TaiLWIND cross-team commitments.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8138160" y="48737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IN FOCUS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138160" y="5117315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 in September Planview detail records; no financial calculations were modified or recalculated.</a:t>
            </a:r>
            <a:endParaRPr lang="en-US" sz="8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 – PPT Program (Program Overhead)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1014117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Pet backend systems by replacing REN and other legacy systems with the GIN platform.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Employer Portal Bundle 4 testing delays are impacting Bundle 5 and the overall delivery schedule. Source notes an Employer Portal go-live milestone of 11/11/2026 and an additional $4M 2027 funding request.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4 testing delays.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5/6 schedule and Finance integration timing remain exposed.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funding / extended REN cost risk noted in source.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policy administration platform and reduced legacy dependency.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Portal MVP moved to 11/11/2026.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Billing Defects Wave 1 (8 defects) deployed to production.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MM-to-MM capability initiated and vendor SOW process underway.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Dadgar, Ali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4/10/2035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3808476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FirstVet Consultation File API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1031012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secure API integration to retrieve FirstVet consultation data and load it into downstream systems.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Requirements are reviewed and finalized; build approach and core team are defined. Source notes an additional $16.5K budget request pending BDE approval and vendor integration / transfer-file milestones.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$16.5K budget pending BDE approval.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integration testing / access readiness.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release readiness around 10/12/2026 milestone dates.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10/12/2026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consultation-data ingestion with less manual handling and improved downstream availability.</a:t>
            </a:r>
            <a:endParaRPr lang="en-US" sz="880" dirty="0"/>
          </a:p>
        </p:txBody>
      </p:sp>
      <p:sp>
        <p:nvSpPr>
          <p:cNvPr id="21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epics reviewed.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approach defined and core team staffed.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data mapping and access planning progressed.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Kothandaraman, Rekha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Heitmann, Kelly (as of 8/28)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10/30/2026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195474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PPT Payroll Billing Employer Experience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employer onboarding and payroll-billing financial-operations integration, including AR posting, GL posting, and reconciliation reporting.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Source states the program is 1.5 weeks behind planned UAT start, remaining PDX development/testing and UAT dates are not confirmed, and the October 9 target is under review.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registration/authentication issue affected validation.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testing had open blockers around test data and invoice/payment creation.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QE/resource capacity and UAT recovery dates require leadership attention.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10/14/2026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11/11/2026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employer onboarding and financial-operational accuracy.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1–4 marked Completed in the source milestone list.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issue mitigation complete and testing resumed.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Finance scenarios prioritized for Cycle 2.</a:t>
            </a:r>
            <a:endParaRPr lang="en-US" sz="850" dirty="0"/>
          </a:p>
        </p:txBody>
      </p:sp>
      <p:sp>
        <p:nvSpPr>
          <p:cNvPr id="21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Dadgar, Ali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Nas, Victor (as of 8/28)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195474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Underwriting Question Optimization for MPI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1030240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number of MPI application questions while preserving response data, metadata, and traceability across binding channels.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 September Planview history shows Red. Source describes MVP1/MVP2/MVP3 execution, remaining DDIT and cross-team sequencing, and a $150K 2027 funding approval item.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MVP1 change request to remove one question.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MVP2/MVP3 DDIT and sequencing across impacted lines.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$150K 2027 funding approval item.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2/10/2027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customer question burden with preserved auditability and cross-channel consistency.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approved the change request to remove one business question.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 received for E2E/business validation.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 go-live risk assessment and target-date review completed.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Kumar, Lalitha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Andrews, Sarah (as of 8/28)</a:t>
            </a:r>
            <a:endParaRPr lang="en-US" sz="850" dirty="0"/>
          </a:p>
        </p:txBody>
      </p:sp>
      <p:sp>
        <p:nvSpPr>
          <p:cNvPr id="21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553919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NJ MPPC New Product and Rate Capping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1029148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New Jersey new business and cap migrated-policy renewal increases for up to four renewals.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 Source assessment is “Outstanding Reporting work”; the work description specifies a 19.9% cap, extensibility, auditability, reporting, and customer-service visibility.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work remains outstanding.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Target/release milestone dates are open in source.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additional CRID detail supplied.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State-compliant rate capping with auditability and customer-service visibility.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supplied in source.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Kulkarni, Shilpa Sachin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provided in source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10/12/2026</a:t>
            </a:r>
            <a:endParaRPr lang="en-US" sz="850" dirty="0"/>
          </a:p>
        </p:txBody>
      </p:sp>
      <p:sp>
        <p:nvSpPr>
          <p:cNvPr id="2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3091586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PEC Product and Underwriting Enhancements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1029313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invalid PEC/coverage combinations and enable compliant mid-term correction of impacted coverage.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 PEC-to-Coverage QA Validation is on hold until 9/30 because of an environment data reset; E2E scheduled for 10/1 is at risk.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reset blocks QA validation.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date may need to move.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and downstream release timing need recovery assessment.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1E57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customer harm, complaints, and regulatory risk from invalid coverage combinations.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(SS) completed.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approved milestone completed.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Path-to-green actions documented in the source.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Barbour, Kinney L.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Wilson, Gary (as of 8/28)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1/29/2027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016252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Pet: TaiLWIND Phase 1 (Claims AI)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ID </a:t>
            </a:r>
            <a:r>
              <a:rPr lang="en-US" sz="1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1029859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RAG · MONTH OVER MONTH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6868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87000" y="621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AI-enabled claims intake and document transformation across Pet claims workflows.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029968"/>
            <a:ext cx="11247120" cy="0"/>
          </a:xfrm>
          <a:prstGeom prst="line">
            <a:avLst/>
          </a:prstGeom>
          <a:noFill/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 September source cites timing risk across REN, GIN, MIM, DMX, Portal, GOP, and Doodle Poodle dependencies; DDIT was not complete for all aspects by 10/1 and phased testing is being used.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/ RISKS / ISSUES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Cross-team dependency timing.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DDIT completion / phased testing.</a:t>
            </a:r>
            <a:endParaRPr lang="en-US" sz="880" dirty="0"/>
          </a:p>
          <a:p>
            <a:pPr marL="127000" indent="-1270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Doodle Poodle processing service timing and access/token-management friction.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MILESTONE TRACK (8 STAGES)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46320"/>
          <a:ext cx="5440680" cy="1382571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DDIT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B5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UAT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Plan Review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Go/No-Go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6A748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Upcoming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217627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(AS SUPPLIED BY SOURCE)</a:t>
            </a:r>
            <a:endParaRPr lang="en-US" sz="9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40680" cy="731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4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A64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supplied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6309360" y="3163824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as supplied — blanks remain blank; financials are not recalculated.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309360" y="341985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/ BENEFIT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309360" y="36210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manual claims intake and establishes a path toward scalable claims automation.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(LATEST AVAILABLE SOURCE)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309360" y="4370832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Transformation Service production dark launch.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 strategy finalized and planning underway.</a:t>
            </a:r>
            <a:endParaRPr lang="en-US" sz="850" dirty="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9/18 extraction and metrics demonstration completed with stakeholder questions captured.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309360" y="528523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CONTACTS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309360" y="5486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Leader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Kulkarni, Shilpa Sachin</a:t>
            </a: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Business Lead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Clausing, Dan (as of 8/28)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309360" y="57790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DELIVERY &amp; % COMPLETE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309360" y="5980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delivery  </a:t>
            </a:r>
            <a:r>
              <a:rPr lang="en-US" sz="85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9/30/2027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309360" y="6309360"/>
            <a:ext cx="4480560" cy="182880"/>
          </a:xfrm>
          <a:prstGeom prst="roundRect">
            <a:avLst>
              <a:gd name="adj" fmla="val 50000"/>
            </a:avLst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09360" y="6309360"/>
            <a:ext cx="2285086" cy="182880"/>
          </a:xfrm>
          <a:prstGeom prst="roundRect">
            <a:avLst>
              <a:gd name="adj" fmla="val 50000"/>
            </a:avLst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881360" y="6245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1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47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hierarchy and reporting conventions keep the September view factual and auditable.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REFERENCES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1435608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Planview source (authoritative current values)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https://nationwide-be.glean.com/api/v1/downloadchatfile/4a6d42aa59af4cfb915a23d20ee9a127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monthly deck (prior-month RAG and structure)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https://nationwide-be.glean.com/api/v1/downloadchatfile/7de8e6a82b7645d991dd40b812ae04bd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update (supplemental context only)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https://nationwide-be.glean.com/api/v1/downloadchatfile/bd397ec5813a4a798ef2bf594df7ff54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 branding template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https://nationwide-be.glean.com/api/v1/downloadchatfile/6e51c3eb3505444c8de9c5104855bfdc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Build rocket logo</a:t>
            </a:r>
            <a:endParaRPr lang="en-US" sz="82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73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https://nationwide-be.glean.com/api/v1/downloadchatfile/85e0dcfcf8c34d26855c580f0365b378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ASSUMPTIONS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041648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reporting month; snapshot date 9/30/2026.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month = August 2026 current RAG from the August monthly deck.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 = Not Reported where no August source value exists.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= September Planview supplied no overall RAG.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leads, pre-September delivery dates and draft value statements: 8/31 Weekly Build Portfolio Status Review.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Program (1014117) classified as program overhead per the 2027 annual planning workbook.</a:t>
            </a:r>
            <a:endParaRPr lang="en-US" sz="83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italic text marks placeholders awaiting September data or PM input.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309360" y="123444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DEFINITIONS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309360" y="1435608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track. Major milestones progressing as planned.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B58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risk. Key dependency, schedule, funding, or resource concerns require monitoring.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risk impacting delivery. Immediate mitigation and leadership support required.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completed successfully.</a:t>
            </a:r>
            <a:endParaRPr lang="en-US" sz="8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20" b="1" dirty="0">
                <a:solidFill>
                  <a:srgbClr val="7A82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Assessed — </a:t>
            </a: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unavailable, planning-only, or data insufficient (supported source reasons only).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09360" y="324612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04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LEGEND &amp; DATA QUALITY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447288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statuses: Completed, In Progress, Upcoming. Dates appear only when supplied; none invented.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projects represented; all appear in the RAG snapshot; seven Red/Yellow projects have detail slides.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values remain blank; TBD remains TBD; financial values are not recalculated.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detail records for the seven Red/Yellow projects report no financial data → Not supplied.</a:t>
            </a:r>
            <a:endParaRPr lang="en-US" sz="82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 weekly context does not override September Planview values.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5486400"/>
            <a:ext cx="11247120" cy="868680"/>
          </a:xfrm>
          <a:prstGeom prst="rect">
            <a:avLst/>
          </a:prstGeom>
          <a:solidFill>
            <a:srgbClr val="F2F5FA"/>
          </a:solidFill>
          <a:ln w="635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82296" cy="868680"/>
          </a:xfrm>
          <a:prstGeom prst="rect">
            <a:avLst/>
          </a:prstGeom>
          <a:solidFill>
            <a:srgbClr val="0047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55595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reflects portfolio status as of 9/30/2026. Source fields are reported as supplied. Blank values remain blank. TBD values remain TBD. Financial calculations are not modified or recalculated.      ·      Nationwide internal use only.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1d4e07-6760-4f2a-9312-949aaba4a6da">
      <Terms xmlns="http://schemas.microsoft.com/office/infopath/2007/PartnerControls"/>
    </lcf76f155ced4ddcb4097134ff3c332f>
    <TaxCatchAll xmlns="b7d811bb-603c-460a-9cfd-cf190d9133f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F0AB2B94E9164080AE6A7AF0D97188" ma:contentTypeVersion="9" ma:contentTypeDescription="Create a new document." ma:contentTypeScope="" ma:versionID="3b2a4e93513da2868a1dace0c5defd20">
  <xsd:schema xmlns:xsd="http://www.w3.org/2001/XMLSchema" xmlns:xs="http://www.w3.org/2001/XMLSchema" xmlns:p="http://schemas.microsoft.com/office/2006/metadata/properties" xmlns:ns2="2e1d4e07-6760-4f2a-9312-949aaba4a6da" xmlns:ns3="b7d811bb-603c-460a-9cfd-cf190d9133f6" targetNamespace="http://schemas.microsoft.com/office/2006/metadata/properties" ma:root="true" ma:fieldsID="0d96902118c4f37bde9f7d6f0bbef530" ns2:_="" ns3:_="">
    <xsd:import namespace="2e1d4e07-6760-4f2a-9312-949aaba4a6da"/>
    <xsd:import namespace="b7d811bb-603c-460a-9cfd-cf190d913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d4e07-6760-4f2a-9312-949aaba4a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811bb-603c-460a-9cfd-cf190d9133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3a11e6-3e35-4797-b11b-7cd9f7711061}" ma:internalName="TaxCatchAll" ma:showField="CatchAllData" ma:web="b7d811bb-603c-460a-9cfd-cf190d913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CC4FA6-B659-4D45-A9D0-312F803D9C63}">
  <ds:schemaRefs>
    <ds:schemaRef ds:uri="http://schemas.microsoft.com/office/2006/metadata/properties"/>
    <ds:schemaRef ds:uri="http://schemas.microsoft.com/office/infopath/2007/PartnerControls"/>
    <ds:schemaRef ds:uri="2e1d4e07-6760-4f2a-9312-949aaba4a6da"/>
    <ds:schemaRef ds:uri="b7d811bb-603c-460a-9cfd-cf190d9133f6"/>
  </ds:schemaRefs>
</ds:datastoreItem>
</file>

<file path=customXml/itemProps2.xml><?xml version="1.0" encoding="utf-8"?>
<ds:datastoreItem xmlns:ds="http://schemas.openxmlformats.org/officeDocument/2006/customXml" ds:itemID="{A7634689-1F3A-4C81-88D6-664DB581C4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1d4e07-6760-4f2a-9312-949aaba4a6da"/>
    <ds:schemaRef ds:uri="b7d811bb-603c-460a-9cfd-cf190d9133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0C8F09-B617-47B6-B32B-71FE1676B4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4501</Words>
  <Application>Microsoft Macintosh PowerPoint</Application>
  <PresentationFormat>Widescreen</PresentationFormat>
  <Paragraphs>950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September 2026 Pet Build Portfolio Monthly Delivery Review</dc:title>
  <dc:subject>PptxGenJS Presentation</dc:subject>
  <dc:creator>Nationwide Pet</dc:creator>
  <cp:lastModifiedBy>Paula Perreira</cp:lastModifiedBy>
  <cp:revision>7</cp:revision>
  <dcterms:created xsi:type="dcterms:W3CDTF">2026-10-14T15:24:36Z</dcterms:created>
  <dcterms:modified xsi:type="dcterms:W3CDTF">2026-10-14T23:49:31Z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2026-10-14T20:29:02Z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ee6ea047-0741-4ebc-8693-75a9f0f96c59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  <property fmtid="{D5CDD505-2E9C-101B-9397-08002B2CF9AE}" pid="10" name="ContentTypeId">
    <vt:lpwstr>0x01010089F0AB2B94E9164080AE6A7AF0D97188</vt:lpwstr>
  </property>
</Properties>
</file>
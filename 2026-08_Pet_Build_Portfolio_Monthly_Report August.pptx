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Lalitha M" userId="befc93b4-711f-4485-8d29-0b724293f635" providerId="ADAL" clId="{2272B50D-8C8D-406B-B1F0-D18E6B6997B2}"/>
    <pc:docChg chg="custSel modSld">
      <pc:chgData name="Kumar, Lalitha M" userId="befc93b4-711f-4485-8d29-0b724293f635" providerId="ADAL" clId="{2272B50D-8C8D-406B-B1F0-D18E6B6997B2}" dt="2026-08-31T21:41:22.459" v="9" actId="27636"/>
      <pc:docMkLst>
        <pc:docMk/>
      </pc:docMkLst>
      <pc:sldChg chg="modSp mod">
        <pc:chgData name="Kumar, Lalitha M" userId="befc93b4-711f-4485-8d29-0b724293f635" providerId="ADAL" clId="{2272B50D-8C8D-406B-B1F0-D18E6B6997B2}" dt="2026-08-31T21:41:18.934" v="0" actId="27636"/>
        <pc:sldMkLst>
          <pc:docMk/>
          <pc:sldMk cId="0" sldId="257"/>
        </pc:sldMkLst>
        <pc:spChg chg="mod">
          <ac:chgData name="Kumar, Lalitha M" userId="befc93b4-711f-4485-8d29-0b724293f635" providerId="ADAL" clId="{2272B50D-8C8D-406B-B1F0-D18E6B6997B2}" dt="2026-08-31T21:41:18.934" v="0" actId="27636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41:19.403" v="1" actId="27636"/>
        <pc:sldMkLst>
          <pc:docMk/>
          <pc:sldMk cId="0" sldId="258"/>
        </pc:sldMkLst>
        <pc:spChg chg="mod">
          <ac:chgData name="Kumar, Lalitha M" userId="befc93b4-711f-4485-8d29-0b724293f635" providerId="ADAL" clId="{2272B50D-8C8D-406B-B1F0-D18E6B6997B2}" dt="2026-08-31T21:41:19.403" v="1" actId="27636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41:20.026" v="2" actId="27636"/>
        <pc:sldMkLst>
          <pc:docMk/>
          <pc:sldMk cId="0" sldId="259"/>
        </pc:sldMkLst>
        <pc:spChg chg="mod">
          <ac:chgData name="Kumar, Lalitha M" userId="befc93b4-711f-4485-8d29-0b724293f635" providerId="ADAL" clId="{2272B50D-8C8D-406B-B1F0-D18E6B6997B2}" dt="2026-08-31T21:41:20.026" v="2" actId="27636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41:20.720" v="6" actId="27636"/>
        <pc:sldMkLst>
          <pc:docMk/>
          <pc:sldMk cId="0" sldId="261"/>
        </pc:sldMkLst>
        <pc:spChg chg="mod">
          <ac:chgData name="Kumar, Lalitha M" userId="befc93b4-711f-4485-8d29-0b724293f635" providerId="ADAL" clId="{2272B50D-8C8D-406B-B1F0-D18E6B6997B2}" dt="2026-08-31T21:41:20.720" v="6" actId="276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Kumar, Lalitha M" userId="befc93b4-711f-4485-8d29-0b724293f635" providerId="ADAL" clId="{2272B50D-8C8D-406B-B1F0-D18E6B6997B2}" dt="2026-08-31T21:41:20.706" v="3" actId="2763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Kumar, Lalitha M" userId="befc93b4-711f-4485-8d29-0b724293f635" providerId="ADAL" clId="{2272B50D-8C8D-406B-B1F0-D18E6B6997B2}" dt="2026-08-31T21:41:20.713" v="5" actId="2763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Kumar, Lalitha M" userId="befc93b4-711f-4485-8d29-0b724293f635" providerId="ADAL" clId="{2272B50D-8C8D-406B-B1F0-D18E6B6997B2}" dt="2026-08-31T21:41:20.709" v="4" actId="27636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41:21.326" v="7" actId="27636"/>
        <pc:sldMkLst>
          <pc:docMk/>
          <pc:sldMk cId="0" sldId="265"/>
        </pc:sldMkLst>
        <pc:spChg chg="mod">
          <ac:chgData name="Kumar, Lalitha M" userId="befc93b4-711f-4485-8d29-0b724293f635" providerId="ADAL" clId="{2272B50D-8C8D-406B-B1F0-D18E6B6997B2}" dt="2026-08-31T21:41:21.326" v="7" actId="27636"/>
          <ac:spMkLst>
            <pc:docMk/>
            <pc:sldMk cId="0" sldId="265"/>
            <ac:spMk id="24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41:21.518" v="8" actId="27636"/>
        <pc:sldMkLst>
          <pc:docMk/>
          <pc:sldMk cId="0" sldId="270"/>
        </pc:sldMkLst>
        <pc:spChg chg="mod">
          <ac:chgData name="Kumar, Lalitha M" userId="befc93b4-711f-4485-8d29-0b724293f635" providerId="ADAL" clId="{2272B50D-8C8D-406B-B1F0-D18E6B6997B2}" dt="2026-08-31T21:41:21.518" v="8" actId="27636"/>
          <ac:spMkLst>
            <pc:docMk/>
            <pc:sldMk cId="0" sldId="270"/>
            <ac:spMk id="24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41:22.459" v="9" actId="27636"/>
        <pc:sldMkLst>
          <pc:docMk/>
          <pc:sldMk cId="0" sldId="291"/>
        </pc:sldMkLst>
        <pc:spChg chg="mod">
          <ac:chgData name="Kumar, Lalitha M" userId="befc93b4-711f-4485-8d29-0b724293f635" providerId="ADAL" clId="{2272B50D-8C8D-406B-B1F0-D18E6B6997B2}" dt="2026-08-31T21:41:22.459" v="9" actId="27636"/>
          <ac:spMkLst>
            <pc:docMk/>
            <pc:sldMk cId="0" sldId="291"/>
            <ac:spMk id="2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047BB"/>
                </a:solidFill>
                <a:latin typeface="Arial"/>
              </a:defRPr>
            </a:pPr>
            <a:r>
              <a:rPr sz="1100" b="1" i="0" u="none" strike="noStrike">
                <a:solidFill>
                  <a:srgbClr val="0047BB"/>
                </a:solidFill>
                <a:latin typeface="Arial"/>
              </a:rPr>
              <a:t>RAG Distribution (8/31/2026)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3A-4E91-8C5E-17C89128AF46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3A-4E91-8C5E-17C89128AF46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3A-4E91-8C5E-17C89128AF46}"/>
              </c:ext>
            </c:extLst>
          </c:dPt>
          <c:dPt>
            <c:idx val="3"/>
            <c:bubble3D val="0"/>
            <c:spPr>
              <a:solidFill>
                <a:srgbClr val="009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3A-4E91-8C5E-17C89128AF46}"/>
              </c:ext>
            </c:extLst>
          </c:dPt>
          <c:dPt>
            <c:idx val="4"/>
            <c:bubble3D val="0"/>
            <c:spPr>
              <a:solidFill>
                <a:srgbClr val="8A90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3A-4E91-8C5E-17C89128AF46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3A-4E91-8C5E-17C89128AF46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3A-4E91-8C5E-17C89128AF46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3A-4E91-8C5E-17C89128AF46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A3A-4E91-8C5E-17C89128AF46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A3A-4E91-8C5E-17C89128AF4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Completed</c:v>
                </c:pt>
                <c:pt idx="4">
                  <c:v>Not assessed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A3A-4E91-8C5E-17C89128A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222222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146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65392"/>
            <a:ext cx="10424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 — Monthly Build Portfolio Report  ·  August 2026 (status as of 8/31/2026)  ·  Nationwide Internal Use Only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assets/aug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00200"/>
            <a:ext cx="6537960" cy="435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Build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Report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58368" y="33467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 2026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76656" y="3822192"/>
            <a:ext cx="1737360" cy="4572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40416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source snapshot: 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8/31/2026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4937760"/>
            <a:ext cx="4800600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" y="4937760"/>
            <a:ext cx="73152" cy="105156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5010912"/>
            <a:ext cx="4480560" cy="905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August monthly report reflects the 8/31/2026 business status. Source fields are reported as supplied — blanks remain blank, TBD remains TBD, and financials are not recalculated.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RAG Snapshot — Red, Yellow &amp; Green (1 of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0" y="47548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75488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0" y="475488"/>
            <a:ext cx="146304" cy="1463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92640" y="475488"/>
            <a:ext cx="146304" cy="146304"/>
          </a:xfrm>
          <a:prstGeom prst="rect">
            <a:avLst/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0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80192" y="475488"/>
            <a:ext cx="146304" cy="146304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63072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Add-A-Pet Improvements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showstopper defects; remediation, testing &amp; business approval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9/9/2026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MPPC UW Questions Reduction MVP3 / Find a Vet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&amp; Implementation dependent on Add-A-Pet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9/9/2026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EDO: Talend Run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write-access restriction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7/31/2026 source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Portal / Payroll Billing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5/6 scope, defects, E2E readiness, no schedule contingency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FirstVet Consultation File API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ImageRight/MIM CR &amp; funding/prioritization dependency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9/14/2026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Stabilization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Q4 funding; CR scope/estimate by 9/4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GIN / Batch Stabilization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ECIF Data Integrity &amp; GIN stability funding/CR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GIN Long-Term Stability — Scalability to 1.5–2M Policies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 lead gap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GIN API V2 to V5 Upgrade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Phased delivery &amp; resource onboarding; risk date 9/4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date 9/4/2026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TaiLWIND Flagship AI / Claims AI Phase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Capacity, KPIs, integrations, production ownership alignment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 Program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Portal / 2027 funding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7/31/2026 source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NJ MPPC New Product and Rate Capping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Talend→Python dependency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7/27/2026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 – REN2GIN Policy Migration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SOW finalized 8/28; schedule/cost alignment 9/30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 alignment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 – Major Medical – New Business on GIN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MiM capacity commitment (second developer)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Medical-to-Major-Medical Migration (Non-CA)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SOW finalized; schedule aligned to March 2027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2027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RAG Snapshot — Green (2 of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0" y="47548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75488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0" y="475488"/>
            <a:ext cx="146304" cy="1463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92640" y="475488"/>
            <a:ext cx="146304" cy="146304"/>
          </a:xfrm>
          <a:prstGeom prst="rect">
            <a:avLst/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0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80192" y="475488"/>
            <a:ext cx="146304" cy="146304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63072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 and Unapproved States Product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Cognizant draft SOW expected 9/11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SOW 9/11/2026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MPI Underwriting Optimization MVP1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 to remove one business question approved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MPI Underwriting Optimization MVP2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SteerCo approved 11/11 go-live (8/27)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MPI Underwriting Optimization MVP3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 2027 funding remains an approval item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February 2027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MPPC to MPI Conversion at Notice of Cancel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 9 achievable; options being evaluated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 Product &amp; Underwriting Enhancements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 continuing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 Multi Denial Code Claims Z160/Z151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MPPC/MPI and ETL DDIT in 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MPI Pricing Segmentation Sophistication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R9 on schedule; R10 scope frozen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 (R9)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Model Law Reboot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3 implemented 8/12; Wave 4 in November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 (REN CR forms)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 Billing Defect Fixes / Talend-to-Python Waves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2 sign-off 8/17; production deployment 8/19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11/12/2026 (Wave 5)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the Windows 2022 Server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Phased server upgrade; remaining teams in September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Enhancement for Commission Reporting — Internal Batch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Kickoff 8/26; BO→Power BI, Oracle→Snowflake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GIN Updates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Requirements/scope/line schedule finalizing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CPP Right to Delete &amp; Right to Access (Externally Funded)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design &amp; line estimates pending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Vulnerabilities Remediation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Cloud-run stabilization dependency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8/31/2026 (past-due closure)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RAG Snapshot — Green, Completed &amp; Not-Assessed (3 of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0" y="47548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75488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0" y="475488"/>
            <a:ext cx="146304" cy="1463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92640" y="475488"/>
            <a:ext cx="146304" cy="146304"/>
          </a:xfrm>
          <a:prstGeom prst="rect">
            <a:avLst/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0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80192" y="475488"/>
            <a:ext cx="146304" cy="146304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63072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Talend to Python Migration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available source: 7/20/2026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7/20/2026 source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Product Rate Refresh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7/31/2026 source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Hawaii Territory Factor Change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update pending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8/31/2026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Maryland MPPC Approval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readiness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8/31/2026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P.E.T. Exchange Encryption Upgrade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posture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7/27/2026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 WP to MPI Rate Capping and Letter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 cap logic &amp; letter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9/11/2026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QEC A/B Testing &amp; Tool Enhancements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optimization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Paperless eDelivery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release + MMP2 warranty 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8/28/2026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Center Production Migration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Cutover 7/24; Dallas &amp; Irvine retired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Non-Insurance Bundle v1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release 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Legacy Portal Interface to UAv3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8/5 deployment validated; sign-offs received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Warranty through 9/5/2026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 Cloud Platform Migration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complete (retained baseline)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 MPI 5% Affinity Discount Removal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Health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projects tracked  ·  1 not assessed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1353312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73152" cy="100584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" y="162763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67512" y="2139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on track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84248" y="1591056"/>
            <a:ext cx="1353312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84248" y="1591056"/>
            <a:ext cx="73152" cy="10058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0552" y="162763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48840" y="2139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at risk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65576" y="1591056"/>
            <a:ext cx="1353312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65576" y="1591056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11880" y="162763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30168" y="2139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escalated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46904" y="1591056"/>
            <a:ext cx="1353312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46904" y="1591056"/>
            <a:ext cx="73152" cy="1005840"/>
          </a:xfrm>
          <a:prstGeom prst="rect">
            <a:avLst/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93208" y="162763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9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111496" y="2139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400800" y="1371600"/>
          <a:ext cx="27432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02920" y="283464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RAG HIGHLIGHTS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3054096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Add-A-Pet Improvements and MPPC UW MVP3 / Find a Vet — both targeting 9/9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 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/ Payroll Billing — Bundle 5/6 scope, E2E Red, no schedule contingency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MPI 5% Affinity Discount Removal — early planning underway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0" y="41605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DELIVERY SPOTLIGHT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0" y="4370832"/>
            <a:ext cx="534924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Billing Wave 2 signed off (8/17) and deployed to production (8/19)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Production Migration complete — cutover 7/24; Dallas &amp; Irvine retired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Non-Insurance Bundle v1 live; Legacy Portal UAv3 deployed &amp; validated (8/5)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REN2GIN SOW finalized (8/28); MPPC UW MVP3 UAT signed off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466344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WATCHPOINTS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4882896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funding / CR decisions pending on Portal Stabilization and GIN/Batch Stabilization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API V2→V5 needs phased delivery and resource onboarding; risk date 9/4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needs cross-team capacity, KPI, and production-ownership alignment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Focus — Decisions &amp; Escalations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170432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" cy="11704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54533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 Portal — Yellow, at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911096"/>
            <a:ext cx="10789920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5/6 scope, open defects, E2E readiness, and schedule contingency remain unresolved. Dark launch 10/21 and go-live 11/11 have no remaining schedule buffer.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11183112" cy="1170432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91440" cy="11704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82549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Stability &amp; GIN / Batch Stabilization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191256"/>
            <a:ext cx="10789920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require Q4 funding and CR decisions — Portal CR scope/estimate requested by 9/4; GIN/Batch needs funding for ECIF Data Integrity and GIN stability.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11183112" cy="1170432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91440" cy="11704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410565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 API V2→V5 Upgrade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4471416"/>
            <a:ext cx="10789920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phased-delivery plan and resource onboarding (QE/developers). Integrated E2E planning is required; project-plan risk date is 9/4.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5257800"/>
            <a:ext cx="11183112" cy="1170432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5257800"/>
            <a:ext cx="91440" cy="11704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538581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Flagship AI / Claims AI Phase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5751576"/>
            <a:ext cx="10789920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cross-team capacity, operational KPI definition, and production-ownership alignment to commit future delivery timing.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Add-A-Pet Improvements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1029314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member experience by showing relevant products and eligibility information during Add-A-Pet.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86% execution complete. Two showstopper defects plus an additional logical change remain; E2E runs through 9/1 and UAT through 9/2. Next potential deployment is 9/9, contingent on remediation, testing, and business approval.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showstopper defects plus an additional logical change under active remediation; deployment gated on completed testing and business sign-off.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$356,440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$233,740.40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$122,700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$356,440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member experience and stronger eligibility-driven conversion.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E2E blockers and environment issues resolved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restored to full execution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Business-flow validation advanced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Nidia Gudino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9/9/2026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46009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MPPC UW Questions Reduction MVP3 / Find a Vet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1030950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MPPC underwriting questions and deliver Find a Vet provider-information enhancements.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target 9/9. E2E and UAT are complete and UAT is signed off. Governance approval to move the question-removal CR toward February 2027 completed 8/31. Stage and Implementation remain dependent on Add-A-Pet.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Question-removal CR governance-approved 8/31 to move toward February 2027. Stage/Implementation dependency on Add-A-Pet remains open.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$197,033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$146,296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$343,330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lighter partner/customer experience with complete provider information and reduced friction.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 complete for warranty fix TAB-1027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and UAT complete; UAT signed off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Question-removal CR governance-approved 8/31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Barbour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Andrews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9/9/2026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21868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Employer Portal / Payroll Billing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employer onboarding and payroll-billing financial-operations integration, including AR, GL, and reconciliation.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109728" cy="109728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" y="20482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208483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78024" y="20482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208483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06824" y="20482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Yellow, at risk of turning Red — Bundle 4 and the first dark launch are complete, but Bundle 5/6 scope and priorities are not finalized and E2E is Red. Dark launch is set for 10/21 and go-live for 11/11 with no remaining schedule contingency. Forecast delta is approximately -$196K versus the revised budget.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5/6 scope not finalized; E2E Red; no remaining schedule contingency; forecast delta ~ -$196K vs revised budget.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$4,050,000 (revised)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$1,809,495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$2,044,359.81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$3,853,855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-$196K vs revised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employer onboarding and financial-operational accuracy.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4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dark launch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Dadgar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Nas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launch 10/21/2026 · go-live 11/11/2026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241401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FirstVet Consultation File API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1031012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 secure API integration to retrieve FirstVet consultation data and load it into downstream systems.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the API release is deployed and functional testing is complete with no application defects. The ImageRight/MIM CR and its funding/prioritization remain dependencies. Transfer-file target is 9/14.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ImageRight/MIM CR and funding/prioritization remain open dependencies.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$69,100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$32,330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$53,268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consultation-data ingestion with less manual handling and improved data availability.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 ImageRight import development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fix and deployment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testing complete (no defects)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alignment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 Heitmann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Transfer-file target 9/14/2026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816352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Portal Stabilization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1029256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portal reliability, login/access, payments, enrollment, and billing issues for migrated policies.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additional Q4 funding is required and a CR scope/estimate was requested by 9/4. The Angular upgrade moved to 9/9; login/access reliability is delivered; Apigee/API and redundant-call releases are planned 9/16; payments/enrollment/billing target 10/31.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Q4 funding required; CR scope/estimate requested by 9/4.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$32,221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$78,142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$112,056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member experience and reduces migrated-policy support incidents.</a:t>
            </a:r>
            <a:endParaRPr lang="en-US" sz="950" dirty="0"/>
          </a:p>
        </p:txBody>
      </p:sp>
      <p:sp>
        <p:nvSpPr>
          <p:cNvPr id="19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Login/access reliability delivered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upgrade rescheduled to 9/9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Apigee/API &amp; redundant-call releases planned 9/16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Nidia Gudino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Payments/enrollment/billing target 10/31/2026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810512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GIN / Batch Stabilization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1031470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GIN/ECIF data integrity and critical batch jobs to reduce member-visible errors and support growth.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additional funding/CR is needed for ECIF Data Integrity and GIN stability. ECIF/ECN fixes deployed 8/12 and estimates were received 8/21. Task-error remediation is planned 9/15, a phased-delivery proposal is under review, and the CEM-to-Java Golden Path is targeted for October.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funding/CR needed for ECIF Data Integrity and GIN stability; phased-delivery proposal under review.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$243,318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$386,168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$663,871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member-visible errors, more reliable documents/remittances, and scalable operations.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ECIF/ECN fixes deployed 8/12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received 8/21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Task-error remediation planned 9/15</a:t>
            </a:r>
            <a:endParaRPr lang="en-US" sz="950" dirty="0"/>
          </a:p>
        </p:txBody>
      </p:sp>
      <p:sp>
        <p:nvSpPr>
          <p:cNvPr id="19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CEM-to-Java Golden Path targeted October 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40817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GIN Long-Term Stability — Scalability to 1.5–2M Policies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GIN to support 1.5–2M policies through Snowflake and phased GIN platform work.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discovery is complete and the solution-approach/project-plan review is complete with feedback. Snowflake and GIN phase work is underway. A QE lead gap is noted.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lead resource gap noted.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$463,000 (approved funding)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scalability to support long-term policy growth.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Solution-approach / project-plan review complete with feedback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and GIN phase work underway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endParaRPr lang="en-US" sz="950" dirty="0"/>
          </a:p>
        </p:txBody>
      </p:sp>
      <p:sp>
        <p:nvSpPr>
          <p:cNvPr id="19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not supplied in source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804672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GIN API V2 to V5 Upgrade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customer-facing Accounts, Claims, and Members APIs from V2 SOAP/RPC to V5 REST.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the project plan is in progress and core resources are identified. QE/developer onboarding is underway. Phased delivery and integrated E2E planning are required; the risk date is 9/4.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delivery and integrated E2E planning required; project-plan risk date 9/4.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$349,839.29 (forecast)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customer-facing APIs on V5 REST with reduced legacy dependency.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in progress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resources identified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QE/developer onboarding underway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1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Project-plan risk date 9/4/2026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TaiLWIND Flagship AI / Claims AI Phase 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1029859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AI-enabled claims intake (email, document submission) and downstream mapping for claims processing.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Email Ingestion is 70% complete and Document Submission release 1 is underway. PDFBox replaced a licensing risk and benchmark/ground-truth work advanced. Drivers are capacity, operational KPIs, integrations, and production-ownership alignment. Next show-and-tell is 9/18.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drivers: cross-team capacity, operational KPIs, integrations, and production-ownership alignment.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$666,489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$859,818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$1,526,307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manual claims intake and creates a flexible path to agentic automation.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Ingestion 70%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Submission release 1 underway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PDFBox replaced licensing risk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Benchmark/ground-truth advanced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K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Clausing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11/11/2026 · next show-and-tell 9/18</a:t>
            </a:r>
            <a:endParaRPr lang="en-US" sz="950" dirty="0"/>
          </a:p>
        </p:txBody>
      </p:sp>
      <p:sp>
        <p:nvSpPr>
          <p:cNvPr id="19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21284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– REN2GIN Policy Migration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1014865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policies from REN to GIN across planned migration waves.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SOW finalized 8/28. Latest migration: MM→MPI 99.7%, MPP→MPPC 87.2%, WP→MPI 72.4%, total 87.3%. Schedule/cost alignment is targeted for 9/30.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schedule/cost alignment pending 9/30.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$436,842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$407,037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$843,880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policy administration to the modern GIN platform and reduces legacy dependency.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 finalized 8/28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advanced: total 87.3% (MM→MPI 99.7%, MPP→MPPC 87.2%, WP→MPI 72.4%)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K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Schedule/cost alignment 9/30/2026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500323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– Major Medical – New Business on GIN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1014368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Major Medical product functionality for new business on GIN.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confirmed following a MiM commitment based on second-developer availability. Refinement and DDIT are underway; target is 2/10/2027.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delivery contingent on committed MiM capacity.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$117,650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$761,646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$879,296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Major Medical new-business capability on GIN.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 capacity commitment secured (second developer)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 and DDIT underway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K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2/10/2027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20700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Major Medical-to-Major-Medical Migration (Non-CA)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Major Medical-to-Major-Medical migration capability for non-California states.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the ITS SOW is finalized and the schedule is aligned to March 2027. Discovery kickoff is next.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 (working)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Major Medical policy migration capability outside California.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SOW finalized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aligned to March 2027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kickoff next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aligned to March 2027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NY and Unapproved States Product Build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product capability for New York and other unapproved states.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an additional $167K in funding was received and intake is submitted. A Cognizant draft SOW is expected 9/11; final SOW and staffing remain open.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SOW and staffing remain open.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product availability into New York and additional states.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$167K funding received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submitted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 draft SOW expected 9/11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(Interim)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 draft SOW expected 9/11/2026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MPI Underwriting Optimization MVP1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1030240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MPI application questions while preserving response data and traceability (MVP1).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target 10/14. DDIT ends 9/2; E2E 9/3–9/15; UAT 9/16–10/2; implementation-plan review, Go/No-Go, and Stage 10/3; Implementation 10/14. The CR to remove one business question is approved; $7K was funded through contingency with no budget impact; mockups and risk assessment are complete.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to remove one business question approved; $7K funded through contingency with no budget impact.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$191,445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$925,157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$1,116,603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17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Lighter customer experience and lower question burden with maintained auditability.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to remove one business question approved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and risk assessment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$7K funded via contingency (no budget impact)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Lalitha Kumar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Andrews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10/14/2026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60934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MPI Underwriting Optimization MVP2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increment of MPI underwriting-question optimization (MVP2).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the Steering Committee approved the 11/11 go-live on 8/27. DDIT runs through 9/30; E2E 10/1–10/14; UAT 10/15–10/30; Go/No-Go 11/2; Implementation 11/11. Risk and Open Enrollment assessments are complete.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Open Enrollment alignment assessed.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$1,120,000 (shared program)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$191,445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$925,157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$1,116,603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17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reduction in application question burden across channels.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approved 11/11 go-live (8/27)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Open Enrollment assessments complete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Lalitha Kumar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Andrews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11/11/2026 (SteerCo approved 8/27)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20700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MPI Underwriting Optimization MVP3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increment of MPI underwriting-question optimization (MVP3).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February 2027 target. DDIT 8/13–12/24; E2E 12/28–1/10/27; UAT 1/11–1/30/27; Go/No-Go 2/2/27; Implementation 2/17/27. $150K of 2027 funding remains an approval item.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 2027 funding remains an approval item.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12/24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12/28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1/10/27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1/30/27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2/17/27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 2027 funding pending approval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Completes the multi-phase reduction in application question burden.</a:t>
            </a:r>
            <a:endParaRPr lang="en-US" sz="950" dirty="0"/>
          </a:p>
        </p:txBody>
      </p:sp>
      <p:sp>
        <p:nvSpPr>
          <p:cNvPr id="17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plan established through February 2027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Lalitha Kumar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Andrews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February 2027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482803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MPPC to MPI Conversion at Notice of Cancel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1031134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automated MPPC→MPI conversion path for payroll-billed customers at Notice of Cancel.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December 9 is technically achievable while January, February, and phased options are evaluated. The simplified design uses existing cancellation reason codes, with no new eligibility flag or RRD indicator; the printed-insert timeline is established.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delivery timing options (Dec/Jan/Feb/phased) under evaluation.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$169,884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$707,038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$876,922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members insured with less friction and reduces manual conversion effort.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17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design finalized (existing cancellation reason codes; no new flag/RRD)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Printed-insert timeline established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Lalitha Kumar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12/9/2026 technically achievable (options under evaluation)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PEC Product &amp; Underwriting Enhancements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1029313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invalid PEC/coverage combinations and enable compliant mid-term correction.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50% complete with DDIT continuing; target 11/11.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$96,874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$96,874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customer harm, complaints, and regulatory risk from invalid coverage combinations.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 Sprint 1 completed</a:t>
            </a:r>
            <a:endParaRPr lang="en-US" sz="950" dirty="0"/>
          </a:p>
        </p:txBody>
      </p:sp>
      <p:sp>
        <p:nvSpPr>
          <p:cNvPr id="17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Barbour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11/11/2026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Enhance Multi Denial Code Claims Z160/Z151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1029586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claims denial handling to preserve multiple applicable denial reasons, including Z160 and Z151.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MPPC/MPI and ETL DDIT are in progress; target 11/11.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$114,000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$14,527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$96,834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$111,360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denial accuracy and defensibility while reducing legal/compliance exposure.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MPPC/MPI DDIT in progress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DDIT in progress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17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Barbour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Suarez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11/11/2026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20700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MPI Pricing Segmentation Sophistication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1024050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MPI rating-segmentation and utilization changes across release waves.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R9 is on schedule for 9/16 and R10 scope is frozen for RI/DC/CT. R9 DDIT/E2E are complete and R9 UAT is due 9/4.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$144,918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$47,489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$192,403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net benefit of $30M–$50M annually, subject to assumptions and data availability.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 DDIT/E2E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R10 scope frozen for RI/DC/CT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 UAT due 9/4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L. Barbour</a:t>
            </a:r>
            <a:endParaRPr lang="en-US" sz="950" dirty="0"/>
          </a:p>
        </p:txBody>
      </p:sp>
      <p:sp>
        <p:nvSpPr>
          <p:cNvPr id="1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 target 9/16/2026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62102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Pet Model Law Reboot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MPI/MPPC medical and congenital coverage from a 14-day waiting period to delayed coverage.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Wave 3 was implemented 8/12. The REN CR forms update targets 9/16 and Wave 4 is planned for November; requirements are due 9/1.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$554,981.75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$194,172.70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$194,994.70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readiness and consistent coverage treatment across products.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 implemented 8/12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 CR forms update targeted 9/16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4 planned for November; requirements due 9/1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Venkata Dinesh Konatalapalli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17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T. Wilson (WILSG3)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 CR forms 9/16/2026 · Wave 4 November 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21868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Payroll Billing Defect Fixes / Talend-to-Python Waves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payroll-billing defect fixes and Talend-to-Python migration in sequential waves.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Wave 2 sign-off completed 8/17 with production deployment 8/19. Wave 3 targets 9/17, Wave 4 10/15, and Wave 5 11/12. A CDC/non-prod issue is mitigated by a workaround.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CDC/non-prod issue mitigated by workaround.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Stabilizes payroll billing and completes modernization off Talend.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sign-off 8/17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production deployment 8/19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CDC/non-prod issue mitigated by workaround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Nas</a:t>
            </a:r>
            <a:endParaRPr lang="en-US" sz="950" dirty="0"/>
          </a:p>
        </p:txBody>
      </p:sp>
      <p:sp>
        <p:nvSpPr>
          <p:cNvPr id="17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 9/17 · Wave 4 10/15 · Wave 5 11/12/2026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Refresh the Windows 2022 Server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1029977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the Windows Server OS to 2022 across 71 servers.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41 non-prod and 11 MIM production servers are complete; 2 are scheduled 8/24 and 3 on 8/26, with remaining teams in September. Target is 9/30 across 71 servers total.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platform supportability and reduces infrastructure risk.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non-prod servers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MIM production servers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scheduled 8/24; 3 scheduled 8/26; remaining in September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17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9/30/2026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Enhancement for Commission Reporting — Internal Batch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1029608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internal batch processing for sales commission reporting.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kickoff 8/26. Three reports are identified for BO→Power BI conversion and Oracle→Snowflake data movement; target 9/30.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$31,344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$91,344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and timely sales commission reporting.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8/26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reports identified for BO→Power BI and Oracle→Snowflake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9/30/2026</a:t>
            </a:r>
            <a:endParaRPr lang="en-US" sz="950" dirty="0"/>
          </a:p>
        </p:txBody>
      </p:sp>
      <p:sp>
        <p:nvSpPr>
          <p:cNvPr id="17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2026 GIN Updates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1029587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2026 GIN platform updates.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target 9/30. Requirements, scope, and line schedule are still being finalized.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platform currency and release readiness.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scope, and line schedule being finalized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9/30/2026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28"/>
          <p:cNvSpPr/>
          <p:nvPr/>
        </p:nvSpPr>
        <p:spPr>
          <a:xfrm>
            <a:off x="6382512" y="6382512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CPP Right to Delete &amp; Right to Access (Externally Funded)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CPP consumer Right to Delete and Right to Access capabilities (externally funded).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requirements are approved; technical design and line estimates are pending; target 9/30.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for consumer privacy rights.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approved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 and line estimates pending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9/30/2026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Vulnerabilities Remediation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 open platform vulnerabilities, including AI-agent-assisted remediation.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/ active remediation — scope is defined with a cloud-run stabilization dependency. Approximately 1,200 vulnerabilities are in scope; AI-agent remediation has started with a past-due closure target of 8/31.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Cloud-run stabilization dependency for full remediation.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security exposure across the platform.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defined (~1,200 vulnerabilities)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AI-agent remediation started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Past-due closure target 8/31/2026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60934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Legacy Talend to Python Migration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1029588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Pet ETL workflows off Talend to Python/modernized services.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(latest available source 7/20/2026) — no newer status update was supplied. Retained from the last sourced report; kickoff and team engagement being scheduled.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in the latest available source.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legacy platform dependency and supports a modern ETL architecture.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7/20/2026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Babu Buddha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7/20/2026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885139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Pet Paperless eDelivery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1026960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business-rules and preference-management capability for Pet digital communications.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core release — the one-time data load and MMP2 warranty are complete. Dashboard refinements were targeted for 8/28.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dashboard refinements in warranty.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$933,321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$52,920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$986,242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consistent member communications and less fragmented preference management.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release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data load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MMP2 warranty complete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K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 Heitmann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refinements targeted 8/28/2026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98312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Data Center Production Migration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1022011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Pet infrastructure from Irvine/Dallas co-location facilities to Nationwide data centers.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cutover 7/24; Dallas retirement 8/13; Irvine retirement 8/17; retrospective 8/21. Warranty defects are being tracked.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defects tracked post-migration.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infrastructure and reduced co-location dependency.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cutover 7/24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retirement 8/13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retirement 8/17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8/21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Barbour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Melissa Morris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7/24 · retrospective 8/21/2026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Non-Insurance Bundle v1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1024485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an affordable, comprehensive pet-protection option for employees and employer groups.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the production release is complete. Reporting follow-up does not affect product delivery.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$164,899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employee/broker offering with convenience and broader adoption potential.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follow-up does not affect product delivery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Nidia Gudino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 complete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Update Legacy Portal Interface to UAv3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1029592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legacy portal interface to UAv3, including authentication integration.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/ deployed — the 8/5 deployment is validated and sign-offs are received. Warranty runs through 9/5.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warranty through 9/5.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$67,200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$34,673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supported authentication path and reduced operational risk for the legacy portal.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8/5 deployment validated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Sign-offs received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through 9/5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8/5/2026 · warranty through 9/5/2026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GW Cloud Platform Migration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1021174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the GW platform to the target cloud environment.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retained from the monthly-deck baseline. The cloud-platform migration is complete with no reported cost, scope, or schedule exception.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$350,000 (allocated)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infrastructure and reduced platform dependency risk.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 migration complete (retained from baseline)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Babu Buddha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complete (retained baseline)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EDO: Talend Run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1020895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sustain the Talend platform while resolving the Aurora write-access constraint affecting the GIN T2P design.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Sustained Red: the Aurora write-access restriction impacts the T2P implementation for the GIN component.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R-2251656 — Write Access Restriction (Aurora). Priority High · Type Schedule · Status Open.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$901,138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$626,136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continuity and a viable path to modernize ETL delivery.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Gregory T. Davis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98312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Program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1014117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Pet backend systems through the PPT program and coordinate migrations, employer portal, and payroll billing.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Yellow: Finance requirements and Employer Portal integration create schedule risk, with longer-term funding pressure.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R-2245180 (Open): Employer Portal Bundles 4–5 schedule risk. Risk R-2245181 (Open): 2027 funding risk.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$399,447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($331,210)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core platform and reduced long-term REN cost exposure.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Dadgar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701491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2026 Product Rate Refresh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1029254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annual product rate-refresh changes.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DDIT completed 6/05; UAT sign-off recorded; production implementation completed 6/17.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C-2215383 (Open): excess rate-refresh funding to move to product profitability.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$56,517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($193,482)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approved rates and state/product filing readiness.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Venkata Dinesh Konatalapalli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45425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Hawaii Territory Factor Change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1031022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Hawaii ZIP-code factors to the required statewide factor.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scope is a straightforward table update once the final table is provided.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$37,345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$37,345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with Hawaii DOI rating-factor requirements.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132381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Maryland MPPC Approval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1031033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MPPC state functionality for Maryland.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no current exception was reported.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$55,500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$55,500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Maryland product availability and state readiness.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17261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NJ MPPC New Product and Rate Capping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1029148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NJ new business and cap migrated-policy renewal increases for up to four renewals.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Yellow: reporting scope delivery is delayed by the Talend-to-Python dependency.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I-2251662 (Open): reporting scope delivery delay dependent on Talend→Python migration.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$23,100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($1,249)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State-compliant rate capping with auditability.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Sachin Kulkarni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896819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P.E.T. Exchange Encryption Upgrade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1029705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or supplement AES-CBC with AES-GCM in PET exchange encryption.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no current exception was reported.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$31,370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$31,370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encryption posture and reduced security exposure.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PA WP to MPI Rate Capping and Letter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1030929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Pennsylvania rate-cap logic and the state-specific non-renewal letter for WP-to-MPI conversion.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scope is limited to PA cap logic and the state-specific non-renewal letter.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$75,722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$75,722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State-specific compliance and controlled conversion experience.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241401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QEC A/B Testing &amp; Tool Enhancements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1028060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enrollment and digital purchase experiences through A/B testing and QEC/PET tool enhancements.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no current exception was reported.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$267,565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$221,675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funnel throughput, user experience, and conversion rates.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346009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WA MPI 5% Affinity Discount Removal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1031212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329184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8/31/2026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8A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5% Affinity Discount from WA MPI.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Not assessed: early planning underway with no overall RAG provided.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$34,562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$34,562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the approved Washington pricing change.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L. Barbour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82512" y="6382512"/>
            <a:ext cx="164592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1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Sources &amp; Reporting Conventions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REPORTS (SHAREPOINT, BY DATE)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591056"/>
            <a:ext cx="55321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 algn="l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business status report — SharePoint (status as of 8/31/2026; current status authority)</a:t>
            </a:r>
            <a:endParaRPr lang="en-US" sz="1050" dirty="0"/>
          </a:p>
          <a:p>
            <a:pPr marL="177800" indent="-177800" algn="l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monthly Build Portfolio deck — structural baseline &amp; legacy project coverage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LEGEND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60273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 </a:t>
            </a:r>
            <a:r>
              <a:rPr lang="en-US" sz="10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  </a:t>
            </a:r>
            <a:r>
              <a:rPr lang="en-US" sz="10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  </a:t>
            </a:r>
            <a:r>
              <a:rPr lang="en-US" sz="1050" b="1" dirty="0">
                <a:solidFill>
                  <a:srgbClr val="009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  </a:t>
            </a:r>
            <a:r>
              <a:rPr lang="en-US" sz="1050" b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40233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DEFINITIONS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4242816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= Delivery Leader</a:t>
            </a:r>
            <a:endParaRPr lang="en-US" sz="10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= Business Lead — source OpEx Business Lead / Asset-Aligned Program Manager; where absent, the slide flags “Not provided in source.”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CONVENTIONS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1591056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8/31/2026 business status report is the current status authority for this August monthly report.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fields are reported as supplied — blanks remain blank and TBD remains TBD.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are not recalculated when source fields are missing or internally inconsistent.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 August update exists, the last available source date is retained and labelled; no August status is fabricated.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detail slide keeps Description at top, Accomplishments, and the standard 8-stage milestone table.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4572000"/>
            <a:ext cx="5303520" cy="12344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4572000"/>
            <a:ext cx="82296" cy="123444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46817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Basis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month </a:t>
            </a:r>
            <a:r>
              <a:rPr lang="en-US" sz="11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latest source snapshot </a:t>
            </a:r>
            <a:r>
              <a:rPr lang="en-US" sz="11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8/31/2026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F0AB2B94E9164080AE6A7AF0D97188" ma:contentTypeVersion="9" ma:contentTypeDescription="Create a new document." ma:contentTypeScope="" ma:versionID="3b2a4e93513da2868a1dace0c5defd20">
  <xsd:schema xmlns:xsd="http://www.w3.org/2001/XMLSchema" xmlns:xs="http://www.w3.org/2001/XMLSchema" xmlns:p="http://schemas.microsoft.com/office/2006/metadata/properties" xmlns:ns2="2e1d4e07-6760-4f2a-9312-949aaba4a6da" xmlns:ns3="b7d811bb-603c-460a-9cfd-cf190d9133f6" targetNamespace="http://schemas.microsoft.com/office/2006/metadata/properties" ma:root="true" ma:fieldsID="0d96902118c4f37bde9f7d6f0bbef530" ns2:_="" ns3:_="">
    <xsd:import namespace="2e1d4e07-6760-4f2a-9312-949aaba4a6da"/>
    <xsd:import namespace="b7d811bb-603c-460a-9cfd-cf190d9133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d4e07-6760-4f2a-9312-949aaba4a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b0a7d3-0568-4cb5-b861-555e3d3115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811bb-603c-460a-9cfd-cf190d9133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3a11e6-3e35-4797-b11b-7cd9f7711061}" ma:internalName="TaxCatchAll" ma:showField="CatchAllData" ma:web="b7d811bb-603c-460a-9cfd-cf190d9133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1d4e07-6760-4f2a-9312-949aaba4a6da">
      <Terms xmlns="http://schemas.microsoft.com/office/infopath/2007/PartnerControls"/>
    </lcf76f155ced4ddcb4097134ff3c332f>
    <TaxCatchAll xmlns="b7d811bb-603c-460a-9cfd-cf190d9133f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9C89EE-53C9-4B8F-B0BA-62044E8A13CD}"/>
</file>

<file path=customXml/itemProps2.xml><?xml version="1.0" encoding="utf-8"?>
<ds:datastoreItem xmlns:ds="http://schemas.openxmlformats.org/officeDocument/2006/customXml" ds:itemID="{A8335ABE-86D2-42DB-ABE6-CF36566DC3A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7255654-3053-4037-AAAA-41CA02A8D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12503</Words>
  <Application>Microsoft Office PowerPoint</Application>
  <PresentationFormat>Widescreen</PresentationFormat>
  <Paragraphs>2823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August 2026 Monthly Build Portfolio Report</dc:title>
  <dc:subject>PptxGenJS Presentation</dc:subject>
  <dc:creator>Nationwide Pet — Build Portfolio</dc:creator>
  <cp:lastModifiedBy>Kumar, Lalitha M</cp:lastModifiedBy>
  <cp:revision>1</cp:revision>
  <dcterms:created xsi:type="dcterms:W3CDTF">2026-08-31T21:11:01Z</dcterms:created>
  <dcterms:modified xsi:type="dcterms:W3CDTF">2026-08-31T21:41:26Z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ea8e88-16c4-4b55-a945-7bd6248db4bf_Enabled">
    <vt:lpwstr>true</vt:lpwstr>
  </property>
  <property fmtid="{D5CDD505-2E9C-101B-9397-08002B2CF9AE}" pid="3" name="MSIP_Label_92ea8e88-16c4-4b55-a945-7bd6248db4bf_SetDate">
    <vt:lpwstr>2026-08-31T21:15:54Z</vt:lpwstr>
  </property>
  <property fmtid="{D5CDD505-2E9C-101B-9397-08002B2CF9AE}" pid="4" name="MSIP_Label_92ea8e88-16c4-4b55-a945-7bd6248db4bf_Method">
    <vt:lpwstr>Standard</vt:lpwstr>
  </property>
  <property fmtid="{D5CDD505-2E9C-101B-9397-08002B2CF9AE}" pid="5" name="MSIP_Label_92ea8e88-16c4-4b55-a945-7bd6248db4bf_Name">
    <vt:lpwstr>Internal</vt:lpwstr>
  </property>
  <property fmtid="{D5CDD505-2E9C-101B-9397-08002B2CF9AE}" pid="6" name="MSIP_Label_92ea8e88-16c4-4b55-a945-7bd6248db4bf_SiteId">
    <vt:lpwstr>22140e4c-d390-45c2-b297-a26c516dc461</vt:lpwstr>
  </property>
  <property fmtid="{D5CDD505-2E9C-101B-9397-08002B2CF9AE}" pid="7" name="MSIP_Label_92ea8e88-16c4-4b55-a945-7bd6248db4bf_ActionId">
    <vt:lpwstr>989a8499-601c-425e-948d-848274d0b42e</vt:lpwstr>
  </property>
  <property fmtid="{D5CDD505-2E9C-101B-9397-08002B2CF9AE}" pid="8" name="MSIP_Label_92ea8e88-16c4-4b55-a945-7bd6248db4bf_ContentBits">
    <vt:lpwstr>0</vt:lpwstr>
  </property>
  <property fmtid="{D5CDD505-2E9C-101B-9397-08002B2CF9AE}" pid="9" name="MSIP_Label_92ea8e88-16c4-4b55-a945-7bd6248db4bf_Tag">
    <vt:lpwstr>10, 3, 0, 1</vt:lpwstr>
  </property>
  <property fmtid="{D5CDD505-2E9C-101B-9397-08002B2CF9AE}" pid="10" name="ContentTypeId">
    <vt:lpwstr>0x01010089F0AB2B94E9164080AE6A7AF0D97188</vt:lpwstr>
  </property>
</Properties>
</file>
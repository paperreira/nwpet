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2.xml" ContentType="application/vnd.openxmlformats-officedocument.theme+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theme/theme3.xml" ContentType="application/vnd.openxmlformats-officedocument.theme+xml"/>
  <Override PartName="/ppt/tags/tag1.xml" ContentType="application/vnd.openxmlformats-officedocument.presentationml.tags+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theme/theme4.xml" ContentType="application/vnd.openxmlformats-officedocument.theme+xml"/>
  <Override PartName="/ppt/tags/tag2.xml" ContentType="application/vnd.openxmlformats-officedocument.presentationml.tags+xml"/>
  <Override PartName="/ppt/theme/theme5.xml" ContentType="application/vnd.openxmlformats-officedocument.theme+xml"/>
  <Override PartName="/ppt/tags/tag3.xml" ContentType="application/vnd.openxmlformats-officedocument.presentationml.tags+xml"/>
  <Override PartName="/ppt/notesSlides/notesSlide1.xml" ContentType="application/vnd.openxmlformats-officedocument.presentationml.notesSlide+xml"/>
  <Override PartName="/ppt/tags/tag4.xml" ContentType="application/vnd.openxmlformats-officedocument.presentationml.tags+xml"/>
  <Override PartName="/ppt/notesSlides/notesSlide2.xml" ContentType="application/vnd.openxmlformats-officedocument.presentationml.notesSlide+xml"/>
  <Override PartName="/ppt/tags/tag5.xml" ContentType="application/vnd.openxmlformats-officedocument.presentationml.tags+xml"/>
  <Override PartName="/ppt/notesSlides/notesSlide3.xml" ContentType="application/vnd.openxmlformats-officedocument.presentationml.notesSlide+xml"/>
  <Override PartName="/ppt/tags/tag6.xml" ContentType="application/vnd.openxmlformats-officedocument.presentationml.tags+xml"/>
  <Override PartName="/ppt/notesSlides/notesSlide4.xml" ContentType="application/vnd.openxmlformats-officedocument.presentationml.notesSlide+xml"/>
  <Override PartName="/ppt/tags/tag7.xml" ContentType="application/vnd.openxmlformats-officedocument.presentationml.tags+xml"/>
  <Override PartName="/ppt/notesSlides/notesSlide5.xml" ContentType="application/vnd.openxmlformats-officedocument.presentationml.notesSlide+xml"/>
  <Override PartName="/ppt/tags/tag8.xml" ContentType="application/vnd.openxmlformats-officedocument.presentationml.tags+xml"/>
  <Override PartName="/ppt/notesSlides/notesSlide6.xml" ContentType="application/vnd.openxmlformats-officedocument.presentationml.notesSlide+xml"/>
  <Override PartName="/ppt/tags/tag9.xml" ContentType="application/vnd.openxmlformats-officedocument.presentationml.tags+xml"/>
  <Override PartName="/ppt/notesSlides/notesSlide7.xml" ContentType="application/vnd.openxmlformats-officedocument.presentationml.notesSlide+xml"/>
  <Override PartName="/ppt/tags/tag10.xml" ContentType="application/vnd.openxmlformats-officedocument.presentationml.tags+xml"/>
  <Override PartName="/ppt/notesSlides/notesSlide8.xml" ContentType="application/vnd.openxmlformats-officedocument.presentationml.notesSlide+xml"/>
  <Override PartName="/ppt/tags/tag11.xml" ContentType="application/vnd.openxmlformats-officedocument.presentationml.tags+xml"/>
  <Override PartName="/ppt/notesSlides/notesSlide9.xml" ContentType="application/vnd.openxmlformats-officedocument.presentationml.notesSlide+xml"/>
  <Override PartName="/ppt/tags/tag12.xml" ContentType="application/vnd.openxmlformats-officedocument.presentationml.tags+xml"/>
  <Override PartName="/ppt/notesSlides/notesSlide10.xml" ContentType="application/vnd.openxmlformats-officedocument.presentationml.notesSlide+xml"/>
  <Override PartName="/ppt/tags/tag13.xml" ContentType="application/vnd.openxmlformats-officedocument.presentationml.tags+xml"/>
  <Override PartName="/ppt/notesSlides/notesSlide11.xml" ContentType="application/vnd.openxmlformats-officedocument.presentationml.notesSlide+xml"/>
  <Override PartName="/ppt/tags/tag14.xml" ContentType="application/vnd.openxmlformats-officedocument.presentationml.tags+xml"/>
  <Override PartName="/ppt/notesSlides/notesSlide12.xml" ContentType="application/vnd.openxmlformats-officedocument.presentationml.notesSlide+xml"/>
  <Override PartName="/ppt/tags/tag15.xml" ContentType="application/vnd.openxmlformats-officedocument.presentationml.tags+xml"/>
  <Override PartName="/ppt/notesSlides/notesSlide13.xml" ContentType="application/vnd.openxmlformats-officedocument.presentationml.notesSlide+xml"/>
  <Override PartName="/ppt/tags/tag16.xml" ContentType="application/vnd.openxmlformats-officedocument.presentationml.tags+xml"/>
  <Override PartName="/ppt/notesSlides/notesSlide14.xml" ContentType="application/vnd.openxmlformats-officedocument.presentationml.notesSlide+xml"/>
  <Override PartName="/ppt/tags/tag17.xml" ContentType="application/vnd.openxmlformats-officedocument.presentationml.tags+xml"/>
  <Override PartName="/ppt/notesSlides/notesSlide15.xml" ContentType="application/vnd.openxmlformats-officedocument.presentationml.notesSlide+xml"/>
  <Override PartName="/ppt/tags/tag18.xml" ContentType="application/vnd.openxmlformats-officedocument.presentationml.tags+xml"/>
  <Override PartName="/ppt/notesSlides/notesSlide16.xml" ContentType="application/vnd.openxmlformats-officedocument.presentationml.notesSlide+xml"/>
  <Override PartName="/ppt/tags/tag19.xml" ContentType="application/vnd.openxmlformats-officedocument.presentationml.tags+xml"/>
  <Override PartName="/ppt/notesSlides/notesSlide17.xml" ContentType="application/vnd.openxmlformats-officedocument.presentationml.notesSlide+xml"/>
  <Override PartName="/ppt/tags/tag20.xml" ContentType="application/vnd.openxmlformats-officedocument.presentationml.tags+xml"/>
  <Override PartName="/ppt/notesSlides/notesSlide18.xml" ContentType="application/vnd.openxmlformats-officedocument.presentationml.notesSlide+xml"/>
  <Override PartName="/ppt/tags/tag21.xml" ContentType="application/vnd.openxmlformats-officedocument.presentationml.tags+xml"/>
  <Override PartName="/ppt/notesSlides/notesSlide19.xml" ContentType="application/vnd.openxmlformats-officedocument.presentationml.notesSlide+xml"/>
  <Override PartName="/ppt/tags/tag22.xml" ContentType="application/vnd.openxmlformats-officedocument.presentationml.tags+xml"/>
  <Override PartName="/ppt/notesSlides/notesSlide20.xml" ContentType="application/vnd.openxmlformats-officedocument.presentationml.notesSlide+xml"/>
  <Override PartName="/ppt/tags/tag23.xml" ContentType="application/vnd.openxmlformats-officedocument.presentationml.tags+xml"/>
  <Override PartName="/ppt/notesSlides/notesSlide21.xml" ContentType="application/vnd.openxmlformats-officedocument.presentationml.notesSlide+xml"/>
  <Override PartName="/ppt/tags/tag24.xml" ContentType="application/vnd.openxmlformats-officedocument.presentationml.tags+xml"/>
  <Override PartName="/ppt/notesSlides/notesSlide22.xml" ContentType="application/vnd.openxmlformats-officedocument.presentationml.notesSlide+xml"/>
  <Override PartName="/ppt/tags/tag25.xml" ContentType="application/vnd.openxmlformats-officedocument.presentationml.tags+xml"/>
  <Override PartName="/ppt/notesSlides/notesSlide23.xml" ContentType="application/vnd.openxmlformats-officedocument.presentationml.notesSlide+xml"/>
  <Override PartName="/ppt/tags/tag26.xml" ContentType="application/vnd.openxmlformats-officedocument.presentationml.tags+xml"/>
  <Override PartName="/ppt/notesSlides/notesSlide24.xml" ContentType="application/vnd.openxmlformats-officedocument.presentationml.notesSlide+xml"/>
  <Override PartName="/ppt/tags/tag27.xml" ContentType="application/vnd.openxmlformats-officedocument.presentationml.tags+xml"/>
  <Override PartName="/ppt/notesSlides/notesSlide25.xml" ContentType="application/vnd.openxmlformats-officedocument.presentationml.notesSlide+xml"/>
  <Override PartName="/ppt/tags/tag28.xml" ContentType="application/vnd.openxmlformats-officedocument.presentationml.tags+xml"/>
  <Override PartName="/ppt/notesSlides/notesSlide26.xml" ContentType="application/vnd.openxmlformats-officedocument.presentationml.notesSlide+xml"/>
  <Override PartName="/ppt/tags/tag29.xml" ContentType="application/vnd.openxmlformats-officedocument.presentationml.tags+xml"/>
  <Override PartName="/ppt/notesSlides/notesSlide27.xml" ContentType="application/vnd.openxmlformats-officedocument.presentationml.notesSlide+xml"/>
  <Override PartName="/ppt/tags/tag30.xml" ContentType="application/vnd.openxmlformats-officedocument.presentationml.tags+xml"/>
  <Override PartName="/ppt/notesSlides/notesSlide28.xml" ContentType="application/vnd.openxmlformats-officedocument.presentationml.notesSlide+xml"/>
  <Override PartName="/ppt/tags/tag31.xml" ContentType="application/vnd.openxmlformats-officedocument.presentationml.tags+xml"/>
  <Override PartName="/ppt/notesSlides/notesSlide29.xml" ContentType="application/vnd.openxmlformats-officedocument.presentationml.notesSlide+xml"/>
  <Override PartName="/ppt/tags/tag32.xml" ContentType="application/vnd.openxmlformats-officedocument.presentationml.tags+xml"/>
  <Override PartName="/ppt/notesSlides/notesSlide30.xml" ContentType="application/vnd.openxmlformats-officedocument.presentationml.notesSlide+xml"/>
  <Override PartName="/ppt/tags/tag33.xml" ContentType="application/vnd.openxmlformats-officedocument.presentationml.tags+xml"/>
  <Override PartName="/ppt/notesSlides/notesSlide31.xml" ContentType="application/vnd.openxmlformats-officedocument.presentationml.notesSlide+xml"/>
  <Override PartName="/ppt/tags/tag34.xml" ContentType="application/vnd.openxmlformats-officedocument.presentationml.tags+xml"/>
  <Override PartName="/ppt/notesSlides/notesSlide32.xml" ContentType="application/vnd.openxmlformats-officedocument.presentationml.notesSlide+xml"/>
  <Override PartName="/ppt/tags/tag35.xml" ContentType="application/vnd.openxmlformats-officedocument.presentationml.tags+xml"/>
  <Override PartName="/ppt/notesSlides/notesSlide33.xml" ContentType="application/vnd.openxmlformats-officedocument.presentationml.notesSlide+xml"/>
  <Override PartName="/ppt/tags/tag36.xml" ContentType="application/vnd.openxmlformats-officedocument.presentationml.tags+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76" r:id="rId5"/>
    <p:sldMasterId id="2147483689" r:id="rId6"/>
    <p:sldMasterId id="2147483721" r:id="rId7"/>
  </p:sldMasterIdLst>
  <p:notesMasterIdLst>
    <p:notesMasterId r:id="rId64"/>
  </p:notesMasterIdLst>
  <p:sldIdLst>
    <p:sldId id="282" r:id="rId8"/>
    <p:sldId id="276" r:id="rId9"/>
    <p:sldId id="263" r:id="rId10"/>
    <p:sldId id="2147481515" r:id="rId11"/>
    <p:sldId id="2147481525" r:id="rId12"/>
    <p:sldId id="275" r:id="rId13"/>
    <p:sldId id="2147481535" r:id="rId14"/>
    <p:sldId id="2147481495" r:id="rId15"/>
    <p:sldId id="262" r:id="rId16"/>
    <p:sldId id="2147483646" r:id="rId17"/>
    <p:sldId id="270" r:id="rId18"/>
    <p:sldId id="2147481398" r:id="rId19"/>
    <p:sldId id="2147481526" r:id="rId20"/>
    <p:sldId id="2147481528" r:id="rId21"/>
    <p:sldId id="268" r:id="rId22"/>
    <p:sldId id="260" r:id="rId23"/>
    <p:sldId id="265" r:id="rId24"/>
    <p:sldId id="2147483647" r:id="rId25"/>
    <p:sldId id="272" r:id="rId26"/>
    <p:sldId id="273" r:id="rId27"/>
    <p:sldId id="274" r:id="rId28"/>
    <p:sldId id="2147481534" r:id="rId29"/>
    <p:sldId id="271" r:id="rId30"/>
    <p:sldId id="2147481533" r:id="rId31"/>
    <p:sldId id="2147481484" r:id="rId32"/>
    <p:sldId id="269" r:id="rId33"/>
    <p:sldId id="2147481521" r:id="rId34"/>
    <p:sldId id="2147481520" r:id="rId35"/>
    <p:sldId id="261" r:id="rId36"/>
    <p:sldId id="266" r:id="rId37"/>
    <p:sldId id="2147481541" r:id="rId38"/>
    <p:sldId id="277" r:id="rId39"/>
    <p:sldId id="2147481519" r:id="rId40"/>
    <p:sldId id="2147481531" r:id="rId41"/>
    <p:sldId id="2147478231" r:id="rId42"/>
    <p:sldId id="2147481377" r:id="rId43"/>
    <p:sldId id="2147481532" r:id="rId44"/>
    <p:sldId id="264" r:id="rId45"/>
    <p:sldId id="2147483005" r:id="rId46"/>
    <p:sldId id="2147481536" r:id="rId47"/>
    <p:sldId id="2147481542" r:id="rId48"/>
    <p:sldId id="257" r:id="rId49"/>
    <p:sldId id="258" r:id="rId50"/>
    <p:sldId id="2147483620" r:id="rId51"/>
    <p:sldId id="2147483631" r:id="rId52"/>
    <p:sldId id="2147483621" r:id="rId53"/>
    <p:sldId id="2147483644" r:id="rId54"/>
    <p:sldId id="2147483622" r:id="rId55"/>
    <p:sldId id="259" r:id="rId56"/>
    <p:sldId id="2147483623" r:id="rId57"/>
    <p:sldId id="2147483634" r:id="rId58"/>
    <p:sldId id="256" r:id="rId59"/>
    <p:sldId id="2147481524" r:id="rId60"/>
    <p:sldId id="267" r:id="rId61"/>
    <p:sldId id="2147478181" r:id="rId62"/>
    <p:sldId id="294" r:id="rId6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ED0AC89-B3DF-54C9-5926-14731EBCC8A7}" name="Ciriaco, Leslie" initials="LC" userId="S::cirial1@nationwide.com::30687907-7d85-475d-8b18-d0db9bedb48e"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02060"/>
    <a:srgbClr val="9999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A0B2A44-9639-47AA-8315-972C5536F267}" v="130" dt="2026-08-31T21:52:43.002"/>
    <p1510:client id="{42A90E69-439C-4AFB-A002-6AA966D6E643}" v="342" dt="2026-09-01T17:22:55.577"/>
    <p1510:client id="{48AD19AF-0309-450E-87DE-8D130EF91C95}" v="2083" dt="2026-08-31T16:24:23.004"/>
    <p1510:client id="{5B8BEB69-B9E5-4ED1-B5E8-03042A6EF016}" v="2911" dt="2026-08-31T19:13:02.938"/>
    <p1510:client id="{76BDA37F-CE3B-4D0C-9999-C68110BBABBD}" v="98" dt="2026-08-31T22:31:33.321"/>
    <p1510:client id="{7EB752D1-0369-477B-B851-0F7AD0E08841}" v="1388" dt="2026-08-31T19:19:25.992"/>
    <p1510:client id="{E672D4AB-670B-496F-AE6D-AC679F80D415}" v="159" dt="2026-08-31T20:57:01.30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3840"/>
      </p:guideLst>
    </p:cSldViewPr>
  </p:slide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19.xml"/><Relationship Id="rId21" Type="http://schemas.openxmlformats.org/officeDocument/2006/relationships/slide" Target="slides/slide14.xml"/><Relationship Id="rId42" Type="http://schemas.openxmlformats.org/officeDocument/2006/relationships/slide" Target="slides/slide35.xml"/><Relationship Id="rId47" Type="http://schemas.openxmlformats.org/officeDocument/2006/relationships/slide" Target="slides/slide40.xml"/><Relationship Id="rId63" Type="http://schemas.openxmlformats.org/officeDocument/2006/relationships/slide" Target="slides/slide56.xml"/><Relationship Id="rId68" Type="http://schemas.openxmlformats.org/officeDocument/2006/relationships/tableStyles" Target="tableStyles.xml"/><Relationship Id="rId7" Type="http://schemas.openxmlformats.org/officeDocument/2006/relationships/slideMaster" Target="slideMasters/slideMaster4.xml"/><Relationship Id="rId71"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9.xml"/><Relationship Id="rId29" Type="http://schemas.openxmlformats.org/officeDocument/2006/relationships/slide" Target="slides/slide22.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slide" Target="slides/slide33.xml"/><Relationship Id="rId45" Type="http://schemas.openxmlformats.org/officeDocument/2006/relationships/slide" Target="slides/slide38.xml"/><Relationship Id="rId53" Type="http://schemas.openxmlformats.org/officeDocument/2006/relationships/slide" Target="slides/slide46.xml"/><Relationship Id="rId58" Type="http://schemas.openxmlformats.org/officeDocument/2006/relationships/slide" Target="slides/slide51.xml"/><Relationship Id="rId66" Type="http://schemas.openxmlformats.org/officeDocument/2006/relationships/viewProps" Target="viewProps.xml"/><Relationship Id="rId5" Type="http://schemas.openxmlformats.org/officeDocument/2006/relationships/slideMaster" Target="slideMasters/slideMaster2.xml"/><Relationship Id="rId61" Type="http://schemas.openxmlformats.org/officeDocument/2006/relationships/slide" Target="slides/slide54.xml"/><Relationship Id="rId19" Type="http://schemas.openxmlformats.org/officeDocument/2006/relationships/slide" Target="slides/slide1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slide" Target="slides/slide36.xml"/><Relationship Id="rId48" Type="http://schemas.openxmlformats.org/officeDocument/2006/relationships/slide" Target="slides/slide41.xml"/><Relationship Id="rId56" Type="http://schemas.openxmlformats.org/officeDocument/2006/relationships/slide" Target="slides/slide49.xml"/><Relationship Id="rId64" Type="http://schemas.openxmlformats.org/officeDocument/2006/relationships/notesMaster" Target="notesMasters/notesMaster1.xml"/><Relationship Id="rId69" Type="http://schemas.microsoft.com/office/2016/11/relationships/changesInfo" Target="changesInfos/changesInfo1.xml"/><Relationship Id="rId8" Type="http://schemas.openxmlformats.org/officeDocument/2006/relationships/slide" Target="slides/slide1.xml"/><Relationship Id="rId51" Type="http://schemas.openxmlformats.org/officeDocument/2006/relationships/slide" Target="slides/slide44.xml"/><Relationship Id="rId3" Type="http://schemas.openxmlformats.org/officeDocument/2006/relationships/customXml" Target="../customXml/item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46" Type="http://schemas.openxmlformats.org/officeDocument/2006/relationships/slide" Target="slides/slide39.xml"/><Relationship Id="rId59" Type="http://schemas.openxmlformats.org/officeDocument/2006/relationships/slide" Target="slides/slide52.xml"/><Relationship Id="rId67" Type="http://schemas.openxmlformats.org/officeDocument/2006/relationships/theme" Target="theme/theme1.xml"/><Relationship Id="rId20" Type="http://schemas.openxmlformats.org/officeDocument/2006/relationships/slide" Target="slides/slide13.xml"/><Relationship Id="rId41" Type="http://schemas.openxmlformats.org/officeDocument/2006/relationships/slide" Target="slides/slide34.xml"/><Relationship Id="rId54" Type="http://schemas.openxmlformats.org/officeDocument/2006/relationships/slide" Target="slides/slide47.xml"/><Relationship Id="rId62" Type="http://schemas.openxmlformats.org/officeDocument/2006/relationships/slide" Target="slides/slide55.xml"/><Relationship Id="rId70"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49" Type="http://schemas.openxmlformats.org/officeDocument/2006/relationships/slide" Target="slides/slide42.xml"/><Relationship Id="rId57" Type="http://schemas.openxmlformats.org/officeDocument/2006/relationships/slide" Target="slides/slide50.xml"/><Relationship Id="rId10" Type="http://schemas.openxmlformats.org/officeDocument/2006/relationships/slide" Target="slides/slide3.xml"/><Relationship Id="rId31" Type="http://schemas.openxmlformats.org/officeDocument/2006/relationships/slide" Target="slides/slide24.xml"/><Relationship Id="rId44" Type="http://schemas.openxmlformats.org/officeDocument/2006/relationships/slide" Target="slides/slide37.xml"/><Relationship Id="rId52" Type="http://schemas.openxmlformats.org/officeDocument/2006/relationships/slide" Target="slides/slide45.xml"/><Relationship Id="rId60" Type="http://schemas.openxmlformats.org/officeDocument/2006/relationships/slide" Target="slides/slide53.xml"/><Relationship Id="rId65"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2.xml"/><Relationship Id="rId13" Type="http://schemas.openxmlformats.org/officeDocument/2006/relationships/slide" Target="slides/slide6.xml"/><Relationship Id="rId18" Type="http://schemas.openxmlformats.org/officeDocument/2006/relationships/slide" Target="slides/slide11.xml"/><Relationship Id="rId39" Type="http://schemas.openxmlformats.org/officeDocument/2006/relationships/slide" Target="slides/slide32.xml"/><Relationship Id="rId34" Type="http://schemas.openxmlformats.org/officeDocument/2006/relationships/slide" Target="slides/slide27.xml"/><Relationship Id="rId50" Type="http://schemas.openxmlformats.org/officeDocument/2006/relationships/slide" Target="slides/slide43.xml"/><Relationship Id="rId55" Type="http://schemas.openxmlformats.org/officeDocument/2006/relationships/slide" Target="slides/slide4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dgar, Ali" userId="434344c2-e475-4cb2-9bd1-2b38f107d750" providerId="ADAL" clId="{BE3E8BDA-8A61-48C9-B701-6ECD4A7D106D}"/>
    <pc:docChg chg="addSld delSld modSld">
      <pc:chgData name="Dadgar, Ali" userId="434344c2-e475-4cb2-9bd1-2b38f107d750" providerId="ADAL" clId="{BE3E8BDA-8A61-48C9-B701-6ECD4A7D106D}" dt="2026-08-26T13:46:06.955" v="95" actId="20577"/>
      <pc:docMkLst>
        <pc:docMk/>
      </pc:docMkLst>
      <pc:sldChg chg="modSp mod">
        <pc:chgData name="Dadgar, Ali" userId="434344c2-e475-4cb2-9bd1-2b38f107d750" providerId="ADAL" clId="{BE3E8BDA-8A61-48C9-B701-6ECD4A7D106D}" dt="2026-08-26T13:46:06.955" v="95" actId="20577"/>
        <pc:sldMkLst>
          <pc:docMk/>
          <pc:sldMk cId="1539424643" sldId="265"/>
        </pc:sldMkLst>
        <pc:graphicFrameChg chg="modGraphic">
          <ac:chgData name="Dadgar, Ali" userId="434344c2-e475-4cb2-9bd1-2b38f107d750" providerId="ADAL" clId="{BE3E8BDA-8A61-48C9-B701-6ECD4A7D106D}" dt="2026-08-26T13:46:06.955" v="95" actId="20577"/>
          <ac:graphicFrameMkLst>
            <pc:docMk/>
            <pc:sldMk cId="1539424643" sldId="265"/>
            <ac:graphicFrameMk id="11" creationId="{62277E96-15BE-63C4-7149-95B6EE7D6B6F}"/>
          </ac:graphicFrameMkLst>
        </pc:graphicFrameChg>
      </pc:sldChg>
      <pc:sldChg chg="add">
        <pc:chgData name="Dadgar, Ali" userId="434344c2-e475-4cb2-9bd1-2b38f107d750" providerId="ADAL" clId="{BE3E8BDA-8A61-48C9-B701-6ECD4A7D106D}" dt="2026-08-26T13:44:23.817" v="4"/>
        <pc:sldMkLst>
          <pc:docMk/>
          <pc:sldMk cId="2195373663" sldId="275"/>
        </pc:sldMkLst>
      </pc:sldChg>
      <pc:sldChg chg="modSp mod">
        <pc:chgData name="Dadgar, Ali" userId="434344c2-e475-4cb2-9bd1-2b38f107d750" providerId="ADAL" clId="{BE3E8BDA-8A61-48C9-B701-6ECD4A7D106D}" dt="2026-08-26T13:44:03.418" v="3" actId="20577"/>
        <pc:sldMkLst>
          <pc:docMk/>
          <pc:sldMk cId="2180573008" sldId="282"/>
        </pc:sldMkLst>
        <pc:spChg chg="mod">
          <ac:chgData name="Dadgar, Ali" userId="434344c2-e475-4cb2-9bd1-2b38f107d750" providerId="ADAL" clId="{BE3E8BDA-8A61-48C9-B701-6ECD4A7D106D}" dt="2026-08-26T13:44:03.418" v="3" actId="20577"/>
          <ac:spMkLst>
            <pc:docMk/>
            <pc:sldMk cId="2180573008" sldId="282"/>
            <ac:spMk id="11" creationId="{F3074D63-196F-2446-ACC4-5020D61EDE04}"/>
          </ac:spMkLst>
        </pc:spChg>
      </pc:sldChg>
      <pc:sldChg chg="modSp mod">
        <pc:chgData name="Dadgar, Ali" userId="434344c2-e475-4cb2-9bd1-2b38f107d750" providerId="ADAL" clId="{BE3E8BDA-8A61-48C9-B701-6ECD4A7D106D}" dt="2026-08-26T13:45:36.374" v="91" actId="20577"/>
        <pc:sldMkLst>
          <pc:docMk/>
          <pc:sldMk cId="1727686740" sldId="2147478181"/>
        </pc:sldMkLst>
        <pc:graphicFrameChg chg="modGraphic">
          <ac:chgData name="Dadgar, Ali" userId="434344c2-e475-4cb2-9bd1-2b38f107d750" providerId="ADAL" clId="{BE3E8BDA-8A61-48C9-B701-6ECD4A7D106D}" dt="2026-08-26T13:45:36.374" v="91" actId="20577"/>
          <ac:graphicFrameMkLst>
            <pc:docMk/>
            <pc:sldMk cId="1727686740" sldId="2147478181"/>
            <ac:graphicFrameMk id="3" creationId="{B8690847-D2B0-A832-1C3F-0D915A7BFF26}"/>
          </ac:graphicFrameMkLst>
        </pc:graphicFrameChg>
      </pc:sldChg>
    </pc:docChg>
  </pc:docChgLst>
  <pc:docChgLst>
    <pc:chgData name="Konatalapalli, Venkata Dinesh" userId="d1d54421-a53d-48e9-bc3e-2f74d52f1d12" providerId="ADAL" clId="{670C8432-5EA3-4C05-8C52-BCF5D7B2EBF3}"/>
    <pc:docChg chg="undo custSel modSld">
      <pc:chgData name="Konatalapalli, Venkata Dinesh" userId="d1d54421-a53d-48e9-bc3e-2f74d52f1d12" providerId="ADAL" clId="{670C8432-5EA3-4C05-8C52-BCF5D7B2EBF3}" dt="2026-08-31T19:13:02.938" v="2905" actId="20577"/>
      <pc:docMkLst>
        <pc:docMk/>
      </pc:docMkLst>
      <pc:sldChg chg="addSp modSp mod">
        <pc:chgData name="Konatalapalli, Venkata Dinesh" userId="d1d54421-a53d-48e9-bc3e-2f74d52f1d12" providerId="ADAL" clId="{670C8432-5EA3-4C05-8C52-BCF5D7B2EBF3}" dt="2026-08-31T19:13:02.938" v="2905" actId="20577"/>
        <pc:sldMkLst>
          <pc:docMk/>
          <pc:sldMk cId="2555187516" sldId="262"/>
        </pc:sldMkLst>
        <pc:spChg chg="mod">
          <ac:chgData name="Konatalapalli, Venkata Dinesh" userId="d1d54421-a53d-48e9-bc3e-2f74d52f1d12" providerId="ADAL" clId="{670C8432-5EA3-4C05-8C52-BCF5D7B2EBF3}" dt="2026-08-31T19:08:36.892" v="2873" actId="20577"/>
          <ac:spMkLst>
            <pc:docMk/>
            <pc:sldMk cId="2555187516" sldId="262"/>
            <ac:spMk id="5" creationId="{46D265A6-898B-5B29-8291-73D3FF383985}"/>
          </ac:spMkLst>
        </pc:spChg>
        <pc:spChg chg="add mod">
          <ac:chgData name="Konatalapalli, Venkata Dinesh" userId="d1d54421-a53d-48e9-bc3e-2f74d52f1d12" providerId="ADAL" clId="{670C8432-5EA3-4C05-8C52-BCF5D7B2EBF3}" dt="2026-08-30T21:21:17.354" v="1770" actId="1076"/>
          <ac:spMkLst>
            <pc:docMk/>
            <pc:sldMk cId="2555187516" sldId="262"/>
            <ac:spMk id="7" creationId="{3E26C1F3-8205-4688-0674-5DBB6D977C15}"/>
          </ac:spMkLst>
        </pc:spChg>
        <pc:graphicFrameChg chg="modGraphic">
          <ac:chgData name="Konatalapalli, Venkata Dinesh" userId="d1d54421-a53d-48e9-bc3e-2f74d52f1d12" providerId="ADAL" clId="{670C8432-5EA3-4C05-8C52-BCF5D7B2EBF3}" dt="2026-08-30T21:14:23.157" v="1447" actId="20577"/>
          <ac:graphicFrameMkLst>
            <pc:docMk/>
            <pc:sldMk cId="2555187516" sldId="262"/>
            <ac:graphicFrameMk id="11" creationId="{1BDDA027-41B8-A277-632C-4FF24D80B817}"/>
          </ac:graphicFrameMkLst>
        </pc:graphicFrameChg>
        <pc:graphicFrameChg chg="modGraphic">
          <ac:chgData name="Konatalapalli, Venkata Dinesh" userId="d1d54421-a53d-48e9-bc3e-2f74d52f1d12" providerId="ADAL" clId="{670C8432-5EA3-4C05-8C52-BCF5D7B2EBF3}" dt="2026-08-31T19:13:02.938" v="2905" actId="20577"/>
          <ac:graphicFrameMkLst>
            <pc:docMk/>
            <pc:sldMk cId="2555187516" sldId="262"/>
            <ac:graphicFrameMk id="14" creationId="{6D8265E6-4817-193A-F0C4-3A24A6F72856}"/>
          </ac:graphicFrameMkLst>
        </pc:graphicFrameChg>
        <pc:graphicFrameChg chg="mod modGraphic">
          <ac:chgData name="Konatalapalli, Venkata Dinesh" userId="d1d54421-a53d-48e9-bc3e-2f74d52f1d12" providerId="ADAL" clId="{670C8432-5EA3-4C05-8C52-BCF5D7B2EBF3}" dt="2026-08-30T21:21:37.959" v="1804" actId="20577"/>
          <ac:graphicFrameMkLst>
            <pc:docMk/>
            <pc:sldMk cId="2555187516" sldId="262"/>
            <ac:graphicFrameMk id="27" creationId="{1B4D048B-8EB6-A2B7-7F5D-76B7F6186060}"/>
          </ac:graphicFrameMkLst>
        </pc:graphicFrameChg>
        <pc:graphicFrameChg chg="modGraphic">
          <ac:chgData name="Konatalapalli, Venkata Dinesh" userId="d1d54421-a53d-48e9-bc3e-2f74d52f1d12" providerId="ADAL" clId="{670C8432-5EA3-4C05-8C52-BCF5D7B2EBF3}" dt="2026-08-30T21:23:58.620" v="2027" actId="20577"/>
          <ac:graphicFrameMkLst>
            <pc:docMk/>
            <pc:sldMk cId="2555187516" sldId="262"/>
            <ac:graphicFrameMk id="29" creationId="{3CAB6735-FCE3-FA60-EBEA-D0119FC54394}"/>
          </ac:graphicFrameMkLst>
        </pc:graphicFrameChg>
      </pc:sldChg>
      <pc:sldChg chg="addSp delSp modSp mod">
        <pc:chgData name="Konatalapalli, Venkata Dinesh" userId="d1d54421-a53d-48e9-bc3e-2f74d52f1d12" providerId="ADAL" clId="{670C8432-5EA3-4C05-8C52-BCF5D7B2EBF3}" dt="2026-08-31T19:02:35.869" v="2751" actId="400"/>
        <pc:sldMkLst>
          <pc:docMk/>
          <pc:sldMk cId="3571483556" sldId="270"/>
        </pc:sldMkLst>
        <pc:spChg chg="mod">
          <ac:chgData name="Konatalapalli, Venkata Dinesh" userId="d1d54421-a53d-48e9-bc3e-2f74d52f1d12" providerId="ADAL" clId="{670C8432-5EA3-4C05-8C52-BCF5D7B2EBF3}" dt="2026-08-31T17:11:55.830" v="2284" actId="313"/>
          <ac:spMkLst>
            <pc:docMk/>
            <pc:sldMk cId="3571483556" sldId="270"/>
            <ac:spMk id="5" creationId="{F155568F-99E4-BDDE-4737-21815437582B}"/>
          </ac:spMkLst>
        </pc:spChg>
        <pc:spChg chg="del">
          <ac:chgData name="Konatalapalli, Venkata Dinesh" userId="d1d54421-a53d-48e9-bc3e-2f74d52f1d12" providerId="ADAL" clId="{670C8432-5EA3-4C05-8C52-BCF5D7B2EBF3}" dt="2026-08-30T20:37:11.653" v="746" actId="478"/>
          <ac:spMkLst>
            <pc:docMk/>
            <pc:sldMk cId="3571483556" sldId="270"/>
            <ac:spMk id="6" creationId="{E8AC7D7C-28CA-5EDC-792F-6DD41A70DFDE}"/>
          </ac:spMkLst>
        </pc:spChg>
        <pc:spChg chg="add mod">
          <ac:chgData name="Konatalapalli, Venkata Dinesh" userId="d1d54421-a53d-48e9-bc3e-2f74d52f1d12" providerId="ADAL" clId="{670C8432-5EA3-4C05-8C52-BCF5D7B2EBF3}" dt="2026-08-30T20:16:30.757" v="210" actId="1076"/>
          <ac:spMkLst>
            <pc:docMk/>
            <pc:sldMk cId="3571483556" sldId="270"/>
            <ac:spMk id="8" creationId="{40FA62E3-56CA-30C9-BEE2-14EC45F6BED0}"/>
          </ac:spMkLst>
        </pc:spChg>
        <pc:spChg chg="add mod">
          <ac:chgData name="Konatalapalli, Venkata Dinesh" userId="d1d54421-a53d-48e9-bc3e-2f74d52f1d12" providerId="ADAL" clId="{670C8432-5EA3-4C05-8C52-BCF5D7B2EBF3}" dt="2026-08-30T20:45:57.208" v="1137" actId="1076"/>
          <ac:spMkLst>
            <pc:docMk/>
            <pc:sldMk cId="3571483556" sldId="270"/>
            <ac:spMk id="12" creationId="{5E115968-EB6E-D599-C6F4-9C5F9626FA18}"/>
          </ac:spMkLst>
        </pc:spChg>
        <pc:spChg chg="add mod">
          <ac:chgData name="Konatalapalli, Venkata Dinesh" userId="d1d54421-a53d-48e9-bc3e-2f74d52f1d12" providerId="ADAL" clId="{670C8432-5EA3-4C05-8C52-BCF5D7B2EBF3}" dt="2026-08-30T20:45:53.115" v="1136" actId="1076"/>
          <ac:spMkLst>
            <pc:docMk/>
            <pc:sldMk cId="3571483556" sldId="270"/>
            <ac:spMk id="17" creationId="{759DF5D2-7481-FB1A-F8FA-F510034FC851}"/>
          </ac:spMkLst>
        </pc:spChg>
        <pc:spChg chg="add mod">
          <ac:chgData name="Konatalapalli, Venkata Dinesh" userId="d1d54421-a53d-48e9-bc3e-2f74d52f1d12" providerId="ADAL" clId="{670C8432-5EA3-4C05-8C52-BCF5D7B2EBF3}" dt="2026-08-30T20:59:50.500" v="1279" actId="1076"/>
          <ac:spMkLst>
            <pc:docMk/>
            <pc:sldMk cId="3571483556" sldId="270"/>
            <ac:spMk id="21" creationId="{FFD3EEB4-B292-2F9B-C7BE-A3E759CD97F1}"/>
          </ac:spMkLst>
        </pc:spChg>
        <pc:spChg chg="add mod">
          <ac:chgData name="Konatalapalli, Venkata Dinesh" userId="d1d54421-a53d-48e9-bc3e-2f74d52f1d12" providerId="ADAL" clId="{670C8432-5EA3-4C05-8C52-BCF5D7B2EBF3}" dt="2026-08-30T20:59:54.898" v="1280" actId="1076"/>
          <ac:spMkLst>
            <pc:docMk/>
            <pc:sldMk cId="3571483556" sldId="270"/>
            <ac:spMk id="23" creationId="{980737C2-D1D7-EFBB-9354-B13717EE5FF4}"/>
          </ac:spMkLst>
        </pc:spChg>
        <pc:spChg chg="add mod">
          <ac:chgData name="Konatalapalli, Venkata Dinesh" userId="d1d54421-a53d-48e9-bc3e-2f74d52f1d12" providerId="ADAL" clId="{670C8432-5EA3-4C05-8C52-BCF5D7B2EBF3}" dt="2026-08-30T21:05:08.062" v="1344" actId="1076"/>
          <ac:spMkLst>
            <pc:docMk/>
            <pc:sldMk cId="3571483556" sldId="270"/>
            <ac:spMk id="28" creationId="{33EC8507-5CB6-30CE-687D-03FAAC74E8B3}"/>
          </ac:spMkLst>
        </pc:spChg>
        <pc:spChg chg="mod">
          <ac:chgData name="Konatalapalli, Venkata Dinesh" userId="d1d54421-a53d-48e9-bc3e-2f74d52f1d12" providerId="ADAL" clId="{670C8432-5EA3-4C05-8C52-BCF5D7B2EBF3}" dt="2026-08-30T21:04:40.274" v="1338" actId="1076"/>
          <ac:spMkLst>
            <pc:docMk/>
            <pc:sldMk cId="3571483556" sldId="270"/>
            <ac:spMk id="33" creationId="{A6FBE70B-FE35-9295-2584-76D4771EE6E9}"/>
          </ac:spMkLst>
        </pc:spChg>
        <pc:spChg chg="mod">
          <ac:chgData name="Konatalapalli, Venkata Dinesh" userId="d1d54421-a53d-48e9-bc3e-2f74d52f1d12" providerId="ADAL" clId="{670C8432-5EA3-4C05-8C52-BCF5D7B2EBF3}" dt="2026-08-30T21:04:55.026" v="1342" actId="1076"/>
          <ac:spMkLst>
            <pc:docMk/>
            <pc:sldMk cId="3571483556" sldId="270"/>
            <ac:spMk id="34" creationId="{516C3DA0-B7C9-033F-94D5-FABEE860AC94}"/>
          </ac:spMkLst>
        </pc:spChg>
        <pc:spChg chg="mod">
          <ac:chgData name="Konatalapalli, Venkata Dinesh" userId="d1d54421-a53d-48e9-bc3e-2f74d52f1d12" providerId="ADAL" clId="{670C8432-5EA3-4C05-8C52-BCF5D7B2EBF3}" dt="2026-08-30T21:04:47.702" v="1340" actId="1076"/>
          <ac:spMkLst>
            <pc:docMk/>
            <pc:sldMk cId="3571483556" sldId="270"/>
            <ac:spMk id="36" creationId="{6D663F1B-2296-287F-A437-7F7B27620B4B}"/>
          </ac:spMkLst>
        </pc:spChg>
        <pc:spChg chg="del">
          <ac:chgData name="Konatalapalli, Venkata Dinesh" userId="d1d54421-a53d-48e9-bc3e-2f74d52f1d12" providerId="ADAL" clId="{670C8432-5EA3-4C05-8C52-BCF5D7B2EBF3}" dt="2026-08-30T20:16:11.568" v="208" actId="478"/>
          <ac:spMkLst>
            <pc:docMk/>
            <pc:sldMk cId="3571483556" sldId="270"/>
            <ac:spMk id="46" creationId="{AC85091C-0726-C43B-1090-1FD3422FE0BD}"/>
          </ac:spMkLst>
        </pc:spChg>
        <pc:graphicFrameChg chg="modGraphic">
          <ac:chgData name="Konatalapalli, Venkata Dinesh" userId="d1d54421-a53d-48e9-bc3e-2f74d52f1d12" providerId="ADAL" clId="{670C8432-5EA3-4C05-8C52-BCF5D7B2EBF3}" dt="2026-08-30T21:14:14.531" v="1445" actId="20577"/>
          <ac:graphicFrameMkLst>
            <pc:docMk/>
            <pc:sldMk cId="3571483556" sldId="270"/>
            <ac:graphicFrameMk id="11" creationId="{00FF6017-D73E-73BA-7DAB-87BC385B2E54}"/>
          </ac:graphicFrameMkLst>
        </pc:graphicFrameChg>
        <pc:graphicFrameChg chg="add mod">
          <ac:chgData name="Konatalapalli, Venkata Dinesh" userId="d1d54421-a53d-48e9-bc3e-2f74d52f1d12" providerId="ADAL" clId="{670C8432-5EA3-4C05-8C52-BCF5D7B2EBF3}" dt="2026-08-30T20:48:23.548" v="1228"/>
          <ac:graphicFrameMkLst>
            <pc:docMk/>
            <pc:sldMk cId="3571483556" sldId="270"/>
            <ac:graphicFrameMk id="18" creationId="{12B3E245-7967-BFC1-F009-A10CD3344237}"/>
          </ac:graphicFrameMkLst>
        </pc:graphicFrameChg>
        <pc:graphicFrameChg chg="add mod">
          <ac:chgData name="Konatalapalli, Venkata Dinesh" userId="d1d54421-a53d-48e9-bc3e-2f74d52f1d12" providerId="ADAL" clId="{670C8432-5EA3-4C05-8C52-BCF5D7B2EBF3}" dt="2026-08-30T20:52:24.227" v="1245"/>
          <ac:graphicFrameMkLst>
            <pc:docMk/>
            <pc:sldMk cId="3571483556" sldId="270"/>
            <ac:graphicFrameMk id="19" creationId="{67849F27-EAB2-7806-3D72-07EA0A541123}"/>
          </ac:graphicFrameMkLst>
        </pc:graphicFrameChg>
        <pc:graphicFrameChg chg="modGraphic">
          <ac:chgData name="Konatalapalli, Venkata Dinesh" userId="d1d54421-a53d-48e9-bc3e-2f74d52f1d12" providerId="ADAL" clId="{670C8432-5EA3-4C05-8C52-BCF5D7B2EBF3}" dt="2026-08-31T19:02:35.869" v="2751" actId="400"/>
          <ac:graphicFrameMkLst>
            <pc:docMk/>
            <pc:sldMk cId="3571483556" sldId="270"/>
            <ac:graphicFrameMk id="27" creationId="{866A5668-07FB-AA91-9A66-D5ED22CEB7C2}"/>
          </ac:graphicFrameMkLst>
        </pc:graphicFrameChg>
        <pc:graphicFrameChg chg="mod modGraphic">
          <ac:chgData name="Konatalapalli, Venkata Dinesh" userId="d1d54421-a53d-48e9-bc3e-2f74d52f1d12" providerId="ADAL" clId="{670C8432-5EA3-4C05-8C52-BCF5D7B2EBF3}" dt="2026-08-30T21:07:13.824" v="1359" actId="2711"/>
          <ac:graphicFrameMkLst>
            <pc:docMk/>
            <pc:sldMk cId="3571483556" sldId="270"/>
            <ac:graphicFrameMk id="29" creationId="{3407F6B5-2E45-B584-ACEB-75C928454B4F}"/>
          </ac:graphicFrameMkLst>
        </pc:graphicFrameChg>
        <pc:graphicFrameChg chg="mod">
          <ac:chgData name="Konatalapalli, Venkata Dinesh" userId="d1d54421-a53d-48e9-bc3e-2f74d52f1d12" providerId="ADAL" clId="{670C8432-5EA3-4C05-8C52-BCF5D7B2EBF3}" dt="2026-08-30T21:03:17.437" v="1313" actId="1076"/>
          <ac:graphicFrameMkLst>
            <pc:docMk/>
            <pc:sldMk cId="3571483556" sldId="270"/>
            <ac:graphicFrameMk id="32" creationId="{C74864F9-50CB-BEC1-E277-CFFBF35650E3}"/>
          </ac:graphicFrameMkLst>
        </pc:graphicFrameChg>
      </pc:sldChg>
      <pc:sldChg chg="modSp mod">
        <pc:chgData name="Konatalapalli, Venkata Dinesh" userId="d1d54421-a53d-48e9-bc3e-2f74d52f1d12" providerId="ADAL" clId="{670C8432-5EA3-4C05-8C52-BCF5D7B2EBF3}" dt="2026-08-30T21:32:54.189" v="2205" actId="1076"/>
        <pc:sldMkLst>
          <pc:docMk/>
          <pc:sldMk cId="1950917117" sldId="2147481484"/>
        </pc:sldMkLst>
        <pc:spChg chg="mod">
          <ac:chgData name="Konatalapalli, Venkata Dinesh" userId="d1d54421-a53d-48e9-bc3e-2f74d52f1d12" providerId="ADAL" clId="{670C8432-5EA3-4C05-8C52-BCF5D7B2EBF3}" dt="2026-08-30T21:28:27.756" v="2204" actId="20577"/>
          <ac:spMkLst>
            <pc:docMk/>
            <pc:sldMk cId="1950917117" sldId="2147481484"/>
            <ac:spMk id="5" creationId="{22A49F73-AA44-73D0-D577-81C667789E5B}"/>
          </ac:spMkLst>
        </pc:spChg>
        <pc:graphicFrameChg chg="modGraphic">
          <ac:chgData name="Konatalapalli, Venkata Dinesh" userId="d1d54421-a53d-48e9-bc3e-2f74d52f1d12" providerId="ADAL" clId="{670C8432-5EA3-4C05-8C52-BCF5D7B2EBF3}" dt="2026-08-30T21:27:38.049" v="2070" actId="20577"/>
          <ac:graphicFrameMkLst>
            <pc:docMk/>
            <pc:sldMk cId="1950917117" sldId="2147481484"/>
            <ac:graphicFrameMk id="11" creationId="{BCD8AD20-8D23-4E13-5FDE-96104037AA4E}"/>
          </ac:graphicFrameMkLst>
        </pc:graphicFrameChg>
        <pc:graphicFrameChg chg="mod">
          <ac:chgData name="Konatalapalli, Venkata Dinesh" userId="d1d54421-a53d-48e9-bc3e-2f74d52f1d12" providerId="ADAL" clId="{670C8432-5EA3-4C05-8C52-BCF5D7B2EBF3}" dt="2026-08-30T21:32:54.189" v="2205" actId="1076"/>
          <ac:graphicFrameMkLst>
            <pc:docMk/>
            <pc:sldMk cId="1950917117" sldId="2147481484"/>
            <ac:graphicFrameMk id="27" creationId="{2D8C1337-4B73-EDFC-498C-13F6621AADE6}"/>
          </ac:graphicFrameMkLst>
        </pc:graphicFrameChg>
      </pc:sldChg>
      <pc:sldChg chg="modSp mod">
        <pc:chgData name="Konatalapalli, Venkata Dinesh" userId="d1d54421-a53d-48e9-bc3e-2f74d52f1d12" providerId="ADAL" clId="{670C8432-5EA3-4C05-8C52-BCF5D7B2EBF3}" dt="2026-08-31T18:17:23.868" v="2734" actId="20577"/>
        <pc:sldMkLst>
          <pc:docMk/>
          <pc:sldMk cId="2712817689" sldId="2147481495"/>
        </pc:sldMkLst>
        <pc:spChg chg="mod">
          <ac:chgData name="Konatalapalli, Venkata Dinesh" userId="d1d54421-a53d-48e9-bc3e-2f74d52f1d12" providerId="ADAL" clId="{670C8432-5EA3-4C05-8C52-BCF5D7B2EBF3}" dt="2026-08-31T15:36:03.400" v="2244" actId="20577"/>
          <ac:spMkLst>
            <pc:docMk/>
            <pc:sldMk cId="2712817689" sldId="2147481495"/>
            <ac:spMk id="5" creationId="{F40693A9-C57D-8C68-35A4-963010247DA2}"/>
          </ac:spMkLst>
        </pc:spChg>
        <pc:spChg chg="mod">
          <ac:chgData name="Konatalapalli, Venkata Dinesh" userId="d1d54421-a53d-48e9-bc3e-2f74d52f1d12" providerId="ADAL" clId="{670C8432-5EA3-4C05-8C52-BCF5D7B2EBF3}" dt="2026-08-30T21:26:52.318" v="2065" actId="1076"/>
          <ac:spMkLst>
            <pc:docMk/>
            <pc:sldMk cId="2712817689" sldId="2147481495"/>
            <ac:spMk id="7" creationId="{2D638063-A90B-8FA0-0563-FD608935F49F}"/>
          </ac:spMkLst>
        </pc:spChg>
        <pc:spChg chg="mod">
          <ac:chgData name="Konatalapalli, Venkata Dinesh" userId="d1d54421-a53d-48e9-bc3e-2f74d52f1d12" providerId="ADAL" clId="{670C8432-5EA3-4C05-8C52-BCF5D7B2EBF3}" dt="2026-08-30T21:26:57.382" v="2066" actId="1076"/>
          <ac:spMkLst>
            <pc:docMk/>
            <pc:sldMk cId="2712817689" sldId="2147481495"/>
            <ac:spMk id="28" creationId="{43C895D4-5A99-1887-11E8-B31F86C7D74C}"/>
          </ac:spMkLst>
        </pc:spChg>
        <pc:spChg chg="mod">
          <ac:chgData name="Konatalapalli, Venkata Dinesh" userId="d1d54421-a53d-48e9-bc3e-2f74d52f1d12" providerId="ADAL" clId="{670C8432-5EA3-4C05-8C52-BCF5D7B2EBF3}" dt="2026-08-30T21:26:36.834" v="2062" actId="1076"/>
          <ac:spMkLst>
            <pc:docMk/>
            <pc:sldMk cId="2712817689" sldId="2147481495"/>
            <ac:spMk id="31" creationId="{61C5BE1A-1622-2ED0-A606-17938ABE25AE}"/>
          </ac:spMkLst>
        </pc:spChg>
        <pc:graphicFrameChg chg="modGraphic">
          <ac:chgData name="Konatalapalli, Venkata Dinesh" userId="d1d54421-a53d-48e9-bc3e-2f74d52f1d12" providerId="ADAL" clId="{670C8432-5EA3-4C05-8C52-BCF5D7B2EBF3}" dt="2026-08-31T18:17:23.868" v="2734" actId="20577"/>
          <ac:graphicFrameMkLst>
            <pc:docMk/>
            <pc:sldMk cId="2712817689" sldId="2147481495"/>
            <ac:graphicFrameMk id="8" creationId="{AEB2D384-F18E-F964-5969-4E068CB83A70}"/>
          </ac:graphicFrameMkLst>
        </pc:graphicFrameChg>
        <pc:graphicFrameChg chg="modGraphic">
          <ac:chgData name="Konatalapalli, Venkata Dinesh" userId="d1d54421-a53d-48e9-bc3e-2f74d52f1d12" providerId="ADAL" clId="{670C8432-5EA3-4C05-8C52-BCF5D7B2EBF3}" dt="2026-08-31T15:35:21.386" v="2207" actId="20577"/>
          <ac:graphicFrameMkLst>
            <pc:docMk/>
            <pc:sldMk cId="2712817689" sldId="2147481495"/>
            <ac:graphicFrameMk id="11" creationId="{74EA47A9-D9EB-628C-0365-3568F9D882C3}"/>
          </ac:graphicFrameMkLst>
        </pc:graphicFrameChg>
        <pc:graphicFrameChg chg="modGraphic">
          <ac:chgData name="Konatalapalli, Venkata Dinesh" userId="d1d54421-a53d-48e9-bc3e-2f74d52f1d12" providerId="ADAL" clId="{670C8432-5EA3-4C05-8C52-BCF5D7B2EBF3}" dt="2026-08-31T15:48:29.742" v="2265" actId="20577"/>
          <ac:graphicFrameMkLst>
            <pc:docMk/>
            <pc:sldMk cId="2712817689" sldId="2147481495"/>
            <ac:graphicFrameMk id="14" creationId="{E4FF31DD-BBC6-A3BC-E842-2B577B56848F}"/>
          </ac:graphicFrameMkLst>
        </pc:graphicFrameChg>
        <pc:graphicFrameChg chg="mod modGraphic">
          <ac:chgData name="Konatalapalli, Venkata Dinesh" userId="d1d54421-a53d-48e9-bc3e-2f74d52f1d12" providerId="ADAL" clId="{670C8432-5EA3-4C05-8C52-BCF5D7B2EBF3}" dt="2026-08-30T21:26:26.677" v="2061" actId="20577"/>
          <ac:graphicFrameMkLst>
            <pc:docMk/>
            <pc:sldMk cId="2712817689" sldId="2147481495"/>
            <ac:graphicFrameMk id="29" creationId="{62D7E36D-8964-12CA-6DF7-38CCCDF27BA3}"/>
          </ac:graphicFrameMkLst>
        </pc:graphicFrameChg>
      </pc:sldChg>
      <pc:sldChg chg="addSp delSp modSp mod">
        <pc:chgData name="Konatalapalli, Venkata Dinesh" userId="d1d54421-a53d-48e9-bc3e-2f74d52f1d12" providerId="ADAL" clId="{670C8432-5EA3-4C05-8C52-BCF5D7B2EBF3}" dt="2026-08-31T17:58:54.608" v="2732" actId="20577"/>
        <pc:sldMkLst>
          <pc:docMk/>
          <pc:sldMk cId="905492665" sldId="2147483646"/>
        </pc:sldMkLst>
        <pc:spChg chg="mod">
          <ac:chgData name="Konatalapalli, Venkata Dinesh" userId="d1d54421-a53d-48e9-bc3e-2f74d52f1d12" providerId="ADAL" clId="{670C8432-5EA3-4C05-8C52-BCF5D7B2EBF3}" dt="2026-08-31T17:57:09.211" v="2683" actId="403"/>
          <ac:spMkLst>
            <pc:docMk/>
            <pc:sldMk cId="905492665" sldId="2147483646"/>
            <ac:spMk id="5" creationId="{318AAE5A-AC62-0488-871A-5961BB25E92A}"/>
          </ac:spMkLst>
        </pc:spChg>
        <pc:spChg chg="add mod">
          <ac:chgData name="Konatalapalli, Venkata Dinesh" userId="d1d54421-a53d-48e9-bc3e-2f74d52f1d12" providerId="ADAL" clId="{670C8432-5EA3-4C05-8C52-BCF5D7B2EBF3}" dt="2026-08-31T17:45:24.106" v="2313" actId="1076"/>
          <ac:spMkLst>
            <pc:docMk/>
            <pc:sldMk cId="905492665" sldId="2147483646"/>
            <ac:spMk id="6" creationId="{C687DDD6-10C8-0D07-1359-A65C4BB6670D}"/>
          </ac:spMkLst>
        </pc:spChg>
        <pc:spChg chg="add mod">
          <ac:chgData name="Konatalapalli, Venkata Dinesh" userId="d1d54421-a53d-48e9-bc3e-2f74d52f1d12" providerId="ADAL" clId="{670C8432-5EA3-4C05-8C52-BCF5D7B2EBF3}" dt="2026-08-31T17:48:42.426" v="2503" actId="1076"/>
          <ac:spMkLst>
            <pc:docMk/>
            <pc:sldMk cId="905492665" sldId="2147483646"/>
            <ac:spMk id="10" creationId="{94CD76AC-24F6-A1E7-F433-E8E53F5DC95D}"/>
          </ac:spMkLst>
        </pc:spChg>
        <pc:spChg chg="add del mod">
          <ac:chgData name="Konatalapalli, Venkata Dinesh" userId="d1d54421-a53d-48e9-bc3e-2f74d52f1d12" providerId="ADAL" clId="{670C8432-5EA3-4C05-8C52-BCF5D7B2EBF3}" dt="2026-08-31T17:49:36.711" v="2518" actId="478"/>
          <ac:spMkLst>
            <pc:docMk/>
            <pc:sldMk cId="905492665" sldId="2147483646"/>
            <ac:spMk id="15" creationId="{4AB648E8-C3A2-B2FC-1D70-20F53D4562AF}"/>
          </ac:spMkLst>
        </pc:spChg>
        <pc:spChg chg="del">
          <ac:chgData name="Konatalapalli, Venkata Dinesh" userId="d1d54421-a53d-48e9-bc3e-2f74d52f1d12" providerId="ADAL" clId="{670C8432-5EA3-4C05-8C52-BCF5D7B2EBF3}" dt="2026-08-31T17:45:07.044" v="2308" actId="478"/>
          <ac:spMkLst>
            <pc:docMk/>
            <pc:sldMk cId="905492665" sldId="2147483646"/>
            <ac:spMk id="18" creationId="{5F9174C6-2EF8-5A06-730C-21A94C9E9151}"/>
          </ac:spMkLst>
        </pc:spChg>
        <pc:spChg chg="add mod">
          <ac:chgData name="Konatalapalli, Venkata Dinesh" userId="d1d54421-a53d-48e9-bc3e-2f74d52f1d12" providerId="ADAL" clId="{670C8432-5EA3-4C05-8C52-BCF5D7B2EBF3}" dt="2026-08-31T17:48:49.882" v="2505" actId="1076"/>
          <ac:spMkLst>
            <pc:docMk/>
            <pc:sldMk cId="905492665" sldId="2147483646"/>
            <ac:spMk id="19" creationId="{990834C8-D32F-DEB3-439A-518F8828D803}"/>
          </ac:spMkLst>
        </pc:spChg>
        <pc:spChg chg="add del mod">
          <ac:chgData name="Konatalapalli, Venkata Dinesh" userId="d1d54421-a53d-48e9-bc3e-2f74d52f1d12" providerId="ADAL" clId="{670C8432-5EA3-4C05-8C52-BCF5D7B2EBF3}" dt="2026-08-31T17:53:23.400" v="2587" actId="478"/>
          <ac:spMkLst>
            <pc:docMk/>
            <pc:sldMk cId="905492665" sldId="2147483646"/>
            <ac:spMk id="21" creationId="{848BD9A8-639C-D39F-C5CE-3F3F887CE17B}"/>
          </ac:spMkLst>
        </pc:spChg>
        <pc:spChg chg="add mod">
          <ac:chgData name="Konatalapalli, Venkata Dinesh" userId="d1d54421-a53d-48e9-bc3e-2f74d52f1d12" providerId="ADAL" clId="{670C8432-5EA3-4C05-8C52-BCF5D7B2EBF3}" dt="2026-08-31T17:53:18.662" v="2585" actId="1076"/>
          <ac:spMkLst>
            <pc:docMk/>
            <pc:sldMk cId="905492665" sldId="2147483646"/>
            <ac:spMk id="23" creationId="{9E94B236-C4EC-EA8B-8F86-BB9C2F40F832}"/>
          </ac:spMkLst>
        </pc:spChg>
        <pc:spChg chg="add mod">
          <ac:chgData name="Konatalapalli, Venkata Dinesh" userId="d1d54421-a53d-48e9-bc3e-2f74d52f1d12" providerId="ADAL" clId="{670C8432-5EA3-4C05-8C52-BCF5D7B2EBF3}" dt="2026-08-31T17:53:26.355" v="2588" actId="1076"/>
          <ac:spMkLst>
            <pc:docMk/>
            <pc:sldMk cId="905492665" sldId="2147483646"/>
            <ac:spMk id="28" creationId="{1BAE5C5A-1D27-3764-51C3-683D99D8C5F2}"/>
          </ac:spMkLst>
        </pc:spChg>
        <pc:graphicFrameChg chg="modGraphic">
          <ac:chgData name="Konatalapalli, Venkata Dinesh" userId="d1d54421-a53d-48e9-bc3e-2f74d52f1d12" providerId="ADAL" clId="{670C8432-5EA3-4C05-8C52-BCF5D7B2EBF3}" dt="2026-08-30T21:14:06.299" v="1443" actId="20577"/>
          <ac:graphicFrameMkLst>
            <pc:docMk/>
            <pc:sldMk cId="905492665" sldId="2147483646"/>
            <ac:graphicFrameMk id="11" creationId="{D3C3A19E-988F-11EC-E82B-4267BA8D6F8E}"/>
          </ac:graphicFrameMkLst>
        </pc:graphicFrameChg>
        <pc:graphicFrameChg chg="mod modGraphic">
          <ac:chgData name="Konatalapalli, Venkata Dinesh" userId="d1d54421-a53d-48e9-bc3e-2f74d52f1d12" providerId="ADAL" clId="{670C8432-5EA3-4C05-8C52-BCF5D7B2EBF3}" dt="2026-08-31T17:56:54.412" v="2680" actId="2711"/>
          <ac:graphicFrameMkLst>
            <pc:docMk/>
            <pc:sldMk cId="905492665" sldId="2147483646"/>
            <ac:graphicFrameMk id="27" creationId="{8524ED42-1B04-FD87-7CE2-6F9837B24058}"/>
          </ac:graphicFrameMkLst>
        </pc:graphicFrameChg>
        <pc:graphicFrameChg chg="mod modGraphic">
          <ac:chgData name="Konatalapalli, Venkata Dinesh" userId="d1d54421-a53d-48e9-bc3e-2f74d52f1d12" providerId="ADAL" clId="{670C8432-5EA3-4C05-8C52-BCF5D7B2EBF3}" dt="2026-08-31T17:58:54.608" v="2732" actId="20577"/>
          <ac:graphicFrameMkLst>
            <pc:docMk/>
            <pc:sldMk cId="905492665" sldId="2147483646"/>
            <ac:graphicFrameMk id="29" creationId="{834A5C42-524C-1A36-F1D6-A89E382ED2A8}"/>
          </ac:graphicFrameMkLst>
        </pc:graphicFrameChg>
      </pc:sldChg>
    </pc:docChg>
  </pc:docChgLst>
  <pc:docChgLst>
    <pc:chgData name="Trudeau, Cindy" userId="5c28d3c8-596d-4cbf-a5ec-3ae932b156cd" providerId="ADAL" clId="{0FE9CF52-C380-40F0-BAA4-A99AFF84693D}"/>
    <pc:docChg chg="undo custSel addSld delSld modSld sldOrd">
      <pc:chgData name="Trudeau, Cindy" userId="5c28d3c8-596d-4cbf-a5ec-3ae932b156cd" providerId="ADAL" clId="{0FE9CF52-C380-40F0-BAA4-A99AFF84693D}" dt="2026-08-31T21:52:43.002" v="138" actId="108"/>
      <pc:docMkLst>
        <pc:docMk/>
      </pc:docMkLst>
      <pc:sldChg chg="modSp new mod">
        <pc:chgData name="Trudeau, Cindy" userId="5c28d3c8-596d-4cbf-a5ec-3ae932b156cd" providerId="ADAL" clId="{0FE9CF52-C380-40F0-BAA4-A99AFF84693D}" dt="2026-08-31T19:53:28.924" v="22" actId="20577"/>
        <pc:sldMkLst>
          <pc:docMk/>
          <pc:sldMk cId="2195738127" sldId="256"/>
        </pc:sldMkLst>
        <pc:spChg chg="mod">
          <ac:chgData name="Trudeau, Cindy" userId="5c28d3c8-596d-4cbf-a5ec-3ae932b156cd" providerId="ADAL" clId="{0FE9CF52-C380-40F0-BAA4-A99AFF84693D}" dt="2026-08-31T19:53:28.924" v="22" actId="20577"/>
          <ac:spMkLst>
            <pc:docMk/>
            <pc:sldMk cId="2195738127" sldId="256"/>
            <ac:spMk id="2" creationId="{E4672316-16F4-10A0-4BB0-DE99DBFB6735}"/>
          </ac:spMkLst>
        </pc:spChg>
      </pc:sldChg>
      <pc:sldChg chg="modSp mod">
        <pc:chgData name="Trudeau, Cindy" userId="5c28d3c8-596d-4cbf-a5ec-3ae932b156cd" providerId="ADAL" clId="{0FE9CF52-C380-40F0-BAA4-A99AFF84693D}" dt="2026-08-31T20:01:11.485" v="100" actId="20577"/>
        <pc:sldMkLst>
          <pc:docMk/>
          <pc:sldMk cId="4215373585" sldId="261"/>
        </pc:sldMkLst>
        <pc:spChg chg="mod">
          <ac:chgData name="Trudeau, Cindy" userId="5c28d3c8-596d-4cbf-a5ec-3ae932b156cd" providerId="ADAL" clId="{0FE9CF52-C380-40F0-BAA4-A99AFF84693D}" dt="2026-08-31T20:01:11.485" v="100" actId="20577"/>
          <ac:spMkLst>
            <pc:docMk/>
            <pc:sldMk cId="4215373585" sldId="261"/>
            <ac:spMk id="5" creationId="{1435DA70-AF17-3E48-363E-BAF2AD34C1AC}"/>
          </ac:spMkLst>
        </pc:spChg>
      </pc:sldChg>
      <pc:sldChg chg="modSp mod">
        <pc:chgData name="Trudeau, Cindy" userId="5c28d3c8-596d-4cbf-a5ec-3ae932b156cd" providerId="ADAL" clId="{0FE9CF52-C380-40F0-BAA4-A99AFF84693D}" dt="2026-08-31T21:06:30.188" v="127" actId="6549"/>
        <pc:sldMkLst>
          <pc:docMk/>
          <pc:sldMk cId="1544991744" sldId="263"/>
        </pc:sldMkLst>
        <pc:graphicFrameChg chg="modGraphic">
          <ac:chgData name="Trudeau, Cindy" userId="5c28d3c8-596d-4cbf-a5ec-3ae932b156cd" providerId="ADAL" clId="{0FE9CF52-C380-40F0-BAA4-A99AFF84693D}" dt="2026-08-31T21:06:30.188" v="127" actId="6549"/>
          <ac:graphicFrameMkLst>
            <pc:docMk/>
            <pc:sldMk cId="1544991744" sldId="263"/>
            <ac:graphicFrameMk id="14" creationId="{67039604-CAFB-9C58-F0B7-F5FBDDBE4895}"/>
          </ac:graphicFrameMkLst>
        </pc:graphicFrameChg>
      </pc:sldChg>
      <pc:sldChg chg="ord">
        <pc:chgData name="Trudeau, Cindy" userId="5c28d3c8-596d-4cbf-a5ec-3ae932b156cd" providerId="ADAL" clId="{0FE9CF52-C380-40F0-BAA4-A99AFF84693D}" dt="2026-08-31T19:58:50.630" v="66"/>
        <pc:sldMkLst>
          <pc:docMk/>
          <pc:sldMk cId="1539424643" sldId="265"/>
        </pc:sldMkLst>
      </pc:sldChg>
      <pc:sldChg chg="add">
        <pc:chgData name="Trudeau, Cindy" userId="5c28d3c8-596d-4cbf-a5ec-3ae932b156cd" providerId="ADAL" clId="{0FE9CF52-C380-40F0-BAA4-A99AFF84693D}" dt="2026-08-31T20:05:28.231" v="103"/>
        <pc:sldMkLst>
          <pc:docMk/>
          <pc:sldMk cId="817548524" sldId="267"/>
        </pc:sldMkLst>
      </pc:sldChg>
      <pc:sldChg chg="modSp del mod">
        <pc:chgData name="Trudeau, Cindy" userId="5c28d3c8-596d-4cbf-a5ec-3ae932b156cd" providerId="ADAL" clId="{0FE9CF52-C380-40F0-BAA4-A99AFF84693D}" dt="2026-08-31T20:05:18.077" v="102" actId="2696"/>
        <pc:sldMkLst>
          <pc:docMk/>
          <pc:sldMk cId="3377241021" sldId="267"/>
        </pc:sldMkLst>
        <pc:spChg chg="mod">
          <ac:chgData name="Trudeau, Cindy" userId="5c28d3c8-596d-4cbf-a5ec-3ae932b156cd" providerId="ADAL" clId="{0FE9CF52-C380-40F0-BAA4-A99AFF84693D}" dt="2026-08-31T20:02:57.420" v="101" actId="1076"/>
          <ac:spMkLst>
            <pc:docMk/>
            <pc:sldMk cId="3377241021" sldId="267"/>
            <ac:spMk id="7" creationId="{2277CE1F-D6C8-A8D9-BC26-30AF36EB7839}"/>
          </ac:spMkLst>
        </pc:spChg>
        <pc:graphicFrameChg chg="mod">
          <ac:chgData name="Trudeau, Cindy" userId="5c28d3c8-596d-4cbf-a5ec-3ae932b156cd" providerId="ADAL" clId="{0FE9CF52-C380-40F0-BAA4-A99AFF84693D}" dt="2026-08-31T20:02:57.420" v="101" actId="1076"/>
          <ac:graphicFrameMkLst>
            <pc:docMk/>
            <pc:sldMk cId="3377241021" sldId="267"/>
            <ac:graphicFrameMk id="9" creationId="{EC50AD88-6F19-7265-0D1B-8D6071F71A6A}"/>
          </ac:graphicFrameMkLst>
        </pc:graphicFrameChg>
      </pc:sldChg>
      <pc:sldChg chg="modSp mod">
        <pc:chgData name="Trudeau, Cindy" userId="5c28d3c8-596d-4cbf-a5ec-3ae932b156cd" providerId="ADAL" clId="{0FE9CF52-C380-40F0-BAA4-A99AFF84693D}" dt="2026-08-31T20:00:09.255" v="93" actId="6549"/>
        <pc:sldMkLst>
          <pc:docMk/>
          <pc:sldMk cId="3926367795" sldId="269"/>
        </pc:sldMkLst>
        <pc:graphicFrameChg chg="modGraphic">
          <ac:chgData name="Trudeau, Cindy" userId="5c28d3c8-596d-4cbf-a5ec-3ae932b156cd" providerId="ADAL" clId="{0FE9CF52-C380-40F0-BAA4-A99AFF84693D}" dt="2026-08-31T20:00:04.389" v="92" actId="20577"/>
          <ac:graphicFrameMkLst>
            <pc:docMk/>
            <pc:sldMk cId="3926367795" sldId="269"/>
            <ac:graphicFrameMk id="27" creationId="{E4812FB4-EC52-543D-0EBE-9C5346E9C391}"/>
          </ac:graphicFrameMkLst>
        </pc:graphicFrameChg>
        <pc:graphicFrameChg chg="modGraphic">
          <ac:chgData name="Trudeau, Cindy" userId="5c28d3c8-596d-4cbf-a5ec-3ae932b156cd" providerId="ADAL" clId="{0FE9CF52-C380-40F0-BAA4-A99AFF84693D}" dt="2026-08-31T20:00:09.255" v="93" actId="6549"/>
          <ac:graphicFrameMkLst>
            <pc:docMk/>
            <pc:sldMk cId="3926367795" sldId="269"/>
            <ac:graphicFrameMk id="29" creationId="{C61BD453-E1B3-2BD5-E0C2-7EAACF5CC434}"/>
          </ac:graphicFrameMkLst>
        </pc:graphicFrameChg>
      </pc:sldChg>
      <pc:sldChg chg="modSp mod">
        <pc:chgData name="Trudeau, Cindy" userId="5c28d3c8-596d-4cbf-a5ec-3ae932b156cd" providerId="ADAL" clId="{0FE9CF52-C380-40F0-BAA4-A99AFF84693D}" dt="2026-08-31T21:30:51.636" v="132" actId="20577"/>
        <pc:sldMkLst>
          <pc:docMk/>
          <pc:sldMk cId="3571483556" sldId="270"/>
        </pc:sldMkLst>
        <pc:graphicFrameChg chg="modGraphic">
          <ac:chgData name="Trudeau, Cindy" userId="5c28d3c8-596d-4cbf-a5ec-3ae932b156cd" providerId="ADAL" clId="{0FE9CF52-C380-40F0-BAA4-A99AFF84693D}" dt="2026-08-31T21:30:51.636" v="132" actId="20577"/>
          <ac:graphicFrameMkLst>
            <pc:docMk/>
            <pc:sldMk cId="3571483556" sldId="270"/>
            <ac:graphicFrameMk id="14" creationId="{F6B05419-204D-7201-3D13-59E6E449DF96}"/>
          </ac:graphicFrameMkLst>
        </pc:graphicFrameChg>
      </pc:sldChg>
      <pc:sldChg chg="modSp add mod">
        <pc:chgData name="Trudeau, Cindy" userId="5c28d3c8-596d-4cbf-a5ec-3ae932b156cd" providerId="ADAL" clId="{0FE9CF52-C380-40F0-BAA4-A99AFF84693D}" dt="2026-08-31T19:55:05.155" v="47" actId="255"/>
        <pc:sldMkLst>
          <pc:docMk/>
          <pc:sldMk cId="34579111" sldId="277"/>
        </pc:sldMkLst>
        <pc:spChg chg="mod">
          <ac:chgData name="Trudeau, Cindy" userId="5c28d3c8-596d-4cbf-a5ec-3ae932b156cd" providerId="ADAL" clId="{0FE9CF52-C380-40F0-BAA4-A99AFF84693D}" dt="2026-08-31T19:55:05.155" v="47" actId="255"/>
          <ac:spMkLst>
            <pc:docMk/>
            <pc:sldMk cId="34579111" sldId="277"/>
            <ac:spMk id="2" creationId="{E506548A-6907-A650-DA4B-513DB2218804}"/>
          </ac:spMkLst>
        </pc:spChg>
      </pc:sldChg>
      <pc:sldChg chg="ord">
        <pc:chgData name="Trudeau, Cindy" userId="5c28d3c8-596d-4cbf-a5ec-3ae932b156cd" providerId="ADAL" clId="{0FE9CF52-C380-40F0-BAA4-A99AFF84693D}" dt="2026-08-31T19:53:16.879" v="13"/>
        <pc:sldMkLst>
          <pc:docMk/>
          <pc:sldMk cId="1727686740" sldId="2147478181"/>
        </pc:sldMkLst>
      </pc:sldChg>
      <pc:sldChg chg="ord">
        <pc:chgData name="Trudeau, Cindy" userId="5c28d3c8-596d-4cbf-a5ec-3ae932b156cd" providerId="ADAL" clId="{0FE9CF52-C380-40F0-BAA4-A99AFF84693D}" dt="2026-08-31T19:55:53.675" v="49"/>
        <pc:sldMkLst>
          <pc:docMk/>
          <pc:sldMk cId="168037021" sldId="2147478231"/>
        </pc:sldMkLst>
      </pc:sldChg>
      <pc:sldChg chg="modSp mod">
        <pc:chgData name="Trudeau, Cindy" userId="5c28d3c8-596d-4cbf-a5ec-3ae932b156cd" providerId="ADAL" clId="{0FE9CF52-C380-40F0-BAA4-A99AFF84693D}" dt="2026-08-31T21:48:50.632" v="133" actId="20577"/>
        <pc:sldMkLst>
          <pc:docMk/>
          <pc:sldMk cId="1950917117" sldId="2147481484"/>
        </pc:sldMkLst>
        <pc:spChg chg="mod">
          <ac:chgData name="Trudeau, Cindy" userId="5c28d3c8-596d-4cbf-a5ec-3ae932b156cd" providerId="ADAL" clId="{0FE9CF52-C380-40F0-BAA4-A99AFF84693D}" dt="2026-08-31T21:48:50.632" v="133" actId="20577"/>
          <ac:spMkLst>
            <pc:docMk/>
            <pc:sldMk cId="1950917117" sldId="2147481484"/>
            <ac:spMk id="5" creationId="{22A49F73-AA44-73D0-D577-81C667789E5B}"/>
          </ac:spMkLst>
        </pc:spChg>
        <pc:graphicFrameChg chg="mod modGraphic">
          <ac:chgData name="Trudeau, Cindy" userId="5c28d3c8-596d-4cbf-a5ec-3ae932b156cd" providerId="ADAL" clId="{0FE9CF52-C380-40F0-BAA4-A99AFF84693D}" dt="2026-08-31T19:58:10.824" v="58" actId="108"/>
          <ac:graphicFrameMkLst>
            <pc:docMk/>
            <pc:sldMk cId="1950917117" sldId="2147481484"/>
            <ac:graphicFrameMk id="27" creationId="{2D8C1337-4B73-EDFC-498C-13F6621AADE6}"/>
          </ac:graphicFrameMkLst>
        </pc:graphicFrameChg>
      </pc:sldChg>
      <pc:sldChg chg="ord">
        <pc:chgData name="Trudeau, Cindy" userId="5c28d3c8-596d-4cbf-a5ec-3ae932b156cd" providerId="ADAL" clId="{0FE9CF52-C380-40F0-BAA4-A99AFF84693D}" dt="2026-08-31T19:59:18.834" v="68"/>
        <pc:sldMkLst>
          <pc:docMk/>
          <pc:sldMk cId="524899667" sldId="2147481519"/>
        </pc:sldMkLst>
      </pc:sldChg>
      <pc:sldChg chg="modSp mod">
        <pc:chgData name="Trudeau, Cindy" userId="5c28d3c8-596d-4cbf-a5ec-3ae932b156cd" providerId="ADAL" clId="{0FE9CF52-C380-40F0-BAA4-A99AFF84693D}" dt="2026-08-31T21:52:43.002" v="138" actId="108"/>
        <pc:sldMkLst>
          <pc:docMk/>
          <pc:sldMk cId="1819914217" sldId="2147481520"/>
        </pc:sldMkLst>
        <pc:graphicFrameChg chg="mod modGraphic">
          <ac:chgData name="Trudeau, Cindy" userId="5c28d3c8-596d-4cbf-a5ec-3ae932b156cd" providerId="ADAL" clId="{0FE9CF52-C380-40F0-BAA4-A99AFF84693D}" dt="2026-08-31T21:52:43.002" v="138" actId="108"/>
          <ac:graphicFrameMkLst>
            <pc:docMk/>
            <pc:sldMk cId="1819914217" sldId="2147481520"/>
            <ac:graphicFrameMk id="14" creationId="{393E8E5E-A5C1-A064-9CB0-A0F5957D802C}"/>
          </ac:graphicFrameMkLst>
        </pc:graphicFrameChg>
      </pc:sldChg>
      <pc:sldChg chg="modSp add mod">
        <pc:chgData name="Trudeau, Cindy" userId="5c28d3c8-596d-4cbf-a5ec-3ae932b156cd" providerId="ADAL" clId="{0FE9CF52-C380-40F0-BAA4-A99AFF84693D}" dt="2026-08-31T20:05:37.319" v="122" actId="20577"/>
        <pc:sldMkLst>
          <pc:docMk/>
          <pc:sldMk cId="2274631146" sldId="2147481524"/>
        </pc:sldMkLst>
        <pc:spChg chg="mod">
          <ac:chgData name="Trudeau, Cindy" userId="5c28d3c8-596d-4cbf-a5ec-3ae932b156cd" providerId="ADAL" clId="{0FE9CF52-C380-40F0-BAA4-A99AFF84693D}" dt="2026-08-31T20:05:37.319" v="122" actId="20577"/>
          <ac:spMkLst>
            <pc:docMk/>
            <pc:sldMk cId="2274631146" sldId="2147481524"/>
            <ac:spMk id="2" creationId="{A7D333C3-68E3-AC04-B550-73AC11694101}"/>
          </ac:spMkLst>
        </pc:spChg>
      </pc:sldChg>
      <pc:sldChg chg="del">
        <pc:chgData name="Trudeau, Cindy" userId="5c28d3c8-596d-4cbf-a5ec-3ae932b156cd" providerId="ADAL" clId="{0FE9CF52-C380-40F0-BAA4-A99AFF84693D}" dt="2026-08-31T20:05:18.077" v="102" actId="2696"/>
        <pc:sldMkLst>
          <pc:docMk/>
          <pc:sldMk cId="3104578962" sldId="2147481524"/>
        </pc:sldMkLst>
      </pc:sldChg>
      <pc:sldChg chg="modSp mod">
        <pc:chgData name="Trudeau, Cindy" userId="5c28d3c8-596d-4cbf-a5ec-3ae932b156cd" providerId="ADAL" clId="{0FE9CF52-C380-40F0-BAA4-A99AFF84693D}" dt="2026-08-31T21:12:17.381" v="130" actId="6549"/>
        <pc:sldMkLst>
          <pc:docMk/>
          <pc:sldMk cId="1951027285" sldId="2147481535"/>
        </pc:sldMkLst>
        <pc:graphicFrameChg chg="modGraphic">
          <ac:chgData name="Trudeau, Cindy" userId="5c28d3c8-596d-4cbf-a5ec-3ae932b156cd" providerId="ADAL" clId="{0FE9CF52-C380-40F0-BAA4-A99AFF84693D}" dt="2026-08-31T21:12:06.369" v="128" actId="20577"/>
          <ac:graphicFrameMkLst>
            <pc:docMk/>
            <pc:sldMk cId="1951027285" sldId="2147481535"/>
            <ac:graphicFrameMk id="14" creationId="{EA8ADF8E-817A-BD90-F5D7-A689AAFD2BC2}"/>
          </ac:graphicFrameMkLst>
        </pc:graphicFrameChg>
        <pc:graphicFrameChg chg="modGraphic">
          <ac:chgData name="Trudeau, Cindy" userId="5c28d3c8-596d-4cbf-a5ec-3ae932b156cd" providerId="ADAL" clId="{0FE9CF52-C380-40F0-BAA4-A99AFF84693D}" dt="2026-08-31T21:12:17.381" v="130" actId="6549"/>
          <ac:graphicFrameMkLst>
            <pc:docMk/>
            <pc:sldMk cId="1951027285" sldId="2147481535"/>
            <ac:graphicFrameMk id="27" creationId="{2C57617B-5240-4A92-8E6E-E8AC2E98E524}"/>
          </ac:graphicFrameMkLst>
        </pc:graphicFrameChg>
      </pc:sldChg>
      <pc:sldChg chg="modSp mod">
        <pc:chgData name="Trudeau, Cindy" userId="5c28d3c8-596d-4cbf-a5ec-3ae932b156cd" providerId="ADAL" clId="{0FE9CF52-C380-40F0-BAA4-A99AFF84693D}" dt="2026-08-31T19:51:35.651" v="4" actId="20577"/>
        <pc:sldMkLst>
          <pc:docMk/>
          <pc:sldMk cId="905492665" sldId="2147483646"/>
        </pc:sldMkLst>
        <pc:graphicFrameChg chg="modGraphic">
          <ac:chgData name="Trudeau, Cindy" userId="5c28d3c8-596d-4cbf-a5ec-3ae932b156cd" providerId="ADAL" clId="{0FE9CF52-C380-40F0-BAA4-A99AFF84693D}" dt="2026-08-31T19:51:35.651" v="4" actId="20577"/>
          <ac:graphicFrameMkLst>
            <pc:docMk/>
            <pc:sldMk cId="905492665" sldId="2147483646"/>
            <ac:graphicFrameMk id="14" creationId="{0E4B867B-F5F4-BD4F-8231-1B55AACB274E}"/>
          </ac:graphicFrameMkLst>
        </pc:graphicFrameChg>
      </pc:sldChg>
    </pc:docChg>
  </pc:docChgLst>
  <pc:docChgLst>
    <pc:chgData name="Babu Buddha, Chalam" userId="029206bb-cd9e-4563-bb7b-72254d21a3cf" providerId="ADAL" clId="{8B71F3F3-80F4-4B7B-A00F-315796F14B49}"/>
    <pc:docChg chg="modSld">
      <pc:chgData name="Babu Buddha, Chalam" userId="029206bb-cd9e-4563-bb7b-72254d21a3cf" providerId="ADAL" clId="{8B71F3F3-80F4-4B7B-A00F-315796F14B49}" dt="2026-08-31T22:31:33.321" v="97" actId="2165"/>
      <pc:docMkLst>
        <pc:docMk/>
      </pc:docMkLst>
      <pc:sldChg chg="modSp">
        <pc:chgData name="Babu Buddha, Chalam" userId="029206bb-cd9e-4563-bb7b-72254d21a3cf" providerId="ADAL" clId="{8B71F3F3-80F4-4B7B-A00F-315796F14B49}" dt="2026-08-31T21:16:01.497" v="6"/>
        <pc:sldMkLst>
          <pc:docMk/>
          <pc:sldMk cId="1157020178" sldId="266"/>
        </pc:sldMkLst>
        <pc:graphicFrameChg chg="mod">
          <ac:chgData name="Babu Buddha, Chalam" userId="029206bb-cd9e-4563-bb7b-72254d21a3cf" providerId="ADAL" clId="{8B71F3F3-80F4-4B7B-A00F-315796F14B49}" dt="2026-08-31T21:16:01.497" v="6"/>
          <ac:graphicFrameMkLst>
            <pc:docMk/>
            <pc:sldMk cId="1157020178" sldId="266"/>
            <ac:graphicFrameMk id="27" creationId="{4677285F-484C-A946-BEE2-0C9792132DC0}"/>
          </ac:graphicFrameMkLst>
        </pc:graphicFrameChg>
      </pc:sldChg>
      <pc:sldChg chg="modSp mod">
        <pc:chgData name="Babu Buddha, Chalam" userId="029206bb-cd9e-4563-bb7b-72254d21a3cf" providerId="ADAL" clId="{8B71F3F3-80F4-4B7B-A00F-315796F14B49}" dt="2026-08-31T21:15:21.049" v="4" actId="20577"/>
        <pc:sldMkLst>
          <pc:docMk/>
          <pc:sldMk cId="1819914217" sldId="2147481520"/>
        </pc:sldMkLst>
        <pc:graphicFrameChg chg="modGraphic">
          <ac:chgData name="Babu Buddha, Chalam" userId="029206bb-cd9e-4563-bb7b-72254d21a3cf" providerId="ADAL" clId="{8B71F3F3-80F4-4B7B-A00F-315796F14B49}" dt="2026-08-31T21:15:21.049" v="4" actId="20577"/>
          <ac:graphicFrameMkLst>
            <pc:docMk/>
            <pc:sldMk cId="1819914217" sldId="2147481520"/>
            <ac:graphicFrameMk id="27" creationId="{819C021D-B279-86D1-6CE6-1F1F4F6FAFCB}"/>
          </ac:graphicFrameMkLst>
        </pc:graphicFrameChg>
      </pc:sldChg>
      <pc:sldChg chg="modSp mod">
        <pc:chgData name="Babu Buddha, Chalam" userId="029206bb-cd9e-4563-bb7b-72254d21a3cf" providerId="ADAL" clId="{8B71F3F3-80F4-4B7B-A00F-315796F14B49}" dt="2026-08-31T22:31:33.321" v="97" actId="2165"/>
        <pc:sldMkLst>
          <pc:docMk/>
          <pc:sldMk cId="2426091294" sldId="2147481521"/>
        </pc:sldMkLst>
        <pc:graphicFrameChg chg="modGraphic">
          <ac:chgData name="Babu Buddha, Chalam" userId="029206bb-cd9e-4563-bb7b-72254d21a3cf" providerId="ADAL" clId="{8B71F3F3-80F4-4B7B-A00F-315796F14B49}" dt="2026-08-31T22:29:22.098" v="47" actId="20577"/>
          <ac:graphicFrameMkLst>
            <pc:docMk/>
            <pc:sldMk cId="2426091294" sldId="2147481521"/>
            <ac:graphicFrameMk id="7" creationId="{C5BFABD9-5EAF-1E7A-1B65-321E55E04C14}"/>
          </ac:graphicFrameMkLst>
        </pc:graphicFrameChg>
        <pc:graphicFrameChg chg="mod modGraphic">
          <ac:chgData name="Babu Buddha, Chalam" userId="029206bb-cd9e-4563-bb7b-72254d21a3cf" providerId="ADAL" clId="{8B71F3F3-80F4-4B7B-A00F-315796F14B49}" dt="2026-08-31T22:31:33.321" v="97" actId="2165"/>
          <ac:graphicFrameMkLst>
            <pc:docMk/>
            <pc:sldMk cId="2426091294" sldId="2147481521"/>
            <ac:graphicFrameMk id="27" creationId="{6F91E75E-026E-1264-95CE-F1A3FDE7586F}"/>
          </ac:graphicFrameMkLst>
        </pc:graphicFrameChg>
      </pc:sldChg>
    </pc:docChg>
  </pc:docChgLst>
  <pc:docChgLst>
    <pc:chgData name="Barbour, Kinney L" userId="234f7b74-22d0-43e5-9391-e9a4c1232d9a" providerId="ADAL" clId="{058838B9-0EAB-4E39-B5BE-8C73DE4DB71D}"/>
    <pc:docChg chg="undo custSel modSld">
      <pc:chgData name="Barbour, Kinney L" userId="234f7b74-22d0-43e5-9391-e9a4c1232d9a" providerId="ADAL" clId="{058838B9-0EAB-4E39-B5BE-8C73DE4DB71D}" dt="2026-08-31T16:24:23.004" v="2082" actId="207"/>
      <pc:docMkLst>
        <pc:docMk/>
      </pc:docMkLst>
      <pc:sldChg chg="modSp mod">
        <pc:chgData name="Barbour, Kinney L" userId="234f7b74-22d0-43e5-9391-e9a4c1232d9a" providerId="ADAL" clId="{058838B9-0EAB-4E39-B5BE-8C73DE4DB71D}" dt="2026-08-31T16:22:27.092" v="2069" actId="1035"/>
        <pc:sldMkLst>
          <pc:docMk/>
          <pc:sldMk cId="1544991744" sldId="263"/>
        </pc:sldMkLst>
        <pc:graphicFrameChg chg="mod">
          <ac:chgData name="Barbour, Kinney L" userId="234f7b74-22d0-43e5-9391-e9a4c1232d9a" providerId="ADAL" clId="{058838B9-0EAB-4E39-B5BE-8C73DE4DB71D}" dt="2026-08-31T16:22:27.092" v="2069" actId="1035"/>
          <ac:graphicFrameMkLst>
            <pc:docMk/>
            <pc:sldMk cId="1544991744" sldId="263"/>
            <ac:graphicFrameMk id="27" creationId="{5A8260D5-6AA9-D2C1-CE5B-005266EC586F}"/>
          </ac:graphicFrameMkLst>
        </pc:graphicFrameChg>
      </pc:sldChg>
      <pc:sldChg chg="addSp modSp mod">
        <pc:chgData name="Barbour, Kinney L" userId="234f7b74-22d0-43e5-9391-e9a4c1232d9a" providerId="ADAL" clId="{058838B9-0EAB-4E39-B5BE-8C73DE4DB71D}" dt="2026-08-31T06:07:45.953" v="1987" actId="1037"/>
        <pc:sldMkLst>
          <pc:docMk/>
          <pc:sldMk cId="4051436487" sldId="271"/>
        </pc:sldMkLst>
        <pc:spChg chg="add mod">
          <ac:chgData name="Barbour, Kinney L" userId="234f7b74-22d0-43e5-9391-e9a4c1232d9a" providerId="ADAL" clId="{058838B9-0EAB-4E39-B5BE-8C73DE4DB71D}" dt="2026-08-31T06:07:45.953" v="1987" actId="1037"/>
          <ac:spMkLst>
            <pc:docMk/>
            <pc:sldMk cId="4051436487" sldId="271"/>
            <ac:spMk id="4" creationId="{993AED9A-4D83-CC4A-3094-99E33678723C}"/>
          </ac:spMkLst>
        </pc:spChg>
        <pc:spChg chg="mod">
          <ac:chgData name="Barbour, Kinney L" userId="234f7b74-22d0-43e5-9391-e9a4c1232d9a" providerId="ADAL" clId="{058838B9-0EAB-4E39-B5BE-8C73DE4DB71D}" dt="2026-08-31T06:07:38.390" v="1985" actId="20577"/>
          <ac:spMkLst>
            <pc:docMk/>
            <pc:sldMk cId="4051436487" sldId="271"/>
            <ac:spMk id="5" creationId="{088C6CC7-F1C2-7A00-9457-C8B600543DCA}"/>
          </ac:spMkLst>
        </pc:spChg>
        <pc:graphicFrameChg chg="modGraphic">
          <ac:chgData name="Barbour, Kinney L" userId="234f7b74-22d0-43e5-9391-e9a4c1232d9a" providerId="ADAL" clId="{058838B9-0EAB-4E39-B5BE-8C73DE4DB71D}" dt="2026-08-31T05:48:04.242" v="1786" actId="20577"/>
          <ac:graphicFrameMkLst>
            <pc:docMk/>
            <pc:sldMk cId="4051436487" sldId="271"/>
            <ac:graphicFrameMk id="11" creationId="{9823D7A4-0B58-1F21-CEF5-419A9AD69829}"/>
          </ac:graphicFrameMkLst>
        </pc:graphicFrameChg>
        <pc:graphicFrameChg chg="modGraphic">
          <ac:chgData name="Barbour, Kinney L" userId="234f7b74-22d0-43e5-9391-e9a4c1232d9a" providerId="ADAL" clId="{058838B9-0EAB-4E39-B5BE-8C73DE4DB71D}" dt="2026-08-31T06:05:22.897" v="1809" actId="20577"/>
          <ac:graphicFrameMkLst>
            <pc:docMk/>
            <pc:sldMk cId="4051436487" sldId="271"/>
            <ac:graphicFrameMk id="27" creationId="{F0090F6F-196A-9CC3-8F2A-1C1FC90914CE}"/>
          </ac:graphicFrameMkLst>
        </pc:graphicFrameChg>
      </pc:sldChg>
      <pc:sldChg chg="addSp delSp modSp mod">
        <pc:chgData name="Barbour, Kinney L" userId="234f7b74-22d0-43e5-9391-e9a4c1232d9a" providerId="ADAL" clId="{058838B9-0EAB-4E39-B5BE-8C73DE4DB71D}" dt="2026-08-31T16:24:23.004" v="2082" actId="207"/>
        <pc:sldMkLst>
          <pc:docMk/>
          <pc:sldMk cId="2020313600" sldId="2147481515"/>
        </pc:sldMkLst>
        <pc:spChg chg="mod">
          <ac:chgData name="Barbour, Kinney L" userId="234f7b74-22d0-43e5-9391-e9a4c1232d9a" providerId="ADAL" clId="{058838B9-0EAB-4E39-B5BE-8C73DE4DB71D}" dt="2026-08-31T16:22:51.778" v="2079" actId="113"/>
          <ac:spMkLst>
            <pc:docMk/>
            <pc:sldMk cId="2020313600" sldId="2147481515"/>
            <ac:spMk id="5" creationId="{44D2CC87-946C-19E5-8C22-504B3023D9E1}"/>
          </ac:spMkLst>
        </pc:spChg>
        <pc:spChg chg="add del mod">
          <ac:chgData name="Barbour, Kinney L" userId="234f7b74-22d0-43e5-9391-e9a4c1232d9a" providerId="ADAL" clId="{058838B9-0EAB-4E39-B5BE-8C73DE4DB71D}" dt="2026-08-31T16:16:41.262" v="1988" actId="478"/>
          <ac:spMkLst>
            <pc:docMk/>
            <pc:sldMk cId="2020313600" sldId="2147481515"/>
            <ac:spMk id="7" creationId="{BF6BA3CF-4417-3F51-0CBE-05EA12165055}"/>
          </ac:spMkLst>
        </pc:spChg>
        <pc:spChg chg="add mod">
          <ac:chgData name="Barbour, Kinney L" userId="234f7b74-22d0-43e5-9391-e9a4c1232d9a" providerId="ADAL" clId="{058838B9-0EAB-4E39-B5BE-8C73DE4DB71D}" dt="2026-08-31T04:14:50.438" v="1037" actId="1037"/>
          <ac:spMkLst>
            <pc:docMk/>
            <pc:sldMk cId="2020313600" sldId="2147481515"/>
            <ac:spMk id="13" creationId="{EA0F6BD0-59DB-0A0F-76E1-97E5A5B9C6F1}"/>
          </ac:spMkLst>
        </pc:spChg>
        <pc:spChg chg="add mod">
          <ac:chgData name="Barbour, Kinney L" userId="234f7b74-22d0-43e5-9391-e9a4c1232d9a" providerId="ADAL" clId="{058838B9-0EAB-4E39-B5BE-8C73DE4DB71D}" dt="2026-08-31T04:16:24.116" v="1086" actId="1038"/>
          <ac:spMkLst>
            <pc:docMk/>
            <pc:sldMk cId="2020313600" sldId="2147481515"/>
            <ac:spMk id="16" creationId="{B439E336-AA0F-2C83-AADE-D33F6877E3AC}"/>
          </ac:spMkLst>
        </pc:spChg>
        <pc:spChg chg="add mod">
          <ac:chgData name="Barbour, Kinney L" userId="234f7b74-22d0-43e5-9391-e9a4c1232d9a" providerId="ADAL" clId="{058838B9-0EAB-4E39-B5BE-8C73DE4DB71D}" dt="2026-08-31T16:17:24.660" v="2054" actId="1036"/>
          <ac:spMkLst>
            <pc:docMk/>
            <pc:sldMk cId="2020313600" sldId="2147481515"/>
            <ac:spMk id="19" creationId="{E487A275-27B5-5CC9-5C21-FBCF0507008E}"/>
          </ac:spMkLst>
        </pc:spChg>
        <pc:spChg chg="del">
          <ac:chgData name="Barbour, Kinney L" userId="234f7b74-22d0-43e5-9391-e9a4c1232d9a" providerId="ADAL" clId="{058838B9-0EAB-4E39-B5BE-8C73DE4DB71D}" dt="2026-08-31T04:16:10.633" v="1045" actId="478"/>
          <ac:spMkLst>
            <pc:docMk/>
            <pc:sldMk cId="2020313600" sldId="2147481515"/>
            <ac:spMk id="24" creationId="{E4A31DFD-8F4C-C7DA-1421-0B240B30ABBA}"/>
          </ac:spMkLst>
        </pc:spChg>
        <pc:graphicFrameChg chg="modGraphic">
          <ac:chgData name="Barbour, Kinney L" userId="234f7b74-22d0-43e5-9391-e9a4c1232d9a" providerId="ADAL" clId="{058838B9-0EAB-4E39-B5BE-8C73DE4DB71D}" dt="2026-08-31T04:00:23.044" v="1" actId="20577"/>
          <ac:graphicFrameMkLst>
            <pc:docMk/>
            <pc:sldMk cId="2020313600" sldId="2147481515"/>
            <ac:graphicFrameMk id="11" creationId="{BFC921B7-8473-F0B2-DE79-1DD183682645}"/>
          </ac:graphicFrameMkLst>
        </pc:graphicFrameChg>
        <pc:graphicFrameChg chg="modGraphic">
          <ac:chgData name="Barbour, Kinney L" userId="234f7b74-22d0-43e5-9391-e9a4c1232d9a" providerId="ADAL" clId="{058838B9-0EAB-4E39-B5BE-8C73DE4DB71D}" dt="2026-08-31T16:24:23.004" v="2082" actId="207"/>
          <ac:graphicFrameMkLst>
            <pc:docMk/>
            <pc:sldMk cId="2020313600" sldId="2147481515"/>
            <ac:graphicFrameMk id="27" creationId="{BA723C90-E347-BE4F-2081-3B1F7E848FD7}"/>
          </ac:graphicFrameMkLst>
        </pc:graphicFrameChg>
        <pc:graphicFrameChg chg="modGraphic">
          <ac:chgData name="Barbour, Kinney L" userId="234f7b74-22d0-43e5-9391-e9a4c1232d9a" providerId="ADAL" clId="{058838B9-0EAB-4E39-B5BE-8C73DE4DB71D}" dt="2026-08-31T04:17:04.268" v="1214" actId="20577"/>
          <ac:graphicFrameMkLst>
            <pc:docMk/>
            <pc:sldMk cId="2020313600" sldId="2147481515"/>
            <ac:graphicFrameMk id="29" creationId="{4CB587BE-A2EE-21D7-2123-1DAB04D6EF69}"/>
          </ac:graphicFrameMkLst>
        </pc:graphicFrameChg>
      </pc:sldChg>
      <pc:sldChg chg="addSp modSp mod">
        <pc:chgData name="Barbour, Kinney L" userId="234f7b74-22d0-43e5-9391-e9a4c1232d9a" providerId="ADAL" clId="{058838B9-0EAB-4E39-B5BE-8C73DE4DB71D}" dt="2026-08-31T05:38:10.802" v="1784" actId="20577"/>
        <pc:sldMkLst>
          <pc:docMk/>
          <pc:sldMk cId="3130499962" sldId="2147481533"/>
        </pc:sldMkLst>
        <pc:spChg chg="mod">
          <ac:chgData name="Barbour, Kinney L" userId="234f7b74-22d0-43e5-9391-e9a4c1232d9a" providerId="ADAL" clId="{058838B9-0EAB-4E39-B5BE-8C73DE4DB71D}" dt="2026-08-31T05:38:10.802" v="1784" actId="20577"/>
          <ac:spMkLst>
            <pc:docMk/>
            <pc:sldMk cId="3130499962" sldId="2147481533"/>
            <ac:spMk id="5" creationId="{44D2CC87-946C-19E5-8C22-504B3023D9E1}"/>
          </ac:spMkLst>
        </pc:spChg>
        <pc:spChg chg="mod">
          <ac:chgData name="Barbour, Kinney L" userId="234f7b74-22d0-43e5-9391-e9a4c1232d9a" providerId="ADAL" clId="{058838B9-0EAB-4E39-B5BE-8C73DE4DB71D}" dt="2026-08-31T05:36:26.401" v="1639" actId="1036"/>
          <ac:spMkLst>
            <pc:docMk/>
            <pc:sldMk cId="3130499962" sldId="2147481533"/>
            <ac:spMk id="6" creationId="{054CED19-284D-2BB1-FC86-F1A6B873A0C8}"/>
          </ac:spMkLst>
        </pc:spChg>
        <pc:spChg chg="add mod">
          <ac:chgData name="Barbour, Kinney L" userId="234f7b74-22d0-43e5-9391-e9a4c1232d9a" providerId="ADAL" clId="{058838B9-0EAB-4E39-B5BE-8C73DE4DB71D}" dt="2026-08-31T05:36:20.952" v="1637" actId="1035"/>
          <ac:spMkLst>
            <pc:docMk/>
            <pc:sldMk cId="3130499962" sldId="2147481533"/>
            <ac:spMk id="8" creationId="{D6B10479-BDA0-7940-6036-FFE648399DF1}"/>
          </ac:spMkLst>
        </pc:spChg>
        <pc:graphicFrameChg chg="modGraphic">
          <ac:chgData name="Barbour, Kinney L" userId="234f7b74-22d0-43e5-9391-e9a4c1232d9a" providerId="ADAL" clId="{058838B9-0EAB-4E39-B5BE-8C73DE4DB71D}" dt="2026-08-31T05:24:31.665" v="1378" actId="20577"/>
          <ac:graphicFrameMkLst>
            <pc:docMk/>
            <pc:sldMk cId="3130499962" sldId="2147481533"/>
            <ac:graphicFrameMk id="11" creationId="{BFC921B7-8473-F0B2-DE79-1DD183682645}"/>
          </ac:graphicFrameMkLst>
        </pc:graphicFrameChg>
        <pc:graphicFrameChg chg="modGraphic">
          <ac:chgData name="Barbour, Kinney L" userId="234f7b74-22d0-43e5-9391-e9a4c1232d9a" providerId="ADAL" clId="{058838B9-0EAB-4E39-B5BE-8C73DE4DB71D}" dt="2026-08-31T05:33:44.140" v="1583" actId="20577"/>
          <ac:graphicFrameMkLst>
            <pc:docMk/>
            <pc:sldMk cId="3130499962" sldId="2147481533"/>
            <ac:graphicFrameMk id="26" creationId="{F652D2C5-410F-BAFF-DE54-F0ED0E9CD5D4}"/>
          </ac:graphicFrameMkLst>
        </pc:graphicFrameChg>
        <pc:graphicFrameChg chg="mod modGraphic">
          <ac:chgData name="Barbour, Kinney L" userId="234f7b74-22d0-43e5-9391-e9a4c1232d9a" providerId="ADAL" clId="{058838B9-0EAB-4E39-B5BE-8C73DE4DB71D}" dt="2026-08-31T05:36:08.922" v="1599" actId="20577"/>
          <ac:graphicFrameMkLst>
            <pc:docMk/>
            <pc:sldMk cId="3130499962" sldId="2147481533"/>
            <ac:graphicFrameMk id="27" creationId="{BA723C90-E347-BE4F-2081-3B1F7E848FD7}"/>
          </ac:graphicFrameMkLst>
        </pc:graphicFrameChg>
      </pc:sldChg>
      <pc:sldChg chg="modSp mod">
        <pc:chgData name="Barbour, Kinney L" userId="234f7b74-22d0-43e5-9391-e9a4c1232d9a" providerId="ADAL" clId="{058838B9-0EAB-4E39-B5BE-8C73DE4DB71D}" dt="2026-08-31T05:24:12.295" v="1376" actId="20577"/>
        <pc:sldMkLst>
          <pc:docMk/>
          <pc:sldMk cId="4091982537" sldId="2147481534"/>
        </pc:sldMkLst>
        <pc:spChg chg="mod">
          <ac:chgData name="Barbour, Kinney L" userId="234f7b74-22d0-43e5-9391-e9a4c1232d9a" providerId="ADAL" clId="{058838B9-0EAB-4E39-B5BE-8C73DE4DB71D}" dt="2026-08-31T05:24:12.295" v="1376" actId="20577"/>
          <ac:spMkLst>
            <pc:docMk/>
            <pc:sldMk cId="4091982537" sldId="2147481534"/>
            <ac:spMk id="5" creationId="{44D2CC87-946C-19E5-8C22-504B3023D9E1}"/>
          </ac:spMkLst>
        </pc:spChg>
        <pc:graphicFrameChg chg="modGraphic">
          <ac:chgData name="Barbour, Kinney L" userId="234f7b74-22d0-43e5-9391-e9a4c1232d9a" providerId="ADAL" clId="{058838B9-0EAB-4E39-B5BE-8C73DE4DB71D}" dt="2026-08-31T05:00:32.457" v="1216" actId="20577"/>
          <ac:graphicFrameMkLst>
            <pc:docMk/>
            <pc:sldMk cId="4091982537" sldId="2147481534"/>
            <ac:graphicFrameMk id="11" creationId="{BFC921B7-8473-F0B2-DE79-1DD183682645}"/>
          </ac:graphicFrameMkLst>
        </pc:graphicFrameChg>
      </pc:sldChg>
    </pc:docChg>
  </pc:docChgLst>
  <pc:docChgLst>
    <pc:chgData name="KOTHANDARAMAN, REKHA" userId="a97aa649-ebf2-4523-a6ef-d1dc0a0899cd" providerId="ADAL" clId="{D8F2733C-3F1C-4AF8-A0B2-6F65C4A075D9}"/>
    <pc:docChg chg="undo custSel modSld">
      <pc:chgData name="KOTHANDARAMAN, REKHA" userId="a97aa649-ebf2-4523-a6ef-d1dc0a0899cd" providerId="ADAL" clId="{D8F2733C-3F1C-4AF8-A0B2-6F65C4A075D9}" dt="2026-09-01T17:22:55.576" v="341" actId="20577"/>
      <pc:docMkLst>
        <pc:docMk/>
      </pc:docMkLst>
      <pc:sldChg chg="addSp delSp modSp mod">
        <pc:chgData name="KOTHANDARAMAN, REKHA" userId="a97aa649-ebf2-4523-a6ef-d1dc0a0899cd" providerId="ADAL" clId="{D8F2733C-3F1C-4AF8-A0B2-6F65C4A075D9}" dt="2026-08-31T14:11:37.948" v="249" actId="20577"/>
        <pc:sldMkLst>
          <pc:docMk/>
          <pc:sldMk cId="1544991744" sldId="263"/>
        </pc:sldMkLst>
        <pc:spChg chg="mod">
          <ac:chgData name="KOTHANDARAMAN, REKHA" userId="a97aa649-ebf2-4523-a6ef-d1dc0a0899cd" providerId="ADAL" clId="{D8F2733C-3F1C-4AF8-A0B2-6F65C4A075D9}" dt="2026-08-31T12:38:52.848" v="241" actId="20577"/>
          <ac:spMkLst>
            <pc:docMk/>
            <pc:sldMk cId="1544991744" sldId="263"/>
            <ac:spMk id="5" creationId="{2413875C-412C-45CD-14CA-650C16441BEA}"/>
          </ac:spMkLst>
        </pc:spChg>
        <pc:spChg chg="del">
          <ac:chgData name="KOTHANDARAMAN, REKHA" userId="a97aa649-ebf2-4523-a6ef-d1dc0a0899cd" providerId="ADAL" clId="{D8F2733C-3F1C-4AF8-A0B2-6F65C4A075D9}" dt="2026-08-31T12:35:50.718" v="22" actId="478"/>
          <ac:spMkLst>
            <pc:docMk/>
            <pc:sldMk cId="1544991744" sldId="263"/>
            <ac:spMk id="10" creationId="{A00606BF-1141-312B-4D8D-F681AC9B91BE}"/>
          </ac:spMkLst>
        </pc:spChg>
        <pc:spChg chg="add mod">
          <ac:chgData name="KOTHANDARAMAN, REKHA" userId="a97aa649-ebf2-4523-a6ef-d1dc0a0899cd" providerId="ADAL" clId="{D8F2733C-3F1C-4AF8-A0B2-6F65C4A075D9}" dt="2026-08-31T12:37:15.224" v="130" actId="1076"/>
          <ac:spMkLst>
            <pc:docMk/>
            <pc:sldMk cId="1544991744" sldId="263"/>
            <ac:spMk id="12" creationId="{091B87F4-3295-574B-DBB3-7CE804FD63F3}"/>
          </ac:spMkLst>
        </pc:spChg>
        <pc:graphicFrameChg chg="modGraphic">
          <ac:chgData name="KOTHANDARAMAN, REKHA" userId="a97aa649-ebf2-4523-a6ef-d1dc0a0899cd" providerId="ADAL" clId="{D8F2733C-3F1C-4AF8-A0B2-6F65C4A075D9}" dt="2026-08-31T14:11:37.948" v="249" actId="20577"/>
          <ac:graphicFrameMkLst>
            <pc:docMk/>
            <pc:sldMk cId="1544991744" sldId="263"/>
            <ac:graphicFrameMk id="11" creationId="{05C32E88-CCBE-B044-767A-2F65F050CBDB}"/>
          </ac:graphicFrameMkLst>
        </pc:graphicFrameChg>
        <pc:graphicFrameChg chg="modGraphic">
          <ac:chgData name="KOTHANDARAMAN, REKHA" userId="a97aa649-ebf2-4523-a6ef-d1dc0a0899cd" providerId="ADAL" clId="{D8F2733C-3F1C-4AF8-A0B2-6F65C4A075D9}" dt="2026-08-31T12:35:35.268" v="21" actId="20577"/>
          <ac:graphicFrameMkLst>
            <pc:docMk/>
            <pc:sldMk cId="1544991744" sldId="263"/>
            <ac:graphicFrameMk id="14" creationId="{67039604-CAFB-9C58-F0B7-F5FBDDBE4895}"/>
          </ac:graphicFrameMkLst>
        </pc:graphicFrameChg>
        <pc:graphicFrameChg chg="modGraphic">
          <ac:chgData name="KOTHANDARAMAN, REKHA" userId="a97aa649-ebf2-4523-a6ef-d1dc0a0899cd" providerId="ADAL" clId="{D8F2733C-3F1C-4AF8-A0B2-6F65C4A075D9}" dt="2026-08-31T12:34:52.661" v="6" actId="20577"/>
          <ac:graphicFrameMkLst>
            <pc:docMk/>
            <pc:sldMk cId="1544991744" sldId="263"/>
            <ac:graphicFrameMk id="27" creationId="{5A8260D5-6AA9-D2C1-CE5B-005266EC586F}"/>
          </ac:graphicFrameMkLst>
        </pc:graphicFrameChg>
        <pc:graphicFrameChg chg="mod modGraphic">
          <ac:chgData name="KOTHANDARAMAN, REKHA" userId="a97aa649-ebf2-4523-a6ef-d1dc0a0899cd" providerId="ADAL" clId="{D8F2733C-3F1C-4AF8-A0B2-6F65C4A075D9}" dt="2026-08-31T12:37:32.978" v="177" actId="20577"/>
          <ac:graphicFrameMkLst>
            <pc:docMk/>
            <pc:sldMk cId="1544991744" sldId="263"/>
            <ac:graphicFrameMk id="29" creationId="{97C636B1-8A8C-80E1-F679-341FF24354AC}"/>
          </ac:graphicFrameMkLst>
        </pc:graphicFrameChg>
      </pc:sldChg>
      <pc:sldChg chg="modSp mod">
        <pc:chgData name="KOTHANDARAMAN, REKHA" userId="a97aa649-ebf2-4523-a6ef-d1dc0a0899cd" providerId="ADAL" clId="{D8F2733C-3F1C-4AF8-A0B2-6F65C4A075D9}" dt="2026-08-31T14:15:56.857" v="271" actId="20577"/>
        <pc:sldMkLst>
          <pc:docMk/>
          <pc:sldMk cId="3926367795" sldId="269"/>
        </pc:sldMkLst>
        <pc:graphicFrameChg chg="modGraphic">
          <ac:chgData name="KOTHANDARAMAN, REKHA" userId="a97aa649-ebf2-4523-a6ef-d1dc0a0899cd" providerId="ADAL" clId="{D8F2733C-3F1C-4AF8-A0B2-6F65C4A075D9}" dt="2026-08-31T14:15:56.857" v="271" actId="20577"/>
          <ac:graphicFrameMkLst>
            <pc:docMk/>
            <pc:sldMk cId="3926367795" sldId="269"/>
            <ac:graphicFrameMk id="11" creationId="{02FE6EE0-C3DE-5674-5BEA-500C6EAF38E4}"/>
          </ac:graphicFrameMkLst>
        </pc:graphicFrameChg>
      </pc:sldChg>
      <pc:sldChg chg="addSp modSp mod">
        <pc:chgData name="KOTHANDARAMAN, REKHA" userId="a97aa649-ebf2-4523-a6ef-d1dc0a0899cd" providerId="ADAL" clId="{D8F2733C-3F1C-4AF8-A0B2-6F65C4A075D9}" dt="2026-09-01T17:22:55.576" v="341" actId="20577"/>
        <pc:sldMkLst>
          <pc:docMk/>
          <pc:sldMk cId="1951027285" sldId="2147481535"/>
        </pc:sldMkLst>
        <pc:spChg chg="mod">
          <ac:chgData name="KOTHANDARAMAN, REKHA" userId="a97aa649-ebf2-4523-a6ef-d1dc0a0899cd" providerId="ADAL" clId="{D8F2733C-3F1C-4AF8-A0B2-6F65C4A075D9}" dt="2026-09-01T17:22:55.576" v="341" actId="20577"/>
          <ac:spMkLst>
            <pc:docMk/>
            <pc:sldMk cId="1951027285" sldId="2147481535"/>
            <ac:spMk id="5" creationId="{9CF267F8-A813-2A8A-80BA-D57979259D65}"/>
          </ac:spMkLst>
        </pc:spChg>
        <pc:spChg chg="mod">
          <ac:chgData name="KOTHANDARAMAN, REKHA" userId="a97aa649-ebf2-4523-a6ef-d1dc0a0899cd" providerId="ADAL" clId="{D8F2733C-3F1C-4AF8-A0B2-6F65C4A075D9}" dt="2026-08-31T18:17:55.862" v="272" actId="207"/>
          <ac:spMkLst>
            <pc:docMk/>
            <pc:sldMk cId="1951027285" sldId="2147481535"/>
            <ac:spMk id="7" creationId="{3AA18EFD-CC71-4BBD-17C9-0175E2E31F4C}"/>
          </ac:spMkLst>
        </pc:spChg>
        <pc:spChg chg="add mod">
          <ac:chgData name="KOTHANDARAMAN, REKHA" userId="a97aa649-ebf2-4523-a6ef-d1dc0a0899cd" providerId="ADAL" clId="{D8F2733C-3F1C-4AF8-A0B2-6F65C4A075D9}" dt="2026-08-31T14:12:40.845" v="255" actId="1076"/>
          <ac:spMkLst>
            <pc:docMk/>
            <pc:sldMk cId="1951027285" sldId="2147481535"/>
            <ac:spMk id="8" creationId="{319BD5A3-A2BD-6693-9F1F-9701AE1F1CE5}"/>
          </ac:spMkLst>
        </pc:spChg>
        <pc:graphicFrameChg chg="modGraphic">
          <ac:chgData name="KOTHANDARAMAN, REKHA" userId="a97aa649-ebf2-4523-a6ef-d1dc0a0899cd" providerId="ADAL" clId="{D8F2733C-3F1C-4AF8-A0B2-6F65C4A075D9}" dt="2026-08-31T14:11:54.103" v="251" actId="20577"/>
          <ac:graphicFrameMkLst>
            <pc:docMk/>
            <pc:sldMk cId="1951027285" sldId="2147481535"/>
            <ac:graphicFrameMk id="11" creationId="{96B48A6E-42B2-5CB0-E03F-4B0E19FF399D}"/>
          </ac:graphicFrameMkLst>
        </pc:graphicFrameChg>
        <pc:graphicFrameChg chg="modGraphic">
          <ac:chgData name="KOTHANDARAMAN, REKHA" userId="a97aa649-ebf2-4523-a6ef-d1dc0a0899cd" providerId="ADAL" clId="{D8F2733C-3F1C-4AF8-A0B2-6F65C4A075D9}" dt="2026-08-31T18:18:33.534" v="276" actId="20577"/>
          <ac:graphicFrameMkLst>
            <pc:docMk/>
            <pc:sldMk cId="1951027285" sldId="2147481535"/>
            <ac:graphicFrameMk id="27" creationId="{2C57617B-5240-4A92-8E6E-E8AC2E98E524}"/>
          </ac:graphicFrameMkLst>
        </pc:graphicFrameChg>
        <pc:graphicFrameChg chg="modGraphic">
          <ac:chgData name="KOTHANDARAMAN, REKHA" userId="a97aa649-ebf2-4523-a6ef-d1dc0a0899cd" providerId="ADAL" clId="{D8F2733C-3F1C-4AF8-A0B2-6F65C4A075D9}" dt="2026-08-31T18:18:36.977" v="280" actId="20577"/>
          <ac:graphicFrameMkLst>
            <pc:docMk/>
            <pc:sldMk cId="1951027285" sldId="2147481535"/>
            <ac:graphicFrameMk id="29" creationId="{65ECEA24-33AC-8F63-937D-BAEA60CE9D03}"/>
          </ac:graphicFrameMkLst>
        </pc:graphicFrameChg>
      </pc:sldChg>
    </pc:docChg>
  </pc:docChgLst>
  <pc:docChgLst>
    <pc:chgData name="Kulkarni, Shilpa S" userId="62812126-48b0-4ef8-a563-9f7efee3cd75" providerId="ADAL" clId="{2283985A-9C32-4E95-9E98-9E1D9ED4DACD}"/>
    <pc:docChg chg="undo custSel addSld delSld modSld sldOrd">
      <pc:chgData name="Kulkarni, Shilpa S" userId="62812126-48b0-4ef8-a563-9f7efee3cd75" providerId="ADAL" clId="{2283985A-9C32-4E95-9E98-9E1D9ED4DACD}" dt="2026-08-31T19:19:25.992" v="1396" actId="20577"/>
      <pc:docMkLst>
        <pc:docMk/>
      </pc:docMkLst>
      <pc:sldChg chg="delSp modSp mod ord">
        <pc:chgData name="Kulkarni, Shilpa S" userId="62812126-48b0-4ef8-a563-9f7efee3cd75" providerId="ADAL" clId="{2283985A-9C32-4E95-9E98-9E1D9ED4DACD}" dt="2026-08-31T15:17:54.478" v="1342"/>
        <pc:sldMkLst>
          <pc:docMk/>
          <pc:sldMk cId="2326296687" sldId="260"/>
        </pc:sldMkLst>
        <pc:spChg chg="del">
          <ac:chgData name="Kulkarni, Shilpa S" userId="62812126-48b0-4ef8-a563-9f7efee3cd75" providerId="ADAL" clId="{2283985A-9C32-4E95-9E98-9E1D9ED4DACD}" dt="2026-08-31T15:16:46.486" v="1334" actId="478"/>
          <ac:spMkLst>
            <pc:docMk/>
            <pc:sldMk cId="2326296687" sldId="260"/>
            <ac:spMk id="4" creationId="{CF9EB78A-888C-D5D6-7DC0-9D12DF74A205}"/>
          </ac:spMkLst>
        </pc:spChg>
        <pc:spChg chg="del">
          <ac:chgData name="Kulkarni, Shilpa S" userId="62812126-48b0-4ef8-a563-9f7efee3cd75" providerId="ADAL" clId="{2283985A-9C32-4E95-9E98-9E1D9ED4DACD}" dt="2026-08-31T15:15:38.805" v="1291" actId="478"/>
          <ac:spMkLst>
            <pc:docMk/>
            <pc:sldMk cId="2326296687" sldId="260"/>
            <ac:spMk id="6" creationId="{C672AE20-E488-F5F9-FC1C-9CFE0F7154D8}"/>
          </ac:spMkLst>
        </pc:spChg>
        <pc:spChg chg="mod">
          <ac:chgData name="Kulkarni, Shilpa S" userId="62812126-48b0-4ef8-a563-9f7efee3cd75" providerId="ADAL" clId="{2283985A-9C32-4E95-9E98-9E1D9ED4DACD}" dt="2026-08-31T15:13:22.821" v="1286" actId="20577"/>
          <ac:spMkLst>
            <pc:docMk/>
            <pc:sldMk cId="2326296687" sldId="260"/>
            <ac:spMk id="7" creationId="{9D0FEF97-B29D-D759-41E3-5A1ABB688774}"/>
          </ac:spMkLst>
        </pc:spChg>
        <pc:spChg chg="del">
          <ac:chgData name="Kulkarni, Shilpa S" userId="62812126-48b0-4ef8-a563-9f7efee3cd75" providerId="ADAL" clId="{2283985A-9C32-4E95-9E98-9E1D9ED4DACD}" dt="2026-08-31T15:16:20.755" v="1303" actId="478"/>
          <ac:spMkLst>
            <pc:docMk/>
            <pc:sldMk cId="2326296687" sldId="260"/>
            <ac:spMk id="15" creationId="{01342C4E-6E2A-52CB-1B0B-DF0C0E515E12}"/>
          </ac:spMkLst>
        </pc:spChg>
        <pc:spChg chg="del mod">
          <ac:chgData name="Kulkarni, Shilpa S" userId="62812126-48b0-4ef8-a563-9f7efee3cd75" providerId="ADAL" clId="{2283985A-9C32-4E95-9E98-9E1D9ED4DACD}" dt="2026-08-31T15:16:00.452" v="1295" actId="478"/>
          <ac:spMkLst>
            <pc:docMk/>
            <pc:sldMk cId="2326296687" sldId="260"/>
            <ac:spMk id="16" creationId="{E8B5D0B4-9531-CCA9-C39B-9F6439003998}"/>
          </ac:spMkLst>
        </pc:spChg>
        <pc:spChg chg="mod">
          <ac:chgData name="Kulkarni, Shilpa S" userId="62812126-48b0-4ef8-a563-9f7efee3cd75" providerId="ADAL" clId="{2283985A-9C32-4E95-9E98-9E1D9ED4DACD}" dt="2026-08-31T15:10:17.590" v="917" actId="207"/>
          <ac:spMkLst>
            <pc:docMk/>
            <pc:sldMk cId="2326296687" sldId="260"/>
            <ac:spMk id="43" creationId="{75341414-1A4A-3126-0099-EC5572517736}"/>
          </ac:spMkLst>
        </pc:spChg>
        <pc:spChg chg="mod">
          <ac:chgData name="Kulkarni, Shilpa S" userId="62812126-48b0-4ef8-a563-9f7efee3cd75" providerId="ADAL" clId="{2283985A-9C32-4E95-9E98-9E1D9ED4DACD}" dt="2026-08-31T15:10:21.027" v="918" actId="207"/>
          <ac:spMkLst>
            <pc:docMk/>
            <pc:sldMk cId="2326296687" sldId="260"/>
            <ac:spMk id="45" creationId="{E02BC160-6FBB-86DF-3F67-53B7D4E924D2}"/>
          </ac:spMkLst>
        </pc:spChg>
        <pc:spChg chg="mod">
          <ac:chgData name="Kulkarni, Shilpa S" userId="62812126-48b0-4ef8-a563-9f7efee3cd75" providerId="ADAL" clId="{2283985A-9C32-4E95-9E98-9E1D9ED4DACD}" dt="2026-08-31T15:10:28.246" v="920" actId="207"/>
          <ac:spMkLst>
            <pc:docMk/>
            <pc:sldMk cId="2326296687" sldId="260"/>
            <ac:spMk id="46" creationId="{E00E7B6C-FE3F-B54C-5BD3-8532E264FBBF}"/>
          </ac:spMkLst>
        </pc:spChg>
        <pc:graphicFrameChg chg="modGraphic">
          <ac:chgData name="Kulkarni, Shilpa S" userId="62812126-48b0-4ef8-a563-9f7efee3cd75" providerId="ADAL" clId="{2283985A-9C32-4E95-9E98-9E1D9ED4DACD}" dt="2026-08-31T15:08:30.600" v="910" actId="20577"/>
          <ac:graphicFrameMkLst>
            <pc:docMk/>
            <pc:sldMk cId="2326296687" sldId="260"/>
            <ac:graphicFrameMk id="11" creationId="{6CC5F58E-A991-87FE-D9F2-82B46BEA4524}"/>
          </ac:graphicFrameMkLst>
        </pc:graphicFrameChg>
        <pc:graphicFrameChg chg="modGraphic">
          <ac:chgData name="Kulkarni, Shilpa S" userId="62812126-48b0-4ef8-a563-9f7efee3cd75" providerId="ADAL" clId="{2283985A-9C32-4E95-9E98-9E1D9ED4DACD}" dt="2026-08-31T15:16:38.102" v="1332" actId="20577"/>
          <ac:graphicFrameMkLst>
            <pc:docMk/>
            <pc:sldMk cId="2326296687" sldId="260"/>
            <ac:graphicFrameMk id="27" creationId="{74A1B11F-D949-5ACA-C2EE-3141CC644E65}"/>
          </ac:graphicFrameMkLst>
        </pc:graphicFrameChg>
        <pc:graphicFrameChg chg="modGraphic">
          <ac:chgData name="Kulkarni, Shilpa S" userId="62812126-48b0-4ef8-a563-9f7efee3cd75" providerId="ADAL" clId="{2283985A-9C32-4E95-9E98-9E1D9ED4DACD}" dt="2026-08-31T15:16:49.860" v="1336" actId="6549"/>
          <ac:graphicFrameMkLst>
            <pc:docMk/>
            <pc:sldMk cId="2326296687" sldId="260"/>
            <ac:graphicFrameMk id="29" creationId="{E3EA374E-339A-1A7D-4498-924BCC19BB9F}"/>
          </ac:graphicFrameMkLst>
        </pc:graphicFrameChg>
      </pc:sldChg>
      <pc:sldChg chg="modSp mod ord">
        <pc:chgData name="Kulkarni, Shilpa S" userId="62812126-48b0-4ef8-a563-9f7efee3cd75" providerId="ADAL" clId="{2283985A-9C32-4E95-9E98-9E1D9ED4DACD}" dt="2026-08-31T15:17:43.454" v="1340"/>
        <pc:sldMkLst>
          <pc:docMk/>
          <pc:sldMk cId="1508035027" sldId="268"/>
        </pc:sldMkLst>
        <pc:spChg chg="mod">
          <ac:chgData name="Kulkarni, Shilpa S" userId="62812126-48b0-4ef8-a563-9f7efee3cd75" providerId="ADAL" clId="{2283985A-9C32-4E95-9E98-9E1D9ED4DACD}" dt="2026-08-31T15:07:13.344" v="896" actId="6549"/>
          <ac:spMkLst>
            <pc:docMk/>
            <pc:sldMk cId="1508035027" sldId="268"/>
            <ac:spMk id="5" creationId="{C256E7D1-9DFA-78F9-DC3F-DFA6FA949111}"/>
          </ac:spMkLst>
        </pc:spChg>
        <pc:spChg chg="mod">
          <ac:chgData name="Kulkarni, Shilpa S" userId="62812126-48b0-4ef8-a563-9f7efee3cd75" providerId="ADAL" clId="{2283985A-9C32-4E95-9E98-9E1D9ED4DACD}" dt="2026-08-31T15:01:34.939" v="569" actId="207"/>
          <ac:spMkLst>
            <pc:docMk/>
            <pc:sldMk cId="1508035027" sldId="268"/>
            <ac:spMk id="43" creationId="{6C4E2B49-BCE3-F93C-7579-344A2D1134B2}"/>
          </ac:spMkLst>
        </pc:spChg>
        <pc:spChg chg="mod">
          <ac:chgData name="Kulkarni, Shilpa S" userId="62812126-48b0-4ef8-a563-9f7efee3cd75" providerId="ADAL" clId="{2283985A-9C32-4E95-9E98-9E1D9ED4DACD}" dt="2026-08-31T15:01:39.987" v="570" actId="207"/>
          <ac:spMkLst>
            <pc:docMk/>
            <pc:sldMk cId="1508035027" sldId="268"/>
            <ac:spMk id="46" creationId="{4619A858-D367-E434-2EFD-A3175A4E2187}"/>
          </ac:spMkLst>
        </pc:spChg>
        <pc:graphicFrameChg chg="modGraphic">
          <ac:chgData name="Kulkarni, Shilpa S" userId="62812126-48b0-4ef8-a563-9f7efee3cd75" providerId="ADAL" clId="{2283985A-9C32-4E95-9E98-9E1D9ED4DACD}" dt="2026-08-31T14:46:03.067" v="506" actId="20577"/>
          <ac:graphicFrameMkLst>
            <pc:docMk/>
            <pc:sldMk cId="1508035027" sldId="268"/>
            <ac:graphicFrameMk id="11" creationId="{58E1C563-1183-E01F-6A88-FE555CF4697A}"/>
          </ac:graphicFrameMkLst>
        </pc:graphicFrameChg>
        <pc:graphicFrameChg chg="mod modGraphic">
          <ac:chgData name="Kulkarni, Shilpa S" userId="62812126-48b0-4ef8-a563-9f7efee3cd75" providerId="ADAL" clId="{2283985A-9C32-4E95-9E98-9E1D9ED4DACD}" dt="2026-08-31T15:08:01.782" v="908"/>
          <ac:graphicFrameMkLst>
            <pc:docMk/>
            <pc:sldMk cId="1508035027" sldId="268"/>
            <ac:graphicFrameMk id="29" creationId="{BFAC13AF-56D2-699B-D3F0-C2BFE801BB0B}"/>
          </ac:graphicFrameMkLst>
        </pc:graphicFrameChg>
      </pc:sldChg>
      <pc:sldChg chg="delSp modSp add mod ord">
        <pc:chgData name="Kulkarni, Shilpa S" userId="62812126-48b0-4ef8-a563-9f7efee3cd75" providerId="ADAL" clId="{2283985A-9C32-4E95-9E98-9E1D9ED4DACD}" dt="2026-08-31T19:19:25.992" v="1396" actId="20577"/>
        <pc:sldMkLst>
          <pc:docMk/>
          <pc:sldMk cId="1062081515" sldId="2147481398"/>
        </pc:sldMkLst>
        <pc:spChg chg="del">
          <ac:chgData name="Kulkarni, Shilpa S" userId="62812126-48b0-4ef8-a563-9f7efee3cd75" providerId="ADAL" clId="{2283985A-9C32-4E95-9E98-9E1D9ED4DACD}" dt="2026-08-31T19:19:03.722" v="1390" actId="478"/>
          <ac:spMkLst>
            <pc:docMk/>
            <pc:sldMk cId="1062081515" sldId="2147481398"/>
            <ac:spMk id="38" creationId="{85485111-8FD0-7C66-74CF-850E22CFDCB1}"/>
          </ac:spMkLst>
        </pc:spChg>
        <pc:graphicFrameChg chg="mod modGraphic">
          <ac:chgData name="Kulkarni, Shilpa S" userId="62812126-48b0-4ef8-a563-9f7efee3cd75" providerId="ADAL" clId="{2283985A-9C32-4E95-9E98-9E1D9ED4DACD}" dt="2026-08-31T19:19:25.992" v="1396" actId="20577"/>
          <ac:graphicFrameMkLst>
            <pc:docMk/>
            <pc:sldMk cId="1062081515" sldId="2147481398"/>
            <ac:graphicFrameMk id="29" creationId="{D870955A-3AE4-ED0D-AD65-B23FE058A079}"/>
          </ac:graphicFrameMkLst>
        </pc:graphicFrameChg>
      </pc:sldChg>
      <pc:sldChg chg="delSp modSp mod ord">
        <pc:chgData name="Kulkarni, Shilpa S" userId="62812126-48b0-4ef8-a563-9f7efee3cd75" providerId="ADAL" clId="{2283985A-9C32-4E95-9E98-9E1D9ED4DACD}" dt="2026-08-31T19:03:10.064" v="1366" actId="1076"/>
        <pc:sldMkLst>
          <pc:docMk/>
          <pc:sldMk cId="4183644644" sldId="2147481528"/>
        </pc:sldMkLst>
        <pc:spChg chg="mod">
          <ac:chgData name="Kulkarni, Shilpa S" userId="62812126-48b0-4ef8-a563-9f7efee3cd75" providerId="ADAL" clId="{2283985A-9C32-4E95-9E98-9E1D9ED4DACD}" dt="2026-08-31T19:02:46.949" v="1364" actId="6549"/>
          <ac:spMkLst>
            <pc:docMk/>
            <pc:sldMk cId="4183644644" sldId="2147481528"/>
            <ac:spMk id="5" creationId="{FB12DBC5-FE50-D649-59F3-F5DFE1A04FC0}"/>
          </ac:spMkLst>
        </pc:spChg>
        <pc:spChg chg="mod">
          <ac:chgData name="Kulkarni, Shilpa S" userId="62812126-48b0-4ef8-a563-9f7efee3cd75" providerId="ADAL" clId="{2283985A-9C32-4E95-9E98-9E1D9ED4DACD}" dt="2026-08-31T14:43:59.780" v="503" actId="207"/>
          <ac:spMkLst>
            <pc:docMk/>
            <pc:sldMk cId="4183644644" sldId="2147481528"/>
            <ac:spMk id="6" creationId="{908EA533-E832-FA35-07BE-08B5922DA8D3}"/>
          </ac:spMkLst>
        </pc:spChg>
        <pc:spChg chg="del mod">
          <ac:chgData name="Kulkarni, Shilpa S" userId="62812126-48b0-4ef8-a563-9f7efee3cd75" providerId="ADAL" clId="{2283985A-9C32-4E95-9E98-9E1D9ED4DACD}" dt="2026-08-31T14:42:35.598" v="445" actId="478"/>
          <ac:spMkLst>
            <pc:docMk/>
            <pc:sldMk cId="4183644644" sldId="2147481528"/>
            <ac:spMk id="7" creationId="{68D3D5FB-10A8-C21E-D4B7-4A373747842C}"/>
          </ac:spMkLst>
        </pc:spChg>
        <pc:spChg chg="mod">
          <ac:chgData name="Kulkarni, Shilpa S" userId="62812126-48b0-4ef8-a563-9f7efee3cd75" providerId="ADAL" clId="{2283985A-9C32-4E95-9E98-9E1D9ED4DACD}" dt="2026-08-31T14:30:41.821" v="6" actId="207"/>
          <ac:spMkLst>
            <pc:docMk/>
            <pc:sldMk cId="4183644644" sldId="2147481528"/>
            <ac:spMk id="43" creationId="{98848253-A834-A0DA-B7AB-9189A18713BE}"/>
          </ac:spMkLst>
        </pc:spChg>
        <pc:spChg chg="mod">
          <ac:chgData name="Kulkarni, Shilpa S" userId="62812126-48b0-4ef8-a563-9f7efee3cd75" providerId="ADAL" clId="{2283985A-9C32-4E95-9E98-9E1D9ED4DACD}" dt="2026-08-31T14:30:46.802" v="7" actId="207"/>
          <ac:spMkLst>
            <pc:docMk/>
            <pc:sldMk cId="4183644644" sldId="2147481528"/>
            <ac:spMk id="46" creationId="{2429000E-1D30-8A2E-AD3D-3B2550CEB554}"/>
          </ac:spMkLst>
        </pc:spChg>
        <pc:graphicFrameChg chg="modGraphic">
          <ac:chgData name="Kulkarni, Shilpa S" userId="62812126-48b0-4ef8-a563-9f7efee3cd75" providerId="ADAL" clId="{2283985A-9C32-4E95-9E98-9E1D9ED4DACD}" dt="2026-08-31T14:31:01.568" v="14" actId="20577"/>
          <ac:graphicFrameMkLst>
            <pc:docMk/>
            <pc:sldMk cId="4183644644" sldId="2147481528"/>
            <ac:graphicFrameMk id="11" creationId="{2B686D89-6C93-C803-3900-DD08FBD7BB43}"/>
          </ac:graphicFrameMkLst>
        </pc:graphicFrameChg>
        <pc:graphicFrameChg chg="mod modGraphic">
          <ac:chgData name="Kulkarni, Shilpa S" userId="62812126-48b0-4ef8-a563-9f7efee3cd75" providerId="ADAL" clId="{2283985A-9C32-4E95-9E98-9E1D9ED4DACD}" dt="2026-08-31T19:03:10.064" v="1366" actId="1076"/>
          <ac:graphicFrameMkLst>
            <pc:docMk/>
            <pc:sldMk cId="4183644644" sldId="2147481528"/>
            <ac:graphicFrameMk id="12" creationId="{E921FFFE-697F-3E97-8AFA-4360FF21BDFC}"/>
          </ac:graphicFrameMkLst>
        </pc:graphicFrameChg>
        <pc:graphicFrameChg chg="mod modGraphic">
          <ac:chgData name="Kulkarni, Shilpa S" userId="62812126-48b0-4ef8-a563-9f7efee3cd75" providerId="ADAL" clId="{2283985A-9C32-4E95-9E98-9E1D9ED4DACD}" dt="2026-08-31T14:43:47.795" v="502" actId="14100"/>
          <ac:graphicFrameMkLst>
            <pc:docMk/>
            <pc:sldMk cId="4183644644" sldId="2147481528"/>
            <ac:graphicFrameMk id="27" creationId="{50D303B1-4685-BE6D-5075-97DA9E0010EB}"/>
          </ac:graphicFrameMkLst>
        </pc:graphicFrameChg>
      </pc:sldChg>
    </pc:docChg>
  </pc:docChgLst>
  <pc:docChgLst>
    <pc:chgData name="Kumar, Lalitha M" userId="S::lawsonl7@nationwide.com::befc93b4-711f-4485-8d29-0b724293f635" providerId="AD" clId="Web-{ECFE9C3C-5E40-4AB6-A01D-457B6CF7C111}"/>
    <pc:docChg chg="modSld">
      <pc:chgData name="Kumar, Lalitha M" userId="S::lawsonl7@nationwide.com::befc93b4-711f-4485-8d29-0b724293f635" providerId="AD" clId="Web-{ECFE9C3C-5E40-4AB6-A01D-457B6CF7C111}" dt="2026-08-31T17:15:29.507" v="318" actId="20577"/>
      <pc:docMkLst>
        <pc:docMk/>
      </pc:docMkLst>
      <pc:sldChg chg="addSp delSp modSp">
        <pc:chgData name="Kumar, Lalitha M" userId="S::lawsonl7@nationwide.com::befc93b4-711f-4485-8d29-0b724293f635" providerId="AD" clId="Web-{ECFE9C3C-5E40-4AB6-A01D-457B6CF7C111}" dt="2026-08-31T15:56:26.298" v="207" actId="20577"/>
        <pc:sldMkLst>
          <pc:docMk/>
          <pc:sldMk cId="389740967" sldId="272"/>
        </pc:sldMkLst>
        <pc:spChg chg="mod">
          <ac:chgData name="Kumar, Lalitha M" userId="S::lawsonl7@nationwide.com::befc93b4-711f-4485-8d29-0b724293f635" providerId="AD" clId="Web-{ECFE9C3C-5E40-4AB6-A01D-457B6CF7C111}" dt="2026-08-31T15:55:37.795" v="201" actId="1076"/>
          <ac:spMkLst>
            <pc:docMk/>
            <pc:sldMk cId="389740967" sldId="272"/>
            <ac:spMk id="2" creationId="{9D13CD3E-75EE-5E4F-4ACC-FC68B37D22B7}"/>
          </ac:spMkLst>
        </pc:spChg>
        <pc:spChg chg="mod">
          <ac:chgData name="Kumar, Lalitha M" userId="S::lawsonl7@nationwide.com::befc93b4-711f-4485-8d29-0b724293f635" providerId="AD" clId="Web-{ECFE9C3C-5E40-4AB6-A01D-457B6CF7C111}" dt="2026-08-31T15:56:26.298" v="207" actId="20577"/>
          <ac:spMkLst>
            <pc:docMk/>
            <pc:sldMk cId="389740967" sldId="272"/>
            <ac:spMk id="3" creationId="{7D6393E7-A5C5-6299-0922-80F3C9200BD4}"/>
          </ac:spMkLst>
        </pc:spChg>
        <pc:spChg chg="del mod">
          <ac:chgData name="Kumar, Lalitha M" userId="S::lawsonl7@nationwide.com::befc93b4-711f-4485-8d29-0b724293f635" providerId="AD" clId="Web-{ECFE9C3C-5E40-4AB6-A01D-457B6CF7C111}" dt="2026-08-31T15:45:08.362" v="33"/>
          <ac:spMkLst>
            <pc:docMk/>
            <pc:sldMk cId="389740967" sldId="272"/>
            <ac:spMk id="5" creationId="{B4606014-93A0-82F7-8206-155622D6A918}"/>
          </ac:spMkLst>
        </pc:spChg>
        <pc:spChg chg="add del mod">
          <ac:chgData name="Kumar, Lalitha M" userId="S::lawsonl7@nationwide.com::befc93b4-711f-4485-8d29-0b724293f635" providerId="AD" clId="Web-{ECFE9C3C-5E40-4AB6-A01D-457B6CF7C111}" dt="2026-08-31T15:45:15.035" v="38"/>
          <ac:spMkLst>
            <pc:docMk/>
            <pc:sldMk cId="389740967" sldId="272"/>
            <ac:spMk id="6" creationId="{08A69E21-DD14-EDF4-310D-546061286E9C}"/>
          </ac:spMkLst>
        </pc:spChg>
        <pc:spChg chg="add del mod">
          <ac:chgData name="Kumar, Lalitha M" userId="S::lawsonl7@nationwide.com::befc93b4-711f-4485-8d29-0b724293f635" providerId="AD" clId="Web-{ECFE9C3C-5E40-4AB6-A01D-457B6CF7C111}" dt="2026-08-31T15:45:21.379" v="42"/>
          <ac:spMkLst>
            <pc:docMk/>
            <pc:sldMk cId="389740967" sldId="272"/>
            <ac:spMk id="8" creationId="{C90463A6-9C31-C2A7-D803-BF28186BC151}"/>
          </ac:spMkLst>
        </pc:spChg>
        <pc:spChg chg="del mod">
          <ac:chgData name="Kumar, Lalitha M" userId="S::lawsonl7@nationwide.com::befc93b4-711f-4485-8d29-0b724293f635" providerId="AD" clId="Web-{ECFE9C3C-5E40-4AB6-A01D-457B6CF7C111}" dt="2026-08-31T15:53:21.755" v="182"/>
          <ac:spMkLst>
            <pc:docMk/>
            <pc:sldMk cId="389740967" sldId="272"/>
            <ac:spMk id="10" creationId="{0371E55C-DCB1-187C-E820-A346DE3415B5}"/>
          </ac:spMkLst>
        </pc:spChg>
        <pc:spChg chg="add mod">
          <ac:chgData name="Kumar, Lalitha M" userId="S::lawsonl7@nationwide.com::befc93b4-711f-4485-8d29-0b724293f635" providerId="AD" clId="Web-{ECFE9C3C-5E40-4AB6-A01D-457B6CF7C111}" dt="2026-08-31T15:52:12.922" v="178" actId="20577"/>
          <ac:spMkLst>
            <pc:docMk/>
            <pc:sldMk cId="389740967" sldId="272"/>
            <ac:spMk id="13" creationId="{1EEB6CF7-9C3A-4CFE-AD21-6E389C35C5B3}"/>
          </ac:spMkLst>
        </pc:spChg>
        <pc:graphicFrameChg chg="mod modGraphic">
          <ac:chgData name="Kumar, Lalitha M" userId="S::lawsonl7@nationwide.com::befc93b4-711f-4485-8d29-0b724293f635" providerId="AD" clId="Web-{ECFE9C3C-5E40-4AB6-A01D-457B6CF7C111}" dt="2026-08-31T15:47:45.435" v="87"/>
          <ac:graphicFrameMkLst>
            <pc:docMk/>
            <pc:sldMk cId="389740967" sldId="272"/>
            <ac:graphicFrameMk id="11" creationId="{198007F7-3108-7033-605A-70B4714BBF71}"/>
          </ac:graphicFrameMkLst>
        </pc:graphicFrameChg>
        <pc:graphicFrameChg chg="mod modGraphic">
          <ac:chgData name="Kumar, Lalitha M" userId="S::lawsonl7@nationwide.com::befc93b4-711f-4485-8d29-0b724293f635" providerId="AD" clId="Web-{ECFE9C3C-5E40-4AB6-A01D-457B6CF7C111}" dt="2026-08-31T15:53:26.161" v="184"/>
          <ac:graphicFrameMkLst>
            <pc:docMk/>
            <pc:sldMk cId="389740967" sldId="272"/>
            <ac:graphicFrameMk id="29" creationId="{36FDF05D-3E77-8070-24FD-162F050E1F7F}"/>
          </ac:graphicFrameMkLst>
        </pc:graphicFrameChg>
      </pc:sldChg>
      <pc:sldChg chg="addSp delSp modSp">
        <pc:chgData name="Kumar, Lalitha M" userId="S::lawsonl7@nationwide.com::befc93b4-711f-4485-8d29-0b724293f635" providerId="AD" clId="Web-{ECFE9C3C-5E40-4AB6-A01D-457B6CF7C111}" dt="2026-08-31T16:24:42.381" v="300" actId="20577"/>
        <pc:sldMkLst>
          <pc:docMk/>
          <pc:sldMk cId="3851900764" sldId="273"/>
        </pc:sldMkLst>
        <pc:spChg chg="mod">
          <ac:chgData name="Kumar, Lalitha M" userId="S::lawsonl7@nationwide.com::befc93b4-711f-4485-8d29-0b724293f635" providerId="AD" clId="Web-{ECFE9C3C-5E40-4AB6-A01D-457B6CF7C111}" dt="2026-08-31T15:56:42.753" v="209" actId="1076"/>
          <ac:spMkLst>
            <pc:docMk/>
            <pc:sldMk cId="3851900764" sldId="273"/>
            <ac:spMk id="2" creationId="{06944C50-87FF-FD3B-7AC8-C05E497B603B}"/>
          </ac:spMkLst>
        </pc:spChg>
        <pc:spChg chg="mod">
          <ac:chgData name="Kumar, Lalitha M" userId="S::lawsonl7@nationwide.com::befc93b4-711f-4485-8d29-0b724293f635" providerId="AD" clId="Web-{ECFE9C3C-5E40-4AB6-A01D-457B6CF7C111}" dt="2026-08-31T16:00:16.751" v="213" actId="1076"/>
          <ac:spMkLst>
            <pc:docMk/>
            <pc:sldMk cId="3851900764" sldId="273"/>
            <ac:spMk id="3" creationId="{ABE5E0FB-BFF3-9F96-436D-0AB68FB9B785}"/>
          </ac:spMkLst>
        </pc:spChg>
        <pc:spChg chg="del mod">
          <ac:chgData name="Kumar, Lalitha M" userId="S::lawsonl7@nationwide.com::befc93b4-711f-4485-8d29-0b724293f635" providerId="AD" clId="Web-{ECFE9C3C-5E40-4AB6-A01D-457B6CF7C111}" dt="2026-08-31T15:53:51.678" v="187"/>
          <ac:spMkLst>
            <pc:docMk/>
            <pc:sldMk cId="3851900764" sldId="273"/>
            <ac:spMk id="5" creationId="{31A1BA4E-BCA0-34A7-0E6A-AB36DA717AC2}"/>
          </ac:spMkLst>
        </pc:spChg>
        <pc:spChg chg="add mod">
          <ac:chgData name="Kumar, Lalitha M" userId="S::lawsonl7@nationwide.com::befc93b4-711f-4485-8d29-0b724293f635" providerId="AD" clId="Web-{ECFE9C3C-5E40-4AB6-A01D-457B6CF7C111}" dt="2026-08-31T16:24:42.381" v="300" actId="20577"/>
          <ac:spMkLst>
            <pc:docMk/>
            <pc:sldMk cId="3851900764" sldId="273"/>
            <ac:spMk id="6" creationId="{24D4C3F4-2BC5-01CC-A548-E62174956F8F}"/>
          </ac:spMkLst>
        </pc:spChg>
        <pc:graphicFrameChg chg="mod modGraphic">
          <ac:chgData name="Kumar, Lalitha M" userId="S::lawsonl7@nationwide.com::befc93b4-711f-4485-8d29-0b724293f635" providerId="AD" clId="Web-{ECFE9C3C-5E40-4AB6-A01D-457B6CF7C111}" dt="2026-08-31T15:53:53.460" v="191"/>
          <ac:graphicFrameMkLst>
            <pc:docMk/>
            <pc:sldMk cId="3851900764" sldId="273"/>
            <ac:graphicFrameMk id="11" creationId="{9429B040-A21B-D00A-515F-9E3171145D68}"/>
          </ac:graphicFrameMkLst>
        </pc:graphicFrameChg>
        <pc:graphicFrameChg chg="mod modGraphic">
          <ac:chgData name="Kumar, Lalitha M" userId="S::lawsonl7@nationwide.com::befc93b4-711f-4485-8d29-0b724293f635" providerId="AD" clId="Web-{ECFE9C3C-5E40-4AB6-A01D-457B6CF7C111}" dt="2026-08-31T16:18:22.387" v="282"/>
          <ac:graphicFrameMkLst>
            <pc:docMk/>
            <pc:sldMk cId="3851900764" sldId="273"/>
            <ac:graphicFrameMk id="29" creationId="{6834A5AD-1FE8-EA37-DE5E-D92E6513433E}"/>
          </ac:graphicFrameMkLst>
        </pc:graphicFrameChg>
      </pc:sldChg>
      <pc:sldChg chg="addSp delSp modSp">
        <pc:chgData name="Kumar, Lalitha M" userId="S::lawsonl7@nationwide.com::befc93b4-711f-4485-8d29-0b724293f635" providerId="AD" clId="Web-{ECFE9C3C-5E40-4AB6-A01D-457B6CF7C111}" dt="2026-08-31T17:15:29.507" v="318" actId="20577"/>
        <pc:sldMkLst>
          <pc:docMk/>
          <pc:sldMk cId="1742052064" sldId="274"/>
        </pc:sldMkLst>
        <pc:spChg chg="mod">
          <ac:chgData name="Kumar, Lalitha M" userId="S::lawsonl7@nationwide.com::befc93b4-711f-4485-8d29-0b724293f635" providerId="AD" clId="Web-{ECFE9C3C-5E40-4AB6-A01D-457B6CF7C111}" dt="2026-08-31T16:00:47.707" v="219" actId="1076"/>
          <ac:spMkLst>
            <pc:docMk/>
            <pc:sldMk cId="1742052064" sldId="274"/>
            <ac:spMk id="2" creationId="{AE292A8B-B2F1-0B4F-968B-D634E690C52B}"/>
          </ac:spMkLst>
        </pc:spChg>
        <pc:spChg chg="mod">
          <ac:chgData name="Kumar, Lalitha M" userId="S::lawsonl7@nationwide.com::befc93b4-711f-4485-8d29-0b724293f635" providerId="AD" clId="Web-{ECFE9C3C-5E40-4AB6-A01D-457B6CF7C111}" dt="2026-08-31T16:01:05.895" v="222" actId="20577"/>
          <ac:spMkLst>
            <pc:docMk/>
            <pc:sldMk cId="1742052064" sldId="274"/>
            <ac:spMk id="3" creationId="{BE2932B0-B441-DBC3-6268-CF7B2EF06D67}"/>
          </ac:spMkLst>
        </pc:spChg>
        <pc:spChg chg="add mod">
          <ac:chgData name="Kumar, Lalitha M" userId="S::lawsonl7@nationwide.com::befc93b4-711f-4485-8d29-0b724293f635" providerId="AD" clId="Web-{ECFE9C3C-5E40-4AB6-A01D-457B6CF7C111}" dt="2026-08-31T17:15:29.507" v="318" actId="20577"/>
          <ac:spMkLst>
            <pc:docMk/>
            <pc:sldMk cId="1742052064" sldId="274"/>
            <ac:spMk id="4" creationId="{0FF6BAD6-5D3B-0717-2D10-31E38E17DDF9}"/>
          </ac:spMkLst>
        </pc:spChg>
        <pc:spChg chg="del mod">
          <ac:chgData name="Kumar, Lalitha M" userId="S::lawsonl7@nationwide.com::befc93b4-711f-4485-8d29-0b724293f635" providerId="AD" clId="Web-{ECFE9C3C-5E40-4AB6-A01D-457B6CF7C111}" dt="2026-08-31T16:25:40.510" v="303"/>
          <ac:spMkLst>
            <pc:docMk/>
            <pc:sldMk cId="1742052064" sldId="274"/>
            <ac:spMk id="5" creationId="{CD4A0EFD-6AF8-95FB-011F-DCEFC1B3D5A2}"/>
          </ac:spMkLst>
        </pc:spChg>
        <pc:spChg chg="del">
          <ac:chgData name="Kumar, Lalitha M" userId="S::lawsonl7@nationwide.com::befc93b4-711f-4485-8d29-0b724293f635" providerId="AD" clId="Web-{ECFE9C3C-5E40-4AB6-A01D-457B6CF7C111}" dt="2026-08-31T16:25:43.791" v="304"/>
          <ac:spMkLst>
            <pc:docMk/>
            <pc:sldMk cId="1742052064" sldId="274"/>
            <ac:spMk id="10" creationId="{79762471-E2D1-6087-5D83-B08077519B6C}"/>
          </ac:spMkLst>
        </pc:spChg>
        <pc:graphicFrameChg chg="mod modGraphic">
          <ac:chgData name="Kumar, Lalitha M" userId="S::lawsonl7@nationwide.com::befc93b4-711f-4485-8d29-0b724293f635" providerId="AD" clId="Web-{ECFE9C3C-5E40-4AB6-A01D-457B6CF7C111}" dt="2026-08-31T16:00:31.862" v="217"/>
          <ac:graphicFrameMkLst>
            <pc:docMk/>
            <pc:sldMk cId="1742052064" sldId="274"/>
            <ac:graphicFrameMk id="11" creationId="{C41125A0-5513-43E6-E32D-E5E58DD29039}"/>
          </ac:graphicFrameMkLst>
        </pc:graphicFrameChg>
        <pc:graphicFrameChg chg="mod modGraphic">
          <ac:chgData name="Kumar, Lalitha M" userId="S::lawsonl7@nationwide.com::befc93b4-711f-4485-8d29-0b724293f635" providerId="AD" clId="Web-{ECFE9C3C-5E40-4AB6-A01D-457B6CF7C111}" dt="2026-08-31T17:03:20.089" v="310"/>
          <ac:graphicFrameMkLst>
            <pc:docMk/>
            <pc:sldMk cId="1742052064" sldId="274"/>
            <ac:graphicFrameMk id="29" creationId="{92E11616-CC4F-76E2-70B6-953971003B42}"/>
          </ac:graphicFrameMkLst>
        </pc:graphicFrameChg>
      </pc:sldChg>
      <pc:sldChg chg="addSp delSp modSp">
        <pc:chgData name="Kumar, Lalitha M" userId="S::lawsonl7@nationwide.com::befc93b4-711f-4485-8d29-0b724293f635" providerId="AD" clId="Web-{ECFE9C3C-5E40-4AB6-A01D-457B6CF7C111}" dt="2026-08-31T15:56:14.751" v="205" actId="20577"/>
        <pc:sldMkLst>
          <pc:docMk/>
          <pc:sldMk cId="3732107178" sldId="2147483647"/>
        </pc:sldMkLst>
        <pc:spChg chg="mod">
          <ac:chgData name="Kumar, Lalitha M" userId="S::lawsonl7@nationwide.com::befc93b4-711f-4485-8d29-0b724293f635" providerId="AD" clId="Web-{ECFE9C3C-5E40-4AB6-A01D-457B6CF7C111}" dt="2026-08-31T15:55:24.341" v="199" actId="1076"/>
          <ac:spMkLst>
            <pc:docMk/>
            <pc:sldMk cId="3732107178" sldId="2147483647"/>
            <ac:spMk id="2" creationId="{C67D89F8-13AA-146D-3FD8-FB73092110EB}"/>
          </ac:spMkLst>
        </pc:spChg>
        <pc:spChg chg="mod">
          <ac:chgData name="Kumar, Lalitha M" userId="S::lawsonl7@nationwide.com::befc93b4-711f-4485-8d29-0b724293f635" providerId="AD" clId="Web-{ECFE9C3C-5E40-4AB6-A01D-457B6CF7C111}" dt="2026-08-31T15:56:14.751" v="205" actId="20577"/>
          <ac:spMkLst>
            <pc:docMk/>
            <pc:sldMk cId="3732107178" sldId="2147483647"/>
            <ac:spMk id="3" creationId="{A93ED6AC-3F4E-68AE-0FD6-E7CE19B5E469}"/>
          </ac:spMkLst>
        </pc:spChg>
        <pc:spChg chg="mod">
          <ac:chgData name="Kumar, Lalitha M" userId="S::lawsonl7@nationwide.com::befc93b4-711f-4485-8d29-0b724293f635" providerId="AD" clId="Web-{ECFE9C3C-5E40-4AB6-A01D-457B6CF7C111}" dt="2026-08-31T15:40:58.377" v="30" actId="20577"/>
          <ac:spMkLst>
            <pc:docMk/>
            <pc:sldMk cId="3732107178" sldId="2147483647"/>
            <ac:spMk id="5" creationId="{2EEB9CDF-3CB1-5B73-B142-A29F120416CE}"/>
          </ac:spMkLst>
        </pc:spChg>
        <pc:spChg chg="add del mod">
          <ac:chgData name="Kumar, Lalitha M" userId="S::lawsonl7@nationwide.com::befc93b4-711f-4485-8d29-0b724293f635" providerId="AD" clId="Web-{ECFE9C3C-5E40-4AB6-A01D-457B6CF7C111}" dt="2026-08-31T15:33:29.112" v="4"/>
          <ac:spMkLst>
            <pc:docMk/>
            <pc:sldMk cId="3732107178" sldId="2147483647"/>
            <ac:spMk id="6" creationId="{4D96F164-DE8E-3F14-2991-3D7EA4F1DD77}"/>
          </ac:spMkLst>
        </pc:spChg>
        <pc:graphicFrameChg chg="mod modGraphic">
          <ac:chgData name="Kumar, Lalitha M" userId="S::lawsonl7@nationwide.com::befc93b4-711f-4485-8d29-0b724293f635" providerId="AD" clId="Web-{ECFE9C3C-5E40-4AB6-A01D-457B6CF7C111}" dt="2026-08-31T15:38:46.430" v="12"/>
          <ac:graphicFrameMkLst>
            <pc:docMk/>
            <pc:sldMk cId="3732107178" sldId="2147483647"/>
            <ac:graphicFrameMk id="11" creationId="{4A50D08C-86AA-D1CE-4C4E-28F18B7CF4FE}"/>
          </ac:graphicFrameMkLst>
        </pc:graphicFrameChg>
        <pc:graphicFrameChg chg="mod modGraphic">
          <ac:chgData name="Kumar, Lalitha M" userId="S::lawsonl7@nationwide.com::befc93b4-711f-4485-8d29-0b724293f635" providerId="AD" clId="Web-{ECFE9C3C-5E40-4AB6-A01D-457B6CF7C111}" dt="2026-08-31T15:33:34.800" v="8"/>
          <ac:graphicFrameMkLst>
            <pc:docMk/>
            <pc:sldMk cId="3732107178" sldId="2147483647"/>
            <ac:graphicFrameMk id="27" creationId="{5D24B6AB-2DD3-6F29-B6BA-A86B85048342}"/>
          </ac:graphicFrameMkLst>
        </pc:graphicFrameChg>
      </pc:sldChg>
    </pc:docChg>
  </pc:docChgLst>
  <pc:docChgLst>
    <pc:chgData name="Joshi, Aastha" userId="S::josha3@nationwide.com::2c9ba31a-aae3-421b-90f8-8da7b196bf17" providerId="AD" clId="Web-{8BF516AF-12FE-B728-D09E-C52EBCD4FCCE}"/>
    <pc:docChg chg="modSld">
      <pc:chgData name="Joshi, Aastha" userId="S::josha3@nationwide.com::2c9ba31a-aae3-421b-90f8-8da7b196bf17" providerId="AD" clId="Web-{8BF516AF-12FE-B728-D09E-C52EBCD4FCCE}" dt="2026-08-31T17:20:45.886" v="23"/>
      <pc:docMkLst>
        <pc:docMk/>
      </pc:docMkLst>
      <pc:sldChg chg="modSp">
        <pc:chgData name="Joshi, Aastha" userId="S::josha3@nationwide.com::2c9ba31a-aae3-421b-90f8-8da7b196bf17" providerId="AD" clId="Web-{8BF516AF-12FE-B728-D09E-C52EBCD4FCCE}" dt="2026-08-31T17:14:41.592" v="8" actId="1076"/>
        <pc:sldMkLst>
          <pc:docMk/>
          <pc:sldMk cId="1544991744" sldId="263"/>
        </pc:sldMkLst>
        <pc:spChg chg="mod">
          <ac:chgData name="Joshi, Aastha" userId="S::josha3@nationwide.com::2c9ba31a-aae3-421b-90f8-8da7b196bf17" providerId="AD" clId="Web-{8BF516AF-12FE-B728-D09E-C52EBCD4FCCE}" dt="2026-08-31T17:14:21.232" v="6" actId="1076"/>
          <ac:spMkLst>
            <pc:docMk/>
            <pc:sldMk cId="1544991744" sldId="263"/>
            <ac:spMk id="4" creationId="{9E39E79F-2C45-47D3-8796-133EF513CAD0}"/>
          </ac:spMkLst>
        </pc:spChg>
        <pc:spChg chg="mod">
          <ac:chgData name="Joshi, Aastha" userId="S::josha3@nationwide.com::2c9ba31a-aae3-421b-90f8-8da7b196bf17" providerId="AD" clId="Web-{8BF516AF-12FE-B728-D09E-C52EBCD4FCCE}" dt="2026-08-31T17:14:41.592" v="8" actId="1076"/>
          <ac:spMkLst>
            <pc:docMk/>
            <pc:sldMk cId="1544991744" sldId="263"/>
            <ac:spMk id="8" creationId="{7163584F-89B1-C039-6DAF-549273F0B72D}"/>
          </ac:spMkLst>
        </pc:spChg>
        <pc:graphicFrameChg chg="mod">
          <ac:chgData name="Joshi, Aastha" userId="S::josha3@nationwide.com::2c9ba31a-aae3-421b-90f8-8da7b196bf17" providerId="AD" clId="Web-{8BF516AF-12FE-B728-D09E-C52EBCD4FCCE}" dt="2026-08-31T17:14:11.591" v="5" actId="1076"/>
          <ac:graphicFrameMkLst>
            <pc:docMk/>
            <pc:sldMk cId="1544991744" sldId="263"/>
            <ac:graphicFrameMk id="27" creationId="{5A8260D5-6AA9-D2C1-CE5B-005266EC586F}"/>
          </ac:graphicFrameMkLst>
        </pc:graphicFrameChg>
      </pc:sldChg>
      <pc:sldChg chg="modSp">
        <pc:chgData name="Joshi, Aastha" userId="S::josha3@nationwide.com::2c9ba31a-aae3-421b-90f8-8da7b196bf17" providerId="AD" clId="Web-{8BF516AF-12FE-B728-D09E-C52EBCD4FCCE}" dt="2026-08-31T16:39:14.174" v="1"/>
        <pc:sldMkLst>
          <pc:docMk/>
          <pc:sldMk cId="3926367795" sldId="269"/>
        </pc:sldMkLst>
        <pc:spChg chg="mod">
          <ac:chgData name="Joshi, Aastha" userId="S::josha3@nationwide.com::2c9ba31a-aae3-421b-90f8-8da7b196bf17" providerId="AD" clId="Web-{8BF516AF-12FE-B728-D09E-C52EBCD4FCCE}" dt="2026-08-31T16:39:14.174" v="1"/>
          <ac:spMkLst>
            <pc:docMk/>
            <pc:sldMk cId="3926367795" sldId="269"/>
            <ac:spMk id="12" creationId="{C8ACD4F8-2610-D224-6128-20E46C7BA653}"/>
          </ac:spMkLst>
        </pc:spChg>
      </pc:sldChg>
      <pc:sldChg chg="modSp">
        <pc:chgData name="Joshi, Aastha" userId="S::josha3@nationwide.com::2c9ba31a-aae3-421b-90f8-8da7b196bf17" providerId="AD" clId="Web-{8BF516AF-12FE-B728-D09E-C52EBCD4FCCE}" dt="2026-08-31T17:20:45.886" v="23"/>
        <pc:sldMkLst>
          <pc:docMk/>
          <pc:sldMk cId="2195373663" sldId="275"/>
        </pc:sldMkLst>
        <pc:spChg chg="mod">
          <ac:chgData name="Joshi, Aastha" userId="S::josha3@nationwide.com::2c9ba31a-aae3-421b-90f8-8da7b196bf17" providerId="AD" clId="Web-{8BF516AF-12FE-B728-D09E-C52EBCD4FCCE}" dt="2026-08-31T17:20:19.323" v="22" actId="14100"/>
          <ac:spMkLst>
            <pc:docMk/>
            <pc:sldMk cId="2195373663" sldId="275"/>
            <ac:spMk id="5" creationId="{FB12DBC5-FE50-D649-59F3-F5DFE1A04FC0}"/>
          </ac:spMkLst>
        </pc:spChg>
        <pc:spChg chg="mod">
          <ac:chgData name="Joshi, Aastha" userId="S::josha3@nationwide.com::2c9ba31a-aae3-421b-90f8-8da7b196bf17" providerId="AD" clId="Web-{8BF516AF-12FE-B728-D09E-C52EBCD4FCCE}" dt="2026-08-31T17:18:25.428" v="14"/>
          <ac:spMkLst>
            <pc:docMk/>
            <pc:sldMk cId="2195373663" sldId="275"/>
            <ac:spMk id="12" creationId="{7BBD4E6B-B33A-73EE-7ED8-B0110D0AB05F}"/>
          </ac:spMkLst>
        </pc:spChg>
        <pc:graphicFrameChg chg="mod modGraphic">
          <ac:chgData name="Joshi, Aastha" userId="S::josha3@nationwide.com::2c9ba31a-aae3-421b-90f8-8da7b196bf17" providerId="AD" clId="Web-{8BF516AF-12FE-B728-D09E-C52EBCD4FCCE}" dt="2026-08-31T17:18:44.413" v="16"/>
          <ac:graphicFrameMkLst>
            <pc:docMk/>
            <pc:sldMk cId="2195373663" sldId="275"/>
            <ac:graphicFrameMk id="14" creationId="{E1A12F7C-7410-0E83-63DD-08372EC5BD28}"/>
          </ac:graphicFrameMkLst>
        </pc:graphicFrameChg>
        <pc:graphicFrameChg chg="mod modGraphic">
          <ac:chgData name="Joshi, Aastha" userId="S::josha3@nationwide.com::2c9ba31a-aae3-421b-90f8-8da7b196bf17" providerId="AD" clId="Web-{8BF516AF-12FE-B728-D09E-C52EBCD4FCCE}" dt="2026-08-31T17:19:51.416" v="21"/>
          <ac:graphicFrameMkLst>
            <pc:docMk/>
            <pc:sldMk cId="2195373663" sldId="275"/>
            <ac:graphicFrameMk id="26" creationId="{611930DE-3B05-D706-B09B-54795AB3776A}"/>
          </ac:graphicFrameMkLst>
        </pc:graphicFrameChg>
        <pc:graphicFrameChg chg="modGraphic">
          <ac:chgData name="Joshi, Aastha" userId="S::josha3@nationwide.com::2c9ba31a-aae3-421b-90f8-8da7b196bf17" providerId="AD" clId="Web-{8BF516AF-12FE-B728-D09E-C52EBCD4FCCE}" dt="2026-08-31T17:20:45.886" v="23"/>
          <ac:graphicFrameMkLst>
            <pc:docMk/>
            <pc:sldMk cId="2195373663" sldId="275"/>
            <ac:graphicFrameMk id="27" creationId="{50D303B1-4685-BE6D-5075-97DA9E0010EB}"/>
          </ac:graphicFrameMkLst>
        </pc:graphicFrameChg>
      </pc:sldChg>
      <pc:sldChg chg="modSp">
        <pc:chgData name="Joshi, Aastha" userId="S::josha3@nationwide.com::2c9ba31a-aae3-421b-90f8-8da7b196bf17" providerId="AD" clId="Web-{8BF516AF-12FE-B728-D09E-C52EBCD4FCCE}" dt="2026-08-31T16:48:14.303" v="4"/>
        <pc:sldMkLst>
          <pc:docMk/>
          <pc:sldMk cId="1062081515" sldId="2147481398"/>
        </pc:sldMkLst>
        <pc:spChg chg="mod">
          <ac:chgData name="Joshi, Aastha" userId="S::josha3@nationwide.com::2c9ba31a-aae3-421b-90f8-8da7b196bf17" providerId="AD" clId="Web-{8BF516AF-12FE-B728-D09E-C52EBCD4FCCE}" dt="2026-08-31T16:48:14.303" v="4"/>
          <ac:spMkLst>
            <pc:docMk/>
            <pc:sldMk cId="1062081515" sldId="2147481398"/>
            <ac:spMk id="2" creationId="{145F2431-42FF-3B35-C6BF-B0C9BB594229}"/>
          </ac:spMkLst>
        </pc:spChg>
      </pc:sldChg>
    </pc:docChg>
  </pc:docChgLst>
  <pc:docChgLst>
    <pc:chgData name="Joshi, Aastha" userId="2c9ba31a-aae3-421b-90f8-8da7b196bf17" providerId="ADAL" clId="{17485E79-539D-43A8-AD3F-772E0076C434}"/>
    <pc:docChg chg="undo custSel addSld delSld modSld sldOrd">
      <pc:chgData name="Joshi, Aastha" userId="2c9ba31a-aae3-421b-90f8-8da7b196bf17" providerId="ADAL" clId="{17485E79-539D-43A8-AD3F-772E0076C434}" dt="2026-08-31T20:57:01.304" v="159"/>
      <pc:docMkLst>
        <pc:docMk/>
      </pc:docMkLst>
      <pc:sldChg chg="add del">
        <pc:chgData name="Joshi, Aastha" userId="2c9ba31a-aae3-421b-90f8-8da7b196bf17" providerId="ADAL" clId="{17485E79-539D-43A8-AD3F-772E0076C434}" dt="2026-08-31T19:53:01.621" v="113" actId="2696"/>
        <pc:sldMkLst>
          <pc:docMk/>
          <pc:sldMk cId="6920633" sldId="256"/>
        </pc:sldMkLst>
      </pc:sldChg>
      <pc:sldChg chg="modSp">
        <pc:chgData name="Joshi, Aastha" userId="2c9ba31a-aae3-421b-90f8-8da7b196bf17" providerId="ADAL" clId="{17485E79-539D-43A8-AD3F-772E0076C434}" dt="2026-08-31T20:56:34.732" v="156"/>
        <pc:sldMkLst>
          <pc:docMk/>
          <pc:sldMk cId="4215373585" sldId="261"/>
        </pc:sldMkLst>
        <pc:graphicFrameChg chg="mod">
          <ac:chgData name="Joshi, Aastha" userId="2c9ba31a-aae3-421b-90f8-8da7b196bf17" providerId="ADAL" clId="{17485E79-539D-43A8-AD3F-772E0076C434}" dt="2026-08-31T20:56:34.732" v="156"/>
          <ac:graphicFrameMkLst>
            <pc:docMk/>
            <pc:sldMk cId="4215373585" sldId="261"/>
            <ac:graphicFrameMk id="11" creationId="{A2B52C97-D713-F7E7-DCA4-315AE9BAAF69}"/>
          </ac:graphicFrameMkLst>
        </pc:graphicFrameChg>
      </pc:sldChg>
      <pc:sldChg chg="modSp mod">
        <pc:chgData name="Joshi, Aastha" userId="2c9ba31a-aae3-421b-90f8-8da7b196bf17" providerId="ADAL" clId="{17485E79-539D-43A8-AD3F-772E0076C434}" dt="2026-08-31T17:35:53.625" v="9" actId="207"/>
        <pc:sldMkLst>
          <pc:docMk/>
          <pc:sldMk cId="2555187516" sldId="262"/>
        </pc:sldMkLst>
        <pc:graphicFrameChg chg="mod modGraphic">
          <ac:chgData name="Joshi, Aastha" userId="2c9ba31a-aae3-421b-90f8-8da7b196bf17" providerId="ADAL" clId="{17485E79-539D-43A8-AD3F-772E0076C434}" dt="2026-08-31T17:34:22.829" v="8" actId="14100"/>
          <ac:graphicFrameMkLst>
            <pc:docMk/>
            <pc:sldMk cId="2555187516" sldId="262"/>
            <ac:graphicFrameMk id="14" creationId="{6D8265E6-4817-193A-F0C4-3A24A6F72856}"/>
          </ac:graphicFrameMkLst>
        </pc:graphicFrameChg>
        <pc:graphicFrameChg chg="modGraphic">
          <ac:chgData name="Joshi, Aastha" userId="2c9ba31a-aae3-421b-90f8-8da7b196bf17" providerId="ADAL" clId="{17485E79-539D-43A8-AD3F-772E0076C434}" dt="2026-08-31T17:35:53.625" v="9" actId="207"/>
          <ac:graphicFrameMkLst>
            <pc:docMk/>
            <pc:sldMk cId="2555187516" sldId="262"/>
            <ac:graphicFrameMk id="27" creationId="{1B4D048B-8EB6-A2B7-7F5D-76B7F6186060}"/>
          </ac:graphicFrameMkLst>
        </pc:graphicFrameChg>
      </pc:sldChg>
      <pc:sldChg chg="modSp">
        <pc:chgData name="Joshi, Aastha" userId="2c9ba31a-aae3-421b-90f8-8da7b196bf17" providerId="ADAL" clId="{17485E79-539D-43A8-AD3F-772E0076C434}" dt="2026-08-31T20:56:38.928" v="157"/>
        <pc:sldMkLst>
          <pc:docMk/>
          <pc:sldMk cId="1157020178" sldId="266"/>
        </pc:sldMkLst>
        <pc:graphicFrameChg chg="mod">
          <ac:chgData name="Joshi, Aastha" userId="2c9ba31a-aae3-421b-90f8-8da7b196bf17" providerId="ADAL" clId="{17485E79-539D-43A8-AD3F-772E0076C434}" dt="2026-08-31T20:56:38.928" v="157"/>
          <ac:graphicFrameMkLst>
            <pc:docMk/>
            <pc:sldMk cId="1157020178" sldId="266"/>
            <ac:graphicFrameMk id="11" creationId="{1F125BFF-AFAE-248A-4FCA-23B7B8B157B0}"/>
          </ac:graphicFrameMkLst>
        </pc:graphicFrameChg>
      </pc:sldChg>
      <pc:sldChg chg="addSp delSp modSp new mod modClrScheme chgLayout">
        <pc:chgData name="Joshi, Aastha" userId="2c9ba31a-aae3-421b-90f8-8da7b196bf17" providerId="ADAL" clId="{17485E79-539D-43A8-AD3F-772E0076C434}" dt="2026-08-31T19:54:51.505" v="150" actId="14734"/>
        <pc:sldMkLst>
          <pc:docMk/>
          <pc:sldMk cId="3377241021" sldId="267"/>
        </pc:sldMkLst>
        <pc:spChg chg="del">
          <ac:chgData name="Joshi, Aastha" userId="2c9ba31a-aae3-421b-90f8-8da7b196bf17" providerId="ADAL" clId="{17485E79-539D-43A8-AD3F-772E0076C434}" dt="2026-08-31T19:52:27.771" v="108" actId="478"/>
          <ac:spMkLst>
            <pc:docMk/>
            <pc:sldMk cId="3377241021" sldId="267"/>
            <ac:spMk id="2" creationId="{52B1C6B3-8CCC-AAEB-CFB9-7451FE2406F1}"/>
          </ac:spMkLst>
        </pc:spChg>
        <pc:spChg chg="del">
          <ac:chgData name="Joshi, Aastha" userId="2c9ba31a-aae3-421b-90f8-8da7b196bf17" providerId="ADAL" clId="{17485E79-539D-43A8-AD3F-772E0076C434}" dt="2026-08-31T19:52:31.910" v="109" actId="478"/>
          <ac:spMkLst>
            <pc:docMk/>
            <pc:sldMk cId="3377241021" sldId="267"/>
            <ac:spMk id="3" creationId="{206CDF61-3B07-C82F-D61F-F1DBAA0FEEF7}"/>
          </ac:spMkLst>
        </pc:spChg>
        <pc:spChg chg="mod ord">
          <ac:chgData name="Joshi, Aastha" userId="2c9ba31a-aae3-421b-90f8-8da7b196bf17" providerId="ADAL" clId="{17485E79-539D-43A8-AD3F-772E0076C434}" dt="2026-08-31T19:52:38.055" v="110" actId="700"/>
          <ac:spMkLst>
            <pc:docMk/>
            <pc:sldMk cId="3377241021" sldId="267"/>
            <ac:spMk id="4" creationId="{44567A24-F1E3-5E28-CBAC-D37D1AB5331B}"/>
          </ac:spMkLst>
        </pc:spChg>
        <pc:spChg chg="add del mod ord">
          <ac:chgData name="Joshi, Aastha" userId="2c9ba31a-aae3-421b-90f8-8da7b196bf17" providerId="ADAL" clId="{17485E79-539D-43A8-AD3F-772E0076C434}" dt="2026-08-31T19:52:42.552" v="111" actId="478"/>
          <ac:spMkLst>
            <pc:docMk/>
            <pc:sldMk cId="3377241021" sldId="267"/>
            <ac:spMk id="5" creationId="{33D134AE-027A-F62D-1145-71AAA73C1D8A}"/>
          </ac:spMkLst>
        </pc:spChg>
        <pc:spChg chg="add mod">
          <ac:chgData name="Joshi, Aastha" userId="2c9ba31a-aae3-421b-90f8-8da7b196bf17" providerId="ADAL" clId="{17485E79-539D-43A8-AD3F-772E0076C434}" dt="2026-08-31T19:53:22.892" v="115" actId="1076"/>
          <ac:spMkLst>
            <pc:docMk/>
            <pc:sldMk cId="3377241021" sldId="267"/>
            <ac:spMk id="7" creationId="{2277CE1F-D6C8-A8D9-BC26-30AF36EB7839}"/>
          </ac:spMkLst>
        </pc:spChg>
        <pc:graphicFrameChg chg="add mod modGraphic">
          <ac:chgData name="Joshi, Aastha" userId="2c9ba31a-aae3-421b-90f8-8da7b196bf17" providerId="ADAL" clId="{17485E79-539D-43A8-AD3F-772E0076C434}" dt="2026-08-31T19:54:51.505" v="150" actId="14734"/>
          <ac:graphicFrameMkLst>
            <pc:docMk/>
            <pc:sldMk cId="3377241021" sldId="267"/>
            <ac:graphicFrameMk id="9" creationId="{EC50AD88-6F19-7265-0D1B-8D6071F71A6A}"/>
          </ac:graphicFrameMkLst>
        </pc:graphicFrameChg>
      </pc:sldChg>
      <pc:sldChg chg="new del">
        <pc:chgData name="Joshi, Aastha" userId="2c9ba31a-aae3-421b-90f8-8da7b196bf17" providerId="ADAL" clId="{17485E79-539D-43A8-AD3F-772E0076C434}" dt="2026-08-31T19:52:17.578" v="106" actId="2696"/>
        <pc:sldMkLst>
          <pc:docMk/>
          <pc:sldMk cId="3977267362" sldId="267"/>
        </pc:sldMkLst>
      </pc:sldChg>
      <pc:sldChg chg="modSp mod">
        <pc:chgData name="Joshi, Aastha" userId="2c9ba31a-aae3-421b-90f8-8da7b196bf17" providerId="ADAL" clId="{17485E79-539D-43A8-AD3F-772E0076C434}" dt="2026-08-31T18:07:18.426" v="96" actId="1076"/>
        <pc:sldMkLst>
          <pc:docMk/>
          <pc:sldMk cId="3926367795" sldId="269"/>
        </pc:sldMkLst>
        <pc:spChg chg="mod">
          <ac:chgData name="Joshi, Aastha" userId="2c9ba31a-aae3-421b-90f8-8da7b196bf17" providerId="ADAL" clId="{17485E79-539D-43A8-AD3F-772E0076C434}" dt="2026-08-31T18:07:18.426" v="96" actId="1076"/>
          <ac:spMkLst>
            <pc:docMk/>
            <pc:sldMk cId="3926367795" sldId="269"/>
            <ac:spMk id="3" creationId="{9400F433-5539-5632-9F60-F40AC89FE0BD}"/>
          </ac:spMkLst>
        </pc:spChg>
        <pc:spChg chg="mod">
          <ac:chgData name="Joshi, Aastha" userId="2c9ba31a-aae3-421b-90f8-8da7b196bf17" providerId="ADAL" clId="{17485E79-539D-43A8-AD3F-772E0076C434}" dt="2026-08-31T18:07:12.403" v="95" actId="1076"/>
          <ac:spMkLst>
            <pc:docMk/>
            <pc:sldMk cId="3926367795" sldId="269"/>
            <ac:spMk id="7" creationId="{C189D952-BBB2-BECD-60EF-E825D73B9EBC}"/>
          </ac:spMkLst>
        </pc:spChg>
        <pc:graphicFrameChg chg="modGraphic">
          <ac:chgData name="Joshi, Aastha" userId="2c9ba31a-aae3-421b-90f8-8da7b196bf17" providerId="ADAL" clId="{17485E79-539D-43A8-AD3F-772E0076C434}" dt="2026-08-31T18:07:07.200" v="94" actId="207"/>
          <ac:graphicFrameMkLst>
            <pc:docMk/>
            <pc:sldMk cId="3926367795" sldId="269"/>
            <ac:graphicFrameMk id="27" creationId="{E4812FB4-EC52-543D-0EBE-9C5346E9C391}"/>
          </ac:graphicFrameMkLst>
        </pc:graphicFrameChg>
      </pc:sldChg>
      <pc:sldChg chg="modSp mod">
        <pc:chgData name="Joshi, Aastha" userId="2c9ba31a-aae3-421b-90f8-8da7b196bf17" providerId="ADAL" clId="{17485E79-539D-43A8-AD3F-772E0076C434}" dt="2026-08-31T17:39:21.843" v="13" actId="108"/>
        <pc:sldMkLst>
          <pc:docMk/>
          <pc:sldMk cId="3571483556" sldId="270"/>
        </pc:sldMkLst>
        <pc:graphicFrameChg chg="mod">
          <ac:chgData name="Joshi, Aastha" userId="2c9ba31a-aae3-421b-90f8-8da7b196bf17" providerId="ADAL" clId="{17485E79-539D-43A8-AD3F-772E0076C434}" dt="2026-08-31T17:39:19.199" v="12"/>
          <ac:graphicFrameMkLst>
            <pc:docMk/>
            <pc:sldMk cId="3571483556" sldId="270"/>
            <ac:graphicFrameMk id="27" creationId="{866A5668-07FB-AA91-9A66-D5ED22CEB7C2}"/>
          </ac:graphicFrameMkLst>
        </pc:graphicFrameChg>
        <pc:graphicFrameChg chg="modGraphic">
          <ac:chgData name="Joshi, Aastha" userId="2c9ba31a-aae3-421b-90f8-8da7b196bf17" providerId="ADAL" clId="{17485E79-539D-43A8-AD3F-772E0076C434}" dt="2026-08-31T17:39:21.843" v="13" actId="108"/>
          <ac:graphicFrameMkLst>
            <pc:docMk/>
            <pc:sldMk cId="3571483556" sldId="270"/>
            <ac:graphicFrameMk id="29" creationId="{3407F6B5-2E45-B584-ACEB-75C928454B4F}"/>
          </ac:graphicFrameMkLst>
        </pc:graphicFrameChg>
      </pc:sldChg>
      <pc:sldChg chg="modSp mod">
        <pc:chgData name="Joshi, Aastha" userId="2c9ba31a-aae3-421b-90f8-8da7b196bf17" providerId="ADAL" clId="{17485E79-539D-43A8-AD3F-772E0076C434}" dt="2026-08-31T18:04:15.169" v="82"/>
        <pc:sldMkLst>
          <pc:docMk/>
          <pc:sldMk cId="389740967" sldId="272"/>
        </pc:sldMkLst>
        <pc:graphicFrameChg chg="mod modGraphic">
          <ac:chgData name="Joshi, Aastha" userId="2c9ba31a-aae3-421b-90f8-8da7b196bf17" providerId="ADAL" clId="{17485E79-539D-43A8-AD3F-772E0076C434}" dt="2026-08-31T18:04:15.169" v="82"/>
          <ac:graphicFrameMkLst>
            <pc:docMk/>
            <pc:sldMk cId="389740967" sldId="272"/>
            <ac:graphicFrameMk id="11" creationId="{198007F7-3108-7033-605A-70B4714BBF71}"/>
          </ac:graphicFrameMkLst>
        </pc:graphicFrameChg>
        <pc:graphicFrameChg chg="modGraphic">
          <ac:chgData name="Joshi, Aastha" userId="2c9ba31a-aae3-421b-90f8-8da7b196bf17" providerId="ADAL" clId="{17485E79-539D-43A8-AD3F-772E0076C434}" dt="2026-08-31T18:02:33.471" v="72" actId="108"/>
          <ac:graphicFrameMkLst>
            <pc:docMk/>
            <pc:sldMk cId="389740967" sldId="272"/>
            <ac:graphicFrameMk id="14" creationId="{2F2E5442-4FF7-4B8D-96D8-E4B29E20BF80}"/>
          </ac:graphicFrameMkLst>
        </pc:graphicFrameChg>
        <pc:graphicFrameChg chg="mod modGraphic">
          <ac:chgData name="Joshi, Aastha" userId="2c9ba31a-aae3-421b-90f8-8da7b196bf17" providerId="ADAL" clId="{17485E79-539D-43A8-AD3F-772E0076C434}" dt="2026-08-31T18:02:29.628" v="71"/>
          <ac:graphicFrameMkLst>
            <pc:docMk/>
            <pc:sldMk cId="389740967" sldId="272"/>
            <ac:graphicFrameMk id="26" creationId="{142776A0-9C2E-4501-087B-D771F76BB1A6}"/>
          </ac:graphicFrameMkLst>
        </pc:graphicFrameChg>
      </pc:sldChg>
      <pc:sldChg chg="modSp mod">
        <pc:chgData name="Joshi, Aastha" userId="2c9ba31a-aae3-421b-90f8-8da7b196bf17" providerId="ADAL" clId="{17485E79-539D-43A8-AD3F-772E0076C434}" dt="2026-08-31T18:03:43.767" v="81" actId="108"/>
        <pc:sldMkLst>
          <pc:docMk/>
          <pc:sldMk cId="3851900764" sldId="273"/>
        </pc:sldMkLst>
        <pc:graphicFrameChg chg="mod modGraphic">
          <ac:chgData name="Joshi, Aastha" userId="2c9ba31a-aae3-421b-90f8-8da7b196bf17" providerId="ADAL" clId="{17485E79-539D-43A8-AD3F-772E0076C434}" dt="2026-08-31T18:03:36.242" v="77"/>
          <ac:graphicFrameMkLst>
            <pc:docMk/>
            <pc:sldMk cId="3851900764" sldId="273"/>
            <ac:graphicFrameMk id="11" creationId="{9429B040-A21B-D00A-515F-9E3171145D68}"/>
          </ac:graphicFrameMkLst>
        </pc:graphicFrameChg>
        <pc:graphicFrameChg chg="modGraphic">
          <ac:chgData name="Joshi, Aastha" userId="2c9ba31a-aae3-421b-90f8-8da7b196bf17" providerId="ADAL" clId="{17485E79-539D-43A8-AD3F-772E0076C434}" dt="2026-08-31T18:03:43.767" v="81" actId="108"/>
          <ac:graphicFrameMkLst>
            <pc:docMk/>
            <pc:sldMk cId="3851900764" sldId="273"/>
            <ac:graphicFrameMk id="14" creationId="{C145763D-F02B-9347-CDDC-FAB19DB14693}"/>
          </ac:graphicFrameMkLst>
        </pc:graphicFrameChg>
        <pc:graphicFrameChg chg="mod modGraphic">
          <ac:chgData name="Joshi, Aastha" userId="2c9ba31a-aae3-421b-90f8-8da7b196bf17" providerId="ADAL" clId="{17485E79-539D-43A8-AD3F-772E0076C434}" dt="2026-08-31T18:03:41.524" v="80"/>
          <ac:graphicFrameMkLst>
            <pc:docMk/>
            <pc:sldMk cId="3851900764" sldId="273"/>
            <ac:graphicFrameMk id="26" creationId="{2D080F49-F9D4-3CCD-F9AA-BA423FBD54EE}"/>
          </ac:graphicFrameMkLst>
        </pc:graphicFrameChg>
      </pc:sldChg>
      <pc:sldChg chg="modSp mod">
        <pc:chgData name="Joshi, Aastha" userId="2c9ba31a-aae3-421b-90f8-8da7b196bf17" providerId="ADAL" clId="{17485E79-539D-43A8-AD3F-772E0076C434}" dt="2026-08-31T18:04:52.761" v="90" actId="14100"/>
        <pc:sldMkLst>
          <pc:docMk/>
          <pc:sldMk cId="1742052064" sldId="274"/>
        </pc:sldMkLst>
        <pc:graphicFrameChg chg="mod modGraphic">
          <ac:chgData name="Joshi, Aastha" userId="2c9ba31a-aae3-421b-90f8-8da7b196bf17" providerId="ADAL" clId="{17485E79-539D-43A8-AD3F-772E0076C434}" dt="2026-08-31T18:04:29.426" v="86"/>
          <ac:graphicFrameMkLst>
            <pc:docMk/>
            <pc:sldMk cId="1742052064" sldId="274"/>
            <ac:graphicFrameMk id="11" creationId="{C41125A0-5513-43E6-E32D-E5E58DD29039}"/>
          </ac:graphicFrameMkLst>
        </pc:graphicFrameChg>
        <pc:graphicFrameChg chg="mod modGraphic">
          <ac:chgData name="Joshi, Aastha" userId="2c9ba31a-aae3-421b-90f8-8da7b196bf17" providerId="ADAL" clId="{17485E79-539D-43A8-AD3F-772E0076C434}" dt="2026-08-31T18:04:52.761" v="90" actId="14100"/>
          <ac:graphicFrameMkLst>
            <pc:docMk/>
            <pc:sldMk cId="1742052064" sldId="274"/>
            <ac:graphicFrameMk id="14" creationId="{2789D55F-0338-3BFE-79E6-DA528A0A7371}"/>
          </ac:graphicFrameMkLst>
        </pc:graphicFrameChg>
        <pc:graphicFrameChg chg="modGraphic">
          <ac:chgData name="Joshi, Aastha" userId="2c9ba31a-aae3-421b-90f8-8da7b196bf17" providerId="ADAL" clId="{17485E79-539D-43A8-AD3F-772E0076C434}" dt="2026-08-31T18:04:31.576" v="88" actId="108"/>
          <ac:graphicFrameMkLst>
            <pc:docMk/>
            <pc:sldMk cId="1742052064" sldId="274"/>
            <ac:graphicFrameMk id="26" creationId="{04064067-1C0B-EDE0-7566-C7967E27D68B}"/>
          </ac:graphicFrameMkLst>
        </pc:graphicFrameChg>
      </pc:sldChg>
      <pc:sldChg chg="modSp mod">
        <pc:chgData name="Joshi, Aastha" userId="2c9ba31a-aae3-421b-90f8-8da7b196bf17" providerId="ADAL" clId="{17485E79-539D-43A8-AD3F-772E0076C434}" dt="2026-08-31T19:46:57.042" v="103" actId="20577"/>
        <pc:sldMkLst>
          <pc:docMk/>
          <pc:sldMk cId="2195373663" sldId="275"/>
        </pc:sldMkLst>
        <pc:graphicFrameChg chg="modGraphic">
          <ac:chgData name="Joshi, Aastha" userId="2c9ba31a-aae3-421b-90f8-8da7b196bf17" providerId="ADAL" clId="{17485E79-539D-43A8-AD3F-772E0076C434}" dt="2026-08-31T19:46:57.042" v="103" actId="20577"/>
          <ac:graphicFrameMkLst>
            <pc:docMk/>
            <pc:sldMk cId="2195373663" sldId="275"/>
            <ac:graphicFrameMk id="11" creationId="{2B686D89-6C93-C803-3900-DD08FBD7BB43}"/>
          </ac:graphicFrameMkLst>
        </pc:graphicFrameChg>
      </pc:sldChg>
      <pc:sldChg chg="add">
        <pc:chgData name="Joshi, Aastha" userId="2c9ba31a-aae3-421b-90f8-8da7b196bf17" providerId="ADAL" clId="{17485E79-539D-43A8-AD3F-772E0076C434}" dt="2026-08-31T19:53:38.120" v="117"/>
        <pc:sldMkLst>
          <pc:docMk/>
          <pc:sldMk cId="3829379337" sldId="276"/>
        </pc:sldMkLst>
      </pc:sldChg>
      <pc:sldChg chg="addSp modSp mod">
        <pc:chgData name="Joshi, Aastha" userId="2c9ba31a-aae3-421b-90f8-8da7b196bf17" providerId="ADAL" clId="{17485E79-539D-43A8-AD3F-772E0076C434}" dt="2026-08-31T17:47:38.489" v="55" actId="14100"/>
        <pc:sldMkLst>
          <pc:docMk/>
          <pc:sldMk cId="1062081515" sldId="2147481398"/>
        </pc:sldMkLst>
        <pc:spChg chg="mod">
          <ac:chgData name="Joshi, Aastha" userId="2c9ba31a-aae3-421b-90f8-8da7b196bf17" providerId="ADAL" clId="{17485E79-539D-43A8-AD3F-772E0076C434}" dt="2026-08-31T17:47:09.879" v="48" actId="1076"/>
          <ac:spMkLst>
            <pc:docMk/>
            <pc:sldMk cId="1062081515" sldId="2147481398"/>
            <ac:spMk id="3" creationId="{F91BFB50-2162-2207-6447-1F9F02AD2082}"/>
          </ac:spMkLst>
        </pc:spChg>
        <pc:spChg chg="mod">
          <ac:chgData name="Joshi, Aastha" userId="2c9ba31a-aae3-421b-90f8-8da7b196bf17" providerId="ADAL" clId="{17485E79-539D-43A8-AD3F-772E0076C434}" dt="2026-08-31T17:47:15.723" v="50" actId="1076"/>
          <ac:spMkLst>
            <pc:docMk/>
            <pc:sldMk cId="1062081515" sldId="2147481398"/>
            <ac:spMk id="6" creationId="{D19F35D6-97DA-25F7-CDA3-14FD2F9A6F7B}"/>
          </ac:spMkLst>
        </pc:spChg>
        <pc:spChg chg="add mod">
          <ac:chgData name="Joshi, Aastha" userId="2c9ba31a-aae3-421b-90f8-8da7b196bf17" providerId="ADAL" clId="{17485E79-539D-43A8-AD3F-772E0076C434}" dt="2026-08-31T17:44:12.110" v="37" actId="20577"/>
          <ac:spMkLst>
            <pc:docMk/>
            <pc:sldMk cId="1062081515" sldId="2147481398"/>
            <ac:spMk id="8" creationId="{F5481087-C2CE-E240-1629-4E5CE0C6510D}"/>
          </ac:spMkLst>
        </pc:spChg>
        <pc:spChg chg="mod">
          <ac:chgData name="Joshi, Aastha" userId="2c9ba31a-aae3-421b-90f8-8da7b196bf17" providerId="ADAL" clId="{17485E79-539D-43A8-AD3F-772E0076C434}" dt="2026-08-31T17:47:05.883" v="47" actId="1076"/>
          <ac:spMkLst>
            <pc:docMk/>
            <pc:sldMk cId="1062081515" sldId="2147481398"/>
            <ac:spMk id="21" creationId="{608E6B8B-5F65-1841-3BCD-0071BD9BCEC9}"/>
          </ac:spMkLst>
        </pc:spChg>
        <pc:spChg chg="mod">
          <ac:chgData name="Joshi, Aastha" userId="2c9ba31a-aae3-421b-90f8-8da7b196bf17" providerId="ADAL" clId="{17485E79-539D-43A8-AD3F-772E0076C434}" dt="2026-08-31T17:47:12.633" v="49" actId="1076"/>
          <ac:spMkLst>
            <pc:docMk/>
            <pc:sldMk cId="1062081515" sldId="2147481398"/>
            <ac:spMk id="38" creationId="{85485111-8FD0-7C66-74CF-850E22CFDCB1}"/>
          </ac:spMkLst>
        </pc:spChg>
        <pc:graphicFrameChg chg="modGraphic">
          <ac:chgData name="Joshi, Aastha" userId="2c9ba31a-aae3-421b-90f8-8da7b196bf17" providerId="ADAL" clId="{17485E79-539D-43A8-AD3F-772E0076C434}" dt="2026-08-31T17:44:34.423" v="38" actId="207"/>
          <ac:graphicFrameMkLst>
            <pc:docMk/>
            <pc:sldMk cId="1062081515" sldId="2147481398"/>
            <ac:graphicFrameMk id="27" creationId="{8AFCCF80-BEAF-DD04-B95A-D15CFA8CC9A4}"/>
          </ac:graphicFrameMkLst>
        </pc:graphicFrameChg>
        <pc:graphicFrameChg chg="mod modGraphic">
          <ac:chgData name="Joshi, Aastha" userId="2c9ba31a-aae3-421b-90f8-8da7b196bf17" providerId="ADAL" clId="{17485E79-539D-43A8-AD3F-772E0076C434}" dt="2026-08-31T17:47:38.489" v="55" actId="14100"/>
          <ac:graphicFrameMkLst>
            <pc:docMk/>
            <pc:sldMk cId="1062081515" sldId="2147481398"/>
            <ac:graphicFrameMk id="29" creationId="{D870955A-3AE4-ED0D-AD65-B23FE058A079}"/>
          </ac:graphicFrameMkLst>
        </pc:graphicFrameChg>
        <pc:graphicFrameChg chg="mod">
          <ac:chgData name="Joshi, Aastha" userId="2c9ba31a-aae3-421b-90f8-8da7b196bf17" providerId="ADAL" clId="{17485E79-539D-43A8-AD3F-772E0076C434}" dt="2026-08-31T17:42:15.604" v="14" actId="1076"/>
          <ac:graphicFrameMkLst>
            <pc:docMk/>
            <pc:sldMk cId="1062081515" sldId="2147481398"/>
            <ac:graphicFrameMk id="33" creationId="{681E522C-17A4-EAC5-89C4-312D53C20B33}"/>
          </ac:graphicFrameMkLst>
        </pc:graphicFrameChg>
      </pc:sldChg>
      <pc:sldChg chg="modSp mod">
        <pc:chgData name="Joshi, Aastha" userId="2c9ba31a-aae3-421b-90f8-8da7b196bf17" providerId="ADAL" clId="{17485E79-539D-43A8-AD3F-772E0076C434}" dt="2026-08-31T18:06:30.780" v="93" actId="1076"/>
        <pc:sldMkLst>
          <pc:docMk/>
          <pc:sldMk cId="1950917117" sldId="2147481484"/>
        </pc:sldMkLst>
        <pc:spChg chg="mod">
          <ac:chgData name="Joshi, Aastha" userId="2c9ba31a-aae3-421b-90f8-8da7b196bf17" providerId="ADAL" clId="{17485E79-539D-43A8-AD3F-772E0076C434}" dt="2026-08-31T18:06:24.669" v="91" actId="1076"/>
          <ac:spMkLst>
            <pc:docMk/>
            <pc:sldMk cId="1950917117" sldId="2147481484"/>
            <ac:spMk id="33" creationId="{93C6E7AD-445E-D669-B3AF-BA0150F743CD}"/>
          </ac:spMkLst>
        </pc:spChg>
        <pc:spChg chg="mod">
          <ac:chgData name="Joshi, Aastha" userId="2c9ba31a-aae3-421b-90f8-8da7b196bf17" providerId="ADAL" clId="{17485E79-539D-43A8-AD3F-772E0076C434}" dt="2026-08-31T18:06:27.749" v="92" actId="1076"/>
          <ac:spMkLst>
            <pc:docMk/>
            <pc:sldMk cId="1950917117" sldId="2147481484"/>
            <ac:spMk id="34" creationId="{D8798DA8-D91E-C7BB-7EB6-11A6880AFA60}"/>
          </ac:spMkLst>
        </pc:spChg>
        <pc:spChg chg="mod">
          <ac:chgData name="Joshi, Aastha" userId="2c9ba31a-aae3-421b-90f8-8da7b196bf17" providerId="ADAL" clId="{17485E79-539D-43A8-AD3F-772E0076C434}" dt="2026-08-31T18:06:30.780" v="93" actId="1076"/>
          <ac:spMkLst>
            <pc:docMk/>
            <pc:sldMk cId="1950917117" sldId="2147481484"/>
            <ac:spMk id="36" creationId="{3E65D73E-38F9-30A6-842F-E3A97030640E}"/>
          </ac:spMkLst>
        </pc:spChg>
      </pc:sldChg>
      <pc:sldChg chg="modSp mod">
        <pc:chgData name="Joshi, Aastha" userId="2c9ba31a-aae3-421b-90f8-8da7b196bf17" providerId="ADAL" clId="{17485E79-539D-43A8-AD3F-772E0076C434}" dt="2026-08-31T17:30:10.621" v="6" actId="207"/>
        <pc:sldMkLst>
          <pc:docMk/>
          <pc:sldMk cId="2712817689" sldId="2147481495"/>
        </pc:sldMkLst>
        <pc:graphicFrameChg chg="mod modGraphic">
          <ac:chgData name="Joshi, Aastha" userId="2c9ba31a-aae3-421b-90f8-8da7b196bf17" providerId="ADAL" clId="{17485E79-539D-43A8-AD3F-772E0076C434}" dt="2026-08-31T17:29:49.639" v="5" actId="14100"/>
          <ac:graphicFrameMkLst>
            <pc:docMk/>
            <pc:sldMk cId="2712817689" sldId="2147481495"/>
            <ac:graphicFrameMk id="14" creationId="{E4FF31DD-BBC6-A3BC-E842-2B577B56848F}"/>
          </ac:graphicFrameMkLst>
        </pc:graphicFrameChg>
        <pc:graphicFrameChg chg="modGraphic">
          <ac:chgData name="Joshi, Aastha" userId="2c9ba31a-aae3-421b-90f8-8da7b196bf17" providerId="ADAL" clId="{17485E79-539D-43A8-AD3F-772E0076C434}" dt="2026-08-31T17:30:10.621" v="6" actId="207"/>
          <ac:graphicFrameMkLst>
            <pc:docMk/>
            <pc:sldMk cId="2712817689" sldId="2147481495"/>
            <ac:graphicFrameMk id="27" creationId="{5DB03BEF-E3C2-2918-E851-2343DF4A9520}"/>
          </ac:graphicFrameMkLst>
        </pc:graphicFrameChg>
      </pc:sldChg>
      <pc:sldChg chg="modSp mod">
        <pc:chgData name="Joshi, Aastha" userId="2c9ba31a-aae3-421b-90f8-8da7b196bf17" providerId="ADAL" clId="{17485E79-539D-43A8-AD3F-772E0076C434}" dt="2026-08-31T20:57:01.304" v="159"/>
        <pc:sldMkLst>
          <pc:docMk/>
          <pc:sldMk cId="524899667" sldId="2147481519"/>
        </pc:sldMkLst>
        <pc:graphicFrameChg chg="mod">
          <ac:chgData name="Joshi, Aastha" userId="2c9ba31a-aae3-421b-90f8-8da7b196bf17" providerId="ADAL" clId="{17485E79-539D-43A8-AD3F-772E0076C434}" dt="2026-08-31T20:57:01.304" v="159"/>
          <ac:graphicFrameMkLst>
            <pc:docMk/>
            <pc:sldMk cId="524899667" sldId="2147481519"/>
            <ac:graphicFrameMk id="11" creationId="{6CE643CA-8419-1F97-0C7E-8D9863BBEE31}"/>
          </ac:graphicFrameMkLst>
        </pc:graphicFrameChg>
        <pc:graphicFrameChg chg="modGraphic">
          <ac:chgData name="Joshi, Aastha" userId="2c9ba31a-aae3-421b-90f8-8da7b196bf17" providerId="ADAL" clId="{17485E79-539D-43A8-AD3F-772E0076C434}" dt="2026-08-31T20:41:56.602" v="152" actId="122"/>
          <ac:graphicFrameMkLst>
            <pc:docMk/>
            <pc:sldMk cId="524899667" sldId="2147481519"/>
            <ac:graphicFrameMk id="27" creationId="{21A56700-9565-3394-6DE5-5D82967F1FD3}"/>
          </ac:graphicFrameMkLst>
        </pc:graphicFrameChg>
      </pc:sldChg>
      <pc:sldChg chg="modSp mod">
        <pc:chgData name="Joshi, Aastha" userId="2c9ba31a-aae3-421b-90f8-8da7b196bf17" providerId="ADAL" clId="{17485E79-539D-43A8-AD3F-772E0076C434}" dt="2026-08-31T20:56:29.473" v="155"/>
        <pc:sldMkLst>
          <pc:docMk/>
          <pc:sldMk cId="1819914217" sldId="2147481520"/>
        </pc:sldMkLst>
        <pc:spChg chg="mod">
          <ac:chgData name="Joshi, Aastha" userId="2c9ba31a-aae3-421b-90f8-8da7b196bf17" providerId="ADAL" clId="{17485E79-539D-43A8-AD3F-772E0076C434}" dt="2026-08-31T18:08:12.169" v="98" actId="1076"/>
          <ac:spMkLst>
            <pc:docMk/>
            <pc:sldMk cId="1819914217" sldId="2147481520"/>
            <ac:spMk id="5" creationId="{8D81D393-AB09-A717-CB22-2D83664B4E9F}"/>
          </ac:spMkLst>
        </pc:spChg>
        <pc:graphicFrameChg chg="mod">
          <ac:chgData name="Joshi, Aastha" userId="2c9ba31a-aae3-421b-90f8-8da7b196bf17" providerId="ADAL" clId="{17485E79-539D-43A8-AD3F-772E0076C434}" dt="2026-08-31T20:56:29.473" v="155"/>
          <ac:graphicFrameMkLst>
            <pc:docMk/>
            <pc:sldMk cId="1819914217" sldId="2147481520"/>
            <ac:graphicFrameMk id="11" creationId="{01DD775B-B1B3-036E-DAB4-1B32940EDE22}"/>
          </ac:graphicFrameMkLst>
        </pc:graphicFrameChg>
        <pc:graphicFrameChg chg="mod modGraphic">
          <ac:chgData name="Joshi, Aastha" userId="2c9ba31a-aae3-421b-90f8-8da7b196bf17" providerId="ADAL" clId="{17485E79-539D-43A8-AD3F-772E0076C434}" dt="2026-08-31T18:08:28.491" v="101" actId="2084"/>
          <ac:graphicFrameMkLst>
            <pc:docMk/>
            <pc:sldMk cId="1819914217" sldId="2147481520"/>
            <ac:graphicFrameMk id="27" creationId="{819C021D-B279-86D1-6CE6-1F1F4F6FAFCB}"/>
          </ac:graphicFrameMkLst>
        </pc:graphicFrameChg>
      </pc:sldChg>
      <pc:sldChg chg="modSp mod">
        <pc:chgData name="Joshi, Aastha" userId="2c9ba31a-aae3-421b-90f8-8da7b196bf17" providerId="ADAL" clId="{17485E79-539D-43A8-AD3F-772E0076C434}" dt="2026-08-31T20:56:20.788" v="154" actId="20577"/>
        <pc:sldMkLst>
          <pc:docMk/>
          <pc:sldMk cId="2426091294" sldId="2147481521"/>
        </pc:sldMkLst>
        <pc:graphicFrameChg chg="modGraphic">
          <ac:chgData name="Joshi, Aastha" userId="2c9ba31a-aae3-421b-90f8-8da7b196bf17" providerId="ADAL" clId="{17485E79-539D-43A8-AD3F-772E0076C434}" dt="2026-08-31T20:56:20.788" v="154" actId="20577"/>
          <ac:graphicFrameMkLst>
            <pc:docMk/>
            <pc:sldMk cId="2426091294" sldId="2147481521"/>
            <ac:graphicFrameMk id="11" creationId="{28D4CDE5-AA0C-D07F-EDAD-F755DF057F6A}"/>
          </ac:graphicFrameMkLst>
        </pc:graphicFrameChg>
      </pc:sldChg>
      <pc:sldChg chg="modSp mod ord">
        <pc:chgData name="Joshi, Aastha" userId="2c9ba31a-aae3-421b-90f8-8da7b196bf17" providerId="ADAL" clId="{17485E79-539D-43A8-AD3F-772E0076C434}" dt="2026-08-31T19:54:00.291" v="146" actId="20577"/>
        <pc:sldMkLst>
          <pc:docMk/>
          <pc:sldMk cId="3104578962" sldId="2147481524"/>
        </pc:sldMkLst>
        <pc:spChg chg="mod">
          <ac:chgData name="Joshi, Aastha" userId="2c9ba31a-aae3-421b-90f8-8da7b196bf17" providerId="ADAL" clId="{17485E79-539D-43A8-AD3F-772E0076C434}" dt="2026-08-31T19:54:00.291" v="146" actId="20577"/>
          <ac:spMkLst>
            <pc:docMk/>
            <pc:sldMk cId="3104578962" sldId="2147481524"/>
            <ac:spMk id="2" creationId="{A7D333C3-68E3-AC04-B550-73AC11694101}"/>
          </ac:spMkLst>
        </pc:spChg>
      </pc:sldChg>
      <pc:sldChg chg="modSp mod">
        <pc:chgData name="Joshi, Aastha" userId="2c9ba31a-aae3-421b-90f8-8da7b196bf17" providerId="ADAL" clId="{17485E79-539D-43A8-AD3F-772E0076C434}" dt="2026-08-31T20:36:30.896" v="151" actId="1076"/>
        <pc:sldMkLst>
          <pc:docMk/>
          <pc:sldMk cId="1951027285" sldId="2147481535"/>
        </pc:sldMkLst>
        <pc:spChg chg="mod">
          <ac:chgData name="Joshi, Aastha" userId="2c9ba31a-aae3-421b-90f8-8da7b196bf17" providerId="ADAL" clId="{17485E79-539D-43A8-AD3F-772E0076C434}" dt="2026-08-31T20:36:30.896" v="151" actId="1076"/>
          <ac:spMkLst>
            <pc:docMk/>
            <pc:sldMk cId="1951027285" sldId="2147481535"/>
            <ac:spMk id="3" creationId="{C8088A4C-078B-2D2E-C3BE-42C70EAD5010}"/>
          </ac:spMkLst>
        </pc:spChg>
        <pc:spChg chg="mod">
          <ac:chgData name="Joshi, Aastha" userId="2c9ba31a-aae3-421b-90f8-8da7b196bf17" providerId="ADAL" clId="{17485E79-539D-43A8-AD3F-772E0076C434}" dt="2026-08-31T17:29:18.845" v="3" actId="1076"/>
          <ac:spMkLst>
            <pc:docMk/>
            <pc:sldMk cId="1951027285" sldId="2147481535"/>
            <ac:spMk id="8" creationId="{319BD5A3-A2BD-6693-9F1F-9701AE1F1CE5}"/>
          </ac:spMkLst>
        </pc:spChg>
        <pc:graphicFrameChg chg="modGraphic">
          <ac:chgData name="Joshi, Aastha" userId="2c9ba31a-aae3-421b-90f8-8da7b196bf17" providerId="ADAL" clId="{17485E79-539D-43A8-AD3F-772E0076C434}" dt="2026-08-31T17:29:12.746" v="2" actId="14734"/>
          <ac:graphicFrameMkLst>
            <pc:docMk/>
            <pc:sldMk cId="1951027285" sldId="2147481535"/>
            <ac:graphicFrameMk id="27" creationId="{2C57617B-5240-4A92-8E6E-E8AC2E98E524}"/>
          </ac:graphicFrameMkLst>
        </pc:graphicFrameChg>
      </pc:sldChg>
      <pc:sldChg chg="modSp">
        <pc:chgData name="Joshi, Aastha" userId="2c9ba31a-aae3-421b-90f8-8da7b196bf17" providerId="ADAL" clId="{17485E79-539D-43A8-AD3F-772E0076C434}" dt="2026-08-31T20:56:52.894" v="158"/>
        <pc:sldMkLst>
          <pc:docMk/>
          <pc:sldMk cId="3730648050" sldId="2147481541"/>
        </pc:sldMkLst>
        <pc:graphicFrameChg chg="mod">
          <ac:chgData name="Joshi, Aastha" userId="2c9ba31a-aae3-421b-90f8-8da7b196bf17" providerId="ADAL" clId="{17485E79-539D-43A8-AD3F-772E0076C434}" dt="2026-08-31T20:56:52.894" v="158"/>
          <ac:graphicFrameMkLst>
            <pc:docMk/>
            <pc:sldMk cId="3730648050" sldId="2147481541"/>
            <ac:graphicFrameMk id="11" creationId="{CF5D9987-2924-45FB-C2E3-A69FA0B48A0B}"/>
          </ac:graphicFrameMkLst>
        </pc:graphicFrameChg>
      </pc:sldChg>
      <pc:sldChg chg="modSp mod">
        <pc:chgData name="Joshi, Aastha" userId="2c9ba31a-aae3-421b-90f8-8da7b196bf17" providerId="ADAL" clId="{17485E79-539D-43A8-AD3F-772E0076C434}" dt="2026-08-31T17:37:58.118" v="11" actId="108"/>
        <pc:sldMkLst>
          <pc:docMk/>
          <pc:sldMk cId="905492665" sldId="2147483646"/>
        </pc:sldMkLst>
        <pc:graphicFrameChg chg="mod modGraphic">
          <ac:chgData name="Joshi, Aastha" userId="2c9ba31a-aae3-421b-90f8-8da7b196bf17" providerId="ADAL" clId="{17485E79-539D-43A8-AD3F-772E0076C434}" dt="2026-08-31T17:37:58.118" v="11" actId="108"/>
          <ac:graphicFrameMkLst>
            <pc:docMk/>
            <pc:sldMk cId="905492665" sldId="2147483646"/>
            <ac:graphicFrameMk id="29" creationId="{834A5C42-524C-1A36-F1D6-A89E382ED2A8}"/>
          </ac:graphicFrameMkLst>
        </pc:graphicFrameChg>
      </pc:sldChg>
      <pc:sldChg chg="modSp mod">
        <pc:chgData name="Joshi, Aastha" userId="2c9ba31a-aae3-421b-90f8-8da7b196bf17" providerId="ADAL" clId="{17485E79-539D-43A8-AD3F-772E0076C434}" dt="2026-08-31T18:02:17.284" v="65"/>
        <pc:sldMkLst>
          <pc:docMk/>
          <pc:sldMk cId="3732107178" sldId="2147483647"/>
        </pc:sldMkLst>
        <pc:graphicFrameChg chg="mod modGraphic">
          <ac:chgData name="Joshi, Aastha" userId="2c9ba31a-aae3-421b-90f8-8da7b196bf17" providerId="ADAL" clId="{17485E79-539D-43A8-AD3F-772E0076C434}" dt="2026-08-31T18:02:17.284" v="65"/>
          <ac:graphicFrameMkLst>
            <pc:docMk/>
            <pc:sldMk cId="3732107178" sldId="2147483647"/>
            <ac:graphicFrameMk id="11" creationId="{4A50D08C-86AA-D1CE-4C4E-28F18B7CF4FE}"/>
          </ac:graphicFrameMkLst>
        </pc:graphicFrameChg>
        <pc:graphicFrameChg chg="modGraphic">
          <ac:chgData name="Joshi, Aastha" userId="2c9ba31a-aae3-421b-90f8-8da7b196bf17" providerId="ADAL" clId="{17485E79-539D-43A8-AD3F-772E0076C434}" dt="2026-08-31T18:00:25.139" v="61" actId="108"/>
          <ac:graphicFrameMkLst>
            <pc:docMk/>
            <pc:sldMk cId="3732107178" sldId="2147483647"/>
            <ac:graphicFrameMk id="26" creationId="{B4469025-E89B-A945-DDF7-AD32332B6CD0}"/>
          </ac:graphicFrameMkLst>
        </pc:graphicFrameChg>
        <pc:graphicFrameChg chg="modGraphic">
          <ac:chgData name="Joshi, Aastha" userId="2c9ba31a-aae3-421b-90f8-8da7b196bf17" providerId="ADAL" clId="{17485E79-539D-43A8-AD3F-772E0076C434}" dt="2026-08-31T18:00:39.022" v="62" actId="207"/>
          <ac:graphicFrameMkLst>
            <pc:docMk/>
            <pc:sldMk cId="3732107178" sldId="2147483647"/>
            <ac:graphicFrameMk id="27" creationId="{5D24B6AB-2DD3-6F29-B6BA-A86B85048342}"/>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6629356-C1FA-45A0-BCA7-659F2496F3ED}" type="datetimeFigureOut">
              <a:rPr lang="en-GB" smtClean="0"/>
              <a:t>01/09/2026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B479E8F-4D26-495F-B929-7EA6B1E45931}" type="slidenum">
              <a:rPr lang="en-GB" smtClean="0"/>
              <a:t>‹#›</a:t>
            </a:fld>
            <a:endParaRPr lang="en-GB"/>
          </a:p>
        </p:txBody>
      </p:sp>
    </p:spTree>
    <p:extLst>
      <p:ext uri="{BB962C8B-B14F-4D97-AF65-F5344CB8AC3E}">
        <p14:creationId xmlns:p14="http://schemas.microsoft.com/office/powerpoint/2010/main" val="42264497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FB79C7-EADF-BC8B-8926-57212B23C7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75191F-18BF-3945-682C-206CBC75D81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5A162FE-90F7-D2D3-7E55-9E516BC8B52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B0C010A-3C4A-8759-717D-1195BA7B3F0F}"/>
              </a:ext>
            </a:extLst>
          </p:cNvPr>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088F3EF-73BF-45DE-9A8A-E9E7E94851C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605653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EAA1A7-7694-8B92-5961-ABCE4F7CD9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987342-799F-E7EE-F7BB-93D1030D2DF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8F7B815-CF23-BE05-C5BB-8203A656E38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AE9258E-3514-6D35-0B60-30F538E5DAC8}"/>
              </a:ext>
            </a:extLst>
          </p:cNvPr>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088F3EF-73BF-45DE-9A8A-E9E7E94851C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687902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55A5FB-1E33-5FE1-CFAF-CF57BCAA52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214027-01A0-513D-98BD-F9B10E5EE88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7C92085-C9E5-473B-548D-49098A10803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4636F77-31E5-EAF7-DB97-DDE5417FB02A}"/>
              </a:ext>
            </a:extLst>
          </p:cNvPr>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088F3EF-73BF-45DE-9A8A-E9E7E94851C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774742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9A9BC9-C2C8-749D-BDC5-EE25E63E2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87ECCF-3E2A-7359-06DE-645082B3A4E0}"/>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90164AC-6708-30B3-4191-86710BD4B48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9298716-0A9A-70A8-B37B-7F166FEE151D}"/>
              </a:ext>
            </a:extLst>
          </p:cNvPr>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088F3EF-73BF-45DE-9A8A-E9E7E94851C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312020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E9C37F-7B5C-BAA4-A513-62374E2931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EB5CCF-10F0-FE65-F1B1-E581E304948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E5A92307-CA1C-4265-0A6E-58889E01EFF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FD55083-E4F3-7B9A-EA1F-BB6A443D766C}"/>
              </a:ext>
            </a:extLst>
          </p:cNvPr>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088F3EF-73BF-45DE-9A8A-E9E7E94851C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330517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E9042D-3F1B-0888-0E4B-B5787124F5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EAC3F8-63AE-354A-1FFD-31606D9B653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81C59C66-D4E3-9BF6-4481-97D17A58858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BC57B40-DE03-512F-3331-4C70DA11C608}"/>
              </a:ext>
            </a:extLst>
          </p:cNvPr>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088F3EF-73BF-45DE-9A8A-E9E7E94851C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054791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74DAFD-F387-19FB-55DD-5EF5C8345C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D8C72D-E915-4082-F40C-E80E1A84428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E89B7D4B-E08E-28E6-8537-A2765A86AF8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C0A0DCB-E5BC-8D5D-24C4-52054DC88B3E}"/>
              </a:ext>
            </a:extLst>
          </p:cNvPr>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088F3EF-73BF-45DE-9A8A-E9E7E94851C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772340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DCE132-7D04-CBF6-A44A-3D1B60ACA9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ABB769-5363-82AF-2B12-EC8AFA56968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B507CA7-C163-8705-EC43-BC034DF8502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84DECA2-DFB1-FAD9-D747-8EB93FE35C55}"/>
              </a:ext>
            </a:extLst>
          </p:cNvPr>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088F3EF-73BF-45DE-9A8A-E9E7E94851C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930295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0BDE6E-9A6F-4CCB-53C7-872BCB3004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030951-894F-1A8A-1662-9BE43E31246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E11F976-5FBF-AD75-9114-F1F676A68F2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60CF1A6-168F-EF21-89BE-7583353BD7EC}"/>
              </a:ext>
            </a:extLst>
          </p:cNvPr>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088F3EF-73BF-45DE-9A8A-E9E7E94851C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8489924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55A5FB-1E33-5FE1-CFAF-CF57BCAA52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214027-01A0-513D-98BD-F9B10E5EE88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7C92085-C9E5-473B-548D-49098A10803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4636F77-31E5-EAF7-DB97-DDE5417FB02A}"/>
              </a:ext>
            </a:extLst>
          </p:cNvPr>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088F3EF-73BF-45DE-9A8A-E9E7E94851C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7747425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C5C62A-3C89-5962-AB56-9B0B7405A0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A0B0ED-C980-6802-C996-74173E9DF6E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56581E5-8DED-05BC-BD57-6416F3A5489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FE13792-2306-DB35-1DD8-EF1EAA9173D4}"/>
              </a:ext>
            </a:extLst>
          </p:cNvPr>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088F3EF-73BF-45DE-9A8A-E9E7E94851C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7956605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AF2C28-3B68-43D0-5C34-98DCDDB9B5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A4A19F-005C-3829-80B9-973DFD94DF9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4EA0E50-2729-B1CB-067E-231F68F4182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6583DCE-30B0-32C6-CF2A-4F9639CB39A2}"/>
              </a:ext>
            </a:extLst>
          </p:cNvPr>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088F3EF-73BF-45DE-9A8A-E9E7E94851C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1909202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286105-B50D-5261-DE45-F942781211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956A5B-EF7E-6D62-855C-6B4A6D4B0EE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C906029-50DE-F0FA-29F9-689FD7BD215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22E348D-EA5E-FD94-3BE8-057B605ADAFF}"/>
              </a:ext>
            </a:extLst>
          </p:cNvPr>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088F3EF-73BF-45DE-9A8A-E9E7E94851C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2530686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039F18-1C01-56F7-69CF-00F1045A51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53E265-D1FA-CCE7-8C1F-A74D0F753BE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82799E9A-165E-FFBF-563B-D020791B0235}"/>
              </a:ext>
            </a:extLst>
          </p:cNvPr>
          <p:cNvSpPr>
            <a:spLocks noGrp="1"/>
          </p:cNvSpPr>
          <p:nvPr>
            <p:ph type="body" idx="1"/>
          </p:nvPr>
        </p:nvSpPr>
        <p:spPr/>
        <p:txBody>
          <a:bodyPr/>
          <a:lstStyle/>
          <a:p>
            <a:endParaRPr lang="en-US"/>
          </a:p>
          <a:p>
            <a:endParaRPr lang="en-US"/>
          </a:p>
          <a:p>
            <a:endParaRPr lang="en-US"/>
          </a:p>
          <a:p>
            <a:endParaRPr lang="en-US"/>
          </a:p>
          <a:p>
            <a:endParaRPr lang="en-US"/>
          </a:p>
          <a:p>
            <a:r>
              <a:rPr lang="en-US"/>
              <a:t>Chuck, Tamil, Victor</a:t>
            </a:r>
          </a:p>
        </p:txBody>
      </p:sp>
      <p:sp>
        <p:nvSpPr>
          <p:cNvPr id="4" name="Slide Number Placeholder 3">
            <a:extLst>
              <a:ext uri="{FF2B5EF4-FFF2-40B4-BE49-F238E27FC236}">
                <a16:creationId xmlns:a16="http://schemas.microsoft.com/office/drawing/2014/main" id="{BA31287E-3637-EACD-2F14-B3C5F7156F70}"/>
              </a:ext>
            </a:extLst>
          </p:cNvPr>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088F3EF-73BF-45DE-9A8A-E9E7E94851C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5611938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B42861-5396-3E00-A93B-9FA9978D34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2F53A0-865D-1E3B-99A5-C8F527C92A5D}"/>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67A711A-B0F3-1AF2-8C17-D5CCC753CC3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9CAA087-9B2E-740A-08EC-1911E98732CF}"/>
              </a:ext>
            </a:extLst>
          </p:cNvPr>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088F3EF-73BF-45DE-9A8A-E9E7E94851C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7702664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09A4CD-F439-312E-FD10-D42BDE2BBD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B4C027-624A-998A-796E-C2DD6D9AD9A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ECF7F58D-A352-5F63-8A6A-E58AC88828E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AE2F8CF-DED4-47CC-1DFF-E9FAF422812B}"/>
              </a:ext>
            </a:extLst>
          </p:cNvPr>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088F3EF-73BF-45DE-9A8A-E9E7E94851C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3746501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5AED56-1EF8-53F2-E0F5-FB96368776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9F6307-54EE-1745-388E-19BBE860042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E4E17C60-2A7E-273A-3EBA-45EAB7803DD1}"/>
              </a:ext>
            </a:extLst>
          </p:cNvPr>
          <p:cNvSpPr>
            <a:spLocks noGrp="1"/>
          </p:cNvSpPr>
          <p:nvPr>
            <p:ph type="body" idx="1"/>
          </p:nvPr>
        </p:nvSpPr>
        <p:spPr/>
        <p:txBody>
          <a:bodyPr/>
          <a:lstStyle/>
          <a:p>
            <a:endParaRPr lang="en-US"/>
          </a:p>
          <a:p>
            <a:endParaRPr lang="en-US"/>
          </a:p>
          <a:p>
            <a:endParaRPr lang="en-US"/>
          </a:p>
          <a:p>
            <a:endParaRPr lang="en-US"/>
          </a:p>
          <a:p>
            <a:r>
              <a:rPr lang="en-US"/>
              <a:t>Karthik S</a:t>
            </a:r>
          </a:p>
        </p:txBody>
      </p:sp>
      <p:sp>
        <p:nvSpPr>
          <p:cNvPr id="4" name="Slide Number Placeholder 3">
            <a:extLst>
              <a:ext uri="{FF2B5EF4-FFF2-40B4-BE49-F238E27FC236}">
                <a16:creationId xmlns:a16="http://schemas.microsoft.com/office/drawing/2014/main" id="{BEC78B02-0596-0E55-DC67-6C362095F7DB}"/>
              </a:ext>
            </a:extLst>
          </p:cNvPr>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088F3EF-73BF-45DE-9A8A-E9E7E94851C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7179836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EAA1A7-7694-8B92-5961-ABCE4F7CD9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987342-799F-E7EE-F7BB-93D1030D2DF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8F7B815-CF23-BE05-C5BB-8203A656E38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AE9258E-3514-6D35-0B60-30F538E5DAC8}"/>
              </a:ext>
            </a:extLst>
          </p:cNvPr>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088F3EF-73BF-45DE-9A8A-E9E7E94851C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6879029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1B5046-50D0-631E-B411-E32CBD1770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462C0A-A1FA-95C3-95DD-9B9413978B64}"/>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8280CD8-45D0-B4D5-77D8-925ED8D3C2D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EC7B493-8B37-55B3-5462-C314B30C1204}"/>
              </a:ext>
            </a:extLst>
          </p:cNvPr>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088F3EF-73BF-45DE-9A8A-E9E7E94851C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1058060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EAA1A7-7694-8B92-5961-ABCE4F7CD9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987342-799F-E7EE-F7BB-93D1030D2DF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8F7B815-CF23-BE05-C5BB-8203A656E38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AE9258E-3514-6D35-0B60-30F538E5DAC8}"/>
              </a:ext>
            </a:extLst>
          </p:cNvPr>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088F3EF-73BF-45DE-9A8A-E9E7E94851C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6879029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695C24-89E7-9BF7-2308-20111C2435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E3A35C-7CF9-FE5F-F59A-44438739BFB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5C5D3DB-0589-A76A-FBEB-B4780FF1B96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486091B-5E86-7312-C630-12E3547386C5}"/>
              </a:ext>
            </a:extLst>
          </p:cNvPr>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088F3EF-73BF-45DE-9A8A-E9E7E94851C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2457958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1DA67E-3D15-2AD1-E31B-4385EE1C77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9AD373-23EA-8994-7AB2-7C387D1F334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961BC99-12FD-6B03-783B-A6EB67A7031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F846378-77A0-9EB1-7663-9EAC902D0553}"/>
              </a:ext>
            </a:extLst>
          </p:cNvPr>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088F3EF-73BF-45DE-9A8A-E9E7E94851C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8245948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0610EC-BCFC-F2BE-37FD-37BF46B7A9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4B536B-BFEA-F9F5-1313-32E891A411C4}"/>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875DFDE-5627-3151-FA64-C3E685D6226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E112DA5-6B7F-C608-FB07-F66C5ED2C8D2}"/>
              </a:ext>
            </a:extLst>
          </p:cNvPr>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088F3EF-73BF-45DE-9A8A-E9E7E94851C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2080216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AA60D0-3E7B-FBE2-B141-81A3808F8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2AC2AD-56F7-301B-8999-607179F8D54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BB42585-2959-660A-7FC2-E51DFEB49F5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3D0540B-A5E4-AC17-326E-6B016EE0CAC2}"/>
              </a:ext>
            </a:extLst>
          </p:cNvPr>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088F3EF-73BF-45DE-9A8A-E9E7E94851C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4450478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B907CE-2B2B-F3C7-9F80-1B1B1808BF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8B4952-E2D8-09B4-F893-4DBF236AAB4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FF06CE5-3901-3531-1289-63A19E77162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D08BA4E-8DE0-EB9A-509A-305BFEE02E20}"/>
              </a:ext>
            </a:extLst>
          </p:cNvPr>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088F3EF-73BF-45DE-9A8A-E9E7E94851C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0822115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DA5805-9445-C177-4BA8-9DBBEAD7D2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3C6415-DFD4-B78D-96DB-673508D60EC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4658FA4-487C-C80F-E4CA-4D203EF0445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E7F9B1D-D602-808D-76F0-30C745149FB4}"/>
              </a:ext>
            </a:extLst>
          </p:cNvPr>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088F3EF-73BF-45DE-9A8A-E9E7E94851C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6409814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5CB6B1-1123-36AB-F220-6593274D7F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7ED03D-CD04-00BE-7B9C-36EA25531A0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3E93A9F-7AA4-63B8-5E4D-0738D0BAFF8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EA6B76E-B2FF-C1F4-8FDF-FC22C7C72C6E}"/>
              </a:ext>
            </a:extLst>
          </p:cNvPr>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088F3EF-73BF-45DE-9A8A-E9E7E94851C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3783533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C8D92F-DD04-A69A-0B0C-087331A613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F612E2-BAFA-A5A8-2A53-1279C92E67D0}"/>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9F51175-D2D6-38C0-2172-1C0318D266A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A068347-19E2-34D8-8B61-2B4C9D2DC887}"/>
              </a:ext>
            </a:extLst>
          </p:cNvPr>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088F3EF-73BF-45DE-9A8A-E9E7E94851C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46424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55A5FB-1E33-5FE1-CFAF-CF57BCAA52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214027-01A0-513D-98BD-F9B10E5EE88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7C92085-C9E5-473B-548D-49098A10803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4636F77-31E5-EAF7-DB97-DDE5417FB02A}"/>
              </a:ext>
            </a:extLst>
          </p:cNvPr>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088F3EF-73BF-45DE-9A8A-E9E7E94851C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7747425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087208-6557-CC49-70E4-77242DB567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64D8F5-8B94-0C11-B1D1-551D05EA09C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B766ACD-4463-CD9A-FE7E-1A4AB1A13166}"/>
              </a:ext>
            </a:extLst>
          </p:cNvPr>
          <p:cNvSpPr>
            <a:spLocks noGrp="1"/>
          </p:cNvSpPr>
          <p:nvPr>
            <p:ph type="body" idx="1"/>
          </p:nvPr>
        </p:nvSpPr>
        <p:spPr/>
        <p:txBody>
          <a:bodyPr/>
          <a:lstStyle/>
          <a:p>
            <a:r>
              <a:rPr lang="en-US" sz="1200" kern="1200">
                <a:solidFill>
                  <a:schemeClr val="tx1"/>
                </a:solidFill>
                <a:effectLst/>
                <a:latin typeface="+mn-lt"/>
                <a:ea typeface="+mn-ea"/>
                <a:cs typeface="+mn-cs"/>
              </a:rPr>
              <a:t> </a:t>
            </a:r>
            <a:endParaRPr lang="en-US" sz="1200" b="0" i="0" kern="1200">
              <a:solidFill>
                <a:schemeClr val="tx1"/>
              </a:solidFill>
              <a:effectLst/>
              <a:latin typeface="+mn-lt"/>
              <a:ea typeface="+mn-ea"/>
              <a:cs typeface="+mn-cs"/>
            </a:endParaRPr>
          </a:p>
          <a:p>
            <a:pPr fontAlgn="t"/>
            <a:endParaRPr lang="en-US" sz="1200" b="0" i="0" kern="1200">
              <a:solidFill>
                <a:schemeClr val="tx1"/>
              </a:solidFill>
              <a:effectLst/>
              <a:latin typeface="+mn-lt"/>
              <a:ea typeface="+mn-ea"/>
              <a:cs typeface="+mn-cs"/>
            </a:endParaRPr>
          </a:p>
          <a:p>
            <a:pPr fontAlgn="t"/>
            <a:endParaRPr lang="en-US" sz="1200" b="0" i="0" kern="1200">
              <a:solidFill>
                <a:schemeClr val="tx1"/>
              </a:solidFill>
              <a:effectLst/>
              <a:latin typeface="+mn-lt"/>
              <a:ea typeface="+mn-ea"/>
              <a:cs typeface="+mn-cs"/>
            </a:endParaRPr>
          </a:p>
          <a:p>
            <a:pPr fontAlgn="t"/>
            <a:endParaRPr lang="en-US" sz="1200" b="0" i="0" kern="120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88CEB8D0-A602-FCAF-C55B-B1784C8B7CE9}"/>
              </a:ext>
            </a:extLst>
          </p:cNvPr>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088F3EF-73BF-45DE-9A8A-E9E7E94851C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0724293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EAA1A7-7694-8B92-5961-ABCE4F7CD9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987342-799F-E7EE-F7BB-93D1030D2DF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8F7B815-CF23-BE05-C5BB-8203A656E38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AE9258E-3514-6D35-0B60-30F538E5DAC8}"/>
              </a:ext>
            </a:extLst>
          </p:cNvPr>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088F3EF-73BF-45DE-9A8A-E9E7E94851C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6879029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FB79C7-EADF-BC8B-8926-57212B23C7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75191F-18BF-3945-682C-206CBC75D81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5A162FE-90F7-D2D3-7E55-9E516BC8B52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B0C010A-3C4A-8759-717D-1195BA7B3F0F}"/>
              </a:ext>
            </a:extLst>
          </p:cNvPr>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088F3EF-73BF-45DE-9A8A-E9E7E94851C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0869586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0EA2D2-BDFC-32C7-9A70-6FA01F6942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C2C7FD-C105-3127-9A3F-3E801E23CFE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4C8B4EC-1CF1-B33E-CD03-6F89FFEE97F8}"/>
              </a:ext>
            </a:extLst>
          </p:cNvPr>
          <p:cNvSpPr>
            <a:spLocks noGrp="1"/>
          </p:cNvSpPr>
          <p:nvPr>
            <p:ph type="body" idx="1"/>
          </p:nvPr>
        </p:nvSpPr>
        <p:spPr/>
        <p:txBody>
          <a:bodyPr/>
          <a:lstStyle/>
          <a:p>
            <a:r>
              <a:rPr lang="en-US">
                <a:ea typeface="Calibri"/>
                <a:cs typeface="Calibri"/>
              </a:rPr>
              <a:t>Chuck for latest status</a:t>
            </a:r>
            <a:endParaRPr lang="en-US"/>
          </a:p>
        </p:txBody>
      </p:sp>
      <p:sp>
        <p:nvSpPr>
          <p:cNvPr id="4" name="Slide Number Placeholder 3">
            <a:extLst>
              <a:ext uri="{FF2B5EF4-FFF2-40B4-BE49-F238E27FC236}">
                <a16:creationId xmlns:a16="http://schemas.microsoft.com/office/drawing/2014/main" id="{4C70DD59-DB0A-5D5A-40A2-497A1DC962A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5F42730-5DAA-434A-85BA-BE3B7472766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7237874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D73E10-DF75-BB1A-D4C6-4579D8A232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58A255-4B2D-0042-68ED-B1AE623C980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BB8A5DA-3876-847B-F5E2-A071EF54543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68BA630-6751-CEEC-E3DD-B57172A7DE5F}"/>
              </a:ext>
            </a:extLst>
          </p:cNvPr>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088F3EF-73BF-45DE-9A8A-E9E7E94851C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8145990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Discovery Effort:</a:t>
            </a:r>
          </a:p>
          <a:p>
            <a:r>
              <a:rPr lang="en-US"/>
              <a:t>DL – 40 </a:t>
            </a:r>
            <a:r>
              <a:rPr lang="en-US" err="1"/>
              <a:t>hrs</a:t>
            </a:r>
            <a:endParaRPr lang="en-US"/>
          </a:p>
          <a:p>
            <a:r>
              <a:rPr lang="en-US"/>
              <a:t>TA - 40</a:t>
            </a:r>
          </a:p>
          <a:p>
            <a:r>
              <a:rPr lang="en-US"/>
              <a:t>TL -40</a:t>
            </a:r>
          </a:p>
          <a:p>
            <a:r>
              <a:rPr lang="en-US"/>
              <a:t>Arch - 40</a:t>
            </a:r>
          </a:p>
          <a:p>
            <a:r>
              <a:rPr lang="en-US"/>
              <a:t>QE - 40</a:t>
            </a:r>
          </a:p>
          <a:p>
            <a:r>
              <a:rPr lang="en-US"/>
              <a:t>TIA – 40 (NB)</a:t>
            </a:r>
          </a:p>
          <a:p>
            <a:r>
              <a:rPr lang="en-US"/>
              <a:t>Total = 200 hours</a:t>
            </a:r>
          </a:p>
        </p:txBody>
      </p:sp>
      <p:sp>
        <p:nvSpPr>
          <p:cNvPr id="4" name="Slide Number Placeholder 3"/>
          <p:cNvSpPr>
            <a:spLocks noGrp="1"/>
          </p:cNvSpPr>
          <p:nvPr>
            <p:ph type="sldNum" sz="quarter" idx="5"/>
          </p:nvPr>
        </p:nvSpPr>
        <p:spPr/>
        <p:txBody>
          <a:bodyPr/>
          <a:lstStyle/>
          <a:p>
            <a:fld id="{B088761A-50C6-4AFA-B868-0229D5E5243A}" type="slidenum">
              <a:rPr lang="en-US" smtClean="0"/>
              <a:t>44</a:t>
            </a:fld>
            <a:endParaRPr lang="en-US"/>
          </a:p>
        </p:txBody>
      </p:sp>
    </p:spTree>
    <p:extLst>
      <p:ext uri="{BB962C8B-B14F-4D97-AF65-F5344CB8AC3E}">
        <p14:creationId xmlns:p14="http://schemas.microsoft.com/office/powerpoint/2010/main" val="405628409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1B5D17-C385-F834-C87F-95C083EE5E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BB50FF-CF49-663E-66E5-7BDA40CA214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8FDC997-382C-27B0-6B08-FF78A7EFE2DB}"/>
              </a:ext>
            </a:extLst>
          </p:cNvPr>
          <p:cNvSpPr>
            <a:spLocks noGrp="1"/>
          </p:cNvSpPr>
          <p:nvPr>
            <p:ph type="body" idx="1"/>
          </p:nvPr>
        </p:nvSpPr>
        <p:spPr/>
        <p:txBody>
          <a:bodyPr/>
          <a:lstStyle/>
          <a:p>
            <a:endParaRPr lang="en-US"/>
          </a:p>
          <a:p>
            <a:endParaRPr lang="en-US"/>
          </a:p>
        </p:txBody>
      </p:sp>
      <p:sp>
        <p:nvSpPr>
          <p:cNvPr id="4" name="Slide Number Placeholder 3">
            <a:extLst>
              <a:ext uri="{FF2B5EF4-FFF2-40B4-BE49-F238E27FC236}">
                <a16:creationId xmlns:a16="http://schemas.microsoft.com/office/drawing/2014/main" id="{FA365EA0-7671-15D9-9A83-899F075279E0}"/>
              </a:ext>
            </a:extLst>
          </p:cNvPr>
          <p:cNvSpPr>
            <a:spLocks noGrp="1"/>
          </p:cNvSpPr>
          <p:nvPr>
            <p:ph type="sldNum" sz="quarter" idx="5"/>
          </p:nvPr>
        </p:nvSpPr>
        <p:spPr/>
        <p:txBody>
          <a:bodyPr/>
          <a:lstStyle/>
          <a:p>
            <a:pPr marL="0" marR="0" lvl="0" indent="0" algn="r" defTabSz="949200" rtl="0" eaLnBrk="1" fontAlgn="auto" latinLnBrk="0" hangingPunct="1">
              <a:lnSpc>
                <a:spcPct val="100000"/>
              </a:lnSpc>
              <a:spcBef>
                <a:spcPts val="0"/>
              </a:spcBef>
              <a:spcAft>
                <a:spcPts val="0"/>
              </a:spcAft>
              <a:buClrTx/>
              <a:buSzTx/>
              <a:buFontTx/>
              <a:buNone/>
              <a:tabLst/>
              <a:defRPr/>
            </a:pPr>
            <a:fld id="{06F2C892-76EC-9D4C-8CE2-2A5FA3508518}"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49200" rtl="0" eaLnBrk="1" fontAlgn="auto" latinLnBrk="0" hangingPunct="1">
                <a:lnSpc>
                  <a:spcPct val="100000"/>
                </a:lnSpc>
                <a:spcBef>
                  <a:spcPts val="0"/>
                </a:spcBef>
                <a:spcAft>
                  <a:spcPts val="0"/>
                </a:spcAft>
                <a:buClrTx/>
                <a:buSzTx/>
                <a:buFontTx/>
                <a:buNone/>
                <a:tabLst/>
                <a:defRPr/>
              </a:pPr>
              <a:t>55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7479037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peg"/><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jpeg"/><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slideMaster" Target="../slideMasters/slideMaster3.xml"/><Relationship Id="rId1" Type="http://schemas.openxmlformats.org/officeDocument/2006/relationships/tags" Target="../tags/tag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tx2"/>
        </a:solidFill>
        <a:effectLst/>
      </p:bgPr>
    </p:bg>
    <p:spTree>
      <p:nvGrpSpPr>
        <p:cNvPr id="1" name=""/>
        <p:cNvGrpSpPr/>
        <p:nvPr/>
      </p:nvGrpSpPr>
      <p:grpSpPr>
        <a:xfrm>
          <a:off x="0" y="0"/>
          <a:ext cx="0" cy="0"/>
          <a:chOff x="0" y="0"/>
          <a:chExt cx="0" cy="0"/>
        </a:xfrm>
      </p:grpSpPr>
      <p:pic>
        <p:nvPicPr>
          <p:cNvPr id="24" name="Background image">
            <a:extLst>
              <a:ext uri="{FF2B5EF4-FFF2-40B4-BE49-F238E27FC236}">
                <a16:creationId xmlns:a16="http://schemas.microsoft.com/office/drawing/2014/main" id="{679CA6D4-DB00-455E-AC6F-BE50491FE771}"/>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8" name="Title 1">
            <a:extLst>
              <a:ext uri="{FF2B5EF4-FFF2-40B4-BE49-F238E27FC236}">
                <a16:creationId xmlns:a16="http://schemas.microsoft.com/office/drawing/2014/main" id="{01BB3325-8865-A24E-9E0E-637AE1E66BD2}"/>
              </a:ext>
            </a:extLst>
          </p:cNvPr>
          <p:cNvSpPr>
            <a:spLocks noGrp="1"/>
          </p:cNvSpPr>
          <p:nvPr>
            <p:ph type="title"/>
          </p:nvPr>
        </p:nvSpPr>
        <p:spPr>
          <a:xfrm>
            <a:off x="504825" y="549275"/>
            <a:ext cx="5770563" cy="1462405"/>
          </a:xfrm>
        </p:spPr>
        <p:txBody>
          <a:bodyPr/>
          <a:lstStyle>
            <a:lvl1pPr>
              <a:defRPr>
                <a:solidFill>
                  <a:schemeClr val="bg1"/>
                </a:solidFill>
              </a:defRPr>
            </a:lvl1pPr>
          </a:lstStyle>
          <a:p>
            <a:r>
              <a:rPr lang="en-US"/>
              <a:t>Click to edit Master title style</a:t>
            </a:r>
            <a:endParaRPr lang="en-GB"/>
          </a:p>
        </p:txBody>
      </p:sp>
      <p:sp>
        <p:nvSpPr>
          <p:cNvPr id="30" name="Subtitle or Presenter">
            <a:extLst>
              <a:ext uri="{FF2B5EF4-FFF2-40B4-BE49-F238E27FC236}">
                <a16:creationId xmlns:a16="http://schemas.microsoft.com/office/drawing/2014/main" id="{D204E043-1025-EC48-829B-ABB5DBC0382E}"/>
              </a:ext>
            </a:extLst>
          </p:cNvPr>
          <p:cNvSpPr>
            <a:spLocks noGrp="1"/>
          </p:cNvSpPr>
          <p:nvPr>
            <p:ph type="body" sz="quarter" idx="12" hasCustomPrompt="1"/>
          </p:nvPr>
        </p:nvSpPr>
        <p:spPr>
          <a:xfrm>
            <a:off x="504824" y="2634109"/>
            <a:ext cx="2726056" cy="639673"/>
          </a:xfrm>
        </p:spPr>
        <p:txBody>
          <a:bodyPr/>
          <a:lstStyle>
            <a:lvl1pPr>
              <a:lnSpc>
                <a:spcPct val="112000"/>
              </a:lnSpc>
              <a:spcAft>
                <a:spcPts val="0"/>
              </a:spcAft>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Subtitle or </a:t>
            </a:r>
            <a:br>
              <a:rPr lang="en-US"/>
            </a:br>
            <a:r>
              <a:rPr lang="en-US"/>
              <a:t>Presenter</a:t>
            </a:r>
          </a:p>
        </p:txBody>
      </p:sp>
      <p:sp>
        <p:nvSpPr>
          <p:cNvPr id="31" name="Date">
            <a:extLst>
              <a:ext uri="{FF2B5EF4-FFF2-40B4-BE49-F238E27FC236}">
                <a16:creationId xmlns:a16="http://schemas.microsoft.com/office/drawing/2014/main" id="{9773E334-7E20-F144-8F18-14E3714D2AFC}"/>
              </a:ext>
            </a:extLst>
          </p:cNvPr>
          <p:cNvSpPr>
            <a:spLocks noGrp="1"/>
          </p:cNvSpPr>
          <p:nvPr>
            <p:ph type="body" sz="quarter" idx="13" hasCustomPrompt="1"/>
          </p:nvPr>
        </p:nvSpPr>
        <p:spPr>
          <a:xfrm>
            <a:off x="3549332" y="2634109"/>
            <a:ext cx="2726056" cy="639673"/>
          </a:xfrm>
        </p:spPr>
        <p:txBody>
          <a:bodyPr/>
          <a:lstStyle>
            <a:lvl1pPr>
              <a:lnSpc>
                <a:spcPct val="112000"/>
              </a:lnSpc>
              <a:spcAft>
                <a:spcPts val="0"/>
              </a:spcAft>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Date</a:t>
            </a:r>
          </a:p>
        </p:txBody>
      </p:sp>
      <p:sp>
        <p:nvSpPr>
          <p:cNvPr id="32" name="Text Placeholder 2">
            <a:extLst>
              <a:ext uri="{FF2B5EF4-FFF2-40B4-BE49-F238E27FC236}">
                <a16:creationId xmlns:a16="http://schemas.microsoft.com/office/drawing/2014/main" id="{7E85BCEA-7262-134E-BA8E-1744D7C90553}"/>
              </a:ext>
            </a:extLst>
          </p:cNvPr>
          <p:cNvSpPr>
            <a:spLocks noGrp="1"/>
          </p:cNvSpPr>
          <p:nvPr>
            <p:ph type="body" sz="quarter" idx="14" hasCustomPrompt="1"/>
          </p:nvPr>
        </p:nvSpPr>
        <p:spPr>
          <a:xfrm>
            <a:off x="504824" y="2207368"/>
            <a:ext cx="5770562" cy="271672"/>
          </a:xfrm>
        </p:spPr>
        <p:txBody>
          <a:bodyPr/>
          <a:lstStyle>
            <a:lvl1pPr>
              <a:defRPr sz="1600" b="1">
                <a:ln>
                  <a:noFill/>
                </a:ln>
                <a:solidFill>
                  <a:schemeClr val="bg1"/>
                </a:solidFill>
              </a:defRPr>
            </a:lvl1pPr>
          </a:lstStyle>
          <a:p>
            <a:pPr lvl="0"/>
            <a:r>
              <a:rPr lang="en-US"/>
              <a:t>Department name</a:t>
            </a:r>
          </a:p>
        </p:txBody>
      </p:sp>
      <p:pic>
        <p:nvPicPr>
          <p:cNvPr id="3" name="Picture 2" descr="Nationwide reversed color version logo&#10;">
            <a:extLst>
              <a:ext uri="{FF2B5EF4-FFF2-40B4-BE49-F238E27FC236}">
                <a16:creationId xmlns:a16="http://schemas.microsoft.com/office/drawing/2014/main" id="{83B21408-DA39-E372-9ABA-32E7F837B77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235495" y="4023363"/>
            <a:ext cx="2410477" cy="2369965"/>
          </a:xfrm>
          <a:prstGeom prst="rect">
            <a:avLst/>
          </a:prstGeom>
        </p:spPr>
      </p:pic>
    </p:spTree>
    <p:extLst>
      <p:ext uri="{BB962C8B-B14F-4D97-AF65-F5344CB8AC3E}">
        <p14:creationId xmlns:p14="http://schemas.microsoft.com/office/powerpoint/2010/main" val="30466240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2">
    <p:bg>
      <p:bgPr>
        <a:solidFill>
          <a:schemeClr val="tx2"/>
        </a:solidFill>
        <a:effectLst/>
      </p:bgPr>
    </p:bg>
    <p:spTree>
      <p:nvGrpSpPr>
        <p:cNvPr id="1" name=""/>
        <p:cNvGrpSpPr/>
        <p:nvPr/>
      </p:nvGrpSpPr>
      <p:grpSpPr>
        <a:xfrm>
          <a:off x="0" y="0"/>
          <a:ext cx="0" cy="0"/>
          <a:chOff x="0" y="0"/>
          <a:chExt cx="0" cy="0"/>
        </a:xfrm>
      </p:grpSpPr>
      <p:pic>
        <p:nvPicPr>
          <p:cNvPr id="5" name="Background">
            <a:extLst>
              <a:ext uri="{FF2B5EF4-FFF2-40B4-BE49-F238E27FC236}">
                <a16:creationId xmlns:a16="http://schemas.microsoft.com/office/drawing/2014/main" id="{54AB28DA-8311-4C87-A270-A26F9574C960}"/>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grpSp>
        <p:nvGrpSpPr>
          <p:cNvPr id="26" name="Nationwide logo" descr="Nationwide is on your side">
            <a:extLst>
              <a:ext uri="{FF2B5EF4-FFF2-40B4-BE49-F238E27FC236}">
                <a16:creationId xmlns:a16="http://schemas.microsoft.com/office/drawing/2014/main" id="{064BF798-CC9D-1541-AE53-488C61F2485D}"/>
              </a:ext>
            </a:extLst>
          </p:cNvPr>
          <p:cNvGrpSpPr>
            <a:grpSpLocks noChangeAspect="1"/>
          </p:cNvGrpSpPr>
          <p:nvPr userDrawn="1"/>
        </p:nvGrpSpPr>
        <p:grpSpPr bwMode="auto">
          <a:xfrm>
            <a:off x="9483954" y="4094268"/>
            <a:ext cx="1991009" cy="1986618"/>
            <a:chOff x="2464" y="1494"/>
            <a:chExt cx="2267" cy="2262"/>
          </a:xfrm>
          <a:solidFill>
            <a:schemeClr val="bg1"/>
          </a:solidFill>
        </p:grpSpPr>
        <p:sp>
          <p:nvSpPr>
            <p:cNvPr id="27" name="Oval 26">
              <a:extLst>
                <a:ext uri="{FF2B5EF4-FFF2-40B4-BE49-F238E27FC236}">
                  <a16:creationId xmlns:a16="http://schemas.microsoft.com/office/drawing/2014/main" id="{887F432A-F08B-8646-A608-A83C0ED4197F}"/>
                </a:ext>
              </a:extLst>
            </p:cNvPr>
            <p:cNvSpPr>
              <a:spLocks noChangeArrowheads="1"/>
            </p:cNvSpPr>
            <p:nvPr userDrawn="1"/>
          </p:nvSpPr>
          <p:spPr bwMode="auto">
            <a:xfrm>
              <a:off x="3170" y="3451"/>
              <a:ext cx="70" cy="6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8" name="Oval 27">
              <a:extLst>
                <a:ext uri="{FF2B5EF4-FFF2-40B4-BE49-F238E27FC236}">
                  <a16:creationId xmlns:a16="http://schemas.microsoft.com/office/drawing/2014/main" id="{47108310-CF70-E041-8559-0BBAF0A3E134}"/>
                </a:ext>
              </a:extLst>
            </p:cNvPr>
            <p:cNvSpPr>
              <a:spLocks noChangeArrowheads="1"/>
            </p:cNvSpPr>
            <p:nvPr userDrawn="1"/>
          </p:nvSpPr>
          <p:spPr bwMode="auto">
            <a:xfrm>
              <a:off x="4070" y="3451"/>
              <a:ext cx="71" cy="6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9" name="Freeform 28">
              <a:extLst>
                <a:ext uri="{FF2B5EF4-FFF2-40B4-BE49-F238E27FC236}">
                  <a16:creationId xmlns:a16="http://schemas.microsoft.com/office/drawing/2014/main" id="{A038E46F-6542-8F48-8D1E-77199F5A3A3A}"/>
                </a:ext>
              </a:extLst>
            </p:cNvPr>
            <p:cNvSpPr>
              <a:spLocks noEditPoints="1"/>
            </p:cNvSpPr>
            <p:nvPr userDrawn="1"/>
          </p:nvSpPr>
          <p:spPr bwMode="auto">
            <a:xfrm>
              <a:off x="2771" y="3538"/>
              <a:ext cx="191" cy="218"/>
            </a:xfrm>
            <a:custGeom>
              <a:avLst/>
              <a:gdLst>
                <a:gd name="T0" fmla="*/ 770 w 770"/>
                <a:gd name="T1" fmla="*/ 353 h 881"/>
                <a:gd name="T2" fmla="*/ 770 w 770"/>
                <a:gd name="T3" fmla="*/ 857 h 881"/>
                <a:gd name="T4" fmla="*/ 550 w 770"/>
                <a:gd name="T5" fmla="*/ 857 h 881"/>
                <a:gd name="T6" fmla="*/ 550 w 770"/>
                <a:gd name="T7" fmla="*/ 772 h 881"/>
                <a:gd name="T8" fmla="*/ 310 w 770"/>
                <a:gd name="T9" fmla="*/ 876 h 881"/>
                <a:gd name="T10" fmla="*/ 0 w 770"/>
                <a:gd name="T11" fmla="*/ 617 h 881"/>
                <a:gd name="T12" fmla="*/ 514 w 770"/>
                <a:gd name="T13" fmla="*/ 320 h 881"/>
                <a:gd name="T14" fmla="*/ 543 w 770"/>
                <a:gd name="T15" fmla="*/ 320 h 881"/>
                <a:gd name="T16" fmla="*/ 379 w 770"/>
                <a:gd name="T17" fmla="*/ 190 h 881"/>
                <a:gd name="T18" fmla="*/ 155 w 770"/>
                <a:gd name="T19" fmla="*/ 270 h 881"/>
                <a:gd name="T20" fmla="*/ 22 w 770"/>
                <a:gd name="T21" fmla="*/ 137 h 881"/>
                <a:gd name="T22" fmla="*/ 385 w 770"/>
                <a:gd name="T23" fmla="*/ 0 h 881"/>
                <a:gd name="T24" fmla="*/ 682 w 770"/>
                <a:gd name="T25" fmla="*/ 91 h 881"/>
                <a:gd name="T26" fmla="*/ 770 w 770"/>
                <a:gd name="T27" fmla="*/ 353 h 881"/>
                <a:gd name="T28" fmla="*/ 543 w 770"/>
                <a:gd name="T29" fmla="*/ 493 h 881"/>
                <a:gd name="T30" fmla="*/ 521 w 770"/>
                <a:gd name="T31" fmla="*/ 493 h 881"/>
                <a:gd name="T32" fmla="*/ 326 w 770"/>
                <a:gd name="T33" fmla="*/ 516 h 881"/>
                <a:gd name="T34" fmla="*/ 241 w 770"/>
                <a:gd name="T35" fmla="*/ 602 h 881"/>
                <a:gd name="T36" fmla="*/ 356 w 770"/>
                <a:gd name="T37" fmla="*/ 689 h 881"/>
                <a:gd name="T38" fmla="*/ 543 w 770"/>
                <a:gd name="T39" fmla="*/ 519 h 881"/>
                <a:gd name="T40" fmla="*/ 543 w 770"/>
                <a:gd name="T41" fmla="*/ 493 h 8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770" h="881">
                  <a:moveTo>
                    <a:pt x="770" y="353"/>
                  </a:moveTo>
                  <a:cubicBezTo>
                    <a:pt x="770" y="857"/>
                    <a:pt x="770" y="857"/>
                    <a:pt x="770" y="857"/>
                  </a:cubicBezTo>
                  <a:cubicBezTo>
                    <a:pt x="550" y="857"/>
                    <a:pt x="550" y="857"/>
                    <a:pt x="550" y="857"/>
                  </a:cubicBezTo>
                  <a:cubicBezTo>
                    <a:pt x="550" y="772"/>
                    <a:pt x="550" y="772"/>
                    <a:pt x="550" y="772"/>
                  </a:cubicBezTo>
                  <a:cubicBezTo>
                    <a:pt x="492" y="834"/>
                    <a:pt x="421" y="873"/>
                    <a:pt x="310" y="876"/>
                  </a:cubicBezTo>
                  <a:cubicBezTo>
                    <a:pt x="137" y="881"/>
                    <a:pt x="0" y="775"/>
                    <a:pt x="0" y="617"/>
                  </a:cubicBezTo>
                  <a:cubicBezTo>
                    <a:pt x="0" y="373"/>
                    <a:pt x="260" y="320"/>
                    <a:pt x="514" y="320"/>
                  </a:cubicBezTo>
                  <a:cubicBezTo>
                    <a:pt x="543" y="320"/>
                    <a:pt x="543" y="320"/>
                    <a:pt x="543" y="320"/>
                  </a:cubicBezTo>
                  <a:cubicBezTo>
                    <a:pt x="543" y="252"/>
                    <a:pt x="513" y="190"/>
                    <a:pt x="379" y="190"/>
                  </a:cubicBezTo>
                  <a:cubicBezTo>
                    <a:pt x="287" y="190"/>
                    <a:pt x="210" y="219"/>
                    <a:pt x="155" y="270"/>
                  </a:cubicBezTo>
                  <a:cubicBezTo>
                    <a:pt x="22" y="137"/>
                    <a:pt x="22" y="137"/>
                    <a:pt x="22" y="137"/>
                  </a:cubicBezTo>
                  <a:cubicBezTo>
                    <a:pt x="113" y="46"/>
                    <a:pt x="242" y="0"/>
                    <a:pt x="385" y="0"/>
                  </a:cubicBezTo>
                  <a:cubicBezTo>
                    <a:pt x="526" y="0"/>
                    <a:pt x="604" y="20"/>
                    <a:pt x="682" y="91"/>
                  </a:cubicBezTo>
                  <a:cubicBezTo>
                    <a:pt x="757" y="158"/>
                    <a:pt x="770" y="283"/>
                    <a:pt x="770" y="353"/>
                  </a:cubicBezTo>
                  <a:moveTo>
                    <a:pt x="543" y="493"/>
                  </a:moveTo>
                  <a:cubicBezTo>
                    <a:pt x="521" y="493"/>
                    <a:pt x="521" y="493"/>
                    <a:pt x="521" y="493"/>
                  </a:cubicBezTo>
                  <a:cubicBezTo>
                    <a:pt x="484" y="493"/>
                    <a:pt x="394" y="498"/>
                    <a:pt x="326" y="516"/>
                  </a:cubicBezTo>
                  <a:cubicBezTo>
                    <a:pt x="280" y="529"/>
                    <a:pt x="241" y="560"/>
                    <a:pt x="241" y="602"/>
                  </a:cubicBezTo>
                  <a:cubicBezTo>
                    <a:pt x="241" y="663"/>
                    <a:pt x="301" y="689"/>
                    <a:pt x="356" y="689"/>
                  </a:cubicBezTo>
                  <a:cubicBezTo>
                    <a:pt x="473" y="689"/>
                    <a:pt x="543" y="615"/>
                    <a:pt x="543" y="519"/>
                  </a:cubicBezTo>
                  <a:lnTo>
                    <a:pt x="543" y="49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0" name="Freeform 29">
              <a:extLst>
                <a:ext uri="{FF2B5EF4-FFF2-40B4-BE49-F238E27FC236}">
                  <a16:creationId xmlns:a16="http://schemas.microsoft.com/office/drawing/2014/main" id="{ABC9D15F-1D25-9E4E-B017-768D600F683C}"/>
                </a:ext>
              </a:extLst>
            </p:cNvPr>
            <p:cNvSpPr>
              <a:spLocks/>
            </p:cNvSpPr>
            <p:nvPr userDrawn="1"/>
          </p:nvSpPr>
          <p:spPr bwMode="auto">
            <a:xfrm>
              <a:off x="2983" y="3477"/>
              <a:ext cx="154" cy="278"/>
            </a:xfrm>
            <a:custGeom>
              <a:avLst/>
              <a:gdLst>
                <a:gd name="T0" fmla="*/ 401 w 622"/>
                <a:gd name="T1" fmla="*/ 264 h 1120"/>
                <a:gd name="T2" fmla="*/ 401 w 622"/>
                <a:gd name="T3" fmla="*/ 0 h 1120"/>
                <a:gd name="T4" fmla="*/ 163 w 622"/>
                <a:gd name="T5" fmla="*/ 0 h 1120"/>
                <a:gd name="T6" fmla="*/ 163 w 622"/>
                <a:gd name="T7" fmla="*/ 264 h 1120"/>
                <a:gd name="T8" fmla="*/ 0 w 622"/>
                <a:gd name="T9" fmla="*/ 264 h 1120"/>
                <a:gd name="T10" fmla="*/ 0 w 622"/>
                <a:gd name="T11" fmla="*/ 463 h 1120"/>
                <a:gd name="T12" fmla="*/ 163 w 622"/>
                <a:gd name="T13" fmla="*/ 463 h 1120"/>
                <a:gd name="T14" fmla="*/ 163 w 622"/>
                <a:gd name="T15" fmla="*/ 818 h 1120"/>
                <a:gd name="T16" fmla="*/ 231 w 622"/>
                <a:gd name="T17" fmla="*/ 1055 h 1120"/>
                <a:gd name="T18" fmla="*/ 444 w 622"/>
                <a:gd name="T19" fmla="*/ 1120 h 1120"/>
                <a:gd name="T20" fmla="*/ 622 w 622"/>
                <a:gd name="T21" fmla="*/ 1086 h 1120"/>
                <a:gd name="T22" fmla="*/ 622 w 622"/>
                <a:gd name="T23" fmla="*/ 898 h 1120"/>
                <a:gd name="T24" fmla="*/ 494 w 622"/>
                <a:gd name="T25" fmla="*/ 915 h 1120"/>
                <a:gd name="T26" fmla="*/ 401 w 622"/>
                <a:gd name="T27" fmla="*/ 807 h 1120"/>
                <a:gd name="T28" fmla="*/ 401 w 622"/>
                <a:gd name="T29" fmla="*/ 463 h 1120"/>
                <a:gd name="T30" fmla="*/ 622 w 622"/>
                <a:gd name="T31" fmla="*/ 463 h 1120"/>
                <a:gd name="T32" fmla="*/ 622 w 622"/>
                <a:gd name="T33" fmla="*/ 264 h 1120"/>
                <a:gd name="T34" fmla="*/ 401 w 622"/>
                <a:gd name="T35" fmla="*/ 264 h 1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22" h="1120">
                  <a:moveTo>
                    <a:pt x="401" y="264"/>
                  </a:moveTo>
                  <a:cubicBezTo>
                    <a:pt x="401" y="0"/>
                    <a:pt x="401" y="0"/>
                    <a:pt x="401" y="0"/>
                  </a:cubicBezTo>
                  <a:cubicBezTo>
                    <a:pt x="163" y="0"/>
                    <a:pt x="163" y="0"/>
                    <a:pt x="163" y="0"/>
                  </a:cubicBezTo>
                  <a:cubicBezTo>
                    <a:pt x="163" y="264"/>
                    <a:pt x="163" y="264"/>
                    <a:pt x="163" y="264"/>
                  </a:cubicBezTo>
                  <a:cubicBezTo>
                    <a:pt x="0" y="264"/>
                    <a:pt x="0" y="264"/>
                    <a:pt x="0" y="264"/>
                  </a:cubicBezTo>
                  <a:cubicBezTo>
                    <a:pt x="0" y="463"/>
                    <a:pt x="0" y="463"/>
                    <a:pt x="0" y="463"/>
                  </a:cubicBezTo>
                  <a:cubicBezTo>
                    <a:pt x="163" y="463"/>
                    <a:pt x="163" y="463"/>
                    <a:pt x="163" y="463"/>
                  </a:cubicBezTo>
                  <a:cubicBezTo>
                    <a:pt x="163" y="818"/>
                    <a:pt x="163" y="818"/>
                    <a:pt x="163" y="818"/>
                  </a:cubicBezTo>
                  <a:cubicBezTo>
                    <a:pt x="163" y="937"/>
                    <a:pt x="184" y="1008"/>
                    <a:pt x="231" y="1055"/>
                  </a:cubicBezTo>
                  <a:cubicBezTo>
                    <a:pt x="276" y="1099"/>
                    <a:pt x="343" y="1120"/>
                    <a:pt x="444" y="1120"/>
                  </a:cubicBezTo>
                  <a:cubicBezTo>
                    <a:pt x="508" y="1120"/>
                    <a:pt x="572" y="1108"/>
                    <a:pt x="622" y="1086"/>
                  </a:cubicBezTo>
                  <a:cubicBezTo>
                    <a:pt x="622" y="898"/>
                    <a:pt x="622" y="898"/>
                    <a:pt x="622" y="898"/>
                  </a:cubicBezTo>
                  <a:cubicBezTo>
                    <a:pt x="592" y="908"/>
                    <a:pt x="549" y="915"/>
                    <a:pt x="494" y="915"/>
                  </a:cubicBezTo>
                  <a:cubicBezTo>
                    <a:pt x="420" y="915"/>
                    <a:pt x="401" y="874"/>
                    <a:pt x="401" y="807"/>
                  </a:cubicBezTo>
                  <a:cubicBezTo>
                    <a:pt x="401" y="463"/>
                    <a:pt x="401" y="463"/>
                    <a:pt x="401" y="463"/>
                  </a:cubicBezTo>
                  <a:cubicBezTo>
                    <a:pt x="622" y="463"/>
                    <a:pt x="622" y="463"/>
                    <a:pt x="622" y="463"/>
                  </a:cubicBezTo>
                  <a:cubicBezTo>
                    <a:pt x="622" y="264"/>
                    <a:pt x="622" y="264"/>
                    <a:pt x="622" y="264"/>
                  </a:cubicBezTo>
                  <a:lnTo>
                    <a:pt x="401" y="26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1" name="Freeform 30">
              <a:extLst>
                <a:ext uri="{FF2B5EF4-FFF2-40B4-BE49-F238E27FC236}">
                  <a16:creationId xmlns:a16="http://schemas.microsoft.com/office/drawing/2014/main" id="{B0236B60-1C06-F348-8743-A7C0E65DF510}"/>
                </a:ext>
              </a:extLst>
            </p:cNvPr>
            <p:cNvSpPr>
              <a:spLocks noEditPoints="1"/>
            </p:cNvSpPr>
            <p:nvPr userDrawn="1"/>
          </p:nvSpPr>
          <p:spPr bwMode="auto">
            <a:xfrm>
              <a:off x="4426" y="3538"/>
              <a:ext cx="213" cy="217"/>
            </a:xfrm>
            <a:custGeom>
              <a:avLst/>
              <a:gdLst>
                <a:gd name="T0" fmla="*/ 857 w 857"/>
                <a:gd name="T1" fmla="*/ 453 h 876"/>
                <a:gd name="T2" fmla="*/ 857 w 857"/>
                <a:gd name="T3" fmla="*/ 516 h 876"/>
                <a:gd name="T4" fmla="*/ 244 w 857"/>
                <a:gd name="T5" fmla="*/ 516 h 876"/>
                <a:gd name="T6" fmla="*/ 459 w 857"/>
                <a:gd name="T7" fmla="*/ 680 h 876"/>
                <a:gd name="T8" fmla="*/ 678 w 857"/>
                <a:gd name="T9" fmla="*/ 583 h 876"/>
                <a:gd name="T10" fmla="*/ 829 w 857"/>
                <a:gd name="T11" fmla="*/ 693 h 876"/>
                <a:gd name="T12" fmla="*/ 463 w 857"/>
                <a:gd name="T13" fmla="*/ 876 h 876"/>
                <a:gd name="T14" fmla="*/ 0 w 857"/>
                <a:gd name="T15" fmla="*/ 438 h 876"/>
                <a:gd name="T16" fmla="*/ 433 w 857"/>
                <a:gd name="T17" fmla="*/ 0 h 876"/>
                <a:gd name="T18" fmla="*/ 857 w 857"/>
                <a:gd name="T19" fmla="*/ 453 h 876"/>
                <a:gd name="T20" fmla="*/ 605 w 857"/>
                <a:gd name="T21" fmla="*/ 345 h 876"/>
                <a:gd name="T22" fmla="*/ 425 w 857"/>
                <a:gd name="T23" fmla="*/ 189 h 876"/>
                <a:gd name="T24" fmla="*/ 245 w 857"/>
                <a:gd name="T25" fmla="*/ 345 h 876"/>
                <a:gd name="T26" fmla="*/ 605 w 857"/>
                <a:gd name="T27" fmla="*/ 345 h 8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57" h="876">
                  <a:moveTo>
                    <a:pt x="857" y="453"/>
                  </a:moveTo>
                  <a:cubicBezTo>
                    <a:pt x="857" y="516"/>
                    <a:pt x="857" y="516"/>
                    <a:pt x="857" y="516"/>
                  </a:cubicBezTo>
                  <a:cubicBezTo>
                    <a:pt x="244" y="516"/>
                    <a:pt x="244" y="516"/>
                    <a:pt x="244" y="516"/>
                  </a:cubicBezTo>
                  <a:cubicBezTo>
                    <a:pt x="249" y="602"/>
                    <a:pt x="345" y="675"/>
                    <a:pt x="459" y="680"/>
                  </a:cubicBezTo>
                  <a:cubicBezTo>
                    <a:pt x="565" y="684"/>
                    <a:pt x="623" y="642"/>
                    <a:pt x="678" y="583"/>
                  </a:cubicBezTo>
                  <a:cubicBezTo>
                    <a:pt x="829" y="693"/>
                    <a:pt x="829" y="693"/>
                    <a:pt x="829" y="693"/>
                  </a:cubicBezTo>
                  <a:cubicBezTo>
                    <a:pt x="737" y="809"/>
                    <a:pt x="624" y="876"/>
                    <a:pt x="463" y="876"/>
                  </a:cubicBezTo>
                  <a:cubicBezTo>
                    <a:pt x="208" y="876"/>
                    <a:pt x="0" y="718"/>
                    <a:pt x="0" y="438"/>
                  </a:cubicBezTo>
                  <a:cubicBezTo>
                    <a:pt x="0" y="215"/>
                    <a:pt x="139" y="0"/>
                    <a:pt x="433" y="0"/>
                  </a:cubicBezTo>
                  <a:cubicBezTo>
                    <a:pt x="736" y="0"/>
                    <a:pt x="857" y="235"/>
                    <a:pt x="857" y="453"/>
                  </a:cubicBezTo>
                  <a:moveTo>
                    <a:pt x="605" y="345"/>
                  </a:moveTo>
                  <a:cubicBezTo>
                    <a:pt x="594" y="254"/>
                    <a:pt x="544" y="187"/>
                    <a:pt x="425" y="189"/>
                  </a:cubicBezTo>
                  <a:cubicBezTo>
                    <a:pt x="324" y="191"/>
                    <a:pt x="256" y="259"/>
                    <a:pt x="245" y="345"/>
                  </a:cubicBezTo>
                  <a:lnTo>
                    <a:pt x="605" y="34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2" name="Freeform 31">
              <a:extLst>
                <a:ext uri="{FF2B5EF4-FFF2-40B4-BE49-F238E27FC236}">
                  <a16:creationId xmlns:a16="http://schemas.microsoft.com/office/drawing/2014/main" id="{E1C17EF2-C7D9-9344-BDB1-DDA24E4F1906}"/>
                </a:ext>
              </a:extLst>
            </p:cNvPr>
            <p:cNvSpPr>
              <a:spLocks/>
            </p:cNvSpPr>
            <p:nvPr userDrawn="1"/>
          </p:nvSpPr>
          <p:spPr bwMode="auto">
            <a:xfrm>
              <a:off x="2464" y="3449"/>
              <a:ext cx="272" cy="301"/>
            </a:xfrm>
            <a:custGeom>
              <a:avLst/>
              <a:gdLst>
                <a:gd name="T0" fmla="*/ 207 w 272"/>
                <a:gd name="T1" fmla="*/ 0 h 301"/>
                <a:gd name="T2" fmla="*/ 207 w 272"/>
                <a:gd name="T3" fmla="*/ 204 h 301"/>
                <a:gd name="T4" fmla="*/ 80 w 272"/>
                <a:gd name="T5" fmla="*/ 0 h 301"/>
                <a:gd name="T6" fmla="*/ 0 w 272"/>
                <a:gd name="T7" fmla="*/ 0 h 301"/>
                <a:gd name="T8" fmla="*/ 0 w 272"/>
                <a:gd name="T9" fmla="*/ 301 h 301"/>
                <a:gd name="T10" fmla="*/ 65 w 272"/>
                <a:gd name="T11" fmla="*/ 301 h 301"/>
                <a:gd name="T12" fmla="*/ 65 w 272"/>
                <a:gd name="T13" fmla="*/ 90 h 301"/>
                <a:gd name="T14" fmla="*/ 196 w 272"/>
                <a:gd name="T15" fmla="*/ 301 h 301"/>
                <a:gd name="T16" fmla="*/ 272 w 272"/>
                <a:gd name="T17" fmla="*/ 301 h 301"/>
                <a:gd name="T18" fmla="*/ 272 w 272"/>
                <a:gd name="T19" fmla="*/ 0 h 301"/>
                <a:gd name="T20" fmla="*/ 207 w 272"/>
                <a:gd name="T21" fmla="*/ 0 h 3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72" h="301">
                  <a:moveTo>
                    <a:pt x="207" y="0"/>
                  </a:moveTo>
                  <a:lnTo>
                    <a:pt x="207" y="204"/>
                  </a:lnTo>
                  <a:lnTo>
                    <a:pt x="80" y="0"/>
                  </a:lnTo>
                  <a:lnTo>
                    <a:pt x="0" y="0"/>
                  </a:lnTo>
                  <a:lnTo>
                    <a:pt x="0" y="301"/>
                  </a:lnTo>
                  <a:lnTo>
                    <a:pt x="65" y="301"/>
                  </a:lnTo>
                  <a:lnTo>
                    <a:pt x="65" y="90"/>
                  </a:lnTo>
                  <a:lnTo>
                    <a:pt x="196" y="301"/>
                  </a:lnTo>
                  <a:lnTo>
                    <a:pt x="272" y="301"/>
                  </a:lnTo>
                  <a:lnTo>
                    <a:pt x="272" y="0"/>
                  </a:lnTo>
                  <a:lnTo>
                    <a:pt x="207"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3" name="Freeform 32">
              <a:extLst>
                <a:ext uri="{FF2B5EF4-FFF2-40B4-BE49-F238E27FC236}">
                  <a16:creationId xmlns:a16="http://schemas.microsoft.com/office/drawing/2014/main" id="{CCA3B6EB-815A-334B-8E70-FB8652A02710}"/>
                </a:ext>
              </a:extLst>
            </p:cNvPr>
            <p:cNvSpPr>
              <a:spLocks/>
            </p:cNvSpPr>
            <p:nvPr userDrawn="1"/>
          </p:nvSpPr>
          <p:spPr bwMode="auto">
            <a:xfrm>
              <a:off x="3734" y="3543"/>
              <a:ext cx="321" cy="207"/>
            </a:xfrm>
            <a:custGeom>
              <a:avLst/>
              <a:gdLst>
                <a:gd name="T0" fmla="*/ 259 w 321"/>
                <a:gd name="T1" fmla="*/ 0 h 207"/>
                <a:gd name="T2" fmla="*/ 226 w 321"/>
                <a:gd name="T3" fmla="*/ 129 h 207"/>
                <a:gd name="T4" fmla="*/ 192 w 321"/>
                <a:gd name="T5" fmla="*/ 0 h 207"/>
                <a:gd name="T6" fmla="*/ 131 w 321"/>
                <a:gd name="T7" fmla="*/ 0 h 207"/>
                <a:gd name="T8" fmla="*/ 98 w 321"/>
                <a:gd name="T9" fmla="*/ 128 h 207"/>
                <a:gd name="T10" fmla="*/ 65 w 321"/>
                <a:gd name="T11" fmla="*/ 0 h 207"/>
                <a:gd name="T12" fmla="*/ 0 w 321"/>
                <a:gd name="T13" fmla="*/ 0 h 207"/>
                <a:gd name="T14" fmla="*/ 66 w 321"/>
                <a:gd name="T15" fmla="*/ 207 h 207"/>
                <a:gd name="T16" fmla="*/ 125 w 321"/>
                <a:gd name="T17" fmla="*/ 207 h 207"/>
                <a:gd name="T18" fmla="*/ 161 w 321"/>
                <a:gd name="T19" fmla="*/ 77 h 207"/>
                <a:gd name="T20" fmla="*/ 201 w 321"/>
                <a:gd name="T21" fmla="*/ 207 h 207"/>
                <a:gd name="T22" fmla="*/ 255 w 321"/>
                <a:gd name="T23" fmla="*/ 207 h 207"/>
                <a:gd name="T24" fmla="*/ 321 w 321"/>
                <a:gd name="T25" fmla="*/ 0 h 207"/>
                <a:gd name="T26" fmla="*/ 259 w 321"/>
                <a:gd name="T27" fmla="*/ 0 h 2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21" h="207">
                  <a:moveTo>
                    <a:pt x="259" y="0"/>
                  </a:moveTo>
                  <a:lnTo>
                    <a:pt x="226" y="129"/>
                  </a:lnTo>
                  <a:lnTo>
                    <a:pt x="192" y="0"/>
                  </a:lnTo>
                  <a:lnTo>
                    <a:pt x="131" y="0"/>
                  </a:lnTo>
                  <a:lnTo>
                    <a:pt x="98" y="128"/>
                  </a:lnTo>
                  <a:lnTo>
                    <a:pt x="65" y="0"/>
                  </a:lnTo>
                  <a:lnTo>
                    <a:pt x="0" y="0"/>
                  </a:lnTo>
                  <a:lnTo>
                    <a:pt x="66" y="207"/>
                  </a:lnTo>
                  <a:lnTo>
                    <a:pt x="125" y="207"/>
                  </a:lnTo>
                  <a:lnTo>
                    <a:pt x="161" y="77"/>
                  </a:lnTo>
                  <a:lnTo>
                    <a:pt x="201" y="207"/>
                  </a:lnTo>
                  <a:lnTo>
                    <a:pt x="255" y="207"/>
                  </a:lnTo>
                  <a:lnTo>
                    <a:pt x="321" y="0"/>
                  </a:lnTo>
                  <a:lnTo>
                    <a:pt x="25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4" name="Freeform 33">
              <a:extLst>
                <a:ext uri="{FF2B5EF4-FFF2-40B4-BE49-F238E27FC236}">
                  <a16:creationId xmlns:a16="http://schemas.microsoft.com/office/drawing/2014/main" id="{27A18704-879D-8744-9C0D-F54620CCA762}"/>
                </a:ext>
              </a:extLst>
            </p:cNvPr>
            <p:cNvSpPr>
              <a:spLocks/>
            </p:cNvSpPr>
            <p:nvPr userDrawn="1"/>
          </p:nvSpPr>
          <p:spPr bwMode="auto">
            <a:xfrm>
              <a:off x="3175" y="3543"/>
              <a:ext cx="60" cy="207"/>
            </a:xfrm>
            <a:custGeom>
              <a:avLst/>
              <a:gdLst>
                <a:gd name="T0" fmla="*/ 60 w 60"/>
                <a:gd name="T1" fmla="*/ 0 h 207"/>
                <a:gd name="T2" fmla="*/ 0 w 60"/>
                <a:gd name="T3" fmla="*/ 0 h 207"/>
                <a:gd name="T4" fmla="*/ 0 w 60"/>
                <a:gd name="T5" fmla="*/ 106 h 207"/>
                <a:gd name="T6" fmla="*/ 0 w 60"/>
                <a:gd name="T7" fmla="*/ 207 h 207"/>
                <a:gd name="T8" fmla="*/ 60 w 60"/>
                <a:gd name="T9" fmla="*/ 207 h 207"/>
                <a:gd name="T10" fmla="*/ 60 w 60"/>
                <a:gd name="T11" fmla="*/ 106 h 207"/>
                <a:gd name="T12" fmla="*/ 60 w 60"/>
                <a:gd name="T13" fmla="*/ 0 h 207"/>
              </a:gdLst>
              <a:ahLst/>
              <a:cxnLst>
                <a:cxn ang="0">
                  <a:pos x="T0" y="T1"/>
                </a:cxn>
                <a:cxn ang="0">
                  <a:pos x="T2" y="T3"/>
                </a:cxn>
                <a:cxn ang="0">
                  <a:pos x="T4" y="T5"/>
                </a:cxn>
                <a:cxn ang="0">
                  <a:pos x="T6" y="T7"/>
                </a:cxn>
                <a:cxn ang="0">
                  <a:pos x="T8" y="T9"/>
                </a:cxn>
                <a:cxn ang="0">
                  <a:pos x="T10" y="T11"/>
                </a:cxn>
                <a:cxn ang="0">
                  <a:pos x="T12" y="T13"/>
                </a:cxn>
              </a:cxnLst>
              <a:rect l="0" t="0" r="r" b="b"/>
              <a:pathLst>
                <a:path w="60" h="207">
                  <a:moveTo>
                    <a:pt x="60" y="0"/>
                  </a:moveTo>
                  <a:lnTo>
                    <a:pt x="0" y="0"/>
                  </a:lnTo>
                  <a:lnTo>
                    <a:pt x="0" y="106"/>
                  </a:lnTo>
                  <a:lnTo>
                    <a:pt x="0" y="207"/>
                  </a:lnTo>
                  <a:lnTo>
                    <a:pt x="60" y="207"/>
                  </a:lnTo>
                  <a:lnTo>
                    <a:pt x="60" y="106"/>
                  </a:lnTo>
                  <a:lnTo>
                    <a:pt x="6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5" name="Freeform 34">
              <a:extLst>
                <a:ext uri="{FF2B5EF4-FFF2-40B4-BE49-F238E27FC236}">
                  <a16:creationId xmlns:a16="http://schemas.microsoft.com/office/drawing/2014/main" id="{F5E330D9-FE00-A242-BEC0-C973C41E8D0B}"/>
                </a:ext>
              </a:extLst>
            </p:cNvPr>
            <p:cNvSpPr>
              <a:spLocks/>
            </p:cNvSpPr>
            <p:nvPr userDrawn="1"/>
          </p:nvSpPr>
          <p:spPr bwMode="auto">
            <a:xfrm>
              <a:off x="4076" y="3543"/>
              <a:ext cx="59" cy="207"/>
            </a:xfrm>
            <a:custGeom>
              <a:avLst/>
              <a:gdLst>
                <a:gd name="T0" fmla="*/ 59 w 59"/>
                <a:gd name="T1" fmla="*/ 0 h 207"/>
                <a:gd name="T2" fmla="*/ 0 w 59"/>
                <a:gd name="T3" fmla="*/ 0 h 207"/>
                <a:gd name="T4" fmla="*/ 0 w 59"/>
                <a:gd name="T5" fmla="*/ 106 h 207"/>
                <a:gd name="T6" fmla="*/ 0 w 59"/>
                <a:gd name="T7" fmla="*/ 207 h 207"/>
                <a:gd name="T8" fmla="*/ 59 w 59"/>
                <a:gd name="T9" fmla="*/ 207 h 207"/>
                <a:gd name="T10" fmla="*/ 59 w 59"/>
                <a:gd name="T11" fmla="*/ 106 h 207"/>
                <a:gd name="T12" fmla="*/ 59 w 59"/>
                <a:gd name="T13" fmla="*/ 0 h 207"/>
              </a:gdLst>
              <a:ahLst/>
              <a:cxnLst>
                <a:cxn ang="0">
                  <a:pos x="T0" y="T1"/>
                </a:cxn>
                <a:cxn ang="0">
                  <a:pos x="T2" y="T3"/>
                </a:cxn>
                <a:cxn ang="0">
                  <a:pos x="T4" y="T5"/>
                </a:cxn>
                <a:cxn ang="0">
                  <a:pos x="T6" y="T7"/>
                </a:cxn>
                <a:cxn ang="0">
                  <a:pos x="T8" y="T9"/>
                </a:cxn>
                <a:cxn ang="0">
                  <a:pos x="T10" y="T11"/>
                </a:cxn>
                <a:cxn ang="0">
                  <a:pos x="T12" y="T13"/>
                </a:cxn>
              </a:cxnLst>
              <a:rect l="0" t="0" r="r" b="b"/>
              <a:pathLst>
                <a:path w="59" h="207">
                  <a:moveTo>
                    <a:pt x="59" y="0"/>
                  </a:moveTo>
                  <a:lnTo>
                    <a:pt x="0" y="0"/>
                  </a:lnTo>
                  <a:lnTo>
                    <a:pt x="0" y="106"/>
                  </a:lnTo>
                  <a:lnTo>
                    <a:pt x="0" y="207"/>
                  </a:lnTo>
                  <a:lnTo>
                    <a:pt x="59" y="207"/>
                  </a:lnTo>
                  <a:lnTo>
                    <a:pt x="59" y="106"/>
                  </a:lnTo>
                  <a:lnTo>
                    <a:pt x="5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6" name="Freeform 35">
              <a:extLst>
                <a:ext uri="{FF2B5EF4-FFF2-40B4-BE49-F238E27FC236}">
                  <a16:creationId xmlns:a16="http://schemas.microsoft.com/office/drawing/2014/main" id="{A2D8D6AA-29B1-A049-A99F-0AA28E5F7D7A}"/>
                </a:ext>
              </a:extLst>
            </p:cNvPr>
            <p:cNvSpPr>
              <a:spLocks/>
            </p:cNvSpPr>
            <p:nvPr userDrawn="1"/>
          </p:nvSpPr>
          <p:spPr bwMode="auto">
            <a:xfrm>
              <a:off x="3527" y="3538"/>
              <a:ext cx="190" cy="212"/>
            </a:xfrm>
            <a:custGeom>
              <a:avLst/>
              <a:gdLst>
                <a:gd name="T0" fmla="*/ 686 w 767"/>
                <a:gd name="T1" fmla="*/ 77 h 857"/>
                <a:gd name="T2" fmla="*/ 480 w 767"/>
                <a:gd name="T3" fmla="*/ 0 h 857"/>
                <a:gd name="T4" fmla="*/ 231 w 767"/>
                <a:gd name="T5" fmla="*/ 111 h 857"/>
                <a:gd name="T6" fmla="*/ 231 w 767"/>
                <a:gd name="T7" fmla="*/ 20 h 857"/>
                <a:gd name="T8" fmla="*/ 0 w 767"/>
                <a:gd name="T9" fmla="*/ 20 h 857"/>
                <a:gd name="T10" fmla="*/ 0 w 767"/>
                <a:gd name="T11" fmla="*/ 857 h 857"/>
                <a:gd name="T12" fmla="*/ 241 w 767"/>
                <a:gd name="T13" fmla="*/ 857 h 857"/>
                <a:gd name="T14" fmla="*/ 241 w 767"/>
                <a:gd name="T15" fmla="*/ 402 h 857"/>
                <a:gd name="T16" fmla="*/ 285 w 767"/>
                <a:gd name="T17" fmla="*/ 268 h 857"/>
                <a:gd name="T18" fmla="*/ 390 w 767"/>
                <a:gd name="T19" fmla="*/ 221 h 857"/>
                <a:gd name="T20" fmla="*/ 494 w 767"/>
                <a:gd name="T21" fmla="*/ 268 h 857"/>
                <a:gd name="T22" fmla="*/ 527 w 767"/>
                <a:gd name="T23" fmla="*/ 434 h 857"/>
                <a:gd name="T24" fmla="*/ 527 w 767"/>
                <a:gd name="T25" fmla="*/ 857 h 857"/>
                <a:gd name="T26" fmla="*/ 767 w 767"/>
                <a:gd name="T27" fmla="*/ 857 h 857"/>
                <a:gd name="T28" fmla="*/ 767 w 767"/>
                <a:gd name="T29" fmla="*/ 334 h 857"/>
                <a:gd name="T30" fmla="*/ 686 w 767"/>
                <a:gd name="T31" fmla="*/ 77 h 8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767" h="857">
                  <a:moveTo>
                    <a:pt x="686" y="77"/>
                  </a:moveTo>
                  <a:cubicBezTo>
                    <a:pt x="636" y="24"/>
                    <a:pt x="573" y="0"/>
                    <a:pt x="480" y="0"/>
                  </a:cubicBezTo>
                  <a:cubicBezTo>
                    <a:pt x="388" y="1"/>
                    <a:pt x="281" y="46"/>
                    <a:pt x="231" y="111"/>
                  </a:cubicBezTo>
                  <a:cubicBezTo>
                    <a:pt x="231" y="20"/>
                    <a:pt x="231" y="20"/>
                    <a:pt x="231" y="20"/>
                  </a:cubicBezTo>
                  <a:cubicBezTo>
                    <a:pt x="0" y="20"/>
                    <a:pt x="0" y="20"/>
                    <a:pt x="0" y="20"/>
                  </a:cubicBezTo>
                  <a:cubicBezTo>
                    <a:pt x="0" y="857"/>
                    <a:pt x="0" y="857"/>
                    <a:pt x="0" y="857"/>
                  </a:cubicBezTo>
                  <a:cubicBezTo>
                    <a:pt x="241" y="857"/>
                    <a:pt x="241" y="857"/>
                    <a:pt x="241" y="857"/>
                  </a:cubicBezTo>
                  <a:cubicBezTo>
                    <a:pt x="241" y="402"/>
                    <a:pt x="241" y="402"/>
                    <a:pt x="241" y="402"/>
                  </a:cubicBezTo>
                  <a:cubicBezTo>
                    <a:pt x="241" y="343"/>
                    <a:pt x="257" y="299"/>
                    <a:pt x="285" y="268"/>
                  </a:cubicBezTo>
                  <a:cubicBezTo>
                    <a:pt x="309" y="241"/>
                    <a:pt x="345" y="224"/>
                    <a:pt x="390" y="221"/>
                  </a:cubicBezTo>
                  <a:cubicBezTo>
                    <a:pt x="444" y="218"/>
                    <a:pt x="473" y="242"/>
                    <a:pt x="494" y="268"/>
                  </a:cubicBezTo>
                  <a:cubicBezTo>
                    <a:pt x="520" y="300"/>
                    <a:pt x="527" y="357"/>
                    <a:pt x="527" y="434"/>
                  </a:cubicBezTo>
                  <a:cubicBezTo>
                    <a:pt x="527" y="857"/>
                    <a:pt x="527" y="857"/>
                    <a:pt x="527" y="857"/>
                  </a:cubicBezTo>
                  <a:cubicBezTo>
                    <a:pt x="767" y="857"/>
                    <a:pt x="767" y="857"/>
                    <a:pt x="767" y="857"/>
                  </a:cubicBezTo>
                  <a:cubicBezTo>
                    <a:pt x="767" y="334"/>
                    <a:pt x="767" y="334"/>
                    <a:pt x="767" y="334"/>
                  </a:cubicBezTo>
                  <a:cubicBezTo>
                    <a:pt x="767" y="232"/>
                    <a:pt x="754" y="147"/>
                    <a:pt x="686" y="77"/>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7" name="Freeform 36">
              <a:extLst>
                <a:ext uri="{FF2B5EF4-FFF2-40B4-BE49-F238E27FC236}">
                  <a16:creationId xmlns:a16="http://schemas.microsoft.com/office/drawing/2014/main" id="{49A31F80-755A-1941-8AA3-AAAA2F4557B0}"/>
                </a:ext>
              </a:extLst>
            </p:cNvPr>
            <p:cNvSpPr>
              <a:spLocks noEditPoints="1"/>
            </p:cNvSpPr>
            <p:nvPr userDrawn="1"/>
          </p:nvSpPr>
          <p:spPr bwMode="auto">
            <a:xfrm>
              <a:off x="4170" y="3449"/>
              <a:ext cx="222" cy="306"/>
            </a:xfrm>
            <a:custGeom>
              <a:avLst/>
              <a:gdLst>
                <a:gd name="T0" fmla="*/ 900 w 900"/>
                <a:gd name="T1" fmla="*/ 0 h 1233"/>
                <a:gd name="T2" fmla="*/ 900 w 900"/>
                <a:gd name="T3" fmla="*/ 1214 h 1233"/>
                <a:gd name="T4" fmla="*/ 673 w 900"/>
                <a:gd name="T5" fmla="*/ 1214 h 1233"/>
                <a:gd name="T6" fmla="*/ 673 w 900"/>
                <a:gd name="T7" fmla="*/ 1121 h 1233"/>
                <a:gd name="T8" fmla="*/ 414 w 900"/>
                <a:gd name="T9" fmla="*/ 1233 h 1233"/>
                <a:gd name="T10" fmla="*/ 124 w 900"/>
                <a:gd name="T11" fmla="*/ 1121 h 1233"/>
                <a:gd name="T12" fmla="*/ 0 w 900"/>
                <a:gd name="T13" fmla="*/ 796 h 1233"/>
                <a:gd name="T14" fmla="*/ 406 w 900"/>
                <a:gd name="T15" fmla="*/ 357 h 1233"/>
                <a:gd name="T16" fmla="*/ 659 w 900"/>
                <a:gd name="T17" fmla="*/ 451 h 1233"/>
                <a:gd name="T18" fmla="*/ 659 w 900"/>
                <a:gd name="T19" fmla="*/ 0 h 1233"/>
                <a:gd name="T20" fmla="*/ 900 w 900"/>
                <a:gd name="T21" fmla="*/ 0 h 1233"/>
                <a:gd name="T22" fmla="*/ 666 w 900"/>
                <a:gd name="T23" fmla="*/ 796 h 1233"/>
                <a:gd name="T24" fmla="*/ 453 w 900"/>
                <a:gd name="T25" fmla="*/ 569 h 1233"/>
                <a:gd name="T26" fmla="*/ 241 w 900"/>
                <a:gd name="T27" fmla="*/ 796 h 1233"/>
                <a:gd name="T28" fmla="*/ 453 w 900"/>
                <a:gd name="T29" fmla="*/ 1022 h 1233"/>
                <a:gd name="T30" fmla="*/ 666 w 900"/>
                <a:gd name="T31" fmla="*/ 796 h 12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00" h="1233">
                  <a:moveTo>
                    <a:pt x="900" y="0"/>
                  </a:moveTo>
                  <a:cubicBezTo>
                    <a:pt x="900" y="1214"/>
                    <a:pt x="900" y="1214"/>
                    <a:pt x="900" y="1214"/>
                  </a:cubicBezTo>
                  <a:cubicBezTo>
                    <a:pt x="673" y="1214"/>
                    <a:pt x="673" y="1214"/>
                    <a:pt x="673" y="1214"/>
                  </a:cubicBezTo>
                  <a:cubicBezTo>
                    <a:pt x="673" y="1121"/>
                    <a:pt x="673" y="1121"/>
                    <a:pt x="673" y="1121"/>
                  </a:cubicBezTo>
                  <a:cubicBezTo>
                    <a:pt x="620" y="1182"/>
                    <a:pt x="534" y="1233"/>
                    <a:pt x="414" y="1233"/>
                  </a:cubicBezTo>
                  <a:cubicBezTo>
                    <a:pt x="298" y="1233"/>
                    <a:pt x="198" y="1195"/>
                    <a:pt x="124" y="1121"/>
                  </a:cubicBezTo>
                  <a:cubicBezTo>
                    <a:pt x="44" y="1041"/>
                    <a:pt x="0" y="926"/>
                    <a:pt x="0" y="796"/>
                  </a:cubicBezTo>
                  <a:cubicBezTo>
                    <a:pt x="0" y="541"/>
                    <a:pt x="171" y="357"/>
                    <a:pt x="406" y="357"/>
                  </a:cubicBezTo>
                  <a:cubicBezTo>
                    <a:pt x="508" y="357"/>
                    <a:pt x="594" y="389"/>
                    <a:pt x="659" y="451"/>
                  </a:cubicBezTo>
                  <a:cubicBezTo>
                    <a:pt x="659" y="0"/>
                    <a:pt x="659" y="0"/>
                    <a:pt x="659" y="0"/>
                  </a:cubicBezTo>
                  <a:lnTo>
                    <a:pt x="900" y="0"/>
                  </a:lnTo>
                  <a:close/>
                  <a:moveTo>
                    <a:pt x="666" y="796"/>
                  </a:moveTo>
                  <a:cubicBezTo>
                    <a:pt x="666" y="683"/>
                    <a:pt x="593" y="569"/>
                    <a:pt x="453" y="569"/>
                  </a:cubicBezTo>
                  <a:cubicBezTo>
                    <a:pt x="314" y="569"/>
                    <a:pt x="241" y="683"/>
                    <a:pt x="241" y="796"/>
                  </a:cubicBezTo>
                  <a:cubicBezTo>
                    <a:pt x="241" y="908"/>
                    <a:pt x="314" y="1022"/>
                    <a:pt x="453" y="1022"/>
                  </a:cubicBezTo>
                  <a:cubicBezTo>
                    <a:pt x="593" y="1022"/>
                    <a:pt x="666" y="908"/>
                    <a:pt x="666" y="79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8" name="Freeform 37">
              <a:extLst>
                <a:ext uri="{FF2B5EF4-FFF2-40B4-BE49-F238E27FC236}">
                  <a16:creationId xmlns:a16="http://schemas.microsoft.com/office/drawing/2014/main" id="{C7694B31-931B-F648-8678-62120664A596}"/>
                </a:ext>
              </a:extLst>
            </p:cNvPr>
            <p:cNvSpPr>
              <a:spLocks noEditPoints="1"/>
            </p:cNvSpPr>
            <p:nvPr userDrawn="1"/>
          </p:nvSpPr>
          <p:spPr bwMode="auto">
            <a:xfrm>
              <a:off x="3269" y="3538"/>
              <a:ext cx="224" cy="217"/>
            </a:xfrm>
            <a:custGeom>
              <a:avLst/>
              <a:gdLst>
                <a:gd name="T0" fmla="*/ 905 w 905"/>
                <a:gd name="T1" fmla="*/ 438 h 877"/>
                <a:gd name="T2" fmla="*/ 453 w 905"/>
                <a:gd name="T3" fmla="*/ 877 h 877"/>
                <a:gd name="T4" fmla="*/ 0 w 905"/>
                <a:gd name="T5" fmla="*/ 438 h 877"/>
                <a:gd name="T6" fmla="*/ 453 w 905"/>
                <a:gd name="T7" fmla="*/ 0 h 877"/>
                <a:gd name="T8" fmla="*/ 905 w 905"/>
                <a:gd name="T9" fmla="*/ 438 h 877"/>
                <a:gd name="T10" fmla="*/ 453 w 905"/>
                <a:gd name="T11" fmla="*/ 212 h 877"/>
                <a:gd name="T12" fmla="*/ 241 w 905"/>
                <a:gd name="T13" fmla="*/ 438 h 877"/>
                <a:gd name="T14" fmla="*/ 453 w 905"/>
                <a:gd name="T15" fmla="*/ 664 h 877"/>
                <a:gd name="T16" fmla="*/ 665 w 905"/>
                <a:gd name="T17" fmla="*/ 438 h 877"/>
                <a:gd name="T18" fmla="*/ 453 w 905"/>
                <a:gd name="T19" fmla="*/ 212 h 8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5" h="877">
                  <a:moveTo>
                    <a:pt x="905" y="438"/>
                  </a:moveTo>
                  <a:cubicBezTo>
                    <a:pt x="905" y="692"/>
                    <a:pt x="715" y="877"/>
                    <a:pt x="453" y="877"/>
                  </a:cubicBezTo>
                  <a:cubicBezTo>
                    <a:pt x="190" y="877"/>
                    <a:pt x="0" y="692"/>
                    <a:pt x="0" y="438"/>
                  </a:cubicBezTo>
                  <a:cubicBezTo>
                    <a:pt x="0" y="184"/>
                    <a:pt x="190" y="0"/>
                    <a:pt x="453" y="0"/>
                  </a:cubicBezTo>
                  <a:cubicBezTo>
                    <a:pt x="715" y="0"/>
                    <a:pt x="905" y="184"/>
                    <a:pt x="905" y="438"/>
                  </a:cubicBezTo>
                  <a:moveTo>
                    <a:pt x="453" y="212"/>
                  </a:moveTo>
                  <a:cubicBezTo>
                    <a:pt x="313" y="212"/>
                    <a:pt x="241" y="326"/>
                    <a:pt x="241" y="438"/>
                  </a:cubicBezTo>
                  <a:cubicBezTo>
                    <a:pt x="241" y="551"/>
                    <a:pt x="313" y="664"/>
                    <a:pt x="453" y="664"/>
                  </a:cubicBezTo>
                  <a:cubicBezTo>
                    <a:pt x="592" y="664"/>
                    <a:pt x="665" y="551"/>
                    <a:pt x="665" y="438"/>
                  </a:cubicBezTo>
                  <a:cubicBezTo>
                    <a:pt x="665" y="326"/>
                    <a:pt x="592" y="212"/>
                    <a:pt x="453" y="21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9" name="Freeform 38">
              <a:extLst>
                <a:ext uri="{FF2B5EF4-FFF2-40B4-BE49-F238E27FC236}">
                  <a16:creationId xmlns:a16="http://schemas.microsoft.com/office/drawing/2014/main" id="{CBC5FEF1-7BF4-A748-BB3A-66A641499B4E}"/>
                </a:ext>
              </a:extLst>
            </p:cNvPr>
            <p:cNvSpPr>
              <a:spLocks noEditPoints="1"/>
            </p:cNvSpPr>
            <p:nvPr userDrawn="1"/>
          </p:nvSpPr>
          <p:spPr bwMode="auto">
            <a:xfrm>
              <a:off x="4636" y="3449"/>
              <a:ext cx="95" cy="95"/>
            </a:xfrm>
            <a:custGeom>
              <a:avLst/>
              <a:gdLst>
                <a:gd name="T0" fmla="*/ 118 w 383"/>
                <a:gd name="T1" fmla="*/ 299 h 382"/>
                <a:gd name="T2" fmla="*/ 158 w 383"/>
                <a:gd name="T3" fmla="*/ 299 h 382"/>
                <a:gd name="T4" fmla="*/ 158 w 383"/>
                <a:gd name="T5" fmla="*/ 209 h 382"/>
                <a:gd name="T6" fmla="*/ 187 w 383"/>
                <a:gd name="T7" fmla="*/ 209 h 382"/>
                <a:gd name="T8" fmla="*/ 242 w 383"/>
                <a:gd name="T9" fmla="*/ 299 h 382"/>
                <a:gd name="T10" fmla="*/ 284 w 383"/>
                <a:gd name="T11" fmla="*/ 299 h 382"/>
                <a:gd name="T12" fmla="*/ 227 w 383"/>
                <a:gd name="T13" fmla="*/ 206 h 382"/>
                <a:gd name="T14" fmla="*/ 279 w 383"/>
                <a:gd name="T15" fmla="*/ 146 h 382"/>
                <a:gd name="T16" fmla="*/ 202 w 383"/>
                <a:gd name="T17" fmla="*/ 80 h 382"/>
                <a:gd name="T18" fmla="*/ 118 w 383"/>
                <a:gd name="T19" fmla="*/ 80 h 382"/>
                <a:gd name="T20" fmla="*/ 118 w 383"/>
                <a:gd name="T21" fmla="*/ 299 h 382"/>
                <a:gd name="T22" fmla="*/ 158 w 383"/>
                <a:gd name="T23" fmla="*/ 114 h 382"/>
                <a:gd name="T24" fmla="*/ 187 w 383"/>
                <a:gd name="T25" fmla="*/ 114 h 382"/>
                <a:gd name="T26" fmla="*/ 239 w 383"/>
                <a:gd name="T27" fmla="*/ 145 h 382"/>
                <a:gd name="T28" fmla="*/ 187 w 383"/>
                <a:gd name="T29" fmla="*/ 176 h 382"/>
                <a:gd name="T30" fmla="*/ 158 w 383"/>
                <a:gd name="T31" fmla="*/ 176 h 382"/>
                <a:gd name="T32" fmla="*/ 158 w 383"/>
                <a:gd name="T33" fmla="*/ 114 h 382"/>
                <a:gd name="T34" fmla="*/ 0 w 383"/>
                <a:gd name="T35" fmla="*/ 191 h 382"/>
                <a:gd name="T36" fmla="*/ 191 w 383"/>
                <a:gd name="T37" fmla="*/ 382 h 382"/>
                <a:gd name="T38" fmla="*/ 383 w 383"/>
                <a:gd name="T39" fmla="*/ 191 h 382"/>
                <a:gd name="T40" fmla="*/ 191 w 383"/>
                <a:gd name="T41" fmla="*/ 0 h 382"/>
                <a:gd name="T42" fmla="*/ 0 w 383"/>
                <a:gd name="T43" fmla="*/ 191 h 382"/>
                <a:gd name="T44" fmla="*/ 34 w 383"/>
                <a:gd name="T45" fmla="*/ 191 h 382"/>
                <a:gd name="T46" fmla="*/ 191 w 383"/>
                <a:gd name="T47" fmla="*/ 34 h 382"/>
                <a:gd name="T48" fmla="*/ 349 w 383"/>
                <a:gd name="T49" fmla="*/ 191 h 382"/>
                <a:gd name="T50" fmla="*/ 191 w 383"/>
                <a:gd name="T51" fmla="*/ 349 h 382"/>
                <a:gd name="T52" fmla="*/ 34 w 383"/>
                <a:gd name="T53" fmla="*/ 191 h 3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83" h="382">
                  <a:moveTo>
                    <a:pt x="118" y="299"/>
                  </a:moveTo>
                  <a:cubicBezTo>
                    <a:pt x="158" y="299"/>
                    <a:pt x="158" y="299"/>
                    <a:pt x="158" y="299"/>
                  </a:cubicBezTo>
                  <a:cubicBezTo>
                    <a:pt x="158" y="209"/>
                    <a:pt x="158" y="209"/>
                    <a:pt x="158" y="209"/>
                  </a:cubicBezTo>
                  <a:cubicBezTo>
                    <a:pt x="187" y="209"/>
                    <a:pt x="187" y="209"/>
                    <a:pt x="187" y="209"/>
                  </a:cubicBezTo>
                  <a:cubicBezTo>
                    <a:pt x="242" y="299"/>
                    <a:pt x="242" y="299"/>
                    <a:pt x="242" y="299"/>
                  </a:cubicBezTo>
                  <a:cubicBezTo>
                    <a:pt x="284" y="299"/>
                    <a:pt x="284" y="299"/>
                    <a:pt x="284" y="299"/>
                  </a:cubicBezTo>
                  <a:cubicBezTo>
                    <a:pt x="227" y="206"/>
                    <a:pt x="227" y="206"/>
                    <a:pt x="227" y="206"/>
                  </a:cubicBezTo>
                  <a:cubicBezTo>
                    <a:pt x="257" y="203"/>
                    <a:pt x="279" y="184"/>
                    <a:pt x="279" y="146"/>
                  </a:cubicBezTo>
                  <a:cubicBezTo>
                    <a:pt x="279" y="104"/>
                    <a:pt x="255" y="80"/>
                    <a:pt x="202" y="80"/>
                  </a:cubicBezTo>
                  <a:cubicBezTo>
                    <a:pt x="118" y="80"/>
                    <a:pt x="118" y="80"/>
                    <a:pt x="118" y="80"/>
                  </a:cubicBezTo>
                  <a:lnTo>
                    <a:pt x="118" y="299"/>
                  </a:lnTo>
                  <a:close/>
                  <a:moveTo>
                    <a:pt x="158" y="114"/>
                  </a:moveTo>
                  <a:cubicBezTo>
                    <a:pt x="187" y="114"/>
                    <a:pt x="187" y="114"/>
                    <a:pt x="187" y="114"/>
                  </a:cubicBezTo>
                  <a:cubicBezTo>
                    <a:pt x="212" y="114"/>
                    <a:pt x="239" y="115"/>
                    <a:pt x="239" y="145"/>
                  </a:cubicBezTo>
                  <a:cubicBezTo>
                    <a:pt x="239" y="174"/>
                    <a:pt x="212" y="176"/>
                    <a:pt x="187" y="176"/>
                  </a:cubicBezTo>
                  <a:cubicBezTo>
                    <a:pt x="158" y="176"/>
                    <a:pt x="158" y="176"/>
                    <a:pt x="158" y="176"/>
                  </a:cubicBezTo>
                  <a:lnTo>
                    <a:pt x="158" y="114"/>
                  </a:lnTo>
                  <a:close/>
                  <a:moveTo>
                    <a:pt x="0" y="191"/>
                  </a:moveTo>
                  <a:cubicBezTo>
                    <a:pt x="0" y="296"/>
                    <a:pt x="86" y="382"/>
                    <a:pt x="191" y="382"/>
                  </a:cubicBezTo>
                  <a:cubicBezTo>
                    <a:pt x="297" y="382"/>
                    <a:pt x="383" y="296"/>
                    <a:pt x="383" y="191"/>
                  </a:cubicBezTo>
                  <a:cubicBezTo>
                    <a:pt x="383" y="86"/>
                    <a:pt x="297" y="0"/>
                    <a:pt x="191" y="0"/>
                  </a:cubicBezTo>
                  <a:cubicBezTo>
                    <a:pt x="86" y="0"/>
                    <a:pt x="0" y="86"/>
                    <a:pt x="0" y="191"/>
                  </a:cubicBezTo>
                  <a:moveTo>
                    <a:pt x="34" y="191"/>
                  </a:moveTo>
                  <a:cubicBezTo>
                    <a:pt x="34" y="104"/>
                    <a:pt x="104" y="34"/>
                    <a:pt x="191" y="34"/>
                  </a:cubicBezTo>
                  <a:cubicBezTo>
                    <a:pt x="278" y="34"/>
                    <a:pt x="349" y="104"/>
                    <a:pt x="349" y="191"/>
                  </a:cubicBezTo>
                  <a:cubicBezTo>
                    <a:pt x="349" y="278"/>
                    <a:pt x="278" y="349"/>
                    <a:pt x="191" y="349"/>
                  </a:cubicBezTo>
                  <a:cubicBezTo>
                    <a:pt x="104" y="349"/>
                    <a:pt x="34" y="278"/>
                    <a:pt x="34" y="191"/>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0" name="Freeform 39">
              <a:extLst>
                <a:ext uri="{FF2B5EF4-FFF2-40B4-BE49-F238E27FC236}">
                  <a16:creationId xmlns:a16="http://schemas.microsoft.com/office/drawing/2014/main" id="{93802D51-B7EE-2847-9135-A91396ADE95E}"/>
                </a:ext>
              </a:extLst>
            </p:cNvPr>
            <p:cNvSpPr>
              <a:spLocks/>
            </p:cNvSpPr>
            <p:nvPr userDrawn="1"/>
          </p:nvSpPr>
          <p:spPr bwMode="auto">
            <a:xfrm>
              <a:off x="3768" y="1895"/>
              <a:ext cx="434" cy="1109"/>
            </a:xfrm>
            <a:custGeom>
              <a:avLst/>
              <a:gdLst>
                <a:gd name="T0" fmla="*/ 509 w 1751"/>
                <a:gd name="T1" fmla="*/ 0 h 4481"/>
                <a:gd name="T2" fmla="*/ 509 w 1751"/>
                <a:gd name="T3" fmla="*/ 2792 h 4481"/>
                <a:gd name="T4" fmla="*/ 161 w 1751"/>
                <a:gd name="T5" fmla="*/ 2452 h 4481"/>
                <a:gd name="T6" fmla="*/ 161 w 1751"/>
                <a:gd name="T7" fmla="*/ 3527 h 4481"/>
                <a:gd name="T8" fmla="*/ 19 w 1751"/>
                <a:gd name="T9" fmla="*/ 4087 h 4481"/>
                <a:gd name="T10" fmla="*/ 17 w 1751"/>
                <a:gd name="T11" fmla="*/ 4090 h 4481"/>
                <a:gd name="T12" fmla="*/ 0 w 1751"/>
                <a:gd name="T13" fmla="*/ 4110 h 4481"/>
                <a:gd name="T14" fmla="*/ 393 w 1751"/>
                <a:gd name="T15" fmla="*/ 4481 h 4481"/>
                <a:gd name="T16" fmla="*/ 1751 w 1751"/>
                <a:gd name="T17" fmla="*/ 4481 h 4481"/>
                <a:gd name="T18" fmla="*/ 1751 w 1751"/>
                <a:gd name="T19" fmla="*/ 0 h 4481"/>
                <a:gd name="T20" fmla="*/ 509 w 1751"/>
                <a:gd name="T21" fmla="*/ 0 h 44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51" h="4481">
                  <a:moveTo>
                    <a:pt x="509" y="0"/>
                  </a:moveTo>
                  <a:cubicBezTo>
                    <a:pt x="509" y="2792"/>
                    <a:pt x="509" y="2792"/>
                    <a:pt x="509" y="2792"/>
                  </a:cubicBezTo>
                  <a:cubicBezTo>
                    <a:pt x="161" y="2452"/>
                    <a:pt x="161" y="2452"/>
                    <a:pt x="161" y="2452"/>
                  </a:cubicBezTo>
                  <a:cubicBezTo>
                    <a:pt x="161" y="3527"/>
                    <a:pt x="161" y="3527"/>
                    <a:pt x="161" y="3527"/>
                  </a:cubicBezTo>
                  <a:cubicBezTo>
                    <a:pt x="161" y="3775"/>
                    <a:pt x="139" y="3938"/>
                    <a:pt x="19" y="4087"/>
                  </a:cubicBezTo>
                  <a:cubicBezTo>
                    <a:pt x="17" y="4090"/>
                    <a:pt x="17" y="4090"/>
                    <a:pt x="17" y="4090"/>
                  </a:cubicBezTo>
                  <a:cubicBezTo>
                    <a:pt x="11" y="4097"/>
                    <a:pt x="5" y="4103"/>
                    <a:pt x="0" y="4110"/>
                  </a:cubicBezTo>
                  <a:cubicBezTo>
                    <a:pt x="393" y="4481"/>
                    <a:pt x="393" y="4481"/>
                    <a:pt x="393" y="4481"/>
                  </a:cubicBezTo>
                  <a:cubicBezTo>
                    <a:pt x="1751" y="4481"/>
                    <a:pt x="1751" y="4481"/>
                    <a:pt x="1751" y="4481"/>
                  </a:cubicBezTo>
                  <a:cubicBezTo>
                    <a:pt x="1751" y="0"/>
                    <a:pt x="1751" y="0"/>
                    <a:pt x="1751" y="0"/>
                  </a:cubicBezTo>
                  <a:lnTo>
                    <a:pt x="50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1" name="Freeform 40">
              <a:extLst>
                <a:ext uri="{FF2B5EF4-FFF2-40B4-BE49-F238E27FC236}">
                  <a16:creationId xmlns:a16="http://schemas.microsoft.com/office/drawing/2014/main" id="{0B104E08-0240-0A4C-8DC6-02A087EB8856}"/>
                </a:ext>
              </a:extLst>
            </p:cNvPr>
            <p:cNvSpPr>
              <a:spLocks/>
            </p:cNvSpPr>
            <p:nvPr userDrawn="1"/>
          </p:nvSpPr>
          <p:spPr bwMode="auto">
            <a:xfrm>
              <a:off x="2850" y="1895"/>
              <a:ext cx="523" cy="1109"/>
            </a:xfrm>
            <a:custGeom>
              <a:avLst/>
              <a:gdLst>
                <a:gd name="T0" fmla="*/ 1242 w 2112"/>
                <a:gd name="T1" fmla="*/ 1773 h 4481"/>
                <a:gd name="T2" fmla="*/ 1839 w 2112"/>
                <a:gd name="T3" fmla="*/ 2338 h 4481"/>
                <a:gd name="T4" fmla="*/ 1856 w 2112"/>
                <a:gd name="T5" fmla="*/ 1719 h 4481"/>
                <a:gd name="T6" fmla="*/ 1912 w 2112"/>
                <a:gd name="T7" fmla="*/ 1629 h 4481"/>
                <a:gd name="T8" fmla="*/ 2062 w 2112"/>
                <a:gd name="T9" fmla="*/ 795 h 4481"/>
                <a:gd name="T10" fmla="*/ 2112 w 2112"/>
                <a:gd name="T11" fmla="*/ 740 h 4481"/>
                <a:gd name="T12" fmla="*/ 1354 w 2112"/>
                <a:gd name="T13" fmla="*/ 0 h 4481"/>
                <a:gd name="T14" fmla="*/ 0 w 2112"/>
                <a:gd name="T15" fmla="*/ 0 h 4481"/>
                <a:gd name="T16" fmla="*/ 0 w 2112"/>
                <a:gd name="T17" fmla="*/ 4481 h 4481"/>
                <a:gd name="T18" fmla="*/ 1242 w 2112"/>
                <a:gd name="T19" fmla="*/ 4481 h 4481"/>
                <a:gd name="T20" fmla="*/ 1242 w 2112"/>
                <a:gd name="T21" fmla="*/ 1773 h 44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12" h="4481">
                  <a:moveTo>
                    <a:pt x="1242" y="1773"/>
                  </a:moveTo>
                  <a:cubicBezTo>
                    <a:pt x="1242" y="1773"/>
                    <a:pt x="1790" y="2292"/>
                    <a:pt x="1839" y="2338"/>
                  </a:cubicBezTo>
                  <a:cubicBezTo>
                    <a:pt x="1787" y="2144"/>
                    <a:pt x="1751" y="1887"/>
                    <a:pt x="1856" y="1719"/>
                  </a:cubicBezTo>
                  <a:cubicBezTo>
                    <a:pt x="1912" y="1629"/>
                    <a:pt x="1912" y="1629"/>
                    <a:pt x="1912" y="1629"/>
                  </a:cubicBezTo>
                  <a:cubicBezTo>
                    <a:pt x="1855" y="1323"/>
                    <a:pt x="1869" y="1006"/>
                    <a:pt x="2062" y="795"/>
                  </a:cubicBezTo>
                  <a:cubicBezTo>
                    <a:pt x="2112" y="740"/>
                    <a:pt x="2112" y="740"/>
                    <a:pt x="2112" y="740"/>
                  </a:cubicBezTo>
                  <a:cubicBezTo>
                    <a:pt x="1354" y="0"/>
                    <a:pt x="1354" y="0"/>
                    <a:pt x="1354" y="0"/>
                  </a:cubicBezTo>
                  <a:cubicBezTo>
                    <a:pt x="0" y="0"/>
                    <a:pt x="0" y="0"/>
                    <a:pt x="0" y="0"/>
                  </a:cubicBezTo>
                  <a:cubicBezTo>
                    <a:pt x="0" y="4481"/>
                    <a:pt x="0" y="4481"/>
                    <a:pt x="0" y="4481"/>
                  </a:cubicBezTo>
                  <a:cubicBezTo>
                    <a:pt x="1242" y="4481"/>
                    <a:pt x="1242" y="4481"/>
                    <a:pt x="1242" y="4481"/>
                  </a:cubicBezTo>
                  <a:lnTo>
                    <a:pt x="1242" y="177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2" name="Freeform 41">
              <a:extLst>
                <a:ext uri="{FF2B5EF4-FFF2-40B4-BE49-F238E27FC236}">
                  <a16:creationId xmlns:a16="http://schemas.microsoft.com/office/drawing/2014/main" id="{576B74ED-9E8B-1F46-9FE9-A8B1E73E4571}"/>
                </a:ext>
              </a:extLst>
            </p:cNvPr>
            <p:cNvSpPr>
              <a:spLocks/>
            </p:cNvSpPr>
            <p:nvPr userDrawn="1"/>
          </p:nvSpPr>
          <p:spPr bwMode="auto">
            <a:xfrm>
              <a:off x="3792" y="3082"/>
              <a:ext cx="352" cy="210"/>
            </a:xfrm>
            <a:custGeom>
              <a:avLst/>
              <a:gdLst>
                <a:gd name="T0" fmla="*/ 264 w 1420"/>
                <a:gd name="T1" fmla="*/ 22 h 850"/>
                <a:gd name="T2" fmla="*/ 977 w 1420"/>
                <a:gd name="T3" fmla="*/ 90 h 850"/>
                <a:gd name="T4" fmla="*/ 1098 w 1420"/>
                <a:gd name="T5" fmla="*/ 235 h 850"/>
                <a:gd name="T6" fmla="*/ 839 w 1420"/>
                <a:gd name="T7" fmla="*/ 204 h 850"/>
                <a:gd name="T8" fmla="*/ 830 w 1420"/>
                <a:gd name="T9" fmla="*/ 299 h 850"/>
                <a:gd name="T10" fmla="*/ 1115 w 1420"/>
                <a:gd name="T11" fmla="*/ 258 h 850"/>
                <a:gd name="T12" fmla="*/ 1406 w 1420"/>
                <a:gd name="T13" fmla="*/ 463 h 850"/>
                <a:gd name="T14" fmla="*/ 1104 w 1420"/>
                <a:gd name="T15" fmla="*/ 436 h 850"/>
                <a:gd name="T16" fmla="*/ 636 w 1420"/>
                <a:gd name="T17" fmla="*/ 622 h 850"/>
                <a:gd name="T18" fmla="*/ 120 w 1420"/>
                <a:gd name="T19" fmla="*/ 850 h 850"/>
                <a:gd name="T20" fmla="*/ 429 w 1420"/>
                <a:gd name="T21" fmla="*/ 520 h 850"/>
                <a:gd name="T22" fmla="*/ 131 w 1420"/>
                <a:gd name="T23" fmla="*/ 416 h 850"/>
                <a:gd name="T24" fmla="*/ 375 w 1420"/>
                <a:gd name="T25" fmla="*/ 203 h 850"/>
                <a:gd name="T26" fmla="*/ 0 w 1420"/>
                <a:gd name="T27" fmla="*/ 0 h 850"/>
                <a:gd name="T28" fmla="*/ 264 w 1420"/>
                <a:gd name="T29" fmla="*/ 22 h 8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420" h="850">
                  <a:moveTo>
                    <a:pt x="264" y="22"/>
                  </a:moveTo>
                  <a:cubicBezTo>
                    <a:pt x="558" y="44"/>
                    <a:pt x="767" y="64"/>
                    <a:pt x="977" y="90"/>
                  </a:cubicBezTo>
                  <a:cubicBezTo>
                    <a:pt x="1057" y="100"/>
                    <a:pt x="1088" y="192"/>
                    <a:pt x="1098" y="235"/>
                  </a:cubicBezTo>
                  <a:cubicBezTo>
                    <a:pt x="998" y="210"/>
                    <a:pt x="839" y="204"/>
                    <a:pt x="839" y="204"/>
                  </a:cubicBezTo>
                  <a:cubicBezTo>
                    <a:pt x="830" y="299"/>
                    <a:pt x="830" y="299"/>
                    <a:pt x="830" y="299"/>
                  </a:cubicBezTo>
                  <a:cubicBezTo>
                    <a:pt x="830" y="299"/>
                    <a:pt x="966" y="260"/>
                    <a:pt x="1115" y="258"/>
                  </a:cubicBezTo>
                  <a:cubicBezTo>
                    <a:pt x="1115" y="258"/>
                    <a:pt x="1420" y="257"/>
                    <a:pt x="1406" y="463"/>
                  </a:cubicBezTo>
                  <a:cubicBezTo>
                    <a:pt x="1322" y="405"/>
                    <a:pt x="1152" y="428"/>
                    <a:pt x="1104" y="436"/>
                  </a:cubicBezTo>
                  <a:cubicBezTo>
                    <a:pt x="951" y="461"/>
                    <a:pt x="805" y="532"/>
                    <a:pt x="636" y="622"/>
                  </a:cubicBezTo>
                  <a:cubicBezTo>
                    <a:pt x="482" y="703"/>
                    <a:pt x="315" y="791"/>
                    <a:pt x="120" y="850"/>
                  </a:cubicBezTo>
                  <a:cubicBezTo>
                    <a:pt x="206" y="767"/>
                    <a:pt x="429" y="520"/>
                    <a:pt x="429" y="520"/>
                  </a:cubicBezTo>
                  <a:cubicBezTo>
                    <a:pt x="131" y="416"/>
                    <a:pt x="131" y="416"/>
                    <a:pt x="131" y="416"/>
                  </a:cubicBezTo>
                  <a:cubicBezTo>
                    <a:pt x="375" y="203"/>
                    <a:pt x="375" y="203"/>
                    <a:pt x="375" y="203"/>
                  </a:cubicBezTo>
                  <a:cubicBezTo>
                    <a:pt x="0" y="0"/>
                    <a:pt x="0" y="0"/>
                    <a:pt x="0" y="0"/>
                  </a:cubicBezTo>
                  <a:cubicBezTo>
                    <a:pt x="93" y="8"/>
                    <a:pt x="182" y="15"/>
                    <a:pt x="264" y="2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3" name="Freeform 42">
              <a:extLst>
                <a:ext uri="{FF2B5EF4-FFF2-40B4-BE49-F238E27FC236}">
                  <a16:creationId xmlns:a16="http://schemas.microsoft.com/office/drawing/2014/main" id="{030EBA72-A689-6944-90E7-3CCAAB129BDE}"/>
                </a:ext>
              </a:extLst>
            </p:cNvPr>
            <p:cNvSpPr>
              <a:spLocks/>
            </p:cNvSpPr>
            <p:nvPr userDrawn="1"/>
          </p:nvSpPr>
          <p:spPr bwMode="auto">
            <a:xfrm>
              <a:off x="3750" y="1503"/>
              <a:ext cx="59" cy="1386"/>
            </a:xfrm>
            <a:custGeom>
              <a:avLst/>
              <a:gdLst>
                <a:gd name="T0" fmla="*/ 236 w 236"/>
                <a:gd name="T1" fmla="*/ 0 h 5594"/>
                <a:gd name="T2" fmla="*/ 116 w 236"/>
                <a:gd name="T3" fmla="*/ 1792 h 5594"/>
                <a:gd name="T4" fmla="*/ 116 w 236"/>
                <a:gd name="T5" fmla="*/ 5108 h 5594"/>
                <a:gd name="T6" fmla="*/ 0 w 236"/>
                <a:gd name="T7" fmla="*/ 5594 h 5594"/>
              </a:gdLst>
              <a:ahLst/>
              <a:cxnLst>
                <a:cxn ang="0">
                  <a:pos x="T0" y="T1"/>
                </a:cxn>
                <a:cxn ang="0">
                  <a:pos x="T2" y="T3"/>
                </a:cxn>
                <a:cxn ang="0">
                  <a:pos x="T4" y="T5"/>
                </a:cxn>
                <a:cxn ang="0">
                  <a:pos x="T6" y="T7"/>
                </a:cxn>
              </a:cxnLst>
              <a:rect l="0" t="0" r="r" b="b"/>
              <a:pathLst>
                <a:path w="236" h="5594">
                  <a:moveTo>
                    <a:pt x="236" y="0"/>
                  </a:moveTo>
                  <a:cubicBezTo>
                    <a:pt x="236" y="0"/>
                    <a:pt x="116" y="644"/>
                    <a:pt x="116" y="1792"/>
                  </a:cubicBezTo>
                  <a:cubicBezTo>
                    <a:pt x="116" y="5108"/>
                    <a:pt x="116" y="5108"/>
                    <a:pt x="116" y="5108"/>
                  </a:cubicBezTo>
                  <a:cubicBezTo>
                    <a:pt x="116" y="5337"/>
                    <a:pt x="96" y="5474"/>
                    <a:pt x="0" y="559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4" name="Freeform 43">
              <a:extLst>
                <a:ext uri="{FF2B5EF4-FFF2-40B4-BE49-F238E27FC236}">
                  <a16:creationId xmlns:a16="http://schemas.microsoft.com/office/drawing/2014/main" id="{8621F305-98E4-E64E-9F5B-71DA3F4C5C35}"/>
                </a:ext>
              </a:extLst>
            </p:cNvPr>
            <p:cNvSpPr>
              <a:spLocks/>
            </p:cNvSpPr>
            <p:nvPr userDrawn="1"/>
          </p:nvSpPr>
          <p:spPr bwMode="auto">
            <a:xfrm>
              <a:off x="2919" y="1494"/>
              <a:ext cx="934" cy="1816"/>
            </a:xfrm>
            <a:custGeom>
              <a:avLst/>
              <a:gdLst>
                <a:gd name="T0" fmla="*/ 3358 w 3774"/>
                <a:gd name="T1" fmla="*/ 5632 h 7335"/>
                <a:gd name="T2" fmla="*/ 3079 w 3774"/>
                <a:gd name="T3" fmla="*/ 6187 h 7335"/>
                <a:gd name="T4" fmla="*/ 3079 w 3774"/>
                <a:gd name="T5" fmla="*/ 6187 h 7335"/>
                <a:gd name="T6" fmla="*/ 3302 w 3774"/>
                <a:gd name="T7" fmla="*/ 6410 h 7335"/>
                <a:gd name="T8" fmla="*/ 3720 w 3774"/>
                <a:gd name="T9" fmla="*/ 6636 h 7335"/>
                <a:gd name="T10" fmla="*/ 3449 w 3774"/>
                <a:gd name="T11" fmla="*/ 6873 h 7335"/>
                <a:gd name="T12" fmla="*/ 3774 w 3774"/>
                <a:gd name="T13" fmla="*/ 6975 h 7335"/>
                <a:gd name="T14" fmla="*/ 3441 w 3774"/>
                <a:gd name="T15" fmla="*/ 7312 h 7335"/>
                <a:gd name="T16" fmla="*/ 3169 w 3774"/>
                <a:gd name="T17" fmla="*/ 7335 h 7335"/>
                <a:gd name="T18" fmla="*/ 1281 w 3774"/>
                <a:gd name="T19" fmla="*/ 6924 h 7335"/>
                <a:gd name="T20" fmla="*/ 636 w 3774"/>
                <a:gd name="T21" fmla="*/ 7086 h 7335"/>
                <a:gd name="T22" fmla="*/ 823 w 3774"/>
                <a:gd name="T23" fmla="*/ 6882 h 7335"/>
                <a:gd name="T24" fmla="*/ 339 w 3774"/>
                <a:gd name="T25" fmla="*/ 6912 h 7335"/>
                <a:gd name="T26" fmla="*/ 675 w 3774"/>
                <a:gd name="T27" fmla="*/ 6684 h 7335"/>
                <a:gd name="T28" fmla="*/ 0 w 3774"/>
                <a:gd name="T29" fmla="*/ 6500 h 7335"/>
                <a:gd name="T30" fmla="*/ 1280 w 3774"/>
                <a:gd name="T31" fmla="*/ 6465 h 7335"/>
                <a:gd name="T32" fmla="*/ 2083 w 3774"/>
                <a:gd name="T33" fmla="*/ 6498 h 7335"/>
                <a:gd name="T34" fmla="*/ 1500 w 3774"/>
                <a:gd name="T35" fmla="*/ 6006 h 7335"/>
                <a:gd name="T36" fmla="*/ 1976 w 3774"/>
                <a:gd name="T37" fmla="*/ 6078 h 7335"/>
                <a:gd name="T38" fmla="*/ 1432 w 3774"/>
                <a:gd name="T39" fmla="*/ 5412 h 7335"/>
                <a:gd name="T40" fmla="*/ 1964 w 3774"/>
                <a:gd name="T41" fmla="*/ 5598 h 7335"/>
                <a:gd name="T42" fmla="*/ 1482 w 3774"/>
                <a:gd name="T43" fmla="*/ 4831 h 7335"/>
                <a:gd name="T44" fmla="*/ 1902 w 3774"/>
                <a:gd name="T45" fmla="*/ 5096 h 7335"/>
                <a:gd name="T46" fmla="*/ 1544 w 3774"/>
                <a:gd name="T47" fmla="*/ 4223 h 7335"/>
                <a:gd name="T48" fmla="*/ 1936 w 3774"/>
                <a:gd name="T49" fmla="*/ 4487 h 7335"/>
                <a:gd name="T50" fmla="*/ 1678 w 3774"/>
                <a:gd name="T51" fmla="*/ 3401 h 7335"/>
                <a:gd name="T52" fmla="*/ 2063 w 3774"/>
                <a:gd name="T53" fmla="*/ 4032 h 7335"/>
                <a:gd name="T54" fmla="*/ 1872 w 3774"/>
                <a:gd name="T55" fmla="*/ 2493 h 7335"/>
                <a:gd name="T56" fmla="*/ 2345 w 3774"/>
                <a:gd name="T57" fmla="*/ 3685 h 7335"/>
                <a:gd name="T58" fmla="*/ 2340 w 3774"/>
                <a:gd name="T59" fmla="*/ 1341 h 7335"/>
                <a:gd name="T60" fmla="*/ 2525 w 3774"/>
                <a:gd name="T61" fmla="*/ 2863 h 7335"/>
                <a:gd name="T62" fmla="*/ 3007 w 3774"/>
                <a:gd name="T63" fmla="*/ 550 h 7335"/>
                <a:gd name="T64" fmla="*/ 2911 w 3774"/>
                <a:gd name="T65" fmla="*/ 2268 h 7335"/>
                <a:gd name="T66" fmla="*/ 3594 w 3774"/>
                <a:gd name="T67" fmla="*/ 38 h 73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774" h="7335">
                  <a:moveTo>
                    <a:pt x="3358" y="5632"/>
                  </a:moveTo>
                  <a:cubicBezTo>
                    <a:pt x="3219" y="5793"/>
                    <a:pt x="3040" y="6021"/>
                    <a:pt x="3079" y="6187"/>
                  </a:cubicBezTo>
                  <a:cubicBezTo>
                    <a:pt x="3079" y="6187"/>
                    <a:pt x="3079" y="6187"/>
                    <a:pt x="3079" y="6187"/>
                  </a:cubicBezTo>
                  <a:cubicBezTo>
                    <a:pt x="3107" y="6325"/>
                    <a:pt x="3302" y="6410"/>
                    <a:pt x="3302" y="6410"/>
                  </a:cubicBezTo>
                  <a:cubicBezTo>
                    <a:pt x="3720" y="6636"/>
                    <a:pt x="3720" y="6636"/>
                    <a:pt x="3720" y="6636"/>
                  </a:cubicBezTo>
                  <a:cubicBezTo>
                    <a:pt x="3449" y="6873"/>
                    <a:pt x="3449" y="6873"/>
                    <a:pt x="3449" y="6873"/>
                  </a:cubicBezTo>
                  <a:cubicBezTo>
                    <a:pt x="3774" y="6975"/>
                    <a:pt x="3774" y="6975"/>
                    <a:pt x="3774" y="6975"/>
                  </a:cubicBezTo>
                  <a:cubicBezTo>
                    <a:pt x="3774" y="6975"/>
                    <a:pt x="3476" y="7281"/>
                    <a:pt x="3441" y="7312"/>
                  </a:cubicBezTo>
                  <a:cubicBezTo>
                    <a:pt x="3356" y="7326"/>
                    <a:pt x="3266" y="7335"/>
                    <a:pt x="3169" y="7335"/>
                  </a:cubicBezTo>
                  <a:cubicBezTo>
                    <a:pt x="2479" y="7335"/>
                    <a:pt x="1519" y="6927"/>
                    <a:pt x="1281" y="6924"/>
                  </a:cubicBezTo>
                  <a:cubicBezTo>
                    <a:pt x="995" y="6921"/>
                    <a:pt x="636" y="7086"/>
                    <a:pt x="636" y="7086"/>
                  </a:cubicBezTo>
                  <a:cubicBezTo>
                    <a:pt x="823" y="6882"/>
                    <a:pt x="823" y="6882"/>
                    <a:pt x="823" y="6882"/>
                  </a:cubicBezTo>
                  <a:cubicBezTo>
                    <a:pt x="823" y="6882"/>
                    <a:pt x="577" y="6932"/>
                    <a:pt x="339" y="6912"/>
                  </a:cubicBezTo>
                  <a:cubicBezTo>
                    <a:pt x="675" y="6684"/>
                    <a:pt x="675" y="6684"/>
                    <a:pt x="675" y="6684"/>
                  </a:cubicBezTo>
                  <a:cubicBezTo>
                    <a:pt x="380" y="6674"/>
                    <a:pt x="122" y="6586"/>
                    <a:pt x="0" y="6500"/>
                  </a:cubicBezTo>
                  <a:cubicBezTo>
                    <a:pt x="0" y="6500"/>
                    <a:pt x="543" y="6457"/>
                    <a:pt x="1280" y="6465"/>
                  </a:cubicBezTo>
                  <a:cubicBezTo>
                    <a:pt x="1578" y="6468"/>
                    <a:pt x="2083" y="6498"/>
                    <a:pt x="2083" y="6498"/>
                  </a:cubicBezTo>
                  <a:cubicBezTo>
                    <a:pt x="1834" y="6392"/>
                    <a:pt x="1600" y="6252"/>
                    <a:pt x="1500" y="6006"/>
                  </a:cubicBezTo>
                  <a:cubicBezTo>
                    <a:pt x="1976" y="6078"/>
                    <a:pt x="1976" y="6078"/>
                    <a:pt x="1976" y="6078"/>
                  </a:cubicBezTo>
                  <a:cubicBezTo>
                    <a:pt x="1776" y="5956"/>
                    <a:pt x="1486" y="5649"/>
                    <a:pt x="1432" y="5412"/>
                  </a:cubicBezTo>
                  <a:cubicBezTo>
                    <a:pt x="1964" y="5598"/>
                    <a:pt x="1964" y="5598"/>
                    <a:pt x="1964" y="5598"/>
                  </a:cubicBezTo>
                  <a:cubicBezTo>
                    <a:pt x="1869" y="5496"/>
                    <a:pt x="1541" y="5188"/>
                    <a:pt x="1482" y="4831"/>
                  </a:cubicBezTo>
                  <a:cubicBezTo>
                    <a:pt x="1902" y="5096"/>
                    <a:pt x="1902" y="5096"/>
                    <a:pt x="1902" y="5096"/>
                  </a:cubicBezTo>
                  <a:cubicBezTo>
                    <a:pt x="1792" y="4985"/>
                    <a:pt x="1493" y="4396"/>
                    <a:pt x="1544" y="4223"/>
                  </a:cubicBezTo>
                  <a:cubicBezTo>
                    <a:pt x="1936" y="4487"/>
                    <a:pt x="1936" y="4487"/>
                    <a:pt x="1936" y="4487"/>
                  </a:cubicBezTo>
                  <a:cubicBezTo>
                    <a:pt x="1748" y="4255"/>
                    <a:pt x="1529" y="3640"/>
                    <a:pt x="1678" y="3401"/>
                  </a:cubicBezTo>
                  <a:cubicBezTo>
                    <a:pt x="1797" y="3864"/>
                    <a:pt x="2063" y="4032"/>
                    <a:pt x="2063" y="4032"/>
                  </a:cubicBezTo>
                  <a:cubicBezTo>
                    <a:pt x="1889" y="3780"/>
                    <a:pt x="1513" y="2887"/>
                    <a:pt x="1872" y="2493"/>
                  </a:cubicBezTo>
                  <a:cubicBezTo>
                    <a:pt x="1966" y="3384"/>
                    <a:pt x="2345" y="3685"/>
                    <a:pt x="2345" y="3685"/>
                  </a:cubicBezTo>
                  <a:cubicBezTo>
                    <a:pt x="2031" y="3186"/>
                    <a:pt x="1674" y="1652"/>
                    <a:pt x="2340" y="1341"/>
                  </a:cubicBezTo>
                  <a:cubicBezTo>
                    <a:pt x="2210" y="2327"/>
                    <a:pt x="2525" y="2863"/>
                    <a:pt x="2525" y="2863"/>
                  </a:cubicBezTo>
                  <a:cubicBezTo>
                    <a:pt x="2326" y="1955"/>
                    <a:pt x="2332" y="668"/>
                    <a:pt x="3007" y="550"/>
                  </a:cubicBezTo>
                  <a:cubicBezTo>
                    <a:pt x="2676" y="1520"/>
                    <a:pt x="2911" y="2268"/>
                    <a:pt x="2911" y="2268"/>
                  </a:cubicBezTo>
                  <a:cubicBezTo>
                    <a:pt x="2863" y="0"/>
                    <a:pt x="3594" y="38"/>
                    <a:pt x="3594" y="3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sp>
        <p:nvSpPr>
          <p:cNvPr id="50" name="Title 1">
            <a:extLst>
              <a:ext uri="{FF2B5EF4-FFF2-40B4-BE49-F238E27FC236}">
                <a16:creationId xmlns:a16="http://schemas.microsoft.com/office/drawing/2014/main" id="{B04C2562-36C8-8645-A4B2-E7406D4114B4}"/>
              </a:ext>
            </a:extLst>
          </p:cNvPr>
          <p:cNvSpPr>
            <a:spLocks noGrp="1"/>
          </p:cNvSpPr>
          <p:nvPr>
            <p:ph type="title"/>
          </p:nvPr>
        </p:nvSpPr>
        <p:spPr>
          <a:xfrm>
            <a:off x="504825" y="549275"/>
            <a:ext cx="5770563" cy="1462405"/>
          </a:xfrm>
        </p:spPr>
        <p:txBody>
          <a:bodyPr/>
          <a:lstStyle>
            <a:lvl1pPr>
              <a:defRPr>
                <a:solidFill>
                  <a:schemeClr val="bg1"/>
                </a:solidFill>
              </a:defRPr>
            </a:lvl1pPr>
          </a:lstStyle>
          <a:p>
            <a:r>
              <a:rPr lang="en-US"/>
              <a:t>Click to edit Master title style</a:t>
            </a:r>
            <a:endParaRPr lang="en-GB"/>
          </a:p>
        </p:txBody>
      </p:sp>
      <p:sp>
        <p:nvSpPr>
          <p:cNvPr id="51" name="Subtitle or Presenter">
            <a:extLst>
              <a:ext uri="{FF2B5EF4-FFF2-40B4-BE49-F238E27FC236}">
                <a16:creationId xmlns:a16="http://schemas.microsoft.com/office/drawing/2014/main" id="{789D8E62-33B3-2045-8FEF-D6793724C3D6}"/>
              </a:ext>
            </a:extLst>
          </p:cNvPr>
          <p:cNvSpPr>
            <a:spLocks noGrp="1"/>
          </p:cNvSpPr>
          <p:nvPr>
            <p:ph type="body" sz="quarter" idx="12" hasCustomPrompt="1"/>
          </p:nvPr>
        </p:nvSpPr>
        <p:spPr>
          <a:xfrm>
            <a:off x="504824" y="2634109"/>
            <a:ext cx="2726056" cy="639673"/>
          </a:xfrm>
        </p:spPr>
        <p:txBody>
          <a:bodyPr/>
          <a:lstStyle>
            <a:lvl1pPr>
              <a:lnSpc>
                <a:spcPct val="112000"/>
              </a:lnSpc>
              <a:spcAft>
                <a:spcPts val="0"/>
              </a:spcAft>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Subtitle or </a:t>
            </a:r>
            <a:br>
              <a:rPr lang="en-US"/>
            </a:br>
            <a:r>
              <a:rPr lang="en-US"/>
              <a:t>Presenter</a:t>
            </a:r>
          </a:p>
        </p:txBody>
      </p:sp>
      <p:sp>
        <p:nvSpPr>
          <p:cNvPr id="52" name="Date">
            <a:extLst>
              <a:ext uri="{FF2B5EF4-FFF2-40B4-BE49-F238E27FC236}">
                <a16:creationId xmlns:a16="http://schemas.microsoft.com/office/drawing/2014/main" id="{95F79650-8182-B543-B527-F522E2826479}"/>
              </a:ext>
            </a:extLst>
          </p:cNvPr>
          <p:cNvSpPr>
            <a:spLocks noGrp="1"/>
          </p:cNvSpPr>
          <p:nvPr>
            <p:ph type="body" sz="quarter" idx="13" hasCustomPrompt="1"/>
          </p:nvPr>
        </p:nvSpPr>
        <p:spPr>
          <a:xfrm>
            <a:off x="3549332" y="2634109"/>
            <a:ext cx="2726056" cy="639673"/>
          </a:xfrm>
        </p:spPr>
        <p:txBody>
          <a:bodyPr/>
          <a:lstStyle>
            <a:lvl1pPr>
              <a:lnSpc>
                <a:spcPct val="112000"/>
              </a:lnSpc>
              <a:spcAft>
                <a:spcPts val="0"/>
              </a:spcAft>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Date</a:t>
            </a:r>
          </a:p>
        </p:txBody>
      </p:sp>
      <p:sp>
        <p:nvSpPr>
          <p:cNvPr id="53" name="Text Placeholder 2">
            <a:extLst>
              <a:ext uri="{FF2B5EF4-FFF2-40B4-BE49-F238E27FC236}">
                <a16:creationId xmlns:a16="http://schemas.microsoft.com/office/drawing/2014/main" id="{0339F107-8E86-5543-A4D9-13E4466695F4}"/>
              </a:ext>
            </a:extLst>
          </p:cNvPr>
          <p:cNvSpPr>
            <a:spLocks noGrp="1"/>
          </p:cNvSpPr>
          <p:nvPr>
            <p:ph type="body" sz="quarter" idx="14" hasCustomPrompt="1"/>
          </p:nvPr>
        </p:nvSpPr>
        <p:spPr>
          <a:xfrm>
            <a:off x="504824" y="2207368"/>
            <a:ext cx="5770562" cy="271672"/>
          </a:xfrm>
        </p:spPr>
        <p:txBody>
          <a:bodyPr/>
          <a:lstStyle>
            <a:lvl1pPr>
              <a:defRPr sz="1600" b="1">
                <a:ln>
                  <a:noFill/>
                </a:ln>
                <a:solidFill>
                  <a:schemeClr val="bg1"/>
                </a:solidFill>
              </a:defRPr>
            </a:lvl1pPr>
          </a:lstStyle>
          <a:p>
            <a:pPr lvl="0"/>
            <a:r>
              <a:rPr lang="en-US"/>
              <a:t>Department name</a:t>
            </a:r>
          </a:p>
        </p:txBody>
      </p:sp>
    </p:spTree>
    <p:extLst>
      <p:ext uri="{BB962C8B-B14F-4D97-AF65-F5344CB8AC3E}">
        <p14:creationId xmlns:p14="http://schemas.microsoft.com/office/powerpoint/2010/main" val="14669832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3">
    <p:bg>
      <p:bgPr>
        <a:solidFill>
          <a:schemeClr val="tx2"/>
        </a:solidFill>
        <a:effectLst/>
      </p:bgPr>
    </p:bg>
    <p:spTree>
      <p:nvGrpSpPr>
        <p:cNvPr id="1" name=""/>
        <p:cNvGrpSpPr/>
        <p:nvPr/>
      </p:nvGrpSpPr>
      <p:grpSpPr>
        <a:xfrm>
          <a:off x="0" y="0"/>
          <a:ext cx="0" cy="0"/>
          <a:chOff x="0" y="0"/>
          <a:chExt cx="0" cy="0"/>
        </a:xfrm>
      </p:grpSpPr>
      <p:pic>
        <p:nvPicPr>
          <p:cNvPr id="5" name="Background">
            <a:extLst>
              <a:ext uri="{FF2B5EF4-FFF2-40B4-BE49-F238E27FC236}">
                <a16:creationId xmlns:a16="http://schemas.microsoft.com/office/drawing/2014/main" id="{54AB28DA-8311-4C87-A270-A26F9574C960}"/>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grpSp>
        <p:nvGrpSpPr>
          <p:cNvPr id="26" name="Nationwide logo" descr="Nationwide is on your side">
            <a:extLst>
              <a:ext uri="{FF2B5EF4-FFF2-40B4-BE49-F238E27FC236}">
                <a16:creationId xmlns:a16="http://schemas.microsoft.com/office/drawing/2014/main" id="{746CECC4-0A48-724D-9DE8-9BE917B1CCF3}"/>
              </a:ext>
            </a:extLst>
          </p:cNvPr>
          <p:cNvGrpSpPr>
            <a:grpSpLocks noChangeAspect="1"/>
          </p:cNvGrpSpPr>
          <p:nvPr userDrawn="1"/>
        </p:nvGrpSpPr>
        <p:grpSpPr bwMode="auto">
          <a:xfrm>
            <a:off x="9483954" y="4094268"/>
            <a:ext cx="1991009" cy="1986618"/>
            <a:chOff x="2464" y="1494"/>
            <a:chExt cx="2267" cy="2262"/>
          </a:xfrm>
          <a:solidFill>
            <a:schemeClr val="bg1"/>
          </a:solidFill>
        </p:grpSpPr>
        <p:sp>
          <p:nvSpPr>
            <p:cNvPr id="27" name="Oval 26">
              <a:extLst>
                <a:ext uri="{FF2B5EF4-FFF2-40B4-BE49-F238E27FC236}">
                  <a16:creationId xmlns:a16="http://schemas.microsoft.com/office/drawing/2014/main" id="{500EB822-4111-2847-B3A2-1359C1D5DA7E}"/>
                </a:ext>
              </a:extLst>
            </p:cNvPr>
            <p:cNvSpPr>
              <a:spLocks noChangeArrowheads="1"/>
            </p:cNvSpPr>
            <p:nvPr userDrawn="1"/>
          </p:nvSpPr>
          <p:spPr bwMode="auto">
            <a:xfrm>
              <a:off x="3170" y="3451"/>
              <a:ext cx="70" cy="6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8" name="Oval 27">
              <a:extLst>
                <a:ext uri="{FF2B5EF4-FFF2-40B4-BE49-F238E27FC236}">
                  <a16:creationId xmlns:a16="http://schemas.microsoft.com/office/drawing/2014/main" id="{19422B8E-4042-CB44-9F86-7E9AD2FC0571}"/>
                </a:ext>
              </a:extLst>
            </p:cNvPr>
            <p:cNvSpPr>
              <a:spLocks noChangeArrowheads="1"/>
            </p:cNvSpPr>
            <p:nvPr userDrawn="1"/>
          </p:nvSpPr>
          <p:spPr bwMode="auto">
            <a:xfrm>
              <a:off x="4070" y="3451"/>
              <a:ext cx="71" cy="6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9" name="Freeform 28">
              <a:extLst>
                <a:ext uri="{FF2B5EF4-FFF2-40B4-BE49-F238E27FC236}">
                  <a16:creationId xmlns:a16="http://schemas.microsoft.com/office/drawing/2014/main" id="{4EEF6F4E-A015-DF4B-940D-0C781730157B}"/>
                </a:ext>
              </a:extLst>
            </p:cNvPr>
            <p:cNvSpPr>
              <a:spLocks noEditPoints="1"/>
            </p:cNvSpPr>
            <p:nvPr userDrawn="1"/>
          </p:nvSpPr>
          <p:spPr bwMode="auto">
            <a:xfrm>
              <a:off x="2771" y="3538"/>
              <a:ext cx="191" cy="218"/>
            </a:xfrm>
            <a:custGeom>
              <a:avLst/>
              <a:gdLst>
                <a:gd name="T0" fmla="*/ 770 w 770"/>
                <a:gd name="T1" fmla="*/ 353 h 881"/>
                <a:gd name="T2" fmla="*/ 770 w 770"/>
                <a:gd name="T3" fmla="*/ 857 h 881"/>
                <a:gd name="T4" fmla="*/ 550 w 770"/>
                <a:gd name="T5" fmla="*/ 857 h 881"/>
                <a:gd name="T6" fmla="*/ 550 w 770"/>
                <a:gd name="T7" fmla="*/ 772 h 881"/>
                <a:gd name="T8" fmla="*/ 310 w 770"/>
                <a:gd name="T9" fmla="*/ 876 h 881"/>
                <a:gd name="T10" fmla="*/ 0 w 770"/>
                <a:gd name="T11" fmla="*/ 617 h 881"/>
                <a:gd name="T12" fmla="*/ 514 w 770"/>
                <a:gd name="T13" fmla="*/ 320 h 881"/>
                <a:gd name="T14" fmla="*/ 543 w 770"/>
                <a:gd name="T15" fmla="*/ 320 h 881"/>
                <a:gd name="T16" fmla="*/ 379 w 770"/>
                <a:gd name="T17" fmla="*/ 190 h 881"/>
                <a:gd name="T18" fmla="*/ 155 w 770"/>
                <a:gd name="T19" fmla="*/ 270 h 881"/>
                <a:gd name="T20" fmla="*/ 22 w 770"/>
                <a:gd name="T21" fmla="*/ 137 h 881"/>
                <a:gd name="T22" fmla="*/ 385 w 770"/>
                <a:gd name="T23" fmla="*/ 0 h 881"/>
                <a:gd name="T24" fmla="*/ 682 w 770"/>
                <a:gd name="T25" fmla="*/ 91 h 881"/>
                <a:gd name="T26" fmla="*/ 770 w 770"/>
                <a:gd name="T27" fmla="*/ 353 h 881"/>
                <a:gd name="T28" fmla="*/ 543 w 770"/>
                <a:gd name="T29" fmla="*/ 493 h 881"/>
                <a:gd name="T30" fmla="*/ 521 w 770"/>
                <a:gd name="T31" fmla="*/ 493 h 881"/>
                <a:gd name="T32" fmla="*/ 326 w 770"/>
                <a:gd name="T33" fmla="*/ 516 h 881"/>
                <a:gd name="T34" fmla="*/ 241 w 770"/>
                <a:gd name="T35" fmla="*/ 602 h 881"/>
                <a:gd name="T36" fmla="*/ 356 w 770"/>
                <a:gd name="T37" fmla="*/ 689 h 881"/>
                <a:gd name="T38" fmla="*/ 543 w 770"/>
                <a:gd name="T39" fmla="*/ 519 h 881"/>
                <a:gd name="T40" fmla="*/ 543 w 770"/>
                <a:gd name="T41" fmla="*/ 493 h 8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770" h="881">
                  <a:moveTo>
                    <a:pt x="770" y="353"/>
                  </a:moveTo>
                  <a:cubicBezTo>
                    <a:pt x="770" y="857"/>
                    <a:pt x="770" y="857"/>
                    <a:pt x="770" y="857"/>
                  </a:cubicBezTo>
                  <a:cubicBezTo>
                    <a:pt x="550" y="857"/>
                    <a:pt x="550" y="857"/>
                    <a:pt x="550" y="857"/>
                  </a:cubicBezTo>
                  <a:cubicBezTo>
                    <a:pt x="550" y="772"/>
                    <a:pt x="550" y="772"/>
                    <a:pt x="550" y="772"/>
                  </a:cubicBezTo>
                  <a:cubicBezTo>
                    <a:pt x="492" y="834"/>
                    <a:pt x="421" y="873"/>
                    <a:pt x="310" y="876"/>
                  </a:cubicBezTo>
                  <a:cubicBezTo>
                    <a:pt x="137" y="881"/>
                    <a:pt x="0" y="775"/>
                    <a:pt x="0" y="617"/>
                  </a:cubicBezTo>
                  <a:cubicBezTo>
                    <a:pt x="0" y="373"/>
                    <a:pt x="260" y="320"/>
                    <a:pt x="514" y="320"/>
                  </a:cubicBezTo>
                  <a:cubicBezTo>
                    <a:pt x="543" y="320"/>
                    <a:pt x="543" y="320"/>
                    <a:pt x="543" y="320"/>
                  </a:cubicBezTo>
                  <a:cubicBezTo>
                    <a:pt x="543" y="252"/>
                    <a:pt x="513" y="190"/>
                    <a:pt x="379" y="190"/>
                  </a:cubicBezTo>
                  <a:cubicBezTo>
                    <a:pt x="287" y="190"/>
                    <a:pt x="210" y="219"/>
                    <a:pt x="155" y="270"/>
                  </a:cubicBezTo>
                  <a:cubicBezTo>
                    <a:pt x="22" y="137"/>
                    <a:pt x="22" y="137"/>
                    <a:pt x="22" y="137"/>
                  </a:cubicBezTo>
                  <a:cubicBezTo>
                    <a:pt x="113" y="46"/>
                    <a:pt x="242" y="0"/>
                    <a:pt x="385" y="0"/>
                  </a:cubicBezTo>
                  <a:cubicBezTo>
                    <a:pt x="526" y="0"/>
                    <a:pt x="604" y="20"/>
                    <a:pt x="682" y="91"/>
                  </a:cubicBezTo>
                  <a:cubicBezTo>
                    <a:pt x="757" y="158"/>
                    <a:pt x="770" y="283"/>
                    <a:pt x="770" y="353"/>
                  </a:cubicBezTo>
                  <a:moveTo>
                    <a:pt x="543" y="493"/>
                  </a:moveTo>
                  <a:cubicBezTo>
                    <a:pt x="521" y="493"/>
                    <a:pt x="521" y="493"/>
                    <a:pt x="521" y="493"/>
                  </a:cubicBezTo>
                  <a:cubicBezTo>
                    <a:pt x="484" y="493"/>
                    <a:pt x="394" y="498"/>
                    <a:pt x="326" y="516"/>
                  </a:cubicBezTo>
                  <a:cubicBezTo>
                    <a:pt x="280" y="529"/>
                    <a:pt x="241" y="560"/>
                    <a:pt x="241" y="602"/>
                  </a:cubicBezTo>
                  <a:cubicBezTo>
                    <a:pt x="241" y="663"/>
                    <a:pt x="301" y="689"/>
                    <a:pt x="356" y="689"/>
                  </a:cubicBezTo>
                  <a:cubicBezTo>
                    <a:pt x="473" y="689"/>
                    <a:pt x="543" y="615"/>
                    <a:pt x="543" y="519"/>
                  </a:cubicBezTo>
                  <a:lnTo>
                    <a:pt x="543" y="49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0" name="Freeform 29">
              <a:extLst>
                <a:ext uri="{FF2B5EF4-FFF2-40B4-BE49-F238E27FC236}">
                  <a16:creationId xmlns:a16="http://schemas.microsoft.com/office/drawing/2014/main" id="{33E57ED8-1DDF-334D-BC51-56C7A35A5D58}"/>
                </a:ext>
              </a:extLst>
            </p:cNvPr>
            <p:cNvSpPr>
              <a:spLocks/>
            </p:cNvSpPr>
            <p:nvPr userDrawn="1"/>
          </p:nvSpPr>
          <p:spPr bwMode="auto">
            <a:xfrm>
              <a:off x="2983" y="3477"/>
              <a:ext cx="154" cy="278"/>
            </a:xfrm>
            <a:custGeom>
              <a:avLst/>
              <a:gdLst>
                <a:gd name="T0" fmla="*/ 401 w 622"/>
                <a:gd name="T1" fmla="*/ 264 h 1120"/>
                <a:gd name="T2" fmla="*/ 401 w 622"/>
                <a:gd name="T3" fmla="*/ 0 h 1120"/>
                <a:gd name="T4" fmla="*/ 163 w 622"/>
                <a:gd name="T5" fmla="*/ 0 h 1120"/>
                <a:gd name="T6" fmla="*/ 163 w 622"/>
                <a:gd name="T7" fmla="*/ 264 h 1120"/>
                <a:gd name="T8" fmla="*/ 0 w 622"/>
                <a:gd name="T9" fmla="*/ 264 h 1120"/>
                <a:gd name="T10" fmla="*/ 0 w 622"/>
                <a:gd name="T11" fmla="*/ 463 h 1120"/>
                <a:gd name="T12" fmla="*/ 163 w 622"/>
                <a:gd name="T13" fmla="*/ 463 h 1120"/>
                <a:gd name="T14" fmla="*/ 163 w 622"/>
                <a:gd name="T15" fmla="*/ 818 h 1120"/>
                <a:gd name="T16" fmla="*/ 231 w 622"/>
                <a:gd name="T17" fmla="*/ 1055 h 1120"/>
                <a:gd name="T18" fmla="*/ 444 w 622"/>
                <a:gd name="T19" fmla="*/ 1120 h 1120"/>
                <a:gd name="T20" fmla="*/ 622 w 622"/>
                <a:gd name="T21" fmla="*/ 1086 h 1120"/>
                <a:gd name="T22" fmla="*/ 622 w 622"/>
                <a:gd name="T23" fmla="*/ 898 h 1120"/>
                <a:gd name="T24" fmla="*/ 494 w 622"/>
                <a:gd name="T25" fmla="*/ 915 h 1120"/>
                <a:gd name="T26" fmla="*/ 401 w 622"/>
                <a:gd name="T27" fmla="*/ 807 h 1120"/>
                <a:gd name="T28" fmla="*/ 401 w 622"/>
                <a:gd name="T29" fmla="*/ 463 h 1120"/>
                <a:gd name="T30" fmla="*/ 622 w 622"/>
                <a:gd name="T31" fmla="*/ 463 h 1120"/>
                <a:gd name="T32" fmla="*/ 622 w 622"/>
                <a:gd name="T33" fmla="*/ 264 h 1120"/>
                <a:gd name="T34" fmla="*/ 401 w 622"/>
                <a:gd name="T35" fmla="*/ 264 h 1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22" h="1120">
                  <a:moveTo>
                    <a:pt x="401" y="264"/>
                  </a:moveTo>
                  <a:cubicBezTo>
                    <a:pt x="401" y="0"/>
                    <a:pt x="401" y="0"/>
                    <a:pt x="401" y="0"/>
                  </a:cubicBezTo>
                  <a:cubicBezTo>
                    <a:pt x="163" y="0"/>
                    <a:pt x="163" y="0"/>
                    <a:pt x="163" y="0"/>
                  </a:cubicBezTo>
                  <a:cubicBezTo>
                    <a:pt x="163" y="264"/>
                    <a:pt x="163" y="264"/>
                    <a:pt x="163" y="264"/>
                  </a:cubicBezTo>
                  <a:cubicBezTo>
                    <a:pt x="0" y="264"/>
                    <a:pt x="0" y="264"/>
                    <a:pt x="0" y="264"/>
                  </a:cubicBezTo>
                  <a:cubicBezTo>
                    <a:pt x="0" y="463"/>
                    <a:pt x="0" y="463"/>
                    <a:pt x="0" y="463"/>
                  </a:cubicBezTo>
                  <a:cubicBezTo>
                    <a:pt x="163" y="463"/>
                    <a:pt x="163" y="463"/>
                    <a:pt x="163" y="463"/>
                  </a:cubicBezTo>
                  <a:cubicBezTo>
                    <a:pt x="163" y="818"/>
                    <a:pt x="163" y="818"/>
                    <a:pt x="163" y="818"/>
                  </a:cubicBezTo>
                  <a:cubicBezTo>
                    <a:pt x="163" y="937"/>
                    <a:pt x="184" y="1008"/>
                    <a:pt x="231" y="1055"/>
                  </a:cubicBezTo>
                  <a:cubicBezTo>
                    <a:pt x="276" y="1099"/>
                    <a:pt x="343" y="1120"/>
                    <a:pt x="444" y="1120"/>
                  </a:cubicBezTo>
                  <a:cubicBezTo>
                    <a:pt x="508" y="1120"/>
                    <a:pt x="572" y="1108"/>
                    <a:pt x="622" y="1086"/>
                  </a:cubicBezTo>
                  <a:cubicBezTo>
                    <a:pt x="622" y="898"/>
                    <a:pt x="622" y="898"/>
                    <a:pt x="622" y="898"/>
                  </a:cubicBezTo>
                  <a:cubicBezTo>
                    <a:pt x="592" y="908"/>
                    <a:pt x="549" y="915"/>
                    <a:pt x="494" y="915"/>
                  </a:cubicBezTo>
                  <a:cubicBezTo>
                    <a:pt x="420" y="915"/>
                    <a:pt x="401" y="874"/>
                    <a:pt x="401" y="807"/>
                  </a:cubicBezTo>
                  <a:cubicBezTo>
                    <a:pt x="401" y="463"/>
                    <a:pt x="401" y="463"/>
                    <a:pt x="401" y="463"/>
                  </a:cubicBezTo>
                  <a:cubicBezTo>
                    <a:pt x="622" y="463"/>
                    <a:pt x="622" y="463"/>
                    <a:pt x="622" y="463"/>
                  </a:cubicBezTo>
                  <a:cubicBezTo>
                    <a:pt x="622" y="264"/>
                    <a:pt x="622" y="264"/>
                    <a:pt x="622" y="264"/>
                  </a:cubicBezTo>
                  <a:lnTo>
                    <a:pt x="401" y="26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1" name="Freeform 30">
              <a:extLst>
                <a:ext uri="{FF2B5EF4-FFF2-40B4-BE49-F238E27FC236}">
                  <a16:creationId xmlns:a16="http://schemas.microsoft.com/office/drawing/2014/main" id="{A2091A0A-1651-184C-B7E6-735099B4FAB3}"/>
                </a:ext>
              </a:extLst>
            </p:cNvPr>
            <p:cNvSpPr>
              <a:spLocks noEditPoints="1"/>
            </p:cNvSpPr>
            <p:nvPr userDrawn="1"/>
          </p:nvSpPr>
          <p:spPr bwMode="auto">
            <a:xfrm>
              <a:off x="4426" y="3538"/>
              <a:ext cx="213" cy="217"/>
            </a:xfrm>
            <a:custGeom>
              <a:avLst/>
              <a:gdLst>
                <a:gd name="T0" fmla="*/ 857 w 857"/>
                <a:gd name="T1" fmla="*/ 453 h 876"/>
                <a:gd name="T2" fmla="*/ 857 w 857"/>
                <a:gd name="T3" fmla="*/ 516 h 876"/>
                <a:gd name="T4" fmla="*/ 244 w 857"/>
                <a:gd name="T5" fmla="*/ 516 h 876"/>
                <a:gd name="T6" fmla="*/ 459 w 857"/>
                <a:gd name="T7" fmla="*/ 680 h 876"/>
                <a:gd name="T8" fmla="*/ 678 w 857"/>
                <a:gd name="T9" fmla="*/ 583 h 876"/>
                <a:gd name="T10" fmla="*/ 829 w 857"/>
                <a:gd name="T11" fmla="*/ 693 h 876"/>
                <a:gd name="T12" fmla="*/ 463 w 857"/>
                <a:gd name="T13" fmla="*/ 876 h 876"/>
                <a:gd name="T14" fmla="*/ 0 w 857"/>
                <a:gd name="T15" fmla="*/ 438 h 876"/>
                <a:gd name="T16" fmla="*/ 433 w 857"/>
                <a:gd name="T17" fmla="*/ 0 h 876"/>
                <a:gd name="T18" fmla="*/ 857 w 857"/>
                <a:gd name="T19" fmla="*/ 453 h 876"/>
                <a:gd name="T20" fmla="*/ 605 w 857"/>
                <a:gd name="T21" fmla="*/ 345 h 876"/>
                <a:gd name="T22" fmla="*/ 425 w 857"/>
                <a:gd name="T23" fmla="*/ 189 h 876"/>
                <a:gd name="T24" fmla="*/ 245 w 857"/>
                <a:gd name="T25" fmla="*/ 345 h 876"/>
                <a:gd name="T26" fmla="*/ 605 w 857"/>
                <a:gd name="T27" fmla="*/ 345 h 8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57" h="876">
                  <a:moveTo>
                    <a:pt x="857" y="453"/>
                  </a:moveTo>
                  <a:cubicBezTo>
                    <a:pt x="857" y="516"/>
                    <a:pt x="857" y="516"/>
                    <a:pt x="857" y="516"/>
                  </a:cubicBezTo>
                  <a:cubicBezTo>
                    <a:pt x="244" y="516"/>
                    <a:pt x="244" y="516"/>
                    <a:pt x="244" y="516"/>
                  </a:cubicBezTo>
                  <a:cubicBezTo>
                    <a:pt x="249" y="602"/>
                    <a:pt x="345" y="675"/>
                    <a:pt x="459" y="680"/>
                  </a:cubicBezTo>
                  <a:cubicBezTo>
                    <a:pt x="565" y="684"/>
                    <a:pt x="623" y="642"/>
                    <a:pt x="678" y="583"/>
                  </a:cubicBezTo>
                  <a:cubicBezTo>
                    <a:pt x="829" y="693"/>
                    <a:pt x="829" y="693"/>
                    <a:pt x="829" y="693"/>
                  </a:cubicBezTo>
                  <a:cubicBezTo>
                    <a:pt x="737" y="809"/>
                    <a:pt x="624" y="876"/>
                    <a:pt x="463" y="876"/>
                  </a:cubicBezTo>
                  <a:cubicBezTo>
                    <a:pt x="208" y="876"/>
                    <a:pt x="0" y="718"/>
                    <a:pt x="0" y="438"/>
                  </a:cubicBezTo>
                  <a:cubicBezTo>
                    <a:pt x="0" y="215"/>
                    <a:pt x="139" y="0"/>
                    <a:pt x="433" y="0"/>
                  </a:cubicBezTo>
                  <a:cubicBezTo>
                    <a:pt x="736" y="0"/>
                    <a:pt x="857" y="235"/>
                    <a:pt x="857" y="453"/>
                  </a:cubicBezTo>
                  <a:moveTo>
                    <a:pt x="605" y="345"/>
                  </a:moveTo>
                  <a:cubicBezTo>
                    <a:pt x="594" y="254"/>
                    <a:pt x="544" y="187"/>
                    <a:pt x="425" y="189"/>
                  </a:cubicBezTo>
                  <a:cubicBezTo>
                    <a:pt x="324" y="191"/>
                    <a:pt x="256" y="259"/>
                    <a:pt x="245" y="345"/>
                  </a:cubicBezTo>
                  <a:lnTo>
                    <a:pt x="605" y="34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2" name="Freeform 31">
              <a:extLst>
                <a:ext uri="{FF2B5EF4-FFF2-40B4-BE49-F238E27FC236}">
                  <a16:creationId xmlns:a16="http://schemas.microsoft.com/office/drawing/2014/main" id="{B305946B-C562-4B4E-9AC0-91E41860A4F6}"/>
                </a:ext>
              </a:extLst>
            </p:cNvPr>
            <p:cNvSpPr>
              <a:spLocks/>
            </p:cNvSpPr>
            <p:nvPr userDrawn="1"/>
          </p:nvSpPr>
          <p:spPr bwMode="auto">
            <a:xfrm>
              <a:off x="2464" y="3449"/>
              <a:ext cx="272" cy="301"/>
            </a:xfrm>
            <a:custGeom>
              <a:avLst/>
              <a:gdLst>
                <a:gd name="T0" fmla="*/ 207 w 272"/>
                <a:gd name="T1" fmla="*/ 0 h 301"/>
                <a:gd name="T2" fmla="*/ 207 w 272"/>
                <a:gd name="T3" fmla="*/ 204 h 301"/>
                <a:gd name="T4" fmla="*/ 80 w 272"/>
                <a:gd name="T5" fmla="*/ 0 h 301"/>
                <a:gd name="T6" fmla="*/ 0 w 272"/>
                <a:gd name="T7" fmla="*/ 0 h 301"/>
                <a:gd name="T8" fmla="*/ 0 w 272"/>
                <a:gd name="T9" fmla="*/ 301 h 301"/>
                <a:gd name="T10" fmla="*/ 65 w 272"/>
                <a:gd name="T11" fmla="*/ 301 h 301"/>
                <a:gd name="T12" fmla="*/ 65 w 272"/>
                <a:gd name="T13" fmla="*/ 90 h 301"/>
                <a:gd name="T14" fmla="*/ 196 w 272"/>
                <a:gd name="T15" fmla="*/ 301 h 301"/>
                <a:gd name="T16" fmla="*/ 272 w 272"/>
                <a:gd name="T17" fmla="*/ 301 h 301"/>
                <a:gd name="T18" fmla="*/ 272 w 272"/>
                <a:gd name="T19" fmla="*/ 0 h 301"/>
                <a:gd name="T20" fmla="*/ 207 w 272"/>
                <a:gd name="T21" fmla="*/ 0 h 3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72" h="301">
                  <a:moveTo>
                    <a:pt x="207" y="0"/>
                  </a:moveTo>
                  <a:lnTo>
                    <a:pt x="207" y="204"/>
                  </a:lnTo>
                  <a:lnTo>
                    <a:pt x="80" y="0"/>
                  </a:lnTo>
                  <a:lnTo>
                    <a:pt x="0" y="0"/>
                  </a:lnTo>
                  <a:lnTo>
                    <a:pt x="0" y="301"/>
                  </a:lnTo>
                  <a:lnTo>
                    <a:pt x="65" y="301"/>
                  </a:lnTo>
                  <a:lnTo>
                    <a:pt x="65" y="90"/>
                  </a:lnTo>
                  <a:lnTo>
                    <a:pt x="196" y="301"/>
                  </a:lnTo>
                  <a:lnTo>
                    <a:pt x="272" y="301"/>
                  </a:lnTo>
                  <a:lnTo>
                    <a:pt x="272" y="0"/>
                  </a:lnTo>
                  <a:lnTo>
                    <a:pt x="207"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3" name="Freeform 32">
              <a:extLst>
                <a:ext uri="{FF2B5EF4-FFF2-40B4-BE49-F238E27FC236}">
                  <a16:creationId xmlns:a16="http://schemas.microsoft.com/office/drawing/2014/main" id="{FB9DAA7A-7179-D14A-AE50-DEF5D04F4FA9}"/>
                </a:ext>
              </a:extLst>
            </p:cNvPr>
            <p:cNvSpPr>
              <a:spLocks/>
            </p:cNvSpPr>
            <p:nvPr userDrawn="1"/>
          </p:nvSpPr>
          <p:spPr bwMode="auto">
            <a:xfrm>
              <a:off x="3734" y="3543"/>
              <a:ext cx="321" cy="207"/>
            </a:xfrm>
            <a:custGeom>
              <a:avLst/>
              <a:gdLst>
                <a:gd name="T0" fmla="*/ 259 w 321"/>
                <a:gd name="T1" fmla="*/ 0 h 207"/>
                <a:gd name="T2" fmla="*/ 226 w 321"/>
                <a:gd name="T3" fmla="*/ 129 h 207"/>
                <a:gd name="T4" fmla="*/ 192 w 321"/>
                <a:gd name="T5" fmla="*/ 0 h 207"/>
                <a:gd name="T6" fmla="*/ 131 w 321"/>
                <a:gd name="T7" fmla="*/ 0 h 207"/>
                <a:gd name="T8" fmla="*/ 98 w 321"/>
                <a:gd name="T9" fmla="*/ 128 h 207"/>
                <a:gd name="T10" fmla="*/ 65 w 321"/>
                <a:gd name="T11" fmla="*/ 0 h 207"/>
                <a:gd name="T12" fmla="*/ 0 w 321"/>
                <a:gd name="T13" fmla="*/ 0 h 207"/>
                <a:gd name="T14" fmla="*/ 66 w 321"/>
                <a:gd name="T15" fmla="*/ 207 h 207"/>
                <a:gd name="T16" fmla="*/ 125 w 321"/>
                <a:gd name="T17" fmla="*/ 207 h 207"/>
                <a:gd name="T18" fmla="*/ 161 w 321"/>
                <a:gd name="T19" fmla="*/ 77 h 207"/>
                <a:gd name="T20" fmla="*/ 201 w 321"/>
                <a:gd name="T21" fmla="*/ 207 h 207"/>
                <a:gd name="T22" fmla="*/ 255 w 321"/>
                <a:gd name="T23" fmla="*/ 207 h 207"/>
                <a:gd name="T24" fmla="*/ 321 w 321"/>
                <a:gd name="T25" fmla="*/ 0 h 207"/>
                <a:gd name="T26" fmla="*/ 259 w 321"/>
                <a:gd name="T27" fmla="*/ 0 h 2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21" h="207">
                  <a:moveTo>
                    <a:pt x="259" y="0"/>
                  </a:moveTo>
                  <a:lnTo>
                    <a:pt x="226" y="129"/>
                  </a:lnTo>
                  <a:lnTo>
                    <a:pt x="192" y="0"/>
                  </a:lnTo>
                  <a:lnTo>
                    <a:pt x="131" y="0"/>
                  </a:lnTo>
                  <a:lnTo>
                    <a:pt x="98" y="128"/>
                  </a:lnTo>
                  <a:lnTo>
                    <a:pt x="65" y="0"/>
                  </a:lnTo>
                  <a:lnTo>
                    <a:pt x="0" y="0"/>
                  </a:lnTo>
                  <a:lnTo>
                    <a:pt x="66" y="207"/>
                  </a:lnTo>
                  <a:lnTo>
                    <a:pt x="125" y="207"/>
                  </a:lnTo>
                  <a:lnTo>
                    <a:pt x="161" y="77"/>
                  </a:lnTo>
                  <a:lnTo>
                    <a:pt x="201" y="207"/>
                  </a:lnTo>
                  <a:lnTo>
                    <a:pt x="255" y="207"/>
                  </a:lnTo>
                  <a:lnTo>
                    <a:pt x="321" y="0"/>
                  </a:lnTo>
                  <a:lnTo>
                    <a:pt x="25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4" name="Freeform 33">
              <a:extLst>
                <a:ext uri="{FF2B5EF4-FFF2-40B4-BE49-F238E27FC236}">
                  <a16:creationId xmlns:a16="http://schemas.microsoft.com/office/drawing/2014/main" id="{BC13DBEE-C770-7041-AFA2-0C237AE02B77}"/>
                </a:ext>
              </a:extLst>
            </p:cNvPr>
            <p:cNvSpPr>
              <a:spLocks/>
            </p:cNvSpPr>
            <p:nvPr userDrawn="1"/>
          </p:nvSpPr>
          <p:spPr bwMode="auto">
            <a:xfrm>
              <a:off x="3175" y="3543"/>
              <a:ext cx="60" cy="207"/>
            </a:xfrm>
            <a:custGeom>
              <a:avLst/>
              <a:gdLst>
                <a:gd name="T0" fmla="*/ 60 w 60"/>
                <a:gd name="T1" fmla="*/ 0 h 207"/>
                <a:gd name="T2" fmla="*/ 0 w 60"/>
                <a:gd name="T3" fmla="*/ 0 h 207"/>
                <a:gd name="T4" fmla="*/ 0 w 60"/>
                <a:gd name="T5" fmla="*/ 106 h 207"/>
                <a:gd name="T6" fmla="*/ 0 w 60"/>
                <a:gd name="T7" fmla="*/ 207 h 207"/>
                <a:gd name="T8" fmla="*/ 60 w 60"/>
                <a:gd name="T9" fmla="*/ 207 h 207"/>
                <a:gd name="T10" fmla="*/ 60 w 60"/>
                <a:gd name="T11" fmla="*/ 106 h 207"/>
                <a:gd name="T12" fmla="*/ 60 w 60"/>
                <a:gd name="T13" fmla="*/ 0 h 207"/>
              </a:gdLst>
              <a:ahLst/>
              <a:cxnLst>
                <a:cxn ang="0">
                  <a:pos x="T0" y="T1"/>
                </a:cxn>
                <a:cxn ang="0">
                  <a:pos x="T2" y="T3"/>
                </a:cxn>
                <a:cxn ang="0">
                  <a:pos x="T4" y="T5"/>
                </a:cxn>
                <a:cxn ang="0">
                  <a:pos x="T6" y="T7"/>
                </a:cxn>
                <a:cxn ang="0">
                  <a:pos x="T8" y="T9"/>
                </a:cxn>
                <a:cxn ang="0">
                  <a:pos x="T10" y="T11"/>
                </a:cxn>
                <a:cxn ang="0">
                  <a:pos x="T12" y="T13"/>
                </a:cxn>
              </a:cxnLst>
              <a:rect l="0" t="0" r="r" b="b"/>
              <a:pathLst>
                <a:path w="60" h="207">
                  <a:moveTo>
                    <a:pt x="60" y="0"/>
                  </a:moveTo>
                  <a:lnTo>
                    <a:pt x="0" y="0"/>
                  </a:lnTo>
                  <a:lnTo>
                    <a:pt x="0" y="106"/>
                  </a:lnTo>
                  <a:lnTo>
                    <a:pt x="0" y="207"/>
                  </a:lnTo>
                  <a:lnTo>
                    <a:pt x="60" y="207"/>
                  </a:lnTo>
                  <a:lnTo>
                    <a:pt x="60" y="106"/>
                  </a:lnTo>
                  <a:lnTo>
                    <a:pt x="6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5" name="Freeform 34">
              <a:extLst>
                <a:ext uri="{FF2B5EF4-FFF2-40B4-BE49-F238E27FC236}">
                  <a16:creationId xmlns:a16="http://schemas.microsoft.com/office/drawing/2014/main" id="{25F55F6D-AE97-BC48-8FF0-AD9F705F70D3}"/>
                </a:ext>
              </a:extLst>
            </p:cNvPr>
            <p:cNvSpPr>
              <a:spLocks/>
            </p:cNvSpPr>
            <p:nvPr userDrawn="1"/>
          </p:nvSpPr>
          <p:spPr bwMode="auto">
            <a:xfrm>
              <a:off x="4076" y="3543"/>
              <a:ext cx="59" cy="207"/>
            </a:xfrm>
            <a:custGeom>
              <a:avLst/>
              <a:gdLst>
                <a:gd name="T0" fmla="*/ 59 w 59"/>
                <a:gd name="T1" fmla="*/ 0 h 207"/>
                <a:gd name="T2" fmla="*/ 0 w 59"/>
                <a:gd name="T3" fmla="*/ 0 h 207"/>
                <a:gd name="T4" fmla="*/ 0 w 59"/>
                <a:gd name="T5" fmla="*/ 106 h 207"/>
                <a:gd name="T6" fmla="*/ 0 w 59"/>
                <a:gd name="T7" fmla="*/ 207 h 207"/>
                <a:gd name="T8" fmla="*/ 59 w 59"/>
                <a:gd name="T9" fmla="*/ 207 h 207"/>
                <a:gd name="T10" fmla="*/ 59 w 59"/>
                <a:gd name="T11" fmla="*/ 106 h 207"/>
                <a:gd name="T12" fmla="*/ 59 w 59"/>
                <a:gd name="T13" fmla="*/ 0 h 207"/>
              </a:gdLst>
              <a:ahLst/>
              <a:cxnLst>
                <a:cxn ang="0">
                  <a:pos x="T0" y="T1"/>
                </a:cxn>
                <a:cxn ang="0">
                  <a:pos x="T2" y="T3"/>
                </a:cxn>
                <a:cxn ang="0">
                  <a:pos x="T4" y="T5"/>
                </a:cxn>
                <a:cxn ang="0">
                  <a:pos x="T6" y="T7"/>
                </a:cxn>
                <a:cxn ang="0">
                  <a:pos x="T8" y="T9"/>
                </a:cxn>
                <a:cxn ang="0">
                  <a:pos x="T10" y="T11"/>
                </a:cxn>
                <a:cxn ang="0">
                  <a:pos x="T12" y="T13"/>
                </a:cxn>
              </a:cxnLst>
              <a:rect l="0" t="0" r="r" b="b"/>
              <a:pathLst>
                <a:path w="59" h="207">
                  <a:moveTo>
                    <a:pt x="59" y="0"/>
                  </a:moveTo>
                  <a:lnTo>
                    <a:pt x="0" y="0"/>
                  </a:lnTo>
                  <a:lnTo>
                    <a:pt x="0" y="106"/>
                  </a:lnTo>
                  <a:lnTo>
                    <a:pt x="0" y="207"/>
                  </a:lnTo>
                  <a:lnTo>
                    <a:pt x="59" y="207"/>
                  </a:lnTo>
                  <a:lnTo>
                    <a:pt x="59" y="106"/>
                  </a:lnTo>
                  <a:lnTo>
                    <a:pt x="5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6" name="Freeform 35">
              <a:extLst>
                <a:ext uri="{FF2B5EF4-FFF2-40B4-BE49-F238E27FC236}">
                  <a16:creationId xmlns:a16="http://schemas.microsoft.com/office/drawing/2014/main" id="{98642F33-A329-514A-A85F-671C5B468823}"/>
                </a:ext>
              </a:extLst>
            </p:cNvPr>
            <p:cNvSpPr>
              <a:spLocks/>
            </p:cNvSpPr>
            <p:nvPr userDrawn="1"/>
          </p:nvSpPr>
          <p:spPr bwMode="auto">
            <a:xfrm>
              <a:off x="3527" y="3538"/>
              <a:ext cx="190" cy="212"/>
            </a:xfrm>
            <a:custGeom>
              <a:avLst/>
              <a:gdLst>
                <a:gd name="T0" fmla="*/ 686 w 767"/>
                <a:gd name="T1" fmla="*/ 77 h 857"/>
                <a:gd name="T2" fmla="*/ 480 w 767"/>
                <a:gd name="T3" fmla="*/ 0 h 857"/>
                <a:gd name="T4" fmla="*/ 231 w 767"/>
                <a:gd name="T5" fmla="*/ 111 h 857"/>
                <a:gd name="T6" fmla="*/ 231 w 767"/>
                <a:gd name="T7" fmla="*/ 20 h 857"/>
                <a:gd name="T8" fmla="*/ 0 w 767"/>
                <a:gd name="T9" fmla="*/ 20 h 857"/>
                <a:gd name="T10" fmla="*/ 0 w 767"/>
                <a:gd name="T11" fmla="*/ 857 h 857"/>
                <a:gd name="T12" fmla="*/ 241 w 767"/>
                <a:gd name="T13" fmla="*/ 857 h 857"/>
                <a:gd name="T14" fmla="*/ 241 w 767"/>
                <a:gd name="T15" fmla="*/ 402 h 857"/>
                <a:gd name="T16" fmla="*/ 285 w 767"/>
                <a:gd name="T17" fmla="*/ 268 h 857"/>
                <a:gd name="T18" fmla="*/ 390 w 767"/>
                <a:gd name="T19" fmla="*/ 221 h 857"/>
                <a:gd name="T20" fmla="*/ 494 w 767"/>
                <a:gd name="T21" fmla="*/ 268 h 857"/>
                <a:gd name="T22" fmla="*/ 527 w 767"/>
                <a:gd name="T23" fmla="*/ 434 h 857"/>
                <a:gd name="T24" fmla="*/ 527 w 767"/>
                <a:gd name="T25" fmla="*/ 857 h 857"/>
                <a:gd name="T26" fmla="*/ 767 w 767"/>
                <a:gd name="T27" fmla="*/ 857 h 857"/>
                <a:gd name="T28" fmla="*/ 767 w 767"/>
                <a:gd name="T29" fmla="*/ 334 h 857"/>
                <a:gd name="T30" fmla="*/ 686 w 767"/>
                <a:gd name="T31" fmla="*/ 77 h 8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767" h="857">
                  <a:moveTo>
                    <a:pt x="686" y="77"/>
                  </a:moveTo>
                  <a:cubicBezTo>
                    <a:pt x="636" y="24"/>
                    <a:pt x="573" y="0"/>
                    <a:pt x="480" y="0"/>
                  </a:cubicBezTo>
                  <a:cubicBezTo>
                    <a:pt x="388" y="1"/>
                    <a:pt x="281" y="46"/>
                    <a:pt x="231" y="111"/>
                  </a:cubicBezTo>
                  <a:cubicBezTo>
                    <a:pt x="231" y="20"/>
                    <a:pt x="231" y="20"/>
                    <a:pt x="231" y="20"/>
                  </a:cubicBezTo>
                  <a:cubicBezTo>
                    <a:pt x="0" y="20"/>
                    <a:pt x="0" y="20"/>
                    <a:pt x="0" y="20"/>
                  </a:cubicBezTo>
                  <a:cubicBezTo>
                    <a:pt x="0" y="857"/>
                    <a:pt x="0" y="857"/>
                    <a:pt x="0" y="857"/>
                  </a:cubicBezTo>
                  <a:cubicBezTo>
                    <a:pt x="241" y="857"/>
                    <a:pt x="241" y="857"/>
                    <a:pt x="241" y="857"/>
                  </a:cubicBezTo>
                  <a:cubicBezTo>
                    <a:pt x="241" y="402"/>
                    <a:pt x="241" y="402"/>
                    <a:pt x="241" y="402"/>
                  </a:cubicBezTo>
                  <a:cubicBezTo>
                    <a:pt x="241" y="343"/>
                    <a:pt x="257" y="299"/>
                    <a:pt x="285" y="268"/>
                  </a:cubicBezTo>
                  <a:cubicBezTo>
                    <a:pt x="309" y="241"/>
                    <a:pt x="345" y="224"/>
                    <a:pt x="390" y="221"/>
                  </a:cubicBezTo>
                  <a:cubicBezTo>
                    <a:pt x="444" y="218"/>
                    <a:pt x="473" y="242"/>
                    <a:pt x="494" y="268"/>
                  </a:cubicBezTo>
                  <a:cubicBezTo>
                    <a:pt x="520" y="300"/>
                    <a:pt x="527" y="357"/>
                    <a:pt x="527" y="434"/>
                  </a:cubicBezTo>
                  <a:cubicBezTo>
                    <a:pt x="527" y="857"/>
                    <a:pt x="527" y="857"/>
                    <a:pt x="527" y="857"/>
                  </a:cubicBezTo>
                  <a:cubicBezTo>
                    <a:pt x="767" y="857"/>
                    <a:pt x="767" y="857"/>
                    <a:pt x="767" y="857"/>
                  </a:cubicBezTo>
                  <a:cubicBezTo>
                    <a:pt x="767" y="334"/>
                    <a:pt x="767" y="334"/>
                    <a:pt x="767" y="334"/>
                  </a:cubicBezTo>
                  <a:cubicBezTo>
                    <a:pt x="767" y="232"/>
                    <a:pt x="754" y="147"/>
                    <a:pt x="686" y="77"/>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7" name="Freeform 36">
              <a:extLst>
                <a:ext uri="{FF2B5EF4-FFF2-40B4-BE49-F238E27FC236}">
                  <a16:creationId xmlns:a16="http://schemas.microsoft.com/office/drawing/2014/main" id="{6D7E342B-147E-9F46-B8ED-31FC05952700}"/>
                </a:ext>
              </a:extLst>
            </p:cNvPr>
            <p:cNvSpPr>
              <a:spLocks noEditPoints="1"/>
            </p:cNvSpPr>
            <p:nvPr userDrawn="1"/>
          </p:nvSpPr>
          <p:spPr bwMode="auto">
            <a:xfrm>
              <a:off x="4170" y="3449"/>
              <a:ext cx="222" cy="306"/>
            </a:xfrm>
            <a:custGeom>
              <a:avLst/>
              <a:gdLst>
                <a:gd name="T0" fmla="*/ 900 w 900"/>
                <a:gd name="T1" fmla="*/ 0 h 1233"/>
                <a:gd name="T2" fmla="*/ 900 w 900"/>
                <a:gd name="T3" fmla="*/ 1214 h 1233"/>
                <a:gd name="T4" fmla="*/ 673 w 900"/>
                <a:gd name="T5" fmla="*/ 1214 h 1233"/>
                <a:gd name="T6" fmla="*/ 673 w 900"/>
                <a:gd name="T7" fmla="*/ 1121 h 1233"/>
                <a:gd name="T8" fmla="*/ 414 w 900"/>
                <a:gd name="T9" fmla="*/ 1233 h 1233"/>
                <a:gd name="T10" fmla="*/ 124 w 900"/>
                <a:gd name="T11" fmla="*/ 1121 h 1233"/>
                <a:gd name="T12" fmla="*/ 0 w 900"/>
                <a:gd name="T13" fmla="*/ 796 h 1233"/>
                <a:gd name="T14" fmla="*/ 406 w 900"/>
                <a:gd name="T15" fmla="*/ 357 h 1233"/>
                <a:gd name="T16" fmla="*/ 659 w 900"/>
                <a:gd name="T17" fmla="*/ 451 h 1233"/>
                <a:gd name="T18" fmla="*/ 659 w 900"/>
                <a:gd name="T19" fmla="*/ 0 h 1233"/>
                <a:gd name="T20" fmla="*/ 900 w 900"/>
                <a:gd name="T21" fmla="*/ 0 h 1233"/>
                <a:gd name="T22" fmla="*/ 666 w 900"/>
                <a:gd name="T23" fmla="*/ 796 h 1233"/>
                <a:gd name="T24" fmla="*/ 453 w 900"/>
                <a:gd name="T25" fmla="*/ 569 h 1233"/>
                <a:gd name="T26" fmla="*/ 241 w 900"/>
                <a:gd name="T27" fmla="*/ 796 h 1233"/>
                <a:gd name="T28" fmla="*/ 453 w 900"/>
                <a:gd name="T29" fmla="*/ 1022 h 1233"/>
                <a:gd name="T30" fmla="*/ 666 w 900"/>
                <a:gd name="T31" fmla="*/ 796 h 12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00" h="1233">
                  <a:moveTo>
                    <a:pt x="900" y="0"/>
                  </a:moveTo>
                  <a:cubicBezTo>
                    <a:pt x="900" y="1214"/>
                    <a:pt x="900" y="1214"/>
                    <a:pt x="900" y="1214"/>
                  </a:cubicBezTo>
                  <a:cubicBezTo>
                    <a:pt x="673" y="1214"/>
                    <a:pt x="673" y="1214"/>
                    <a:pt x="673" y="1214"/>
                  </a:cubicBezTo>
                  <a:cubicBezTo>
                    <a:pt x="673" y="1121"/>
                    <a:pt x="673" y="1121"/>
                    <a:pt x="673" y="1121"/>
                  </a:cubicBezTo>
                  <a:cubicBezTo>
                    <a:pt x="620" y="1182"/>
                    <a:pt x="534" y="1233"/>
                    <a:pt x="414" y="1233"/>
                  </a:cubicBezTo>
                  <a:cubicBezTo>
                    <a:pt x="298" y="1233"/>
                    <a:pt x="198" y="1195"/>
                    <a:pt x="124" y="1121"/>
                  </a:cubicBezTo>
                  <a:cubicBezTo>
                    <a:pt x="44" y="1041"/>
                    <a:pt x="0" y="926"/>
                    <a:pt x="0" y="796"/>
                  </a:cubicBezTo>
                  <a:cubicBezTo>
                    <a:pt x="0" y="541"/>
                    <a:pt x="171" y="357"/>
                    <a:pt x="406" y="357"/>
                  </a:cubicBezTo>
                  <a:cubicBezTo>
                    <a:pt x="508" y="357"/>
                    <a:pt x="594" y="389"/>
                    <a:pt x="659" y="451"/>
                  </a:cubicBezTo>
                  <a:cubicBezTo>
                    <a:pt x="659" y="0"/>
                    <a:pt x="659" y="0"/>
                    <a:pt x="659" y="0"/>
                  </a:cubicBezTo>
                  <a:lnTo>
                    <a:pt x="900" y="0"/>
                  </a:lnTo>
                  <a:close/>
                  <a:moveTo>
                    <a:pt x="666" y="796"/>
                  </a:moveTo>
                  <a:cubicBezTo>
                    <a:pt x="666" y="683"/>
                    <a:pt x="593" y="569"/>
                    <a:pt x="453" y="569"/>
                  </a:cubicBezTo>
                  <a:cubicBezTo>
                    <a:pt x="314" y="569"/>
                    <a:pt x="241" y="683"/>
                    <a:pt x="241" y="796"/>
                  </a:cubicBezTo>
                  <a:cubicBezTo>
                    <a:pt x="241" y="908"/>
                    <a:pt x="314" y="1022"/>
                    <a:pt x="453" y="1022"/>
                  </a:cubicBezTo>
                  <a:cubicBezTo>
                    <a:pt x="593" y="1022"/>
                    <a:pt x="666" y="908"/>
                    <a:pt x="666" y="79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8" name="Freeform 37">
              <a:extLst>
                <a:ext uri="{FF2B5EF4-FFF2-40B4-BE49-F238E27FC236}">
                  <a16:creationId xmlns:a16="http://schemas.microsoft.com/office/drawing/2014/main" id="{BC4714C2-C589-7440-8B2D-CDE7ECF95AB1}"/>
                </a:ext>
              </a:extLst>
            </p:cNvPr>
            <p:cNvSpPr>
              <a:spLocks noEditPoints="1"/>
            </p:cNvSpPr>
            <p:nvPr userDrawn="1"/>
          </p:nvSpPr>
          <p:spPr bwMode="auto">
            <a:xfrm>
              <a:off x="3269" y="3538"/>
              <a:ext cx="224" cy="217"/>
            </a:xfrm>
            <a:custGeom>
              <a:avLst/>
              <a:gdLst>
                <a:gd name="T0" fmla="*/ 905 w 905"/>
                <a:gd name="T1" fmla="*/ 438 h 877"/>
                <a:gd name="T2" fmla="*/ 453 w 905"/>
                <a:gd name="T3" fmla="*/ 877 h 877"/>
                <a:gd name="T4" fmla="*/ 0 w 905"/>
                <a:gd name="T5" fmla="*/ 438 h 877"/>
                <a:gd name="T6" fmla="*/ 453 w 905"/>
                <a:gd name="T7" fmla="*/ 0 h 877"/>
                <a:gd name="T8" fmla="*/ 905 w 905"/>
                <a:gd name="T9" fmla="*/ 438 h 877"/>
                <a:gd name="T10" fmla="*/ 453 w 905"/>
                <a:gd name="T11" fmla="*/ 212 h 877"/>
                <a:gd name="T12" fmla="*/ 241 w 905"/>
                <a:gd name="T13" fmla="*/ 438 h 877"/>
                <a:gd name="T14" fmla="*/ 453 w 905"/>
                <a:gd name="T15" fmla="*/ 664 h 877"/>
                <a:gd name="T16" fmla="*/ 665 w 905"/>
                <a:gd name="T17" fmla="*/ 438 h 877"/>
                <a:gd name="T18" fmla="*/ 453 w 905"/>
                <a:gd name="T19" fmla="*/ 212 h 8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5" h="877">
                  <a:moveTo>
                    <a:pt x="905" y="438"/>
                  </a:moveTo>
                  <a:cubicBezTo>
                    <a:pt x="905" y="692"/>
                    <a:pt x="715" y="877"/>
                    <a:pt x="453" y="877"/>
                  </a:cubicBezTo>
                  <a:cubicBezTo>
                    <a:pt x="190" y="877"/>
                    <a:pt x="0" y="692"/>
                    <a:pt x="0" y="438"/>
                  </a:cubicBezTo>
                  <a:cubicBezTo>
                    <a:pt x="0" y="184"/>
                    <a:pt x="190" y="0"/>
                    <a:pt x="453" y="0"/>
                  </a:cubicBezTo>
                  <a:cubicBezTo>
                    <a:pt x="715" y="0"/>
                    <a:pt x="905" y="184"/>
                    <a:pt x="905" y="438"/>
                  </a:cubicBezTo>
                  <a:moveTo>
                    <a:pt x="453" y="212"/>
                  </a:moveTo>
                  <a:cubicBezTo>
                    <a:pt x="313" y="212"/>
                    <a:pt x="241" y="326"/>
                    <a:pt x="241" y="438"/>
                  </a:cubicBezTo>
                  <a:cubicBezTo>
                    <a:pt x="241" y="551"/>
                    <a:pt x="313" y="664"/>
                    <a:pt x="453" y="664"/>
                  </a:cubicBezTo>
                  <a:cubicBezTo>
                    <a:pt x="592" y="664"/>
                    <a:pt x="665" y="551"/>
                    <a:pt x="665" y="438"/>
                  </a:cubicBezTo>
                  <a:cubicBezTo>
                    <a:pt x="665" y="326"/>
                    <a:pt x="592" y="212"/>
                    <a:pt x="453" y="21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9" name="Freeform 38">
              <a:extLst>
                <a:ext uri="{FF2B5EF4-FFF2-40B4-BE49-F238E27FC236}">
                  <a16:creationId xmlns:a16="http://schemas.microsoft.com/office/drawing/2014/main" id="{756C9AE0-AC13-5044-BB09-DE4242EA4E39}"/>
                </a:ext>
              </a:extLst>
            </p:cNvPr>
            <p:cNvSpPr>
              <a:spLocks noEditPoints="1"/>
            </p:cNvSpPr>
            <p:nvPr userDrawn="1"/>
          </p:nvSpPr>
          <p:spPr bwMode="auto">
            <a:xfrm>
              <a:off x="4636" y="3449"/>
              <a:ext cx="95" cy="95"/>
            </a:xfrm>
            <a:custGeom>
              <a:avLst/>
              <a:gdLst>
                <a:gd name="T0" fmla="*/ 118 w 383"/>
                <a:gd name="T1" fmla="*/ 299 h 382"/>
                <a:gd name="T2" fmla="*/ 158 w 383"/>
                <a:gd name="T3" fmla="*/ 299 h 382"/>
                <a:gd name="T4" fmla="*/ 158 w 383"/>
                <a:gd name="T5" fmla="*/ 209 h 382"/>
                <a:gd name="T6" fmla="*/ 187 w 383"/>
                <a:gd name="T7" fmla="*/ 209 h 382"/>
                <a:gd name="T8" fmla="*/ 242 w 383"/>
                <a:gd name="T9" fmla="*/ 299 h 382"/>
                <a:gd name="T10" fmla="*/ 284 w 383"/>
                <a:gd name="T11" fmla="*/ 299 h 382"/>
                <a:gd name="T12" fmla="*/ 227 w 383"/>
                <a:gd name="T13" fmla="*/ 206 h 382"/>
                <a:gd name="T14" fmla="*/ 279 w 383"/>
                <a:gd name="T15" fmla="*/ 146 h 382"/>
                <a:gd name="T16" fmla="*/ 202 w 383"/>
                <a:gd name="T17" fmla="*/ 80 h 382"/>
                <a:gd name="T18" fmla="*/ 118 w 383"/>
                <a:gd name="T19" fmla="*/ 80 h 382"/>
                <a:gd name="T20" fmla="*/ 118 w 383"/>
                <a:gd name="T21" fmla="*/ 299 h 382"/>
                <a:gd name="T22" fmla="*/ 158 w 383"/>
                <a:gd name="T23" fmla="*/ 114 h 382"/>
                <a:gd name="T24" fmla="*/ 187 w 383"/>
                <a:gd name="T25" fmla="*/ 114 h 382"/>
                <a:gd name="T26" fmla="*/ 239 w 383"/>
                <a:gd name="T27" fmla="*/ 145 h 382"/>
                <a:gd name="T28" fmla="*/ 187 w 383"/>
                <a:gd name="T29" fmla="*/ 176 h 382"/>
                <a:gd name="T30" fmla="*/ 158 w 383"/>
                <a:gd name="T31" fmla="*/ 176 h 382"/>
                <a:gd name="T32" fmla="*/ 158 w 383"/>
                <a:gd name="T33" fmla="*/ 114 h 382"/>
                <a:gd name="T34" fmla="*/ 0 w 383"/>
                <a:gd name="T35" fmla="*/ 191 h 382"/>
                <a:gd name="T36" fmla="*/ 191 w 383"/>
                <a:gd name="T37" fmla="*/ 382 h 382"/>
                <a:gd name="T38" fmla="*/ 383 w 383"/>
                <a:gd name="T39" fmla="*/ 191 h 382"/>
                <a:gd name="T40" fmla="*/ 191 w 383"/>
                <a:gd name="T41" fmla="*/ 0 h 382"/>
                <a:gd name="T42" fmla="*/ 0 w 383"/>
                <a:gd name="T43" fmla="*/ 191 h 382"/>
                <a:gd name="T44" fmla="*/ 34 w 383"/>
                <a:gd name="T45" fmla="*/ 191 h 382"/>
                <a:gd name="T46" fmla="*/ 191 w 383"/>
                <a:gd name="T47" fmla="*/ 34 h 382"/>
                <a:gd name="T48" fmla="*/ 349 w 383"/>
                <a:gd name="T49" fmla="*/ 191 h 382"/>
                <a:gd name="T50" fmla="*/ 191 w 383"/>
                <a:gd name="T51" fmla="*/ 349 h 382"/>
                <a:gd name="T52" fmla="*/ 34 w 383"/>
                <a:gd name="T53" fmla="*/ 191 h 3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83" h="382">
                  <a:moveTo>
                    <a:pt x="118" y="299"/>
                  </a:moveTo>
                  <a:cubicBezTo>
                    <a:pt x="158" y="299"/>
                    <a:pt x="158" y="299"/>
                    <a:pt x="158" y="299"/>
                  </a:cubicBezTo>
                  <a:cubicBezTo>
                    <a:pt x="158" y="209"/>
                    <a:pt x="158" y="209"/>
                    <a:pt x="158" y="209"/>
                  </a:cubicBezTo>
                  <a:cubicBezTo>
                    <a:pt x="187" y="209"/>
                    <a:pt x="187" y="209"/>
                    <a:pt x="187" y="209"/>
                  </a:cubicBezTo>
                  <a:cubicBezTo>
                    <a:pt x="242" y="299"/>
                    <a:pt x="242" y="299"/>
                    <a:pt x="242" y="299"/>
                  </a:cubicBezTo>
                  <a:cubicBezTo>
                    <a:pt x="284" y="299"/>
                    <a:pt x="284" y="299"/>
                    <a:pt x="284" y="299"/>
                  </a:cubicBezTo>
                  <a:cubicBezTo>
                    <a:pt x="227" y="206"/>
                    <a:pt x="227" y="206"/>
                    <a:pt x="227" y="206"/>
                  </a:cubicBezTo>
                  <a:cubicBezTo>
                    <a:pt x="257" y="203"/>
                    <a:pt x="279" y="184"/>
                    <a:pt x="279" y="146"/>
                  </a:cubicBezTo>
                  <a:cubicBezTo>
                    <a:pt x="279" y="104"/>
                    <a:pt x="255" y="80"/>
                    <a:pt x="202" y="80"/>
                  </a:cubicBezTo>
                  <a:cubicBezTo>
                    <a:pt x="118" y="80"/>
                    <a:pt x="118" y="80"/>
                    <a:pt x="118" y="80"/>
                  </a:cubicBezTo>
                  <a:lnTo>
                    <a:pt x="118" y="299"/>
                  </a:lnTo>
                  <a:close/>
                  <a:moveTo>
                    <a:pt x="158" y="114"/>
                  </a:moveTo>
                  <a:cubicBezTo>
                    <a:pt x="187" y="114"/>
                    <a:pt x="187" y="114"/>
                    <a:pt x="187" y="114"/>
                  </a:cubicBezTo>
                  <a:cubicBezTo>
                    <a:pt x="212" y="114"/>
                    <a:pt x="239" y="115"/>
                    <a:pt x="239" y="145"/>
                  </a:cubicBezTo>
                  <a:cubicBezTo>
                    <a:pt x="239" y="174"/>
                    <a:pt x="212" y="176"/>
                    <a:pt x="187" y="176"/>
                  </a:cubicBezTo>
                  <a:cubicBezTo>
                    <a:pt x="158" y="176"/>
                    <a:pt x="158" y="176"/>
                    <a:pt x="158" y="176"/>
                  </a:cubicBezTo>
                  <a:lnTo>
                    <a:pt x="158" y="114"/>
                  </a:lnTo>
                  <a:close/>
                  <a:moveTo>
                    <a:pt x="0" y="191"/>
                  </a:moveTo>
                  <a:cubicBezTo>
                    <a:pt x="0" y="296"/>
                    <a:pt x="86" y="382"/>
                    <a:pt x="191" y="382"/>
                  </a:cubicBezTo>
                  <a:cubicBezTo>
                    <a:pt x="297" y="382"/>
                    <a:pt x="383" y="296"/>
                    <a:pt x="383" y="191"/>
                  </a:cubicBezTo>
                  <a:cubicBezTo>
                    <a:pt x="383" y="86"/>
                    <a:pt x="297" y="0"/>
                    <a:pt x="191" y="0"/>
                  </a:cubicBezTo>
                  <a:cubicBezTo>
                    <a:pt x="86" y="0"/>
                    <a:pt x="0" y="86"/>
                    <a:pt x="0" y="191"/>
                  </a:cubicBezTo>
                  <a:moveTo>
                    <a:pt x="34" y="191"/>
                  </a:moveTo>
                  <a:cubicBezTo>
                    <a:pt x="34" y="104"/>
                    <a:pt x="104" y="34"/>
                    <a:pt x="191" y="34"/>
                  </a:cubicBezTo>
                  <a:cubicBezTo>
                    <a:pt x="278" y="34"/>
                    <a:pt x="349" y="104"/>
                    <a:pt x="349" y="191"/>
                  </a:cubicBezTo>
                  <a:cubicBezTo>
                    <a:pt x="349" y="278"/>
                    <a:pt x="278" y="349"/>
                    <a:pt x="191" y="349"/>
                  </a:cubicBezTo>
                  <a:cubicBezTo>
                    <a:pt x="104" y="349"/>
                    <a:pt x="34" y="278"/>
                    <a:pt x="34" y="191"/>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0" name="Freeform 39">
              <a:extLst>
                <a:ext uri="{FF2B5EF4-FFF2-40B4-BE49-F238E27FC236}">
                  <a16:creationId xmlns:a16="http://schemas.microsoft.com/office/drawing/2014/main" id="{DE12E4C2-A267-0F4B-96D4-B4D8191D7249}"/>
                </a:ext>
              </a:extLst>
            </p:cNvPr>
            <p:cNvSpPr>
              <a:spLocks/>
            </p:cNvSpPr>
            <p:nvPr userDrawn="1"/>
          </p:nvSpPr>
          <p:spPr bwMode="auto">
            <a:xfrm>
              <a:off x="3768" y="1895"/>
              <a:ext cx="434" cy="1109"/>
            </a:xfrm>
            <a:custGeom>
              <a:avLst/>
              <a:gdLst>
                <a:gd name="T0" fmla="*/ 509 w 1751"/>
                <a:gd name="T1" fmla="*/ 0 h 4481"/>
                <a:gd name="T2" fmla="*/ 509 w 1751"/>
                <a:gd name="T3" fmla="*/ 2792 h 4481"/>
                <a:gd name="T4" fmla="*/ 161 w 1751"/>
                <a:gd name="T5" fmla="*/ 2452 h 4481"/>
                <a:gd name="T6" fmla="*/ 161 w 1751"/>
                <a:gd name="T7" fmla="*/ 3527 h 4481"/>
                <a:gd name="T8" fmla="*/ 19 w 1751"/>
                <a:gd name="T9" fmla="*/ 4087 h 4481"/>
                <a:gd name="T10" fmla="*/ 17 w 1751"/>
                <a:gd name="T11" fmla="*/ 4090 h 4481"/>
                <a:gd name="T12" fmla="*/ 0 w 1751"/>
                <a:gd name="T13" fmla="*/ 4110 h 4481"/>
                <a:gd name="T14" fmla="*/ 393 w 1751"/>
                <a:gd name="T15" fmla="*/ 4481 h 4481"/>
                <a:gd name="T16" fmla="*/ 1751 w 1751"/>
                <a:gd name="T17" fmla="*/ 4481 h 4481"/>
                <a:gd name="T18" fmla="*/ 1751 w 1751"/>
                <a:gd name="T19" fmla="*/ 0 h 4481"/>
                <a:gd name="T20" fmla="*/ 509 w 1751"/>
                <a:gd name="T21" fmla="*/ 0 h 44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51" h="4481">
                  <a:moveTo>
                    <a:pt x="509" y="0"/>
                  </a:moveTo>
                  <a:cubicBezTo>
                    <a:pt x="509" y="2792"/>
                    <a:pt x="509" y="2792"/>
                    <a:pt x="509" y="2792"/>
                  </a:cubicBezTo>
                  <a:cubicBezTo>
                    <a:pt x="161" y="2452"/>
                    <a:pt x="161" y="2452"/>
                    <a:pt x="161" y="2452"/>
                  </a:cubicBezTo>
                  <a:cubicBezTo>
                    <a:pt x="161" y="3527"/>
                    <a:pt x="161" y="3527"/>
                    <a:pt x="161" y="3527"/>
                  </a:cubicBezTo>
                  <a:cubicBezTo>
                    <a:pt x="161" y="3775"/>
                    <a:pt x="139" y="3938"/>
                    <a:pt x="19" y="4087"/>
                  </a:cubicBezTo>
                  <a:cubicBezTo>
                    <a:pt x="17" y="4090"/>
                    <a:pt x="17" y="4090"/>
                    <a:pt x="17" y="4090"/>
                  </a:cubicBezTo>
                  <a:cubicBezTo>
                    <a:pt x="11" y="4097"/>
                    <a:pt x="5" y="4103"/>
                    <a:pt x="0" y="4110"/>
                  </a:cubicBezTo>
                  <a:cubicBezTo>
                    <a:pt x="393" y="4481"/>
                    <a:pt x="393" y="4481"/>
                    <a:pt x="393" y="4481"/>
                  </a:cubicBezTo>
                  <a:cubicBezTo>
                    <a:pt x="1751" y="4481"/>
                    <a:pt x="1751" y="4481"/>
                    <a:pt x="1751" y="4481"/>
                  </a:cubicBezTo>
                  <a:cubicBezTo>
                    <a:pt x="1751" y="0"/>
                    <a:pt x="1751" y="0"/>
                    <a:pt x="1751" y="0"/>
                  </a:cubicBezTo>
                  <a:lnTo>
                    <a:pt x="50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1" name="Freeform 40">
              <a:extLst>
                <a:ext uri="{FF2B5EF4-FFF2-40B4-BE49-F238E27FC236}">
                  <a16:creationId xmlns:a16="http://schemas.microsoft.com/office/drawing/2014/main" id="{F5F7AF99-A6E7-8E44-B8C3-C6EA336293D4}"/>
                </a:ext>
              </a:extLst>
            </p:cNvPr>
            <p:cNvSpPr>
              <a:spLocks/>
            </p:cNvSpPr>
            <p:nvPr userDrawn="1"/>
          </p:nvSpPr>
          <p:spPr bwMode="auto">
            <a:xfrm>
              <a:off x="2850" y="1895"/>
              <a:ext cx="523" cy="1109"/>
            </a:xfrm>
            <a:custGeom>
              <a:avLst/>
              <a:gdLst>
                <a:gd name="T0" fmla="*/ 1242 w 2112"/>
                <a:gd name="T1" fmla="*/ 1773 h 4481"/>
                <a:gd name="T2" fmla="*/ 1839 w 2112"/>
                <a:gd name="T3" fmla="*/ 2338 h 4481"/>
                <a:gd name="T4" fmla="*/ 1856 w 2112"/>
                <a:gd name="T5" fmla="*/ 1719 h 4481"/>
                <a:gd name="T6" fmla="*/ 1912 w 2112"/>
                <a:gd name="T7" fmla="*/ 1629 h 4481"/>
                <a:gd name="T8" fmla="*/ 2062 w 2112"/>
                <a:gd name="T9" fmla="*/ 795 h 4481"/>
                <a:gd name="T10" fmla="*/ 2112 w 2112"/>
                <a:gd name="T11" fmla="*/ 740 h 4481"/>
                <a:gd name="T12" fmla="*/ 1354 w 2112"/>
                <a:gd name="T13" fmla="*/ 0 h 4481"/>
                <a:gd name="T14" fmla="*/ 0 w 2112"/>
                <a:gd name="T15" fmla="*/ 0 h 4481"/>
                <a:gd name="T16" fmla="*/ 0 w 2112"/>
                <a:gd name="T17" fmla="*/ 4481 h 4481"/>
                <a:gd name="T18" fmla="*/ 1242 w 2112"/>
                <a:gd name="T19" fmla="*/ 4481 h 4481"/>
                <a:gd name="T20" fmla="*/ 1242 w 2112"/>
                <a:gd name="T21" fmla="*/ 1773 h 44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12" h="4481">
                  <a:moveTo>
                    <a:pt x="1242" y="1773"/>
                  </a:moveTo>
                  <a:cubicBezTo>
                    <a:pt x="1242" y="1773"/>
                    <a:pt x="1790" y="2292"/>
                    <a:pt x="1839" y="2338"/>
                  </a:cubicBezTo>
                  <a:cubicBezTo>
                    <a:pt x="1787" y="2144"/>
                    <a:pt x="1751" y="1887"/>
                    <a:pt x="1856" y="1719"/>
                  </a:cubicBezTo>
                  <a:cubicBezTo>
                    <a:pt x="1912" y="1629"/>
                    <a:pt x="1912" y="1629"/>
                    <a:pt x="1912" y="1629"/>
                  </a:cubicBezTo>
                  <a:cubicBezTo>
                    <a:pt x="1855" y="1323"/>
                    <a:pt x="1869" y="1006"/>
                    <a:pt x="2062" y="795"/>
                  </a:cubicBezTo>
                  <a:cubicBezTo>
                    <a:pt x="2112" y="740"/>
                    <a:pt x="2112" y="740"/>
                    <a:pt x="2112" y="740"/>
                  </a:cubicBezTo>
                  <a:cubicBezTo>
                    <a:pt x="1354" y="0"/>
                    <a:pt x="1354" y="0"/>
                    <a:pt x="1354" y="0"/>
                  </a:cubicBezTo>
                  <a:cubicBezTo>
                    <a:pt x="0" y="0"/>
                    <a:pt x="0" y="0"/>
                    <a:pt x="0" y="0"/>
                  </a:cubicBezTo>
                  <a:cubicBezTo>
                    <a:pt x="0" y="4481"/>
                    <a:pt x="0" y="4481"/>
                    <a:pt x="0" y="4481"/>
                  </a:cubicBezTo>
                  <a:cubicBezTo>
                    <a:pt x="1242" y="4481"/>
                    <a:pt x="1242" y="4481"/>
                    <a:pt x="1242" y="4481"/>
                  </a:cubicBezTo>
                  <a:lnTo>
                    <a:pt x="1242" y="177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2" name="Freeform 41">
              <a:extLst>
                <a:ext uri="{FF2B5EF4-FFF2-40B4-BE49-F238E27FC236}">
                  <a16:creationId xmlns:a16="http://schemas.microsoft.com/office/drawing/2014/main" id="{BA6B4724-173F-A148-A58A-7BD739179432}"/>
                </a:ext>
              </a:extLst>
            </p:cNvPr>
            <p:cNvSpPr>
              <a:spLocks/>
            </p:cNvSpPr>
            <p:nvPr userDrawn="1"/>
          </p:nvSpPr>
          <p:spPr bwMode="auto">
            <a:xfrm>
              <a:off x="3792" y="3082"/>
              <a:ext cx="352" cy="210"/>
            </a:xfrm>
            <a:custGeom>
              <a:avLst/>
              <a:gdLst>
                <a:gd name="T0" fmla="*/ 264 w 1420"/>
                <a:gd name="T1" fmla="*/ 22 h 850"/>
                <a:gd name="T2" fmla="*/ 977 w 1420"/>
                <a:gd name="T3" fmla="*/ 90 h 850"/>
                <a:gd name="T4" fmla="*/ 1098 w 1420"/>
                <a:gd name="T5" fmla="*/ 235 h 850"/>
                <a:gd name="T6" fmla="*/ 839 w 1420"/>
                <a:gd name="T7" fmla="*/ 204 h 850"/>
                <a:gd name="T8" fmla="*/ 830 w 1420"/>
                <a:gd name="T9" fmla="*/ 299 h 850"/>
                <a:gd name="T10" fmla="*/ 1115 w 1420"/>
                <a:gd name="T11" fmla="*/ 258 h 850"/>
                <a:gd name="T12" fmla="*/ 1406 w 1420"/>
                <a:gd name="T13" fmla="*/ 463 h 850"/>
                <a:gd name="T14" fmla="*/ 1104 w 1420"/>
                <a:gd name="T15" fmla="*/ 436 h 850"/>
                <a:gd name="T16" fmla="*/ 636 w 1420"/>
                <a:gd name="T17" fmla="*/ 622 h 850"/>
                <a:gd name="T18" fmla="*/ 120 w 1420"/>
                <a:gd name="T19" fmla="*/ 850 h 850"/>
                <a:gd name="T20" fmla="*/ 429 w 1420"/>
                <a:gd name="T21" fmla="*/ 520 h 850"/>
                <a:gd name="T22" fmla="*/ 131 w 1420"/>
                <a:gd name="T23" fmla="*/ 416 h 850"/>
                <a:gd name="T24" fmla="*/ 375 w 1420"/>
                <a:gd name="T25" fmla="*/ 203 h 850"/>
                <a:gd name="T26" fmla="*/ 0 w 1420"/>
                <a:gd name="T27" fmla="*/ 0 h 850"/>
                <a:gd name="T28" fmla="*/ 264 w 1420"/>
                <a:gd name="T29" fmla="*/ 22 h 8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420" h="850">
                  <a:moveTo>
                    <a:pt x="264" y="22"/>
                  </a:moveTo>
                  <a:cubicBezTo>
                    <a:pt x="558" y="44"/>
                    <a:pt x="767" y="64"/>
                    <a:pt x="977" y="90"/>
                  </a:cubicBezTo>
                  <a:cubicBezTo>
                    <a:pt x="1057" y="100"/>
                    <a:pt x="1088" y="192"/>
                    <a:pt x="1098" y="235"/>
                  </a:cubicBezTo>
                  <a:cubicBezTo>
                    <a:pt x="998" y="210"/>
                    <a:pt x="839" y="204"/>
                    <a:pt x="839" y="204"/>
                  </a:cubicBezTo>
                  <a:cubicBezTo>
                    <a:pt x="830" y="299"/>
                    <a:pt x="830" y="299"/>
                    <a:pt x="830" y="299"/>
                  </a:cubicBezTo>
                  <a:cubicBezTo>
                    <a:pt x="830" y="299"/>
                    <a:pt x="966" y="260"/>
                    <a:pt x="1115" y="258"/>
                  </a:cubicBezTo>
                  <a:cubicBezTo>
                    <a:pt x="1115" y="258"/>
                    <a:pt x="1420" y="257"/>
                    <a:pt x="1406" y="463"/>
                  </a:cubicBezTo>
                  <a:cubicBezTo>
                    <a:pt x="1322" y="405"/>
                    <a:pt x="1152" y="428"/>
                    <a:pt x="1104" y="436"/>
                  </a:cubicBezTo>
                  <a:cubicBezTo>
                    <a:pt x="951" y="461"/>
                    <a:pt x="805" y="532"/>
                    <a:pt x="636" y="622"/>
                  </a:cubicBezTo>
                  <a:cubicBezTo>
                    <a:pt x="482" y="703"/>
                    <a:pt x="315" y="791"/>
                    <a:pt x="120" y="850"/>
                  </a:cubicBezTo>
                  <a:cubicBezTo>
                    <a:pt x="206" y="767"/>
                    <a:pt x="429" y="520"/>
                    <a:pt x="429" y="520"/>
                  </a:cubicBezTo>
                  <a:cubicBezTo>
                    <a:pt x="131" y="416"/>
                    <a:pt x="131" y="416"/>
                    <a:pt x="131" y="416"/>
                  </a:cubicBezTo>
                  <a:cubicBezTo>
                    <a:pt x="375" y="203"/>
                    <a:pt x="375" y="203"/>
                    <a:pt x="375" y="203"/>
                  </a:cubicBezTo>
                  <a:cubicBezTo>
                    <a:pt x="0" y="0"/>
                    <a:pt x="0" y="0"/>
                    <a:pt x="0" y="0"/>
                  </a:cubicBezTo>
                  <a:cubicBezTo>
                    <a:pt x="93" y="8"/>
                    <a:pt x="182" y="15"/>
                    <a:pt x="264" y="2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3" name="Freeform 42">
              <a:extLst>
                <a:ext uri="{FF2B5EF4-FFF2-40B4-BE49-F238E27FC236}">
                  <a16:creationId xmlns:a16="http://schemas.microsoft.com/office/drawing/2014/main" id="{73690B43-7688-2046-B603-45F20CD5DA0C}"/>
                </a:ext>
              </a:extLst>
            </p:cNvPr>
            <p:cNvSpPr>
              <a:spLocks/>
            </p:cNvSpPr>
            <p:nvPr userDrawn="1"/>
          </p:nvSpPr>
          <p:spPr bwMode="auto">
            <a:xfrm>
              <a:off x="3750" y="1503"/>
              <a:ext cx="59" cy="1386"/>
            </a:xfrm>
            <a:custGeom>
              <a:avLst/>
              <a:gdLst>
                <a:gd name="T0" fmla="*/ 236 w 236"/>
                <a:gd name="T1" fmla="*/ 0 h 5594"/>
                <a:gd name="T2" fmla="*/ 116 w 236"/>
                <a:gd name="T3" fmla="*/ 1792 h 5594"/>
                <a:gd name="T4" fmla="*/ 116 w 236"/>
                <a:gd name="T5" fmla="*/ 5108 h 5594"/>
                <a:gd name="T6" fmla="*/ 0 w 236"/>
                <a:gd name="T7" fmla="*/ 5594 h 5594"/>
              </a:gdLst>
              <a:ahLst/>
              <a:cxnLst>
                <a:cxn ang="0">
                  <a:pos x="T0" y="T1"/>
                </a:cxn>
                <a:cxn ang="0">
                  <a:pos x="T2" y="T3"/>
                </a:cxn>
                <a:cxn ang="0">
                  <a:pos x="T4" y="T5"/>
                </a:cxn>
                <a:cxn ang="0">
                  <a:pos x="T6" y="T7"/>
                </a:cxn>
              </a:cxnLst>
              <a:rect l="0" t="0" r="r" b="b"/>
              <a:pathLst>
                <a:path w="236" h="5594">
                  <a:moveTo>
                    <a:pt x="236" y="0"/>
                  </a:moveTo>
                  <a:cubicBezTo>
                    <a:pt x="236" y="0"/>
                    <a:pt x="116" y="644"/>
                    <a:pt x="116" y="1792"/>
                  </a:cubicBezTo>
                  <a:cubicBezTo>
                    <a:pt x="116" y="5108"/>
                    <a:pt x="116" y="5108"/>
                    <a:pt x="116" y="5108"/>
                  </a:cubicBezTo>
                  <a:cubicBezTo>
                    <a:pt x="116" y="5337"/>
                    <a:pt x="96" y="5474"/>
                    <a:pt x="0" y="559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4" name="Freeform 43">
              <a:extLst>
                <a:ext uri="{FF2B5EF4-FFF2-40B4-BE49-F238E27FC236}">
                  <a16:creationId xmlns:a16="http://schemas.microsoft.com/office/drawing/2014/main" id="{A01F9FB1-2BA6-E94F-BB12-01CB2F12C7BC}"/>
                </a:ext>
              </a:extLst>
            </p:cNvPr>
            <p:cNvSpPr>
              <a:spLocks/>
            </p:cNvSpPr>
            <p:nvPr userDrawn="1"/>
          </p:nvSpPr>
          <p:spPr bwMode="auto">
            <a:xfrm>
              <a:off x="2919" y="1494"/>
              <a:ext cx="934" cy="1816"/>
            </a:xfrm>
            <a:custGeom>
              <a:avLst/>
              <a:gdLst>
                <a:gd name="T0" fmla="*/ 3358 w 3774"/>
                <a:gd name="T1" fmla="*/ 5632 h 7335"/>
                <a:gd name="T2" fmla="*/ 3079 w 3774"/>
                <a:gd name="T3" fmla="*/ 6187 h 7335"/>
                <a:gd name="T4" fmla="*/ 3079 w 3774"/>
                <a:gd name="T5" fmla="*/ 6187 h 7335"/>
                <a:gd name="T6" fmla="*/ 3302 w 3774"/>
                <a:gd name="T7" fmla="*/ 6410 h 7335"/>
                <a:gd name="T8" fmla="*/ 3720 w 3774"/>
                <a:gd name="T9" fmla="*/ 6636 h 7335"/>
                <a:gd name="T10" fmla="*/ 3449 w 3774"/>
                <a:gd name="T11" fmla="*/ 6873 h 7335"/>
                <a:gd name="T12" fmla="*/ 3774 w 3774"/>
                <a:gd name="T13" fmla="*/ 6975 h 7335"/>
                <a:gd name="T14" fmla="*/ 3441 w 3774"/>
                <a:gd name="T15" fmla="*/ 7312 h 7335"/>
                <a:gd name="T16" fmla="*/ 3169 w 3774"/>
                <a:gd name="T17" fmla="*/ 7335 h 7335"/>
                <a:gd name="T18" fmla="*/ 1281 w 3774"/>
                <a:gd name="T19" fmla="*/ 6924 h 7335"/>
                <a:gd name="T20" fmla="*/ 636 w 3774"/>
                <a:gd name="T21" fmla="*/ 7086 h 7335"/>
                <a:gd name="T22" fmla="*/ 823 w 3774"/>
                <a:gd name="T23" fmla="*/ 6882 h 7335"/>
                <a:gd name="T24" fmla="*/ 339 w 3774"/>
                <a:gd name="T25" fmla="*/ 6912 h 7335"/>
                <a:gd name="T26" fmla="*/ 675 w 3774"/>
                <a:gd name="T27" fmla="*/ 6684 h 7335"/>
                <a:gd name="T28" fmla="*/ 0 w 3774"/>
                <a:gd name="T29" fmla="*/ 6500 h 7335"/>
                <a:gd name="T30" fmla="*/ 1280 w 3774"/>
                <a:gd name="T31" fmla="*/ 6465 h 7335"/>
                <a:gd name="T32" fmla="*/ 2083 w 3774"/>
                <a:gd name="T33" fmla="*/ 6498 h 7335"/>
                <a:gd name="T34" fmla="*/ 1500 w 3774"/>
                <a:gd name="T35" fmla="*/ 6006 h 7335"/>
                <a:gd name="T36" fmla="*/ 1976 w 3774"/>
                <a:gd name="T37" fmla="*/ 6078 h 7335"/>
                <a:gd name="T38" fmla="*/ 1432 w 3774"/>
                <a:gd name="T39" fmla="*/ 5412 h 7335"/>
                <a:gd name="T40" fmla="*/ 1964 w 3774"/>
                <a:gd name="T41" fmla="*/ 5598 h 7335"/>
                <a:gd name="T42" fmla="*/ 1482 w 3774"/>
                <a:gd name="T43" fmla="*/ 4831 h 7335"/>
                <a:gd name="T44" fmla="*/ 1902 w 3774"/>
                <a:gd name="T45" fmla="*/ 5096 h 7335"/>
                <a:gd name="T46" fmla="*/ 1544 w 3774"/>
                <a:gd name="T47" fmla="*/ 4223 h 7335"/>
                <a:gd name="T48" fmla="*/ 1936 w 3774"/>
                <a:gd name="T49" fmla="*/ 4487 h 7335"/>
                <a:gd name="T50" fmla="*/ 1678 w 3774"/>
                <a:gd name="T51" fmla="*/ 3401 h 7335"/>
                <a:gd name="T52" fmla="*/ 2063 w 3774"/>
                <a:gd name="T53" fmla="*/ 4032 h 7335"/>
                <a:gd name="T54" fmla="*/ 1872 w 3774"/>
                <a:gd name="T55" fmla="*/ 2493 h 7335"/>
                <a:gd name="T56" fmla="*/ 2345 w 3774"/>
                <a:gd name="T57" fmla="*/ 3685 h 7335"/>
                <a:gd name="T58" fmla="*/ 2340 w 3774"/>
                <a:gd name="T59" fmla="*/ 1341 h 7335"/>
                <a:gd name="T60" fmla="*/ 2525 w 3774"/>
                <a:gd name="T61" fmla="*/ 2863 h 7335"/>
                <a:gd name="T62" fmla="*/ 3007 w 3774"/>
                <a:gd name="T63" fmla="*/ 550 h 7335"/>
                <a:gd name="T64" fmla="*/ 2911 w 3774"/>
                <a:gd name="T65" fmla="*/ 2268 h 7335"/>
                <a:gd name="T66" fmla="*/ 3594 w 3774"/>
                <a:gd name="T67" fmla="*/ 38 h 73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774" h="7335">
                  <a:moveTo>
                    <a:pt x="3358" y="5632"/>
                  </a:moveTo>
                  <a:cubicBezTo>
                    <a:pt x="3219" y="5793"/>
                    <a:pt x="3040" y="6021"/>
                    <a:pt x="3079" y="6187"/>
                  </a:cubicBezTo>
                  <a:cubicBezTo>
                    <a:pt x="3079" y="6187"/>
                    <a:pt x="3079" y="6187"/>
                    <a:pt x="3079" y="6187"/>
                  </a:cubicBezTo>
                  <a:cubicBezTo>
                    <a:pt x="3107" y="6325"/>
                    <a:pt x="3302" y="6410"/>
                    <a:pt x="3302" y="6410"/>
                  </a:cubicBezTo>
                  <a:cubicBezTo>
                    <a:pt x="3720" y="6636"/>
                    <a:pt x="3720" y="6636"/>
                    <a:pt x="3720" y="6636"/>
                  </a:cubicBezTo>
                  <a:cubicBezTo>
                    <a:pt x="3449" y="6873"/>
                    <a:pt x="3449" y="6873"/>
                    <a:pt x="3449" y="6873"/>
                  </a:cubicBezTo>
                  <a:cubicBezTo>
                    <a:pt x="3774" y="6975"/>
                    <a:pt x="3774" y="6975"/>
                    <a:pt x="3774" y="6975"/>
                  </a:cubicBezTo>
                  <a:cubicBezTo>
                    <a:pt x="3774" y="6975"/>
                    <a:pt x="3476" y="7281"/>
                    <a:pt x="3441" y="7312"/>
                  </a:cubicBezTo>
                  <a:cubicBezTo>
                    <a:pt x="3356" y="7326"/>
                    <a:pt x="3266" y="7335"/>
                    <a:pt x="3169" y="7335"/>
                  </a:cubicBezTo>
                  <a:cubicBezTo>
                    <a:pt x="2479" y="7335"/>
                    <a:pt x="1519" y="6927"/>
                    <a:pt x="1281" y="6924"/>
                  </a:cubicBezTo>
                  <a:cubicBezTo>
                    <a:pt x="995" y="6921"/>
                    <a:pt x="636" y="7086"/>
                    <a:pt x="636" y="7086"/>
                  </a:cubicBezTo>
                  <a:cubicBezTo>
                    <a:pt x="823" y="6882"/>
                    <a:pt x="823" y="6882"/>
                    <a:pt x="823" y="6882"/>
                  </a:cubicBezTo>
                  <a:cubicBezTo>
                    <a:pt x="823" y="6882"/>
                    <a:pt x="577" y="6932"/>
                    <a:pt x="339" y="6912"/>
                  </a:cubicBezTo>
                  <a:cubicBezTo>
                    <a:pt x="675" y="6684"/>
                    <a:pt x="675" y="6684"/>
                    <a:pt x="675" y="6684"/>
                  </a:cubicBezTo>
                  <a:cubicBezTo>
                    <a:pt x="380" y="6674"/>
                    <a:pt x="122" y="6586"/>
                    <a:pt x="0" y="6500"/>
                  </a:cubicBezTo>
                  <a:cubicBezTo>
                    <a:pt x="0" y="6500"/>
                    <a:pt x="543" y="6457"/>
                    <a:pt x="1280" y="6465"/>
                  </a:cubicBezTo>
                  <a:cubicBezTo>
                    <a:pt x="1578" y="6468"/>
                    <a:pt x="2083" y="6498"/>
                    <a:pt x="2083" y="6498"/>
                  </a:cubicBezTo>
                  <a:cubicBezTo>
                    <a:pt x="1834" y="6392"/>
                    <a:pt x="1600" y="6252"/>
                    <a:pt x="1500" y="6006"/>
                  </a:cubicBezTo>
                  <a:cubicBezTo>
                    <a:pt x="1976" y="6078"/>
                    <a:pt x="1976" y="6078"/>
                    <a:pt x="1976" y="6078"/>
                  </a:cubicBezTo>
                  <a:cubicBezTo>
                    <a:pt x="1776" y="5956"/>
                    <a:pt x="1486" y="5649"/>
                    <a:pt x="1432" y="5412"/>
                  </a:cubicBezTo>
                  <a:cubicBezTo>
                    <a:pt x="1964" y="5598"/>
                    <a:pt x="1964" y="5598"/>
                    <a:pt x="1964" y="5598"/>
                  </a:cubicBezTo>
                  <a:cubicBezTo>
                    <a:pt x="1869" y="5496"/>
                    <a:pt x="1541" y="5188"/>
                    <a:pt x="1482" y="4831"/>
                  </a:cubicBezTo>
                  <a:cubicBezTo>
                    <a:pt x="1902" y="5096"/>
                    <a:pt x="1902" y="5096"/>
                    <a:pt x="1902" y="5096"/>
                  </a:cubicBezTo>
                  <a:cubicBezTo>
                    <a:pt x="1792" y="4985"/>
                    <a:pt x="1493" y="4396"/>
                    <a:pt x="1544" y="4223"/>
                  </a:cubicBezTo>
                  <a:cubicBezTo>
                    <a:pt x="1936" y="4487"/>
                    <a:pt x="1936" y="4487"/>
                    <a:pt x="1936" y="4487"/>
                  </a:cubicBezTo>
                  <a:cubicBezTo>
                    <a:pt x="1748" y="4255"/>
                    <a:pt x="1529" y="3640"/>
                    <a:pt x="1678" y="3401"/>
                  </a:cubicBezTo>
                  <a:cubicBezTo>
                    <a:pt x="1797" y="3864"/>
                    <a:pt x="2063" y="4032"/>
                    <a:pt x="2063" y="4032"/>
                  </a:cubicBezTo>
                  <a:cubicBezTo>
                    <a:pt x="1889" y="3780"/>
                    <a:pt x="1513" y="2887"/>
                    <a:pt x="1872" y="2493"/>
                  </a:cubicBezTo>
                  <a:cubicBezTo>
                    <a:pt x="1966" y="3384"/>
                    <a:pt x="2345" y="3685"/>
                    <a:pt x="2345" y="3685"/>
                  </a:cubicBezTo>
                  <a:cubicBezTo>
                    <a:pt x="2031" y="3186"/>
                    <a:pt x="1674" y="1652"/>
                    <a:pt x="2340" y="1341"/>
                  </a:cubicBezTo>
                  <a:cubicBezTo>
                    <a:pt x="2210" y="2327"/>
                    <a:pt x="2525" y="2863"/>
                    <a:pt x="2525" y="2863"/>
                  </a:cubicBezTo>
                  <a:cubicBezTo>
                    <a:pt x="2326" y="1955"/>
                    <a:pt x="2332" y="668"/>
                    <a:pt x="3007" y="550"/>
                  </a:cubicBezTo>
                  <a:cubicBezTo>
                    <a:pt x="2676" y="1520"/>
                    <a:pt x="2911" y="2268"/>
                    <a:pt x="2911" y="2268"/>
                  </a:cubicBezTo>
                  <a:cubicBezTo>
                    <a:pt x="2863" y="0"/>
                    <a:pt x="3594" y="38"/>
                    <a:pt x="3594" y="3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sp>
        <p:nvSpPr>
          <p:cNvPr id="50" name="Title 1">
            <a:extLst>
              <a:ext uri="{FF2B5EF4-FFF2-40B4-BE49-F238E27FC236}">
                <a16:creationId xmlns:a16="http://schemas.microsoft.com/office/drawing/2014/main" id="{FCA2CDB4-E17C-E649-820E-BCA39DB9E25F}"/>
              </a:ext>
            </a:extLst>
          </p:cNvPr>
          <p:cNvSpPr>
            <a:spLocks noGrp="1"/>
          </p:cNvSpPr>
          <p:nvPr>
            <p:ph type="title"/>
          </p:nvPr>
        </p:nvSpPr>
        <p:spPr>
          <a:xfrm>
            <a:off x="504825" y="549275"/>
            <a:ext cx="5770563" cy="1462405"/>
          </a:xfrm>
        </p:spPr>
        <p:txBody>
          <a:bodyPr/>
          <a:lstStyle>
            <a:lvl1pPr>
              <a:defRPr>
                <a:solidFill>
                  <a:schemeClr val="bg1"/>
                </a:solidFill>
              </a:defRPr>
            </a:lvl1pPr>
          </a:lstStyle>
          <a:p>
            <a:r>
              <a:rPr lang="en-US"/>
              <a:t>Click to edit Master title style</a:t>
            </a:r>
            <a:endParaRPr lang="en-GB"/>
          </a:p>
        </p:txBody>
      </p:sp>
      <p:sp>
        <p:nvSpPr>
          <p:cNvPr id="51" name="Subtitle or Presenter">
            <a:extLst>
              <a:ext uri="{FF2B5EF4-FFF2-40B4-BE49-F238E27FC236}">
                <a16:creationId xmlns:a16="http://schemas.microsoft.com/office/drawing/2014/main" id="{F57DE6AE-F7B2-2647-BC16-ADFAC4A6A310}"/>
              </a:ext>
            </a:extLst>
          </p:cNvPr>
          <p:cNvSpPr>
            <a:spLocks noGrp="1"/>
          </p:cNvSpPr>
          <p:nvPr>
            <p:ph type="body" sz="quarter" idx="12" hasCustomPrompt="1"/>
          </p:nvPr>
        </p:nvSpPr>
        <p:spPr>
          <a:xfrm>
            <a:off x="504824" y="2634109"/>
            <a:ext cx="2726056" cy="639673"/>
          </a:xfrm>
        </p:spPr>
        <p:txBody>
          <a:bodyPr/>
          <a:lstStyle>
            <a:lvl1pPr>
              <a:lnSpc>
                <a:spcPct val="112000"/>
              </a:lnSpc>
              <a:spcAft>
                <a:spcPts val="0"/>
              </a:spcAft>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Subtitle or </a:t>
            </a:r>
            <a:br>
              <a:rPr lang="en-US"/>
            </a:br>
            <a:r>
              <a:rPr lang="en-US"/>
              <a:t>Presenter</a:t>
            </a:r>
          </a:p>
        </p:txBody>
      </p:sp>
      <p:sp>
        <p:nvSpPr>
          <p:cNvPr id="52" name="Date">
            <a:extLst>
              <a:ext uri="{FF2B5EF4-FFF2-40B4-BE49-F238E27FC236}">
                <a16:creationId xmlns:a16="http://schemas.microsoft.com/office/drawing/2014/main" id="{10EE96C6-ECE4-6B40-BA70-0D1A7DC61388}"/>
              </a:ext>
            </a:extLst>
          </p:cNvPr>
          <p:cNvSpPr>
            <a:spLocks noGrp="1"/>
          </p:cNvSpPr>
          <p:nvPr>
            <p:ph type="body" sz="quarter" idx="13" hasCustomPrompt="1"/>
          </p:nvPr>
        </p:nvSpPr>
        <p:spPr>
          <a:xfrm>
            <a:off x="3549332" y="2634109"/>
            <a:ext cx="2726056" cy="639673"/>
          </a:xfrm>
        </p:spPr>
        <p:txBody>
          <a:bodyPr/>
          <a:lstStyle>
            <a:lvl1pPr>
              <a:lnSpc>
                <a:spcPct val="112000"/>
              </a:lnSpc>
              <a:spcAft>
                <a:spcPts val="0"/>
              </a:spcAft>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Date</a:t>
            </a:r>
          </a:p>
        </p:txBody>
      </p:sp>
      <p:sp>
        <p:nvSpPr>
          <p:cNvPr id="53" name="Text Placeholder 2">
            <a:extLst>
              <a:ext uri="{FF2B5EF4-FFF2-40B4-BE49-F238E27FC236}">
                <a16:creationId xmlns:a16="http://schemas.microsoft.com/office/drawing/2014/main" id="{6C0B8880-10E0-6F45-8BA1-F5BBCB515580}"/>
              </a:ext>
            </a:extLst>
          </p:cNvPr>
          <p:cNvSpPr>
            <a:spLocks noGrp="1"/>
          </p:cNvSpPr>
          <p:nvPr>
            <p:ph type="body" sz="quarter" idx="14" hasCustomPrompt="1"/>
          </p:nvPr>
        </p:nvSpPr>
        <p:spPr>
          <a:xfrm>
            <a:off x="504824" y="2207368"/>
            <a:ext cx="5770562" cy="271672"/>
          </a:xfrm>
        </p:spPr>
        <p:txBody>
          <a:bodyPr/>
          <a:lstStyle>
            <a:lvl1pPr>
              <a:defRPr sz="1600" b="1">
                <a:ln>
                  <a:noFill/>
                </a:ln>
                <a:solidFill>
                  <a:schemeClr val="bg1"/>
                </a:solidFill>
              </a:defRPr>
            </a:lvl1pPr>
          </a:lstStyle>
          <a:p>
            <a:pPr lvl="0"/>
            <a:r>
              <a:rPr lang="en-US"/>
              <a:t>Department name</a:t>
            </a:r>
          </a:p>
        </p:txBody>
      </p:sp>
    </p:spTree>
    <p:extLst>
      <p:ext uri="{BB962C8B-B14F-4D97-AF65-F5344CB8AC3E}">
        <p14:creationId xmlns:p14="http://schemas.microsoft.com/office/powerpoint/2010/main" val="23812932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ver Slide">
    <p:bg>
      <p:bgPr>
        <a:solidFill>
          <a:schemeClr val="tx2"/>
        </a:solidFill>
        <a:effectLst/>
      </p:bgPr>
    </p:bg>
    <p:spTree>
      <p:nvGrpSpPr>
        <p:cNvPr id="1" name=""/>
        <p:cNvGrpSpPr/>
        <p:nvPr/>
      </p:nvGrpSpPr>
      <p:grpSpPr>
        <a:xfrm>
          <a:off x="0" y="0"/>
          <a:ext cx="0" cy="0"/>
          <a:chOff x="0" y="0"/>
          <a:chExt cx="0" cy="0"/>
        </a:xfrm>
      </p:grpSpPr>
      <p:pic>
        <p:nvPicPr>
          <p:cNvPr id="5" name="Background">
            <a:extLst>
              <a:ext uri="{FF2B5EF4-FFF2-40B4-BE49-F238E27FC236}">
                <a16:creationId xmlns:a16="http://schemas.microsoft.com/office/drawing/2014/main" id="{6A3F484B-733E-DD40-9856-D3480EB05B82}"/>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12192000" cy="6858000"/>
          </a:xfrm>
          <a:prstGeom prst="rect">
            <a:avLst/>
          </a:prstGeom>
        </p:spPr>
      </p:pic>
      <p:pic>
        <p:nvPicPr>
          <p:cNvPr id="45" name="Nationwide logo" descr="Nationwide is on your side">
            <a:extLst>
              <a:ext uri="{FF2B5EF4-FFF2-40B4-BE49-F238E27FC236}">
                <a16:creationId xmlns:a16="http://schemas.microsoft.com/office/drawing/2014/main" id="{958F4D21-EEDA-41F1-870B-3790AF38A4D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026800" y="2369017"/>
            <a:ext cx="2138400" cy="2334271"/>
          </a:xfrm>
          <a:prstGeom prst="rect">
            <a:avLst/>
          </a:prstGeom>
        </p:spPr>
      </p:pic>
    </p:spTree>
    <p:extLst>
      <p:ext uri="{BB962C8B-B14F-4D97-AF65-F5344CB8AC3E}">
        <p14:creationId xmlns:p14="http://schemas.microsoft.com/office/powerpoint/2010/main" val="39498673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6" name="Title ">
            <a:extLst>
              <a:ext uri="{FF2B5EF4-FFF2-40B4-BE49-F238E27FC236}">
                <a16:creationId xmlns:a16="http://schemas.microsoft.com/office/drawing/2014/main" id="{136940F4-4C25-4D67-9351-D7D2C1C1BDA3}"/>
              </a:ext>
            </a:extLst>
          </p:cNvPr>
          <p:cNvSpPr>
            <a:spLocks noGrp="1"/>
          </p:cNvSpPr>
          <p:nvPr>
            <p:ph type="title"/>
          </p:nvPr>
        </p:nvSpPr>
        <p:spPr>
          <a:xfrm>
            <a:off x="504000" y="550798"/>
            <a:ext cx="11183175" cy="932562"/>
          </a:xfrm>
        </p:spPr>
        <p:txBody>
          <a:bodyPr/>
          <a:lstStyle/>
          <a:p>
            <a:r>
              <a:rPr lang="en-US"/>
              <a:t>Click to edit Master title style</a:t>
            </a:r>
            <a:endParaRPr lang="en-GB"/>
          </a:p>
        </p:txBody>
      </p:sp>
      <p:sp>
        <p:nvSpPr>
          <p:cNvPr id="9" name="Text Placeholder 1">
            <a:extLst>
              <a:ext uri="{FF2B5EF4-FFF2-40B4-BE49-F238E27FC236}">
                <a16:creationId xmlns:a16="http://schemas.microsoft.com/office/drawing/2014/main" id="{CFD3E70C-B524-482C-8CA3-D6F041003102}"/>
              </a:ext>
            </a:extLst>
          </p:cNvPr>
          <p:cNvSpPr>
            <a:spLocks noGrp="1"/>
          </p:cNvSpPr>
          <p:nvPr>
            <p:ph type="body" sz="quarter" idx="13"/>
          </p:nvPr>
        </p:nvSpPr>
        <p:spPr>
          <a:xfrm>
            <a:off x="503237" y="1595121"/>
            <a:ext cx="3442833" cy="4365413"/>
          </a:xfrm>
        </p:spPr>
        <p:txBody>
          <a:bodyPr numCol="1" spcCol="432000"/>
          <a:lstStyle>
            <a:lvl1pPr>
              <a:spcAft>
                <a:spcPts val="567"/>
              </a:spcAft>
              <a:tabLst>
                <a:tab pos="378000" algn="l"/>
              </a:tabLst>
              <a:defRPr sz="1200"/>
            </a:lvl1pPr>
            <a:lvl2pPr>
              <a:spcBef>
                <a:spcPts val="1984"/>
              </a:spcBef>
              <a:spcAft>
                <a:spcPts val="567"/>
              </a:spcAft>
              <a:tabLst>
                <a:tab pos="378000" algn="l"/>
              </a:tabLst>
              <a:defRPr sz="1200"/>
            </a:lvl2pPr>
            <a:lvl3pPr>
              <a:defRPr sz="1000"/>
            </a:lvl3pPr>
            <a:lvl4pPr>
              <a:defRPr sz="1000"/>
            </a:lvl4pPr>
            <a:lvl5pPr>
              <a:defRPr sz="1000"/>
            </a:lvl5pPr>
          </a:lstStyle>
          <a:p>
            <a:pPr lvl="0"/>
            <a:r>
              <a:rPr lang="en-US"/>
              <a:t>Click to edit Master text styles</a:t>
            </a:r>
          </a:p>
          <a:p>
            <a:pPr lvl="1"/>
            <a:r>
              <a:rPr lang="en-US"/>
              <a:t>Second level</a:t>
            </a:r>
          </a:p>
        </p:txBody>
      </p:sp>
      <p:sp>
        <p:nvSpPr>
          <p:cNvPr id="14" name="Text Placeholder 2">
            <a:extLst>
              <a:ext uri="{FF2B5EF4-FFF2-40B4-BE49-F238E27FC236}">
                <a16:creationId xmlns:a16="http://schemas.microsoft.com/office/drawing/2014/main" id="{C137E720-7C19-45D8-93AC-F3C347EBF28C}"/>
              </a:ext>
            </a:extLst>
          </p:cNvPr>
          <p:cNvSpPr>
            <a:spLocks noGrp="1"/>
          </p:cNvSpPr>
          <p:nvPr>
            <p:ph type="body" sz="quarter" idx="14"/>
          </p:nvPr>
        </p:nvSpPr>
        <p:spPr>
          <a:xfrm>
            <a:off x="4374584" y="1595120"/>
            <a:ext cx="3442833" cy="4365413"/>
          </a:xfrm>
        </p:spPr>
        <p:txBody>
          <a:bodyPr numCol="1" spcCol="432000"/>
          <a:lstStyle>
            <a:lvl1pPr>
              <a:spcAft>
                <a:spcPts val="567"/>
              </a:spcAft>
              <a:tabLst>
                <a:tab pos="378000" algn="l"/>
              </a:tabLst>
              <a:defRPr sz="1200"/>
            </a:lvl1pPr>
            <a:lvl2pPr>
              <a:spcBef>
                <a:spcPts val="1984"/>
              </a:spcBef>
              <a:spcAft>
                <a:spcPts val="567"/>
              </a:spcAft>
              <a:tabLst>
                <a:tab pos="378000" algn="l"/>
              </a:tabLst>
              <a:defRPr sz="1200"/>
            </a:lvl2pPr>
            <a:lvl3pPr>
              <a:defRPr sz="1000"/>
            </a:lvl3pPr>
            <a:lvl4pPr>
              <a:defRPr sz="1000"/>
            </a:lvl4pPr>
            <a:lvl5pPr>
              <a:defRPr sz="1000"/>
            </a:lvl5pPr>
          </a:lstStyle>
          <a:p>
            <a:pPr lvl="0"/>
            <a:r>
              <a:rPr lang="en-US"/>
              <a:t>Click to edit Master text styles</a:t>
            </a:r>
          </a:p>
          <a:p>
            <a:pPr lvl="1"/>
            <a:r>
              <a:rPr lang="en-US"/>
              <a:t>Second level</a:t>
            </a:r>
          </a:p>
        </p:txBody>
      </p:sp>
      <p:sp>
        <p:nvSpPr>
          <p:cNvPr id="15" name="Text Placeholder 3">
            <a:extLst>
              <a:ext uri="{FF2B5EF4-FFF2-40B4-BE49-F238E27FC236}">
                <a16:creationId xmlns:a16="http://schemas.microsoft.com/office/drawing/2014/main" id="{AAE46DAB-D2A9-4816-A4C7-0D70ED515CDD}"/>
              </a:ext>
            </a:extLst>
          </p:cNvPr>
          <p:cNvSpPr>
            <a:spLocks noGrp="1"/>
          </p:cNvSpPr>
          <p:nvPr>
            <p:ph type="body" sz="quarter" idx="15"/>
          </p:nvPr>
        </p:nvSpPr>
        <p:spPr>
          <a:xfrm>
            <a:off x="8244342" y="1595121"/>
            <a:ext cx="3442833" cy="4365413"/>
          </a:xfrm>
        </p:spPr>
        <p:txBody>
          <a:bodyPr numCol="1" spcCol="432000"/>
          <a:lstStyle>
            <a:lvl1pPr>
              <a:spcAft>
                <a:spcPts val="567"/>
              </a:spcAft>
              <a:tabLst>
                <a:tab pos="378000" algn="l"/>
              </a:tabLst>
              <a:defRPr sz="1200"/>
            </a:lvl1pPr>
            <a:lvl2pPr>
              <a:spcBef>
                <a:spcPts val="1984"/>
              </a:spcBef>
              <a:spcAft>
                <a:spcPts val="567"/>
              </a:spcAft>
              <a:tabLst>
                <a:tab pos="378000" algn="l"/>
              </a:tabLst>
              <a:defRPr sz="1200"/>
            </a:lvl2pPr>
            <a:lvl3pPr>
              <a:defRPr sz="1000"/>
            </a:lvl3pPr>
            <a:lvl4pPr>
              <a:defRPr sz="1000"/>
            </a:lvl4pPr>
            <a:lvl5pPr>
              <a:defRPr sz="1000"/>
            </a:lvl5pPr>
          </a:lstStyle>
          <a:p>
            <a:pPr lvl="0"/>
            <a:r>
              <a:rPr lang="en-US"/>
              <a:t>Click to edit Master text styles</a:t>
            </a:r>
          </a:p>
          <a:p>
            <a:pPr lvl="1"/>
            <a:r>
              <a:rPr lang="en-US"/>
              <a:t>Second level</a:t>
            </a:r>
          </a:p>
        </p:txBody>
      </p:sp>
      <p:sp>
        <p:nvSpPr>
          <p:cNvPr id="3" name="Footnotes Placeholder">
            <a:extLst>
              <a:ext uri="{FF2B5EF4-FFF2-40B4-BE49-F238E27FC236}">
                <a16:creationId xmlns:a16="http://schemas.microsoft.com/office/drawing/2014/main" id="{0EDDB71E-0C28-EF43-91D0-41503962A117}"/>
              </a:ext>
            </a:extLst>
          </p:cNvPr>
          <p:cNvSpPr>
            <a:spLocks noGrp="1"/>
          </p:cNvSpPr>
          <p:nvPr>
            <p:ph type="body" sz="quarter" idx="19" hasCustomPrompt="1"/>
          </p:nvPr>
        </p:nvSpPr>
        <p:spPr>
          <a:xfrm>
            <a:off x="503238" y="6073775"/>
            <a:ext cx="11183937" cy="371475"/>
          </a:xfrm>
        </p:spPr>
        <p:txBody>
          <a:bodyPr/>
          <a:lstStyle>
            <a:lvl1pPr>
              <a:spcAft>
                <a:spcPts val="0"/>
              </a:spcAft>
              <a:defRPr sz="800"/>
            </a:lvl1pPr>
          </a:lstStyle>
          <a:p>
            <a:pPr lvl="0"/>
            <a:r>
              <a:rPr lang="en-US" sz="800"/>
              <a:t> * Tied directly to information on page</a:t>
            </a:r>
            <a:br>
              <a:rPr lang="en-US" sz="800"/>
            </a:br>
            <a:r>
              <a:rPr lang="en-US" sz="800"/>
              <a:t>** Tied directly to information on page</a:t>
            </a:r>
            <a:br>
              <a:rPr lang="en-US" sz="800"/>
            </a:br>
            <a:r>
              <a:rPr lang="en-US" sz="800"/>
              <a:t>Source: Source information goes here</a:t>
            </a:r>
          </a:p>
        </p:txBody>
      </p:sp>
      <p:sp>
        <p:nvSpPr>
          <p:cNvPr id="10" name="Date Placeholder ">
            <a:extLst>
              <a:ext uri="{FF2B5EF4-FFF2-40B4-BE49-F238E27FC236}">
                <a16:creationId xmlns:a16="http://schemas.microsoft.com/office/drawing/2014/main" id="{A2836D8F-646B-402F-9B80-2A2AE690B7C1}"/>
              </a:ext>
            </a:extLst>
          </p:cNvPr>
          <p:cNvSpPr>
            <a:spLocks noGrp="1"/>
          </p:cNvSpPr>
          <p:nvPr>
            <p:ph type="dt" sz="half" idx="16"/>
          </p:nvPr>
        </p:nvSpPr>
        <p:spPr/>
        <p:txBody>
          <a:bodyPr/>
          <a:lstStyle/>
          <a:p>
            <a:pPr algn="l"/>
            <a:r>
              <a:rPr lang="en-US"/>
              <a:t>6/14/21</a:t>
            </a:r>
            <a:endParaRPr lang="en-GB"/>
          </a:p>
        </p:txBody>
      </p:sp>
      <p:sp>
        <p:nvSpPr>
          <p:cNvPr id="16" name="Footer Placeholder ">
            <a:extLst>
              <a:ext uri="{FF2B5EF4-FFF2-40B4-BE49-F238E27FC236}">
                <a16:creationId xmlns:a16="http://schemas.microsoft.com/office/drawing/2014/main" id="{83CE1247-CA20-4FDE-862F-00A2DA3BF0A8}"/>
              </a:ext>
            </a:extLst>
          </p:cNvPr>
          <p:cNvSpPr>
            <a:spLocks noGrp="1"/>
          </p:cNvSpPr>
          <p:nvPr>
            <p:ph type="ftr" sz="quarter" idx="17"/>
          </p:nvPr>
        </p:nvSpPr>
        <p:spPr/>
        <p:txBody>
          <a:bodyPr/>
          <a:lstStyle/>
          <a:p>
            <a:r>
              <a:rPr lang="en-GB"/>
              <a:t>To create or edit a header or footer, go to Insert &gt; Header &amp; Footer</a:t>
            </a:r>
          </a:p>
        </p:txBody>
      </p:sp>
      <p:sp>
        <p:nvSpPr>
          <p:cNvPr id="17" name="Slide Number Placeholder ">
            <a:extLst>
              <a:ext uri="{FF2B5EF4-FFF2-40B4-BE49-F238E27FC236}">
                <a16:creationId xmlns:a16="http://schemas.microsoft.com/office/drawing/2014/main" id="{4ABD9BE9-7037-484D-A63B-DAF752468104}"/>
              </a:ext>
            </a:extLst>
          </p:cNvPr>
          <p:cNvSpPr>
            <a:spLocks noGrp="1"/>
          </p:cNvSpPr>
          <p:nvPr>
            <p:ph type="sldNum" sz="quarter" idx="18"/>
          </p:nvPr>
        </p:nvSpPr>
        <p:spPr/>
        <p:txBody>
          <a:bodyPr/>
          <a:lstStyle/>
          <a:p>
            <a:fld id="{5B4A74C5-79B0-4340-9A8D-1CCBE3E8C644}" type="slidenum">
              <a:rPr lang="en-GB" smtClean="0"/>
              <a:pPr/>
              <a:t>‹#›</a:t>
            </a:fld>
            <a:endParaRPr lang="en-GB"/>
          </a:p>
        </p:txBody>
      </p:sp>
    </p:spTree>
    <p:extLst>
      <p:ext uri="{BB962C8B-B14F-4D97-AF65-F5344CB8AC3E}">
        <p14:creationId xmlns:p14="http://schemas.microsoft.com/office/powerpoint/2010/main" val="26266582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
            <a:extLst>
              <a:ext uri="{FF2B5EF4-FFF2-40B4-BE49-F238E27FC236}">
                <a16:creationId xmlns:a16="http://schemas.microsoft.com/office/drawing/2014/main" id="{2627417E-3B96-499C-AC3A-CDF07AEF4BCB}"/>
              </a:ext>
            </a:extLst>
          </p:cNvPr>
          <p:cNvSpPr>
            <a:spLocks noGrp="1"/>
          </p:cNvSpPr>
          <p:nvPr>
            <p:ph type="title"/>
          </p:nvPr>
        </p:nvSpPr>
        <p:spPr>
          <a:xfrm>
            <a:off x="504000" y="550798"/>
            <a:ext cx="11183175" cy="932562"/>
          </a:xfrm>
        </p:spPr>
        <p:txBody>
          <a:bodyPr/>
          <a:lstStyle/>
          <a:p>
            <a:r>
              <a:rPr lang="en-US"/>
              <a:t>Click to edit Master title style</a:t>
            </a:r>
            <a:endParaRPr lang="en-GB"/>
          </a:p>
        </p:txBody>
      </p:sp>
      <p:sp>
        <p:nvSpPr>
          <p:cNvPr id="3" name="Content Placeholder 1">
            <a:extLst>
              <a:ext uri="{FF2B5EF4-FFF2-40B4-BE49-F238E27FC236}">
                <a16:creationId xmlns:a16="http://schemas.microsoft.com/office/drawing/2014/main" id="{2C92A555-CEFA-4D21-902E-3F719B31B369}"/>
              </a:ext>
            </a:extLst>
          </p:cNvPr>
          <p:cNvSpPr>
            <a:spLocks noGrp="1"/>
          </p:cNvSpPr>
          <p:nvPr>
            <p:ph idx="1"/>
          </p:nvPr>
        </p:nvSpPr>
        <p:spPr>
          <a:xfrm>
            <a:off x="504825" y="1595121"/>
            <a:ext cx="11182350" cy="43484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notes Placeholder ">
            <a:extLst>
              <a:ext uri="{FF2B5EF4-FFF2-40B4-BE49-F238E27FC236}">
                <a16:creationId xmlns:a16="http://schemas.microsoft.com/office/drawing/2014/main" id="{AF40312D-E56F-914A-9CC0-AC4F5923B2CB}"/>
              </a:ext>
            </a:extLst>
          </p:cNvPr>
          <p:cNvSpPr>
            <a:spLocks noGrp="1"/>
          </p:cNvSpPr>
          <p:nvPr>
            <p:ph type="body" sz="quarter" idx="13" hasCustomPrompt="1"/>
          </p:nvPr>
        </p:nvSpPr>
        <p:spPr>
          <a:xfrm>
            <a:off x="504000" y="6055361"/>
            <a:ext cx="11183175" cy="381107"/>
          </a:xfrm>
        </p:spPr>
        <p:txBody>
          <a:bodyPr/>
          <a:lstStyle>
            <a:lvl1pPr>
              <a:spcAft>
                <a:spcPts val="0"/>
              </a:spcAft>
              <a:defRPr sz="800"/>
            </a:lvl1pPr>
            <a:lvl2pPr>
              <a:defRPr sz="800"/>
            </a:lvl2pPr>
            <a:lvl3pPr>
              <a:defRPr sz="800"/>
            </a:lvl3pPr>
            <a:lvl4pPr>
              <a:defRPr sz="800"/>
            </a:lvl4pPr>
            <a:lvl5pPr>
              <a:defRPr sz="800"/>
            </a:lvl5pPr>
          </a:lstStyle>
          <a:p>
            <a:pPr lvl="0"/>
            <a:r>
              <a:rPr lang="en-US"/>
              <a:t> * Tied directly to information on page</a:t>
            </a:r>
            <a:br>
              <a:rPr lang="en-US"/>
            </a:br>
            <a:r>
              <a:rPr lang="en-US"/>
              <a:t>** Tied directly to information on page</a:t>
            </a:r>
            <a:br>
              <a:rPr lang="en-US"/>
            </a:br>
            <a:r>
              <a:rPr lang="en-US"/>
              <a:t>Source: Source information goes here</a:t>
            </a:r>
          </a:p>
        </p:txBody>
      </p:sp>
      <p:sp>
        <p:nvSpPr>
          <p:cNvPr id="7" name="Date Placeholder ">
            <a:extLst>
              <a:ext uri="{FF2B5EF4-FFF2-40B4-BE49-F238E27FC236}">
                <a16:creationId xmlns:a16="http://schemas.microsoft.com/office/drawing/2014/main" id="{9434DF19-C9BA-D048-9E40-3B3C63627094}"/>
              </a:ext>
            </a:extLst>
          </p:cNvPr>
          <p:cNvSpPr>
            <a:spLocks noGrp="1"/>
          </p:cNvSpPr>
          <p:nvPr>
            <p:ph type="dt" sz="half" idx="10"/>
          </p:nvPr>
        </p:nvSpPr>
        <p:spPr/>
        <p:txBody>
          <a:bodyPr/>
          <a:lstStyle/>
          <a:p>
            <a:pPr algn="l"/>
            <a:r>
              <a:rPr lang="en-US"/>
              <a:t>6/14/21</a:t>
            </a:r>
            <a:endParaRPr lang="en-GB"/>
          </a:p>
        </p:txBody>
      </p:sp>
      <p:sp>
        <p:nvSpPr>
          <p:cNvPr id="8" name="Footer Placeholder ">
            <a:extLst>
              <a:ext uri="{FF2B5EF4-FFF2-40B4-BE49-F238E27FC236}">
                <a16:creationId xmlns:a16="http://schemas.microsoft.com/office/drawing/2014/main" id="{CCADF828-A606-B144-B40B-41CC623EF845}"/>
              </a:ext>
            </a:extLst>
          </p:cNvPr>
          <p:cNvSpPr>
            <a:spLocks noGrp="1"/>
          </p:cNvSpPr>
          <p:nvPr>
            <p:ph type="ftr" sz="quarter" idx="11"/>
          </p:nvPr>
        </p:nvSpPr>
        <p:spPr/>
        <p:txBody>
          <a:bodyPr/>
          <a:lstStyle/>
          <a:p>
            <a:r>
              <a:rPr lang="en-GB"/>
              <a:t>To create or edit a header or footer, go to Insert &gt; Header &amp; Footer</a:t>
            </a:r>
          </a:p>
        </p:txBody>
      </p:sp>
      <p:sp>
        <p:nvSpPr>
          <p:cNvPr id="9" name="Slide Number Placeholder ">
            <a:extLst>
              <a:ext uri="{FF2B5EF4-FFF2-40B4-BE49-F238E27FC236}">
                <a16:creationId xmlns:a16="http://schemas.microsoft.com/office/drawing/2014/main" id="{AC2C5185-2FFB-9042-B8D2-9F63941B9E6D}"/>
              </a:ext>
            </a:extLst>
          </p:cNvPr>
          <p:cNvSpPr>
            <a:spLocks noGrp="1"/>
          </p:cNvSpPr>
          <p:nvPr>
            <p:ph type="sldNum" sz="quarter" idx="12"/>
          </p:nvPr>
        </p:nvSpPr>
        <p:spPr/>
        <p:txBody>
          <a:bodyPr/>
          <a:lstStyle/>
          <a:p>
            <a:fld id="{5B4A74C5-79B0-4340-9A8D-1CCBE3E8C644}" type="slidenum">
              <a:rPr lang="en-GB" smtClean="0"/>
              <a:pPr/>
              <a:t>‹#›</a:t>
            </a:fld>
            <a:endParaRPr lang="en-GB"/>
          </a:p>
        </p:txBody>
      </p:sp>
    </p:spTree>
    <p:extLst>
      <p:ext uri="{BB962C8B-B14F-4D97-AF65-F5344CB8AC3E}">
        <p14:creationId xmlns:p14="http://schemas.microsoft.com/office/powerpoint/2010/main" val="39901853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Blocks of Content">
    <p:spTree>
      <p:nvGrpSpPr>
        <p:cNvPr id="1" name=""/>
        <p:cNvGrpSpPr/>
        <p:nvPr/>
      </p:nvGrpSpPr>
      <p:grpSpPr>
        <a:xfrm>
          <a:off x="0" y="0"/>
          <a:ext cx="0" cy="0"/>
          <a:chOff x="0" y="0"/>
          <a:chExt cx="0" cy="0"/>
        </a:xfrm>
      </p:grpSpPr>
      <p:sp>
        <p:nvSpPr>
          <p:cNvPr id="2" name="Title ">
            <a:extLst>
              <a:ext uri="{FF2B5EF4-FFF2-40B4-BE49-F238E27FC236}">
                <a16:creationId xmlns:a16="http://schemas.microsoft.com/office/drawing/2014/main" id="{603F0A54-5B28-4308-9F4C-A89070E90C66}"/>
              </a:ext>
            </a:extLst>
          </p:cNvPr>
          <p:cNvSpPr>
            <a:spLocks noGrp="1"/>
          </p:cNvSpPr>
          <p:nvPr>
            <p:ph type="title"/>
          </p:nvPr>
        </p:nvSpPr>
        <p:spPr>
          <a:xfrm>
            <a:off x="504000" y="550798"/>
            <a:ext cx="11183175" cy="932562"/>
          </a:xfrm>
        </p:spPr>
        <p:txBody>
          <a:bodyPr/>
          <a:lstStyle/>
          <a:p>
            <a:r>
              <a:rPr lang="en-US"/>
              <a:t>Click to edit Master title style</a:t>
            </a:r>
            <a:endParaRPr lang="en-GB"/>
          </a:p>
        </p:txBody>
      </p:sp>
      <p:sp>
        <p:nvSpPr>
          <p:cNvPr id="3" name="Content Placeholder 1">
            <a:extLst>
              <a:ext uri="{FF2B5EF4-FFF2-40B4-BE49-F238E27FC236}">
                <a16:creationId xmlns:a16="http://schemas.microsoft.com/office/drawing/2014/main" id="{0B02CCA4-3CB8-459B-8F0C-82B1623A942F}"/>
              </a:ext>
            </a:extLst>
          </p:cNvPr>
          <p:cNvSpPr>
            <a:spLocks noGrp="1"/>
          </p:cNvSpPr>
          <p:nvPr>
            <p:ph sz="half" idx="1"/>
          </p:nvPr>
        </p:nvSpPr>
        <p:spPr>
          <a:xfrm>
            <a:off x="504000" y="1595120"/>
            <a:ext cx="5410800" cy="435426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2">
            <a:extLst>
              <a:ext uri="{FF2B5EF4-FFF2-40B4-BE49-F238E27FC236}">
                <a16:creationId xmlns:a16="http://schemas.microsoft.com/office/drawing/2014/main" id="{257DC9AC-5058-43F9-9D95-42D4C6DCD43E}"/>
              </a:ext>
            </a:extLst>
          </p:cNvPr>
          <p:cNvSpPr>
            <a:spLocks noGrp="1"/>
          </p:cNvSpPr>
          <p:nvPr>
            <p:ph sz="half" idx="2"/>
          </p:nvPr>
        </p:nvSpPr>
        <p:spPr>
          <a:xfrm>
            <a:off x="6275388" y="1595120"/>
            <a:ext cx="5410800" cy="435426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notes Placeholder">
            <a:extLst>
              <a:ext uri="{FF2B5EF4-FFF2-40B4-BE49-F238E27FC236}">
                <a16:creationId xmlns:a16="http://schemas.microsoft.com/office/drawing/2014/main" id="{B8E57C51-F7D5-CC49-A6F0-37AE2CCB95B8}"/>
              </a:ext>
            </a:extLst>
          </p:cNvPr>
          <p:cNvSpPr>
            <a:spLocks noGrp="1"/>
          </p:cNvSpPr>
          <p:nvPr>
            <p:ph type="body" sz="quarter" idx="13" hasCustomPrompt="1"/>
          </p:nvPr>
        </p:nvSpPr>
        <p:spPr>
          <a:xfrm>
            <a:off x="503238" y="6065838"/>
            <a:ext cx="11182350" cy="358111"/>
          </a:xfrm>
        </p:spPr>
        <p:txBody>
          <a:bodyPr/>
          <a:lstStyle>
            <a:lvl1pPr>
              <a:spcAft>
                <a:spcPts val="0"/>
              </a:spcAft>
              <a:defRPr sz="800"/>
            </a:lvl1pPr>
            <a:lvl2pPr>
              <a:defRPr sz="800"/>
            </a:lvl2pPr>
            <a:lvl3pPr>
              <a:defRPr sz="800"/>
            </a:lvl3pPr>
            <a:lvl4pPr>
              <a:defRPr sz="800"/>
            </a:lvl4pPr>
            <a:lvl5pPr>
              <a:defRPr sz="800"/>
            </a:lvl5pPr>
          </a:lstStyle>
          <a:p>
            <a:pPr lvl="0"/>
            <a:r>
              <a:rPr lang="en-US"/>
              <a:t> * Tied directly to information on page</a:t>
            </a:r>
            <a:br>
              <a:rPr lang="en-US"/>
            </a:br>
            <a:r>
              <a:rPr lang="en-US"/>
              <a:t>** Tied directly to information on page</a:t>
            </a:r>
            <a:br>
              <a:rPr lang="en-US"/>
            </a:br>
            <a:r>
              <a:rPr lang="en-US"/>
              <a:t>Source: Source information goes here</a:t>
            </a:r>
          </a:p>
        </p:txBody>
      </p:sp>
      <p:sp>
        <p:nvSpPr>
          <p:cNvPr id="8" name="Date Placeholder ">
            <a:extLst>
              <a:ext uri="{FF2B5EF4-FFF2-40B4-BE49-F238E27FC236}">
                <a16:creationId xmlns:a16="http://schemas.microsoft.com/office/drawing/2014/main" id="{2DBAA558-0E78-C349-9E01-07AEEEEBFDB4}"/>
              </a:ext>
            </a:extLst>
          </p:cNvPr>
          <p:cNvSpPr>
            <a:spLocks noGrp="1"/>
          </p:cNvSpPr>
          <p:nvPr>
            <p:ph type="dt" sz="half" idx="10"/>
          </p:nvPr>
        </p:nvSpPr>
        <p:spPr/>
        <p:txBody>
          <a:bodyPr/>
          <a:lstStyle/>
          <a:p>
            <a:pPr algn="l"/>
            <a:r>
              <a:rPr lang="en-US"/>
              <a:t>6/14/21</a:t>
            </a:r>
            <a:endParaRPr lang="en-GB"/>
          </a:p>
        </p:txBody>
      </p:sp>
      <p:sp>
        <p:nvSpPr>
          <p:cNvPr id="9" name="Footer Placeholder ">
            <a:extLst>
              <a:ext uri="{FF2B5EF4-FFF2-40B4-BE49-F238E27FC236}">
                <a16:creationId xmlns:a16="http://schemas.microsoft.com/office/drawing/2014/main" id="{6392F214-B197-0F43-85E3-7646D7E61044}"/>
              </a:ext>
            </a:extLst>
          </p:cNvPr>
          <p:cNvSpPr>
            <a:spLocks noGrp="1"/>
          </p:cNvSpPr>
          <p:nvPr>
            <p:ph type="ftr" sz="quarter" idx="11"/>
          </p:nvPr>
        </p:nvSpPr>
        <p:spPr/>
        <p:txBody>
          <a:bodyPr/>
          <a:lstStyle/>
          <a:p>
            <a:r>
              <a:rPr lang="en-GB"/>
              <a:t>To create or edit a header or footer, go to Insert &gt; Header &amp; Footer</a:t>
            </a:r>
          </a:p>
        </p:txBody>
      </p:sp>
      <p:sp>
        <p:nvSpPr>
          <p:cNvPr id="10" name="Slide Number Placeholder ">
            <a:extLst>
              <a:ext uri="{FF2B5EF4-FFF2-40B4-BE49-F238E27FC236}">
                <a16:creationId xmlns:a16="http://schemas.microsoft.com/office/drawing/2014/main" id="{618F6384-5879-204E-9BF1-65A3DB0BE6BA}"/>
              </a:ext>
            </a:extLst>
          </p:cNvPr>
          <p:cNvSpPr>
            <a:spLocks noGrp="1"/>
          </p:cNvSpPr>
          <p:nvPr>
            <p:ph type="sldNum" sz="quarter" idx="12"/>
          </p:nvPr>
        </p:nvSpPr>
        <p:spPr/>
        <p:txBody>
          <a:bodyPr/>
          <a:lstStyle/>
          <a:p>
            <a:fld id="{5B4A74C5-79B0-4340-9A8D-1CCBE3E8C644}" type="slidenum">
              <a:rPr lang="en-GB" smtClean="0"/>
              <a:pPr/>
              <a:t>‹#›</a:t>
            </a:fld>
            <a:endParaRPr lang="en-GB"/>
          </a:p>
        </p:txBody>
      </p:sp>
    </p:spTree>
    <p:extLst>
      <p:ext uri="{BB962C8B-B14F-4D97-AF65-F5344CB8AC3E}">
        <p14:creationId xmlns:p14="http://schemas.microsoft.com/office/powerpoint/2010/main" val="36911525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hree Blocks of Content and Subheading">
    <p:spTree>
      <p:nvGrpSpPr>
        <p:cNvPr id="1" name=""/>
        <p:cNvGrpSpPr/>
        <p:nvPr/>
      </p:nvGrpSpPr>
      <p:grpSpPr>
        <a:xfrm>
          <a:off x="0" y="0"/>
          <a:ext cx="0" cy="0"/>
          <a:chOff x="0" y="0"/>
          <a:chExt cx="0" cy="0"/>
        </a:xfrm>
      </p:grpSpPr>
      <p:sp>
        <p:nvSpPr>
          <p:cNvPr id="2" name="Title ">
            <a:extLst>
              <a:ext uri="{FF2B5EF4-FFF2-40B4-BE49-F238E27FC236}">
                <a16:creationId xmlns:a16="http://schemas.microsoft.com/office/drawing/2014/main" id="{603F0A54-5B28-4308-9F4C-A89070E90C66}"/>
              </a:ext>
            </a:extLst>
          </p:cNvPr>
          <p:cNvSpPr>
            <a:spLocks noGrp="1"/>
          </p:cNvSpPr>
          <p:nvPr>
            <p:ph type="title" hasCustomPrompt="1"/>
          </p:nvPr>
        </p:nvSpPr>
        <p:spPr>
          <a:xfrm>
            <a:off x="504000" y="550798"/>
            <a:ext cx="11183175" cy="932562"/>
          </a:xfrm>
        </p:spPr>
        <p:txBody>
          <a:bodyPr/>
          <a:lstStyle/>
          <a:p>
            <a:r>
              <a:rPr lang="en-GB"/>
              <a:t>Click to </a:t>
            </a:r>
            <a:br>
              <a:rPr lang="en-GB"/>
            </a:br>
            <a:r>
              <a:rPr lang="en-GB"/>
              <a:t>edit Master title style</a:t>
            </a:r>
          </a:p>
        </p:txBody>
      </p:sp>
      <p:sp>
        <p:nvSpPr>
          <p:cNvPr id="10" name="Subtitle">
            <a:extLst>
              <a:ext uri="{FF2B5EF4-FFF2-40B4-BE49-F238E27FC236}">
                <a16:creationId xmlns:a16="http://schemas.microsoft.com/office/drawing/2014/main" id="{6C76187D-BF9E-C24D-AE49-F93C909EFA87}"/>
              </a:ext>
            </a:extLst>
          </p:cNvPr>
          <p:cNvSpPr>
            <a:spLocks noGrp="1"/>
          </p:cNvSpPr>
          <p:nvPr>
            <p:ph type="body" sz="quarter" idx="14"/>
          </p:nvPr>
        </p:nvSpPr>
        <p:spPr>
          <a:xfrm>
            <a:off x="504826" y="1595121"/>
            <a:ext cx="11182350" cy="457200"/>
          </a:xfrm>
        </p:spPr>
        <p:txBody>
          <a:bodyPr/>
          <a:lstStyle>
            <a:lvl1pPr>
              <a:defRPr sz="1700" b="1" i="0">
                <a:latin typeface="+mn-lt"/>
                <a:cs typeface="Gotham-Medium" pitchFamily="2" charset="0"/>
              </a:defRPr>
            </a:lvl1pPr>
            <a:lvl2pPr>
              <a:defRPr sz="1500"/>
            </a:lvl2pPr>
            <a:lvl3pPr>
              <a:defRPr sz="1500"/>
            </a:lvl3pPr>
            <a:lvl4pPr>
              <a:defRPr sz="1500"/>
            </a:lvl4pPr>
            <a:lvl5pPr>
              <a:defRPr sz="1500"/>
            </a:lvl5pPr>
          </a:lstStyle>
          <a:p>
            <a:pPr lvl="0"/>
            <a:r>
              <a:rPr lang="en-US"/>
              <a:t>Click to edit Master text styles</a:t>
            </a:r>
          </a:p>
        </p:txBody>
      </p:sp>
      <p:sp>
        <p:nvSpPr>
          <p:cNvPr id="3" name="Content Placeholder 1">
            <a:extLst>
              <a:ext uri="{FF2B5EF4-FFF2-40B4-BE49-F238E27FC236}">
                <a16:creationId xmlns:a16="http://schemas.microsoft.com/office/drawing/2014/main" id="{0B02CCA4-3CB8-459B-8F0C-82B1623A942F}"/>
              </a:ext>
            </a:extLst>
          </p:cNvPr>
          <p:cNvSpPr>
            <a:spLocks noGrp="1"/>
          </p:cNvSpPr>
          <p:nvPr>
            <p:ph sz="half" idx="1"/>
          </p:nvPr>
        </p:nvSpPr>
        <p:spPr>
          <a:xfrm>
            <a:off x="504000" y="2164083"/>
            <a:ext cx="3384000" cy="371442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2">
            <a:extLst>
              <a:ext uri="{FF2B5EF4-FFF2-40B4-BE49-F238E27FC236}">
                <a16:creationId xmlns:a16="http://schemas.microsoft.com/office/drawing/2014/main" id="{257DC9AC-5058-43F9-9D95-42D4C6DCD43E}"/>
              </a:ext>
            </a:extLst>
          </p:cNvPr>
          <p:cNvSpPr>
            <a:spLocks noGrp="1"/>
          </p:cNvSpPr>
          <p:nvPr>
            <p:ph sz="half" idx="2"/>
          </p:nvPr>
        </p:nvSpPr>
        <p:spPr>
          <a:xfrm>
            <a:off x="4404000" y="2164083"/>
            <a:ext cx="3384000" cy="371442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Content Placeholder 3">
            <a:extLst>
              <a:ext uri="{FF2B5EF4-FFF2-40B4-BE49-F238E27FC236}">
                <a16:creationId xmlns:a16="http://schemas.microsoft.com/office/drawing/2014/main" id="{49180339-D40B-3C49-9210-4319F4484A6D}"/>
              </a:ext>
            </a:extLst>
          </p:cNvPr>
          <p:cNvSpPr>
            <a:spLocks noGrp="1"/>
          </p:cNvSpPr>
          <p:nvPr>
            <p:ph sz="half" idx="13"/>
          </p:nvPr>
        </p:nvSpPr>
        <p:spPr>
          <a:xfrm>
            <a:off x="8295322" y="2164083"/>
            <a:ext cx="3384000" cy="371442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notes Placeholder ">
            <a:extLst>
              <a:ext uri="{FF2B5EF4-FFF2-40B4-BE49-F238E27FC236}">
                <a16:creationId xmlns:a16="http://schemas.microsoft.com/office/drawing/2014/main" id="{6A107447-0C54-2D43-A0FB-6E3797B1D8B1}"/>
              </a:ext>
            </a:extLst>
          </p:cNvPr>
          <p:cNvSpPr>
            <a:spLocks noGrp="1"/>
          </p:cNvSpPr>
          <p:nvPr>
            <p:ph type="body" sz="quarter" idx="18" hasCustomPrompt="1"/>
          </p:nvPr>
        </p:nvSpPr>
        <p:spPr>
          <a:xfrm>
            <a:off x="503238" y="6065134"/>
            <a:ext cx="11183937" cy="381704"/>
          </a:xfrm>
        </p:spPr>
        <p:txBody>
          <a:bodyPr/>
          <a:lstStyle>
            <a:lvl1pPr>
              <a:spcAft>
                <a:spcPts val="0"/>
              </a:spcAft>
              <a:defRPr sz="800"/>
            </a:lvl1pPr>
            <a:lvl2pPr>
              <a:defRPr sz="800"/>
            </a:lvl2pPr>
            <a:lvl3pPr>
              <a:defRPr sz="800"/>
            </a:lvl3pPr>
            <a:lvl4pPr>
              <a:defRPr sz="800"/>
            </a:lvl4pPr>
            <a:lvl5pPr>
              <a:defRPr sz="800"/>
            </a:lvl5pPr>
          </a:lstStyle>
          <a:p>
            <a:pPr lvl="0"/>
            <a:r>
              <a:rPr lang="en-US"/>
              <a:t> * Tied directly to information on page</a:t>
            </a:r>
            <a:br>
              <a:rPr lang="en-US"/>
            </a:br>
            <a:r>
              <a:rPr lang="en-US"/>
              <a:t>** Tied directly to information on page</a:t>
            </a:r>
            <a:br>
              <a:rPr lang="en-US"/>
            </a:br>
            <a:r>
              <a:rPr lang="en-US"/>
              <a:t>Source: Source information goes here</a:t>
            </a:r>
          </a:p>
        </p:txBody>
      </p:sp>
      <p:sp>
        <p:nvSpPr>
          <p:cNvPr id="11" name="Date Placeholder ">
            <a:extLst>
              <a:ext uri="{FF2B5EF4-FFF2-40B4-BE49-F238E27FC236}">
                <a16:creationId xmlns:a16="http://schemas.microsoft.com/office/drawing/2014/main" id="{78CADE54-A192-C146-97A9-D92CB40BA643}"/>
              </a:ext>
            </a:extLst>
          </p:cNvPr>
          <p:cNvSpPr>
            <a:spLocks noGrp="1"/>
          </p:cNvSpPr>
          <p:nvPr>
            <p:ph type="dt" sz="half" idx="15"/>
          </p:nvPr>
        </p:nvSpPr>
        <p:spPr/>
        <p:txBody>
          <a:bodyPr/>
          <a:lstStyle/>
          <a:p>
            <a:pPr algn="l"/>
            <a:r>
              <a:rPr lang="en-US"/>
              <a:t>6/14/21</a:t>
            </a:r>
            <a:endParaRPr lang="en-GB"/>
          </a:p>
        </p:txBody>
      </p:sp>
      <p:sp>
        <p:nvSpPr>
          <p:cNvPr id="12" name="Footer Placeholder ">
            <a:extLst>
              <a:ext uri="{FF2B5EF4-FFF2-40B4-BE49-F238E27FC236}">
                <a16:creationId xmlns:a16="http://schemas.microsoft.com/office/drawing/2014/main" id="{2A1076F2-5931-524E-A720-A0AA49C46A54}"/>
              </a:ext>
            </a:extLst>
          </p:cNvPr>
          <p:cNvSpPr>
            <a:spLocks noGrp="1"/>
          </p:cNvSpPr>
          <p:nvPr>
            <p:ph type="ftr" sz="quarter" idx="16"/>
          </p:nvPr>
        </p:nvSpPr>
        <p:spPr/>
        <p:txBody>
          <a:bodyPr/>
          <a:lstStyle/>
          <a:p>
            <a:r>
              <a:rPr lang="en-GB"/>
              <a:t>To create or edit a header or footer, go to Insert &gt; Header &amp; Footer</a:t>
            </a:r>
          </a:p>
        </p:txBody>
      </p:sp>
      <p:sp>
        <p:nvSpPr>
          <p:cNvPr id="13" name="Slide Number Placeholder ">
            <a:extLst>
              <a:ext uri="{FF2B5EF4-FFF2-40B4-BE49-F238E27FC236}">
                <a16:creationId xmlns:a16="http://schemas.microsoft.com/office/drawing/2014/main" id="{CDD5FDB5-FE92-EB4E-8AF2-9AA1BD15901B}"/>
              </a:ext>
            </a:extLst>
          </p:cNvPr>
          <p:cNvSpPr>
            <a:spLocks noGrp="1"/>
          </p:cNvSpPr>
          <p:nvPr>
            <p:ph type="sldNum" sz="quarter" idx="17"/>
          </p:nvPr>
        </p:nvSpPr>
        <p:spPr/>
        <p:txBody>
          <a:bodyPr/>
          <a:lstStyle/>
          <a:p>
            <a:fld id="{5B4A74C5-79B0-4340-9A8D-1CCBE3E8C644}" type="slidenum">
              <a:rPr lang="en-GB" smtClean="0"/>
              <a:pPr/>
              <a:t>‹#›</a:t>
            </a:fld>
            <a:endParaRPr lang="en-GB"/>
          </a:p>
        </p:txBody>
      </p:sp>
    </p:spTree>
    <p:extLst>
      <p:ext uri="{BB962C8B-B14F-4D97-AF65-F5344CB8AC3E}">
        <p14:creationId xmlns:p14="http://schemas.microsoft.com/office/powerpoint/2010/main" val="30183409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and Image">
    <p:spTree>
      <p:nvGrpSpPr>
        <p:cNvPr id="1" name=""/>
        <p:cNvGrpSpPr/>
        <p:nvPr/>
      </p:nvGrpSpPr>
      <p:grpSpPr>
        <a:xfrm>
          <a:off x="0" y="0"/>
          <a:ext cx="0" cy="0"/>
          <a:chOff x="0" y="0"/>
          <a:chExt cx="0" cy="0"/>
        </a:xfrm>
      </p:grpSpPr>
      <p:sp>
        <p:nvSpPr>
          <p:cNvPr id="2" name="Title ">
            <a:extLst>
              <a:ext uri="{FF2B5EF4-FFF2-40B4-BE49-F238E27FC236}">
                <a16:creationId xmlns:a16="http://schemas.microsoft.com/office/drawing/2014/main" id="{2627417E-3B96-499C-AC3A-CDF07AEF4BCB}"/>
              </a:ext>
            </a:extLst>
          </p:cNvPr>
          <p:cNvSpPr>
            <a:spLocks noGrp="1"/>
          </p:cNvSpPr>
          <p:nvPr>
            <p:ph type="title"/>
          </p:nvPr>
        </p:nvSpPr>
        <p:spPr>
          <a:xfrm>
            <a:off x="504000" y="550800"/>
            <a:ext cx="11183175" cy="930759"/>
          </a:xfrm>
        </p:spPr>
        <p:txBody>
          <a:bodyPr/>
          <a:lstStyle/>
          <a:p>
            <a:r>
              <a:rPr lang="en-US"/>
              <a:t>Click to edit Master title style</a:t>
            </a:r>
            <a:endParaRPr lang="en-GB"/>
          </a:p>
        </p:txBody>
      </p:sp>
      <p:sp>
        <p:nvSpPr>
          <p:cNvPr id="3" name="Content Placeholder 1">
            <a:extLst>
              <a:ext uri="{FF2B5EF4-FFF2-40B4-BE49-F238E27FC236}">
                <a16:creationId xmlns:a16="http://schemas.microsoft.com/office/drawing/2014/main" id="{2C92A555-CEFA-4D21-902E-3F719B31B369}"/>
              </a:ext>
            </a:extLst>
          </p:cNvPr>
          <p:cNvSpPr>
            <a:spLocks noGrp="1"/>
          </p:cNvSpPr>
          <p:nvPr>
            <p:ph idx="1"/>
          </p:nvPr>
        </p:nvSpPr>
        <p:spPr>
          <a:xfrm>
            <a:off x="504824" y="1597307"/>
            <a:ext cx="4140000" cy="43520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Picture Placeholder 1">
            <a:extLst>
              <a:ext uri="{FF2B5EF4-FFF2-40B4-BE49-F238E27FC236}">
                <a16:creationId xmlns:a16="http://schemas.microsoft.com/office/drawing/2014/main" id="{7D6F183F-50F5-F347-8D3A-DF3311A81380}"/>
              </a:ext>
            </a:extLst>
          </p:cNvPr>
          <p:cNvSpPr>
            <a:spLocks noGrp="1"/>
          </p:cNvSpPr>
          <p:nvPr>
            <p:ph type="pic" sz="quarter" idx="13"/>
          </p:nvPr>
        </p:nvSpPr>
        <p:spPr>
          <a:xfrm>
            <a:off x="5077575" y="1599532"/>
            <a:ext cx="6609600" cy="4349856"/>
          </a:xfrm>
          <a:solidFill>
            <a:schemeClr val="bg1">
              <a:lumMod val="85000"/>
            </a:schemeClr>
          </a:solidFill>
        </p:spPr>
        <p:txBody>
          <a:bodyPr/>
          <a:lstStyle/>
          <a:p>
            <a:r>
              <a:rPr lang="en-US"/>
              <a:t>Click icon to add picture</a:t>
            </a:r>
            <a:endParaRPr lang="en-GB"/>
          </a:p>
        </p:txBody>
      </p:sp>
      <p:sp>
        <p:nvSpPr>
          <p:cNvPr id="5" name="Footnotes Placeholder ">
            <a:extLst>
              <a:ext uri="{FF2B5EF4-FFF2-40B4-BE49-F238E27FC236}">
                <a16:creationId xmlns:a16="http://schemas.microsoft.com/office/drawing/2014/main" id="{DD958A66-9BD1-0543-9A79-17815FB38C1E}"/>
              </a:ext>
            </a:extLst>
          </p:cNvPr>
          <p:cNvSpPr>
            <a:spLocks noGrp="1"/>
          </p:cNvSpPr>
          <p:nvPr>
            <p:ph type="body" sz="quarter" idx="17" hasCustomPrompt="1"/>
          </p:nvPr>
        </p:nvSpPr>
        <p:spPr>
          <a:xfrm>
            <a:off x="503238" y="6065838"/>
            <a:ext cx="11183937" cy="392112"/>
          </a:xfrm>
        </p:spPr>
        <p:txBody>
          <a:bodyPr/>
          <a:lstStyle>
            <a:lvl1pPr>
              <a:spcAft>
                <a:spcPts val="0"/>
              </a:spcAft>
              <a:defRPr sz="800"/>
            </a:lvl1pPr>
            <a:lvl2pPr>
              <a:defRPr sz="800"/>
            </a:lvl2pPr>
            <a:lvl3pPr>
              <a:defRPr sz="800"/>
            </a:lvl3pPr>
            <a:lvl4pPr>
              <a:defRPr sz="800"/>
            </a:lvl4pPr>
            <a:lvl5pPr>
              <a:defRPr sz="800"/>
            </a:lvl5pPr>
          </a:lstStyle>
          <a:p>
            <a:pPr lvl="0"/>
            <a:r>
              <a:rPr lang="en-US"/>
              <a:t> * Tied directly to information on page</a:t>
            </a:r>
            <a:br>
              <a:rPr lang="en-US"/>
            </a:br>
            <a:r>
              <a:rPr lang="en-US"/>
              <a:t>** Tied directly to information on page</a:t>
            </a:r>
            <a:br>
              <a:rPr lang="en-US"/>
            </a:br>
            <a:r>
              <a:rPr lang="en-US"/>
              <a:t>Source: Source information goes here</a:t>
            </a:r>
          </a:p>
        </p:txBody>
      </p:sp>
      <p:sp>
        <p:nvSpPr>
          <p:cNvPr id="8" name="Date Placeholder ">
            <a:extLst>
              <a:ext uri="{FF2B5EF4-FFF2-40B4-BE49-F238E27FC236}">
                <a16:creationId xmlns:a16="http://schemas.microsoft.com/office/drawing/2014/main" id="{2D6CA709-9FB5-6845-95C1-FC8B4536BEEC}"/>
              </a:ext>
            </a:extLst>
          </p:cNvPr>
          <p:cNvSpPr>
            <a:spLocks noGrp="1"/>
          </p:cNvSpPr>
          <p:nvPr>
            <p:ph type="dt" sz="half" idx="14"/>
          </p:nvPr>
        </p:nvSpPr>
        <p:spPr/>
        <p:txBody>
          <a:bodyPr/>
          <a:lstStyle/>
          <a:p>
            <a:pPr algn="l"/>
            <a:r>
              <a:rPr lang="en-US"/>
              <a:t>6/14/21</a:t>
            </a:r>
            <a:endParaRPr lang="en-GB"/>
          </a:p>
        </p:txBody>
      </p:sp>
      <p:sp>
        <p:nvSpPr>
          <p:cNvPr id="9" name="Footer Placeholder ">
            <a:extLst>
              <a:ext uri="{FF2B5EF4-FFF2-40B4-BE49-F238E27FC236}">
                <a16:creationId xmlns:a16="http://schemas.microsoft.com/office/drawing/2014/main" id="{73CF6AB0-3DB5-ED4F-A1C3-2AF73A378427}"/>
              </a:ext>
            </a:extLst>
          </p:cNvPr>
          <p:cNvSpPr>
            <a:spLocks noGrp="1"/>
          </p:cNvSpPr>
          <p:nvPr>
            <p:ph type="ftr" sz="quarter" idx="15"/>
          </p:nvPr>
        </p:nvSpPr>
        <p:spPr/>
        <p:txBody>
          <a:bodyPr/>
          <a:lstStyle/>
          <a:p>
            <a:r>
              <a:rPr lang="en-GB"/>
              <a:t>To create or edit a header or footer, go to Insert &gt; Header &amp; Footer</a:t>
            </a:r>
          </a:p>
        </p:txBody>
      </p:sp>
      <p:sp>
        <p:nvSpPr>
          <p:cNvPr id="10" name="Slide Number Placeholder ">
            <a:extLst>
              <a:ext uri="{FF2B5EF4-FFF2-40B4-BE49-F238E27FC236}">
                <a16:creationId xmlns:a16="http://schemas.microsoft.com/office/drawing/2014/main" id="{9CB336D1-9CBF-9B4C-A6D6-8FBC5CB36FEC}"/>
              </a:ext>
            </a:extLst>
          </p:cNvPr>
          <p:cNvSpPr>
            <a:spLocks noGrp="1"/>
          </p:cNvSpPr>
          <p:nvPr>
            <p:ph type="sldNum" sz="quarter" idx="16"/>
          </p:nvPr>
        </p:nvSpPr>
        <p:spPr/>
        <p:txBody>
          <a:bodyPr/>
          <a:lstStyle/>
          <a:p>
            <a:fld id="{5B4A74C5-79B0-4340-9A8D-1CCBE3E8C644}" type="slidenum">
              <a:rPr lang="en-GB" smtClean="0"/>
              <a:pPr/>
              <a:t>‹#›</a:t>
            </a:fld>
            <a:endParaRPr lang="en-GB"/>
          </a:p>
        </p:txBody>
      </p:sp>
    </p:spTree>
    <p:extLst>
      <p:ext uri="{BB962C8B-B14F-4D97-AF65-F5344CB8AC3E}">
        <p14:creationId xmlns:p14="http://schemas.microsoft.com/office/powerpoint/2010/main" val="19344705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and 4 Images">
    <p:spTree>
      <p:nvGrpSpPr>
        <p:cNvPr id="1" name=""/>
        <p:cNvGrpSpPr/>
        <p:nvPr/>
      </p:nvGrpSpPr>
      <p:grpSpPr>
        <a:xfrm>
          <a:off x="0" y="0"/>
          <a:ext cx="0" cy="0"/>
          <a:chOff x="0" y="0"/>
          <a:chExt cx="0" cy="0"/>
        </a:xfrm>
      </p:grpSpPr>
      <p:sp>
        <p:nvSpPr>
          <p:cNvPr id="2" name="Title ">
            <a:extLst>
              <a:ext uri="{FF2B5EF4-FFF2-40B4-BE49-F238E27FC236}">
                <a16:creationId xmlns:a16="http://schemas.microsoft.com/office/drawing/2014/main" id="{2627417E-3B96-499C-AC3A-CDF07AEF4BCB}"/>
              </a:ext>
            </a:extLst>
          </p:cNvPr>
          <p:cNvSpPr>
            <a:spLocks noGrp="1"/>
          </p:cNvSpPr>
          <p:nvPr>
            <p:ph type="title"/>
          </p:nvPr>
        </p:nvSpPr>
        <p:spPr>
          <a:xfrm>
            <a:off x="504000" y="550800"/>
            <a:ext cx="11183175" cy="930759"/>
          </a:xfrm>
        </p:spPr>
        <p:txBody>
          <a:bodyPr/>
          <a:lstStyle/>
          <a:p>
            <a:r>
              <a:rPr lang="en-US"/>
              <a:t>Click to edit Master title style</a:t>
            </a:r>
            <a:endParaRPr lang="en-GB"/>
          </a:p>
        </p:txBody>
      </p:sp>
      <p:sp>
        <p:nvSpPr>
          <p:cNvPr id="3" name="Content Placeholder 1">
            <a:extLst>
              <a:ext uri="{FF2B5EF4-FFF2-40B4-BE49-F238E27FC236}">
                <a16:creationId xmlns:a16="http://schemas.microsoft.com/office/drawing/2014/main" id="{2C92A555-CEFA-4D21-902E-3F719B31B369}"/>
              </a:ext>
            </a:extLst>
          </p:cNvPr>
          <p:cNvSpPr>
            <a:spLocks noGrp="1"/>
          </p:cNvSpPr>
          <p:nvPr>
            <p:ph idx="1"/>
          </p:nvPr>
        </p:nvSpPr>
        <p:spPr>
          <a:xfrm>
            <a:off x="504824" y="1598537"/>
            <a:ext cx="4140000" cy="4352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Picture Placeholder 1">
            <a:extLst>
              <a:ext uri="{FF2B5EF4-FFF2-40B4-BE49-F238E27FC236}">
                <a16:creationId xmlns:a16="http://schemas.microsoft.com/office/drawing/2014/main" id="{7D6F183F-50F5-F347-8D3A-DF3311A81380}"/>
              </a:ext>
            </a:extLst>
          </p:cNvPr>
          <p:cNvSpPr>
            <a:spLocks noGrp="1"/>
          </p:cNvSpPr>
          <p:nvPr>
            <p:ph type="pic" sz="quarter" idx="13"/>
          </p:nvPr>
        </p:nvSpPr>
        <p:spPr>
          <a:xfrm>
            <a:off x="5077575" y="1600562"/>
            <a:ext cx="3240000" cy="2124000"/>
          </a:xfrm>
          <a:solidFill>
            <a:schemeClr val="bg1">
              <a:lumMod val="85000"/>
            </a:schemeClr>
          </a:solidFill>
        </p:spPr>
        <p:txBody>
          <a:bodyPr/>
          <a:lstStyle/>
          <a:p>
            <a:r>
              <a:rPr lang="en-US"/>
              <a:t>Click icon to add picture</a:t>
            </a:r>
            <a:endParaRPr lang="en-GB"/>
          </a:p>
        </p:txBody>
      </p:sp>
      <p:sp>
        <p:nvSpPr>
          <p:cNvPr id="8" name="Picture Placeholder 2">
            <a:extLst>
              <a:ext uri="{FF2B5EF4-FFF2-40B4-BE49-F238E27FC236}">
                <a16:creationId xmlns:a16="http://schemas.microsoft.com/office/drawing/2014/main" id="{6D7E614C-60AC-6F42-A716-A5BA95111F5C}"/>
              </a:ext>
            </a:extLst>
          </p:cNvPr>
          <p:cNvSpPr>
            <a:spLocks noGrp="1"/>
          </p:cNvSpPr>
          <p:nvPr>
            <p:ph type="pic" sz="quarter" idx="14"/>
          </p:nvPr>
        </p:nvSpPr>
        <p:spPr>
          <a:xfrm>
            <a:off x="8439322" y="1600562"/>
            <a:ext cx="3240000" cy="2124000"/>
          </a:xfrm>
          <a:solidFill>
            <a:schemeClr val="bg1">
              <a:lumMod val="85000"/>
            </a:schemeClr>
          </a:solidFill>
        </p:spPr>
        <p:txBody>
          <a:bodyPr/>
          <a:lstStyle/>
          <a:p>
            <a:r>
              <a:rPr lang="en-US"/>
              <a:t>Click icon to add picture</a:t>
            </a:r>
            <a:endParaRPr lang="en-GB"/>
          </a:p>
        </p:txBody>
      </p:sp>
      <p:sp>
        <p:nvSpPr>
          <p:cNvPr id="9" name="Picture Placeholder 3">
            <a:extLst>
              <a:ext uri="{FF2B5EF4-FFF2-40B4-BE49-F238E27FC236}">
                <a16:creationId xmlns:a16="http://schemas.microsoft.com/office/drawing/2014/main" id="{81CF12D5-ACD0-964B-8F86-2EC87E6AD044}"/>
              </a:ext>
            </a:extLst>
          </p:cNvPr>
          <p:cNvSpPr>
            <a:spLocks noGrp="1"/>
          </p:cNvSpPr>
          <p:nvPr>
            <p:ph type="pic" sz="quarter" idx="15"/>
          </p:nvPr>
        </p:nvSpPr>
        <p:spPr>
          <a:xfrm>
            <a:off x="5077575" y="3829486"/>
            <a:ext cx="3240000" cy="2124000"/>
          </a:xfrm>
          <a:solidFill>
            <a:schemeClr val="bg1">
              <a:lumMod val="85000"/>
            </a:schemeClr>
          </a:solidFill>
        </p:spPr>
        <p:txBody>
          <a:bodyPr/>
          <a:lstStyle/>
          <a:p>
            <a:r>
              <a:rPr lang="en-US"/>
              <a:t>Click icon to add picture</a:t>
            </a:r>
            <a:endParaRPr lang="en-GB"/>
          </a:p>
        </p:txBody>
      </p:sp>
      <p:sp>
        <p:nvSpPr>
          <p:cNvPr id="10" name="Picture Placeholder 4">
            <a:extLst>
              <a:ext uri="{FF2B5EF4-FFF2-40B4-BE49-F238E27FC236}">
                <a16:creationId xmlns:a16="http://schemas.microsoft.com/office/drawing/2014/main" id="{58187A2F-D967-034D-8415-3B08E9F0D4D5}"/>
              </a:ext>
            </a:extLst>
          </p:cNvPr>
          <p:cNvSpPr>
            <a:spLocks noGrp="1"/>
          </p:cNvSpPr>
          <p:nvPr>
            <p:ph type="pic" sz="quarter" idx="16"/>
          </p:nvPr>
        </p:nvSpPr>
        <p:spPr>
          <a:xfrm>
            <a:off x="8439322" y="3829486"/>
            <a:ext cx="3240000" cy="2124000"/>
          </a:xfrm>
          <a:solidFill>
            <a:schemeClr val="bg1">
              <a:lumMod val="85000"/>
            </a:schemeClr>
          </a:solidFill>
        </p:spPr>
        <p:txBody>
          <a:bodyPr/>
          <a:lstStyle/>
          <a:p>
            <a:r>
              <a:rPr lang="en-US"/>
              <a:t>Click icon to add picture</a:t>
            </a:r>
            <a:endParaRPr lang="en-GB"/>
          </a:p>
        </p:txBody>
      </p:sp>
      <p:sp>
        <p:nvSpPr>
          <p:cNvPr id="5" name="Footnotes Placeholder ">
            <a:extLst>
              <a:ext uri="{FF2B5EF4-FFF2-40B4-BE49-F238E27FC236}">
                <a16:creationId xmlns:a16="http://schemas.microsoft.com/office/drawing/2014/main" id="{638510F2-A410-4248-9971-F02E7C4DD885}"/>
              </a:ext>
            </a:extLst>
          </p:cNvPr>
          <p:cNvSpPr>
            <a:spLocks noGrp="1"/>
          </p:cNvSpPr>
          <p:nvPr>
            <p:ph type="body" sz="quarter" idx="20" hasCustomPrompt="1"/>
          </p:nvPr>
        </p:nvSpPr>
        <p:spPr>
          <a:xfrm>
            <a:off x="503238" y="6065838"/>
            <a:ext cx="11183937" cy="404812"/>
          </a:xfrm>
        </p:spPr>
        <p:txBody>
          <a:bodyPr/>
          <a:lstStyle>
            <a:lvl1pPr marL="0">
              <a:spcAft>
                <a:spcPts val="0"/>
              </a:spcAft>
              <a:defRPr sz="800"/>
            </a:lvl1pPr>
            <a:lvl2pPr marL="0">
              <a:defRPr sz="800"/>
            </a:lvl2pPr>
            <a:lvl3pPr marL="0">
              <a:defRPr sz="800"/>
            </a:lvl3pPr>
            <a:lvl4pPr marL="0">
              <a:defRPr sz="800"/>
            </a:lvl4pPr>
            <a:lvl5pPr marL="0">
              <a:defRPr sz="800"/>
            </a:lvl5pPr>
          </a:lstStyle>
          <a:p>
            <a:pPr lvl="0"/>
            <a:r>
              <a:rPr lang="en-US"/>
              <a:t> * Tied directly to information on page</a:t>
            </a:r>
            <a:br>
              <a:rPr lang="en-US"/>
            </a:br>
            <a:r>
              <a:rPr lang="en-US"/>
              <a:t>** Tied directly to information on page</a:t>
            </a:r>
            <a:br>
              <a:rPr lang="en-US"/>
            </a:br>
            <a:r>
              <a:rPr lang="en-US"/>
              <a:t>Source: Source information goes here</a:t>
            </a:r>
          </a:p>
        </p:txBody>
      </p:sp>
      <p:sp>
        <p:nvSpPr>
          <p:cNvPr id="11" name="Date Placeholder ">
            <a:extLst>
              <a:ext uri="{FF2B5EF4-FFF2-40B4-BE49-F238E27FC236}">
                <a16:creationId xmlns:a16="http://schemas.microsoft.com/office/drawing/2014/main" id="{F77ECADA-054B-264C-AE18-329A92B8B773}"/>
              </a:ext>
            </a:extLst>
          </p:cNvPr>
          <p:cNvSpPr>
            <a:spLocks noGrp="1"/>
          </p:cNvSpPr>
          <p:nvPr>
            <p:ph type="dt" sz="half" idx="17"/>
          </p:nvPr>
        </p:nvSpPr>
        <p:spPr/>
        <p:txBody>
          <a:bodyPr/>
          <a:lstStyle/>
          <a:p>
            <a:pPr algn="l"/>
            <a:r>
              <a:rPr lang="en-US"/>
              <a:t>6/14/21</a:t>
            </a:r>
            <a:endParaRPr lang="en-GB"/>
          </a:p>
        </p:txBody>
      </p:sp>
      <p:sp>
        <p:nvSpPr>
          <p:cNvPr id="12" name="Footer Placeholder ">
            <a:extLst>
              <a:ext uri="{FF2B5EF4-FFF2-40B4-BE49-F238E27FC236}">
                <a16:creationId xmlns:a16="http://schemas.microsoft.com/office/drawing/2014/main" id="{8CD7C49F-98DB-F94A-B6E9-6542542CE1BB}"/>
              </a:ext>
            </a:extLst>
          </p:cNvPr>
          <p:cNvSpPr>
            <a:spLocks noGrp="1"/>
          </p:cNvSpPr>
          <p:nvPr>
            <p:ph type="ftr" sz="quarter" idx="18"/>
          </p:nvPr>
        </p:nvSpPr>
        <p:spPr/>
        <p:txBody>
          <a:bodyPr/>
          <a:lstStyle/>
          <a:p>
            <a:r>
              <a:rPr lang="en-GB"/>
              <a:t>To create or edit a header or footer, go to Insert &gt; Header &amp; Footer</a:t>
            </a:r>
          </a:p>
        </p:txBody>
      </p:sp>
      <p:sp>
        <p:nvSpPr>
          <p:cNvPr id="13" name="Slide Number Placeholder ">
            <a:extLst>
              <a:ext uri="{FF2B5EF4-FFF2-40B4-BE49-F238E27FC236}">
                <a16:creationId xmlns:a16="http://schemas.microsoft.com/office/drawing/2014/main" id="{E4DEF5FD-5669-B743-A3ED-77D68220ED7E}"/>
              </a:ext>
            </a:extLst>
          </p:cNvPr>
          <p:cNvSpPr>
            <a:spLocks noGrp="1"/>
          </p:cNvSpPr>
          <p:nvPr>
            <p:ph type="sldNum" sz="quarter" idx="19"/>
          </p:nvPr>
        </p:nvSpPr>
        <p:spPr/>
        <p:txBody>
          <a:bodyPr/>
          <a:lstStyle/>
          <a:p>
            <a:fld id="{5B4A74C5-79B0-4340-9A8D-1CCBE3E8C644}" type="slidenum">
              <a:rPr lang="en-GB" smtClean="0"/>
              <a:pPr/>
              <a:t>‹#›</a:t>
            </a:fld>
            <a:endParaRPr lang="en-GB"/>
          </a:p>
        </p:txBody>
      </p:sp>
    </p:spTree>
    <p:extLst>
      <p:ext uri="{BB962C8B-B14F-4D97-AF65-F5344CB8AC3E}">
        <p14:creationId xmlns:p14="http://schemas.microsoft.com/office/powerpoint/2010/main" val="32854210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 Images and Captions">
    <p:spTree>
      <p:nvGrpSpPr>
        <p:cNvPr id="1" name=""/>
        <p:cNvGrpSpPr/>
        <p:nvPr/>
      </p:nvGrpSpPr>
      <p:grpSpPr>
        <a:xfrm>
          <a:off x="0" y="0"/>
          <a:ext cx="0" cy="0"/>
          <a:chOff x="0" y="0"/>
          <a:chExt cx="0" cy="0"/>
        </a:xfrm>
      </p:grpSpPr>
      <p:sp>
        <p:nvSpPr>
          <p:cNvPr id="2" name="Title ">
            <a:extLst>
              <a:ext uri="{FF2B5EF4-FFF2-40B4-BE49-F238E27FC236}">
                <a16:creationId xmlns:a16="http://schemas.microsoft.com/office/drawing/2014/main" id="{2627417E-3B96-499C-AC3A-CDF07AEF4BCB}"/>
              </a:ext>
            </a:extLst>
          </p:cNvPr>
          <p:cNvSpPr>
            <a:spLocks noGrp="1"/>
          </p:cNvSpPr>
          <p:nvPr>
            <p:ph type="title"/>
          </p:nvPr>
        </p:nvSpPr>
        <p:spPr>
          <a:xfrm>
            <a:off x="504000" y="550800"/>
            <a:ext cx="11183175" cy="930759"/>
          </a:xfrm>
        </p:spPr>
        <p:txBody>
          <a:bodyPr/>
          <a:lstStyle/>
          <a:p>
            <a:r>
              <a:rPr lang="en-US"/>
              <a:t>Click to edit Master title style</a:t>
            </a:r>
            <a:endParaRPr lang="en-GB"/>
          </a:p>
        </p:txBody>
      </p:sp>
      <p:sp>
        <p:nvSpPr>
          <p:cNvPr id="7" name="Picture Placeholder 1">
            <a:extLst>
              <a:ext uri="{FF2B5EF4-FFF2-40B4-BE49-F238E27FC236}">
                <a16:creationId xmlns:a16="http://schemas.microsoft.com/office/drawing/2014/main" id="{7D6F183F-50F5-F347-8D3A-DF3311A81380}"/>
              </a:ext>
            </a:extLst>
          </p:cNvPr>
          <p:cNvSpPr>
            <a:spLocks noGrp="1"/>
          </p:cNvSpPr>
          <p:nvPr>
            <p:ph type="pic" sz="quarter" idx="13"/>
          </p:nvPr>
        </p:nvSpPr>
        <p:spPr>
          <a:xfrm>
            <a:off x="504000" y="1630103"/>
            <a:ext cx="3301200" cy="2548800"/>
          </a:xfrm>
          <a:solidFill>
            <a:schemeClr val="bg1">
              <a:lumMod val="85000"/>
            </a:schemeClr>
          </a:solidFill>
        </p:spPr>
        <p:txBody>
          <a:bodyPr/>
          <a:lstStyle/>
          <a:p>
            <a:r>
              <a:rPr lang="en-US"/>
              <a:t>Click icon to add picture</a:t>
            </a:r>
            <a:endParaRPr lang="en-GB"/>
          </a:p>
        </p:txBody>
      </p:sp>
      <p:sp>
        <p:nvSpPr>
          <p:cNvPr id="21" name="Content Placeholder 1">
            <a:extLst>
              <a:ext uri="{FF2B5EF4-FFF2-40B4-BE49-F238E27FC236}">
                <a16:creationId xmlns:a16="http://schemas.microsoft.com/office/drawing/2014/main" id="{AF30AE00-BBC7-4641-A388-21B7636095A6}"/>
              </a:ext>
            </a:extLst>
          </p:cNvPr>
          <p:cNvSpPr>
            <a:spLocks noGrp="1"/>
          </p:cNvSpPr>
          <p:nvPr>
            <p:ph idx="1"/>
          </p:nvPr>
        </p:nvSpPr>
        <p:spPr>
          <a:xfrm>
            <a:off x="504825" y="4462005"/>
            <a:ext cx="3309053" cy="1508924"/>
          </a:xfrm>
        </p:spPr>
        <p:txBody>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2" name="Picture Placeholder 2">
            <a:extLst>
              <a:ext uri="{FF2B5EF4-FFF2-40B4-BE49-F238E27FC236}">
                <a16:creationId xmlns:a16="http://schemas.microsoft.com/office/drawing/2014/main" id="{7A529A3E-FB3D-DF4A-A2F9-E775C7360C50}"/>
              </a:ext>
            </a:extLst>
          </p:cNvPr>
          <p:cNvSpPr>
            <a:spLocks noGrp="1"/>
          </p:cNvSpPr>
          <p:nvPr>
            <p:ph type="pic" sz="quarter" idx="15"/>
          </p:nvPr>
        </p:nvSpPr>
        <p:spPr>
          <a:xfrm>
            <a:off x="4445400" y="1624053"/>
            <a:ext cx="3301200" cy="2548800"/>
          </a:xfrm>
          <a:solidFill>
            <a:schemeClr val="bg1">
              <a:lumMod val="85000"/>
            </a:schemeClr>
          </a:solidFill>
        </p:spPr>
        <p:txBody>
          <a:bodyPr/>
          <a:lstStyle/>
          <a:p>
            <a:r>
              <a:rPr lang="en-US"/>
              <a:t>Click icon to add picture</a:t>
            </a:r>
            <a:endParaRPr lang="en-GB"/>
          </a:p>
        </p:txBody>
      </p:sp>
      <p:sp>
        <p:nvSpPr>
          <p:cNvPr id="22" name="Content Placeholder 2">
            <a:extLst>
              <a:ext uri="{FF2B5EF4-FFF2-40B4-BE49-F238E27FC236}">
                <a16:creationId xmlns:a16="http://schemas.microsoft.com/office/drawing/2014/main" id="{E3C5B76E-67E4-B441-A2EB-FE142C3E56CB}"/>
              </a:ext>
            </a:extLst>
          </p:cNvPr>
          <p:cNvSpPr>
            <a:spLocks noGrp="1"/>
          </p:cNvSpPr>
          <p:nvPr>
            <p:ph idx="14"/>
          </p:nvPr>
        </p:nvSpPr>
        <p:spPr>
          <a:xfrm>
            <a:off x="4437547" y="4455201"/>
            <a:ext cx="3309053" cy="1515728"/>
          </a:xfrm>
        </p:spPr>
        <p:txBody>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4" name="Picture Placeholder 3">
            <a:extLst>
              <a:ext uri="{FF2B5EF4-FFF2-40B4-BE49-F238E27FC236}">
                <a16:creationId xmlns:a16="http://schemas.microsoft.com/office/drawing/2014/main" id="{E8E75C81-FAFA-444F-AFA7-F038111B6D4C}"/>
              </a:ext>
            </a:extLst>
          </p:cNvPr>
          <p:cNvSpPr>
            <a:spLocks noGrp="1"/>
          </p:cNvSpPr>
          <p:nvPr>
            <p:ph type="pic" sz="quarter" idx="17"/>
          </p:nvPr>
        </p:nvSpPr>
        <p:spPr>
          <a:xfrm>
            <a:off x="8378122" y="1618003"/>
            <a:ext cx="3301200" cy="2548800"/>
          </a:xfrm>
          <a:solidFill>
            <a:schemeClr val="bg1">
              <a:lumMod val="85000"/>
            </a:schemeClr>
          </a:solidFill>
        </p:spPr>
        <p:txBody>
          <a:bodyPr/>
          <a:lstStyle/>
          <a:p>
            <a:r>
              <a:rPr lang="en-US"/>
              <a:t>Click icon to add picture</a:t>
            </a:r>
            <a:endParaRPr lang="en-GB"/>
          </a:p>
        </p:txBody>
      </p:sp>
      <p:sp>
        <p:nvSpPr>
          <p:cNvPr id="23" name="Content Placeholder 3">
            <a:extLst>
              <a:ext uri="{FF2B5EF4-FFF2-40B4-BE49-F238E27FC236}">
                <a16:creationId xmlns:a16="http://schemas.microsoft.com/office/drawing/2014/main" id="{9924B702-C920-CC4C-AB9B-E5241B2248FA}"/>
              </a:ext>
            </a:extLst>
          </p:cNvPr>
          <p:cNvSpPr>
            <a:spLocks noGrp="1"/>
          </p:cNvSpPr>
          <p:nvPr>
            <p:ph idx="16"/>
          </p:nvPr>
        </p:nvSpPr>
        <p:spPr>
          <a:xfrm>
            <a:off x="8370269" y="4448397"/>
            <a:ext cx="3309053" cy="1522532"/>
          </a:xfrm>
        </p:spPr>
        <p:txBody>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Footnotes Placeholder">
            <a:extLst>
              <a:ext uri="{FF2B5EF4-FFF2-40B4-BE49-F238E27FC236}">
                <a16:creationId xmlns:a16="http://schemas.microsoft.com/office/drawing/2014/main" id="{4B6290AF-84B3-0E45-B74E-11CAD69E8F0E}"/>
              </a:ext>
            </a:extLst>
          </p:cNvPr>
          <p:cNvSpPr>
            <a:spLocks noGrp="1"/>
          </p:cNvSpPr>
          <p:nvPr>
            <p:ph type="body" sz="quarter" idx="21" hasCustomPrompt="1"/>
          </p:nvPr>
        </p:nvSpPr>
        <p:spPr>
          <a:xfrm>
            <a:off x="503238" y="6065838"/>
            <a:ext cx="11183937" cy="404812"/>
          </a:xfrm>
        </p:spPr>
        <p:txBody>
          <a:bodyPr/>
          <a:lstStyle>
            <a:lvl1pPr>
              <a:spcAft>
                <a:spcPts val="0"/>
              </a:spcAft>
              <a:defRPr sz="800"/>
            </a:lvl1pPr>
            <a:lvl2pPr>
              <a:defRPr sz="800"/>
            </a:lvl2pPr>
            <a:lvl3pPr>
              <a:defRPr sz="800"/>
            </a:lvl3pPr>
            <a:lvl4pPr>
              <a:defRPr sz="800"/>
            </a:lvl4pPr>
            <a:lvl5pPr>
              <a:defRPr sz="800"/>
            </a:lvl5pPr>
          </a:lstStyle>
          <a:p>
            <a:pPr lvl="0"/>
            <a:r>
              <a:rPr lang="en-US"/>
              <a:t> * Tied directly to information on page</a:t>
            </a:r>
            <a:br>
              <a:rPr lang="en-US"/>
            </a:br>
            <a:r>
              <a:rPr lang="en-US"/>
              <a:t>** Tied directly to information on page</a:t>
            </a:r>
            <a:br>
              <a:rPr lang="en-US"/>
            </a:br>
            <a:r>
              <a:rPr lang="en-US"/>
              <a:t>Source: Source information goes here</a:t>
            </a:r>
          </a:p>
        </p:txBody>
      </p:sp>
      <p:sp>
        <p:nvSpPr>
          <p:cNvPr id="15" name="Date Placeholder ">
            <a:extLst>
              <a:ext uri="{FF2B5EF4-FFF2-40B4-BE49-F238E27FC236}">
                <a16:creationId xmlns:a16="http://schemas.microsoft.com/office/drawing/2014/main" id="{E46A8604-D063-734E-A923-17DCF3C818E6}"/>
              </a:ext>
            </a:extLst>
          </p:cNvPr>
          <p:cNvSpPr>
            <a:spLocks noGrp="1"/>
          </p:cNvSpPr>
          <p:nvPr>
            <p:ph type="dt" sz="half" idx="18"/>
          </p:nvPr>
        </p:nvSpPr>
        <p:spPr/>
        <p:txBody>
          <a:bodyPr/>
          <a:lstStyle/>
          <a:p>
            <a:pPr algn="l"/>
            <a:r>
              <a:rPr lang="en-US"/>
              <a:t>6/14/21</a:t>
            </a:r>
            <a:endParaRPr lang="en-GB"/>
          </a:p>
        </p:txBody>
      </p:sp>
      <p:sp>
        <p:nvSpPr>
          <p:cNvPr id="16" name="Footer Placeholder ">
            <a:extLst>
              <a:ext uri="{FF2B5EF4-FFF2-40B4-BE49-F238E27FC236}">
                <a16:creationId xmlns:a16="http://schemas.microsoft.com/office/drawing/2014/main" id="{69F76947-C27A-3A46-9553-566EDCC43B36}"/>
              </a:ext>
            </a:extLst>
          </p:cNvPr>
          <p:cNvSpPr>
            <a:spLocks noGrp="1"/>
          </p:cNvSpPr>
          <p:nvPr>
            <p:ph type="ftr" sz="quarter" idx="19"/>
          </p:nvPr>
        </p:nvSpPr>
        <p:spPr/>
        <p:txBody>
          <a:bodyPr/>
          <a:lstStyle/>
          <a:p>
            <a:r>
              <a:rPr lang="en-GB"/>
              <a:t>To create or edit a header or footer, go to Insert &gt; Header &amp; Footer</a:t>
            </a:r>
          </a:p>
        </p:txBody>
      </p:sp>
      <p:sp>
        <p:nvSpPr>
          <p:cNvPr id="17" name="Slide Number Placeholder ">
            <a:extLst>
              <a:ext uri="{FF2B5EF4-FFF2-40B4-BE49-F238E27FC236}">
                <a16:creationId xmlns:a16="http://schemas.microsoft.com/office/drawing/2014/main" id="{13C599AC-D93A-1A40-B4F9-D368AFB6527E}"/>
              </a:ext>
            </a:extLst>
          </p:cNvPr>
          <p:cNvSpPr>
            <a:spLocks noGrp="1"/>
          </p:cNvSpPr>
          <p:nvPr>
            <p:ph type="sldNum" sz="quarter" idx="20"/>
          </p:nvPr>
        </p:nvSpPr>
        <p:spPr/>
        <p:txBody>
          <a:bodyPr/>
          <a:lstStyle/>
          <a:p>
            <a:fld id="{5B4A74C5-79B0-4340-9A8D-1CCBE3E8C644}" type="slidenum">
              <a:rPr lang="en-GB" smtClean="0"/>
              <a:pPr/>
              <a:t>‹#›</a:t>
            </a:fld>
            <a:endParaRPr lang="en-GB"/>
          </a:p>
        </p:txBody>
      </p:sp>
    </p:spTree>
    <p:extLst>
      <p:ext uri="{BB962C8B-B14F-4D97-AF65-F5344CB8AC3E}">
        <p14:creationId xmlns:p14="http://schemas.microsoft.com/office/powerpoint/2010/main" val="110005668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ection Header">
    <p:bg>
      <p:bgPr>
        <a:solidFill>
          <a:schemeClr val="bg2"/>
        </a:solidFill>
        <a:effectLst/>
      </p:bgPr>
    </p:bg>
    <p:spTree>
      <p:nvGrpSpPr>
        <p:cNvPr id="1" name=""/>
        <p:cNvGrpSpPr/>
        <p:nvPr/>
      </p:nvGrpSpPr>
      <p:grpSpPr>
        <a:xfrm>
          <a:off x="0" y="0"/>
          <a:ext cx="0" cy="0"/>
          <a:chOff x="0" y="0"/>
          <a:chExt cx="0" cy="0"/>
        </a:xfrm>
      </p:grpSpPr>
      <p:pic>
        <p:nvPicPr>
          <p:cNvPr id="4" name="Background">
            <a:extLst>
              <a:ext uri="{FF2B5EF4-FFF2-40B4-BE49-F238E27FC236}">
                <a16:creationId xmlns:a16="http://schemas.microsoft.com/office/drawing/2014/main" id="{F2126D46-BC5D-46ED-8980-6E82FDD288B0}"/>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84" y="0"/>
            <a:ext cx="12189631" cy="6858000"/>
          </a:xfrm>
          <a:prstGeom prst="rect">
            <a:avLst/>
          </a:prstGeom>
        </p:spPr>
      </p:pic>
      <p:sp>
        <p:nvSpPr>
          <p:cNvPr id="2" name="Title ">
            <a:extLst>
              <a:ext uri="{FF2B5EF4-FFF2-40B4-BE49-F238E27FC236}">
                <a16:creationId xmlns:a16="http://schemas.microsoft.com/office/drawing/2014/main" id="{C4443FCA-9294-41A7-A9C0-27EAD67AF2F9}"/>
              </a:ext>
            </a:extLst>
          </p:cNvPr>
          <p:cNvSpPr>
            <a:spLocks noGrp="1"/>
          </p:cNvSpPr>
          <p:nvPr>
            <p:ph type="title"/>
          </p:nvPr>
        </p:nvSpPr>
        <p:spPr>
          <a:xfrm>
            <a:off x="504825" y="549275"/>
            <a:ext cx="5770563" cy="5832475"/>
          </a:xfrm>
        </p:spPr>
        <p:txBody>
          <a:bodyPr anchor="t"/>
          <a:lstStyle>
            <a:lvl1pPr>
              <a:defRPr sz="6500">
                <a:solidFill>
                  <a:schemeClr val="bg1"/>
                </a:solidFill>
              </a:defRPr>
            </a:lvl1pPr>
          </a:lstStyle>
          <a:p>
            <a:r>
              <a:rPr lang="en-US"/>
              <a:t>Click to edit Master title style</a:t>
            </a:r>
            <a:endParaRPr lang="en-GB"/>
          </a:p>
        </p:txBody>
      </p:sp>
    </p:spTree>
    <p:extLst>
      <p:ext uri="{BB962C8B-B14F-4D97-AF65-F5344CB8AC3E}">
        <p14:creationId xmlns:p14="http://schemas.microsoft.com/office/powerpoint/2010/main" val="412612957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ection Header 2">
    <p:bg>
      <p:bgPr>
        <a:solidFill>
          <a:schemeClr val="bg1"/>
        </a:solidFill>
        <a:effectLst/>
      </p:bgPr>
    </p:bg>
    <p:spTree>
      <p:nvGrpSpPr>
        <p:cNvPr id="1" name=""/>
        <p:cNvGrpSpPr/>
        <p:nvPr/>
      </p:nvGrpSpPr>
      <p:grpSpPr>
        <a:xfrm>
          <a:off x="0" y="0"/>
          <a:ext cx="0" cy="0"/>
          <a:chOff x="0" y="0"/>
          <a:chExt cx="0" cy="0"/>
        </a:xfrm>
      </p:grpSpPr>
      <p:pic>
        <p:nvPicPr>
          <p:cNvPr id="3" name="Background">
            <a:extLst>
              <a:ext uri="{FF2B5EF4-FFF2-40B4-BE49-F238E27FC236}">
                <a16:creationId xmlns:a16="http://schemas.microsoft.com/office/drawing/2014/main" id="{F52CA24D-5DF8-48B0-AB39-60E2BA9FD5FE}"/>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4" name="Title ">
            <a:extLst>
              <a:ext uri="{FF2B5EF4-FFF2-40B4-BE49-F238E27FC236}">
                <a16:creationId xmlns:a16="http://schemas.microsoft.com/office/drawing/2014/main" id="{7703DDDC-291A-3043-A7B8-C2944D8C2F1F}"/>
              </a:ext>
            </a:extLst>
          </p:cNvPr>
          <p:cNvSpPr>
            <a:spLocks noGrp="1"/>
          </p:cNvSpPr>
          <p:nvPr>
            <p:ph type="title"/>
          </p:nvPr>
        </p:nvSpPr>
        <p:spPr>
          <a:xfrm>
            <a:off x="504825" y="549275"/>
            <a:ext cx="5770563" cy="5832475"/>
          </a:xfrm>
        </p:spPr>
        <p:txBody>
          <a:bodyPr anchor="t"/>
          <a:lstStyle>
            <a:lvl1pPr>
              <a:defRPr sz="6500">
                <a:solidFill>
                  <a:schemeClr val="bg1"/>
                </a:solidFill>
              </a:defRPr>
            </a:lvl1pPr>
          </a:lstStyle>
          <a:p>
            <a:r>
              <a:rPr lang="en-US"/>
              <a:t>Click to edit Master title style</a:t>
            </a:r>
            <a:endParaRPr lang="en-GB"/>
          </a:p>
        </p:txBody>
      </p:sp>
    </p:spTree>
    <p:extLst>
      <p:ext uri="{BB962C8B-B14F-4D97-AF65-F5344CB8AC3E}">
        <p14:creationId xmlns:p14="http://schemas.microsoft.com/office/powerpoint/2010/main" val="161359924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ection Header 3">
    <p:bg>
      <p:bgPr>
        <a:solidFill>
          <a:schemeClr val="tx2"/>
        </a:solidFill>
        <a:effectLst/>
      </p:bgPr>
    </p:bg>
    <p:spTree>
      <p:nvGrpSpPr>
        <p:cNvPr id="1" name=""/>
        <p:cNvGrpSpPr/>
        <p:nvPr/>
      </p:nvGrpSpPr>
      <p:grpSpPr>
        <a:xfrm>
          <a:off x="0" y="0"/>
          <a:ext cx="0" cy="0"/>
          <a:chOff x="0" y="0"/>
          <a:chExt cx="0" cy="0"/>
        </a:xfrm>
      </p:grpSpPr>
      <p:pic>
        <p:nvPicPr>
          <p:cNvPr id="3" name="Background">
            <a:extLst>
              <a:ext uri="{FF2B5EF4-FFF2-40B4-BE49-F238E27FC236}">
                <a16:creationId xmlns:a16="http://schemas.microsoft.com/office/drawing/2014/main" id="{A0A5400D-7B89-4AEF-AD2F-C4EC4B24DD4E}"/>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Title ">
            <a:extLst>
              <a:ext uri="{FF2B5EF4-FFF2-40B4-BE49-F238E27FC236}">
                <a16:creationId xmlns:a16="http://schemas.microsoft.com/office/drawing/2014/main" id="{3CADD10B-5351-EC45-9D04-9E2F2AED4960}"/>
              </a:ext>
            </a:extLst>
          </p:cNvPr>
          <p:cNvSpPr>
            <a:spLocks noGrp="1"/>
          </p:cNvSpPr>
          <p:nvPr>
            <p:ph type="title"/>
          </p:nvPr>
        </p:nvSpPr>
        <p:spPr>
          <a:xfrm>
            <a:off x="504825" y="549275"/>
            <a:ext cx="5770563" cy="5832475"/>
          </a:xfrm>
        </p:spPr>
        <p:txBody>
          <a:bodyPr anchor="t"/>
          <a:lstStyle>
            <a:lvl1pPr>
              <a:defRPr sz="6500">
                <a:solidFill>
                  <a:schemeClr val="bg1"/>
                </a:solidFill>
              </a:defRPr>
            </a:lvl1pPr>
          </a:lstStyle>
          <a:p>
            <a:r>
              <a:rPr lang="en-US"/>
              <a:t>Click to edit Master title style</a:t>
            </a:r>
            <a:endParaRPr lang="en-GB"/>
          </a:p>
        </p:txBody>
      </p:sp>
    </p:spTree>
    <p:extLst>
      <p:ext uri="{BB962C8B-B14F-4D97-AF65-F5344CB8AC3E}">
        <p14:creationId xmlns:p14="http://schemas.microsoft.com/office/powerpoint/2010/main" val="33487769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
            <a:extLst>
              <a:ext uri="{FF2B5EF4-FFF2-40B4-BE49-F238E27FC236}">
                <a16:creationId xmlns:a16="http://schemas.microsoft.com/office/drawing/2014/main" id="{BB2543A9-3564-4F63-BA2E-A27814223CA9}"/>
              </a:ext>
            </a:extLst>
          </p:cNvPr>
          <p:cNvSpPr>
            <a:spLocks noGrp="1"/>
          </p:cNvSpPr>
          <p:nvPr>
            <p:ph type="title"/>
          </p:nvPr>
        </p:nvSpPr>
        <p:spPr/>
        <p:txBody>
          <a:bodyPr/>
          <a:lstStyle/>
          <a:p>
            <a:r>
              <a:rPr lang="en-US"/>
              <a:t>Click to edit Master title style</a:t>
            </a:r>
            <a:endParaRPr lang="en-GB"/>
          </a:p>
        </p:txBody>
      </p:sp>
      <p:sp>
        <p:nvSpPr>
          <p:cNvPr id="4" name="Footnotes Placeholder">
            <a:extLst>
              <a:ext uri="{FF2B5EF4-FFF2-40B4-BE49-F238E27FC236}">
                <a16:creationId xmlns:a16="http://schemas.microsoft.com/office/drawing/2014/main" id="{FCCE450D-EA91-9A43-A0FC-465E3D334758}"/>
              </a:ext>
            </a:extLst>
          </p:cNvPr>
          <p:cNvSpPr>
            <a:spLocks noGrp="1"/>
          </p:cNvSpPr>
          <p:nvPr>
            <p:ph type="body" sz="quarter" idx="13" hasCustomPrompt="1"/>
          </p:nvPr>
        </p:nvSpPr>
        <p:spPr>
          <a:xfrm>
            <a:off x="503999" y="6065838"/>
            <a:ext cx="11183176" cy="392112"/>
          </a:xfrm>
        </p:spPr>
        <p:txBody>
          <a:bodyPr/>
          <a:lstStyle>
            <a:lvl1pPr>
              <a:spcAft>
                <a:spcPts val="0"/>
              </a:spcAft>
              <a:defRPr sz="800"/>
            </a:lvl1pPr>
            <a:lvl2pPr>
              <a:defRPr sz="800"/>
            </a:lvl2pPr>
            <a:lvl3pPr>
              <a:defRPr sz="800"/>
            </a:lvl3pPr>
            <a:lvl4pPr>
              <a:defRPr sz="800"/>
            </a:lvl4pPr>
            <a:lvl5pPr>
              <a:defRPr sz="800"/>
            </a:lvl5pPr>
          </a:lstStyle>
          <a:p>
            <a:pPr lvl="0"/>
            <a:r>
              <a:rPr lang="en-US"/>
              <a:t> * Tied directly to information on page</a:t>
            </a:r>
            <a:br>
              <a:rPr lang="en-US"/>
            </a:br>
            <a:r>
              <a:rPr lang="en-US"/>
              <a:t>** Tied directly to information on page</a:t>
            </a:r>
            <a:br>
              <a:rPr lang="en-US"/>
            </a:br>
            <a:r>
              <a:rPr lang="en-US"/>
              <a:t>Source: Source information goes here</a:t>
            </a:r>
          </a:p>
        </p:txBody>
      </p:sp>
      <p:sp>
        <p:nvSpPr>
          <p:cNvPr id="6" name="Date Placeholder ">
            <a:extLst>
              <a:ext uri="{FF2B5EF4-FFF2-40B4-BE49-F238E27FC236}">
                <a16:creationId xmlns:a16="http://schemas.microsoft.com/office/drawing/2014/main" id="{BAB7DA8D-25AF-774D-BDBF-FFABEF37DF62}"/>
              </a:ext>
            </a:extLst>
          </p:cNvPr>
          <p:cNvSpPr>
            <a:spLocks noGrp="1"/>
          </p:cNvSpPr>
          <p:nvPr>
            <p:ph type="dt" sz="half" idx="10"/>
          </p:nvPr>
        </p:nvSpPr>
        <p:spPr/>
        <p:txBody>
          <a:bodyPr/>
          <a:lstStyle/>
          <a:p>
            <a:pPr algn="l"/>
            <a:r>
              <a:rPr lang="en-US"/>
              <a:t>6/14/21</a:t>
            </a:r>
            <a:endParaRPr lang="en-GB"/>
          </a:p>
        </p:txBody>
      </p:sp>
      <p:sp>
        <p:nvSpPr>
          <p:cNvPr id="7" name="Footer Placeholder ">
            <a:extLst>
              <a:ext uri="{FF2B5EF4-FFF2-40B4-BE49-F238E27FC236}">
                <a16:creationId xmlns:a16="http://schemas.microsoft.com/office/drawing/2014/main" id="{21D5EFB8-0EE1-544B-BDDD-2AE5CEED69DB}"/>
              </a:ext>
            </a:extLst>
          </p:cNvPr>
          <p:cNvSpPr>
            <a:spLocks noGrp="1"/>
          </p:cNvSpPr>
          <p:nvPr>
            <p:ph type="ftr" sz="quarter" idx="11"/>
          </p:nvPr>
        </p:nvSpPr>
        <p:spPr/>
        <p:txBody>
          <a:bodyPr/>
          <a:lstStyle/>
          <a:p>
            <a:r>
              <a:rPr lang="en-GB"/>
              <a:t>To create or edit a header or footer, go to Insert &gt; Header &amp; Footer</a:t>
            </a:r>
          </a:p>
        </p:txBody>
      </p:sp>
      <p:sp>
        <p:nvSpPr>
          <p:cNvPr id="8" name="Slide Number Placeholder ">
            <a:extLst>
              <a:ext uri="{FF2B5EF4-FFF2-40B4-BE49-F238E27FC236}">
                <a16:creationId xmlns:a16="http://schemas.microsoft.com/office/drawing/2014/main" id="{3CBBAC67-0E50-2949-876E-ACCE3F2EABFC}"/>
              </a:ext>
            </a:extLst>
          </p:cNvPr>
          <p:cNvSpPr>
            <a:spLocks noGrp="1"/>
          </p:cNvSpPr>
          <p:nvPr>
            <p:ph type="sldNum" sz="quarter" idx="12"/>
          </p:nvPr>
        </p:nvSpPr>
        <p:spPr/>
        <p:txBody>
          <a:bodyPr/>
          <a:lstStyle/>
          <a:p>
            <a:fld id="{5B4A74C5-79B0-4340-9A8D-1CCBE3E8C644}" type="slidenum">
              <a:rPr lang="en-GB" smtClean="0"/>
              <a:pPr/>
              <a:t>‹#›</a:t>
            </a:fld>
            <a:endParaRPr lang="en-GB"/>
          </a:p>
        </p:txBody>
      </p:sp>
    </p:spTree>
    <p:extLst>
      <p:ext uri="{BB962C8B-B14F-4D97-AF65-F5344CB8AC3E}">
        <p14:creationId xmlns:p14="http://schemas.microsoft.com/office/powerpoint/2010/main" val="389495945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3" name="Footnotes Placeholder ">
            <a:extLst>
              <a:ext uri="{FF2B5EF4-FFF2-40B4-BE49-F238E27FC236}">
                <a16:creationId xmlns:a16="http://schemas.microsoft.com/office/drawing/2014/main" id="{3FAC3B17-C3C6-2240-9EBB-956BE767199B}"/>
              </a:ext>
            </a:extLst>
          </p:cNvPr>
          <p:cNvSpPr>
            <a:spLocks noGrp="1"/>
          </p:cNvSpPr>
          <p:nvPr>
            <p:ph type="body" sz="quarter" idx="13" hasCustomPrompt="1"/>
          </p:nvPr>
        </p:nvSpPr>
        <p:spPr>
          <a:xfrm>
            <a:off x="500811" y="6065838"/>
            <a:ext cx="11085447" cy="392112"/>
          </a:xfrm>
        </p:spPr>
        <p:txBody>
          <a:bodyPr/>
          <a:lstStyle>
            <a:lvl1pPr>
              <a:spcAft>
                <a:spcPts val="0"/>
              </a:spcAft>
              <a:defRPr sz="800"/>
            </a:lvl1pPr>
            <a:lvl2pPr>
              <a:defRPr sz="800"/>
            </a:lvl2pPr>
            <a:lvl3pPr>
              <a:defRPr sz="800"/>
            </a:lvl3pPr>
            <a:lvl4pPr>
              <a:defRPr sz="800"/>
            </a:lvl4pPr>
            <a:lvl5pPr>
              <a:defRPr sz="800"/>
            </a:lvl5pPr>
          </a:lstStyle>
          <a:p>
            <a:pPr lvl="0"/>
            <a:r>
              <a:rPr lang="en-US"/>
              <a:t> * Tied directly to information on page</a:t>
            </a:r>
            <a:br>
              <a:rPr lang="en-US"/>
            </a:br>
            <a:r>
              <a:rPr lang="en-US"/>
              <a:t>** Tied directly to information on page</a:t>
            </a:r>
            <a:br>
              <a:rPr lang="en-US"/>
            </a:br>
            <a:r>
              <a:rPr lang="en-US"/>
              <a:t>Source: Source information goes here</a:t>
            </a:r>
          </a:p>
        </p:txBody>
      </p:sp>
      <p:sp>
        <p:nvSpPr>
          <p:cNvPr id="5" name="Date Placeholder ">
            <a:extLst>
              <a:ext uri="{FF2B5EF4-FFF2-40B4-BE49-F238E27FC236}">
                <a16:creationId xmlns:a16="http://schemas.microsoft.com/office/drawing/2014/main" id="{60E09F45-A703-9F41-A7AC-D760BBC32423}"/>
              </a:ext>
            </a:extLst>
          </p:cNvPr>
          <p:cNvSpPr>
            <a:spLocks noGrp="1"/>
          </p:cNvSpPr>
          <p:nvPr>
            <p:ph type="dt" sz="half" idx="10"/>
          </p:nvPr>
        </p:nvSpPr>
        <p:spPr/>
        <p:txBody>
          <a:bodyPr/>
          <a:lstStyle/>
          <a:p>
            <a:pPr algn="l"/>
            <a:r>
              <a:rPr lang="en-US"/>
              <a:t>6/14/21</a:t>
            </a:r>
            <a:endParaRPr lang="en-GB"/>
          </a:p>
        </p:txBody>
      </p:sp>
      <p:sp>
        <p:nvSpPr>
          <p:cNvPr id="6" name="Footer Placeholder ">
            <a:extLst>
              <a:ext uri="{FF2B5EF4-FFF2-40B4-BE49-F238E27FC236}">
                <a16:creationId xmlns:a16="http://schemas.microsoft.com/office/drawing/2014/main" id="{C2270D36-A2C7-154C-9135-54D930ABCBD4}"/>
              </a:ext>
            </a:extLst>
          </p:cNvPr>
          <p:cNvSpPr>
            <a:spLocks noGrp="1"/>
          </p:cNvSpPr>
          <p:nvPr>
            <p:ph type="ftr" sz="quarter" idx="11"/>
          </p:nvPr>
        </p:nvSpPr>
        <p:spPr/>
        <p:txBody>
          <a:bodyPr/>
          <a:lstStyle/>
          <a:p>
            <a:r>
              <a:rPr lang="en-GB"/>
              <a:t>To create or edit a header or footer, go to Insert &gt; Header &amp; Footer</a:t>
            </a:r>
          </a:p>
        </p:txBody>
      </p:sp>
      <p:sp>
        <p:nvSpPr>
          <p:cNvPr id="7" name="Slide Number Placeholder ">
            <a:extLst>
              <a:ext uri="{FF2B5EF4-FFF2-40B4-BE49-F238E27FC236}">
                <a16:creationId xmlns:a16="http://schemas.microsoft.com/office/drawing/2014/main" id="{9D40C9F8-AC3E-7D46-97A2-EA339B41671B}"/>
              </a:ext>
            </a:extLst>
          </p:cNvPr>
          <p:cNvSpPr>
            <a:spLocks noGrp="1"/>
          </p:cNvSpPr>
          <p:nvPr>
            <p:ph type="sldNum" sz="quarter" idx="12"/>
          </p:nvPr>
        </p:nvSpPr>
        <p:spPr/>
        <p:txBody>
          <a:bodyPr/>
          <a:lstStyle/>
          <a:p>
            <a:fld id="{5B4A74C5-79B0-4340-9A8D-1CCBE3E8C644}" type="slidenum">
              <a:rPr lang="en-GB" smtClean="0"/>
              <a:pPr/>
              <a:t>‹#›</a:t>
            </a:fld>
            <a:endParaRPr lang="en-GB"/>
          </a:p>
        </p:txBody>
      </p:sp>
    </p:spTree>
    <p:extLst>
      <p:ext uri="{BB962C8B-B14F-4D97-AF65-F5344CB8AC3E}">
        <p14:creationId xmlns:p14="http://schemas.microsoft.com/office/powerpoint/2010/main" val="172219309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Logo on White">
    <p:spTree>
      <p:nvGrpSpPr>
        <p:cNvPr id="1" name=""/>
        <p:cNvGrpSpPr/>
        <p:nvPr/>
      </p:nvGrpSpPr>
      <p:grpSpPr>
        <a:xfrm>
          <a:off x="0" y="0"/>
          <a:ext cx="0" cy="0"/>
          <a:chOff x="0" y="0"/>
          <a:chExt cx="0" cy="0"/>
        </a:xfrm>
      </p:grpSpPr>
      <p:pic>
        <p:nvPicPr>
          <p:cNvPr id="9" name="Nationwide logo" descr="Nationwide is on your side">
            <a:extLst>
              <a:ext uri="{FF2B5EF4-FFF2-40B4-BE49-F238E27FC236}">
                <a16:creationId xmlns:a16="http://schemas.microsoft.com/office/drawing/2014/main" id="{735E16E3-4132-AC44-AF78-D6413EE3263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721958" y="1510145"/>
            <a:ext cx="2748084" cy="3079470"/>
          </a:xfrm>
          <a:prstGeom prst="rect">
            <a:avLst/>
          </a:prstGeom>
        </p:spPr>
      </p:pic>
      <p:sp>
        <p:nvSpPr>
          <p:cNvPr id="10" name="Disclosure">
            <a:extLst>
              <a:ext uri="{FF2B5EF4-FFF2-40B4-BE49-F238E27FC236}">
                <a16:creationId xmlns:a16="http://schemas.microsoft.com/office/drawing/2014/main" id="{99DF508A-52F7-2F45-A298-5B4B4AE865F3}"/>
              </a:ext>
            </a:extLst>
          </p:cNvPr>
          <p:cNvSpPr txBox="1"/>
          <p:nvPr userDrawn="1"/>
        </p:nvSpPr>
        <p:spPr>
          <a:xfrm>
            <a:off x="514350" y="6057900"/>
            <a:ext cx="11072813" cy="271463"/>
          </a:xfrm>
          <a:prstGeom prst="rect">
            <a:avLst/>
          </a:prstGeom>
          <a:noFill/>
        </p:spPr>
        <p:txBody>
          <a:bodyPr wrap="square" lIns="0" tIns="0" rIns="0" bIns="0" rtlCol="0">
            <a:noAutofit/>
          </a:bodyPr>
          <a:lstStyle/>
          <a:p>
            <a:pPr lvl="0" algn="ctr"/>
            <a:r>
              <a:rPr lang="en-US" sz="1200">
                <a:solidFill>
                  <a:schemeClr val="tx1"/>
                </a:solidFill>
              </a:rPr>
              <a:t>Nationwide, the Nationwide N and Eagle and Nationwide is on your side are service marks of Nationwide Mutual Insurance Company. © 2021 Nationwide</a:t>
            </a:r>
          </a:p>
        </p:txBody>
      </p:sp>
    </p:spTree>
    <p:extLst>
      <p:ext uri="{BB962C8B-B14F-4D97-AF65-F5344CB8AC3E}">
        <p14:creationId xmlns:p14="http://schemas.microsoft.com/office/powerpoint/2010/main" val="378096969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Logo on Vibrant Blue">
    <p:spTree>
      <p:nvGrpSpPr>
        <p:cNvPr id="1" name=""/>
        <p:cNvGrpSpPr/>
        <p:nvPr/>
      </p:nvGrpSpPr>
      <p:grpSpPr>
        <a:xfrm>
          <a:off x="0" y="0"/>
          <a:ext cx="0" cy="0"/>
          <a:chOff x="0" y="0"/>
          <a:chExt cx="0" cy="0"/>
        </a:xfrm>
      </p:grpSpPr>
      <p:sp>
        <p:nvSpPr>
          <p:cNvPr id="3" name="Vibrant Blue Rectangle">
            <a:extLst>
              <a:ext uri="{FF2B5EF4-FFF2-40B4-BE49-F238E27FC236}">
                <a16:creationId xmlns:a16="http://schemas.microsoft.com/office/drawing/2014/main" id="{974E5EC6-32D6-5C47-8639-E32AAB21827A}"/>
              </a:ext>
              <a:ext uri="{C183D7F6-B498-43B3-948B-1728B52AA6E4}">
                <adec:decorative xmlns:adec="http://schemas.microsoft.com/office/drawing/2017/decorative" val="1"/>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lnSpc>
                <a:spcPct val="90000"/>
              </a:lnSpc>
            </a:pPr>
            <a:endParaRPr lang="en-US" sz="1600" err="1">
              <a:solidFill>
                <a:schemeClr val="bg1"/>
              </a:solidFill>
            </a:endParaRPr>
          </a:p>
        </p:txBody>
      </p:sp>
      <p:pic>
        <p:nvPicPr>
          <p:cNvPr id="6" name="Nationwide logo" descr="Nationwide is on your side">
            <a:extLst>
              <a:ext uri="{FF2B5EF4-FFF2-40B4-BE49-F238E27FC236}">
                <a16:creationId xmlns:a16="http://schemas.microsoft.com/office/drawing/2014/main" id="{B7F4BB52-368D-0E44-B23C-28DF8ABEDF0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724540" y="1496143"/>
            <a:ext cx="2742919" cy="3065615"/>
          </a:xfrm>
          <a:prstGeom prst="rect">
            <a:avLst/>
          </a:prstGeom>
        </p:spPr>
      </p:pic>
      <p:sp>
        <p:nvSpPr>
          <p:cNvPr id="4" name="Disclosure">
            <a:extLst>
              <a:ext uri="{FF2B5EF4-FFF2-40B4-BE49-F238E27FC236}">
                <a16:creationId xmlns:a16="http://schemas.microsoft.com/office/drawing/2014/main" id="{9D53D93B-2993-314E-A94A-47414D98DE59}"/>
              </a:ext>
            </a:extLst>
          </p:cNvPr>
          <p:cNvSpPr txBox="1"/>
          <p:nvPr userDrawn="1"/>
        </p:nvSpPr>
        <p:spPr>
          <a:xfrm>
            <a:off x="514350" y="6057900"/>
            <a:ext cx="11072813" cy="271463"/>
          </a:xfrm>
          <a:prstGeom prst="rect">
            <a:avLst/>
          </a:prstGeom>
          <a:noFill/>
        </p:spPr>
        <p:txBody>
          <a:bodyPr wrap="square" lIns="0" tIns="0" rIns="0" bIns="0" rtlCol="0">
            <a:noAutofit/>
          </a:bodyPr>
          <a:lstStyle/>
          <a:p>
            <a:pPr lvl="0" algn="ctr"/>
            <a:r>
              <a:rPr lang="en-US" sz="1200">
                <a:solidFill>
                  <a:schemeClr val="bg1"/>
                </a:solidFill>
              </a:rPr>
              <a:t>Nationwide, the Nationwide N and Eagle and Nationwide is on your side are service marks of Nationwide Mutual Insurance Company. © 2022 Nationwide</a:t>
            </a:r>
          </a:p>
        </p:txBody>
      </p:sp>
    </p:spTree>
    <p:extLst>
      <p:ext uri="{BB962C8B-B14F-4D97-AF65-F5344CB8AC3E}">
        <p14:creationId xmlns:p14="http://schemas.microsoft.com/office/powerpoint/2010/main" val="35084451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04800" y="228600"/>
            <a:ext cx="11176000" cy="561974"/>
          </a:xfrm>
        </p:spPr>
        <p:txBody>
          <a:bodyPr bIns="0" anchor="b" anchorCtr="0">
            <a:normAutofit/>
          </a:bodyPr>
          <a:lstStyle>
            <a:lvl1pPr algn="l">
              <a:lnSpc>
                <a:spcPts val="2680"/>
              </a:lnSpc>
              <a:defRPr sz="2400" b="1" baseline="0">
                <a:solidFill>
                  <a:srgbClr val="000000"/>
                </a:solidFill>
                <a:latin typeface="Arial" pitchFamily="34" charset="0"/>
                <a:cs typeface="Arial" pitchFamily="34" charset="0"/>
              </a:defRPr>
            </a:lvl1pPr>
          </a:lstStyle>
          <a:p>
            <a:r>
              <a:rPr lang="en-US"/>
              <a:t>Headline (24 pt, Arial, Bold) </a:t>
            </a:r>
            <a:br>
              <a:rPr lang="en-US"/>
            </a:br>
            <a:r>
              <a:rPr lang="en-US"/>
              <a:t>headline can wrap if necessary</a:t>
            </a:r>
          </a:p>
        </p:txBody>
      </p:sp>
      <p:sp>
        <p:nvSpPr>
          <p:cNvPr id="3" name="Content Placeholder 2"/>
          <p:cNvSpPr>
            <a:spLocks noGrp="1"/>
          </p:cNvSpPr>
          <p:nvPr>
            <p:ph idx="1"/>
          </p:nvPr>
        </p:nvSpPr>
        <p:spPr>
          <a:xfrm>
            <a:off x="304800" y="1066800"/>
            <a:ext cx="11582400" cy="4343400"/>
          </a:xfrm>
        </p:spPr>
        <p:txBody>
          <a:bodyPr>
            <a:normAutofit/>
          </a:bodyPr>
          <a:lstStyle>
            <a:lvl1pPr>
              <a:defRPr sz="1600" baseline="0">
                <a:latin typeface="Arial" pitchFamily="34" charset="0"/>
                <a:cs typeface="Arial" pitchFamily="34" charset="0"/>
              </a:defRPr>
            </a:lvl1pPr>
            <a:lvl2pPr>
              <a:defRPr sz="1600" baseline="0">
                <a:latin typeface="Arial" pitchFamily="34" charset="0"/>
                <a:cs typeface="Arial" pitchFamily="34" charset="0"/>
              </a:defRPr>
            </a:lvl2pPr>
            <a:lvl3pPr>
              <a:defRPr sz="1600" baseline="0">
                <a:latin typeface="Arial" pitchFamily="34" charset="0"/>
                <a:cs typeface="Arial" pitchFamily="34" charset="0"/>
              </a:defRPr>
            </a:lvl3pPr>
            <a:lvl4pPr>
              <a:defRPr sz="1600" baseline="0">
                <a:latin typeface="Arial" pitchFamily="34" charset="0"/>
                <a:cs typeface="Arial" pitchFamily="34" charset="0"/>
              </a:defRPr>
            </a:lvl4pPr>
            <a:lvl5pPr>
              <a:defRPr sz="1600" baseline="0">
                <a:latin typeface="Arial" pitchFamily="34" charset="0"/>
                <a:cs typeface="Arial"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Straight Connector 6"/>
          <p:cNvCxnSpPr/>
          <p:nvPr userDrawn="1"/>
        </p:nvCxnSpPr>
        <p:spPr>
          <a:xfrm>
            <a:off x="304800" y="836612"/>
            <a:ext cx="11582400" cy="1588"/>
          </a:xfrm>
          <a:prstGeom prst="line">
            <a:avLst/>
          </a:prstGeom>
          <a:ln w="6350">
            <a:solidFill>
              <a:schemeClr val="bg1">
                <a:lumMod val="50000"/>
              </a:schemeClr>
            </a:solidFill>
            <a:prstDash val="solid"/>
          </a:ln>
        </p:spPr>
        <p:style>
          <a:lnRef idx="1">
            <a:schemeClr val="accent1"/>
          </a:lnRef>
          <a:fillRef idx="0">
            <a:schemeClr val="accent1"/>
          </a:fillRef>
          <a:effectRef idx="0">
            <a:schemeClr val="accent1"/>
          </a:effectRef>
          <a:fontRef idx="minor">
            <a:schemeClr val="tx1"/>
          </a:fontRef>
        </p:style>
      </p:cxnSp>
      <p:pic>
        <p:nvPicPr>
          <p:cNvPr id="13" name="Picture 12" descr="NandEagle-Vert-NW-3C_600.png">
            <a:extLst>
              <a:ext uri="{FF2B5EF4-FFF2-40B4-BE49-F238E27FC236}">
                <a16:creationId xmlns:a16="http://schemas.microsoft.com/office/drawing/2014/main" id="{448C193B-BEEC-454B-AEFC-4CCB8C26EDB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28600" y="6602880"/>
            <a:ext cx="173159" cy="173736"/>
          </a:xfrm>
          <a:prstGeom prst="rect">
            <a:avLst/>
          </a:prstGeom>
        </p:spPr>
      </p:pic>
      <p:sp>
        <p:nvSpPr>
          <p:cNvPr id="15" name="Slide Number Placeholder 5">
            <a:extLst>
              <a:ext uri="{FF2B5EF4-FFF2-40B4-BE49-F238E27FC236}">
                <a16:creationId xmlns:a16="http://schemas.microsoft.com/office/drawing/2014/main" id="{380D7736-C904-42A3-919A-029F734C5948}"/>
              </a:ext>
            </a:extLst>
          </p:cNvPr>
          <p:cNvSpPr>
            <a:spLocks noGrp="1"/>
          </p:cNvSpPr>
          <p:nvPr>
            <p:ph type="sldNum" sz="quarter" idx="12"/>
          </p:nvPr>
        </p:nvSpPr>
        <p:spPr>
          <a:xfrm>
            <a:off x="11074400" y="6598920"/>
            <a:ext cx="812800" cy="182880"/>
          </a:xfrm>
          <a:prstGeom prst="rect">
            <a:avLst/>
          </a:prstGeom>
        </p:spPr>
        <p:txBody>
          <a:bodyPr anchor="t" anchorCtr="0"/>
          <a:lstStyle>
            <a:lvl1pPr>
              <a:defRPr sz="800" b="1">
                <a:solidFill>
                  <a:schemeClr val="tx1"/>
                </a:solidFill>
                <a:latin typeface="Arial" pitchFamily="34" charset="0"/>
                <a:cs typeface="Arial" pitchFamily="34" charset="0"/>
              </a:defRPr>
            </a:lvl1pPr>
          </a:lstStyle>
          <a:p>
            <a:r>
              <a:rPr lang="en-US"/>
              <a:t>1</a:t>
            </a:r>
          </a:p>
        </p:txBody>
      </p:sp>
    </p:spTree>
    <p:extLst>
      <p:ext uri="{BB962C8B-B14F-4D97-AF65-F5344CB8AC3E}">
        <p14:creationId xmlns:p14="http://schemas.microsoft.com/office/powerpoint/2010/main" val="18068334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cSld name="1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2543A9-3564-4F63-BA2E-A27814223CA9}"/>
              </a:ext>
            </a:extLst>
          </p:cNvPr>
          <p:cNvSpPr>
            <a:spLocks noGrp="1"/>
          </p:cNvSpPr>
          <p:nvPr>
            <p:ph type="title"/>
          </p:nvPr>
        </p:nvSpPr>
        <p:spPr/>
        <p:txBody>
          <a:bodyPr/>
          <a:lstStyle/>
          <a:p>
            <a:r>
              <a:rPr lang="en-US"/>
              <a:t>Click to edit Master title style</a:t>
            </a:r>
            <a:endParaRPr lang="en-GB"/>
          </a:p>
        </p:txBody>
      </p:sp>
      <p:sp>
        <p:nvSpPr>
          <p:cNvPr id="6" name="Date Placeholder 5">
            <a:extLst>
              <a:ext uri="{FF2B5EF4-FFF2-40B4-BE49-F238E27FC236}">
                <a16:creationId xmlns:a16="http://schemas.microsoft.com/office/drawing/2014/main" id="{BAB7DA8D-25AF-774D-BDBF-FFABEF37DF62}"/>
              </a:ext>
            </a:extLst>
          </p:cNvPr>
          <p:cNvSpPr>
            <a:spLocks noGrp="1"/>
          </p:cNvSpPr>
          <p:nvPr>
            <p:ph type="dt" sz="half" idx="10"/>
          </p:nvPr>
        </p:nvSpPr>
        <p:spPr>
          <a:xfrm>
            <a:off x="5126407" y="6597656"/>
            <a:ext cx="790213" cy="260349"/>
          </a:xfrm>
          <a:prstGeom prst="rect">
            <a:avLst/>
          </a:prstGeom>
        </p:spPr>
        <p:txBody>
          <a:bodyPr/>
          <a:lstStyle/>
          <a:p>
            <a:fld id="{A965E180-303A-4E15-80BE-2F286FBCA33E}" type="datetimeFigureOut">
              <a:rPr lang="en-US" smtClean="0"/>
              <a:t>9/1/2026</a:t>
            </a:fld>
            <a:endParaRPr lang="en-US"/>
          </a:p>
        </p:txBody>
      </p:sp>
      <p:sp>
        <p:nvSpPr>
          <p:cNvPr id="7" name="Footer Placeholder 6">
            <a:extLst>
              <a:ext uri="{FF2B5EF4-FFF2-40B4-BE49-F238E27FC236}">
                <a16:creationId xmlns:a16="http://schemas.microsoft.com/office/drawing/2014/main" id="{21D5EFB8-0EE1-544B-BDDD-2AE5CEED69DB}"/>
              </a:ext>
            </a:extLst>
          </p:cNvPr>
          <p:cNvSpPr>
            <a:spLocks noGrp="1"/>
          </p:cNvSpPr>
          <p:nvPr>
            <p:ph type="ftr" sz="quarter" idx="11"/>
          </p:nvPr>
        </p:nvSpPr>
        <p:spPr/>
        <p:txBody>
          <a:bodyPr/>
          <a:lstStyle/>
          <a:p>
            <a:endParaRPr lang="en-US"/>
          </a:p>
        </p:txBody>
      </p:sp>
      <p:sp>
        <p:nvSpPr>
          <p:cNvPr id="8" name="Slide Number Placeholder 7">
            <a:extLst>
              <a:ext uri="{FF2B5EF4-FFF2-40B4-BE49-F238E27FC236}">
                <a16:creationId xmlns:a16="http://schemas.microsoft.com/office/drawing/2014/main" id="{3CBBAC67-0E50-2949-876E-ACCE3F2EABFC}"/>
              </a:ext>
            </a:extLst>
          </p:cNvPr>
          <p:cNvSpPr>
            <a:spLocks noGrp="1"/>
          </p:cNvSpPr>
          <p:nvPr>
            <p:ph type="sldNum" sz="quarter" idx="12"/>
          </p:nvPr>
        </p:nvSpPr>
        <p:spPr/>
        <p:txBody>
          <a:bodyPr/>
          <a:lstStyle/>
          <a:p>
            <a:fld id="{26E2892A-E12F-44F8-9FFC-8CD84CE31763}" type="slidenum">
              <a:rPr lang="en-US" smtClean="0"/>
              <a:t>‹#›</a:t>
            </a:fld>
            <a:endParaRPr lang="en-US"/>
          </a:p>
        </p:txBody>
      </p:sp>
    </p:spTree>
    <p:extLst>
      <p:ext uri="{BB962C8B-B14F-4D97-AF65-F5344CB8AC3E}">
        <p14:creationId xmlns:p14="http://schemas.microsoft.com/office/powerpoint/2010/main" val="257698282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Blank with Title">
    <p:spTree>
      <p:nvGrpSpPr>
        <p:cNvPr id="1" name=""/>
        <p:cNvGrpSpPr/>
        <p:nvPr/>
      </p:nvGrpSpPr>
      <p:grpSpPr>
        <a:xfrm>
          <a:off x="0" y="0"/>
          <a:ext cx="0" cy="0"/>
          <a:chOff x="0" y="0"/>
          <a:chExt cx="0" cy="0"/>
        </a:xfrm>
      </p:grpSpPr>
      <p:sp>
        <p:nvSpPr>
          <p:cNvPr id="5" name="Title 4"/>
          <p:cNvSpPr>
            <a:spLocks noGrp="1"/>
          </p:cNvSpPr>
          <p:nvPr>
            <p:ph type="title"/>
          </p:nvPr>
        </p:nvSpPr>
        <p:spPr>
          <a:xfrm>
            <a:off x="304802" y="428276"/>
            <a:ext cx="9395791" cy="369332"/>
          </a:xfrm>
          <a:prstGeom prst="rect">
            <a:avLst/>
          </a:prstGeom>
        </p:spPr>
        <p:txBody>
          <a:bodyPr/>
          <a:lstStyle>
            <a:lvl1pPr>
              <a:defRPr sz="2400"/>
            </a:lvl1pPr>
          </a:lstStyle>
          <a:p>
            <a:r>
              <a:rPr lang="en-US"/>
              <a:t>Click to edit Master title style</a:t>
            </a:r>
          </a:p>
        </p:txBody>
      </p:sp>
    </p:spTree>
    <p:extLst>
      <p:ext uri="{BB962C8B-B14F-4D97-AF65-F5344CB8AC3E}">
        <p14:creationId xmlns:p14="http://schemas.microsoft.com/office/powerpoint/2010/main" val="393054720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139360-9BBF-A8AF-B4A3-BBB50A611FA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C2DD264-5A56-760E-0E94-2CD9D794BB9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461E5E5-1AAF-BED0-EB47-8DD4D82E24ED}"/>
              </a:ext>
            </a:extLst>
          </p:cNvPr>
          <p:cNvSpPr>
            <a:spLocks noGrp="1"/>
          </p:cNvSpPr>
          <p:nvPr>
            <p:ph type="dt" sz="half" idx="10"/>
          </p:nvPr>
        </p:nvSpPr>
        <p:spPr/>
        <p:txBody>
          <a:bodyPr/>
          <a:lstStyle/>
          <a:p>
            <a:fld id="{57C66F3F-3937-4267-85C4-09A8DBA433E1}" type="datetimeFigureOut">
              <a:rPr lang="en-US" smtClean="0"/>
              <a:t>9/1/2026</a:t>
            </a:fld>
            <a:endParaRPr lang="en-US"/>
          </a:p>
        </p:txBody>
      </p:sp>
      <p:sp>
        <p:nvSpPr>
          <p:cNvPr id="5" name="Footer Placeholder 4">
            <a:extLst>
              <a:ext uri="{FF2B5EF4-FFF2-40B4-BE49-F238E27FC236}">
                <a16:creationId xmlns:a16="http://schemas.microsoft.com/office/drawing/2014/main" id="{BB27E4C6-55BE-4857-6459-725A1A88061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5DFA6C5-EB89-87D4-31DF-5D49A97BB640}"/>
              </a:ext>
            </a:extLst>
          </p:cNvPr>
          <p:cNvSpPr>
            <a:spLocks noGrp="1"/>
          </p:cNvSpPr>
          <p:nvPr>
            <p:ph type="sldNum" sz="quarter" idx="12"/>
          </p:nvPr>
        </p:nvSpPr>
        <p:spPr/>
        <p:txBody>
          <a:bodyPr/>
          <a:lstStyle/>
          <a:p>
            <a:fld id="{8D159209-E10C-4C7C-9E44-A25BAD9EEF6C}" type="slidenum">
              <a:rPr lang="en-US" smtClean="0"/>
              <a:t>‹#›</a:t>
            </a:fld>
            <a:endParaRPr lang="en-US"/>
          </a:p>
        </p:txBody>
      </p:sp>
    </p:spTree>
    <p:extLst>
      <p:ext uri="{BB962C8B-B14F-4D97-AF65-F5344CB8AC3E}">
        <p14:creationId xmlns:p14="http://schemas.microsoft.com/office/powerpoint/2010/main" val="101854245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ED5A3F-CCD5-C107-6B30-E2E809F808B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FDF2FCE-DB21-6B7C-F7BA-F455F0B34F4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CB68547-2423-6001-BB44-9961F28B2FB5}"/>
              </a:ext>
            </a:extLst>
          </p:cNvPr>
          <p:cNvSpPr>
            <a:spLocks noGrp="1"/>
          </p:cNvSpPr>
          <p:nvPr>
            <p:ph type="dt" sz="half" idx="10"/>
          </p:nvPr>
        </p:nvSpPr>
        <p:spPr/>
        <p:txBody>
          <a:bodyPr/>
          <a:lstStyle/>
          <a:p>
            <a:fld id="{57C66F3F-3937-4267-85C4-09A8DBA433E1}" type="datetimeFigureOut">
              <a:rPr lang="en-US" smtClean="0"/>
              <a:t>9/1/2026</a:t>
            </a:fld>
            <a:endParaRPr lang="en-US"/>
          </a:p>
        </p:txBody>
      </p:sp>
      <p:sp>
        <p:nvSpPr>
          <p:cNvPr id="5" name="Footer Placeholder 4">
            <a:extLst>
              <a:ext uri="{FF2B5EF4-FFF2-40B4-BE49-F238E27FC236}">
                <a16:creationId xmlns:a16="http://schemas.microsoft.com/office/drawing/2014/main" id="{192EFBCF-DD46-E101-948B-B1BC46A169A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857E51A-45F7-2E57-D744-11C051982CAF}"/>
              </a:ext>
            </a:extLst>
          </p:cNvPr>
          <p:cNvSpPr>
            <a:spLocks noGrp="1"/>
          </p:cNvSpPr>
          <p:nvPr>
            <p:ph type="sldNum" sz="quarter" idx="12"/>
          </p:nvPr>
        </p:nvSpPr>
        <p:spPr/>
        <p:txBody>
          <a:bodyPr/>
          <a:lstStyle/>
          <a:p>
            <a:fld id="{8D159209-E10C-4C7C-9E44-A25BAD9EEF6C}" type="slidenum">
              <a:rPr lang="en-US" smtClean="0"/>
              <a:t>‹#›</a:t>
            </a:fld>
            <a:endParaRPr lang="en-US"/>
          </a:p>
        </p:txBody>
      </p:sp>
    </p:spTree>
    <p:extLst>
      <p:ext uri="{BB962C8B-B14F-4D97-AF65-F5344CB8AC3E}">
        <p14:creationId xmlns:p14="http://schemas.microsoft.com/office/powerpoint/2010/main" val="252937110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F521D8-48DF-0C82-7F2F-09102B78D63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C38FE54-B525-A67A-AD50-827BC90847E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DE9FA0D-B4EF-4D90-17AA-B9C71F281816}"/>
              </a:ext>
            </a:extLst>
          </p:cNvPr>
          <p:cNvSpPr>
            <a:spLocks noGrp="1"/>
          </p:cNvSpPr>
          <p:nvPr>
            <p:ph type="dt" sz="half" idx="10"/>
          </p:nvPr>
        </p:nvSpPr>
        <p:spPr/>
        <p:txBody>
          <a:bodyPr/>
          <a:lstStyle/>
          <a:p>
            <a:fld id="{57C66F3F-3937-4267-85C4-09A8DBA433E1}" type="datetimeFigureOut">
              <a:rPr lang="en-US" smtClean="0"/>
              <a:t>9/1/2026</a:t>
            </a:fld>
            <a:endParaRPr lang="en-US"/>
          </a:p>
        </p:txBody>
      </p:sp>
      <p:sp>
        <p:nvSpPr>
          <p:cNvPr id="5" name="Footer Placeholder 4">
            <a:extLst>
              <a:ext uri="{FF2B5EF4-FFF2-40B4-BE49-F238E27FC236}">
                <a16:creationId xmlns:a16="http://schemas.microsoft.com/office/drawing/2014/main" id="{43E77794-EFB6-A8D8-83B1-C28823C6482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D4CFD09-621B-FA19-C35E-DBDCD5D65482}"/>
              </a:ext>
            </a:extLst>
          </p:cNvPr>
          <p:cNvSpPr>
            <a:spLocks noGrp="1"/>
          </p:cNvSpPr>
          <p:nvPr>
            <p:ph type="sldNum" sz="quarter" idx="12"/>
          </p:nvPr>
        </p:nvSpPr>
        <p:spPr/>
        <p:txBody>
          <a:bodyPr/>
          <a:lstStyle/>
          <a:p>
            <a:fld id="{8D159209-E10C-4C7C-9E44-A25BAD9EEF6C}" type="slidenum">
              <a:rPr lang="en-US" smtClean="0"/>
              <a:t>‹#›</a:t>
            </a:fld>
            <a:endParaRPr lang="en-US"/>
          </a:p>
        </p:txBody>
      </p:sp>
    </p:spTree>
    <p:extLst>
      <p:ext uri="{BB962C8B-B14F-4D97-AF65-F5344CB8AC3E}">
        <p14:creationId xmlns:p14="http://schemas.microsoft.com/office/powerpoint/2010/main" val="346313678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B8B1D1-9D20-9273-CE58-84703FBF754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85E9BC9-4B1F-4284-A2CE-11C54BCD09D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28C5AE0-2E69-1424-0531-970A0DCD953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32F868D-5587-D4E3-1765-70A369E6D783}"/>
              </a:ext>
            </a:extLst>
          </p:cNvPr>
          <p:cNvSpPr>
            <a:spLocks noGrp="1"/>
          </p:cNvSpPr>
          <p:nvPr>
            <p:ph type="dt" sz="half" idx="10"/>
          </p:nvPr>
        </p:nvSpPr>
        <p:spPr/>
        <p:txBody>
          <a:bodyPr/>
          <a:lstStyle/>
          <a:p>
            <a:fld id="{57C66F3F-3937-4267-85C4-09A8DBA433E1}" type="datetimeFigureOut">
              <a:rPr lang="en-US" smtClean="0"/>
              <a:t>9/1/2026</a:t>
            </a:fld>
            <a:endParaRPr lang="en-US"/>
          </a:p>
        </p:txBody>
      </p:sp>
      <p:sp>
        <p:nvSpPr>
          <p:cNvPr id="6" name="Footer Placeholder 5">
            <a:extLst>
              <a:ext uri="{FF2B5EF4-FFF2-40B4-BE49-F238E27FC236}">
                <a16:creationId xmlns:a16="http://schemas.microsoft.com/office/drawing/2014/main" id="{00E013D8-B366-2FDD-148E-BB31B3FA511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2CA13AE-1914-939E-50FF-F9DEA2C98BD0}"/>
              </a:ext>
            </a:extLst>
          </p:cNvPr>
          <p:cNvSpPr>
            <a:spLocks noGrp="1"/>
          </p:cNvSpPr>
          <p:nvPr>
            <p:ph type="sldNum" sz="quarter" idx="12"/>
          </p:nvPr>
        </p:nvSpPr>
        <p:spPr/>
        <p:txBody>
          <a:bodyPr/>
          <a:lstStyle/>
          <a:p>
            <a:fld id="{8D159209-E10C-4C7C-9E44-A25BAD9EEF6C}" type="slidenum">
              <a:rPr lang="en-US" smtClean="0"/>
              <a:t>‹#›</a:t>
            </a:fld>
            <a:endParaRPr lang="en-US"/>
          </a:p>
        </p:txBody>
      </p:sp>
    </p:spTree>
    <p:extLst>
      <p:ext uri="{BB962C8B-B14F-4D97-AF65-F5344CB8AC3E}">
        <p14:creationId xmlns:p14="http://schemas.microsoft.com/office/powerpoint/2010/main" val="128589099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EBF56F-3FA0-FA17-47C3-BBF4F2378A2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0D191C9-9A74-5022-18C9-032BD8DB0E8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7766B45-3F18-1380-E04A-3167BF1FB19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C3DAF49-F0B6-595A-17E0-2FAF8D058A2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AA414B5-79CA-F639-9312-682B847FE38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0F7E758-C4F8-9532-D582-C037A182C2BE}"/>
              </a:ext>
            </a:extLst>
          </p:cNvPr>
          <p:cNvSpPr>
            <a:spLocks noGrp="1"/>
          </p:cNvSpPr>
          <p:nvPr>
            <p:ph type="dt" sz="half" idx="10"/>
          </p:nvPr>
        </p:nvSpPr>
        <p:spPr/>
        <p:txBody>
          <a:bodyPr/>
          <a:lstStyle/>
          <a:p>
            <a:fld id="{57C66F3F-3937-4267-85C4-09A8DBA433E1}" type="datetimeFigureOut">
              <a:rPr lang="en-US" smtClean="0"/>
              <a:t>9/1/2026</a:t>
            </a:fld>
            <a:endParaRPr lang="en-US"/>
          </a:p>
        </p:txBody>
      </p:sp>
      <p:sp>
        <p:nvSpPr>
          <p:cNvPr id="8" name="Footer Placeholder 7">
            <a:extLst>
              <a:ext uri="{FF2B5EF4-FFF2-40B4-BE49-F238E27FC236}">
                <a16:creationId xmlns:a16="http://schemas.microsoft.com/office/drawing/2014/main" id="{7A593B55-7727-BFD3-49F8-E760DC6A70A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D48C33A-C3D2-8F69-4684-3D90C2E46448}"/>
              </a:ext>
            </a:extLst>
          </p:cNvPr>
          <p:cNvSpPr>
            <a:spLocks noGrp="1"/>
          </p:cNvSpPr>
          <p:nvPr>
            <p:ph type="sldNum" sz="quarter" idx="12"/>
          </p:nvPr>
        </p:nvSpPr>
        <p:spPr/>
        <p:txBody>
          <a:bodyPr/>
          <a:lstStyle/>
          <a:p>
            <a:fld id="{8D159209-E10C-4C7C-9E44-A25BAD9EEF6C}" type="slidenum">
              <a:rPr lang="en-US" smtClean="0"/>
              <a:t>‹#›</a:t>
            </a:fld>
            <a:endParaRPr lang="en-US"/>
          </a:p>
        </p:txBody>
      </p:sp>
    </p:spTree>
    <p:extLst>
      <p:ext uri="{BB962C8B-B14F-4D97-AF65-F5344CB8AC3E}">
        <p14:creationId xmlns:p14="http://schemas.microsoft.com/office/powerpoint/2010/main" val="334838700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F5A6CD-2240-23C1-F99B-3A4A3EF8C56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2CA8C23-D702-AA2E-E2C9-44F58C9D91AD}"/>
              </a:ext>
            </a:extLst>
          </p:cNvPr>
          <p:cNvSpPr>
            <a:spLocks noGrp="1"/>
          </p:cNvSpPr>
          <p:nvPr>
            <p:ph type="dt" sz="half" idx="10"/>
          </p:nvPr>
        </p:nvSpPr>
        <p:spPr/>
        <p:txBody>
          <a:bodyPr/>
          <a:lstStyle/>
          <a:p>
            <a:fld id="{57C66F3F-3937-4267-85C4-09A8DBA433E1}" type="datetimeFigureOut">
              <a:rPr lang="en-US" smtClean="0"/>
              <a:t>9/1/2026</a:t>
            </a:fld>
            <a:endParaRPr lang="en-US"/>
          </a:p>
        </p:txBody>
      </p:sp>
      <p:sp>
        <p:nvSpPr>
          <p:cNvPr id="4" name="Footer Placeholder 3">
            <a:extLst>
              <a:ext uri="{FF2B5EF4-FFF2-40B4-BE49-F238E27FC236}">
                <a16:creationId xmlns:a16="http://schemas.microsoft.com/office/drawing/2014/main" id="{D6AAC626-A85B-0AE0-C6F8-F57F0303B27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F24BE3F-719B-9287-0D0C-070647FF1B3B}"/>
              </a:ext>
            </a:extLst>
          </p:cNvPr>
          <p:cNvSpPr>
            <a:spLocks noGrp="1"/>
          </p:cNvSpPr>
          <p:nvPr>
            <p:ph type="sldNum" sz="quarter" idx="12"/>
          </p:nvPr>
        </p:nvSpPr>
        <p:spPr/>
        <p:txBody>
          <a:bodyPr/>
          <a:lstStyle/>
          <a:p>
            <a:fld id="{8D159209-E10C-4C7C-9E44-A25BAD9EEF6C}" type="slidenum">
              <a:rPr lang="en-US" smtClean="0"/>
              <a:t>‹#›</a:t>
            </a:fld>
            <a:endParaRPr lang="en-US"/>
          </a:p>
        </p:txBody>
      </p:sp>
    </p:spTree>
    <p:extLst>
      <p:ext uri="{BB962C8B-B14F-4D97-AF65-F5344CB8AC3E}">
        <p14:creationId xmlns:p14="http://schemas.microsoft.com/office/powerpoint/2010/main" val="396346193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92869DF-36A9-2E59-161C-D93F61D21145}"/>
              </a:ext>
            </a:extLst>
          </p:cNvPr>
          <p:cNvSpPr>
            <a:spLocks noGrp="1"/>
          </p:cNvSpPr>
          <p:nvPr>
            <p:ph type="dt" sz="half" idx="10"/>
          </p:nvPr>
        </p:nvSpPr>
        <p:spPr/>
        <p:txBody>
          <a:bodyPr/>
          <a:lstStyle/>
          <a:p>
            <a:fld id="{57C66F3F-3937-4267-85C4-09A8DBA433E1}" type="datetimeFigureOut">
              <a:rPr lang="en-US" smtClean="0"/>
              <a:t>9/1/2026</a:t>
            </a:fld>
            <a:endParaRPr lang="en-US"/>
          </a:p>
        </p:txBody>
      </p:sp>
      <p:sp>
        <p:nvSpPr>
          <p:cNvPr id="3" name="Footer Placeholder 2">
            <a:extLst>
              <a:ext uri="{FF2B5EF4-FFF2-40B4-BE49-F238E27FC236}">
                <a16:creationId xmlns:a16="http://schemas.microsoft.com/office/drawing/2014/main" id="{A5D51DEE-A15D-A85E-5103-1AF80F0F8E3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F7B08E6-55C7-500C-EDBF-7B88E6BDB0BD}"/>
              </a:ext>
            </a:extLst>
          </p:cNvPr>
          <p:cNvSpPr>
            <a:spLocks noGrp="1"/>
          </p:cNvSpPr>
          <p:nvPr>
            <p:ph type="sldNum" sz="quarter" idx="12"/>
          </p:nvPr>
        </p:nvSpPr>
        <p:spPr/>
        <p:txBody>
          <a:bodyPr/>
          <a:lstStyle/>
          <a:p>
            <a:fld id="{8D159209-E10C-4C7C-9E44-A25BAD9EEF6C}" type="slidenum">
              <a:rPr lang="en-US" smtClean="0"/>
              <a:t>‹#›</a:t>
            </a:fld>
            <a:endParaRPr lang="en-US"/>
          </a:p>
        </p:txBody>
      </p:sp>
    </p:spTree>
    <p:extLst>
      <p:ext uri="{BB962C8B-B14F-4D97-AF65-F5344CB8AC3E}">
        <p14:creationId xmlns:p14="http://schemas.microsoft.com/office/powerpoint/2010/main" val="246432582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14E8DE-CF7C-6098-F6D8-44AAA85137F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78C6091-9CAA-0104-DB6A-A11373BA2F4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869F0BD-EE11-CBC4-2976-1F6727EA20A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C22D98C-2C28-C2C7-3E6E-173E7620BE60}"/>
              </a:ext>
            </a:extLst>
          </p:cNvPr>
          <p:cNvSpPr>
            <a:spLocks noGrp="1"/>
          </p:cNvSpPr>
          <p:nvPr>
            <p:ph type="dt" sz="half" idx="10"/>
          </p:nvPr>
        </p:nvSpPr>
        <p:spPr/>
        <p:txBody>
          <a:bodyPr/>
          <a:lstStyle/>
          <a:p>
            <a:fld id="{57C66F3F-3937-4267-85C4-09A8DBA433E1}" type="datetimeFigureOut">
              <a:rPr lang="en-US" smtClean="0"/>
              <a:t>9/1/2026</a:t>
            </a:fld>
            <a:endParaRPr lang="en-US"/>
          </a:p>
        </p:txBody>
      </p:sp>
      <p:sp>
        <p:nvSpPr>
          <p:cNvPr id="6" name="Footer Placeholder 5">
            <a:extLst>
              <a:ext uri="{FF2B5EF4-FFF2-40B4-BE49-F238E27FC236}">
                <a16:creationId xmlns:a16="http://schemas.microsoft.com/office/drawing/2014/main" id="{58603A90-43B8-D86F-67B5-F5BA112E8F3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205BC94-E5AB-2D1C-CA9C-49A5500D6CB0}"/>
              </a:ext>
            </a:extLst>
          </p:cNvPr>
          <p:cNvSpPr>
            <a:spLocks noGrp="1"/>
          </p:cNvSpPr>
          <p:nvPr>
            <p:ph type="sldNum" sz="quarter" idx="12"/>
          </p:nvPr>
        </p:nvSpPr>
        <p:spPr/>
        <p:txBody>
          <a:bodyPr/>
          <a:lstStyle/>
          <a:p>
            <a:fld id="{8D159209-E10C-4C7C-9E44-A25BAD9EEF6C}" type="slidenum">
              <a:rPr lang="en-US" smtClean="0"/>
              <a:t>‹#›</a:t>
            </a:fld>
            <a:endParaRPr lang="en-US"/>
          </a:p>
        </p:txBody>
      </p:sp>
    </p:spTree>
    <p:extLst>
      <p:ext uri="{BB962C8B-B14F-4D97-AF65-F5344CB8AC3E}">
        <p14:creationId xmlns:p14="http://schemas.microsoft.com/office/powerpoint/2010/main" val="240375358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C82B25-0B7E-95FD-5BDE-26F8E2E7215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B14344E-9522-074B-DCA1-018AE0A3E08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053FEA2-7975-AC60-5A87-50718167F0F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7E1B681-842B-016B-0BE3-966A7DB78B5C}"/>
              </a:ext>
            </a:extLst>
          </p:cNvPr>
          <p:cNvSpPr>
            <a:spLocks noGrp="1"/>
          </p:cNvSpPr>
          <p:nvPr>
            <p:ph type="dt" sz="half" idx="10"/>
          </p:nvPr>
        </p:nvSpPr>
        <p:spPr/>
        <p:txBody>
          <a:bodyPr/>
          <a:lstStyle/>
          <a:p>
            <a:fld id="{57C66F3F-3937-4267-85C4-09A8DBA433E1}" type="datetimeFigureOut">
              <a:rPr lang="en-US" smtClean="0"/>
              <a:t>9/1/2026</a:t>
            </a:fld>
            <a:endParaRPr lang="en-US"/>
          </a:p>
        </p:txBody>
      </p:sp>
      <p:sp>
        <p:nvSpPr>
          <p:cNvPr id="6" name="Footer Placeholder 5">
            <a:extLst>
              <a:ext uri="{FF2B5EF4-FFF2-40B4-BE49-F238E27FC236}">
                <a16:creationId xmlns:a16="http://schemas.microsoft.com/office/drawing/2014/main" id="{A1384B68-4B25-8845-229D-E1DFEC48C16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11A238B-6343-A003-3DA4-DABFF50022E9}"/>
              </a:ext>
            </a:extLst>
          </p:cNvPr>
          <p:cNvSpPr>
            <a:spLocks noGrp="1"/>
          </p:cNvSpPr>
          <p:nvPr>
            <p:ph type="sldNum" sz="quarter" idx="12"/>
          </p:nvPr>
        </p:nvSpPr>
        <p:spPr/>
        <p:txBody>
          <a:bodyPr/>
          <a:lstStyle/>
          <a:p>
            <a:fld id="{8D159209-E10C-4C7C-9E44-A25BAD9EEF6C}" type="slidenum">
              <a:rPr lang="en-US" smtClean="0"/>
              <a:t>‹#›</a:t>
            </a:fld>
            <a:endParaRPr lang="en-US"/>
          </a:p>
        </p:txBody>
      </p:sp>
    </p:spTree>
    <p:extLst>
      <p:ext uri="{BB962C8B-B14F-4D97-AF65-F5344CB8AC3E}">
        <p14:creationId xmlns:p14="http://schemas.microsoft.com/office/powerpoint/2010/main" val="249168842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A8D287-32DC-257D-0B37-79345EE341D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3E8A1F6-8AD7-1AE6-30DE-0461786DD39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AC3C29A-0A16-0CF0-933A-C09EEF350FDE}"/>
              </a:ext>
            </a:extLst>
          </p:cNvPr>
          <p:cNvSpPr>
            <a:spLocks noGrp="1"/>
          </p:cNvSpPr>
          <p:nvPr>
            <p:ph type="dt" sz="half" idx="10"/>
          </p:nvPr>
        </p:nvSpPr>
        <p:spPr/>
        <p:txBody>
          <a:bodyPr/>
          <a:lstStyle/>
          <a:p>
            <a:fld id="{57C66F3F-3937-4267-85C4-09A8DBA433E1}" type="datetimeFigureOut">
              <a:rPr lang="en-US" smtClean="0"/>
              <a:t>9/1/2026</a:t>
            </a:fld>
            <a:endParaRPr lang="en-US"/>
          </a:p>
        </p:txBody>
      </p:sp>
      <p:sp>
        <p:nvSpPr>
          <p:cNvPr id="5" name="Footer Placeholder 4">
            <a:extLst>
              <a:ext uri="{FF2B5EF4-FFF2-40B4-BE49-F238E27FC236}">
                <a16:creationId xmlns:a16="http://schemas.microsoft.com/office/drawing/2014/main" id="{3558B0E2-CFEA-DC97-20DC-4105D6F3DE3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449F184-3AE1-EEB8-3E31-4C87757A1F23}"/>
              </a:ext>
            </a:extLst>
          </p:cNvPr>
          <p:cNvSpPr>
            <a:spLocks noGrp="1"/>
          </p:cNvSpPr>
          <p:nvPr>
            <p:ph type="sldNum" sz="quarter" idx="12"/>
          </p:nvPr>
        </p:nvSpPr>
        <p:spPr/>
        <p:txBody>
          <a:bodyPr/>
          <a:lstStyle/>
          <a:p>
            <a:fld id="{8D159209-E10C-4C7C-9E44-A25BAD9EEF6C}" type="slidenum">
              <a:rPr lang="en-US" smtClean="0"/>
              <a:t>‹#›</a:t>
            </a:fld>
            <a:endParaRPr lang="en-US"/>
          </a:p>
        </p:txBody>
      </p:sp>
    </p:spTree>
    <p:extLst>
      <p:ext uri="{BB962C8B-B14F-4D97-AF65-F5344CB8AC3E}">
        <p14:creationId xmlns:p14="http://schemas.microsoft.com/office/powerpoint/2010/main" val="162776548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19137C3-E634-3526-77A8-01392291D59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711600A-504D-0432-A2EA-A784FA480B7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0736EF4-4A3B-2560-E687-94485E79122B}"/>
              </a:ext>
            </a:extLst>
          </p:cNvPr>
          <p:cNvSpPr>
            <a:spLocks noGrp="1"/>
          </p:cNvSpPr>
          <p:nvPr>
            <p:ph type="dt" sz="half" idx="10"/>
          </p:nvPr>
        </p:nvSpPr>
        <p:spPr/>
        <p:txBody>
          <a:bodyPr/>
          <a:lstStyle/>
          <a:p>
            <a:fld id="{57C66F3F-3937-4267-85C4-09A8DBA433E1}" type="datetimeFigureOut">
              <a:rPr lang="en-US" smtClean="0"/>
              <a:t>9/1/2026</a:t>
            </a:fld>
            <a:endParaRPr lang="en-US"/>
          </a:p>
        </p:txBody>
      </p:sp>
      <p:sp>
        <p:nvSpPr>
          <p:cNvPr id="5" name="Footer Placeholder 4">
            <a:extLst>
              <a:ext uri="{FF2B5EF4-FFF2-40B4-BE49-F238E27FC236}">
                <a16:creationId xmlns:a16="http://schemas.microsoft.com/office/drawing/2014/main" id="{9AB17A24-340A-03F9-C14B-3099998C54B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1AE0F94-A820-0FFA-ECF1-84F810DF6938}"/>
              </a:ext>
            </a:extLst>
          </p:cNvPr>
          <p:cNvSpPr>
            <a:spLocks noGrp="1"/>
          </p:cNvSpPr>
          <p:nvPr>
            <p:ph type="sldNum" sz="quarter" idx="12"/>
          </p:nvPr>
        </p:nvSpPr>
        <p:spPr/>
        <p:txBody>
          <a:bodyPr/>
          <a:lstStyle/>
          <a:p>
            <a:fld id="{8D159209-E10C-4C7C-9E44-A25BAD9EEF6C}" type="slidenum">
              <a:rPr lang="en-US" smtClean="0"/>
              <a:t>‹#›</a:t>
            </a:fld>
            <a:endParaRPr lang="en-US"/>
          </a:p>
        </p:txBody>
      </p:sp>
    </p:spTree>
    <p:extLst>
      <p:ext uri="{BB962C8B-B14F-4D97-AF65-F5344CB8AC3E}">
        <p14:creationId xmlns:p14="http://schemas.microsoft.com/office/powerpoint/2010/main" val="375909788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pic>
        <p:nvPicPr>
          <p:cNvPr id="24" name="Picture 23" descr="A picture containing pie chart&#10;&#10;Description automatically generated">
            <a:extLst>
              <a:ext uri="{FF2B5EF4-FFF2-40B4-BE49-F238E27FC236}">
                <a16:creationId xmlns:a16="http://schemas.microsoft.com/office/drawing/2014/main" id="{679CA6D4-DB00-455E-AC6F-BE50491FE771}"/>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9" name="Title 1">
            <a:extLst>
              <a:ext uri="{FF2B5EF4-FFF2-40B4-BE49-F238E27FC236}">
                <a16:creationId xmlns:a16="http://schemas.microsoft.com/office/drawing/2014/main" id="{C0CE8417-9F56-B54E-8200-9F05C7705D91}"/>
              </a:ext>
            </a:extLst>
          </p:cNvPr>
          <p:cNvSpPr>
            <a:spLocks noGrp="1"/>
          </p:cNvSpPr>
          <p:nvPr>
            <p:ph type="title"/>
          </p:nvPr>
        </p:nvSpPr>
        <p:spPr>
          <a:xfrm>
            <a:off x="504825" y="549277"/>
            <a:ext cx="5770564" cy="1653686"/>
          </a:xfrm>
        </p:spPr>
        <p:txBody>
          <a:bodyPr/>
          <a:lstStyle>
            <a:lvl1pPr>
              <a:defRPr>
                <a:solidFill>
                  <a:schemeClr val="bg1"/>
                </a:solidFill>
              </a:defRPr>
            </a:lvl1pPr>
          </a:lstStyle>
          <a:p>
            <a:r>
              <a:rPr lang="en-US"/>
              <a:t>Click to edit Master title style</a:t>
            </a:r>
            <a:endParaRPr lang="en-GB"/>
          </a:p>
        </p:txBody>
      </p:sp>
      <p:grpSp>
        <p:nvGrpSpPr>
          <p:cNvPr id="33" name="Group 32">
            <a:extLst>
              <a:ext uri="{FF2B5EF4-FFF2-40B4-BE49-F238E27FC236}">
                <a16:creationId xmlns:a16="http://schemas.microsoft.com/office/drawing/2014/main" id="{60148C3A-0935-3548-9D74-B20E0F264E11}"/>
              </a:ext>
            </a:extLst>
          </p:cNvPr>
          <p:cNvGrpSpPr>
            <a:grpSpLocks noChangeAspect="1"/>
          </p:cNvGrpSpPr>
          <p:nvPr/>
        </p:nvGrpSpPr>
        <p:grpSpPr bwMode="auto">
          <a:xfrm>
            <a:off x="9483956" y="4094268"/>
            <a:ext cx="1991010" cy="1986618"/>
            <a:chOff x="2464" y="1494"/>
            <a:chExt cx="2267" cy="2262"/>
          </a:xfrm>
          <a:solidFill>
            <a:schemeClr val="bg1"/>
          </a:solidFill>
        </p:grpSpPr>
        <p:sp>
          <p:nvSpPr>
            <p:cNvPr id="34" name="Oval 33">
              <a:extLst>
                <a:ext uri="{FF2B5EF4-FFF2-40B4-BE49-F238E27FC236}">
                  <a16:creationId xmlns:a16="http://schemas.microsoft.com/office/drawing/2014/main" id="{ADEE46C6-B8D0-BE4A-924A-0B4DE9AA2BCE}"/>
                </a:ext>
              </a:extLst>
            </p:cNvPr>
            <p:cNvSpPr>
              <a:spLocks noChangeArrowheads="1"/>
            </p:cNvSpPr>
            <p:nvPr/>
          </p:nvSpPr>
          <p:spPr bwMode="auto">
            <a:xfrm>
              <a:off x="3170" y="3451"/>
              <a:ext cx="70" cy="6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35" name="Oval 34">
              <a:extLst>
                <a:ext uri="{FF2B5EF4-FFF2-40B4-BE49-F238E27FC236}">
                  <a16:creationId xmlns:a16="http://schemas.microsoft.com/office/drawing/2014/main" id="{9CAFDA5C-9A68-C846-9B69-27759DF4D8DE}"/>
                </a:ext>
              </a:extLst>
            </p:cNvPr>
            <p:cNvSpPr>
              <a:spLocks noChangeArrowheads="1"/>
            </p:cNvSpPr>
            <p:nvPr/>
          </p:nvSpPr>
          <p:spPr bwMode="auto">
            <a:xfrm>
              <a:off x="4070" y="3451"/>
              <a:ext cx="71" cy="6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36" name="Freeform 35">
              <a:extLst>
                <a:ext uri="{FF2B5EF4-FFF2-40B4-BE49-F238E27FC236}">
                  <a16:creationId xmlns:a16="http://schemas.microsoft.com/office/drawing/2014/main" id="{6FE05E72-E06C-F44C-A372-292C18FFDCEC}"/>
                </a:ext>
              </a:extLst>
            </p:cNvPr>
            <p:cNvSpPr>
              <a:spLocks noEditPoints="1"/>
            </p:cNvSpPr>
            <p:nvPr/>
          </p:nvSpPr>
          <p:spPr bwMode="auto">
            <a:xfrm>
              <a:off x="2771" y="3538"/>
              <a:ext cx="191" cy="218"/>
            </a:xfrm>
            <a:custGeom>
              <a:avLst/>
              <a:gdLst>
                <a:gd name="T0" fmla="*/ 770 w 770"/>
                <a:gd name="T1" fmla="*/ 353 h 881"/>
                <a:gd name="T2" fmla="*/ 770 w 770"/>
                <a:gd name="T3" fmla="*/ 857 h 881"/>
                <a:gd name="T4" fmla="*/ 550 w 770"/>
                <a:gd name="T5" fmla="*/ 857 h 881"/>
                <a:gd name="T6" fmla="*/ 550 w 770"/>
                <a:gd name="T7" fmla="*/ 772 h 881"/>
                <a:gd name="T8" fmla="*/ 310 w 770"/>
                <a:gd name="T9" fmla="*/ 876 h 881"/>
                <a:gd name="T10" fmla="*/ 0 w 770"/>
                <a:gd name="T11" fmla="*/ 617 h 881"/>
                <a:gd name="T12" fmla="*/ 514 w 770"/>
                <a:gd name="T13" fmla="*/ 320 h 881"/>
                <a:gd name="T14" fmla="*/ 543 w 770"/>
                <a:gd name="T15" fmla="*/ 320 h 881"/>
                <a:gd name="T16" fmla="*/ 379 w 770"/>
                <a:gd name="T17" fmla="*/ 190 h 881"/>
                <a:gd name="T18" fmla="*/ 155 w 770"/>
                <a:gd name="T19" fmla="*/ 270 h 881"/>
                <a:gd name="T20" fmla="*/ 22 w 770"/>
                <a:gd name="T21" fmla="*/ 137 h 881"/>
                <a:gd name="T22" fmla="*/ 385 w 770"/>
                <a:gd name="T23" fmla="*/ 0 h 881"/>
                <a:gd name="T24" fmla="*/ 682 w 770"/>
                <a:gd name="T25" fmla="*/ 91 h 881"/>
                <a:gd name="T26" fmla="*/ 770 w 770"/>
                <a:gd name="T27" fmla="*/ 353 h 881"/>
                <a:gd name="T28" fmla="*/ 543 w 770"/>
                <a:gd name="T29" fmla="*/ 493 h 881"/>
                <a:gd name="T30" fmla="*/ 521 w 770"/>
                <a:gd name="T31" fmla="*/ 493 h 881"/>
                <a:gd name="T32" fmla="*/ 326 w 770"/>
                <a:gd name="T33" fmla="*/ 516 h 881"/>
                <a:gd name="T34" fmla="*/ 241 w 770"/>
                <a:gd name="T35" fmla="*/ 602 h 881"/>
                <a:gd name="T36" fmla="*/ 356 w 770"/>
                <a:gd name="T37" fmla="*/ 689 h 881"/>
                <a:gd name="T38" fmla="*/ 543 w 770"/>
                <a:gd name="T39" fmla="*/ 519 h 881"/>
                <a:gd name="T40" fmla="*/ 543 w 770"/>
                <a:gd name="T41" fmla="*/ 493 h 8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770" h="881">
                  <a:moveTo>
                    <a:pt x="770" y="353"/>
                  </a:moveTo>
                  <a:cubicBezTo>
                    <a:pt x="770" y="857"/>
                    <a:pt x="770" y="857"/>
                    <a:pt x="770" y="857"/>
                  </a:cubicBezTo>
                  <a:cubicBezTo>
                    <a:pt x="550" y="857"/>
                    <a:pt x="550" y="857"/>
                    <a:pt x="550" y="857"/>
                  </a:cubicBezTo>
                  <a:cubicBezTo>
                    <a:pt x="550" y="772"/>
                    <a:pt x="550" y="772"/>
                    <a:pt x="550" y="772"/>
                  </a:cubicBezTo>
                  <a:cubicBezTo>
                    <a:pt x="492" y="834"/>
                    <a:pt x="421" y="873"/>
                    <a:pt x="310" y="876"/>
                  </a:cubicBezTo>
                  <a:cubicBezTo>
                    <a:pt x="137" y="881"/>
                    <a:pt x="0" y="775"/>
                    <a:pt x="0" y="617"/>
                  </a:cubicBezTo>
                  <a:cubicBezTo>
                    <a:pt x="0" y="373"/>
                    <a:pt x="260" y="320"/>
                    <a:pt x="514" y="320"/>
                  </a:cubicBezTo>
                  <a:cubicBezTo>
                    <a:pt x="543" y="320"/>
                    <a:pt x="543" y="320"/>
                    <a:pt x="543" y="320"/>
                  </a:cubicBezTo>
                  <a:cubicBezTo>
                    <a:pt x="543" y="252"/>
                    <a:pt x="513" y="190"/>
                    <a:pt x="379" y="190"/>
                  </a:cubicBezTo>
                  <a:cubicBezTo>
                    <a:pt x="287" y="190"/>
                    <a:pt x="210" y="219"/>
                    <a:pt x="155" y="270"/>
                  </a:cubicBezTo>
                  <a:cubicBezTo>
                    <a:pt x="22" y="137"/>
                    <a:pt x="22" y="137"/>
                    <a:pt x="22" y="137"/>
                  </a:cubicBezTo>
                  <a:cubicBezTo>
                    <a:pt x="113" y="46"/>
                    <a:pt x="242" y="0"/>
                    <a:pt x="385" y="0"/>
                  </a:cubicBezTo>
                  <a:cubicBezTo>
                    <a:pt x="526" y="0"/>
                    <a:pt x="604" y="20"/>
                    <a:pt x="682" y="91"/>
                  </a:cubicBezTo>
                  <a:cubicBezTo>
                    <a:pt x="757" y="158"/>
                    <a:pt x="770" y="283"/>
                    <a:pt x="770" y="353"/>
                  </a:cubicBezTo>
                  <a:moveTo>
                    <a:pt x="543" y="493"/>
                  </a:moveTo>
                  <a:cubicBezTo>
                    <a:pt x="521" y="493"/>
                    <a:pt x="521" y="493"/>
                    <a:pt x="521" y="493"/>
                  </a:cubicBezTo>
                  <a:cubicBezTo>
                    <a:pt x="484" y="493"/>
                    <a:pt x="394" y="498"/>
                    <a:pt x="326" y="516"/>
                  </a:cubicBezTo>
                  <a:cubicBezTo>
                    <a:pt x="280" y="529"/>
                    <a:pt x="241" y="560"/>
                    <a:pt x="241" y="602"/>
                  </a:cubicBezTo>
                  <a:cubicBezTo>
                    <a:pt x="241" y="663"/>
                    <a:pt x="301" y="689"/>
                    <a:pt x="356" y="689"/>
                  </a:cubicBezTo>
                  <a:cubicBezTo>
                    <a:pt x="473" y="689"/>
                    <a:pt x="543" y="615"/>
                    <a:pt x="543" y="519"/>
                  </a:cubicBezTo>
                  <a:lnTo>
                    <a:pt x="543" y="49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37" name="Freeform 36">
              <a:extLst>
                <a:ext uri="{FF2B5EF4-FFF2-40B4-BE49-F238E27FC236}">
                  <a16:creationId xmlns:a16="http://schemas.microsoft.com/office/drawing/2014/main" id="{A66DB4D5-0F81-FA40-BF7F-D49AB4BE3A60}"/>
                </a:ext>
              </a:extLst>
            </p:cNvPr>
            <p:cNvSpPr>
              <a:spLocks/>
            </p:cNvSpPr>
            <p:nvPr/>
          </p:nvSpPr>
          <p:spPr bwMode="auto">
            <a:xfrm>
              <a:off x="2983" y="3477"/>
              <a:ext cx="154" cy="278"/>
            </a:xfrm>
            <a:custGeom>
              <a:avLst/>
              <a:gdLst>
                <a:gd name="T0" fmla="*/ 401 w 622"/>
                <a:gd name="T1" fmla="*/ 264 h 1120"/>
                <a:gd name="T2" fmla="*/ 401 w 622"/>
                <a:gd name="T3" fmla="*/ 0 h 1120"/>
                <a:gd name="T4" fmla="*/ 163 w 622"/>
                <a:gd name="T5" fmla="*/ 0 h 1120"/>
                <a:gd name="T6" fmla="*/ 163 w 622"/>
                <a:gd name="T7" fmla="*/ 264 h 1120"/>
                <a:gd name="T8" fmla="*/ 0 w 622"/>
                <a:gd name="T9" fmla="*/ 264 h 1120"/>
                <a:gd name="T10" fmla="*/ 0 w 622"/>
                <a:gd name="T11" fmla="*/ 463 h 1120"/>
                <a:gd name="T12" fmla="*/ 163 w 622"/>
                <a:gd name="T13" fmla="*/ 463 h 1120"/>
                <a:gd name="T14" fmla="*/ 163 w 622"/>
                <a:gd name="T15" fmla="*/ 818 h 1120"/>
                <a:gd name="T16" fmla="*/ 231 w 622"/>
                <a:gd name="T17" fmla="*/ 1055 h 1120"/>
                <a:gd name="T18" fmla="*/ 444 w 622"/>
                <a:gd name="T19" fmla="*/ 1120 h 1120"/>
                <a:gd name="T20" fmla="*/ 622 w 622"/>
                <a:gd name="T21" fmla="*/ 1086 h 1120"/>
                <a:gd name="T22" fmla="*/ 622 w 622"/>
                <a:gd name="T23" fmla="*/ 898 h 1120"/>
                <a:gd name="T24" fmla="*/ 494 w 622"/>
                <a:gd name="T25" fmla="*/ 915 h 1120"/>
                <a:gd name="T26" fmla="*/ 401 w 622"/>
                <a:gd name="T27" fmla="*/ 807 h 1120"/>
                <a:gd name="T28" fmla="*/ 401 w 622"/>
                <a:gd name="T29" fmla="*/ 463 h 1120"/>
                <a:gd name="T30" fmla="*/ 622 w 622"/>
                <a:gd name="T31" fmla="*/ 463 h 1120"/>
                <a:gd name="T32" fmla="*/ 622 w 622"/>
                <a:gd name="T33" fmla="*/ 264 h 1120"/>
                <a:gd name="T34" fmla="*/ 401 w 622"/>
                <a:gd name="T35" fmla="*/ 264 h 1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22" h="1120">
                  <a:moveTo>
                    <a:pt x="401" y="264"/>
                  </a:moveTo>
                  <a:cubicBezTo>
                    <a:pt x="401" y="0"/>
                    <a:pt x="401" y="0"/>
                    <a:pt x="401" y="0"/>
                  </a:cubicBezTo>
                  <a:cubicBezTo>
                    <a:pt x="163" y="0"/>
                    <a:pt x="163" y="0"/>
                    <a:pt x="163" y="0"/>
                  </a:cubicBezTo>
                  <a:cubicBezTo>
                    <a:pt x="163" y="264"/>
                    <a:pt x="163" y="264"/>
                    <a:pt x="163" y="264"/>
                  </a:cubicBezTo>
                  <a:cubicBezTo>
                    <a:pt x="0" y="264"/>
                    <a:pt x="0" y="264"/>
                    <a:pt x="0" y="264"/>
                  </a:cubicBezTo>
                  <a:cubicBezTo>
                    <a:pt x="0" y="463"/>
                    <a:pt x="0" y="463"/>
                    <a:pt x="0" y="463"/>
                  </a:cubicBezTo>
                  <a:cubicBezTo>
                    <a:pt x="163" y="463"/>
                    <a:pt x="163" y="463"/>
                    <a:pt x="163" y="463"/>
                  </a:cubicBezTo>
                  <a:cubicBezTo>
                    <a:pt x="163" y="818"/>
                    <a:pt x="163" y="818"/>
                    <a:pt x="163" y="818"/>
                  </a:cubicBezTo>
                  <a:cubicBezTo>
                    <a:pt x="163" y="937"/>
                    <a:pt x="184" y="1008"/>
                    <a:pt x="231" y="1055"/>
                  </a:cubicBezTo>
                  <a:cubicBezTo>
                    <a:pt x="276" y="1099"/>
                    <a:pt x="343" y="1120"/>
                    <a:pt x="444" y="1120"/>
                  </a:cubicBezTo>
                  <a:cubicBezTo>
                    <a:pt x="508" y="1120"/>
                    <a:pt x="572" y="1108"/>
                    <a:pt x="622" y="1086"/>
                  </a:cubicBezTo>
                  <a:cubicBezTo>
                    <a:pt x="622" y="898"/>
                    <a:pt x="622" y="898"/>
                    <a:pt x="622" y="898"/>
                  </a:cubicBezTo>
                  <a:cubicBezTo>
                    <a:pt x="592" y="908"/>
                    <a:pt x="549" y="915"/>
                    <a:pt x="494" y="915"/>
                  </a:cubicBezTo>
                  <a:cubicBezTo>
                    <a:pt x="420" y="915"/>
                    <a:pt x="401" y="874"/>
                    <a:pt x="401" y="807"/>
                  </a:cubicBezTo>
                  <a:cubicBezTo>
                    <a:pt x="401" y="463"/>
                    <a:pt x="401" y="463"/>
                    <a:pt x="401" y="463"/>
                  </a:cubicBezTo>
                  <a:cubicBezTo>
                    <a:pt x="622" y="463"/>
                    <a:pt x="622" y="463"/>
                    <a:pt x="622" y="463"/>
                  </a:cubicBezTo>
                  <a:cubicBezTo>
                    <a:pt x="622" y="264"/>
                    <a:pt x="622" y="264"/>
                    <a:pt x="622" y="264"/>
                  </a:cubicBezTo>
                  <a:lnTo>
                    <a:pt x="401" y="26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38" name="Freeform 37">
              <a:extLst>
                <a:ext uri="{FF2B5EF4-FFF2-40B4-BE49-F238E27FC236}">
                  <a16:creationId xmlns:a16="http://schemas.microsoft.com/office/drawing/2014/main" id="{1AFBF16F-8A81-754F-B3ED-C36F8A11E574}"/>
                </a:ext>
              </a:extLst>
            </p:cNvPr>
            <p:cNvSpPr>
              <a:spLocks noEditPoints="1"/>
            </p:cNvSpPr>
            <p:nvPr/>
          </p:nvSpPr>
          <p:spPr bwMode="auto">
            <a:xfrm>
              <a:off x="4426" y="3538"/>
              <a:ext cx="213" cy="217"/>
            </a:xfrm>
            <a:custGeom>
              <a:avLst/>
              <a:gdLst>
                <a:gd name="T0" fmla="*/ 857 w 857"/>
                <a:gd name="T1" fmla="*/ 453 h 876"/>
                <a:gd name="T2" fmla="*/ 857 w 857"/>
                <a:gd name="T3" fmla="*/ 516 h 876"/>
                <a:gd name="T4" fmla="*/ 244 w 857"/>
                <a:gd name="T5" fmla="*/ 516 h 876"/>
                <a:gd name="T6" fmla="*/ 459 w 857"/>
                <a:gd name="T7" fmla="*/ 680 h 876"/>
                <a:gd name="T8" fmla="*/ 678 w 857"/>
                <a:gd name="T9" fmla="*/ 583 h 876"/>
                <a:gd name="T10" fmla="*/ 829 w 857"/>
                <a:gd name="T11" fmla="*/ 693 h 876"/>
                <a:gd name="T12" fmla="*/ 463 w 857"/>
                <a:gd name="T13" fmla="*/ 876 h 876"/>
                <a:gd name="T14" fmla="*/ 0 w 857"/>
                <a:gd name="T15" fmla="*/ 438 h 876"/>
                <a:gd name="T16" fmla="*/ 433 w 857"/>
                <a:gd name="T17" fmla="*/ 0 h 876"/>
                <a:gd name="T18" fmla="*/ 857 w 857"/>
                <a:gd name="T19" fmla="*/ 453 h 876"/>
                <a:gd name="T20" fmla="*/ 605 w 857"/>
                <a:gd name="T21" fmla="*/ 345 h 876"/>
                <a:gd name="T22" fmla="*/ 425 w 857"/>
                <a:gd name="T23" fmla="*/ 189 h 876"/>
                <a:gd name="T24" fmla="*/ 245 w 857"/>
                <a:gd name="T25" fmla="*/ 345 h 876"/>
                <a:gd name="T26" fmla="*/ 605 w 857"/>
                <a:gd name="T27" fmla="*/ 345 h 8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57" h="876">
                  <a:moveTo>
                    <a:pt x="857" y="453"/>
                  </a:moveTo>
                  <a:cubicBezTo>
                    <a:pt x="857" y="516"/>
                    <a:pt x="857" y="516"/>
                    <a:pt x="857" y="516"/>
                  </a:cubicBezTo>
                  <a:cubicBezTo>
                    <a:pt x="244" y="516"/>
                    <a:pt x="244" y="516"/>
                    <a:pt x="244" y="516"/>
                  </a:cubicBezTo>
                  <a:cubicBezTo>
                    <a:pt x="249" y="602"/>
                    <a:pt x="345" y="675"/>
                    <a:pt x="459" y="680"/>
                  </a:cubicBezTo>
                  <a:cubicBezTo>
                    <a:pt x="565" y="684"/>
                    <a:pt x="623" y="642"/>
                    <a:pt x="678" y="583"/>
                  </a:cubicBezTo>
                  <a:cubicBezTo>
                    <a:pt x="829" y="693"/>
                    <a:pt x="829" y="693"/>
                    <a:pt x="829" y="693"/>
                  </a:cubicBezTo>
                  <a:cubicBezTo>
                    <a:pt x="737" y="809"/>
                    <a:pt x="624" y="876"/>
                    <a:pt x="463" y="876"/>
                  </a:cubicBezTo>
                  <a:cubicBezTo>
                    <a:pt x="208" y="876"/>
                    <a:pt x="0" y="718"/>
                    <a:pt x="0" y="438"/>
                  </a:cubicBezTo>
                  <a:cubicBezTo>
                    <a:pt x="0" y="215"/>
                    <a:pt x="139" y="0"/>
                    <a:pt x="433" y="0"/>
                  </a:cubicBezTo>
                  <a:cubicBezTo>
                    <a:pt x="736" y="0"/>
                    <a:pt x="857" y="235"/>
                    <a:pt x="857" y="453"/>
                  </a:cubicBezTo>
                  <a:moveTo>
                    <a:pt x="605" y="345"/>
                  </a:moveTo>
                  <a:cubicBezTo>
                    <a:pt x="594" y="254"/>
                    <a:pt x="544" y="187"/>
                    <a:pt x="425" y="189"/>
                  </a:cubicBezTo>
                  <a:cubicBezTo>
                    <a:pt x="324" y="191"/>
                    <a:pt x="256" y="259"/>
                    <a:pt x="245" y="345"/>
                  </a:cubicBezTo>
                  <a:lnTo>
                    <a:pt x="605" y="34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39" name="Freeform 38">
              <a:extLst>
                <a:ext uri="{FF2B5EF4-FFF2-40B4-BE49-F238E27FC236}">
                  <a16:creationId xmlns:a16="http://schemas.microsoft.com/office/drawing/2014/main" id="{E7BC8B40-7702-114B-A54F-B22AF0D5EC34}"/>
                </a:ext>
              </a:extLst>
            </p:cNvPr>
            <p:cNvSpPr>
              <a:spLocks/>
            </p:cNvSpPr>
            <p:nvPr/>
          </p:nvSpPr>
          <p:spPr bwMode="auto">
            <a:xfrm>
              <a:off x="2464" y="3449"/>
              <a:ext cx="272" cy="301"/>
            </a:xfrm>
            <a:custGeom>
              <a:avLst/>
              <a:gdLst>
                <a:gd name="T0" fmla="*/ 207 w 272"/>
                <a:gd name="T1" fmla="*/ 0 h 301"/>
                <a:gd name="T2" fmla="*/ 207 w 272"/>
                <a:gd name="T3" fmla="*/ 204 h 301"/>
                <a:gd name="T4" fmla="*/ 80 w 272"/>
                <a:gd name="T5" fmla="*/ 0 h 301"/>
                <a:gd name="T6" fmla="*/ 0 w 272"/>
                <a:gd name="T7" fmla="*/ 0 h 301"/>
                <a:gd name="T8" fmla="*/ 0 w 272"/>
                <a:gd name="T9" fmla="*/ 301 h 301"/>
                <a:gd name="T10" fmla="*/ 65 w 272"/>
                <a:gd name="T11" fmla="*/ 301 h 301"/>
                <a:gd name="T12" fmla="*/ 65 w 272"/>
                <a:gd name="T13" fmla="*/ 90 h 301"/>
                <a:gd name="T14" fmla="*/ 196 w 272"/>
                <a:gd name="T15" fmla="*/ 301 h 301"/>
                <a:gd name="T16" fmla="*/ 272 w 272"/>
                <a:gd name="T17" fmla="*/ 301 h 301"/>
                <a:gd name="T18" fmla="*/ 272 w 272"/>
                <a:gd name="T19" fmla="*/ 0 h 301"/>
                <a:gd name="T20" fmla="*/ 207 w 272"/>
                <a:gd name="T21" fmla="*/ 0 h 3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72" h="301">
                  <a:moveTo>
                    <a:pt x="207" y="0"/>
                  </a:moveTo>
                  <a:lnTo>
                    <a:pt x="207" y="204"/>
                  </a:lnTo>
                  <a:lnTo>
                    <a:pt x="80" y="0"/>
                  </a:lnTo>
                  <a:lnTo>
                    <a:pt x="0" y="0"/>
                  </a:lnTo>
                  <a:lnTo>
                    <a:pt x="0" y="301"/>
                  </a:lnTo>
                  <a:lnTo>
                    <a:pt x="65" y="301"/>
                  </a:lnTo>
                  <a:lnTo>
                    <a:pt x="65" y="90"/>
                  </a:lnTo>
                  <a:lnTo>
                    <a:pt x="196" y="301"/>
                  </a:lnTo>
                  <a:lnTo>
                    <a:pt x="272" y="301"/>
                  </a:lnTo>
                  <a:lnTo>
                    <a:pt x="272" y="0"/>
                  </a:lnTo>
                  <a:lnTo>
                    <a:pt x="207"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40" name="Freeform 39">
              <a:extLst>
                <a:ext uri="{FF2B5EF4-FFF2-40B4-BE49-F238E27FC236}">
                  <a16:creationId xmlns:a16="http://schemas.microsoft.com/office/drawing/2014/main" id="{7D71D2CF-318E-614F-8BA3-A1CE1FD301E7}"/>
                </a:ext>
              </a:extLst>
            </p:cNvPr>
            <p:cNvSpPr>
              <a:spLocks/>
            </p:cNvSpPr>
            <p:nvPr/>
          </p:nvSpPr>
          <p:spPr bwMode="auto">
            <a:xfrm>
              <a:off x="3734" y="3543"/>
              <a:ext cx="321" cy="207"/>
            </a:xfrm>
            <a:custGeom>
              <a:avLst/>
              <a:gdLst>
                <a:gd name="T0" fmla="*/ 259 w 321"/>
                <a:gd name="T1" fmla="*/ 0 h 207"/>
                <a:gd name="T2" fmla="*/ 226 w 321"/>
                <a:gd name="T3" fmla="*/ 129 h 207"/>
                <a:gd name="T4" fmla="*/ 192 w 321"/>
                <a:gd name="T5" fmla="*/ 0 h 207"/>
                <a:gd name="T6" fmla="*/ 131 w 321"/>
                <a:gd name="T7" fmla="*/ 0 h 207"/>
                <a:gd name="T8" fmla="*/ 98 w 321"/>
                <a:gd name="T9" fmla="*/ 128 h 207"/>
                <a:gd name="T10" fmla="*/ 65 w 321"/>
                <a:gd name="T11" fmla="*/ 0 h 207"/>
                <a:gd name="T12" fmla="*/ 0 w 321"/>
                <a:gd name="T13" fmla="*/ 0 h 207"/>
                <a:gd name="T14" fmla="*/ 66 w 321"/>
                <a:gd name="T15" fmla="*/ 207 h 207"/>
                <a:gd name="T16" fmla="*/ 125 w 321"/>
                <a:gd name="T17" fmla="*/ 207 h 207"/>
                <a:gd name="T18" fmla="*/ 161 w 321"/>
                <a:gd name="T19" fmla="*/ 77 h 207"/>
                <a:gd name="T20" fmla="*/ 201 w 321"/>
                <a:gd name="T21" fmla="*/ 207 h 207"/>
                <a:gd name="T22" fmla="*/ 255 w 321"/>
                <a:gd name="T23" fmla="*/ 207 h 207"/>
                <a:gd name="T24" fmla="*/ 321 w 321"/>
                <a:gd name="T25" fmla="*/ 0 h 207"/>
                <a:gd name="T26" fmla="*/ 259 w 321"/>
                <a:gd name="T27" fmla="*/ 0 h 2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21" h="207">
                  <a:moveTo>
                    <a:pt x="259" y="0"/>
                  </a:moveTo>
                  <a:lnTo>
                    <a:pt x="226" y="129"/>
                  </a:lnTo>
                  <a:lnTo>
                    <a:pt x="192" y="0"/>
                  </a:lnTo>
                  <a:lnTo>
                    <a:pt x="131" y="0"/>
                  </a:lnTo>
                  <a:lnTo>
                    <a:pt x="98" y="128"/>
                  </a:lnTo>
                  <a:lnTo>
                    <a:pt x="65" y="0"/>
                  </a:lnTo>
                  <a:lnTo>
                    <a:pt x="0" y="0"/>
                  </a:lnTo>
                  <a:lnTo>
                    <a:pt x="66" y="207"/>
                  </a:lnTo>
                  <a:lnTo>
                    <a:pt x="125" y="207"/>
                  </a:lnTo>
                  <a:lnTo>
                    <a:pt x="161" y="77"/>
                  </a:lnTo>
                  <a:lnTo>
                    <a:pt x="201" y="207"/>
                  </a:lnTo>
                  <a:lnTo>
                    <a:pt x="255" y="207"/>
                  </a:lnTo>
                  <a:lnTo>
                    <a:pt x="321" y="0"/>
                  </a:lnTo>
                  <a:lnTo>
                    <a:pt x="25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41" name="Freeform 40">
              <a:extLst>
                <a:ext uri="{FF2B5EF4-FFF2-40B4-BE49-F238E27FC236}">
                  <a16:creationId xmlns:a16="http://schemas.microsoft.com/office/drawing/2014/main" id="{D9588A39-8C80-034E-8D3D-67E98E17D017}"/>
                </a:ext>
              </a:extLst>
            </p:cNvPr>
            <p:cNvSpPr>
              <a:spLocks/>
            </p:cNvSpPr>
            <p:nvPr/>
          </p:nvSpPr>
          <p:spPr bwMode="auto">
            <a:xfrm>
              <a:off x="3175" y="3543"/>
              <a:ext cx="60" cy="207"/>
            </a:xfrm>
            <a:custGeom>
              <a:avLst/>
              <a:gdLst>
                <a:gd name="T0" fmla="*/ 60 w 60"/>
                <a:gd name="T1" fmla="*/ 0 h 207"/>
                <a:gd name="T2" fmla="*/ 0 w 60"/>
                <a:gd name="T3" fmla="*/ 0 h 207"/>
                <a:gd name="T4" fmla="*/ 0 w 60"/>
                <a:gd name="T5" fmla="*/ 106 h 207"/>
                <a:gd name="T6" fmla="*/ 0 w 60"/>
                <a:gd name="T7" fmla="*/ 207 h 207"/>
                <a:gd name="T8" fmla="*/ 60 w 60"/>
                <a:gd name="T9" fmla="*/ 207 h 207"/>
                <a:gd name="T10" fmla="*/ 60 w 60"/>
                <a:gd name="T11" fmla="*/ 106 h 207"/>
                <a:gd name="T12" fmla="*/ 60 w 60"/>
                <a:gd name="T13" fmla="*/ 0 h 207"/>
              </a:gdLst>
              <a:ahLst/>
              <a:cxnLst>
                <a:cxn ang="0">
                  <a:pos x="T0" y="T1"/>
                </a:cxn>
                <a:cxn ang="0">
                  <a:pos x="T2" y="T3"/>
                </a:cxn>
                <a:cxn ang="0">
                  <a:pos x="T4" y="T5"/>
                </a:cxn>
                <a:cxn ang="0">
                  <a:pos x="T6" y="T7"/>
                </a:cxn>
                <a:cxn ang="0">
                  <a:pos x="T8" y="T9"/>
                </a:cxn>
                <a:cxn ang="0">
                  <a:pos x="T10" y="T11"/>
                </a:cxn>
                <a:cxn ang="0">
                  <a:pos x="T12" y="T13"/>
                </a:cxn>
              </a:cxnLst>
              <a:rect l="0" t="0" r="r" b="b"/>
              <a:pathLst>
                <a:path w="60" h="207">
                  <a:moveTo>
                    <a:pt x="60" y="0"/>
                  </a:moveTo>
                  <a:lnTo>
                    <a:pt x="0" y="0"/>
                  </a:lnTo>
                  <a:lnTo>
                    <a:pt x="0" y="106"/>
                  </a:lnTo>
                  <a:lnTo>
                    <a:pt x="0" y="207"/>
                  </a:lnTo>
                  <a:lnTo>
                    <a:pt x="60" y="207"/>
                  </a:lnTo>
                  <a:lnTo>
                    <a:pt x="60" y="106"/>
                  </a:lnTo>
                  <a:lnTo>
                    <a:pt x="6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42" name="Freeform 41">
              <a:extLst>
                <a:ext uri="{FF2B5EF4-FFF2-40B4-BE49-F238E27FC236}">
                  <a16:creationId xmlns:a16="http://schemas.microsoft.com/office/drawing/2014/main" id="{CB4CA907-2965-5041-A4D1-88FFC0AAFE43}"/>
                </a:ext>
              </a:extLst>
            </p:cNvPr>
            <p:cNvSpPr>
              <a:spLocks/>
            </p:cNvSpPr>
            <p:nvPr/>
          </p:nvSpPr>
          <p:spPr bwMode="auto">
            <a:xfrm>
              <a:off x="4076" y="3543"/>
              <a:ext cx="59" cy="207"/>
            </a:xfrm>
            <a:custGeom>
              <a:avLst/>
              <a:gdLst>
                <a:gd name="T0" fmla="*/ 59 w 59"/>
                <a:gd name="T1" fmla="*/ 0 h 207"/>
                <a:gd name="T2" fmla="*/ 0 w 59"/>
                <a:gd name="T3" fmla="*/ 0 h 207"/>
                <a:gd name="T4" fmla="*/ 0 w 59"/>
                <a:gd name="T5" fmla="*/ 106 h 207"/>
                <a:gd name="T6" fmla="*/ 0 w 59"/>
                <a:gd name="T7" fmla="*/ 207 h 207"/>
                <a:gd name="T8" fmla="*/ 59 w 59"/>
                <a:gd name="T9" fmla="*/ 207 h 207"/>
                <a:gd name="T10" fmla="*/ 59 w 59"/>
                <a:gd name="T11" fmla="*/ 106 h 207"/>
                <a:gd name="T12" fmla="*/ 59 w 59"/>
                <a:gd name="T13" fmla="*/ 0 h 207"/>
              </a:gdLst>
              <a:ahLst/>
              <a:cxnLst>
                <a:cxn ang="0">
                  <a:pos x="T0" y="T1"/>
                </a:cxn>
                <a:cxn ang="0">
                  <a:pos x="T2" y="T3"/>
                </a:cxn>
                <a:cxn ang="0">
                  <a:pos x="T4" y="T5"/>
                </a:cxn>
                <a:cxn ang="0">
                  <a:pos x="T6" y="T7"/>
                </a:cxn>
                <a:cxn ang="0">
                  <a:pos x="T8" y="T9"/>
                </a:cxn>
                <a:cxn ang="0">
                  <a:pos x="T10" y="T11"/>
                </a:cxn>
                <a:cxn ang="0">
                  <a:pos x="T12" y="T13"/>
                </a:cxn>
              </a:cxnLst>
              <a:rect l="0" t="0" r="r" b="b"/>
              <a:pathLst>
                <a:path w="59" h="207">
                  <a:moveTo>
                    <a:pt x="59" y="0"/>
                  </a:moveTo>
                  <a:lnTo>
                    <a:pt x="0" y="0"/>
                  </a:lnTo>
                  <a:lnTo>
                    <a:pt x="0" y="106"/>
                  </a:lnTo>
                  <a:lnTo>
                    <a:pt x="0" y="207"/>
                  </a:lnTo>
                  <a:lnTo>
                    <a:pt x="59" y="207"/>
                  </a:lnTo>
                  <a:lnTo>
                    <a:pt x="59" y="106"/>
                  </a:lnTo>
                  <a:lnTo>
                    <a:pt x="5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43" name="Freeform 42">
              <a:extLst>
                <a:ext uri="{FF2B5EF4-FFF2-40B4-BE49-F238E27FC236}">
                  <a16:creationId xmlns:a16="http://schemas.microsoft.com/office/drawing/2014/main" id="{064BDBD4-DC9B-2643-895F-7535E7862951}"/>
                </a:ext>
              </a:extLst>
            </p:cNvPr>
            <p:cNvSpPr>
              <a:spLocks/>
            </p:cNvSpPr>
            <p:nvPr/>
          </p:nvSpPr>
          <p:spPr bwMode="auto">
            <a:xfrm>
              <a:off x="3527" y="3538"/>
              <a:ext cx="190" cy="212"/>
            </a:xfrm>
            <a:custGeom>
              <a:avLst/>
              <a:gdLst>
                <a:gd name="T0" fmla="*/ 686 w 767"/>
                <a:gd name="T1" fmla="*/ 77 h 857"/>
                <a:gd name="T2" fmla="*/ 480 w 767"/>
                <a:gd name="T3" fmla="*/ 0 h 857"/>
                <a:gd name="T4" fmla="*/ 231 w 767"/>
                <a:gd name="T5" fmla="*/ 111 h 857"/>
                <a:gd name="T6" fmla="*/ 231 w 767"/>
                <a:gd name="T7" fmla="*/ 20 h 857"/>
                <a:gd name="T8" fmla="*/ 0 w 767"/>
                <a:gd name="T9" fmla="*/ 20 h 857"/>
                <a:gd name="T10" fmla="*/ 0 w 767"/>
                <a:gd name="T11" fmla="*/ 857 h 857"/>
                <a:gd name="T12" fmla="*/ 241 w 767"/>
                <a:gd name="T13" fmla="*/ 857 h 857"/>
                <a:gd name="T14" fmla="*/ 241 w 767"/>
                <a:gd name="T15" fmla="*/ 402 h 857"/>
                <a:gd name="T16" fmla="*/ 285 w 767"/>
                <a:gd name="T17" fmla="*/ 268 h 857"/>
                <a:gd name="T18" fmla="*/ 390 w 767"/>
                <a:gd name="T19" fmla="*/ 221 h 857"/>
                <a:gd name="T20" fmla="*/ 494 w 767"/>
                <a:gd name="T21" fmla="*/ 268 h 857"/>
                <a:gd name="T22" fmla="*/ 527 w 767"/>
                <a:gd name="T23" fmla="*/ 434 h 857"/>
                <a:gd name="T24" fmla="*/ 527 w 767"/>
                <a:gd name="T25" fmla="*/ 857 h 857"/>
                <a:gd name="T26" fmla="*/ 767 w 767"/>
                <a:gd name="T27" fmla="*/ 857 h 857"/>
                <a:gd name="T28" fmla="*/ 767 w 767"/>
                <a:gd name="T29" fmla="*/ 334 h 857"/>
                <a:gd name="T30" fmla="*/ 686 w 767"/>
                <a:gd name="T31" fmla="*/ 77 h 8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767" h="857">
                  <a:moveTo>
                    <a:pt x="686" y="77"/>
                  </a:moveTo>
                  <a:cubicBezTo>
                    <a:pt x="636" y="24"/>
                    <a:pt x="573" y="0"/>
                    <a:pt x="480" y="0"/>
                  </a:cubicBezTo>
                  <a:cubicBezTo>
                    <a:pt x="388" y="1"/>
                    <a:pt x="281" y="46"/>
                    <a:pt x="231" y="111"/>
                  </a:cubicBezTo>
                  <a:cubicBezTo>
                    <a:pt x="231" y="20"/>
                    <a:pt x="231" y="20"/>
                    <a:pt x="231" y="20"/>
                  </a:cubicBezTo>
                  <a:cubicBezTo>
                    <a:pt x="0" y="20"/>
                    <a:pt x="0" y="20"/>
                    <a:pt x="0" y="20"/>
                  </a:cubicBezTo>
                  <a:cubicBezTo>
                    <a:pt x="0" y="857"/>
                    <a:pt x="0" y="857"/>
                    <a:pt x="0" y="857"/>
                  </a:cubicBezTo>
                  <a:cubicBezTo>
                    <a:pt x="241" y="857"/>
                    <a:pt x="241" y="857"/>
                    <a:pt x="241" y="857"/>
                  </a:cubicBezTo>
                  <a:cubicBezTo>
                    <a:pt x="241" y="402"/>
                    <a:pt x="241" y="402"/>
                    <a:pt x="241" y="402"/>
                  </a:cubicBezTo>
                  <a:cubicBezTo>
                    <a:pt x="241" y="343"/>
                    <a:pt x="257" y="299"/>
                    <a:pt x="285" y="268"/>
                  </a:cubicBezTo>
                  <a:cubicBezTo>
                    <a:pt x="309" y="241"/>
                    <a:pt x="345" y="224"/>
                    <a:pt x="390" y="221"/>
                  </a:cubicBezTo>
                  <a:cubicBezTo>
                    <a:pt x="444" y="218"/>
                    <a:pt x="473" y="242"/>
                    <a:pt x="494" y="268"/>
                  </a:cubicBezTo>
                  <a:cubicBezTo>
                    <a:pt x="520" y="300"/>
                    <a:pt x="527" y="357"/>
                    <a:pt x="527" y="434"/>
                  </a:cubicBezTo>
                  <a:cubicBezTo>
                    <a:pt x="527" y="857"/>
                    <a:pt x="527" y="857"/>
                    <a:pt x="527" y="857"/>
                  </a:cubicBezTo>
                  <a:cubicBezTo>
                    <a:pt x="767" y="857"/>
                    <a:pt x="767" y="857"/>
                    <a:pt x="767" y="857"/>
                  </a:cubicBezTo>
                  <a:cubicBezTo>
                    <a:pt x="767" y="334"/>
                    <a:pt x="767" y="334"/>
                    <a:pt x="767" y="334"/>
                  </a:cubicBezTo>
                  <a:cubicBezTo>
                    <a:pt x="767" y="232"/>
                    <a:pt x="754" y="147"/>
                    <a:pt x="686" y="77"/>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44" name="Freeform 43">
              <a:extLst>
                <a:ext uri="{FF2B5EF4-FFF2-40B4-BE49-F238E27FC236}">
                  <a16:creationId xmlns:a16="http://schemas.microsoft.com/office/drawing/2014/main" id="{596A12D7-425E-AD43-A65E-B72F97666F37}"/>
                </a:ext>
              </a:extLst>
            </p:cNvPr>
            <p:cNvSpPr>
              <a:spLocks noEditPoints="1"/>
            </p:cNvSpPr>
            <p:nvPr/>
          </p:nvSpPr>
          <p:spPr bwMode="auto">
            <a:xfrm>
              <a:off x="4170" y="3449"/>
              <a:ext cx="222" cy="306"/>
            </a:xfrm>
            <a:custGeom>
              <a:avLst/>
              <a:gdLst>
                <a:gd name="T0" fmla="*/ 900 w 900"/>
                <a:gd name="T1" fmla="*/ 0 h 1233"/>
                <a:gd name="T2" fmla="*/ 900 w 900"/>
                <a:gd name="T3" fmla="*/ 1214 h 1233"/>
                <a:gd name="T4" fmla="*/ 673 w 900"/>
                <a:gd name="T5" fmla="*/ 1214 h 1233"/>
                <a:gd name="T6" fmla="*/ 673 w 900"/>
                <a:gd name="T7" fmla="*/ 1121 h 1233"/>
                <a:gd name="T8" fmla="*/ 414 w 900"/>
                <a:gd name="T9" fmla="*/ 1233 h 1233"/>
                <a:gd name="T10" fmla="*/ 124 w 900"/>
                <a:gd name="T11" fmla="*/ 1121 h 1233"/>
                <a:gd name="T12" fmla="*/ 0 w 900"/>
                <a:gd name="T13" fmla="*/ 796 h 1233"/>
                <a:gd name="T14" fmla="*/ 406 w 900"/>
                <a:gd name="T15" fmla="*/ 357 h 1233"/>
                <a:gd name="T16" fmla="*/ 659 w 900"/>
                <a:gd name="T17" fmla="*/ 451 h 1233"/>
                <a:gd name="T18" fmla="*/ 659 w 900"/>
                <a:gd name="T19" fmla="*/ 0 h 1233"/>
                <a:gd name="T20" fmla="*/ 900 w 900"/>
                <a:gd name="T21" fmla="*/ 0 h 1233"/>
                <a:gd name="T22" fmla="*/ 666 w 900"/>
                <a:gd name="T23" fmla="*/ 796 h 1233"/>
                <a:gd name="T24" fmla="*/ 453 w 900"/>
                <a:gd name="T25" fmla="*/ 569 h 1233"/>
                <a:gd name="T26" fmla="*/ 241 w 900"/>
                <a:gd name="T27" fmla="*/ 796 h 1233"/>
                <a:gd name="T28" fmla="*/ 453 w 900"/>
                <a:gd name="T29" fmla="*/ 1022 h 1233"/>
                <a:gd name="T30" fmla="*/ 666 w 900"/>
                <a:gd name="T31" fmla="*/ 796 h 12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00" h="1233">
                  <a:moveTo>
                    <a:pt x="900" y="0"/>
                  </a:moveTo>
                  <a:cubicBezTo>
                    <a:pt x="900" y="1214"/>
                    <a:pt x="900" y="1214"/>
                    <a:pt x="900" y="1214"/>
                  </a:cubicBezTo>
                  <a:cubicBezTo>
                    <a:pt x="673" y="1214"/>
                    <a:pt x="673" y="1214"/>
                    <a:pt x="673" y="1214"/>
                  </a:cubicBezTo>
                  <a:cubicBezTo>
                    <a:pt x="673" y="1121"/>
                    <a:pt x="673" y="1121"/>
                    <a:pt x="673" y="1121"/>
                  </a:cubicBezTo>
                  <a:cubicBezTo>
                    <a:pt x="620" y="1182"/>
                    <a:pt x="534" y="1233"/>
                    <a:pt x="414" y="1233"/>
                  </a:cubicBezTo>
                  <a:cubicBezTo>
                    <a:pt x="298" y="1233"/>
                    <a:pt x="198" y="1195"/>
                    <a:pt x="124" y="1121"/>
                  </a:cubicBezTo>
                  <a:cubicBezTo>
                    <a:pt x="44" y="1041"/>
                    <a:pt x="0" y="926"/>
                    <a:pt x="0" y="796"/>
                  </a:cubicBezTo>
                  <a:cubicBezTo>
                    <a:pt x="0" y="541"/>
                    <a:pt x="171" y="357"/>
                    <a:pt x="406" y="357"/>
                  </a:cubicBezTo>
                  <a:cubicBezTo>
                    <a:pt x="508" y="357"/>
                    <a:pt x="594" y="389"/>
                    <a:pt x="659" y="451"/>
                  </a:cubicBezTo>
                  <a:cubicBezTo>
                    <a:pt x="659" y="0"/>
                    <a:pt x="659" y="0"/>
                    <a:pt x="659" y="0"/>
                  </a:cubicBezTo>
                  <a:lnTo>
                    <a:pt x="900" y="0"/>
                  </a:lnTo>
                  <a:close/>
                  <a:moveTo>
                    <a:pt x="666" y="796"/>
                  </a:moveTo>
                  <a:cubicBezTo>
                    <a:pt x="666" y="683"/>
                    <a:pt x="593" y="569"/>
                    <a:pt x="453" y="569"/>
                  </a:cubicBezTo>
                  <a:cubicBezTo>
                    <a:pt x="314" y="569"/>
                    <a:pt x="241" y="683"/>
                    <a:pt x="241" y="796"/>
                  </a:cubicBezTo>
                  <a:cubicBezTo>
                    <a:pt x="241" y="908"/>
                    <a:pt x="314" y="1022"/>
                    <a:pt x="453" y="1022"/>
                  </a:cubicBezTo>
                  <a:cubicBezTo>
                    <a:pt x="593" y="1022"/>
                    <a:pt x="666" y="908"/>
                    <a:pt x="666" y="79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64" name="Freeform 63">
              <a:extLst>
                <a:ext uri="{FF2B5EF4-FFF2-40B4-BE49-F238E27FC236}">
                  <a16:creationId xmlns:a16="http://schemas.microsoft.com/office/drawing/2014/main" id="{1B806B14-8C07-0F4D-B564-0FBB1ACC3987}"/>
                </a:ext>
              </a:extLst>
            </p:cNvPr>
            <p:cNvSpPr>
              <a:spLocks noEditPoints="1"/>
            </p:cNvSpPr>
            <p:nvPr/>
          </p:nvSpPr>
          <p:spPr bwMode="auto">
            <a:xfrm>
              <a:off x="3269" y="3538"/>
              <a:ext cx="224" cy="217"/>
            </a:xfrm>
            <a:custGeom>
              <a:avLst/>
              <a:gdLst>
                <a:gd name="T0" fmla="*/ 905 w 905"/>
                <a:gd name="T1" fmla="*/ 438 h 877"/>
                <a:gd name="T2" fmla="*/ 453 w 905"/>
                <a:gd name="T3" fmla="*/ 877 h 877"/>
                <a:gd name="T4" fmla="*/ 0 w 905"/>
                <a:gd name="T5" fmla="*/ 438 h 877"/>
                <a:gd name="T6" fmla="*/ 453 w 905"/>
                <a:gd name="T7" fmla="*/ 0 h 877"/>
                <a:gd name="T8" fmla="*/ 905 w 905"/>
                <a:gd name="T9" fmla="*/ 438 h 877"/>
                <a:gd name="T10" fmla="*/ 453 w 905"/>
                <a:gd name="T11" fmla="*/ 212 h 877"/>
                <a:gd name="T12" fmla="*/ 241 w 905"/>
                <a:gd name="T13" fmla="*/ 438 h 877"/>
                <a:gd name="T14" fmla="*/ 453 w 905"/>
                <a:gd name="T15" fmla="*/ 664 h 877"/>
                <a:gd name="T16" fmla="*/ 665 w 905"/>
                <a:gd name="T17" fmla="*/ 438 h 877"/>
                <a:gd name="T18" fmla="*/ 453 w 905"/>
                <a:gd name="T19" fmla="*/ 212 h 8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5" h="877">
                  <a:moveTo>
                    <a:pt x="905" y="438"/>
                  </a:moveTo>
                  <a:cubicBezTo>
                    <a:pt x="905" y="692"/>
                    <a:pt x="715" y="877"/>
                    <a:pt x="453" y="877"/>
                  </a:cubicBezTo>
                  <a:cubicBezTo>
                    <a:pt x="190" y="877"/>
                    <a:pt x="0" y="692"/>
                    <a:pt x="0" y="438"/>
                  </a:cubicBezTo>
                  <a:cubicBezTo>
                    <a:pt x="0" y="184"/>
                    <a:pt x="190" y="0"/>
                    <a:pt x="453" y="0"/>
                  </a:cubicBezTo>
                  <a:cubicBezTo>
                    <a:pt x="715" y="0"/>
                    <a:pt x="905" y="184"/>
                    <a:pt x="905" y="438"/>
                  </a:cubicBezTo>
                  <a:moveTo>
                    <a:pt x="453" y="212"/>
                  </a:moveTo>
                  <a:cubicBezTo>
                    <a:pt x="313" y="212"/>
                    <a:pt x="241" y="326"/>
                    <a:pt x="241" y="438"/>
                  </a:cubicBezTo>
                  <a:cubicBezTo>
                    <a:pt x="241" y="551"/>
                    <a:pt x="313" y="664"/>
                    <a:pt x="453" y="664"/>
                  </a:cubicBezTo>
                  <a:cubicBezTo>
                    <a:pt x="592" y="664"/>
                    <a:pt x="665" y="551"/>
                    <a:pt x="665" y="438"/>
                  </a:cubicBezTo>
                  <a:cubicBezTo>
                    <a:pt x="665" y="326"/>
                    <a:pt x="592" y="212"/>
                    <a:pt x="453" y="21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65" name="Freeform 64">
              <a:extLst>
                <a:ext uri="{FF2B5EF4-FFF2-40B4-BE49-F238E27FC236}">
                  <a16:creationId xmlns:a16="http://schemas.microsoft.com/office/drawing/2014/main" id="{FC43AA3D-6218-5F44-B42C-5CD72E76091E}"/>
                </a:ext>
              </a:extLst>
            </p:cNvPr>
            <p:cNvSpPr>
              <a:spLocks noEditPoints="1"/>
            </p:cNvSpPr>
            <p:nvPr/>
          </p:nvSpPr>
          <p:spPr bwMode="auto">
            <a:xfrm>
              <a:off x="4636" y="3449"/>
              <a:ext cx="95" cy="95"/>
            </a:xfrm>
            <a:custGeom>
              <a:avLst/>
              <a:gdLst>
                <a:gd name="T0" fmla="*/ 118 w 383"/>
                <a:gd name="T1" fmla="*/ 299 h 382"/>
                <a:gd name="T2" fmla="*/ 158 w 383"/>
                <a:gd name="T3" fmla="*/ 299 h 382"/>
                <a:gd name="T4" fmla="*/ 158 w 383"/>
                <a:gd name="T5" fmla="*/ 209 h 382"/>
                <a:gd name="T6" fmla="*/ 187 w 383"/>
                <a:gd name="T7" fmla="*/ 209 h 382"/>
                <a:gd name="T8" fmla="*/ 242 w 383"/>
                <a:gd name="T9" fmla="*/ 299 h 382"/>
                <a:gd name="T10" fmla="*/ 284 w 383"/>
                <a:gd name="T11" fmla="*/ 299 h 382"/>
                <a:gd name="T12" fmla="*/ 227 w 383"/>
                <a:gd name="T13" fmla="*/ 206 h 382"/>
                <a:gd name="T14" fmla="*/ 279 w 383"/>
                <a:gd name="T15" fmla="*/ 146 h 382"/>
                <a:gd name="T16" fmla="*/ 202 w 383"/>
                <a:gd name="T17" fmla="*/ 80 h 382"/>
                <a:gd name="T18" fmla="*/ 118 w 383"/>
                <a:gd name="T19" fmla="*/ 80 h 382"/>
                <a:gd name="T20" fmla="*/ 118 w 383"/>
                <a:gd name="T21" fmla="*/ 299 h 382"/>
                <a:gd name="T22" fmla="*/ 158 w 383"/>
                <a:gd name="T23" fmla="*/ 114 h 382"/>
                <a:gd name="T24" fmla="*/ 187 w 383"/>
                <a:gd name="T25" fmla="*/ 114 h 382"/>
                <a:gd name="T26" fmla="*/ 239 w 383"/>
                <a:gd name="T27" fmla="*/ 145 h 382"/>
                <a:gd name="T28" fmla="*/ 187 w 383"/>
                <a:gd name="T29" fmla="*/ 176 h 382"/>
                <a:gd name="T30" fmla="*/ 158 w 383"/>
                <a:gd name="T31" fmla="*/ 176 h 382"/>
                <a:gd name="T32" fmla="*/ 158 w 383"/>
                <a:gd name="T33" fmla="*/ 114 h 382"/>
                <a:gd name="T34" fmla="*/ 0 w 383"/>
                <a:gd name="T35" fmla="*/ 191 h 382"/>
                <a:gd name="T36" fmla="*/ 191 w 383"/>
                <a:gd name="T37" fmla="*/ 382 h 382"/>
                <a:gd name="T38" fmla="*/ 383 w 383"/>
                <a:gd name="T39" fmla="*/ 191 h 382"/>
                <a:gd name="T40" fmla="*/ 191 w 383"/>
                <a:gd name="T41" fmla="*/ 0 h 382"/>
                <a:gd name="T42" fmla="*/ 0 w 383"/>
                <a:gd name="T43" fmla="*/ 191 h 382"/>
                <a:gd name="T44" fmla="*/ 34 w 383"/>
                <a:gd name="T45" fmla="*/ 191 h 382"/>
                <a:gd name="T46" fmla="*/ 191 w 383"/>
                <a:gd name="T47" fmla="*/ 34 h 382"/>
                <a:gd name="T48" fmla="*/ 349 w 383"/>
                <a:gd name="T49" fmla="*/ 191 h 382"/>
                <a:gd name="T50" fmla="*/ 191 w 383"/>
                <a:gd name="T51" fmla="*/ 349 h 382"/>
                <a:gd name="T52" fmla="*/ 34 w 383"/>
                <a:gd name="T53" fmla="*/ 191 h 3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83" h="382">
                  <a:moveTo>
                    <a:pt x="118" y="299"/>
                  </a:moveTo>
                  <a:cubicBezTo>
                    <a:pt x="158" y="299"/>
                    <a:pt x="158" y="299"/>
                    <a:pt x="158" y="299"/>
                  </a:cubicBezTo>
                  <a:cubicBezTo>
                    <a:pt x="158" y="209"/>
                    <a:pt x="158" y="209"/>
                    <a:pt x="158" y="209"/>
                  </a:cubicBezTo>
                  <a:cubicBezTo>
                    <a:pt x="187" y="209"/>
                    <a:pt x="187" y="209"/>
                    <a:pt x="187" y="209"/>
                  </a:cubicBezTo>
                  <a:cubicBezTo>
                    <a:pt x="242" y="299"/>
                    <a:pt x="242" y="299"/>
                    <a:pt x="242" y="299"/>
                  </a:cubicBezTo>
                  <a:cubicBezTo>
                    <a:pt x="284" y="299"/>
                    <a:pt x="284" y="299"/>
                    <a:pt x="284" y="299"/>
                  </a:cubicBezTo>
                  <a:cubicBezTo>
                    <a:pt x="227" y="206"/>
                    <a:pt x="227" y="206"/>
                    <a:pt x="227" y="206"/>
                  </a:cubicBezTo>
                  <a:cubicBezTo>
                    <a:pt x="257" y="203"/>
                    <a:pt x="279" y="184"/>
                    <a:pt x="279" y="146"/>
                  </a:cubicBezTo>
                  <a:cubicBezTo>
                    <a:pt x="279" y="104"/>
                    <a:pt x="255" y="80"/>
                    <a:pt x="202" y="80"/>
                  </a:cubicBezTo>
                  <a:cubicBezTo>
                    <a:pt x="118" y="80"/>
                    <a:pt x="118" y="80"/>
                    <a:pt x="118" y="80"/>
                  </a:cubicBezTo>
                  <a:lnTo>
                    <a:pt x="118" y="299"/>
                  </a:lnTo>
                  <a:close/>
                  <a:moveTo>
                    <a:pt x="158" y="114"/>
                  </a:moveTo>
                  <a:cubicBezTo>
                    <a:pt x="187" y="114"/>
                    <a:pt x="187" y="114"/>
                    <a:pt x="187" y="114"/>
                  </a:cubicBezTo>
                  <a:cubicBezTo>
                    <a:pt x="212" y="114"/>
                    <a:pt x="239" y="115"/>
                    <a:pt x="239" y="145"/>
                  </a:cubicBezTo>
                  <a:cubicBezTo>
                    <a:pt x="239" y="174"/>
                    <a:pt x="212" y="176"/>
                    <a:pt x="187" y="176"/>
                  </a:cubicBezTo>
                  <a:cubicBezTo>
                    <a:pt x="158" y="176"/>
                    <a:pt x="158" y="176"/>
                    <a:pt x="158" y="176"/>
                  </a:cubicBezTo>
                  <a:lnTo>
                    <a:pt x="158" y="114"/>
                  </a:lnTo>
                  <a:close/>
                  <a:moveTo>
                    <a:pt x="0" y="191"/>
                  </a:moveTo>
                  <a:cubicBezTo>
                    <a:pt x="0" y="296"/>
                    <a:pt x="86" y="382"/>
                    <a:pt x="191" y="382"/>
                  </a:cubicBezTo>
                  <a:cubicBezTo>
                    <a:pt x="297" y="382"/>
                    <a:pt x="383" y="296"/>
                    <a:pt x="383" y="191"/>
                  </a:cubicBezTo>
                  <a:cubicBezTo>
                    <a:pt x="383" y="86"/>
                    <a:pt x="297" y="0"/>
                    <a:pt x="191" y="0"/>
                  </a:cubicBezTo>
                  <a:cubicBezTo>
                    <a:pt x="86" y="0"/>
                    <a:pt x="0" y="86"/>
                    <a:pt x="0" y="191"/>
                  </a:cubicBezTo>
                  <a:moveTo>
                    <a:pt x="34" y="191"/>
                  </a:moveTo>
                  <a:cubicBezTo>
                    <a:pt x="34" y="104"/>
                    <a:pt x="104" y="34"/>
                    <a:pt x="191" y="34"/>
                  </a:cubicBezTo>
                  <a:cubicBezTo>
                    <a:pt x="278" y="34"/>
                    <a:pt x="349" y="104"/>
                    <a:pt x="349" y="191"/>
                  </a:cubicBezTo>
                  <a:cubicBezTo>
                    <a:pt x="349" y="278"/>
                    <a:pt x="278" y="349"/>
                    <a:pt x="191" y="349"/>
                  </a:cubicBezTo>
                  <a:cubicBezTo>
                    <a:pt x="104" y="349"/>
                    <a:pt x="34" y="278"/>
                    <a:pt x="34" y="191"/>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66" name="Freeform 65">
              <a:extLst>
                <a:ext uri="{FF2B5EF4-FFF2-40B4-BE49-F238E27FC236}">
                  <a16:creationId xmlns:a16="http://schemas.microsoft.com/office/drawing/2014/main" id="{FA52EE74-F9BE-524C-BDD0-CD2D80ADBAA6}"/>
                </a:ext>
              </a:extLst>
            </p:cNvPr>
            <p:cNvSpPr>
              <a:spLocks/>
            </p:cNvSpPr>
            <p:nvPr/>
          </p:nvSpPr>
          <p:spPr bwMode="auto">
            <a:xfrm>
              <a:off x="3768" y="1895"/>
              <a:ext cx="434" cy="1109"/>
            </a:xfrm>
            <a:custGeom>
              <a:avLst/>
              <a:gdLst>
                <a:gd name="T0" fmla="*/ 509 w 1751"/>
                <a:gd name="T1" fmla="*/ 0 h 4481"/>
                <a:gd name="T2" fmla="*/ 509 w 1751"/>
                <a:gd name="T3" fmla="*/ 2792 h 4481"/>
                <a:gd name="T4" fmla="*/ 161 w 1751"/>
                <a:gd name="T5" fmla="*/ 2452 h 4481"/>
                <a:gd name="T6" fmla="*/ 161 w 1751"/>
                <a:gd name="T7" fmla="*/ 3527 h 4481"/>
                <a:gd name="T8" fmla="*/ 19 w 1751"/>
                <a:gd name="T9" fmla="*/ 4087 h 4481"/>
                <a:gd name="T10" fmla="*/ 17 w 1751"/>
                <a:gd name="T11" fmla="*/ 4090 h 4481"/>
                <a:gd name="T12" fmla="*/ 0 w 1751"/>
                <a:gd name="T13" fmla="*/ 4110 h 4481"/>
                <a:gd name="T14" fmla="*/ 393 w 1751"/>
                <a:gd name="T15" fmla="*/ 4481 h 4481"/>
                <a:gd name="T16" fmla="*/ 1751 w 1751"/>
                <a:gd name="T17" fmla="*/ 4481 h 4481"/>
                <a:gd name="T18" fmla="*/ 1751 w 1751"/>
                <a:gd name="T19" fmla="*/ 0 h 4481"/>
                <a:gd name="T20" fmla="*/ 509 w 1751"/>
                <a:gd name="T21" fmla="*/ 0 h 44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51" h="4481">
                  <a:moveTo>
                    <a:pt x="509" y="0"/>
                  </a:moveTo>
                  <a:cubicBezTo>
                    <a:pt x="509" y="2792"/>
                    <a:pt x="509" y="2792"/>
                    <a:pt x="509" y="2792"/>
                  </a:cubicBezTo>
                  <a:cubicBezTo>
                    <a:pt x="161" y="2452"/>
                    <a:pt x="161" y="2452"/>
                    <a:pt x="161" y="2452"/>
                  </a:cubicBezTo>
                  <a:cubicBezTo>
                    <a:pt x="161" y="3527"/>
                    <a:pt x="161" y="3527"/>
                    <a:pt x="161" y="3527"/>
                  </a:cubicBezTo>
                  <a:cubicBezTo>
                    <a:pt x="161" y="3775"/>
                    <a:pt x="139" y="3938"/>
                    <a:pt x="19" y="4087"/>
                  </a:cubicBezTo>
                  <a:cubicBezTo>
                    <a:pt x="17" y="4090"/>
                    <a:pt x="17" y="4090"/>
                    <a:pt x="17" y="4090"/>
                  </a:cubicBezTo>
                  <a:cubicBezTo>
                    <a:pt x="11" y="4097"/>
                    <a:pt x="5" y="4103"/>
                    <a:pt x="0" y="4110"/>
                  </a:cubicBezTo>
                  <a:cubicBezTo>
                    <a:pt x="393" y="4481"/>
                    <a:pt x="393" y="4481"/>
                    <a:pt x="393" y="4481"/>
                  </a:cubicBezTo>
                  <a:cubicBezTo>
                    <a:pt x="1751" y="4481"/>
                    <a:pt x="1751" y="4481"/>
                    <a:pt x="1751" y="4481"/>
                  </a:cubicBezTo>
                  <a:cubicBezTo>
                    <a:pt x="1751" y="0"/>
                    <a:pt x="1751" y="0"/>
                    <a:pt x="1751" y="0"/>
                  </a:cubicBezTo>
                  <a:lnTo>
                    <a:pt x="50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67" name="Freeform 66">
              <a:extLst>
                <a:ext uri="{FF2B5EF4-FFF2-40B4-BE49-F238E27FC236}">
                  <a16:creationId xmlns:a16="http://schemas.microsoft.com/office/drawing/2014/main" id="{CBEDE5D4-5500-494D-A1EE-CB749746A46D}"/>
                </a:ext>
              </a:extLst>
            </p:cNvPr>
            <p:cNvSpPr>
              <a:spLocks/>
            </p:cNvSpPr>
            <p:nvPr/>
          </p:nvSpPr>
          <p:spPr bwMode="auto">
            <a:xfrm>
              <a:off x="2850" y="1895"/>
              <a:ext cx="523" cy="1109"/>
            </a:xfrm>
            <a:custGeom>
              <a:avLst/>
              <a:gdLst>
                <a:gd name="T0" fmla="*/ 1242 w 2112"/>
                <a:gd name="T1" fmla="*/ 1773 h 4481"/>
                <a:gd name="T2" fmla="*/ 1839 w 2112"/>
                <a:gd name="T3" fmla="*/ 2338 h 4481"/>
                <a:gd name="T4" fmla="*/ 1856 w 2112"/>
                <a:gd name="T5" fmla="*/ 1719 h 4481"/>
                <a:gd name="T6" fmla="*/ 1912 w 2112"/>
                <a:gd name="T7" fmla="*/ 1629 h 4481"/>
                <a:gd name="T8" fmla="*/ 2062 w 2112"/>
                <a:gd name="T9" fmla="*/ 795 h 4481"/>
                <a:gd name="T10" fmla="*/ 2112 w 2112"/>
                <a:gd name="T11" fmla="*/ 740 h 4481"/>
                <a:gd name="T12" fmla="*/ 1354 w 2112"/>
                <a:gd name="T13" fmla="*/ 0 h 4481"/>
                <a:gd name="T14" fmla="*/ 0 w 2112"/>
                <a:gd name="T15" fmla="*/ 0 h 4481"/>
                <a:gd name="T16" fmla="*/ 0 w 2112"/>
                <a:gd name="T17" fmla="*/ 4481 h 4481"/>
                <a:gd name="T18" fmla="*/ 1242 w 2112"/>
                <a:gd name="T19" fmla="*/ 4481 h 4481"/>
                <a:gd name="T20" fmla="*/ 1242 w 2112"/>
                <a:gd name="T21" fmla="*/ 1773 h 44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12" h="4481">
                  <a:moveTo>
                    <a:pt x="1242" y="1773"/>
                  </a:moveTo>
                  <a:cubicBezTo>
                    <a:pt x="1242" y="1773"/>
                    <a:pt x="1790" y="2292"/>
                    <a:pt x="1839" y="2338"/>
                  </a:cubicBezTo>
                  <a:cubicBezTo>
                    <a:pt x="1787" y="2144"/>
                    <a:pt x="1751" y="1887"/>
                    <a:pt x="1856" y="1719"/>
                  </a:cubicBezTo>
                  <a:cubicBezTo>
                    <a:pt x="1912" y="1629"/>
                    <a:pt x="1912" y="1629"/>
                    <a:pt x="1912" y="1629"/>
                  </a:cubicBezTo>
                  <a:cubicBezTo>
                    <a:pt x="1855" y="1323"/>
                    <a:pt x="1869" y="1006"/>
                    <a:pt x="2062" y="795"/>
                  </a:cubicBezTo>
                  <a:cubicBezTo>
                    <a:pt x="2112" y="740"/>
                    <a:pt x="2112" y="740"/>
                    <a:pt x="2112" y="740"/>
                  </a:cubicBezTo>
                  <a:cubicBezTo>
                    <a:pt x="1354" y="0"/>
                    <a:pt x="1354" y="0"/>
                    <a:pt x="1354" y="0"/>
                  </a:cubicBezTo>
                  <a:cubicBezTo>
                    <a:pt x="0" y="0"/>
                    <a:pt x="0" y="0"/>
                    <a:pt x="0" y="0"/>
                  </a:cubicBezTo>
                  <a:cubicBezTo>
                    <a:pt x="0" y="4481"/>
                    <a:pt x="0" y="4481"/>
                    <a:pt x="0" y="4481"/>
                  </a:cubicBezTo>
                  <a:cubicBezTo>
                    <a:pt x="1242" y="4481"/>
                    <a:pt x="1242" y="4481"/>
                    <a:pt x="1242" y="4481"/>
                  </a:cubicBezTo>
                  <a:lnTo>
                    <a:pt x="1242" y="177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68" name="Freeform 67">
              <a:extLst>
                <a:ext uri="{FF2B5EF4-FFF2-40B4-BE49-F238E27FC236}">
                  <a16:creationId xmlns:a16="http://schemas.microsoft.com/office/drawing/2014/main" id="{3374E4E7-3472-E34E-9607-8FC0F351B613}"/>
                </a:ext>
              </a:extLst>
            </p:cNvPr>
            <p:cNvSpPr>
              <a:spLocks/>
            </p:cNvSpPr>
            <p:nvPr/>
          </p:nvSpPr>
          <p:spPr bwMode="auto">
            <a:xfrm>
              <a:off x="3792" y="3082"/>
              <a:ext cx="352" cy="210"/>
            </a:xfrm>
            <a:custGeom>
              <a:avLst/>
              <a:gdLst>
                <a:gd name="T0" fmla="*/ 264 w 1420"/>
                <a:gd name="T1" fmla="*/ 22 h 850"/>
                <a:gd name="T2" fmla="*/ 977 w 1420"/>
                <a:gd name="T3" fmla="*/ 90 h 850"/>
                <a:gd name="T4" fmla="*/ 1098 w 1420"/>
                <a:gd name="T5" fmla="*/ 235 h 850"/>
                <a:gd name="T6" fmla="*/ 839 w 1420"/>
                <a:gd name="T7" fmla="*/ 204 h 850"/>
                <a:gd name="T8" fmla="*/ 830 w 1420"/>
                <a:gd name="T9" fmla="*/ 299 h 850"/>
                <a:gd name="T10" fmla="*/ 1115 w 1420"/>
                <a:gd name="T11" fmla="*/ 258 h 850"/>
                <a:gd name="T12" fmla="*/ 1406 w 1420"/>
                <a:gd name="T13" fmla="*/ 463 h 850"/>
                <a:gd name="T14" fmla="*/ 1104 w 1420"/>
                <a:gd name="T15" fmla="*/ 436 h 850"/>
                <a:gd name="T16" fmla="*/ 636 w 1420"/>
                <a:gd name="T17" fmla="*/ 622 h 850"/>
                <a:gd name="T18" fmla="*/ 120 w 1420"/>
                <a:gd name="T19" fmla="*/ 850 h 850"/>
                <a:gd name="T20" fmla="*/ 429 w 1420"/>
                <a:gd name="T21" fmla="*/ 520 h 850"/>
                <a:gd name="T22" fmla="*/ 131 w 1420"/>
                <a:gd name="T23" fmla="*/ 416 h 850"/>
                <a:gd name="T24" fmla="*/ 375 w 1420"/>
                <a:gd name="T25" fmla="*/ 203 h 850"/>
                <a:gd name="T26" fmla="*/ 0 w 1420"/>
                <a:gd name="T27" fmla="*/ 0 h 850"/>
                <a:gd name="T28" fmla="*/ 264 w 1420"/>
                <a:gd name="T29" fmla="*/ 22 h 8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420" h="850">
                  <a:moveTo>
                    <a:pt x="264" y="22"/>
                  </a:moveTo>
                  <a:cubicBezTo>
                    <a:pt x="558" y="44"/>
                    <a:pt x="767" y="64"/>
                    <a:pt x="977" y="90"/>
                  </a:cubicBezTo>
                  <a:cubicBezTo>
                    <a:pt x="1057" y="100"/>
                    <a:pt x="1088" y="192"/>
                    <a:pt x="1098" y="235"/>
                  </a:cubicBezTo>
                  <a:cubicBezTo>
                    <a:pt x="998" y="210"/>
                    <a:pt x="839" y="204"/>
                    <a:pt x="839" y="204"/>
                  </a:cubicBezTo>
                  <a:cubicBezTo>
                    <a:pt x="830" y="299"/>
                    <a:pt x="830" y="299"/>
                    <a:pt x="830" y="299"/>
                  </a:cubicBezTo>
                  <a:cubicBezTo>
                    <a:pt x="830" y="299"/>
                    <a:pt x="966" y="260"/>
                    <a:pt x="1115" y="258"/>
                  </a:cubicBezTo>
                  <a:cubicBezTo>
                    <a:pt x="1115" y="258"/>
                    <a:pt x="1420" y="257"/>
                    <a:pt x="1406" y="463"/>
                  </a:cubicBezTo>
                  <a:cubicBezTo>
                    <a:pt x="1322" y="405"/>
                    <a:pt x="1152" y="428"/>
                    <a:pt x="1104" y="436"/>
                  </a:cubicBezTo>
                  <a:cubicBezTo>
                    <a:pt x="951" y="461"/>
                    <a:pt x="805" y="532"/>
                    <a:pt x="636" y="622"/>
                  </a:cubicBezTo>
                  <a:cubicBezTo>
                    <a:pt x="482" y="703"/>
                    <a:pt x="315" y="791"/>
                    <a:pt x="120" y="850"/>
                  </a:cubicBezTo>
                  <a:cubicBezTo>
                    <a:pt x="206" y="767"/>
                    <a:pt x="429" y="520"/>
                    <a:pt x="429" y="520"/>
                  </a:cubicBezTo>
                  <a:cubicBezTo>
                    <a:pt x="131" y="416"/>
                    <a:pt x="131" y="416"/>
                    <a:pt x="131" y="416"/>
                  </a:cubicBezTo>
                  <a:cubicBezTo>
                    <a:pt x="375" y="203"/>
                    <a:pt x="375" y="203"/>
                    <a:pt x="375" y="203"/>
                  </a:cubicBezTo>
                  <a:cubicBezTo>
                    <a:pt x="0" y="0"/>
                    <a:pt x="0" y="0"/>
                    <a:pt x="0" y="0"/>
                  </a:cubicBezTo>
                  <a:cubicBezTo>
                    <a:pt x="93" y="8"/>
                    <a:pt x="182" y="15"/>
                    <a:pt x="264" y="2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69" name="Freeform 68">
              <a:extLst>
                <a:ext uri="{FF2B5EF4-FFF2-40B4-BE49-F238E27FC236}">
                  <a16:creationId xmlns:a16="http://schemas.microsoft.com/office/drawing/2014/main" id="{7A7FB9A9-D903-AB44-8509-AEDFA873CE75}"/>
                </a:ext>
              </a:extLst>
            </p:cNvPr>
            <p:cNvSpPr>
              <a:spLocks/>
            </p:cNvSpPr>
            <p:nvPr/>
          </p:nvSpPr>
          <p:spPr bwMode="auto">
            <a:xfrm>
              <a:off x="3750" y="1503"/>
              <a:ext cx="59" cy="1386"/>
            </a:xfrm>
            <a:custGeom>
              <a:avLst/>
              <a:gdLst>
                <a:gd name="T0" fmla="*/ 236 w 236"/>
                <a:gd name="T1" fmla="*/ 0 h 5594"/>
                <a:gd name="T2" fmla="*/ 116 w 236"/>
                <a:gd name="T3" fmla="*/ 1792 h 5594"/>
                <a:gd name="T4" fmla="*/ 116 w 236"/>
                <a:gd name="T5" fmla="*/ 5108 h 5594"/>
                <a:gd name="T6" fmla="*/ 0 w 236"/>
                <a:gd name="T7" fmla="*/ 5594 h 5594"/>
              </a:gdLst>
              <a:ahLst/>
              <a:cxnLst>
                <a:cxn ang="0">
                  <a:pos x="T0" y="T1"/>
                </a:cxn>
                <a:cxn ang="0">
                  <a:pos x="T2" y="T3"/>
                </a:cxn>
                <a:cxn ang="0">
                  <a:pos x="T4" y="T5"/>
                </a:cxn>
                <a:cxn ang="0">
                  <a:pos x="T6" y="T7"/>
                </a:cxn>
              </a:cxnLst>
              <a:rect l="0" t="0" r="r" b="b"/>
              <a:pathLst>
                <a:path w="236" h="5594">
                  <a:moveTo>
                    <a:pt x="236" y="0"/>
                  </a:moveTo>
                  <a:cubicBezTo>
                    <a:pt x="236" y="0"/>
                    <a:pt x="116" y="644"/>
                    <a:pt x="116" y="1792"/>
                  </a:cubicBezTo>
                  <a:cubicBezTo>
                    <a:pt x="116" y="5108"/>
                    <a:pt x="116" y="5108"/>
                    <a:pt x="116" y="5108"/>
                  </a:cubicBezTo>
                  <a:cubicBezTo>
                    <a:pt x="116" y="5337"/>
                    <a:pt x="96" y="5474"/>
                    <a:pt x="0" y="559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70" name="Freeform 69">
              <a:extLst>
                <a:ext uri="{FF2B5EF4-FFF2-40B4-BE49-F238E27FC236}">
                  <a16:creationId xmlns:a16="http://schemas.microsoft.com/office/drawing/2014/main" id="{FC28484A-7EDA-F545-869F-81A3A5093258}"/>
                </a:ext>
              </a:extLst>
            </p:cNvPr>
            <p:cNvSpPr>
              <a:spLocks/>
            </p:cNvSpPr>
            <p:nvPr/>
          </p:nvSpPr>
          <p:spPr bwMode="auto">
            <a:xfrm>
              <a:off x="2919" y="1494"/>
              <a:ext cx="934" cy="1816"/>
            </a:xfrm>
            <a:custGeom>
              <a:avLst/>
              <a:gdLst>
                <a:gd name="T0" fmla="*/ 3358 w 3774"/>
                <a:gd name="T1" fmla="*/ 5632 h 7335"/>
                <a:gd name="T2" fmla="*/ 3079 w 3774"/>
                <a:gd name="T3" fmla="*/ 6187 h 7335"/>
                <a:gd name="T4" fmla="*/ 3079 w 3774"/>
                <a:gd name="T5" fmla="*/ 6187 h 7335"/>
                <a:gd name="T6" fmla="*/ 3302 w 3774"/>
                <a:gd name="T7" fmla="*/ 6410 h 7335"/>
                <a:gd name="T8" fmla="*/ 3720 w 3774"/>
                <a:gd name="T9" fmla="*/ 6636 h 7335"/>
                <a:gd name="T10" fmla="*/ 3449 w 3774"/>
                <a:gd name="T11" fmla="*/ 6873 h 7335"/>
                <a:gd name="T12" fmla="*/ 3774 w 3774"/>
                <a:gd name="T13" fmla="*/ 6975 h 7335"/>
                <a:gd name="T14" fmla="*/ 3441 w 3774"/>
                <a:gd name="T15" fmla="*/ 7312 h 7335"/>
                <a:gd name="T16" fmla="*/ 3169 w 3774"/>
                <a:gd name="T17" fmla="*/ 7335 h 7335"/>
                <a:gd name="T18" fmla="*/ 1281 w 3774"/>
                <a:gd name="T19" fmla="*/ 6924 h 7335"/>
                <a:gd name="T20" fmla="*/ 636 w 3774"/>
                <a:gd name="T21" fmla="*/ 7086 h 7335"/>
                <a:gd name="T22" fmla="*/ 823 w 3774"/>
                <a:gd name="T23" fmla="*/ 6882 h 7335"/>
                <a:gd name="T24" fmla="*/ 339 w 3774"/>
                <a:gd name="T25" fmla="*/ 6912 h 7335"/>
                <a:gd name="T26" fmla="*/ 675 w 3774"/>
                <a:gd name="T27" fmla="*/ 6684 h 7335"/>
                <a:gd name="T28" fmla="*/ 0 w 3774"/>
                <a:gd name="T29" fmla="*/ 6500 h 7335"/>
                <a:gd name="T30" fmla="*/ 1280 w 3774"/>
                <a:gd name="T31" fmla="*/ 6465 h 7335"/>
                <a:gd name="T32" fmla="*/ 2083 w 3774"/>
                <a:gd name="T33" fmla="*/ 6498 h 7335"/>
                <a:gd name="T34" fmla="*/ 1500 w 3774"/>
                <a:gd name="T35" fmla="*/ 6006 h 7335"/>
                <a:gd name="T36" fmla="*/ 1976 w 3774"/>
                <a:gd name="T37" fmla="*/ 6078 h 7335"/>
                <a:gd name="T38" fmla="*/ 1432 w 3774"/>
                <a:gd name="T39" fmla="*/ 5412 h 7335"/>
                <a:gd name="T40" fmla="*/ 1964 w 3774"/>
                <a:gd name="T41" fmla="*/ 5598 h 7335"/>
                <a:gd name="T42" fmla="*/ 1482 w 3774"/>
                <a:gd name="T43" fmla="*/ 4831 h 7335"/>
                <a:gd name="T44" fmla="*/ 1902 w 3774"/>
                <a:gd name="T45" fmla="*/ 5096 h 7335"/>
                <a:gd name="T46" fmla="*/ 1544 w 3774"/>
                <a:gd name="T47" fmla="*/ 4223 h 7335"/>
                <a:gd name="T48" fmla="*/ 1936 w 3774"/>
                <a:gd name="T49" fmla="*/ 4487 h 7335"/>
                <a:gd name="T50" fmla="*/ 1678 w 3774"/>
                <a:gd name="T51" fmla="*/ 3401 h 7335"/>
                <a:gd name="T52" fmla="*/ 2063 w 3774"/>
                <a:gd name="T53" fmla="*/ 4032 h 7335"/>
                <a:gd name="T54" fmla="*/ 1872 w 3774"/>
                <a:gd name="T55" fmla="*/ 2493 h 7335"/>
                <a:gd name="T56" fmla="*/ 2345 w 3774"/>
                <a:gd name="T57" fmla="*/ 3685 h 7335"/>
                <a:gd name="T58" fmla="*/ 2340 w 3774"/>
                <a:gd name="T59" fmla="*/ 1341 h 7335"/>
                <a:gd name="T60" fmla="*/ 2525 w 3774"/>
                <a:gd name="T61" fmla="*/ 2863 h 7335"/>
                <a:gd name="T62" fmla="*/ 3007 w 3774"/>
                <a:gd name="T63" fmla="*/ 550 h 7335"/>
                <a:gd name="T64" fmla="*/ 2911 w 3774"/>
                <a:gd name="T65" fmla="*/ 2268 h 7335"/>
                <a:gd name="T66" fmla="*/ 3594 w 3774"/>
                <a:gd name="T67" fmla="*/ 38 h 73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774" h="7335">
                  <a:moveTo>
                    <a:pt x="3358" y="5632"/>
                  </a:moveTo>
                  <a:cubicBezTo>
                    <a:pt x="3219" y="5793"/>
                    <a:pt x="3040" y="6021"/>
                    <a:pt x="3079" y="6187"/>
                  </a:cubicBezTo>
                  <a:cubicBezTo>
                    <a:pt x="3079" y="6187"/>
                    <a:pt x="3079" y="6187"/>
                    <a:pt x="3079" y="6187"/>
                  </a:cubicBezTo>
                  <a:cubicBezTo>
                    <a:pt x="3107" y="6325"/>
                    <a:pt x="3302" y="6410"/>
                    <a:pt x="3302" y="6410"/>
                  </a:cubicBezTo>
                  <a:cubicBezTo>
                    <a:pt x="3720" y="6636"/>
                    <a:pt x="3720" y="6636"/>
                    <a:pt x="3720" y="6636"/>
                  </a:cubicBezTo>
                  <a:cubicBezTo>
                    <a:pt x="3449" y="6873"/>
                    <a:pt x="3449" y="6873"/>
                    <a:pt x="3449" y="6873"/>
                  </a:cubicBezTo>
                  <a:cubicBezTo>
                    <a:pt x="3774" y="6975"/>
                    <a:pt x="3774" y="6975"/>
                    <a:pt x="3774" y="6975"/>
                  </a:cubicBezTo>
                  <a:cubicBezTo>
                    <a:pt x="3774" y="6975"/>
                    <a:pt x="3476" y="7281"/>
                    <a:pt x="3441" y="7312"/>
                  </a:cubicBezTo>
                  <a:cubicBezTo>
                    <a:pt x="3356" y="7326"/>
                    <a:pt x="3266" y="7335"/>
                    <a:pt x="3169" y="7335"/>
                  </a:cubicBezTo>
                  <a:cubicBezTo>
                    <a:pt x="2479" y="7335"/>
                    <a:pt x="1519" y="6927"/>
                    <a:pt x="1281" y="6924"/>
                  </a:cubicBezTo>
                  <a:cubicBezTo>
                    <a:pt x="995" y="6921"/>
                    <a:pt x="636" y="7086"/>
                    <a:pt x="636" y="7086"/>
                  </a:cubicBezTo>
                  <a:cubicBezTo>
                    <a:pt x="823" y="6882"/>
                    <a:pt x="823" y="6882"/>
                    <a:pt x="823" y="6882"/>
                  </a:cubicBezTo>
                  <a:cubicBezTo>
                    <a:pt x="823" y="6882"/>
                    <a:pt x="577" y="6932"/>
                    <a:pt x="339" y="6912"/>
                  </a:cubicBezTo>
                  <a:cubicBezTo>
                    <a:pt x="675" y="6684"/>
                    <a:pt x="675" y="6684"/>
                    <a:pt x="675" y="6684"/>
                  </a:cubicBezTo>
                  <a:cubicBezTo>
                    <a:pt x="380" y="6674"/>
                    <a:pt x="122" y="6586"/>
                    <a:pt x="0" y="6500"/>
                  </a:cubicBezTo>
                  <a:cubicBezTo>
                    <a:pt x="0" y="6500"/>
                    <a:pt x="543" y="6457"/>
                    <a:pt x="1280" y="6465"/>
                  </a:cubicBezTo>
                  <a:cubicBezTo>
                    <a:pt x="1578" y="6468"/>
                    <a:pt x="2083" y="6498"/>
                    <a:pt x="2083" y="6498"/>
                  </a:cubicBezTo>
                  <a:cubicBezTo>
                    <a:pt x="1834" y="6392"/>
                    <a:pt x="1600" y="6252"/>
                    <a:pt x="1500" y="6006"/>
                  </a:cubicBezTo>
                  <a:cubicBezTo>
                    <a:pt x="1976" y="6078"/>
                    <a:pt x="1976" y="6078"/>
                    <a:pt x="1976" y="6078"/>
                  </a:cubicBezTo>
                  <a:cubicBezTo>
                    <a:pt x="1776" y="5956"/>
                    <a:pt x="1486" y="5649"/>
                    <a:pt x="1432" y="5412"/>
                  </a:cubicBezTo>
                  <a:cubicBezTo>
                    <a:pt x="1964" y="5598"/>
                    <a:pt x="1964" y="5598"/>
                    <a:pt x="1964" y="5598"/>
                  </a:cubicBezTo>
                  <a:cubicBezTo>
                    <a:pt x="1869" y="5496"/>
                    <a:pt x="1541" y="5188"/>
                    <a:pt x="1482" y="4831"/>
                  </a:cubicBezTo>
                  <a:cubicBezTo>
                    <a:pt x="1902" y="5096"/>
                    <a:pt x="1902" y="5096"/>
                    <a:pt x="1902" y="5096"/>
                  </a:cubicBezTo>
                  <a:cubicBezTo>
                    <a:pt x="1792" y="4985"/>
                    <a:pt x="1493" y="4396"/>
                    <a:pt x="1544" y="4223"/>
                  </a:cubicBezTo>
                  <a:cubicBezTo>
                    <a:pt x="1936" y="4487"/>
                    <a:pt x="1936" y="4487"/>
                    <a:pt x="1936" y="4487"/>
                  </a:cubicBezTo>
                  <a:cubicBezTo>
                    <a:pt x="1748" y="4255"/>
                    <a:pt x="1529" y="3640"/>
                    <a:pt x="1678" y="3401"/>
                  </a:cubicBezTo>
                  <a:cubicBezTo>
                    <a:pt x="1797" y="3864"/>
                    <a:pt x="2063" y="4032"/>
                    <a:pt x="2063" y="4032"/>
                  </a:cubicBezTo>
                  <a:cubicBezTo>
                    <a:pt x="1889" y="3780"/>
                    <a:pt x="1513" y="2887"/>
                    <a:pt x="1872" y="2493"/>
                  </a:cubicBezTo>
                  <a:cubicBezTo>
                    <a:pt x="1966" y="3384"/>
                    <a:pt x="2345" y="3685"/>
                    <a:pt x="2345" y="3685"/>
                  </a:cubicBezTo>
                  <a:cubicBezTo>
                    <a:pt x="2031" y="3186"/>
                    <a:pt x="1674" y="1652"/>
                    <a:pt x="2340" y="1341"/>
                  </a:cubicBezTo>
                  <a:cubicBezTo>
                    <a:pt x="2210" y="2327"/>
                    <a:pt x="2525" y="2863"/>
                    <a:pt x="2525" y="2863"/>
                  </a:cubicBezTo>
                  <a:cubicBezTo>
                    <a:pt x="2326" y="1955"/>
                    <a:pt x="2332" y="668"/>
                    <a:pt x="3007" y="550"/>
                  </a:cubicBezTo>
                  <a:cubicBezTo>
                    <a:pt x="2676" y="1520"/>
                    <a:pt x="2911" y="2268"/>
                    <a:pt x="2911" y="2268"/>
                  </a:cubicBezTo>
                  <a:cubicBezTo>
                    <a:pt x="2863" y="0"/>
                    <a:pt x="3594" y="38"/>
                    <a:pt x="3594" y="3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grpSp>
      <p:sp>
        <p:nvSpPr>
          <p:cNvPr id="25" name="Text Placeholder 3">
            <a:extLst>
              <a:ext uri="{FF2B5EF4-FFF2-40B4-BE49-F238E27FC236}">
                <a16:creationId xmlns:a16="http://schemas.microsoft.com/office/drawing/2014/main" id="{4EC5CC60-4AF4-F644-B8B0-4E05C102B845}"/>
              </a:ext>
            </a:extLst>
          </p:cNvPr>
          <p:cNvSpPr>
            <a:spLocks noGrp="1"/>
          </p:cNvSpPr>
          <p:nvPr>
            <p:ph type="body" sz="quarter" idx="12"/>
          </p:nvPr>
        </p:nvSpPr>
        <p:spPr>
          <a:xfrm>
            <a:off x="504832" y="2442198"/>
            <a:ext cx="2726057" cy="986806"/>
          </a:xfrm>
        </p:spPr>
        <p:txBody>
          <a:bodyPr/>
          <a:lstStyle>
            <a:lvl1pPr>
              <a:lnSpc>
                <a:spcPct val="112000"/>
              </a:lnSpc>
              <a:spcAft>
                <a:spcPts val="0"/>
              </a:spcAft>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p:txBody>
      </p:sp>
      <p:sp>
        <p:nvSpPr>
          <p:cNvPr id="27" name="Text Placeholder 3">
            <a:extLst>
              <a:ext uri="{FF2B5EF4-FFF2-40B4-BE49-F238E27FC236}">
                <a16:creationId xmlns:a16="http://schemas.microsoft.com/office/drawing/2014/main" id="{1BAE55D1-F868-E44A-BDBA-496630A1EDA5}"/>
              </a:ext>
            </a:extLst>
          </p:cNvPr>
          <p:cNvSpPr>
            <a:spLocks noGrp="1"/>
          </p:cNvSpPr>
          <p:nvPr>
            <p:ph type="body" sz="quarter" idx="13"/>
          </p:nvPr>
        </p:nvSpPr>
        <p:spPr>
          <a:xfrm>
            <a:off x="3549340" y="2442198"/>
            <a:ext cx="2726057" cy="986806"/>
          </a:xfrm>
        </p:spPr>
        <p:txBody>
          <a:bodyPr/>
          <a:lstStyle>
            <a:lvl1pPr>
              <a:lnSpc>
                <a:spcPct val="112000"/>
              </a:lnSpc>
              <a:spcAft>
                <a:spcPts val="0"/>
              </a:spcAft>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308768954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Title Slide 2">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4AB28DA-8311-4C87-A270-A26F9574C96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grpSp>
        <p:nvGrpSpPr>
          <p:cNvPr id="26" name="Group 25">
            <a:extLst>
              <a:ext uri="{FF2B5EF4-FFF2-40B4-BE49-F238E27FC236}">
                <a16:creationId xmlns:a16="http://schemas.microsoft.com/office/drawing/2014/main" id="{064BF798-CC9D-1541-AE53-488C61F2485D}"/>
              </a:ext>
            </a:extLst>
          </p:cNvPr>
          <p:cNvGrpSpPr>
            <a:grpSpLocks noChangeAspect="1"/>
          </p:cNvGrpSpPr>
          <p:nvPr/>
        </p:nvGrpSpPr>
        <p:grpSpPr bwMode="auto">
          <a:xfrm>
            <a:off x="9483956" y="4094268"/>
            <a:ext cx="1991010" cy="1986618"/>
            <a:chOff x="2464" y="1494"/>
            <a:chExt cx="2267" cy="2262"/>
          </a:xfrm>
          <a:solidFill>
            <a:schemeClr val="bg1"/>
          </a:solidFill>
        </p:grpSpPr>
        <p:sp>
          <p:nvSpPr>
            <p:cNvPr id="27" name="Oval 26">
              <a:extLst>
                <a:ext uri="{FF2B5EF4-FFF2-40B4-BE49-F238E27FC236}">
                  <a16:creationId xmlns:a16="http://schemas.microsoft.com/office/drawing/2014/main" id="{887F432A-F08B-8646-A608-A83C0ED4197F}"/>
                </a:ext>
              </a:extLst>
            </p:cNvPr>
            <p:cNvSpPr>
              <a:spLocks noChangeArrowheads="1"/>
            </p:cNvSpPr>
            <p:nvPr/>
          </p:nvSpPr>
          <p:spPr bwMode="auto">
            <a:xfrm>
              <a:off x="3170" y="3451"/>
              <a:ext cx="70" cy="6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28" name="Oval 27">
              <a:extLst>
                <a:ext uri="{FF2B5EF4-FFF2-40B4-BE49-F238E27FC236}">
                  <a16:creationId xmlns:a16="http://schemas.microsoft.com/office/drawing/2014/main" id="{47108310-CF70-E041-8559-0BBAF0A3E134}"/>
                </a:ext>
              </a:extLst>
            </p:cNvPr>
            <p:cNvSpPr>
              <a:spLocks noChangeArrowheads="1"/>
            </p:cNvSpPr>
            <p:nvPr/>
          </p:nvSpPr>
          <p:spPr bwMode="auto">
            <a:xfrm>
              <a:off x="4070" y="3451"/>
              <a:ext cx="71" cy="6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29" name="Freeform 28">
              <a:extLst>
                <a:ext uri="{FF2B5EF4-FFF2-40B4-BE49-F238E27FC236}">
                  <a16:creationId xmlns:a16="http://schemas.microsoft.com/office/drawing/2014/main" id="{A038E46F-6542-8F48-8D1E-77199F5A3A3A}"/>
                </a:ext>
              </a:extLst>
            </p:cNvPr>
            <p:cNvSpPr>
              <a:spLocks noEditPoints="1"/>
            </p:cNvSpPr>
            <p:nvPr/>
          </p:nvSpPr>
          <p:spPr bwMode="auto">
            <a:xfrm>
              <a:off x="2771" y="3538"/>
              <a:ext cx="191" cy="218"/>
            </a:xfrm>
            <a:custGeom>
              <a:avLst/>
              <a:gdLst>
                <a:gd name="T0" fmla="*/ 770 w 770"/>
                <a:gd name="T1" fmla="*/ 353 h 881"/>
                <a:gd name="T2" fmla="*/ 770 w 770"/>
                <a:gd name="T3" fmla="*/ 857 h 881"/>
                <a:gd name="T4" fmla="*/ 550 w 770"/>
                <a:gd name="T5" fmla="*/ 857 h 881"/>
                <a:gd name="T6" fmla="*/ 550 w 770"/>
                <a:gd name="T7" fmla="*/ 772 h 881"/>
                <a:gd name="T8" fmla="*/ 310 w 770"/>
                <a:gd name="T9" fmla="*/ 876 h 881"/>
                <a:gd name="T10" fmla="*/ 0 w 770"/>
                <a:gd name="T11" fmla="*/ 617 h 881"/>
                <a:gd name="T12" fmla="*/ 514 w 770"/>
                <a:gd name="T13" fmla="*/ 320 h 881"/>
                <a:gd name="T14" fmla="*/ 543 w 770"/>
                <a:gd name="T15" fmla="*/ 320 h 881"/>
                <a:gd name="T16" fmla="*/ 379 w 770"/>
                <a:gd name="T17" fmla="*/ 190 h 881"/>
                <a:gd name="T18" fmla="*/ 155 w 770"/>
                <a:gd name="T19" fmla="*/ 270 h 881"/>
                <a:gd name="T20" fmla="*/ 22 w 770"/>
                <a:gd name="T21" fmla="*/ 137 h 881"/>
                <a:gd name="T22" fmla="*/ 385 w 770"/>
                <a:gd name="T23" fmla="*/ 0 h 881"/>
                <a:gd name="T24" fmla="*/ 682 w 770"/>
                <a:gd name="T25" fmla="*/ 91 h 881"/>
                <a:gd name="T26" fmla="*/ 770 w 770"/>
                <a:gd name="T27" fmla="*/ 353 h 881"/>
                <a:gd name="T28" fmla="*/ 543 w 770"/>
                <a:gd name="T29" fmla="*/ 493 h 881"/>
                <a:gd name="T30" fmla="*/ 521 w 770"/>
                <a:gd name="T31" fmla="*/ 493 h 881"/>
                <a:gd name="T32" fmla="*/ 326 w 770"/>
                <a:gd name="T33" fmla="*/ 516 h 881"/>
                <a:gd name="T34" fmla="*/ 241 w 770"/>
                <a:gd name="T35" fmla="*/ 602 h 881"/>
                <a:gd name="T36" fmla="*/ 356 w 770"/>
                <a:gd name="T37" fmla="*/ 689 h 881"/>
                <a:gd name="T38" fmla="*/ 543 w 770"/>
                <a:gd name="T39" fmla="*/ 519 h 881"/>
                <a:gd name="T40" fmla="*/ 543 w 770"/>
                <a:gd name="T41" fmla="*/ 493 h 8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770" h="881">
                  <a:moveTo>
                    <a:pt x="770" y="353"/>
                  </a:moveTo>
                  <a:cubicBezTo>
                    <a:pt x="770" y="857"/>
                    <a:pt x="770" y="857"/>
                    <a:pt x="770" y="857"/>
                  </a:cubicBezTo>
                  <a:cubicBezTo>
                    <a:pt x="550" y="857"/>
                    <a:pt x="550" y="857"/>
                    <a:pt x="550" y="857"/>
                  </a:cubicBezTo>
                  <a:cubicBezTo>
                    <a:pt x="550" y="772"/>
                    <a:pt x="550" y="772"/>
                    <a:pt x="550" y="772"/>
                  </a:cubicBezTo>
                  <a:cubicBezTo>
                    <a:pt x="492" y="834"/>
                    <a:pt x="421" y="873"/>
                    <a:pt x="310" y="876"/>
                  </a:cubicBezTo>
                  <a:cubicBezTo>
                    <a:pt x="137" y="881"/>
                    <a:pt x="0" y="775"/>
                    <a:pt x="0" y="617"/>
                  </a:cubicBezTo>
                  <a:cubicBezTo>
                    <a:pt x="0" y="373"/>
                    <a:pt x="260" y="320"/>
                    <a:pt x="514" y="320"/>
                  </a:cubicBezTo>
                  <a:cubicBezTo>
                    <a:pt x="543" y="320"/>
                    <a:pt x="543" y="320"/>
                    <a:pt x="543" y="320"/>
                  </a:cubicBezTo>
                  <a:cubicBezTo>
                    <a:pt x="543" y="252"/>
                    <a:pt x="513" y="190"/>
                    <a:pt x="379" y="190"/>
                  </a:cubicBezTo>
                  <a:cubicBezTo>
                    <a:pt x="287" y="190"/>
                    <a:pt x="210" y="219"/>
                    <a:pt x="155" y="270"/>
                  </a:cubicBezTo>
                  <a:cubicBezTo>
                    <a:pt x="22" y="137"/>
                    <a:pt x="22" y="137"/>
                    <a:pt x="22" y="137"/>
                  </a:cubicBezTo>
                  <a:cubicBezTo>
                    <a:pt x="113" y="46"/>
                    <a:pt x="242" y="0"/>
                    <a:pt x="385" y="0"/>
                  </a:cubicBezTo>
                  <a:cubicBezTo>
                    <a:pt x="526" y="0"/>
                    <a:pt x="604" y="20"/>
                    <a:pt x="682" y="91"/>
                  </a:cubicBezTo>
                  <a:cubicBezTo>
                    <a:pt x="757" y="158"/>
                    <a:pt x="770" y="283"/>
                    <a:pt x="770" y="353"/>
                  </a:cubicBezTo>
                  <a:moveTo>
                    <a:pt x="543" y="493"/>
                  </a:moveTo>
                  <a:cubicBezTo>
                    <a:pt x="521" y="493"/>
                    <a:pt x="521" y="493"/>
                    <a:pt x="521" y="493"/>
                  </a:cubicBezTo>
                  <a:cubicBezTo>
                    <a:pt x="484" y="493"/>
                    <a:pt x="394" y="498"/>
                    <a:pt x="326" y="516"/>
                  </a:cubicBezTo>
                  <a:cubicBezTo>
                    <a:pt x="280" y="529"/>
                    <a:pt x="241" y="560"/>
                    <a:pt x="241" y="602"/>
                  </a:cubicBezTo>
                  <a:cubicBezTo>
                    <a:pt x="241" y="663"/>
                    <a:pt x="301" y="689"/>
                    <a:pt x="356" y="689"/>
                  </a:cubicBezTo>
                  <a:cubicBezTo>
                    <a:pt x="473" y="689"/>
                    <a:pt x="543" y="615"/>
                    <a:pt x="543" y="519"/>
                  </a:cubicBezTo>
                  <a:lnTo>
                    <a:pt x="543" y="49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30" name="Freeform 29">
              <a:extLst>
                <a:ext uri="{FF2B5EF4-FFF2-40B4-BE49-F238E27FC236}">
                  <a16:creationId xmlns:a16="http://schemas.microsoft.com/office/drawing/2014/main" id="{ABC9D15F-1D25-9E4E-B017-768D600F683C}"/>
                </a:ext>
              </a:extLst>
            </p:cNvPr>
            <p:cNvSpPr>
              <a:spLocks/>
            </p:cNvSpPr>
            <p:nvPr/>
          </p:nvSpPr>
          <p:spPr bwMode="auto">
            <a:xfrm>
              <a:off x="2983" y="3477"/>
              <a:ext cx="154" cy="278"/>
            </a:xfrm>
            <a:custGeom>
              <a:avLst/>
              <a:gdLst>
                <a:gd name="T0" fmla="*/ 401 w 622"/>
                <a:gd name="T1" fmla="*/ 264 h 1120"/>
                <a:gd name="T2" fmla="*/ 401 w 622"/>
                <a:gd name="T3" fmla="*/ 0 h 1120"/>
                <a:gd name="T4" fmla="*/ 163 w 622"/>
                <a:gd name="T5" fmla="*/ 0 h 1120"/>
                <a:gd name="T6" fmla="*/ 163 w 622"/>
                <a:gd name="T7" fmla="*/ 264 h 1120"/>
                <a:gd name="T8" fmla="*/ 0 w 622"/>
                <a:gd name="T9" fmla="*/ 264 h 1120"/>
                <a:gd name="T10" fmla="*/ 0 w 622"/>
                <a:gd name="T11" fmla="*/ 463 h 1120"/>
                <a:gd name="T12" fmla="*/ 163 w 622"/>
                <a:gd name="T13" fmla="*/ 463 h 1120"/>
                <a:gd name="T14" fmla="*/ 163 w 622"/>
                <a:gd name="T15" fmla="*/ 818 h 1120"/>
                <a:gd name="T16" fmla="*/ 231 w 622"/>
                <a:gd name="T17" fmla="*/ 1055 h 1120"/>
                <a:gd name="T18" fmla="*/ 444 w 622"/>
                <a:gd name="T19" fmla="*/ 1120 h 1120"/>
                <a:gd name="T20" fmla="*/ 622 w 622"/>
                <a:gd name="T21" fmla="*/ 1086 h 1120"/>
                <a:gd name="T22" fmla="*/ 622 w 622"/>
                <a:gd name="T23" fmla="*/ 898 h 1120"/>
                <a:gd name="T24" fmla="*/ 494 w 622"/>
                <a:gd name="T25" fmla="*/ 915 h 1120"/>
                <a:gd name="T26" fmla="*/ 401 w 622"/>
                <a:gd name="T27" fmla="*/ 807 h 1120"/>
                <a:gd name="T28" fmla="*/ 401 w 622"/>
                <a:gd name="T29" fmla="*/ 463 h 1120"/>
                <a:gd name="T30" fmla="*/ 622 w 622"/>
                <a:gd name="T31" fmla="*/ 463 h 1120"/>
                <a:gd name="T32" fmla="*/ 622 w 622"/>
                <a:gd name="T33" fmla="*/ 264 h 1120"/>
                <a:gd name="T34" fmla="*/ 401 w 622"/>
                <a:gd name="T35" fmla="*/ 264 h 1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22" h="1120">
                  <a:moveTo>
                    <a:pt x="401" y="264"/>
                  </a:moveTo>
                  <a:cubicBezTo>
                    <a:pt x="401" y="0"/>
                    <a:pt x="401" y="0"/>
                    <a:pt x="401" y="0"/>
                  </a:cubicBezTo>
                  <a:cubicBezTo>
                    <a:pt x="163" y="0"/>
                    <a:pt x="163" y="0"/>
                    <a:pt x="163" y="0"/>
                  </a:cubicBezTo>
                  <a:cubicBezTo>
                    <a:pt x="163" y="264"/>
                    <a:pt x="163" y="264"/>
                    <a:pt x="163" y="264"/>
                  </a:cubicBezTo>
                  <a:cubicBezTo>
                    <a:pt x="0" y="264"/>
                    <a:pt x="0" y="264"/>
                    <a:pt x="0" y="264"/>
                  </a:cubicBezTo>
                  <a:cubicBezTo>
                    <a:pt x="0" y="463"/>
                    <a:pt x="0" y="463"/>
                    <a:pt x="0" y="463"/>
                  </a:cubicBezTo>
                  <a:cubicBezTo>
                    <a:pt x="163" y="463"/>
                    <a:pt x="163" y="463"/>
                    <a:pt x="163" y="463"/>
                  </a:cubicBezTo>
                  <a:cubicBezTo>
                    <a:pt x="163" y="818"/>
                    <a:pt x="163" y="818"/>
                    <a:pt x="163" y="818"/>
                  </a:cubicBezTo>
                  <a:cubicBezTo>
                    <a:pt x="163" y="937"/>
                    <a:pt x="184" y="1008"/>
                    <a:pt x="231" y="1055"/>
                  </a:cubicBezTo>
                  <a:cubicBezTo>
                    <a:pt x="276" y="1099"/>
                    <a:pt x="343" y="1120"/>
                    <a:pt x="444" y="1120"/>
                  </a:cubicBezTo>
                  <a:cubicBezTo>
                    <a:pt x="508" y="1120"/>
                    <a:pt x="572" y="1108"/>
                    <a:pt x="622" y="1086"/>
                  </a:cubicBezTo>
                  <a:cubicBezTo>
                    <a:pt x="622" y="898"/>
                    <a:pt x="622" y="898"/>
                    <a:pt x="622" y="898"/>
                  </a:cubicBezTo>
                  <a:cubicBezTo>
                    <a:pt x="592" y="908"/>
                    <a:pt x="549" y="915"/>
                    <a:pt x="494" y="915"/>
                  </a:cubicBezTo>
                  <a:cubicBezTo>
                    <a:pt x="420" y="915"/>
                    <a:pt x="401" y="874"/>
                    <a:pt x="401" y="807"/>
                  </a:cubicBezTo>
                  <a:cubicBezTo>
                    <a:pt x="401" y="463"/>
                    <a:pt x="401" y="463"/>
                    <a:pt x="401" y="463"/>
                  </a:cubicBezTo>
                  <a:cubicBezTo>
                    <a:pt x="622" y="463"/>
                    <a:pt x="622" y="463"/>
                    <a:pt x="622" y="463"/>
                  </a:cubicBezTo>
                  <a:cubicBezTo>
                    <a:pt x="622" y="264"/>
                    <a:pt x="622" y="264"/>
                    <a:pt x="622" y="264"/>
                  </a:cubicBezTo>
                  <a:lnTo>
                    <a:pt x="401" y="26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31" name="Freeform 30">
              <a:extLst>
                <a:ext uri="{FF2B5EF4-FFF2-40B4-BE49-F238E27FC236}">
                  <a16:creationId xmlns:a16="http://schemas.microsoft.com/office/drawing/2014/main" id="{B0236B60-1C06-F348-8743-A7C0E65DF510}"/>
                </a:ext>
              </a:extLst>
            </p:cNvPr>
            <p:cNvSpPr>
              <a:spLocks noEditPoints="1"/>
            </p:cNvSpPr>
            <p:nvPr/>
          </p:nvSpPr>
          <p:spPr bwMode="auto">
            <a:xfrm>
              <a:off x="4426" y="3538"/>
              <a:ext cx="213" cy="217"/>
            </a:xfrm>
            <a:custGeom>
              <a:avLst/>
              <a:gdLst>
                <a:gd name="T0" fmla="*/ 857 w 857"/>
                <a:gd name="T1" fmla="*/ 453 h 876"/>
                <a:gd name="T2" fmla="*/ 857 w 857"/>
                <a:gd name="T3" fmla="*/ 516 h 876"/>
                <a:gd name="T4" fmla="*/ 244 w 857"/>
                <a:gd name="T5" fmla="*/ 516 h 876"/>
                <a:gd name="T6" fmla="*/ 459 w 857"/>
                <a:gd name="T7" fmla="*/ 680 h 876"/>
                <a:gd name="T8" fmla="*/ 678 w 857"/>
                <a:gd name="T9" fmla="*/ 583 h 876"/>
                <a:gd name="T10" fmla="*/ 829 w 857"/>
                <a:gd name="T11" fmla="*/ 693 h 876"/>
                <a:gd name="T12" fmla="*/ 463 w 857"/>
                <a:gd name="T13" fmla="*/ 876 h 876"/>
                <a:gd name="T14" fmla="*/ 0 w 857"/>
                <a:gd name="T15" fmla="*/ 438 h 876"/>
                <a:gd name="T16" fmla="*/ 433 w 857"/>
                <a:gd name="T17" fmla="*/ 0 h 876"/>
                <a:gd name="T18" fmla="*/ 857 w 857"/>
                <a:gd name="T19" fmla="*/ 453 h 876"/>
                <a:gd name="T20" fmla="*/ 605 w 857"/>
                <a:gd name="T21" fmla="*/ 345 h 876"/>
                <a:gd name="T22" fmla="*/ 425 w 857"/>
                <a:gd name="T23" fmla="*/ 189 h 876"/>
                <a:gd name="T24" fmla="*/ 245 w 857"/>
                <a:gd name="T25" fmla="*/ 345 h 876"/>
                <a:gd name="T26" fmla="*/ 605 w 857"/>
                <a:gd name="T27" fmla="*/ 345 h 8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57" h="876">
                  <a:moveTo>
                    <a:pt x="857" y="453"/>
                  </a:moveTo>
                  <a:cubicBezTo>
                    <a:pt x="857" y="516"/>
                    <a:pt x="857" y="516"/>
                    <a:pt x="857" y="516"/>
                  </a:cubicBezTo>
                  <a:cubicBezTo>
                    <a:pt x="244" y="516"/>
                    <a:pt x="244" y="516"/>
                    <a:pt x="244" y="516"/>
                  </a:cubicBezTo>
                  <a:cubicBezTo>
                    <a:pt x="249" y="602"/>
                    <a:pt x="345" y="675"/>
                    <a:pt x="459" y="680"/>
                  </a:cubicBezTo>
                  <a:cubicBezTo>
                    <a:pt x="565" y="684"/>
                    <a:pt x="623" y="642"/>
                    <a:pt x="678" y="583"/>
                  </a:cubicBezTo>
                  <a:cubicBezTo>
                    <a:pt x="829" y="693"/>
                    <a:pt x="829" y="693"/>
                    <a:pt x="829" y="693"/>
                  </a:cubicBezTo>
                  <a:cubicBezTo>
                    <a:pt x="737" y="809"/>
                    <a:pt x="624" y="876"/>
                    <a:pt x="463" y="876"/>
                  </a:cubicBezTo>
                  <a:cubicBezTo>
                    <a:pt x="208" y="876"/>
                    <a:pt x="0" y="718"/>
                    <a:pt x="0" y="438"/>
                  </a:cubicBezTo>
                  <a:cubicBezTo>
                    <a:pt x="0" y="215"/>
                    <a:pt x="139" y="0"/>
                    <a:pt x="433" y="0"/>
                  </a:cubicBezTo>
                  <a:cubicBezTo>
                    <a:pt x="736" y="0"/>
                    <a:pt x="857" y="235"/>
                    <a:pt x="857" y="453"/>
                  </a:cubicBezTo>
                  <a:moveTo>
                    <a:pt x="605" y="345"/>
                  </a:moveTo>
                  <a:cubicBezTo>
                    <a:pt x="594" y="254"/>
                    <a:pt x="544" y="187"/>
                    <a:pt x="425" y="189"/>
                  </a:cubicBezTo>
                  <a:cubicBezTo>
                    <a:pt x="324" y="191"/>
                    <a:pt x="256" y="259"/>
                    <a:pt x="245" y="345"/>
                  </a:cubicBezTo>
                  <a:lnTo>
                    <a:pt x="605" y="34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32" name="Freeform 31">
              <a:extLst>
                <a:ext uri="{FF2B5EF4-FFF2-40B4-BE49-F238E27FC236}">
                  <a16:creationId xmlns:a16="http://schemas.microsoft.com/office/drawing/2014/main" id="{E1C17EF2-C7D9-9344-BDB1-DDA24E4F1906}"/>
                </a:ext>
              </a:extLst>
            </p:cNvPr>
            <p:cNvSpPr>
              <a:spLocks/>
            </p:cNvSpPr>
            <p:nvPr/>
          </p:nvSpPr>
          <p:spPr bwMode="auto">
            <a:xfrm>
              <a:off x="2464" y="3449"/>
              <a:ext cx="272" cy="301"/>
            </a:xfrm>
            <a:custGeom>
              <a:avLst/>
              <a:gdLst>
                <a:gd name="T0" fmla="*/ 207 w 272"/>
                <a:gd name="T1" fmla="*/ 0 h 301"/>
                <a:gd name="T2" fmla="*/ 207 w 272"/>
                <a:gd name="T3" fmla="*/ 204 h 301"/>
                <a:gd name="T4" fmla="*/ 80 w 272"/>
                <a:gd name="T5" fmla="*/ 0 h 301"/>
                <a:gd name="T6" fmla="*/ 0 w 272"/>
                <a:gd name="T7" fmla="*/ 0 h 301"/>
                <a:gd name="T8" fmla="*/ 0 w 272"/>
                <a:gd name="T9" fmla="*/ 301 h 301"/>
                <a:gd name="T10" fmla="*/ 65 w 272"/>
                <a:gd name="T11" fmla="*/ 301 h 301"/>
                <a:gd name="T12" fmla="*/ 65 w 272"/>
                <a:gd name="T13" fmla="*/ 90 h 301"/>
                <a:gd name="T14" fmla="*/ 196 w 272"/>
                <a:gd name="T15" fmla="*/ 301 h 301"/>
                <a:gd name="T16" fmla="*/ 272 w 272"/>
                <a:gd name="T17" fmla="*/ 301 h 301"/>
                <a:gd name="T18" fmla="*/ 272 w 272"/>
                <a:gd name="T19" fmla="*/ 0 h 301"/>
                <a:gd name="T20" fmla="*/ 207 w 272"/>
                <a:gd name="T21" fmla="*/ 0 h 3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72" h="301">
                  <a:moveTo>
                    <a:pt x="207" y="0"/>
                  </a:moveTo>
                  <a:lnTo>
                    <a:pt x="207" y="204"/>
                  </a:lnTo>
                  <a:lnTo>
                    <a:pt x="80" y="0"/>
                  </a:lnTo>
                  <a:lnTo>
                    <a:pt x="0" y="0"/>
                  </a:lnTo>
                  <a:lnTo>
                    <a:pt x="0" y="301"/>
                  </a:lnTo>
                  <a:lnTo>
                    <a:pt x="65" y="301"/>
                  </a:lnTo>
                  <a:lnTo>
                    <a:pt x="65" y="90"/>
                  </a:lnTo>
                  <a:lnTo>
                    <a:pt x="196" y="301"/>
                  </a:lnTo>
                  <a:lnTo>
                    <a:pt x="272" y="301"/>
                  </a:lnTo>
                  <a:lnTo>
                    <a:pt x="272" y="0"/>
                  </a:lnTo>
                  <a:lnTo>
                    <a:pt x="207"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33" name="Freeform 32">
              <a:extLst>
                <a:ext uri="{FF2B5EF4-FFF2-40B4-BE49-F238E27FC236}">
                  <a16:creationId xmlns:a16="http://schemas.microsoft.com/office/drawing/2014/main" id="{CCA3B6EB-815A-334B-8E70-FB8652A02710}"/>
                </a:ext>
              </a:extLst>
            </p:cNvPr>
            <p:cNvSpPr>
              <a:spLocks/>
            </p:cNvSpPr>
            <p:nvPr/>
          </p:nvSpPr>
          <p:spPr bwMode="auto">
            <a:xfrm>
              <a:off x="3734" y="3543"/>
              <a:ext cx="321" cy="207"/>
            </a:xfrm>
            <a:custGeom>
              <a:avLst/>
              <a:gdLst>
                <a:gd name="T0" fmla="*/ 259 w 321"/>
                <a:gd name="T1" fmla="*/ 0 h 207"/>
                <a:gd name="T2" fmla="*/ 226 w 321"/>
                <a:gd name="T3" fmla="*/ 129 h 207"/>
                <a:gd name="T4" fmla="*/ 192 w 321"/>
                <a:gd name="T5" fmla="*/ 0 h 207"/>
                <a:gd name="T6" fmla="*/ 131 w 321"/>
                <a:gd name="T7" fmla="*/ 0 h 207"/>
                <a:gd name="T8" fmla="*/ 98 w 321"/>
                <a:gd name="T9" fmla="*/ 128 h 207"/>
                <a:gd name="T10" fmla="*/ 65 w 321"/>
                <a:gd name="T11" fmla="*/ 0 h 207"/>
                <a:gd name="T12" fmla="*/ 0 w 321"/>
                <a:gd name="T13" fmla="*/ 0 h 207"/>
                <a:gd name="T14" fmla="*/ 66 w 321"/>
                <a:gd name="T15" fmla="*/ 207 h 207"/>
                <a:gd name="T16" fmla="*/ 125 w 321"/>
                <a:gd name="T17" fmla="*/ 207 h 207"/>
                <a:gd name="T18" fmla="*/ 161 w 321"/>
                <a:gd name="T19" fmla="*/ 77 h 207"/>
                <a:gd name="T20" fmla="*/ 201 w 321"/>
                <a:gd name="T21" fmla="*/ 207 h 207"/>
                <a:gd name="T22" fmla="*/ 255 w 321"/>
                <a:gd name="T23" fmla="*/ 207 h 207"/>
                <a:gd name="T24" fmla="*/ 321 w 321"/>
                <a:gd name="T25" fmla="*/ 0 h 207"/>
                <a:gd name="T26" fmla="*/ 259 w 321"/>
                <a:gd name="T27" fmla="*/ 0 h 2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21" h="207">
                  <a:moveTo>
                    <a:pt x="259" y="0"/>
                  </a:moveTo>
                  <a:lnTo>
                    <a:pt x="226" y="129"/>
                  </a:lnTo>
                  <a:lnTo>
                    <a:pt x="192" y="0"/>
                  </a:lnTo>
                  <a:lnTo>
                    <a:pt x="131" y="0"/>
                  </a:lnTo>
                  <a:lnTo>
                    <a:pt x="98" y="128"/>
                  </a:lnTo>
                  <a:lnTo>
                    <a:pt x="65" y="0"/>
                  </a:lnTo>
                  <a:lnTo>
                    <a:pt x="0" y="0"/>
                  </a:lnTo>
                  <a:lnTo>
                    <a:pt x="66" y="207"/>
                  </a:lnTo>
                  <a:lnTo>
                    <a:pt x="125" y="207"/>
                  </a:lnTo>
                  <a:lnTo>
                    <a:pt x="161" y="77"/>
                  </a:lnTo>
                  <a:lnTo>
                    <a:pt x="201" y="207"/>
                  </a:lnTo>
                  <a:lnTo>
                    <a:pt x="255" y="207"/>
                  </a:lnTo>
                  <a:lnTo>
                    <a:pt x="321" y="0"/>
                  </a:lnTo>
                  <a:lnTo>
                    <a:pt x="25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34" name="Freeform 33">
              <a:extLst>
                <a:ext uri="{FF2B5EF4-FFF2-40B4-BE49-F238E27FC236}">
                  <a16:creationId xmlns:a16="http://schemas.microsoft.com/office/drawing/2014/main" id="{27A18704-879D-8744-9C0D-F54620CCA762}"/>
                </a:ext>
              </a:extLst>
            </p:cNvPr>
            <p:cNvSpPr>
              <a:spLocks/>
            </p:cNvSpPr>
            <p:nvPr/>
          </p:nvSpPr>
          <p:spPr bwMode="auto">
            <a:xfrm>
              <a:off x="3175" y="3543"/>
              <a:ext cx="60" cy="207"/>
            </a:xfrm>
            <a:custGeom>
              <a:avLst/>
              <a:gdLst>
                <a:gd name="T0" fmla="*/ 60 w 60"/>
                <a:gd name="T1" fmla="*/ 0 h 207"/>
                <a:gd name="T2" fmla="*/ 0 w 60"/>
                <a:gd name="T3" fmla="*/ 0 h 207"/>
                <a:gd name="T4" fmla="*/ 0 w 60"/>
                <a:gd name="T5" fmla="*/ 106 h 207"/>
                <a:gd name="T6" fmla="*/ 0 w 60"/>
                <a:gd name="T7" fmla="*/ 207 h 207"/>
                <a:gd name="T8" fmla="*/ 60 w 60"/>
                <a:gd name="T9" fmla="*/ 207 h 207"/>
                <a:gd name="T10" fmla="*/ 60 w 60"/>
                <a:gd name="T11" fmla="*/ 106 h 207"/>
                <a:gd name="T12" fmla="*/ 60 w 60"/>
                <a:gd name="T13" fmla="*/ 0 h 207"/>
              </a:gdLst>
              <a:ahLst/>
              <a:cxnLst>
                <a:cxn ang="0">
                  <a:pos x="T0" y="T1"/>
                </a:cxn>
                <a:cxn ang="0">
                  <a:pos x="T2" y="T3"/>
                </a:cxn>
                <a:cxn ang="0">
                  <a:pos x="T4" y="T5"/>
                </a:cxn>
                <a:cxn ang="0">
                  <a:pos x="T6" y="T7"/>
                </a:cxn>
                <a:cxn ang="0">
                  <a:pos x="T8" y="T9"/>
                </a:cxn>
                <a:cxn ang="0">
                  <a:pos x="T10" y="T11"/>
                </a:cxn>
                <a:cxn ang="0">
                  <a:pos x="T12" y="T13"/>
                </a:cxn>
              </a:cxnLst>
              <a:rect l="0" t="0" r="r" b="b"/>
              <a:pathLst>
                <a:path w="60" h="207">
                  <a:moveTo>
                    <a:pt x="60" y="0"/>
                  </a:moveTo>
                  <a:lnTo>
                    <a:pt x="0" y="0"/>
                  </a:lnTo>
                  <a:lnTo>
                    <a:pt x="0" y="106"/>
                  </a:lnTo>
                  <a:lnTo>
                    <a:pt x="0" y="207"/>
                  </a:lnTo>
                  <a:lnTo>
                    <a:pt x="60" y="207"/>
                  </a:lnTo>
                  <a:lnTo>
                    <a:pt x="60" y="106"/>
                  </a:lnTo>
                  <a:lnTo>
                    <a:pt x="6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35" name="Freeform 34">
              <a:extLst>
                <a:ext uri="{FF2B5EF4-FFF2-40B4-BE49-F238E27FC236}">
                  <a16:creationId xmlns:a16="http://schemas.microsoft.com/office/drawing/2014/main" id="{F5E330D9-FE00-A242-BEC0-C973C41E8D0B}"/>
                </a:ext>
              </a:extLst>
            </p:cNvPr>
            <p:cNvSpPr>
              <a:spLocks/>
            </p:cNvSpPr>
            <p:nvPr/>
          </p:nvSpPr>
          <p:spPr bwMode="auto">
            <a:xfrm>
              <a:off x="4076" y="3543"/>
              <a:ext cx="59" cy="207"/>
            </a:xfrm>
            <a:custGeom>
              <a:avLst/>
              <a:gdLst>
                <a:gd name="T0" fmla="*/ 59 w 59"/>
                <a:gd name="T1" fmla="*/ 0 h 207"/>
                <a:gd name="T2" fmla="*/ 0 w 59"/>
                <a:gd name="T3" fmla="*/ 0 h 207"/>
                <a:gd name="T4" fmla="*/ 0 w 59"/>
                <a:gd name="T5" fmla="*/ 106 h 207"/>
                <a:gd name="T6" fmla="*/ 0 w 59"/>
                <a:gd name="T7" fmla="*/ 207 h 207"/>
                <a:gd name="T8" fmla="*/ 59 w 59"/>
                <a:gd name="T9" fmla="*/ 207 h 207"/>
                <a:gd name="T10" fmla="*/ 59 w 59"/>
                <a:gd name="T11" fmla="*/ 106 h 207"/>
                <a:gd name="T12" fmla="*/ 59 w 59"/>
                <a:gd name="T13" fmla="*/ 0 h 207"/>
              </a:gdLst>
              <a:ahLst/>
              <a:cxnLst>
                <a:cxn ang="0">
                  <a:pos x="T0" y="T1"/>
                </a:cxn>
                <a:cxn ang="0">
                  <a:pos x="T2" y="T3"/>
                </a:cxn>
                <a:cxn ang="0">
                  <a:pos x="T4" y="T5"/>
                </a:cxn>
                <a:cxn ang="0">
                  <a:pos x="T6" y="T7"/>
                </a:cxn>
                <a:cxn ang="0">
                  <a:pos x="T8" y="T9"/>
                </a:cxn>
                <a:cxn ang="0">
                  <a:pos x="T10" y="T11"/>
                </a:cxn>
                <a:cxn ang="0">
                  <a:pos x="T12" y="T13"/>
                </a:cxn>
              </a:cxnLst>
              <a:rect l="0" t="0" r="r" b="b"/>
              <a:pathLst>
                <a:path w="59" h="207">
                  <a:moveTo>
                    <a:pt x="59" y="0"/>
                  </a:moveTo>
                  <a:lnTo>
                    <a:pt x="0" y="0"/>
                  </a:lnTo>
                  <a:lnTo>
                    <a:pt x="0" y="106"/>
                  </a:lnTo>
                  <a:lnTo>
                    <a:pt x="0" y="207"/>
                  </a:lnTo>
                  <a:lnTo>
                    <a:pt x="59" y="207"/>
                  </a:lnTo>
                  <a:lnTo>
                    <a:pt x="59" y="106"/>
                  </a:lnTo>
                  <a:lnTo>
                    <a:pt x="5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36" name="Freeform 35">
              <a:extLst>
                <a:ext uri="{FF2B5EF4-FFF2-40B4-BE49-F238E27FC236}">
                  <a16:creationId xmlns:a16="http://schemas.microsoft.com/office/drawing/2014/main" id="{A2D8D6AA-29B1-A049-A99F-0AA28E5F7D7A}"/>
                </a:ext>
              </a:extLst>
            </p:cNvPr>
            <p:cNvSpPr>
              <a:spLocks/>
            </p:cNvSpPr>
            <p:nvPr/>
          </p:nvSpPr>
          <p:spPr bwMode="auto">
            <a:xfrm>
              <a:off x="3527" y="3538"/>
              <a:ext cx="190" cy="212"/>
            </a:xfrm>
            <a:custGeom>
              <a:avLst/>
              <a:gdLst>
                <a:gd name="T0" fmla="*/ 686 w 767"/>
                <a:gd name="T1" fmla="*/ 77 h 857"/>
                <a:gd name="T2" fmla="*/ 480 w 767"/>
                <a:gd name="T3" fmla="*/ 0 h 857"/>
                <a:gd name="T4" fmla="*/ 231 w 767"/>
                <a:gd name="T5" fmla="*/ 111 h 857"/>
                <a:gd name="T6" fmla="*/ 231 w 767"/>
                <a:gd name="T7" fmla="*/ 20 h 857"/>
                <a:gd name="T8" fmla="*/ 0 w 767"/>
                <a:gd name="T9" fmla="*/ 20 h 857"/>
                <a:gd name="T10" fmla="*/ 0 w 767"/>
                <a:gd name="T11" fmla="*/ 857 h 857"/>
                <a:gd name="T12" fmla="*/ 241 w 767"/>
                <a:gd name="T13" fmla="*/ 857 h 857"/>
                <a:gd name="T14" fmla="*/ 241 w 767"/>
                <a:gd name="T15" fmla="*/ 402 h 857"/>
                <a:gd name="T16" fmla="*/ 285 w 767"/>
                <a:gd name="T17" fmla="*/ 268 h 857"/>
                <a:gd name="T18" fmla="*/ 390 w 767"/>
                <a:gd name="T19" fmla="*/ 221 h 857"/>
                <a:gd name="T20" fmla="*/ 494 w 767"/>
                <a:gd name="T21" fmla="*/ 268 h 857"/>
                <a:gd name="T22" fmla="*/ 527 w 767"/>
                <a:gd name="T23" fmla="*/ 434 h 857"/>
                <a:gd name="T24" fmla="*/ 527 w 767"/>
                <a:gd name="T25" fmla="*/ 857 h 857"/>
                <a:gd name="T26" fmla="*/ 767 w 767"/>
                <a:gd name="T27" fmla="*/ 857 h 857"/>
                <a:gd name="T28" fmla="*/ 767 w 767"/>
                <a:gd name="T29" fmla="*/ 334 h 857"/>
                <a:gd name="T30" fmla="*/ 686 w 767"/>
                <a:gd name="T31" fmla="*/ 77 h 8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767" h="857">
                  <a:moveTo>
                    <a:pt x="686" y="77"/>
                  </a:moveTo>
                  <a:cubicBezTo>
                    <a:pt x="636" y="24"/>
                    <a:pt x="573" y="0"/>
                    <a:pt x="480" y="0"/>
                  </a:cubicBezTo>
                  <a:cubicBezTo>
                    <a:pt x="388" y="1"/>
                    <a:pt x="281" y="46"/>
                    <a:pt x="231" y="111"/>
                  </a:cubicBezTo>
                  <a:cubicBezTo>
                    <a:pt x="231" y="20"/>
                    <a:pt x="231" y="20"/>
                    <a:pt x="231" y="20"/>
                  </a:cubicBezTo>
                  <a:cubicBezTo>
                    <a:pt x="0" y="20"/>
                    <a:pt x="0" y="20"/>
                    <a:pt x="0" y="20"/>
                  </a:cubicBezTo>
                  <a:cubicBezTo>
                    <a:pt x="0" y="857"/>
                    <a:pt x="0" y="857"/>
                    <a:pt x="0" y="857"/>
                  </a:cubicBezTo>
                  <a:cubicBezTo>
                    <a:pt x="241" y="857"/>
                    <a:pt x="241" y="857"/>
                    <a:pt x="241" y="857"/>
                  </a:cubicBezTo>
                  <a:cubicBezTo>
                    <a:pt x="241" y="402"/>
                    <a:pt x="241" y="402"/>
                    <a:pt x="241" y="402"/>
                  </a:cubicBezTo>
                  <a:cubicBezTo>
                    <a:pt x="241" y="343"/>
                    <a:pt x="257" y="299"/>
                    <a:pt x="285" y="268"/>
                  </a:cubicBezTo>
                  <a:cubicBezTo>
                    <a:pt x="309" y="241"/>
                    <a:pt x="345" y="224"/>
                    <a:pt x="390" y="221"/>
                  </a:cubicBezTo>
                  <a:cubicBezTo>
                    <a:pt x="444" y="218"/>
                    <a:pt x="473" y="242"/>
                    <a:pt x="494" y="268"/>
                  </a:cubicBezTo>
                  <a:cubicBezTo>
                    <a:pt x="520" y="300"/>
                    <a:pt x="527" y="357"/>
                    <a:pt x="527" y="434"/>
                  </a:cubicBezTo>
                  <a:cubicBezTo>
                    <a:pt x="527" y="857"/>
                    <a:pt x="527" y="857"/>
                    <a:pt x="527" y="857"/>
                  </a:cubicBezTo>
                  <a:cubicBezTo>
                    <a:pt x="767" y="857"/>
                    <a:pt x="767" y="857"/>
                    <a:pt x="767" y="857"/>
                  </a:cubicBezTo>
                  <a:cubicBezTo>
                    <a:pt x="767" y="334"/>
                    <a:pt x="767" y="334"/>
                    <a:pt x="767" y="334"/>
                  </a:cubicBezTo>
                  <a:cubicBezTo>
                    <a:pt x="767" y="232"/>
                    <a:pt x="754" y="147"/>
                    <a:pt x="686" y="77"/>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37" name="Freeform 36">
              <a:extLst>
                <a:ext uri="{FF2B5EF4-FFF2-40B4-BE49-F238E27FC236}">
                  <a16:creationId xmlns:a16="http://schemas.microsoft.com/office/drawing/2014/main" id="{49A31F80-755A-1941-8AA3-AAAA2F4557B0}"/>
                </a:ext>
              </a:extLst>
            </p:cNvPr>
            <p:cNvSpPr>
              <a:spLocks noEditPoints="1"/>
            </p:cNvSpPr>
            <p:nvPr/>
          </p:nvSpPr>
          <p:spPr bwMode="auto">
            <a:xfrm>
              <a:off x="4170" y="3449"/>
              <a:ext cx="222" cy="306"/>
            </a:xfrm>
            <a:custGeom>
              <a:avLst/>
              <a:gdLst>
                <a:gd name="T0" fmla="*/ 900 w 900"/>
                <a:gd name="T1" fmla="*/ 0 h 1233"/>
                <a:gd name="T2" fmla="*/ 900 w 900"/>
                <a:gd name="T3" fmla="*/ 1214 h 1233"/>
                <a:gd name="T4" fmla="*/ 673 w 900"/>
                <a:gd name="T5" fmla="*/ 1214 h 1233"/>
                <a:gd name="T6" fmla="*/ 673 w 900"/>
                <a:gd name="T7" fmla="*/ 1121 h 1233"/>
                <a:gd name="T8" fmla="*/ 414 w 900"/>
                <a:gd name="T9" fmla="*/ 1233 h 1233"/>
                <a:gd name="T10" fmla="*/ 124 w 900"/>
                <a:gd name="T11" fmla="*/ 1121 h 1233"/>
                <a:gd name="T12" fmla="*/ 0 w 900"/>
                <a:gd name="T13" fmla="*/ 796 h 1233"/>
                <a:gd name="T14" fmla="*/ 406 w 900"/>
                <a:gd name="T15" fmla="*/ 357 h 1233"/>
                <a:gd name="T16" fmla="*/ 659 w 900"/>
                <a:gd name="T17" fmla="*/ 451 h 1233"/>
                <a:gd name="T18" fmla="*/ 659 w 900"/>
                <a:gd name="T19" fmla="*/ 0 h 1233"/>
                <a:gd name="T20" fmla="*/ 900 w 900"/>
                <a:gd name="T21" fmla="*/ 0 h 1233"/>
                <a:gd name="T22" fmla="*/ 666 w 900"/>
                <a:gd name="T23" fmla="*/ 796 h 1233"/>
                <a:gd name="T24" fmla="*/ 453 w 900"/>
                <a:gd name="T25" fmla="*/ 569 h 1233"/>
                <a:gd name="T26" fmla="*/ 241 w 900"/>
                <a:gd name="T27" fmla="*/ 796 h 1233"/>
                <a:gd name="T28" fmla="*/ 453 w 900"/>
                <a:gd name="T29" fmla="*/ 1022 h 1233"/>
                <a:gd name="T30" fmla="*/ 666 w 900"/>
                <a:gd name="T31" fmla="*/ 796 h 12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00" h="1233">
                  <a:moveTo>
                    <a:pt x="900" y="0"/>
                  </a:moveTo>
                  <a:cubicBezTo>
                    <a:pt x="900" y="1214"/>
                    <a:pt x="900" y="1214"/>
                    <a:pt x="900" y="1214"/>
                  </a:cubicBezTo>
                  <a:cubicBezTo>
                    <a:pt x="673" y="1214"/>
                    <a:pt x="673" y="1214"/>
                    <a:pt x="673" y="1214"/>
                  </a:cubicBezTo>
                  <a:cubicBezTo>
                    <a:pt x="673" y="1121"/>
                    <a:pt x="673" y="1121"/>
                    <a:pt x="673" y="1121"/>
                  </a:cubicBezTo>
                  <a:cubicBezTo>
                    <a:pt x="620" y="1182"/>
                    <a:pt x="534" y="1233"/>
                    <a:pt x="414" y="1233"/>
                  </a:cubicBezTo>
                  <a:cubicBezTo>
                    <a:pt x="298" y="1233"/>
                    <a:pt x="198" y="1195"/>
                    <a:pt x="124" y="1121"/>
                  </a:cubicBezTo>
                  <a:cubicBezTo>
                    <a:pt x="44" y="1041"/>
                    <a:pt x="0" y="926"/>
                    <a:pt x="0" y="796"/>
                  </a:cubicBezTo>
                  <a:cubicBezTo>
                    <a:pt x="0" y="541"/>
                    <a:pt x="171" y="357"/>
                    <a:pt x="406" y="357"/>
                  </a:cubicBezTo>
                  <a:cubicBezTo>
                    <a:pt x="508" y="357"/>
                    <a:pt x="594" y="389"/>
                    <a:pt x="659" y="451"/>
                  </a:cubicBezTo>
                  <a:cubicBezTo>
                    <a:pt x="659" y="0"/>
                    <a:pt x="659" y="0"/>
                    <a:pt x="659" y="0"/>
                  </a:cubicBezTo>
                  <a:lnTo>
                    <a:pt x="900" y="0"/>
                  </a:lnTo>
                  <a:close/>
                  <a:moveTo>
                    <a:pt x="666" y="796"/>
                  </a:moveTo>
                  <a:cubicBezTo>
                    <a:pt x="666" y="683"/>
                    <a:pt x="593" y="569"/>
                    <a:pt x="453" y="569"/>
                  </a:cubicBezTo>
                  <a:cubicBezTo>
                    <a:pt x="314" y="569"/>
                    <a:pt x="241" y="683"/>
                    <a:pt x="241" y="796"/>
                  </a:cubicBezTo>
                  <a:cubicBezTo>
                    <a:pt x="241" y="908"/>
                    <a:pt x="314" y="1022"/>
                    <a:pt x="453" y="1022"/>
                  </a:cubicBezTo>
                  <a:cubicBezTo>
                    <a:pt x="593" y="1022"/>
                    <a:pt x="666" y="908"/>
                    <a:pt x="666" y="79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38" name="Freeform 37">
              <a:extLst>
                <a:ext uri="{FF2B5EF4-FFF2-40B4-BE49-F238E27FC236}">
                  <a16:creationId xmlns:a16="http://schemas.microsoft.com/office/drawing/2014/main" id="{C7694B31-931B-F648-8678-62120664A596}"/>
                </a:ext>
              </a:extLst>
            </p:cNvPr>
            <p:cNvSpPr>
              <a:spLocks noEditPoints="1"/>
            </p:cNvSpPr>
            <p:nvPr/>
          </p:nvSpPr>
          <p:spPr bwMode="auto">
            <a:xfrm>
              <a:off x="3269" y="3538"/>
              <a:ext cx="224" cy="217"/>
            </a:xfrm>
            <a:custGeom>
              <a:avLst/>
              <a:gdLst>
                <a:gd name="T0" fmla="*/ 905 w 905"/>
                <a:gd name="T1" fmla="*/ 438 h 877"/>
                <a:gd name="T2" fmla="*/ 453 w 905"/>
                <a:gd name="T3" fmla="*/ 877 h 877"/>
                <a:gd name="T4" fmla="*/ 0 w 905"/>
                <a:gd name="T5" fmla="*/ 438 h 877"/>
                <a:gd name="T6" fmla="*/ 453 w 905"/>
                <a:gd name="T7" fmla="*/ 0 h 877"/>
                <a:gd name="T8" fmla="*/ 905 w 905"/>
                <a:gd name="T9" fmla="*/ 438 h 877"/>
                <a:gd name="T10" fmla="*/ 453 w 905"/>
                <a:gd name="T11" fmla="*/ 212 h 877"/>
                <a:gd name="T12" fmla="*/ 241 w 905"/>
                <a:gd name="T13" fmla="*/ 438 h 877"/>
                <a:gd name="T14" fmla="*/ 453 w 905"/>
                <a:gd name="T15" fmla="*/ 664 h 877"/>
                <a:gd name="T16" fmla="*/ 665 w 905"/>
                <a:gd name="T17" fmla="*/ 438 h 877"/>
                <a:gd name="T18" fmla="*/ 453 w 905"/>
                <a:gd name="T19" fmla="*/ 212 h 8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5" h="877">
                  <a:moveTo>
                    <a:pt x="905" y="438"/>
                  </a:moveTo>
                  <a:cubicBezTo>
                    <a:pt x="905" y="692"/>
                    <a:pt x="715" y="877"/>
                    <a:pt x="453" y="877"/>
                  </a:cubicBezTo>
                  <a:cubicBezTo>
                    <a:pt x="190" y="877"/>
                    <a:pt x="0" y="692"/>
                    <a:pt x="0" y="438"/>
                  </a:cubicBezTo>
                  <a:cubicBezTo>
                    <a:pt x="0" y="184"/>
                    <a:pt x="190" y="0"/>
                    <a:pt x="453" y="0"/>
                  </a:cubicBezTo>
                  <a:cubicBezTo>
                    <a:pt x="715" y="0"/>
                    <a:pt x="905" y="184"/>
                    <a:pt x="905" y="438"/>
                  </a:cubicBezTo>
                  <a:moveTo>
                    <a:pt x="453" y="212"/>
                  </a:moveTo>
                  <a:cubicBezTo>
                    <a:pt x="313" y="212"/>
                    <a:pt x="241" y="326"/>
                    <a:pt x="241" y="438"/>
                  </a:cubicBezTo>
                  <a:cubicBezTo>
                    <a:pt x="241" y="551"/>
                    <a:pt x="313" y="664"/>
                    <a:pt x="453" y="664"/>
                  </a:cubicBezTo>
                  <a:cubicBezTo>
                    <a:pt x="592" y="664"/>
                    <a:pt x="665" y="551"/>
                    <a:pt x="665" y="438"/>
                  </a:cubicBezTo>
                  <a:cubicBezTo>
                    <a:pt x="665" y="326"/>
                    <a:pt x="592" y="212"/>
                    <a:pt x="453" y="21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39" name="Freeform 38">
              <a:extLst>
                <a:ext uri="{FF2B5EF4-FFF2-40B4-BE49-F238E27FC236}">
                  <a16:creationId xmlns:a16="http://schemas.microsoft.com/office/drawing/2014/main" id="{CBC5FEF1-7BF4-A748-BB3A-66A641499B4E}"/>
                </a:ext>
              </a:extLst>
            </p:cNvPr>
            <p:cNvSpPr>
              <a:spLocks noEditPoints="1"/>
            </p:cNvSpPr>
            <p:nvPr/>
          </p:nvSpPr>
          <p:spPr bwMode="auto">
            <a:xfrm>
              <a:off x="4636" y="3449"/>
              <a:ext cx="95" cy="95"/>
            </a:xfrm>
            <a:custGeom>
              <a:avLst/>
              <a:gdLst>
                <a:gd name="T0" fmla="*/ 118 w 383"/>
                <a:gd name="T1" fmla="*/ 299 h 382"/>
                <a:gd name="T2" fmla="*/ 158 w 383"/>
                <a:gd name="T3" fmla="*/ 299 h 382"/>
                <a:gd name="T4" fmla="*/ 158 w 383"/>
                <a:gd name="T5" fmla="*/ 209 h 382"/>
                <a:gd name="T6" fmla="*/ 187 w 383"/>
                <a:gd name="T7" fmla="*/ 209 h 382"/>
                <a:gd name="T8" fmla="*/ 242 w 383"/>
                <a:gd name="T9" fmla="*/ 299 h 382"/>
                <a:gd name="T10" fmla="*/ 284 w 383"/>
                <a:gd name="T11" fmla="*/ 299 h 382"/>
                <a:gd name="T12" fmla="*/ 227 w 383"/>
                <a:gd name="T13" fmla="*/ 206 h 382"/>
                <a:gd name="T14" fmla="*/ 279 w 383"/>
                <a:gd name="T15" fmla="*/ 146 h 382"/>
                <a:gd name="T16" fmla="*/ 202 w 383"/>
                <a:gd name="T17" fmla="*/ 80 h 382"/>
                <a:gd name="T18" fmla="*/ 118 w 383"/>
                <a:gd name="T19" fmla="*/ 80 h 382"/>
                <a:gd name="T20" fmla="*/ 118 w 383"/>
                <a:gd name="T21" fmla="*/ 299 h 382"/>
                <a:gd name="T22" fmla="*/ 158 w 383"/>
                <a:gd name="T23" fmla="*/ 114 h 382"/>
                <a:gd name="T24" fmla="*/ 187 w 383"/>
                <a:gd name="T25" fmla="*/ 114 h 382"/>
                <a:gd name="T26" fmla="*/ 239 w 383"/>
                <a:gd name="T27" fmla="*/ 145 h 382"/>
                <a:gd name="T28" fmla="*/ 187 w 383"/>
                <a:gd name="T29" fmla="*/ 176 h 382"/>
                <a:gd name="T30" fmla="*/ 158 w 383"/>
                <a:gd name="T31" fmla="*/ 176 h 382"/>
                <a:gd name="T32" fmla="*/ 158 w 383"/>
                <a:gd name="T33" fmla="*/ 114 h 382"/>
                <a:gd name="T34" fmla="*/ 0 w 383"/>
                <a:gd name="T35" fmla="*/ 191 h 382"/>
                <a:gd name="T36" fmla="*/ 191 w 383"/>
                <a:gd name="T37" fmla="*/ 382 h 382"/>
                <a:gd name="T38" fmla="*/ 383 w 383"/>
                <a:gd name="T39" fmla="*/ 191 h 382"/>
                <a:gd name="T40" fmla="*/ 191 w 383"/>
                <a:gd name="T41" fmla="*/ 0 h 382"/>
                <a:gd name="T42" fmla="*/ 0 w 383"/>
                <a:gd name="T43" fmla="*/ 191 h 382"/>
                <a:gd name="T44" fmla="*/ 34 w 383"/>
                <a:gd name="T45" fmla="*/ 191 h 382"/>
                <a:gd name="T46" fmla="*/ 191 w 383"/>
                <a:gd name="T47" fmla="*/ 34 h 382"/>
                <a:gd name="T48" fmla="*/ 349 w 383"/>
                <a:gd name="T49" fmla="*/ 191 h 382"/>
                <a:gd name="T50" fmla="*/ 191 w 383"/>
                <a:gd name="T51" fmla="*/ 349 h 382"/>
                <a:gd name="T52" fmla="*/ 34 w 383"/>
                <a:gd name="T53" fmla="*/ 191 h 3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83" h="382">
                  <a:moveTo>
                    <a:pt x="118" y="299"/>
                  </a:moveTo>
                  <a:cubicBezTo>
                    <a:pt x="158" y="299"/>
                    <a:pt x="158" y="299"/>
                    <a:pt x="158" y="299"/>
                  </a:cubicBezTo>
                  <a:cubicBezTo>
                    <a:pt x="158" y="209"/>
                    <a:pt x="158" y="209"/>
                    <a:pt x="158" y="209"/>
                  </a:cubicBezTo>
                  <a:cubicBezTo>
                    <a:pt x="187" y="209"/>
                    <a:pt x="187" y="209"/>
                    <a:pt x="187" y="209"/>
                  </a:cubicBezTo>
                  <a:cubicBezTo>
                    <a:pt x="242" y="299"/>
                    <a:pt x="242" y="299"/>
                    <a:pt x="242" y="299"/>
                  </a:cubicBezTo>
                  <a:cubicBezTo>
                    <a:pt x="284" y="299"/>
                    <a:pt x="284" y="299"/>
                    <a:pt x="284" y="299"/>
                  </a:cubicBezTo>
                  <a:cubicBezTo>
                    <a:pt x="227" y="206"/>
                    <a:pt x="227" y="206"/>
                    <a:pt x="227" y="206"/>
                  </a:cubicBezTo>
                  <a:cubicBezTo>
                    <a:pt x="257" y="203"/>
                    <a:pt x="279" y="184"/>
                    <a:pt x="279" y="146"/>
                  </a:cubicBezTo>
                  <a:cubicBezTo>
                    <a:pt x="279" y="104"/>
                    <a:pt x="255" y="80"/>
                    <a:pt x="202" y="80"/>
                  </a:cubicBezTo>
                  <a:cubicBezTo>
                    <a:pt x="118" y="80"/>
                    <a:pt x="118" y="80"/>
                    <a:pt x="118" y="80"/>
                  </a:cubicBezTo>
                  <a:lnTo>
                    <a:pt x="118" y="299"/>
                  </a:lnTo>
                  <a:close/>
                  <a:moveTo>
                    <a:pt x="158" y="114"/>
                  </a:moveTo>
                  <a:cubicBezTo>
                    <a:pt x="187" y="114"/>
                    <a:pt x="187" y="114"/>
                    <a:pt x="187" y="114"/>
                  </a:cubicBezTo>
                  <a:cubicBezTo>
                    <a:pt x="212" y="114"/>
                    <a:pt x="239" y="115"/>
                    <a:pt x="239" y="145"/>
                  </a:cubicBezTo>
                  <a:cubicBezTo>
                    <a:pt x="239" y="174"/>
                    <a:pt x="212" y="176"/>
                    <a:pt x="187" y="176"/>
                  </a:cubicBezTo>
                  <a:cubicBezTo>
                    <a:pt x="158" y="176"/>
                    <a:pt x="158" y="176"/>
                    <a:pt x="158" y="176"/>
                  </a:cubicBezTo>
                  <a:lnTo>
                    <a:pt x="158" y="114"/>
                  </a:lnTo>
                  <a:close/>
                  <a:moveTo>
                    <a:pt x="0" y="191"/>
                  </a:moveTo>
                  <a:cubicBezTo>
                    <a:pt x="0" y="296"/>
                    <a:pt x="86" y="382"/>
                    <a:pt x="191" y="382"/>
                  </a:cubicBezTo>
                  <a:cubicBezTo>
                    <a:pt x="297" y="382"/>
                    <a:pt x="383" y="296"/>
                    <a:pt x="383" y="191"/>
                  </a:cubicBezTo>
                  <a:cubicBezTo>
                    <a:pt x="383" y="86"/>
                    <a:pt x="297" y="0"/>
                    <a:pt x="191" y="0"/>
                  </a:cubicBezTo>
                  <a:cubicBezTo>
                    <a:pt x="86" y="0"/>
                    <a:pt x="0" y="86"/>
                    <a:pt x="0" y="191"/>
                  </a:cubicBezTo>
                  <a:moveTo>
                    <a:pt x="34" y="191"/>
                  </a:moveTo>
                  <a:cubicBezTo>
                    <a:pt x="34" y="104"/>
                    <a:pt x="104" y="34"/>
                    <a:pt x="191" y="34"/>
                  </a:cubicBezTo>
                  <a:cubicBezTo>
                    <a:pt x="278" y="34"/>
                    <a:pt x="349" y="104"/>
                    <a:pt x="349" y="191"/>
                  </a:cubicBezTo>
                  <a:cubicBezTo>
                    <a:pt x="349" y="278"/>
                    <a:pt x="278" y="349"/>
                    <a:pt x="191" y="349"/>
                  </a:cubicBezTo>
                  <a:cubicBezTo>
                    <a:pt x="104" y="349"/>
                    <a:pt x="34" y="278"/>
                    <a:pt x="34" y="191"/>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40" name="Freeform 39">
              <a:extLst>
                <a:ext uri="{FF2B5EF4-FFF2-40B4-BE49-F238E27FC236}">
                  <a16:creationId xmlns:a16="http://schemas.microsoft.com/office/drawing/2014/main" id="{93802D51-B7EE-2847-9135-A91396ADE95E}"/>
                </a:ext>
              </a:extLst>
            </p:cNvPr>
            <p:cNvSpPr>
              <a:spLocks/>
            </p:cNvSpPr>
            <p:nvPr/>
          </p:nvSpPr>
          <p:spPr bwMode="auto">
            <a:xfrm>
              <a:off x="3768" y="1895"/>
              <a:ext cx="434" cy="1109"/>
            </a:xfrm>
            <a:custGeom>
              <a:avLst/>
              <a:gdLst>
                <a:gd name="T0" fmla="*/ 509 w 1751"/>
                <a:gd name="T1" fmla="*/ 0 h 4481"/>
                <a:gd name="T2" fmla="*/ 509 w 1751"/>
                <a:gd name="T3" fmla="*/ 2792 h 4481"/>
                <a:gd name="T4" fmla="*/ 161 w 1751"/>
                <a:gd name="T5" fmla="*/ 2452 h 4481"/>
                <a:gd name="T6" fmla="*/ 161 w 1751"/>
                <a:gd name="T7" fmla="*/ 3527 h 4481"/>
                <a:gd name="T8" fmla="*/ 19 w 1751"/>
                <a:gd name="T9" fmla="*/ 4087 h 4481"/>
                <a:gd name="T10" fmla="*/ 17 w 1751"/>
                <a:gd name="T11" fmla="*/ 4090 h 4481"/>
                <a:gd name="T12" fmla="*/ 0 w 1751"/>
                <a:gd name="T13" fmla="*/ 4110 h 4481"/>
                <a:gd name="T14" fmla="*/ 393 w 1751"/>
                <a:gd name="T15" fmla="*/ 4481 h 4481"/>
                <a:gd name="T16" fmla="*/ 1751 w 1751"/>
                <a:gd name="T17" fmla="*/ 4481 h 4481"/>
                <a:gd name="T18" fmla="*/ 1751 w 1751"/>
                <a:gd name="T19" fmla="*/ 0 h 4481"/>
                <a:gd name="T20" fmla="*/ 509 w 1751"/>
                <a:gd name="T21" fmla="*/ 0 h 44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51" h="4481">
                  <a:moveTo>
                    <a:pt x="509" y="0"/>
                  </a:moveTo>
                  <a:cubicBezTo>
                    <a:pt x="509" y="2792"/>
                    <a:pt x="509" y="2792"/>
                    <a:pt x="509" y="2792"/>
                  </a:cubicBezTo>
                  <a:cubicBezTo>
                    <a:pt x="161" y="2452"/>
                    <a:pt x="161" y="2452"/>
                    <a:pt x="161" y="2452"/>
                  </a:cubicBezTo>
                  <a:cubicBezTo>
                    <a:pt x="161" y="3527"/>
                    <a:pt x="161" y="3527"/>
                    <a:pt x="161" y="3527"/>
                  </a:cubicBezTo>
                  <a:cubicBezTo>
                    <a:pt x="161" y="3775"/>
                    <a:pt x="139" y="3938"/>
                    <a:pt x="19" y="4087"/>
                  </a:cubicBezTo>
                  <a:cubicBezTo>
                    <a:pt x="17" y="4090"/>
                    <a:pt x="17" y="4090"/>
                    <a:pt x="17" y="4090"/>
                  </a:cubicBezTo>
                  <a:cubicBezTo>
                    <a:pt x="11" y="4097"/>
                    <a:pt x="5" y="4103"/>
                    <a:pt x="0" y="4110"/>
                  </a:cubicBezTo>
                  <a:cubicBezTo>
                    <a:pt x="393" y="4481"/>
                    <a:pt x="393" y="4481"/>
                    <a:pt x="393" y="4481"/>
                  </a:cubicBezTo>
                  <a:cubicBezTo>
                    <a:pt x="1751" y="4481"/>
                    <a:pt x="1751" y="4481"/>
                    <a:pt x="1751" y="4481"/>
                  </a:cubicBezTo>
                  <a:cubicBezTo>
                    <a:pt x="1751" y="0"/>
                    <a:pt x="1751" y="0"/>
                    <a:pt x="1751" y="0"/>
                  </a:cubicBezTo>
                  <a:lnTo>
                    <a:pt x="50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41" name="Freeform 40">
              <a:extLst>
                <a:ext uri="{FF2B5EF4-FFF2-40B4-BE49-F238E27FC236}">
                  <a16:creationId xmlns:a16="http://schemas.microsoft.com/office/drawing/2014/main" id="{0B104E08-0240-0A4C-8DC6-02A087EB8856}"/>
                </a:ext>
              </a:extLst>
            </p:cNvPr>
            <p:cNvSpPr>
              <a:spLocks/>
            </p:cNvSpPr>
            <p:nvPr/>
          </p:nvSpPr>
          <p:spPr bwMode="auto">
            <a:xfrm>
              <a:off x="2850" y="1895"/>
              <a:ext cx="523" cy="1109"/>
            </a:xfrm>
            <a:custGeom>
              <a:avLst/>
              <a:gdLst>
                <a:gd name="T0" fmla="*/ 1242 w 2112"/>
                <a:gd name="T1" fmla="*/ 1773 h 4481"/>
                <a:gd name="T2" fmla="*/ 1839 w 2112"/>
                <a:gd name="T3" fmla="*/ 2338 h 4481"/>
                <a:gd name="T4" fmla="*/ 1856 w 2112"/>
                <a:gd name="T5" fmla="*/ 1719 h 4481"/>
                <a:gd name="T6" fmla="*/ 1912 w 2112"/>
                <a:gd name="T7" fmla="*/ 1629 h 4481"/>
                <a:gd name="T8" fmla="*/ 2062 w 2112"/>
                <a:gd name="T9" fmla="*/ 795 h 4481"/>
                <a:gd name="T10" fmla="*/ 2112 w 2112"/>
                <a:gd name="T11" fmla="*/ 740 h 4481"/>
                <a:gd name="T12" fmla="*/ 1354 w 2112"/>
                <a:gd name="T13" fmla="*/ 0 h 4481"/>
                <a:gd name="T14" fmla="*/ 0 w 2112"/>
                <a:gd name="T15" fmla="*/ 0 h 4481"/>
                <a:gd name="T16" fmla="*/ 0 w 2112"/>
                <a:gd name="T17" fmla="*/ 4481 h 4481"/>
                <a:gd name="T18" fmla="*/ 1242 w 2112"/>
                <a:gd name="T19" fmla="*/ 4481 h 4481"/>
                <a:gd name="T20" fmla="*/ 1242 w 2112"/>
                <a:gd name="T21" fmla="*/ 1773 h 44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12" h="4481">
                  <a:moveTo>
                    <a:pt x="1242" y="1773"/>
                  </a:moveTo>
                  <a:cubicBezTo>
                    <a:pt x="1242" y="1773"/>
                    <a:pt x="1790" y="2292"/>
                    <a:pt x="1839" y="2338"/>
                  </a:cubicBezTo>
                  <a:cubicBezTo>
                    <a:pt x="1787" y="2144"/>
                    <a:pt x="1751" y="1887"/>
                    <a:pt x="1856" y="1719"/>
                  </a:cubicBezTo>
                  <a:cubicBezTo>
                    <a:pt x="1912" y="1629"/>
                    <a:pt x="1912" y="1629"/>
                    <a:pt x="1912" y="1629"/>
                  </a:cubicBezTo>
                  <a:cubicBezTo>
                    <a:pt x="1855" y="1323"/>
                    <a:pt x="1869" y="1006"/>
                    <a:pt x="2062" y="795"/>
                  </a:cubicBezTo>
                  <a:cubicBezTo>
                    <a:pt x="2112" y="740"/>
                    <a:pt x="2112" y="740"/>
                    <a:pt x="2112" y="740"/>
                  </a:cubicBezTo>
                  <a:cubicBezTo>
                    <a:pt x="1354" y="0"/>
                    <a:pt x="1354" y="0"/>
                    <a:pt x="1354" y="0"/>
                  </a:cubicBezTo>
                  <a:cubicBezTo>
                    <a:pt x="0" y="0"/>
                    <a:pt x="0" y="0"/>
                    <a:pt x="0" y="0"/>
                  </a:cubicBezTo>
                  <a:cubicBezTo>
                    <a:pt x="0" y="4481"/>
                    <a:pt x="0" y="4481"/>
                    <a:pt x="0" y="4481"/>
                  </a:cubicBezTo>
                  <a:cubicBezTo>
                    <a:pt x="1242" y="4481"/>
                    <a:pt x="1242" y="4481"/>
                    <a:pt x="1242" y="4481"/>
                  </a:cubicBezTo>
                  <a:lnTo>
                    <a:pt x="1242" y="177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42" name="Freeform 41">
              <a:extLst>
                <a:ext uri="{FF2B5EF4-FFF2-40B4-BE49-F238E27FC236}">
                  <a16:creationId xmlns:a16="http://schemas.microsoft.com/office/drawing/2014/main" id="{576B74ED-9E8B-1F46-9FE9-A8B1E73E4571}"/>
                </a:ext>
              </a:extLst>
            </p:cNvPr>
            <p:cNvSpPr>
              <a:spLocks/>
            </p:cNvSpPr>
            <p:nvPr/>
          </p:nvSpPr>
          <p:spPr bwMode="auto">
            <a:xfrm>
              <a:off x="3792" y="3082"/>
              <a:ext cx="352" cy="210"/>
            </a:xfrm>
            <a:custGeom>
              <a:avLst/>
              <a:gdLst>
                <a:gd name="T0" fmla="*/ 264 w 1420"/>
                <a:gd name="T1" fmla="*/ 22 h 850"/>
                <a:gd name="T2" fmla="*/ 977 w 1420"/>
                <a:gd name="T3" fmla="*/ 90 h 850"/>
                <a:gd name="T4" fmla="*/ 1098 w 1420"/>
                <a:gd name="T5" fmla="*/ 235 h 850"/>
                <a:gd name="T6" fmla="*/ 839 w 1420"/>
                <a:gd name="T7" fmla="*/ 204 h 850"/>
                <a:gd name="T8" fmla="*/ 830 w 1420"/>
                <a:gd name="T9" fmla="*/ 299 h 850"/>
                <a:gd name="T10" fmla="*/ 1115 w 1420"/>
                <a:gd name="T11" fmla="*/ 258 h 850"/>
                <a:gd name="T12" fmla="*/ 1406 w 1420"/>
                <a:gd name="T13" fmla="*/ 463 h 850"/>
                <a:gd name="T14" fmla="*/ 1104 w 1420"/>
                <a:gd name="T15" fmla="*/ 436 h 850"/>
                <a:gd name="T16" fmla="*/ 636 w 1420"/>
                <a:gd name="T17" fmla="*/ 622 h 850"/>
                <a:gd name="T18" fmla="*/ 120 w 1420"/>
                <a:gd name="T19" fmla="*/ 850 h 850"/>
                <a:gd name="T20" fmla="*/ 429 w 1420"/>
                <a:gd name="T21" fmla="*/ 520 h 850"/>
                <a:gd name="T22" fmla="*/ 131 w 1420"/>
                <a:gd name="T23" fmla="*/ 416 h 850"/>
                <a:gd name="T24" fmla="*/ 375 w 1420"/>
                <a:gd name="T25" fmla="*/ 203 h 850"/>
                <a:gd name="T26" fmla="*/ 0 w 1420"/>
                <a:gd name="T27" fmla="*/ 0 h 850"/>
                <a:gd name="T28" fmla="*/ 264 w 1420"/>
                <a:gd name="T29" fmla="*/ 22 h 8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420" h="850">
                  <a:moveTo>
                    <a:pt x="264" y="22"/>
                  </a:moveTo>
                  <a:cubicBezTo>
                    <a:pt x="558" y="44"/>
                    <a:pt x="767" y="64"/>
                    <a:pt x="977" y="90"/>
                  </a:cubicBezTo>
                  <a:cubicBezTo>
                    <a:pt x="1057" y="100"/>
                    <a:pt x="1088" y="192"/>
                    <a:pt x="1098" y="235"/>
                  </a:cubicBezTo>
                  <a:cubicBezTo>
                    <a:pt x="998" y="210"/>
                    <a:pt x="839" y="204"/>
                    <a:pt x="839" y="204"/>
                  </a:cubicBezTo>
                  <a:cubicBezTo>
                    <a:pt x="830" y="299"/>
                    <a:pt x="830" y="299"/>
                    <a:pt x="830" y="299"/>
                  </a:cubicBezTo>
                  <a:cubicBezTo>
                    <a:pt x="830" y="299"/>
                    <a:pt x="966" y="260"/>
                    <a:pt x="1115" y="258"/>
                  </a:cubicBezTo>
                  <a:cubicBezTo>
                    <a:pt x="1115" y="258"/>
                    <a:pt x="1420" y="257"/>
                    <a:pt x="1406" y="463"/>
                  </a:cubicBezTo>
                  <a:cubicBezTo>
                    <a:pt x="1322" y="405"/>
                    <a:pt x="1152" y="428"/>
                    <a:pt x="1104" y="436"/>
                  </a:cubicBezTo>
                  <a:cubicBezTo>
                    <a:pt x="951" y="461"/>
                    <a:pt x="805" y="532"/>
                    <a:pt x="636" y="622"/>
                  </a:cubicBezTo>
                  <a:cubicBezTo>
                    <a:pt x="482" y="703"/>
                    <a:pt x="315" y="791"/>
                    <a:pt x="120" y="850"/>
                  </a:cubicBezTo>
                  <a:cubicBezTo>
                    <a:pt x="206" y="767"/>
                    <a:pt x="429" y="520"/>
                    <a:pt x="429" y="520"/>
                  </a:cubicBezTo>
                  <a:cubicBezTo>
                    <a:pt x="131" y="416"/>
                    <a:pt x="131" y="416"/>
                    <a:pt x="131" y="416"/>
                  </a:cubicBezTo>
                  <a:cubicBezTo>
                    <a:pt x="375" y="203"/>
                    <a:pt x="375" y="203"/>
                    <a:pt x="375" y="203"/>
                  </a:cubicBezTo>
                  <a:cubicBezTo>
                    <a:pt x="0" y="0"/>
                    <a:pt x="0" y="0"/>
                    <a:pt x="0" y="0"/>
                  </a:cubicBezTo>
                  <a:cubicBezTo>
                    <a:pt x="93" y="8"/>
                    <a:pt x="182" y="15"/>
                    <a:pt x="264" y="2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43" name="Freeform 42">
              <a:extLst>
                <a:ext uri="{FF2B5EF4-FFF2-40B4-BE49-F238E27FC236}">
                  <a16:creationId xmlns:a16="http://schemas.microsoft.com/office/drawing/2014/main" id="{030EBA72-A689-6944-90E7-3CCAAB129BDE}"/>
                </a:ext>
              </a:extLst>
            </p:cNvPr>
            <p:cNvSpPr>
              <a:spLocks/>
            </p:cNvSpPr>
            <p:nvPr/>
          </p:nvSpPr>
          <p:spPr bwMode="auto">
            <a:xfrm>
              <a:off x="3750" y="1503"/>
              <a:ext cx="59" cy="1386"/>
            </a:xfrm>
            <a:custGeom>
              <a:avLst/>
              <a:gdLst>
                <a:gd name="T0" fmla="*/ 236 w 236"/>
                <a:gd name="T1" fmla="*/ 0 h 5594"/>
                <a:gd name="T2" fmla="*/ 116 w 236"/>
                <a:gd name="T3" fmla="*/ 1792 h 5594"/>
                <a:gd name="T4" fmla="*/ 116 w 236"/>
                <a:gd name="T5" fmla="*/ 5108 h 5594"/>
                <a:gd name="T6" fmla="*/ 0 w 236"/>
                <a:gd name="T7" fmla="*/ 5594 h 5594"/>
              </a:gdLst>
              <a:ahLst/>
              <a:cxnLst>
                <a:cxn ang="0">
                  <a:pos x="T0" y="T1"/>
                </a:cxn>
                <a:cxn ang="0">
                  <a:pos x="T2" y="T3"/>
                </a:cxn>
                <a:cxn ang="0">
                  <a:pos x="T4" y="T5"/>
                </a:cxn>
                <a:cxn ang="0">
                  <a:pos x="T6" y="T7"/>
                </a:cxn>
              </a:cxnLst>
              <a:rect l="0" t="0" r="r" b="b"/>
              <a:pathLst>
                <a:path w="236" h="5594">
                  <a:moveTo>
                    <a:pt x="236" y="0"/>
                  </a:moveTo>
                  <a:cubicBezTo>
                    <a:pt x="236" y="0"/>
                    <a:pt x="116" y="644"/>
                    <a:pt x="116" y="1792"/>
                  </a:cubicBezTo>
                  <a:cubicBezTo>
                    <a:pt x="116" y="5108"/>
                    <a:pt x="116" y="5108"/>
                    <a:pt x="116" y="5108"/>
                  </a:cubicBezTo>
                  <a:cubicBezTo>
                    <a:pt x="116" y="5337"/>
                    <a:pt x="96" y="5474"/>
                    <a:pt x="0" y="559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44" name="Freeform 43">
              <a:extLst>
                <a:ext uri="{FF2B5EF4-FFF2-40B4-BE49-F238E27FC236}">
                  <a16:creationId xmlns:a16="http://schemas.microsoft.com/office/drawing/2014/main" id="{8621F305-98E4-E64E-9F5B-71DA3F4C5C35}"/>
                </a:ext>
              </a:extLst>
            </p:cNvPr>
            <p:cNvSpPr>
              <a:spLocks/>
            </p:cNvSpPr>
            <p:nvPr/>
          </p:nvSpPr>
          <p:spPr bwMode="auto">
            <a:xfrm>
              <a:off x="2919" y="1494"/>
              <a:ext cx="934" cy="1816"/>
            </a:xfrm>
            <a:custGeom>
              <a:avLst/>
              <a:gdLst>
                <a:gd name="T0" fmla="*/ 3358 w 3774"/>
                <a:gd name="T1" fmla="*/ 5632 h 7335"/>
                <a:gd name="T2" fmla="*/ 3079 w 3774"/>
                <a:gd name="T3" fmla="*/ 6187 h 7335"/>
                <a:gd name="T4" fmla="*/ 3079 w 3774"/>
                <a:gd name="T5" fmla="*/ 6187 h 7335"/>
                <a:gd name="T6" fmla="*/ 3302 w 3774"/>
                <a:gd name="T7" fmla="*/ 6410 h 7335"/>
                <a:gd name="T8" fmla="*/ 3720 w 3774"/>
                <a:gd name="T9" fmla="*/ 6636 h 7335"/>
                <a:gd name="T10" fmla="*/ 3449 w 3774"/>
                <a:gd name="T11" fmla="*/ 6873 h 7335"/>
                <a:gd name="T12" fmla="*/ 3774 w 3774"/>
                <a:gd name="T13" fmla="*/ 6975 h 7335"/>
                <a:gd name="T14" fmla="*/ 3441 w 3774"/>
                <a:gd name="T15" fmla="*/ 7312 h 7335"/>
                <a:gd name="T16" fmla="*/ 3169 w 3774"/>
                <a:gd name="T17" fmla="*/ 7335 h 7335"/>
                <a:gd name="T18" fmla="*/ 1281 w 3774"/>
                <a:gd name="T19" fmla="*/ 6924 h 7335"/>
                <a:gd name="T20" fmla="*/ 636 w 3774"/>
                <a:gd name="T21" fmla="*/ 7086 h 7335"/>
                <a:gd name="T22" fmla="*/ 823 w 3774"/>
                <a:gd name="T23" fmla="*/ 6882 h 7335"/>
                <a:gd name="T24" fmla="*/ 339 w 3774"/>
                <a:gd name="T25" fmla="*/ 6912 h 7335"/>
                <a:gd name="T26" fmla="*/ 675 w 3774"/>
                <a:gd name="T27" fmla="*/ 6684 h 7335"/>
                <a:gd name="T28" fmla="*/ 0 w 3774"/>
                <a:gd name="T29" fmla="*/ 6500 h 7335"/>
                <a:gd name="T30" fmla="*/ 1280 w 3774"/>
                <a:gd name="T31" fmla="*/ 6465 h 7335"/>
                <a:gd name="T32" fmla="*/ 2083 w 3774"/>
                <a:gd name="T33" fmla="*/ 6498 h 7335"/>
                <a:gd name="T34" fmla="*/ 1500 w 3774"/>
                <a:gd name="T35" fmla="*/ 6006 h 7335"/>
                <a:gd name="T36" fmla="*/ 1976 w 3774"/>
                <a:gd name="T37" fmla="*/ 6078 h 7335"/>
                <a:gd name="T38" fmla="*/ 1432 w 3774"/>
                <a:gd name="T39" fmla="*/ 5412 h 7335"/>
                <a:gd name="T40" fmla="*/ 1964 w 3774"/>
                <a:gd name="T41" fmla="*/ 5598 h 7335"/>
                <a:gd name="T42" fmla="*/ 1482 w 3774"/>
                <a:gd name="T43" fmla="*/ 4831 h 7335"/>
                <a:gd name="T44" fmla="*/ 1902 w 3774"/>
                <a:gd name="T45" fmla="*/ 5096 h 7335"/>
                <a:gd name="T46" fmla="*/ 1544 w 3774"/>
                <a:gd name="T47" fmla="*/ 4223 h 7335"/>
                <a:gd name="T48" fmla="*/ 1936 w 3774"/>
                <a:gd name="T49" fmla="*/ 4487 h 7335"/>
                <a:gd name="T50" fmla="*/ 1678 w 3774"/>
                <a:gd name="T51" fmla="*/ 3401 h 7335"/>
                <a:gd name="T52" fmla="*/ 2063 w 3774"/>
                <a:gd name="T53" fmla="*/ 4032 h 7335"/>
                <a:gd name="T54" fmla="*/ 1872 w 3774"/>
                <a:gd name="T55" fmla="*/ 2493 h 7335"/>
                <a:gd name="T56" fmla="*/ 2345 w 3774"/>
                <a:gd name="T57" fmla="*/ 3685 h 7335"/>
                <a:gd name="T58" fmla="*/ 2340 w 3774"/>
                <a:gd name="T59" fmla="*/ 1341 h 7335"/>
                <a:gd name="T60" fmla="*/ 2525 w 3774"/>
                <a:gd name="T61" fmla="*/ 2863 h 7335"/>
                <a:gd name="T62" fmla="*/ 3007 w 3774"/>
                <a:gd name="T63" fmla="*/ 550 h 7335"/>
                <a:gd name="T64" fmla="*/ 2911 w 3774"/>
                <a:gd name="T65" fmla="*/ 2268 h 7335"/>
                <a:gd name="T66" fmla="*/ 3594 w 3774"/>
                <a:gd name="T67" fmla="*/ 38 h 73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774" h="7335">
                  <a:moveTo>
                    <a:pt x="3358" y="5632"/>
                  </a:moveTo>
                  <a:cubicBezTo>
                    <a:pt x="3219" y="5793"/>
                    <a:pt x="3040" y="6021"/>
                    <a:pt x="3079" y="6187"/>
                  </a:cubicBezTo>
                  <a:cubicBezTo>
                    <a:pt x="3079" y="6187"/>
                    <a:pt x="3079" y="6187"/>
                    <a:pt x="3079" y="6187"/>
                  </a:cubicBezTo>
                  <a:cubicBezTo>
                    <a:pt x="3107" y="6325"/>
                    <a:pt x="3302" y="6410"/>
                    <a:pt x="3302" y="6410"/>
                  </a:cubicBezTo>
                  <a:cubicBezTo>
                    <a:pt x="3720" y="6636"/>
                    <a:pt x="3720" y="6636"/>
                    <a:pt x="3720" y="6636"/>
                  </a:cubicBezTo>
                  <a:cubicBezTo>
                    <a:pt x="3449" y="6873"/>
                    <a:pt x="3449" y="6873"/>
                    <a:pt x="3449" y="6873"/>
                  </a:cubicBezTo>
                  <a:cubicBezTo>
                    <a:pt x="3774" y="6975"/>
                    <a:pt x="3774" y="6975"/>
                    <a:pt x="3774" y="6975"/>
                  </a:cubicBezTo>
                  <a:cubicBezTo>
                    <a:pt x="3774" y="6975"/>
                    <a:pt x="3476" y="7281"/>
                    <a:pt x="3441" y="7312"/>
                  </a:cubicBezTo>
                  <a:cubicBezTo>
                    <a:pt x="3356" y="7326"/>
                    <a:pt x="3266" y="7335"/>
                    <a:pt x="3169" y="7335"/>
                  </a:cubicBezTo>
                  <a:cubicBezTo>
                    <a:pt x="2479" y="7335"/>
                    <a:pt x="1519" y="6927"/>
                    <a:pt x="1281" y="6924"/>
                  </a:cubicBezTo>
                  <a:cubicBezTo>
                    <a:pt x="995" y="6921"/>
                    <a:pt x="636" y="7086"/>
                    <a:pt x="636" y="7086"/>
                  </a:cubicBezTo>
                  <a:cubicBezTo>
                    <a:pt x="823" y="6882"/>
                    <a:pt x="823" y="6882"/>
                    <a:pt x="823" y="6882"/>
                  </a:cubicBezTo>
                  <a:cubicBezTo>
                    <a:pt x="823" y="6882"/>
                    <a:pt x="577" y="6932"/>
                    <a:pt x="339" y="6912"/>
                  </a:cubicBezTo>
                  <a:cubicBezTo>
                    <a:pt x="675" y="6684"/>
                    <a:pt x="675" y="6684"/>
                    <a:pt x="675" y="6684"/>
                  </a:cubicBezTo>
                  <a:cubicBezTo>
                    <a:pt x="380" y="6674"/>
                    <a:pt x="122" y="6586"/>
                    <a:pt x="0" y="6500"/>
                  </a:cubicBezTo>
                  <a:cubicBezTo>
                    <a:pt x="0" y="6500"/>
                    <a:pt x="543" y="6457"/>
                    <a:pt x="1280" y="6465"/>
                  </a:cubicBezTo>
                  <a:cubicBezTo>
                    <a:pt x="1578" y="6468"/>
                    <a:pt x="2083" y="6498"/>
                    <a:pt x="2083" y="6498"/>
                  </a:cubicBezTo>
                  <a:cubicBezTo>
                    <a:pt x="1834" y="6392"/>
                    <a:pt x="1600" y="6252"/>
                    <a:pt x="1500" y="6006"/>
                  </a:cubicBezTo>
                  <a:cubicBezTo>
                    <a:pt x="1976" y="6078"/>
                    <a:pt x="1976" y="6078"/>
                    <a:pt x="1976" y="6078"/>
                  </a:cubicBezTo>
                  <a:cubicBezTo>
                    <a:pt x="1776" y="5956"/>
                    <a:pt x="1486" y="5649"/>
                    <a:pt x="1432" y="5412"/>
                  </a:cubicBezTo>
                  <a:cubicBezTo>
                    <a:pt x="1964" y="5598"/>
                    <a:pt x="1964" y="5598"/>
                    <a:pt x="1964" y="5598"/>
                  </a:cubicBezTo>
                  <a:cubicBezTo>
                    <a:pt x="1869" y="5496"/>
                    <a:pt x="1541" y="5188"/>
                    <a:pt x="1482" y="4831"/>
                  </a:cubicBezTo>
                  <a:cubicBezTo>
                    <a:pt x="1902" y="5096"/>
                    <a:pt x="1902" y="5096"/>
                    <a:pt x="1902" y="5096"/>
                  </a:cubicBezTo>
                  <a:cubicBezTo>
                    <a:pt x="1792" y="4985"/>
                    <a:pt x="1493" y="4396"/>
                    <a:pt x="1544" y="4223"/>
                  </a:cubicBezTo>
                  <a:cubicBezTo>
                    <a:pt x="1936" y="4487"/>
                    <a:pt x="1936" y="4487"/>
                    <a:pt x="1936" y="4487"/>
                  </a:cubicBezTo>
                  <a:cubicBezTo>
                    <a:pt x="1748" y="4255"/>
                    <a:pt x="1529" y="3640"/>
                    <a:pt x="1678" y="3401"/>
                  </a:cubicBezTo>
                  <a:cubicBezTo>
                    <a:pt x="1797" y="3864"/>
                    <a:pt x="2063" y="4032"/>
                    <a:pt x="2063" y="4032"/>
                  </a:cubicBezTo>
                  <a:cubicBezTo>
                    <a:pt x="1889" y="3780"/>
                    <a:pt x="1513" y="2887"/>
                    <a:pt x="1872" y="2493"/>
                  </a:cubicBezTo>
                  <a:cubicBezTo>
                    <a:pt x="1966" y="3384"/>
                    <a:pt x="2345" y="3685"/>
                    <a:pt x="2345" y="3685"/>
                  </a:cubicBezTo>
                  <a:cubicBezTo>
                    <a:pt x="2031" y="3186"/>
                    <a:pt x="1674" y="1652"/>
                    <a:pt x="2340" y="1341"/>
                  </a:cubicBezTo>
                  <a:cubicBezTo>
                    <a:pt x="2210" y="2327"/>
                    <a:pt x="2525" y="2863"/>
                    <a:pt x="2525" y="2863"/>
                  </a:cubicBezTo>
                  <a:cubicBezTo>
                    <a:pt x="2326" y="1955"/>
                    <a:pt x="2332" y="668"/>
                    <a:pt x="3007" y="550"/>
                  </a:cubicBezTo>
                  <a:cubicBezTo>
                    <a:pt x="2676" y="1520"/>
                    <a:pt x="2911" y="2268"/>
                    <a:pt x="2911" y="2268"/>
                  </a:cubicBezTo>
                  <a:cubicBezTo>
                    <a:pt x="2863" y="0"/>
                    <a:pt x="3594" y="38"/>
                    <a:pt x="3594" y="3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grpSp>
      <p:sp>
        <p:nvSpPr>
          <p:cNvPr id="25" name="Title 1">
            <a:extLst>
              <a:ext uri="{FF2B5EF4-FFF2-40B4-BE49-F238E27FC236}">
                <a16:creationId xmlns:a16="http://schemas.microsoft.com/office/drawing/2014/main" id="{1061EFA8-D1BD-1848-B96E-246A948FC007}"/>
              </a:ext>
            </a:extLst>
          </p:cNvPr>
          <p:cNvSpPr>
            <a:spLocks noGrp="1"/>
          </p:cNvSpPr>
          <p:nvPr>
            <p:ph type="title"/>
          </p:nvPr>
        </p:nvSpPr>
        <p:spPr>
          <a:xfrm>
            <a:off x="504825" y="549277"/>
            <a:ext cx="5770564" cy="1653686"/>
          </a:xfrm>
        </p:spPr>
        <p:txBody>
          <a:bodyPr/>
          <a:lstStyle>
            <a:lvl1pPr>
              <a:defRPr>
                <a:solidFill>
                  <a:schemeClr val="bg1"/>
                </a:solidFill>
              </a:defRPr>
            </a:lvl1pPr>
          </a:lstStyle>
          <a:p>
            <a:r>
              <a:rPr lang="en-US"/>
              <a:t>Click to edit Master title style</a:t>
            </a:r>
            <a:endParaRPr lang="en-GB"/>
          </a:p>
        </p:txBody>
      </p:sp>
      <p:sp>
        <p:nvSpPr>
          <p:cNvPr id="48" name="Text Placeholder 3">
            <a:extLst>
              <a:ext uri="{FF2B5EF4-FFF2-40B4-BE49-F238E27FC236}">
                <a16:creationId xmlns:a16="http://schemas.microsoft.com/office/drawing/2014/main" id="{F5506C4E-03D4-BD41-A775-BC177E6071DC}"/>
              </a:ext>
            </a:extLst>
          </p:cNvPr>
          <p:cNvSpPr>
            <a:spLocks noGrp="1"/>
          </p:cNvSpPr>
          <p:nvPr>
            <p:ph type="body" sz="quarter" idx="12"/>
          </p:nvPr>
        </p:nvSpPr>
        <p:spPr>
          <a:xfrm>
            <a:off x="504832" y="2442198"/>
            <a:ext cx="2726057" cy="986806"/>
          </a:xfrm>
        </p:spPr>
        <p:txBody>
          <a:bodyPr/>
          <a:lstStyle>
            <a:lvl1pPr>
              <a:lnSpc>
                <a:spcPct val="112000"/>
              </a:lnSpc>
              <a:spcAft>
                <a:spcPts val="0"/>
              </a:spcAft>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p:txBody>
      </p:sp>
      <p:sp>
        <p:nvSpPr>
          <p:cNvPr id="49" name="Text Placeholder 3">
            <a:extLst>
              <a:ext uri="{FF2B5EF4-FFF2-40B4-BE49-F238E27FC236}">
                <a16:creationId xmlns:a16="http://schemas.microsoft.com/office/drawing/2014/main" id="{9AFA0A99-C125-9748-B85D-2523356ED05E}"/>
              </a:ext>
            </a:extLst>
          </p:cNvPr>
          <p:cNvSpPr>
            <a:spLocks noGrp="1"/>
          </p:cNvSpPr>
          <p:nvPr>
            <p:ph type="body" sz="quarter" idx="13"/>
          </p:nvPr>
        </p:nvSpPr>
        <p:spPr>
          <a:xfrm>
            <a:off x="3549340" y="2442198"/>
            <a:ext cx="2726057" cy="986806"/>
          </a:xfrm>
        </p:spPr>
        <p:txBody>
          <a:bodyPr/>
          <a:lstStyle>
            <a:lvl1pPr>
              <a:lnSpc>
                <a:spcPct val="112000"/>
              </a:lnSpc>
              <a:spcAft>
                <a:spcPts val="0"/>
              </a:spcAft>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174945957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Title Slide 3">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4AB28DA-8311-4C87-A270-A26F9574C960}"/>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0" y="0"/>
            <a:ext cx="12192000" cy="6858000"/>
          </a:xfrm>
          <a:prstGeom prst="rect">
            <a:avLst/>
          </a:prstGeom>
        </p:spPr>
      </p:pic>
      <p:grpSp>
        <p:nvGrpSpPr>
          <p:cNvPr id="26" name="Group 25">
            <a:extLst>
              <a:ext uri="{FF2B5EF4-FFF2-40B4-BE49-F238E27FC236}">
                <a16:creationId xmlns:a16="http://schemas.microsoft.com/office/drawing/2014/main" id="{746CECC4-0A48-724D-9DE8-9BE917B1CCF3}"/>
              </a:ext>
            </a:extLst>
          </p:cNvPr>
          <p:cNvGrpSpPr>
            <a:grpSpLocks noChangeAspect="1"/>
          </p:cNvGrpSpPr>
          <p:nvPr/>
        </p:nvGrpSpPr>
        <p:grpSpPr bwMode="auto">
          <a:xfrm>
            <a:off x="9483956" y="4094268"/>
            <a:ext cx="1991010" cy="1986618"/>
            <a:chOff x="2464" y="1494"/>
            <a:chExt cx="2267" cy="2262"/>
          </a:xfrm>
          <a:solidFill>
            <a:schemeClr val="bg1"/>
          </a:solidFill>
        </p:grpSpPr>
        <p:sp>
          <p:nvSpPr>
            <p:cNvPr id="27" name="Oval 26">
              <a:extLst>
                <a:ext uri="{FF2B5EF4-FFF2-40B4-BE49-F238E27FC236}">
                  <a16:creationId xmlns:a16="http://schemas.microsoft.com/office/drawing/2014/main" id="{500EB822-4111-2847-B3A2-1359C1D5DA7E}"/>
                </a:ext>
              </a:extLst>
            </p:cNvPr>
            <p:cNvSpPr>
              <a:spLocks noChangeArrowheads="1"/>
            </p:cNvSpPr>
            <p:nvPr/>
          </p:nvSpPr>
          <p:spPr bwMode="auto">
            <a:xfrm>
              <a:off x="3170" y="3451"/>
              <a:ext cx="70" cy="6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28" name="Oval 27">
              <a:extLst>
                <a:ext uri="{FF2B5EF4-FFF2-40B4-BE49-F238E27FC236}">
                  <a16:creationId xmlns:a16="http://schemas.microsoft.com/office/drawing/2014/main" id="{19422B8E-4042-CB44-9F86-7E9AD2FC0571}"/>
                </a:ext>
              </a:extLst>
            </p:cNvPr>
            <p:cNvSpPr>
              <a:spLocks noChangeArrowheads="1"/>
            </p:cNvSpPr>
            <p:nvPr/>
          </p:nvSpPr>
          <p:spPr bwMode="auto">
            <a:xfrm>
              <a:off x="4070" y="3451"/>
              <a:ext cx="71" cy="6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29" name="Freeform 28">
              <a:extLst>
                <a:ext uri="{FF2B5EF4-FFF2-40B4-BE49-F238E27FC236}">
                  <a16:creationId xmlns:a16="http://schemas.microsoft.com/office/drawing/2014/main" id="{4EEF6F4E-A015-DF4B-940D-0C781730157B}"/>
                </a:ext>
              </a:extLst>
            </p:cNvPr>
            <p:cNvSpPr>
              <a:spLocks noEditPoints="1"/>
            </p:cNvSpPr>
            <p:nvPr/>
          </p:nvSpPr>
          <p:spPr bwMode="auto">
            <a:xfrm>
              <a:off x="2771" y="3538"/>
              <a:ext cx="191" cy="218"/>
            </a:xfrm>
            <a:custGeom>
              <a:avLst/>
              <a:gdLst>
                <a:gd name="T0" fmla="*/ 770 w 770"/>
                <a:gd name="T1" fmla="*/ 353 h 881"/>
                <a:gd name="T2" fmla="*/ 770 w 770"/>
                <a:gd name="T3" fmla="*/ 857 h 881"/>
                <a:gd name="T4" fmla="*/ 550 w 770"/>
                <a:gd name="T5" fmla="*/ 857 h 881"/>
                <a:gd name="T6" fmla="*/ 550 w 770"/>
                <a:gd name="T7" fmla="*/ 772 h 881"/>
                <a:gd name="T8" fmla="*/ 310 w 770"/>
                <a:gd name="T9" fmla="*/ 876 h 881"/>
                <a:gd name="T10" fmla="*/ 0 w 770"/>
                <a:gd name="T11" fmla="*/ 617 h 881"/>
                <a:gd name="T12" fmla="*/ 514 w 770"/>
                <a:gd name="T13" fmla="*/ 320 h 881"/>
                <a:gd name="T14" fmla="*/ 543 w 770"/>
                <a:gd name="T15" fmla="*/ 320 h 881"/>
                <a:gd name="T16" fmla="*/ 379 w 770"/>
                <a:gd name="T17" fmla="*/ 190 h 881"/>
                <a:gd name="T18" fmla="*/ 155 w 770"/>
                <a:gd name="T19" fmla="*/ 270 h 881"/>
                <a:gd name="T20" fmla="*/ 22 w 770"/>
                <a:gd name="T21" fmla="*/ 137 h 881"/>
                <a:gd name="T22" fmla="*/ 385 w 770"/>
                <a:gd name="T23" fmla="*/ 0 h 881"/>
                <a:gd name="T24" fmla="*/ 682 w 770"/>
                <a:gd name="T25" fmla="*/ 91 h 881"/>
                <a:gd name="T26" fmla="*/ 770 w 770"/>
                <a:gd name="T27" fmla="*/ 353 h 881"/>
                <a:gd name="T28" fmla="*/ 543 w 770"/>
                <a:gd name="T29" fmla="*/ 493 h 881"/>
                <a:gd name="T30" fmla="*/ 521 w 770"/>
                <a:gd name="T31" fmla="*/ 493 h 881"/>
                <a:gd name="T32" fmla="*/ 326 w 770"/>
                <a:gd name="T33" fmla="*/ 516 h 881"/>
                <a:gd name="T34" fmla="*/ 241 w 770"/>
                <a:gd name="T35" fmla="*/ 602 h 881"/>
                <a:gd name="T36" fmla="*/ 356 w 770"/>
                <a:gd name="T37" fmla="*/ 689 h 881"/>
                <a:gd name="T38" fmla="*/ 543 w 770"/>
                <a:gd name="T39" fmla="*/ 519 h 881"/>
                <a:gd name="T40" fmla="*/ 543 w 770"/>
                <a:gd name="T41" fmla="*/ 493 h 8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770" h="881">
                  <a:moveTo>
                    <a:pt x="770" y="353"/>
                  </a:moveTo>
                  <a:cubicBezTo>
                    <a:pt x="770" y="857"/>
                    <a:pt x="770" y="857"/>
                    <a:pt x="770" y="857"/>
                  </a:cubicBezTo>
                  <a:cubicBezTo>
                    <a:pt x="550" y="857"/>
                    <a:pt x="550" y="857"/>
                    <a:pt x="550" y="857"/>
                  </a:cubicBezTo>
                  <a:cubicBezTo>
                    <a:pt x="550" y="772"/>
                    <a:pt x="550" y="772"/>
                    <a:pt x="550" y="772"/>
                  </a:cubicBezTo>
                  <a:cubicBezTo>
                    <a:pt x="492" y="834"/>
                    <a:pt x="421" y="873"/>
                    <a:pt x="310" y="876"/>
                  </a:cubicBezTo>
                  <a:cubicBezTo>
                    <a:pt x="137" y="881"/>
                    <a:pt x="0" y="775"/>
                    <a:pt x="0" y="617"/>
                  </a:cubicBezTo>
                  <a:cubicBezTo>
                    <a:pt x="0" y="373"/>
                    <a:pt x="260" y="320"/>
                    <a:pt x="514" y="320"/>
                  </a:cubicBezTo>
                  <a:cubicBezTo>
                    <a:pt x="543" y="320"/>
                    <a:pt x="543" y="320"/>
                    <a:pt x="543" y="320"/>
                  </a:cubicBezTo>
                  <a:cubicBezTo>
                    <a:pt x="543" y="252"/>
                    <a:pt x="513" y="190"/>
                    <a:pt x="379" y="190"/>
                  </a:cubicBezTo>
                  <a:cubicBezTo>
                    <a:pt x="287" y="190"/>
                    <a:pt x="210" y="219"/>
                    <a:pt x="155" y="270"/>
                  </a:cubicBezTo>
                  <a:cubicBezTo>
                    <a:pt x="22" y="137"/>
                    <a:pt x="22" y="137"/>
                    <a:pt x="22" y="137"/>
                  </a:cubicBezTo>
                  <a:cubicBezTo>
                    <a:pt x="113" y="46"/>
                    <a:pt x="242" y="0"/>
                    <a:pt x="385" y="0"/>
                  </a:cubicBezTo>
                  <a:cubicBezTo>
                    <a:pt x="526" y="0"/>
                    <a:pt x="604" y="20"/>
                    <a:pt x="682" y="91"/>
                  </a:cubicBezTo>
                  <a:cubicBezTo>
                    <a:pt x="757" y="158"/>
                    <a:pt x="770" y="283"/>
                    <a:pt x="770" y="353"/>
                  </a:cubicBezTo>
                  <a:moveTo>
                    <a:pt x="543" y="493"/>
                  </a:moveTo>
                  <a:cubicBezTo>
                    <a:pt x="521" y="493"/>
                    <a:pt x="521" y="493"/>
                    <a:pt x="521" y="493"/>
                  </a:cubicBezTo>
                  <a:cubicBezTo>
                    <a:pt x="484" y="493"/>
                    <a:pt x="394" y="498"/>
                    <a:pt x="326" y="516"/>
                  </a:cubicBezTo>
                  <a:cubicBezTo>
                    <a:pt x="280" y="529"/>
                    <a:pt x="241" y="560"/>
                    <a:pt x="241" y="602"/>
                  </a:cubicBezTo>
                  <a:cubicBezTo>
                    <a:pt x="241" y="663"/>
                    <a:pt x="301" y="689"/>
                    <a:pt x="356" y="689"/>
                  </a:cubicBezTo>
                  <a:cubicBezTo>
                    <a:pt x="473" y="689"/>
                    <a:pt x="543" y="615"/>
                    <a:pt x="543" y="519"/>
                  </a:cubicBezTo>
                  <a:lnTo>
                    <a:pt x="543" y="49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30" name="Freeform 29">
              <a:extLst>
                <a:ext uri="{FF2B5EF4-FFF2-40B4-BE49-F238E27FC236}">
                  <a16:creationId xmlns:a16="http://schemas.microsoft.com/office/drawing/2014/main" id="{33E57ED8-1DDF-334D-BC51-56C7A35A5D58}"/>
                </a:ext>
              </a:extLst>
            </p:cNvPr>
            <p:cNvSpPr>
              <a:spLocks/>
            </p:cNvSpPr>
            <p:nvPr/>
          </p:nvSpPr>
          <p:spPr bwMode="auto">
            <a:xfrm>
              <a:off x="2983" y="3477"/>
              <a:ext cx="154" cy="278"/>
            </a:xfrm>
            <a:custGeom>
              <a:avLst/>
              <a:gdLst>
                <a:gd name="T0" fmla="*/ 401 w 622"/>
                <a:gd name="T1" fmla="*/ 264 h 1120"/>
                <a:gd name="T2" fmla="*/ 401 w 622"/>
                <a:gd name="T3" fmla="*/ 0 h 1120"/>
                <a:gd name="T4" fmla="*/ 163 w 622"/>
                <a:gd name="T5" fmla="*/ 0 h 1120"/>
                <a:gd name="T6" fmla="*/ 163 w 622"/>
                <a:gd name="T7" fmla="*/ 264 h 1120"/>
                <a:gd name="T8" fmla="*/ 0 w 622"/>
                <a:gd name="T9" fmla="*/ 264 h 1120"/>
                <a:gd name="T10" fmla="*/ 0 w 622"/>
                <a:gd name="T11" fmla="*/ 463 h 1120"/>
                <a:gd name="T12" fmla="*/ 163 w 622"/>
                <a:gd name="T13" fmla="*/ 463 h 1120"/>
                <a:gd name="T14" fmla="*/ 163 w 622"/>
                <a:gd name="T15" fmla="*/ 818 h 1120"/>
                <a:gd name="T16" fmla="*/ 231 w 622"/>
                <a:gd name="T17" fmla="*/ 1055 h 1120"/>
                <a:gd name="T18" fmla="*/ 444 w 622"/>
                <a:gd name="T19" fmla="*/ 1120 h 1120"/>
                <a:gd name="T20" fmla="*/ 622 w 622"/>
                <a:gd name="T21" fmla="*/ 1086 h 1120"/>
                <a:gd name="T22" fmla="*/ 622 w 622"/>
                <a:gd name="T23" fmla="*/ 898 h 1120"/>
                <a:gd name="T24" fmla="*/ 494 w 622"/>
                <a:gd name="T25" fmla="*/ 915 h 1120"/>
                <a:gd name="T26" fmla="*/ 401 w 622"/>
                <a:gd name="T27" fmla="*/ 807 h 1120"/>
                <a:gd name="T28" fmla="*/ 401 w 622"/>
                <a:gd name="T29" fmla="*/ 463 h 1120"/>
                <a:gd name="T30" fmla="*/ 622 w 622"/>
                <a:gd name="T31" fmla="*/ 463 h 1120"/>
                <a:gd name="T32" fmla="*/ 622 w 622"/>
                <a:gd name="T33" fmla="*/ 264 h 1120"/>
                <a:gd name="T34" fmla="*/ 401 w 622"/>
                <a:gd name="T35" fmla="*/ 264 h 1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22" h="1120">
                  <a:moveTo>
                    <a:pt x="401" y="264"/>
                  </a:moveTo>
                  <a:cubicBezTo>
                    <a:pt x="401" y="0"/>
                    <a:pt x="401" y="0"/>
                    <a:pt x="401" y="0"/>
                  </a:cubicBezTo>
                  <a:cubicBezTo>
                    <a:pt x="163" y="0"/>
                    <a:pt x="163" y="0"/>
                    <a:pt x="163" y="0"/>
                  </a:cubicBezTo>
                  <a:cubicBezTo>
                    <a:pt x="163" y="264"/>
                    <a:pt x="163" y="264"/>
                    <a:pt x="163" y="264"/>
                  </a:cubicBezTo>
                  <a:cubicBezTo>
                    <a:pt x="0" y="264"/>
                    <a:pt x="0" y="264"/>
                    <a:pt x="0" y="264"/>
                  </a:cubicBezTo>
                  <a:cubicBezTo>
                    <a:pt x="0" y="463"/>
                    <a:pt x="0" y="463"/>
                    <a:pt x="0" y="463"/>
                  </a:cubicBezTo>
                  <a:cubicBezTo>
                    <a:pt x="163" y="463"/>
                    <a:pt x="163" y="463"/>
                    <a:pt x="163" y="463"/>
                  </a:cubicBezTo>
                  <a:cubicBezTo>
                    <a:pt x="163" y="818"/>
                    <a:pt x="163" y="818"/>
                    <a:pt x="163" y="818"/>
                  </a:cubicBezTo>
                  <a:cubicBezTo>
                    <a:pt x="163" y="937"/>
                    <a:pt x="184" y="1008"/>
                    <a:pt x="231" y="1055"/>
                  </a:cubicBezTo>
                  <a:cubicBezTo>
                    <a:pt x="276" y="1099"/>
                    <a:pt x="343" y="1120"/>
                    <a:pt x="444" y="1120"/>
                  </a:cubicBezTo>
                  <a:cubicBezTo>
                    <a:pt x="508" y="1120"/>
                    <a:pt x="572" y="1108"/>
                    <a:pt x="622" y="1086"/>
                  </a:cubicBezTo>
                  <a:cubicBezTo>
                    <a:pt x="622" y="898"/>
                    <a:pt x="622" y="898"/>
                    <a:pt x="622" y="898"/>
                  </a:cubicBezTo>
                  <a:cubicBezTo>
                    <a:pt x="592" y="908"/>
                    <a:pt x="549" y="915"/>
                    <a:pt x="494" y="915"/>
                  </a:cubicBezTo>
                  <a:cubicBezTo>
                    <a:pt x="420" y="915"/>
                    <a:pt x="401" y="874"/>
                    <a:pt x="401" y="807"/>
                  </a:cubicBezTo>
                  <a:cubicBezTo>
                    <a:pt x="401" y="463"/>
                    <a:pt x="401" y="463"/>
                    <a:pt x="401" y="463"/>
                  </a:cubicBezTo>
                  <a:cubicBezTo>
                    <a:pt x="622" y="463"/>
                    <a:pt x="622" y="463"/>
                    <a:pt x="622" y="463"/>
                  </a:cubicBezTo>
                  <a:cubicBezTo>
                    <a:pt x="622" y="264"/>
                    <a:pt x="622" y="264"/>
                    <a:pt x="622" y="264"/>
                  </a:cubicBezTo>
                  <a:lnTo>
                    <a:pt x="401" y="26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31" name="Freeform 30">
              <a:extLst>
                <a:ext uri="{FF2B5EF4-FFF2-40B4-BE49-F238E27FC236}">
                  <a16:creationId xmlns:a16="http://schemas.microsoft.com/office/drawing/2014/main" id="{A2091A0A-1651-184C-B7E6-735099B4FAB3}"/>
                </a:ext>
              </a:extLst>
            </p:cNvPr>
            <p:cNvSpPr>
              <a:spLocks noEditPoints="1"/>
            </p:cNvSpPr>
            <p:nvPr/>
          </p:nvSpPr>
          <p:spPr bwMode="auto">
            <a:xfrm>
              <a:off x="4426" y="3538"/>
              <a:ext cx="213" cy="217"/>
            </a:xfrm>
            <a:custGeom>
              <a:avLst/>
              <a:gdLst>
                <a:gd name="T0" fmla="*/ 857 w 857"/>
                <a:gd name="T1" fmla="*/ 453 h 876"/>
                <a:gd name="T2" fmla="*/ 857 w 857"/>
                <a:gd name="T3" fmla="*/ 516 h 876"/>
                <a:gd name="T4" fmla="*/ 244 w 857"/>
                <a:gd name="T5" fmla="*/ 516 h 876"/>
                <a:gd name="T6" fmla="*/ 459 w 857"/>
                <a:gd name="T7" fmla="*/ 680 h 876"/>
                <a:gd name="T8" fmla="*/ 678 w 857"/>
                <a:gd name="T9" fmla="*/ 583 h 876"/>
                <a:gd name="T10" fmla="*/ 829 w 857"/>
                <a:gd name="T11" fmla="*/ 693 h 876"/>
                <a:gd name="T12" fmla="*/ 463 w 857"/>
                <a:gd name="T13" fmla="*/ 876 h 876"/>
                <a:gd name="T14" fmla="*/ 0 w 857"/>
                <a:gd name="T15" fmla="*/ 438 h 876"/>
                <a:gd name="T16" fmla="*/ 433 w 857"/>
                <a:gd name="T17" fmla="*/ 0 h 876"/>
                <a:gd name="T18" fmla="*/ 857 w 857"/>
                <a:gd name="T19" fmla="*/ 453 h 876"/>
                <a:gd name="T20" fmla="*/ 605 w 857"/>
                <a:gd name="T21" fmla="*/ 345 h 876"/>
                <a:gd name="T22" fmla="*/ 425 w 857"/>
                <a:gd name="T23" fmla="*/ 189 h 876"/>
                <a:gd name="T24" fmla="*/ 245 w 857"/>
                <a:gd name="T25" fmla="*/ 345 h 876"/>
                <a:gd name="T26" fmla="*/ 605 w 857"/>
                <a:gd name="T27" fmla="*/ 345 h 8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57" h="876">
                  <a:moveTo>
                    <a:pt x="857" y="453"/>
                  </a:moveTo>
                  <a:cubicBezTo>
                    <a:pt x="857" y="516"/>
                    <a:pt x="857" y="516"/>
                    <a:pt x="857" y="516"/>
                  </a:cubicBezTo>
                  <a:cubicBezTo>
                    <a:pt x="244" y="516"/>
                    <a:pt x="244" y="516"/>
                    <a:pt x="244" y="516"/>
                  </a:cubicBezTo>
                  <a:cubicBezTo>
                    <a:pt x="249" y="602"/>
                    <a:pt x="345" y="675"/>
                    <a:pt x="459" y="680"/>
                  </a:cubicBezTo>
                  <a:cubicBezTo>
                    <a:pt x="565" y="684"/>
                    <a:pt x="623" y="642"/>
                    <a:pt x="678" y="583"/>
                  </a:cubicBezTo>
                  <a:cubicBezTo>
                    <a:pt x="829" y="693"/>
                    <a:pt x="829" y="693"/>
                    <a:pt x="829" y="693"/>
                  </a:cubicBezTo>
                  <a:cubicBezTo>
                    <a:pt x="737" y="809"/>
                    <a:pt x="624" y="876"/>
                    <a:pt x="463" y="876"/>
                  </a:cubicBezTo>
                  <a:cubicBezTo>
                    <a:pt x="208" y="876"/>
                    <a:pt x="0" y="718"/>
                    <a:pt x="0" y="438"/>
                  </a:cubicBezTo>
                  <a:cubicBezTo>
                    <a:pt x="0" y="215"/>
                    <a:pt x="139" y="0"/>
                    <a:pt x="433" y="0"/>
                  </a:cubicBezTo>
                  <a:cubicBezTo>
                    <a:pt x="736" y="0"/>
                    <a:pt x="857" y="235"/>
                    <a:pt x="857" y="453"/>
                  </a:cubicBezTo>
                  <a:moveTo>
                    <a:pt x="605" y="345"/>
                  </a:moveTo>
                  <a:cubicBezTo>
                    <a:pt x="594" y="254"/>
                    <a:pt x="544" y="187"/>
                    <a:pt x="425" y="189"/>
                  </a:cubicBezTo>
                  <a:cubicBezTo>
                    <a:pt x="324" y="191"/>
                    <a:pt x="256" y="259"/>
                    <a:pt x="245" y="345"/>
                  </a:cubicBezTo>
                  <a:lnTo>
                    <a:pt x="605" y="34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32" name="Freeform 31">
              <a:extLst>
                <a:ext uri="{FF2B5EF4-FFF2-40B4-BE49-F238E27FC236}">
                  <a16:creationId xmlns:a16="http://schemas.microsoft.com/office/drawing/2014/main" id="{B305946B-C562-4B4E-9AC0-91E41860A4F6}"/>
                </a:ext>
              </a:extLst>
            </p:cNvPr>
            <p:cNvSpPr>
              <a:spLocks/>
            </p:cNvSpPr>
            <p:nvPr/>
          </p:nvSpPr>
          <p:spPr bwMode="auto">
            <a:xfrm>
              <a:off x="2464" y="3449"/>
              <a:ext cx="272" cy="301"/>
            </a:xfrm>
            <a:custGeom>
              <a:avLst/>
              <a:gdLst>
                <a:gd name="T0" fmla="*/ 207 w 272"/>
                <a:gd name="T1" fmla="*/ 0 h 301"/>
                <a:gd name="T2" fmla="*/ 207 w 272"/>
                <a:gd name="T3" fmla="*/ 204 h 301"/>
                <a:gd name="T4" fmla="*/ 80 w 272"/>
                <a:gd name="T5" fmla="*/ 0 h 301"/>
                <a:gd name="T6" fmla="*/ 0 w 272"/>
                <a:gd name="T7" fmla="*/ 0 h 301"/>
                <a:gd name="T8" fmla="*/ 0 w 272"/>
                <a:gd name="T9" fmla="*/ 301 h 301"/>
                <a:gd name="T10" fmla="*/ 65 w 272"/>
                <a:gd name="T11" fmla="*/ 301 h 301"/>
                <a:gd name="T12" fmla="*/ 65 w 272"/>
                <a:gd name="T13" fmla="*/ 90 h 301"/>
                <a:gd name="T14" fmla="*/ 196 w 272"/>
                <a:gd name="T15" fmla="*/ 301 h 301"/>
                <a:gd name="T16" fmla="*/ 272 w 272"/>
                <a:gd name="T17" fmla="*/ 301 h 301"/>
                <a:gd name="T18" fmla="*/ 272 w 272"/>
                <a:gd name="T19" fmla="*/ 0 h 301"/>
                <a:gd name="T20" fmla="*/ 207 w 272"/>
                <a:gd name="T21" fmla="*/ 0 h 3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72" h="301">
                  <a:moveTo>
                    <a:pt x="207" y="0"/>
                  </a:moveTo>
                  <a:lnTo>
                    <a:pt x="207" y="204"/>
                  </a:lnTo>
                  <a:lnTo>
                    <a:pt x="80" y="0"/>
                  </a:lnTo>
                  <a:lnTo>
                    <a:pt x="0" y="0"/>
                  </a:lnTo>
                  <a:lnTo>
                    <a:pt x="0" y="301"/>
                  </a:lnTo>
                  <a:lnTo>
                    <a:pt x="65" y="301"/>
                  </a:lnTo>
                  <a:lnTo>
                    <a:pt x="65" y="90"/>
                  </a:lnTo>
                  <a:lnTo>
                    <a:pt x="196" y="301"/>
                  </a:lnTo>
                  <a:lnTo>
                    <a:pt x="272" y="301"/>
                  </a:lnTo>
                  <a:lnTo>
                    <a:pt x="272" y="0"/>
                  </a:lnTo>
                  <a:lnTo>
                    <a:pt x="207"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33" name="Freeform 32">
              <a:extLst>
                <a:ext uri="{FF2B5EF4-FFF2-40B4-BE49-F238E27FC236}">
                  <a16:creationId xmlns:a16="http://schemas.microsoft.com/office/drawing/2014/main" id="{FB9DAA7A-7179-D14A-AE50-DEF5D04F4FA9}"/>
                </a:ext>
              </a:extLst>
            </p:cNvPr>
            <p:cNvSpPr>
              <a:spLocks/>
            </p:cNvSpPr>
            <p:nvPr/>
          </p:nvSpPr>
          <p:spPr bwMode="auto">
            <a:xfrm>
              <a:off x="3734" y="3543"/>
              <a:ext cx="321" cy="207"/>
            </a:xfrm>
            <a:custGeom>
              <a:avLst/>
              <a:gdLst>
                <a:gd name="T0" fmla="*/ 259 w 321"/>
                <a:gd name="T1" fmla="*/ 0 h 207"/>
                <a:gd name="T2" fmla="*/ 226 w 321"/>
                <a:gd name="T3" fmla="*/ 129 h 207"/>
                <a:gd name="T4" fmla="*/ 192 w 321"/>
                <a:gd name="T5" fmla="*/ 0 h 207"/>
                <a:gd name="T6" fmla="*/ 131 w 321"/>
                <a:gd name="T7" fmla="*/ 0 h 207"/>
                <a:gd name="T8" fmla="*/ 98 w 321"/>
                <a:gd name="T9" fmla="*/ 128 h 207"/>
                <a:gd name="T10" fmla="*/ 65 w 321"/>
                <a:gd name="T11" fmla="*/ 0 h 207"/>
                <a:gd name="T12" fmla="*/ 0 w 321"/>
                <a:gd name="T13" fmla="*/ 0 h 207"/>
                <a:gd name="T14" fmla="*/ 66 w 321"/>
                <a:gd name="T15" fmla="*/ 207 h 207"/>
                <a:gd name="T16" fmla="*/ 125 w 321"/>
                <a:gd name="T17" fmla="*/ 207 h 207"/>
                <a:gd name="T18" fmla="*/ 161 w 321"/>
                <a:gd name="T19" fmla="*/ 77 h 207"/>
                <a:gd name="T20" fmla="*/ 201 w 321"/>
                <a:gd name="T21" fmla="*/ 207 h 207"/>
                <a:gd name="T22" fmla="*/ 255 w 321"/>
                <a:gd name="T23" fmla="*/ 207 h 207"/>
                <a:gd name="T24" fmla="*/ 321 w 321"/>
                <a:gd name="T25" fmla="*/ 0 h 207"/>
                <a:gd name="T26" fmla="*/ 259 w 321"/>
                <a:gd name="T27" fmla="*/ 0 h 2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21" h="207">
                  <a:moveTo>
                    <a:pt x="259" y="0"/>
                  </a:moveTo>
                  <a:lnTo>
                    <a:pt x="226" y="129"/>
                  </a:lnTo>
                  <a:lnTo>
                    <a:pt x="192" y="0"/>
                  </a:lnTo>
                  <a:lnTo>
                    <a:pt x="131" y="0"/>
                  </a:lnTo>
                  <a:lnTo>
                    <a:pt x="98" y="128"/>
                  </a:lnTo>
                  <a:lnTo>
                    <a:pt x="65" y="0"/>
                  </a:lnTo>
                  <a:lnTo>
                    <a:pt x="0" y="0"/>
                  </a:lnTo>
                  <a:lnTo>
                    <a:pt x="66" y="207"/>
                  </a:lnTo>
                  <a:lnTo>
                    <a:pt x="125" y="207"/>
                  </a:lnTo>
                  <a:lnTo>
                    <a:pt x="161" y="77"/>
                  </a:lnTo>
                  <a:lnTo>
                    <a:pt x="201" y="207"/>
                  </a:lnTo>
                  <a:lnTo>
                    <a:pt x="255" y="207"/>
                  </a:lnTo>
                  <a:lnTo>
                    <a:pt x="321" y="0"/>
                  </a:lnTo>
                  <a:lnTo>
                    <a:pt x="25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34" name="Freeform 33">
              <a:extLst>
                <a:ext uri="{FF2B5EF4-FFF2-40B4-BE49-F238E27FC236}">
                  <a16:creationId xmlns:a16="http://schemas.microsoft.com/office/drawing/2014/main" id="{BC13DBEE-C770-7041-AFA2-0C237AE02B77}"/>
                </a:ext>
              </a:extLst>
            </p:cNvPr>
            <p:cNvSpPr>
              <a:spLocks/>
            </p:cNvSpPr>
            <p:nvPr/>
          </p:nvSpPr>
          <p:spPr bwMode="auto">
            <a:xfrm>
              <a:off x="3175" y="3543"/>
              <a:ext cx="60" cy="207"/>
            </a:xfrm>
            <a:custGeom>
              <a:avLst/>
              <a:gdLst>
                <a:gd name="T0" fmla="*/ 60 w 60"/>
                <a:gd name="T1" fmla="*/ 0 h 207"/>
                <a:gd name="T2" fmla="*/ 0 w 60"/>
                <a:gd name="T3" fmla="*/ 0 h 207"/>
                <a:gd name="T4" fmla="*/ 0 w 60"/>
                <a:gd name="T5" fmla="*/ 106 h 207"/>
                <a:gd name="T6" fmla="*/ 0 w 60"/>
                <a:gd name="T7" fmla="*/ 207 h 207"/>
                <a:gd name="T8" fmla="*/ 60 w 60"/>
                <a:gd name="T9" fmla="*/ 207 h 207"/>
                <a:gd name="T10" fmla="*/ 60 w 60"/>
                <a:gd name="T11" fmla="*/ 106 h 207"/>
                <a:gd name="T12" fmla="*/ 60 w 60"/>
                <a:gd name="T13" fmla="*/ 0 h 207"/>
              </a:gdLst>
              <a:ahLst/>
              <a:cxnLst>
                <a:cxn ang="0">
                  <a:pos x="T0" y="T1"/>
                </a:cxn>
                <a:cxn ang="0">
                  <a:pos x="T2" y="T3"/>
                </a:cxn>
                <a:cxn ang="0">
                  <a:pos x="T4" y="T5"/>
                </a:cxn>
                <a:cxn ang="0">
                  <a:pos x="T6" y="T7"/>
                </a:cxn>
                <a:cxn ang="0">
                  <a:pos x="T8" y="T9"/>
                </a:cxn>
                <a:cxn ang="0">
                  <a:pos x="T10" y="T11"/>
                </a:cxn>
                <a:cxn ang="0">
                  <a:pos x="T12" y="T13"/>
                </a:cxn>
              </a:cxnLst>
              <a:rect l="0" t="0" r="r" b="b"/>
              <a:pathLst>
                <a:path w="60" h="207">
                  <a:moveTo>
                    <a:pt x="60" y="0"/>
                  </a:moveTo>
                  <a:lnTo>
                    <a:pt x="0" y="0"/>
                  </a:lnTo>
                  <a:lnTo>
                    <a:pt x="0" y="106"/>
                  </a:lnTo>
                  <a:lnTo>
                    <a:pt x="0" y="207"/>
                  </a:lnTo>
                  <a:lnTo>
                    <a:pt x="60" y="207"/>
                  </a:lnTo>
                  <a:lnTo>
                    <a:pt x="60" y="106"/>
                  </a:lnTo>
                  <a:lnTo>
                    <a:pt x="6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35" name="Freeform 34">
              <a:extLst>
                <a:ext uri="{FF2B5EF4-FFF2-40B4-BE49-F238E27FC236}">
                  <a16:creationId xmlns:a16="http://schemas.microsoft.com/office/drawing/2014/main" id="{25F55F6D-AE97-BC48-8FF0-AD9F705F70D3}"/>
                </a:ext>
              </a:extLst>
            </p:cNvPr>
            <p:cNvSpPr>
              <a:spLocks/>
            </p:cNvSpPr>
            <p:nvPr/>
          </p:nvSpPr>
          <p:spPr bwMode="auto">
            <a:xfrm>
              <a:off x="4076" y="3543"/>
              <a:ext cx="59" cy="207"/>
            </a:xfrm>
            <a:custGeom>
              <a:avLst/>
              <a:gdLst>
                <a:gd name="T0" fmla="*/ 59 w 59"/>
                <a:gd name="T1" fmla="*/ 0 h 207"/>
                <a:gd name="T2" fmla="*/ 0 w 59"/>
                <a:gd name="T3" fmla="*/ 0 h 207"/>
                <a:gd name="T4" fmla="*/ 0 w 59"/>
                <a:gd name="T5" fmla="*/ 106 h 207"/>
                <a:gd name="T6" fmla="*/ 0 w 59"/>
                <a:gd name="T7" fmla="*/ 207 h 207"/>
                <a:gd name="T8" fmla="*/ 59 w 59"/>
                <a:gd name="T9" fmla="*/ 207 h 207"/>
                <a:gd name="T10" fmla="*/ 59 w 59"/>
                <a:gd name="T11" fmla="*/ 106 h 207"/>
                <a:gd name="T12" fmla="*/ 59 w 59"/>
                <a:gd name="T13" fmla="*/ 0 h 207"/>
              </a:gdLst>
              <a:ahLst/>
              <a:cxnLst>
                <a:cxn ang="0">
                  <a:pos x="T0" y="T1"/>
                </a:cxn>
                <a:cxn ang="0">
                  <a:pos x="T2" y="T3"/>
                </a:cxn>
                <a:cxn ang="0">
                  <a:pos x="T4" y="T5"/>
                </a:cxn>
                <a:cxn ang="0">
                  <a:pos x="T6" y="T7"/>
                </a:cxn>
                <a:cxn ang="0">
                  <a:pos x="T8" y="T9"/>
                </a:cxn>
                <a:cxn ang="0">
                  <a:pos x="T10" y="T11"/>
                </a:cxn>
                <a:cxn ang="0">
                  <a:pos x="T12" y="T13"/>
                </a:cxn>
              </a:cxnLst>
              <a:rect l="0" t="0" r="r" b="b"/>
              <a:pathLst>
                <a:path w="59" h="207">
                  <a:moveTo>
                    <a:pt x="59" y="0"/>
                  </a:moveTo>
                  <a:lnTo>
                    <a:pt x="0" y="0"/>
                  </a:lnTo>
                  <a:lnTo>
                    <a:pt x="0" y="106"/>
                  </a:lnTo>
                  <a:lnTo>
                    <a:pt x="0" y="207"/>
                  </a:lnTo>
                  <a:lnTo>
                    <a:pt x="59" y="207"/>
                  </a:lnTo>
                  <a:lnTo>
                    <a:pt x="59" y="106"/>
                  </a:lnTo>
                  <a:lnTo>
                    <a:pt x="5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36" name="Freeform 35">
              <a:extLst>
                <a:ext uri="{FF2B5EF4-FFF2-40B4-BE49-F238E27FC236}">
                  <a16:creationId xmlns:a16="http://schemas.microsoft.com/office/drawing/2014/main" id="{98642F33-A329-514A-A85F-671C5B468823}"/>
                </a:ext>
              </a:extLst>
            </p:cNvPr>
            <p:cNvSpPr>
              <a:spLocks/>
            </p:cNvSpPr>
            <p:nvPr/>
          </p:nvSpPr>
          <p:spPr bwMode="auto">
            <a:xfrm>
              <a:off x="3527" y="3538"/>
              <a:ext cx="190" cy="212"/>
            </a:xfrm>
            <a:custGeom>
              <a:avLst/>
              <a:gdLst>
                <a:gd name="T0" fmla="*/ 686 w 767"/>
                <a:gd name="T1" fmla="*/ 77 h 857"/>
                <a:gd name="T2" fmla="*/ 480 w 767"/>
                <a:gd name="T3" fmla="*/ 0 h 857"/>
                <a:gd name="T4" fmla="*/ 231 w 767"/>
                <a:gd name="T5" fmla="*/ 111 h 857"/>
                <a:gd name="T6" fmla="*/ 231 w 767"/>
                <a:gd name="T7" fmla="*/ 20 h 857"/>
                <a:gd name="T8" fmla="*/ 0 w 767"/>
                <a:gd name="T9" fmla="*/ 20 h 857"/>
                <a:gd name="T10" fmla="*/ 0 w 767"/>
                <a:gd name="T11" fmla="*/ 857 h 857"/>
                <a:gd name="T12" fmla="*/ 241 w 767"/>
                <a:gd name="T13" fmla="*/ 857 h 857"/>
                <a:gd name="T14" fmla="*/ 241 w 767"/>
                <a:gd name="T15" fmla="*/ 402 h 857"/>
                <a:gd name="T16" fmla="*/ 285 w 767"/>
                <a:gd name="T17" fmla="*/ 268 h 857"/>
                <a:gd name="T18" fmla="*/ 390 w 767"/>
                <a:gd name="T19" fmla="*/ 221 h 857"/>
                <a:gd name="T20" fmla="*/ 494 w 767"/>
                <a:gd name="T21" fmla="*/ 268 h 857"/>
                <a:gd name="T22" fmla="*/ 527 w 767"/>
                <a:gd name="T23" fmla="*/ 434 h 857"/>
                <a:gd name="T24" fmla="*/ 527 w 767"/>
                <a:gd name="T25" fmla="*/ 857 h 857"/>
                <a:gd name="T26" fmla="*/ 767 w 767"/>
                <a:gd name="T27" fmla="*/ 857 h 857"/>
                <a:gd name="T28" fmla="*/ 767 w 767"/>
                <a:gd name="T29" fmla="*/ 334 h 857"/>
                <a:gd name="T30" fmla="*/ 686 w 767"/>
                <a:gd name="T31" fmla="*/ 77 h 8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767" h="857">
                  <a:moveTo>
                    <a:pt x="686" y="77"/>
                  </a:moveTo>
                  <a:cubicBezTo>
                    <a:pt x="636" y="24"/>
                    <a:pt x="573" y="0"/>
                    <a:pt x="480" y="0"/>
                  </a:cubicBezTo>
                  <a:cubicBezTo>
                    <a:pt x="388" y="1"/>
                    <a:pt x="281" y="46"/>
                    <a:pt x="231" y="111"/>
                  </a:cubicBezTo>
                  <a:cubicBezTo>
                    <a:pt x="231" y="20"/>
                    <a:pt x="231" y="20"/>
                    <a:pt x="231" y="20"/>
                  </a:cubicBezTo>
                  <a:cubicBezTo>
                    <a:pt x="0" y="20"/>
                    <a:pt x="0" y="20"/>
                    <a:pt x="0" y="20"/>
                  </a:cubicBezTo>
                  <a:cubicBezTo>
                    <a:pt x="0" y="857"/>
                    <a:pt x="0" y="857"/>
                    <a:pt x="0" y="857"/>
                  </a:cubicBezTo>
                  <a:cubicBezTo>
                    <a:pt x="241" y="857"/>
                    <a:pt x="241" y="857"/>
                    <a:pt x="241" y="857"/>
                  </a:cubicBezTo>
                  <a:cubicBezTo>
                    <a:pt x="241" y="402"/>
                    <a:pt x="241" y="402"/>
                    <a:pt x="241" y="402"/>
                  </a:cubicBezTo>
                  <a:cubicBezTo>
                    <a:pt x="241" y="343"/>
                    <a:pt x="257" y="299"/>
                    <a:pt x="285" y="268"/>
                  </a:cubicBezTo>
                  <a:cubicBezTo>
                    <a:pt x="309" y="241"/>
                    <a:pt x="345" y="224"/>
                    <a:pt x="390" y="221"/>
                  </a:cubicBezTo>
                  <a:cubicBezTo>
                    <a:pt x="444" y="218"/>
                    <a:pt x="473" y="242"/>
                    <a:pt x="494" y="268"/>
                  </a:cubicBezTo>
                  <a:cubicBezTo>
                    <a:pt x="520" y="300"/>
                    <a:pt x="527" y="357"/>
                    <a:pt x="527" y="434"/>
                  </a:cubicBezTo>
                  <a:cubicBezTo>
                    <a:pt x="527" y="857"/>
                    <a:pt x="527" y="857"/>
                    <a:pt x="527" y="857"/>
                  </a:cubicBezTo>
                  <a:cubicBezTo>
                    <a:pt x="767" y="857"/>
                    <a:pt x="767" y="857"/>
                    <a:pt x="767" y="857"/>
                  </a:cubicBezTo>
                  <a:cubicBezTo>
                    <a:pt x="767" y="334"/>
                    <a:pt x="767" y="334"/>
                    <a:pt x="767" y="334"/>
                  </a:cubicBezTo>
                  <a:cubicBezTo>
                    <a:pt x="767" y="232"/>
                    <a:pt x="754" y="147"/>
                    <a:pt x="686" y="77"/>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37" name="Freeform 36">
              <a:extLst>
                <a:ext uri="{FF2B5EF4-FFF2-40B4-BE49-F238E27FC236}">
                  <a16:creationId xmlns:a16="http://schemas.microsoft.com/office/drawing/2014/main" id="{6D7E342B-147E-9F46-B8ED-31FC05952700}"/>
                </a:ext>
              </a:extLst>
            </p:cNvPr>
            <p:cNvSpPr>
              <a:spLocks noEditPoints="1"/>
            </p:cNvSpPr>
            <p:nvPr/>
          </p:nvSpPr>
          <p:spPr bwMode="auto">
            <a:xfrm>
              <a:off x="4170" y="3449"/>
              <a:ext cx="222" cy="306"/>
            </a:xfrm>
            <a:custGeom>
              <a:avLst/>
              <a:gdLst>
                <a:gd name="T0" fmla="*/ 900 w 900"/>
                <a:gd name="T1" fmla="*/ 0 h 1233"/>
                <a:gd name="T2" fmla="*/ 900 w 900"/>
                <a:gd name="T3" fmla="*/ 1214 h 1233"/>
                <a:gd name="T4" fmla="*/ 673 w 900"/>
                <a:gd name="T5" fmla="*/ 1214 h 1233"/>
                <a:gd name="T6" fmla="*/ 673 w 900"/>
                <a:gd name="T7" fmla="*/ 1121 h 1233"/>
                <a:gd name="T8" fmla="*/ 414 w 900"/>
                <a:gd name="T9" fmla="*/ 1233 h 1233"/>
                <a:gd name="T10" fmla="*/ 124 w 900"/>
                <a:gd name="T11" fmla="*/ 1121 h 1233"/>
                <a:gd name="T12" fmla="*/ 0 w 900"/>
                <a:gd name="T13" fmla="*/ 796 h 1233"/>
                <a:gd name="T14" fmla="*/ 406 w 900"/>
                <a:gd name="T15" fmla="*/ 357 h 1233"/>
                <a:gd name="T16" fmla="*/ 659 w 900"/>
                <a:gd name="T17" fmla="*/ 451 h 1233"/>
                <a:gd name="T18" fmla="*/ 659 w 900"/>
                <a:gd name="T19" fmla="*/ 0 h 1233"/>
                <a:gd name="T20" fmla="*/ 900 w 900"/>
                <a:gd name="T21" fmla="*/ 0 h 1233"/>
                <a:gd name="T22" fmla="*/ 666 w 900"/>
                <a:gd name="T23" fmla="*/ 796 h 1233"/>
                <a:gd name="T24" fmla="*/ 453 w 900"/>
                <a:gd name="T25" fmla="*/ 569 h 1233"/>
                <a:gd name="T26" fmla="*/ 241 w 900"/>
                <a:gd name="T27" fmla="*/ 796 h 1233"/>
                <a:gd name="T28" fmla="*/ 453 w 900"/>
                <a:gd name="T29" fmla="*/ 1022 h 1233"/>
                <a:gd name="T30" fmla="*/ 666 w 900"/>
                <a:gd name="T31" fmla="*/ 796 h 12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00" h="1233">
                  <a:moveTo>
                    <a:pt x="900" y="0"/>
                  </a:moveTo>
                  <a:cubicBezTo>
                    <a:pt x="900" y="1214"/>
                    <a:pt x="900" y="1214"/>
                    <a:pt x="900" y="1214"/>
                  </a:cubicBezTo>
                  <a:cubicBezTo>
                    <a:pt x="673" y="1214"/>
                    <a:pt x="673" y="1214"/>
                    <a:pt x="673" y="1214"/>
                  </a:cubicBezTo>
                  <a:cubicBezTo>
                    <a:pt x="673" y="1121"/>
                    <a:pt x="673" y="1121"/>
                    <a:pt x="673" y="1121"/>
                  </a:cubicBezTo>
                  <a:cubicBezTo>
                    <a:pt x="620" y="1182"/>
                    <a:pt x="534" y="1233"/>
                    <a:pt x="414" y="1233"/>
                  </a:cubicBezTo>
                  <a:cubicBezTo>
                    <a:pt x="298" y="1233"/>
                    <a:pt x="198" y="1195"/>
                    <a:pt x="124" y="1121"/>
                  </a:cubicBezTo>
                  <a:cubicBezTo>
                    <a:pt x="44" y="1041"/>
                    <a:pt x="0" y="926"/>
                    <a:pt x="0" y="796"/>
                  </a:cubicBezTo>
                  <a:cubicBezTo>
                    <a:pt x="0" y="541"/>
                    <a:pt x="171" y="357"/>
                    <a:pt x="406" y="357"/>
                  </a:cubicBezTo>
                  <a:cubicBezTo>
                    <a:pt x="508" y="357"/>
                    <a:pt x="594" y="389"/>
                    <a:pt x="659" y="451"/>
                  </a:cubicBezTo>
                  <a:cubicBezTo>
                    <a:pt x="659" y="0"/>
                    <a:pt x="659" y="0"/>
                    <a:pt x="659" y="0"/>
                  </a:cubicBezTo>
                  <a:lnTo>
                    <a:pt x="900" y="0"/>
                  </a:lnTo>
                  <a:close/>
                  <a:moveTo>
                    <a:pt x="666" y="796"/>
                  </a:moveTo>
                  <a:cubicBezTo>
                    <a:pt x="666" y="683"/>
                    <a:pt x="593" y="569"/>
                    <a:pt x="453" y="569"/>
                  </a:cubicBezTo>
                  <a:cubicBezTo>
                    <a:pt x="314" y="569"/>
                    <a:pt x="241" y="683"/>
                    <a:pt x="241" y="796"/>
                  </a:cubicBezTo>
                  <a:cubicBezTo>
                    <a:pt x="241" y="908"/>
                    <a:pt x="314" y="1022"/>
                    <a:pt x="453" y="1022"/>
                  </a:cubicBezTo>
                  <a:cubicBezTo>
                    <a:pt x="593" y="1022"/>
                    <a:pt x="666" y="908"/>
                    <a:pt x="666" y="79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38" name="Freeform 37">
              <a:extLst>
                <a:ext uri="{FF2B5EF4-FFF2-40B4-BE49-F238E27FC236}">
                  <a16:creationId xmlns:a16="http://schemas.microsoft.com/office/drawing/2014/main" id="{BC4714C2-C589-7440-8B2D-CDE7ECF95AB1}"/>
                </a:ext>
              </a:extLst>
            </p:cNvPr>
            <p:cNvSpPr>
              <a:spLocks noEditPoints="1"/>
            </p:cNvSpPr>
            <p:nvPr/>
          </p:nvSpPr>
          <p:spPr bwMode="auto">
            <a:xfrm>
              <a:off x="3269" y="3538"/>
              <a:ext cx="224" cy="217"/>
            </a:xfrm>
            <a:custGeom>
              <a:avLst/>
              <a:gdLst>
                <a:gd name="T0" fmla="*/ 905 w 905"/>
                <a:gd name="T1" fmla="*/ 438 h 877"/>
                <a:gd name="T2" fmla="*/ 453 w 905"/>
                <a:gd name="T3" fmla="*/ 877 h 877"/>
                <a:gd name="T4" fmla="*/ 0 w 905"/>
                <a:gd name="T5" fmla="*/ 438 h 877"/>
                <a:gd name="T6" fmla="*/ 453 w 905"/>
                <a:gd name="T7" fmla="*/ 0 h 877"/>
                <a:gd name="T8" fmla="*/ 905 w 905"/>
                <a:gd name="T9" fmla="*/ 438 h 877"/>
                <a:gd name="T10" fmla="*/ 453 w 905"/>
                <a:gd name="T11" fmla="*/ 212 h 877"/>
                <a:gd name="T12" fmla="*/ 241 w 905"/>
                <a:gd name="T13" fmla="*/ 438 h 877"/>
                <a:gd name="T14" fmla="*/ 453 w 905"/>
                <a:gd name="T15" fmla="*/ 664 h 877"/>
                <a:gd name="T16" fmla="*/ 665 w 905"/>
                <a:gd name="T17" fmla="*/ 438 h 877"/>
                <a:gd name="T18" fmla="*/ 453 w 905"/>
                <a:gd name="T19" fmla="*/ 212 h 8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5" h="877">
                  <a:moveTo>
                    <a:pt x="905" y="438"/>
                  </a:moveTo>
                  <a:cubicBezTo>
                    <a:pt x="905" y="692"/>
                    <a:pt x="715" y="877"/>
                    <a:pt x="453" y="877"/>
                  </a:cubicBezTo>
                  <a:cubicBezTo>
                    <a:pt x="190" y="877"/>
                    <a:pt x="0" y="692"/>
                    <a:pt x="0" y="438"/>
                  </a:cubicBezTo>
                  <a:cubicBezTo>
                    <a:pt x="0" y="184"/>
                    <a:pt x="190" y="0"/>
                    <a:pt x="453" y="0"/>
                  </a:cubicBezTo>
                  <a:cubicBezTo>
                    <a:pt x="715" y="0"/>
                    <a:pt x="905" y="184"/>
                    <a:pt x="905" y="438"/>
                  </a:cubicBezTo>
                  <a:moveTo>
                    <a:pt x="453" y="212"/>
                  </a:moveTo>
                  <a:cubicBezTo>
                    <a:pt x="313" y="212"/>
                    <a:pt x="241" y="326"/>
                    <a:pt x="241" y="438"/>
                  </a:cubicBezTo>
                  <a:cubicBezTo>
                    <a:pt x="241" y="551"/>
                    <a:pt x="313" y="664"/>
                    <a:pt x="453" y="664"/>
                  </a:cubicBezTo>
                  <a:cubicBezTo>
                    <a:pt x="592" y="664"/>
                    <a:pt x="665" y="551"/>
                    <a:pt x="665" y="438"/>
                  </a:cubicBezTo>
                  <a:cubicBezTo>
                    <a:pt x="665" y="326"/>
                    <a:pt x="592" y="212"/>
                    <a:pt x="453" y="21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39" name="Freeform 38">
              <a:extLst>
                <a:ext uri="{FF2B5EF4-FFF2-40B4-BE49-F238E27FC236}">
                  <a16:creationId xmlns:a16="http://schemas.microsoft.com/office/drawing/2014/main" id="{756C9AE0-AC13-5044-BB09-DE4242EA4E39}"/>
                </a:ext>
              </a:extLst>
            </p:cNvPr>
            <p:cNvSpPr>
              <a:spLocks noEditPoints="1"/>
            </p:cNvSpPr>
            <p:nvPr/>
          </p:nvSpPr>
          <p:spPr bwMode="auto">
            <a:xfrm>
              <a:off x="4636" y="3449"/>
              <a:ext cx="95" cy="95"/>
            </a:xfrm>
            <a:custGeom>
              <a:avLst/>
              <a:gdLst>
                <a:gd name="T0" fmla="*/ 118 w 383"/>
                <a:gd name="T1" fmla="*/ 299 h 382"/>
                <a:gd name="T2" fmla="*/ 158 w 383"/>
                <a:gd name="T3" fmla="*/ 299 h 382"/>
                <a:gd name="T4" fmla="*/ 158 w 383"/>
                <a:gd name="T5" fmla="*/ 209 h 382"/>
                <a:gd name="T6" fmla="*/ 187 w 383"/>
                <a:gd name="T7" fmla="*/ 209 h 382"/>
                <a:gd name="T8" fmla="*/ 242 w 383"/>
                <a:gd name="T9" fmla="*/ 299 h 382"/>
                <a:gd name="T10" fmla="*/ 284 w 383"/>
                <a:gd name="T11" fmla="*/ 299 h 382"/>
                <a:gd name="T12" fmla="*/ 227 w 383"/>
                <a:gd name="T13" fmla="*/ 206 h 382"/>
                <a:gd name="T14" fmla="*/ 279 w 383"/>
                <a:gd name="T15" fmla="*/ 146 h 382"/>
                <a:gd name="T16" fmla="*/ 202 w 383"/>
                <a:gd name="T17" fmla="*/ 80 h 382"/>
                <a:gd name="T18" fmla="*/ 118 w 383"/>
                <a:gd name="T19" fmla="*/ 80 h 382"/>
                <a:gd name="T20" fmla="*/ 118 w 383"/>
                <a:gd name="T21" fmla="*/ 299 h 382"/>
                <a:gd name="T22" fmla="*/ 158 w 383"/>
                <a:gd name="T23" fmla="*/ 114 h 382"/>
                <a:gd name="T24" fmla="*/ 187 w 383"/>
                <a:gd name="T25" fmla="*/ 114 h 382"/>
                <a:gd name="T26" fmla="*/ 239 w 383"/>
                <a:gd name="T27" fmla="*/ 145 h 382"/>
                <a:gd name="T28" fmla="*/ 187 w 383"/>
                <a:gd name="T29" fmla="*/ 176 h 382"/>
                <a:gd name="T30" fmla="*/ 158 w 383"/>
                <a:gd name="T31" fmla="*/ 176 h 382"/>
                <a:gd name="T32" fmla="*/ 158 w 383"/>
                <a:gd name="T33" fmla="*/ 114 h 382"/>
                <a:gd name="T34" fmla="*/ 0 w 383"/>
                <a:gd name="T35" fmla="*/ 191 h 382"/>
                <a:gd name="T36" fmla="*/ 191 w 383"/>
                <a:gd name="T37" fmla="*/ 382 h 382"/>
                <a:gd name="T38" fmla="*/ 383 w 383"/>
                <a:gd name="T39" fmla="*/ 191 h 382"/>
                <a:gd name="T40" fmla="*/ 191 w 383"/>
                <a:gd name="T41" fmla="*/ 0 h 382"/>
                <a:gd name="T42" fmla="*/ 0 w 383"/>
                <a:gd name="T43" fmla="*/ 191 h 382"/>
                <a:gd name="T44" fmla="*/ 34 w 383"/>
                <a:gd name="T45" fmla="*/ 191 h 382"/>
                <a:gd name="T46" fmla="*/ 191 w 383"/>
                <a:gd name="T47" fmla="*/ 34 h 382"/>
                <a:gd name="T48" fmla="*/ 349 w 383"/>
                <a:gd name="T49" fmla="*/ 191 h 382"/>
                <a:gd name="T50" fmla="*/ 191 w 383"/>
                <a:gd name="T51" fmla="*/ 349 h 382"/>
                <a:gd name="T52" fmla="*/ 34 w 383"/>
                <a:gd name="T53" fmla="*/ 191 h 3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83" h="382">
                  <a:moveTo>
                    <a:pt x="118" y="299"/>
                  </a:moveTo>
                  <a:cubicBezTo>
                    <a:pt x="158" y="299"/>
                    <a:pt x="158" y="299"/>
                    <a:pt x="158" y="299"/>
                  </a:cubicBezTo>
                  <a:cubicBezTo>
                    <a:pt x="158" y="209"/>
                    <a:pt x="158" y="209"/>
                    <a:pt x="158" y="209"/>
                  </a:cubicBezTo>
                  <a:cubicBezTo>
                    <a:pt x="187" y="209"/>
                    <a:pt x="187" y="209"/>
                    <a:pt x="187" y="209"/>
                  </a:cubicBezTo>
                  <a:cubicBezTo>
                    <a:pt x="242" y="299"/>
                    <a:pt x="242" y="299"/>
                    <a:pt x="242" y="299"/>
                  </a:cubicBezTo>
                  <a:cubicBezTo>
                    <a:pt x="284" y="299"/>
                    <a:pt x="284" y="299"/>
                    <a:pt x="284" y="299"/>
                  </a:cubicBezTo>
                  <a:cubicBezTo>
                    <a:pt x="227" y="206"/>
                    <a:pt x="227" y="206"/>
                    <a:pt x="227" y="206"/>
                  </a:cubicBezTo>
                  <a:cubicBezTo>
                    <a:pt x="257" y="203"/>
                    <a:pt x="279" y="184"/>
                    <a:pt x="279" y="146"/>
                  </a:cubicBezTo>
                  <a:cubicBezTo>
                    <a:pt x="279" y="104"/>
                    <a:pt x="255" y="80"/>
                    <a:pt x="202" y="80"/>
                  </a:cubicBezTo>
                  <a:cubicBezTo>
                    <a:pt x="118" y="80"/>
                    <a:pt x="118" y="80"/>
                    <a:pt x="118" y="80"/>
                  </a:cubicBezTo>
                  <a:lnTo>
                    <a:pt x="118" y="299"/>
                  </a:lnTo>
                  <a:close/>
                  <a:moveTo>
                    <a:pt x="158" y="114"/>
                  </a:moveTo>
                  <a:cubicBezTo>
                    <a:pt x="187" y="114"/>
                    <a:pt x="187" y="114"/>
                    <a:pt x="187" y="114"/>
                  </a:cubicBezTo>
                  <a:cubicBezTo>
                    <a:pt x="212" y="114"/>
                    <a:pt x="239" y="115"/>
                    <a:pt x="239" y="145"/>
                  </a:cubicBezTo>
                  <a:cubicBezTo>
                    <a:pt x="239" y="174"/>
                    <a:pt x="212" y="176"/>
                    <a:pt x="187" y="176"/>
                  </a:cubicBezTo>
                  <a:cubicBezTo>
                    <a:pt x="158" y="176"/>
                    <a:pt x="158" y="176"/>
                    <a:pt x="158" y="176"/>
                  </a:cubicBezTo>
                  <a:lnTo>
                    <a:pt x="158" y="114"/>
                  </a:lnTo>
                  <a:close/>
                  <a:moveTo>
                    <a:pt x="0" y="191"/>
                  </a:moveTo>
                  <a:cubicBezTo>
                    <a:pt x="0" y="296"/>
                    <a:pt x="86" y="382"/>
                    <a:pt x="191" y="382"/>
                  </a:cubicBezTo>
                  <a:cubicBezTo>
                    <a:pt x="297" y="382"/>
                    <a:pt x="383" y="296"/>
                    <a:pt x="383" y="191"/>
                  </a:cubicBezTo>
                  <a:cubicBezTo>
                    <a:pt x="383" y="86"/>
                    <a:pt x="297" y="0"/>
                    <a:pt x="191" y="0"/>
                  </a:cubicBezTo>
                  <a:cubicBezTo>
                    <a:pt x="86" y="0"/>
                    <a:pt x="0" y="86"/>
                    <a:pt x="0" y="191"/>
                  </a:cubicBezTo>
                  <a:moveTo>
                    <a:pt x="34" y="191"/>
                  </a:moveTo>
                  <a:cubicBezTo>
                    <a:pt x="34" y="104"/>
                    <a:pt x="104" y="34"/>
                    <a:pt x="191" y="34"/>
                  </a:cubicBezTo>
                  <a:cubicBezTo>
                    <a:pt x="278" y="34"/>
                    <a:pt x="349" y="104"/>
                    <a:pt x="349" y="191"/>
                  </a:cubicBezTo>
                  <a:cubicBezTo>
                    <a:pt x="349" y="278"/>
                    <a:pt x="278" y="349"/>
                    <a:pt x="191" y="349"/>
                  </a:cubicBezTo>
                  <a:cubicBezTo>
                    <a:pt x="104" y="349"/>
                    <a:pt x="34" y="278"/>
                    <a:pt x="34" y="191"/>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40" name="Freeform 39">
              <a:extLst>
                <a:ext uri="{FF2B5EF4-FFF2-40B4-BE49-F238E27FC236}">
                  <a16:creationId xmlns:a16="http://schemas.microsoft.com/office/drawing/2014/main" id="{DE12E4C2-A267-0F4B-96D4-B4D8191D7249}"/>
                </a:ext>
              </a:extLst>
            </p:cNvPr>
            <p:cNvSpPr>
              <a:spLocks/>
            </p:cNvSpPr>
            <p:nvPr/>
          </p:nvSpPr>
          <p:spPr bwMode="auto">
            <a:xfrm>
              <a:off x="3768" y="1895"/>
              <a:ext cx="434" cy="1109"/>
            </a:xfrm>
            <a:custGeom>
              <a:avLst/>
              <a:gdLst>
                <a:gd name="T0" fmla="*/ 509 w 1751"/>
                <a:gd name="T1" fmla="*/ 0 h 4481"/>
                <a:gd name="T2" fmla="*/ 509 w 1751"/>
                <a:gd name="T3" fmla="*/ 2792 h 4481"/>
                <a:gd name="T4" fmla="*/ 161 w 1751"/>
                <a:gd name="T5" fmla="*/ 2452 h 4481"/>
                <a:gd name="T6" fmla="*/ 161 w 1751"/>
                <a:gd name="T7" fmla="*/ 3527 h 4481"/>
                <a:gd name="T8" fmla="*/ 19 w 1751"/>
                <a:gd name="T9" fmla="*/ 4087 h 4481"/>
                <a:gd name="T10" fmla="*/ 17 w 1751"/>
                <a:gd name="T11" fmla="*/ 4090 h 4481"/>
                <a:gd name="T12" fmla="*/ 0 w 1751"/>
                <a:gd name="T13" fmla="*/ 4110 h 4481"/>
                <a:gd name="T14" fmla="*/ 393 w 1751"/>
                <a:gd name="T15" fmla="*/ 4481 h 4481"/>
                <a:gd name="T16" fmla="*/ 1751 w 1751"/>
                <a:gd name="T17" fmla="*/ 4481 h 4481"/>
                <a:gd name="T18" fmla="*/ 1751 w 1751"/>
                <a:gd name="T19" fmla="*/ 0 h 4481"/>
                <a:gd name="T20" fmla="*/ 509 w 1751"/>
                <a:gd name="T21" fmla="*/ 0 h 44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51" h="4481">
                  <a:moveTo>
                    <a:pt x="509" y="0"/>
                  </a:moveTo>
                  <a:cubicBezTo>
                    <a:pt x="509" y="2792"/>
                    <a:pt x="509" y="2792"/>
                    <a:pt x="509" y="2792"/>
                  </a:cubicBezTo>
                  <a:cubicBezTo>
                    <a:pt x="161" y="2452"/>
                    <a:pt x="161" y="2452"/>
                    <a:pt x="161" y="2452"/>
                  </a:cubicBezTo>
                  <a:cubicBezTo>
                    <a:pt x="161" y="3527"/>
                    <a:pt x="161" y="3527"/>
                    <a:pt x="161" y="3527"/>
                  </a:cubicBezTo>
                  <a:cubicBezTo>
                    <a:pt x="161" y="3775"/>
                    <a:pt x="139" y="3938"/>
                    <a:pt x="19" y="4087"/>
                  </a:cubicBezTo>
                  <a:cubicBezTo>
                    <a:pt x="17" y="4090"/>
                    <a:pt x="17" y="4090"/>
                    <a:pt x="17" y="4090"/>
                  </a:cubicBezTo>
                  <a:cubicBezTo>
                    <a:pt x="11" y="4097"/>
                    <a:pt x="5" y="4103"/>
                    <a:pt x="0" y="4110"/>
                  </a:cubicBezTo>
                  <a:cubicBezTo>
                    <a:pt x="393" y="4481"/>
                    <a:pt x="393" y="4481"/>
                    <a:pt x="393" y="4481"/>
                  </a:cubicBezTo>
                  <a:cubicBezTo>
                    <a:pt x="1751" y="4481"/>
                    <a:pt x="1751" y="4481"/>
                    <a:pt x="1751" y="4481"/>
                  </a:cubicBezTo>
                  <a:cubicBezTo>
                    <a:pt x="1751" y="0"/>
                    <a:pt x="1751" y="0"/>
                    <a:pt x="1751" y="0"/>
                  </a:cubicBezTo>
                  <a:lnTo>
                    <a:pt x="50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41" name="Freeform 40">
              <a:extLst>
                <a:ext uri="{FF2B5EF4-FFF2-40B4-BE49-F238E27FC236}">
                  <a16:creationId xmlns:a16="http://schemas.microsoft.com/office/drawing/2014/main" id="{F5F7AF99-A6E7-8E44-B8C3-C6EA336293D4}"/>
                </a:ext>
              </a:extLst>
            </p:cNvPr>
            <p:cNvSpPr>
              <a:spLocks/>
            </p:cNvSpPr>
            <p:nvPr/>
          </p:nvSpPr>
          <p:spPr bwMode="auto">
            <a:xfrm>
              <a:off x="2850" y="1895"/>
              <a:ext cx="523" cy="1109"/>
            </a:xfrm>
            <a:custGeom>
              <a:avLst/>
              <a:gdLst>
                <a:gd name="T0" fmla="*/ 1242 w 2112"/>
                <a:gd name="T1" fmla="*/ 1773 h 4481"/>
                <a:gd name="T2" fmla="*/ 1839 w 2112"/>
                <a:gd name="T3" fmla="*/ 2338 h 4481"/>
                <a:gd name="T4" fmla="*/ 1856 w 2112"/>
                <a:gd name="T5" fmla="*/ 1719 h 4481"/>
                <a:gd name="T6" fmla="*/ 1912 w 2112"/>
                <a:gd name="T7" fmla="*/ 1629 h 4481"/>
                <a:gd name="T8" fmla="*/ 2062 w 2112"/>
                <a:gd name="T9" fmla="*/ 795 h 4481"/>
                <a:gd name="T10" fmla="*/ 2112 w 2112"/>
                <a:gd name="T11" fmla="*/ 740 h 4481"/>
                <a:gd name="T12" fmla="*/ 1354 w 2112"/>
                <a:gd name="T13" fmla="*/ 0 h 4481"/>
                <a:gd name="T14" fmla="*/ 0 w 2112"/>
                <a:gd name="T15" fmla="*/ 0 h 4481"/>
                <a:gd name="T16" fmla="*/ 0 w 2112"/>
                <a:gd name="T17" fmla="*/ 4481 h 4481"/>
                <a:gd name="T18" fmla="*/ 1242 w 2112"/>
                <a:gd name="T19" fmla="*/ 4481 h 4481"/>
                <a:gd name="T20" fmla="*/ 1242 w 2112"/>
                <a:gd name="T21" fmla="*/ 1773 h 44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12" h="4481">
                  <a:moveTo>
                    <a:pt x="1242" y="1773"/>
                  </a:moveTo>
                  <a:cubicBezTo>
                    <a:pt x="1242" y="1773"/>
                    <a:pt x="1790" y="2292"/>
                    <a:pt x="1839" y="2338"/>
                  </a:cubicBezTo>
                  <a:cubicBezTo>
                    <a:pt x="1787" y="2144"/>
                    <a:pt x="1751" y="1887"/>
                    <a:pt x="1856" y="1719"/>
                  </a:cubicBezTo>
                  <a:cubicBezTo>
                    <a:pt x="1912" y="1629"/>
                    <a:pt x="1912" y="1629"/>
                    <a:pt x="1912" y="1629"/>
                  </a:cubicBezTo>
                  <a:cubicBezTo>
                    <a:pt x="1855" y="1323"/>
                    <a:pt x="1869" y="1006"/>
                    <a:pt x="2062" y="795"/>
                  </a:cubicBezTo>
                  <a:cubicBezTo>
                    <a:pt x="2112" y="740"/>
                    <a:pt x="2112" y="740"/>
                    <a:pt x="2112" y="740"/>
                  </a:cubicBezTo>
                  <a:cubicBezTo>
                    <a:pt x="1354" y="0"/>
                    <a:pt x="1354" y="0"/>
                    <a:pt x="1354" y="0"/>
                  </a:cubicBezTo>
                  <a:cubicBezTo>
                    <a:pt x="0" y="0"/>
                    <a:pt x="0" y="0"/>
                    <a:pt x="0" y="0"/>
                  </a:cubicBezTo>
                  <a:cubicBezTo>
                    <a:pt x="0" y="4481"/>
                    <a:pt x="0" y="4481"/>
                    <a:pt x="0" y="4481"/>
                  </a:cubicBezTo>
                  <a:cubicBezTo>
                    <a:pt x="1242" y="4481"/>
                    <a:pt x="1242" y="4481"/>
                    <a:pt x="1242" y="4481"/>
                  </a:cubicBezTo>
                  <a:lnTo>
                    <a:pt x="1242" y="177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42" name="Freeform 41">
              <a:extLst>
                <a:ext uri="{FF2B5EF4-FFF2-40B4-BE49-F238E27FC236}">
                  <a16:creationId xmlns:a16="http://schemas.microsoft.com/office/drawing/2014/main" id="{BA6B4724-173F-A148-A58A-7BD739179432}"/>
                </a:ext>
              </a:extLst>
            </p:cNvPr>
            <p:cNvSpPr>
              <a:spLocks/>
            </p:cNvSpPr>
            <p:nvPr/>
          </p:nvSpPr>
          <p:spPr bwMode="auto">
            <a:xfrm>
              <a:off x="3792" y="3082"/>
              <a:ext cx="352" cy="210"/>
            </a:xfrm>
            <a:custGeom>
              <a:avLst/>
              <a:gdLst>
                <a:gd name="T0" fmla="*/ 264 w 1420"/>
                <a:gd name="T1" fmla="*/ 22 h 850"/>
                <a:gd name="T2" fmla="*/ 977 w 1420"/>
                <a:gd name="T3" fmla="*/ 90 h 850"/>
                <a:gd name="T4" fmla="*/ 1098 w 1420"/>
                <a:gd name="T5" fmla="*/ 235 h 850"/>
                <a:gd name="T6" fmla="*/ 839 w 1420"/>
                <a:gd name="T7" fmla="*/ 204 h 850"/>
                <a:gd name="T8" fmla="*/ 830 w 1420"/>
                <a:gd name="T9" fmla="*/ 299 h 850"/>
                <a:gd name="T10" fmla="*/ 1115 w 1420"/>
                <a:gd name="T11" fmla="*/ 258 h 850"/>
                <a:gd name="T12" fmla="*/ 1406 w 1420"/>
                <a:gd name="T13" fmla="*/ 463 h 850"/>
                <a:gd name="T14" fmla="*/ 1104 w 1420"/>
                <a:gd name="T15" fmla="*/ 436 h 850"/>
                <a:gd name="T16" fmla="*/ 636 w 1420"/>
                <a:gd name="T17" fmla="*/ 622 h 850"/>
                <a:gd name="T18" fmla="*/ 120 w 1420"/>
                <a:gd name="T19" fmla="*/ 850 h 850"/>
                <a:gd name="T20" fmla="*/ 429 w 1420"/>
                <a:gd name="T21" fmla="*/ 520 h 850"/>
                <a:gd name="T22" fmla="*/ 131 w 1420"/>
                <a:gd name="T23" fmla="*/ 416 h 850"/>
                <a:gd name="T24" fmla="*/ 375 w 1420"/>
                <a:gd name="T25" fmla="*/ 203 h 850"/>
                <a:gd name="T26" fmla="*/ 0 w 1420"/>
                <a:gd name="T27" fmla="*/ 0 h 850"/>
                <a:gd name="T28" fmla="*/ 264 w 1420"/>
                <a:gd name="T29" fmla="*/ 22 h 8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420" h="850">
                  <a:moveTo>
                    <a:pt x="264" y="22"/>
                  </a:moveTo>
                  <a:cubicBezTo>
                    <a:pt x="558" y="44"/>
                    <a:pt x="767" y="64"/>
                    <a:pt x="977" y="90"/>
                  </a:cubicBezTo>
                  <a:cubicBezTo>
                    <a:pt x="1057" y="100"/>
                    <a:pt x="1088" y="192"/>
                    <a:pt x="1098" y="235"/>
                  </a:cubicBezTo>
                  <a:cubicBezTo>
                    <a:pt x="998" y="210"/>
                    <a:pt x="839" y="204"/>
                    <a:pt x="839" y="204"/>
                  </a:cubicBezTo>
                  <a:cubicBezTo>
                    <a:pt x="830" y="299"/>
                    <a:pt x="830" y="299"/>
                    <a:pt x="830" y="299"/>
                  </a:cubicBezTo>
                  <a:cubicBezTo>
                    <a:pt x="830" y="299"/>
                    <a:pt x="966" y="260"/>
                    <a:pt x="1115" y="258"/>
                  </a:cubicBezTo>
                  <a:cubicBezTo>
                    <a:pt x="1115" y="258"/>
                    <a:pt x="1420" y="257"/>
                    <a:pt x="1406" y="463"/>
                  </a:cubicBezTo>
                  <a:cubicBezTo>
                    <a:pt x="1322" y="405"/>
                    <a:pt x="1152" y="428"/>
                    <a:pt x="1104" y="436"/>
                  </a:cubicBezTo>
                  <a:cubicBezTo>
                    <a:pt x="951" y="461"/>
                    <a:pt x="805" y="532"/>
                    <a:pt x="636" y="622"/>
                  </a:cubicBezTo>
                  <a:cubicBezTo>
                    <a:pt x="482" y="703"/>
                    <a:pt x="315" y="791"/>
                    <a:pt x="120" y="850"/>
                  </a:cubicBezTo>
                  <a:cubicBezTo>
                    <a:pt x="206" y="767"/>
                    <a:pt x="429" y="520"/>
                    <a:pt x="429" y="520"/>
                  </a:cubicBezTo>
                  <a:cubicBezTo>
                    <a:pt x="131" y="416"/>
                    <a:pt x="131" y="416"/>
                    <a:pt x="131" y="416"/>
                  </a:cubicBezTo>
                  <a:cubicBezTo>
                    <a:pt x="375" y="203"/>
                    <a:pt x="375" y="203"/>
                    <a:pt x="375" y="203"/>
                  </a:cubicBezTo>
                  <a:cubicBezTo>
                    <a:pt x="0" y="0"/>
                    <a:pt x="0" y="0"/>
                    <a:pt x="0" y="0"/>
                  </a:cubicBezTo>
                  <a:cubicBezTo>
                    <a:pt x="93" y="8"/>
                    <a:pt x="182" y="15"/>
                    <a:pt x="264" y="2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43" name="Freeform 42">
              <a:extLst>
                <a:ext uri="{FF2B5EF4-FFF2-40B4-BE49-F238E27FC236}">
                  <a16:creationId xmlns:a16="http://schemas.microsoft.com/office/drawing/2014/main" id="{73690B43-7688-2046-B603-45F20CD5DA0C}"/>
                </a:ext>
              </a:extLst>
            </p:cNvPr>
            <p:cNvSpPr>
              <a:spLocks/>
            </p:cNvSpPr>
            <p:nvPr/>
          </p:nvSpPr>
          <p:spPr bwMode="auto">
            <a:xfrm>
              <a:off x="3750" y="1503"/>
              <a:ext cx="59" cy="1386"/>
            </a:xfrm>
            <a:custGeom>
              <a:avLst/>
              <a:gdLst>
                <a:gd name="T0" fmla="*/ 236 w 236"/>
                <a:gd name="T1" fmla="*/ 0 h 5594"/>
                <a:gd name="T2" fmla="*/ 116 w 236"/>
                <a:gd name="T3" fmla="*/ 1792 h 5594"/>
                <a:gd name="T4" fmla="*/ 116 w 236"/>
                <a:gd name="T5" fmla="*/ 5108 h 5594"/>
                <a:gd name="T6" fmla="*/ 0 w 236"/>
                <a:gd name="T7" fmla="*/ 5594 h 5594"/>
              </a:gdLst>
              <a:ahLst/>
              <a:cxnLst>
                <a:cxn ang="0">
                  <a:pos x="T0" y="T1"/>
                </a:cxn>
                <a:cxn ang="0">
                  <a:pos x="T2" y="T3"/>
                </a:cxn>
                <a:cxn ang="0">
                  <a:pos x="T4" y="T5"/>
                </a:cxn>
                <a:cxn ang="0">
                  <a:pos x="T6" y="T7"/>
                </a:cxn>
              </a:cxnLst>
              <a:rect l="0" t="0" r="r" b="b"/>
              <a:pathLst>
                <a:path w="236" h="5594">
                  <a:moveTo>
                    <a:pt x="236" y="0"/>
                  </a:moveTo>
                  <a:cubicBezTo>
                    <a:pt x="236" y="0"/>
                    <a:pt x="116" y="644"/>
                    <a:pt x="116" y="1792"/>
                  </a:cubicBezTo>
                  <a:cubicBezTo>
                    <a:pt x="116" y="5108"/>
                    <a:pt x="116" y="5108"/>
                    <a:pt x="116" y="5108"/>
                  </a:cubicBezTo>
                  <a:cubicBezTo>
                    <a:pt x="116" y="5337"/>
                    <a:pt x="96" y="5474"/>
                    <a:pt x="0" y="559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44" name="Freeform 43">
              <a:extLst>
                <a:ext uri="{FF2B5EF4-FFF2-40B4-BE49-F238E27FC236}">
                  <a16:creationId xmlns:a16="http://schemas.microsoft.com/office/drawing/2014/main" id="{A01F9FB1-2BA6-E94F-BB12-01CB2F12C7BC}"/>
                </a:ext>
              </a:extLst>
            </p:cNvPr>
            <p:cNvSpPr>
              <a:spLocks/>
            </p:cNvSpPr>
            <p:nvPr/>
          </p:nvSpPr>
          <p:spPr bwMode="auto">
            <a:xfrm>
              <a:off x="2919" y="1494"/>
              <a:ext cx="934" cy="1816"/>
            </a:xfrm>
            <a:custGeom>
              <a:avLst/>
              <a:gdLst>
                <a:gd name="T0" fmla="*/ 3358 w 3774"/>
                <a:gd name="T1" fmla="*/ 5632 h 7335"/>
                <a:gd name="T2" fmla="*/ 3079 w 3774"/>
                <a:gd name="T3" fmla="*/ 6187 h 7335"/>
                <a:gd name="T4" fmla="*/ 3079 w 3774"/>
                <a:gd name="T5" fmla="*/ 6187 h 7335"/>
                <a:gd name="T6" fmla="*/ 3302 w 3774"/>
                <a:gd name="T7" fmla="*/ 6410 h 7335"/>
                <a:gd name="T8" fmla="*/ 3720 w 3774"/>
                <a:gd name="T9" fmla="*/ 6636 h 7335"/>
                <a:gd name="T10" fmla="*/ 3449 w 3774"/>
                <a:gd name="T11" fmla="*/ 6873 h 7335"/>
                <a:gd name="T12" fmla="*/ 3774 w 3774"/>
                <a:gd name="T13" fmla="*/ 6975 h 7335"/>
                <a:gd name="T14" fmla="*/ 3441 w 3774"/>
                <a:gd name="T15" fmla="*/ 7312 h 7335"/>
                <a:gd name="T16" fmla="*/ 3169 w 3774"/>
                <a:gd name="T17" fmla="*/ 7335 h 7335"/>
                <a:gd name="T18" fmla="*/ 1281 w 3774"/>
                <a:gd name="T19" fmla="*/ 6924 h 7335"/>
                <a:gd name="T20" fmla="*/ 636 w 3774"/>
                <a:gd name="T21" fmla="*/ 7086 h 7335"/>
                <a:gd name="T22" fmla="*/ 823 w 3774"/>
                <a:gd name="T23" fmla="*/ 6882 h 7335"/>
                <a:gd name="T24" fmla="*/ 339 w 3774"/>
                <a:gd name="T25" fmla="*/ 6912 h 7335"/>
                <a:gd name="T26" fmla="*/ 675 w 3774"/>
                <a:gd name="T27" fmla="*/ 6684 h 7335"/>
                <a:gd name="T28" fmla="*/ 0 w 3774"/>
                <a:gd name="T29" fmla="*/ 6500 h 7335"/>
                <a:gd name="T30" fmla="*/ 1280 w 3774"/>
                <a:gd name="T31" fmla="*/ 6465 h 7335"/>
                <a:gd name="T32" fmla="*/ 2083 w 3774"/>
                <a:gd name="T33" fmla="*/ 6498 h 7335"/>
                <a:gd name="T34" fmla="*/ 1500 w 3774"/>
                <a:gd name="T35" fmla="*/ 6006 h 7335"/>
                <a:gd name="T36" fmla="*/ 1976 w 3774"/>
                <a:gd name="T37" fmla="*/ 6078 h 7335"/>
                <a:gd name="T38" fmla="*/ 1432 w 3774"/>
                <a:gd name="T39" fmla="*/ 5412 h 7335"/>
                <a:gd name="T40" fmla="*/ 1964 w 3774"/>
                <a:gd name="T41" fmla="*/ 5598 h 7335"/>
                <a:gd name="T42" fmla="*/ 1482 w 3774"/>
                <a:gd name="T43" fmla="*/ 4831 h 7335"/>
                <a:gd name="T44" fmla="*/ 1902 w 3774"/>
                <a:gd name="T45" fmla="*/ 5096 h 7335"/>
                <a:gd name="T46" fmla="*/ 1544 w 3774"/>
                <a:gd name="T47" fmla="*/ 4223 h 7335"/>
                <a:gd name="T48" fmla="*/ 1936 w 3774"/>
                <a:gd name="T49" fmla="*/ 4487 h 7335"/>
                <a:gd name="T50" fmla="*/ 1678 w 3774"/>
                <a:gd name="T51" fmla="*/ 3401 h 7335"/>
                <a:gd name="T52" fmla="*/ 2063 w 3774"/>
                <a:gd name="T53" fmla="*/ 4032 h 7335"/>
                <a:gd name="T54" fmla="*/ 1872 w 3774"/>
                <a:gd name="T55" fmla="*/ 2493 h 7335"/>
                <a:gd name="T56" fmla="*/ 2345 w 3774"/>
                <a:gd name="T57" fmla="*/ 3685 h 7335"/>
                <a:gd name="T58" fmla="*/ 2340 w 3774"/>
                <a:gd name="T59" fmla="*/ 1341 h 7335"/>
                <a:gd name="T60" fmla="*/ 2525 w 3774"/>
                <a:gd name="T61" fmla="*/ 2863 h 7335"/>
                <a:gd name="T62" fmla="*/ 3007 w 3774"/>
                <a:gd name="T63" fmla="*/ 550 h 7335"/>
                <a:gd name="T64" fmla="*/ 2911 w 3774"/>
                <a:gd name="T65" fmla="*/ 2268 h 7335"/>
                <a:gd name="T66" fmla="*/ 3594 w 3774"/>
                <a:gd name="T67" fmla="*/ 38 h 73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774" h="7335">
                  <a:moveTo>
                    <a:pt x="3358" y="5632"/>
                  </a:moveTo>
                  <a:cubicBezTo>
                    <a:pt x="3219" y="5793"/>
                    <a:pt x="3040" y="6021"/>
                    <a:pt x="3079" y="6187"/>
                  </a:cubicBezTo>
                  <a:cubicBezTo>
                    <a:pt x="3079" y="6187"/>
                    <a:pt x="3079" y="6187"/>
                    <a:pt x="3079" y="6187"/>
                  </a:cubicBezTo>
                  <a:cubicBezTo>
                    <a:pt x="3107" y="6325"/>
                    <a:pt x="3302" y="6410"/>
                    <a:pt x="3302" y="6410"/>
                  </a:cubicBezTo>
                  <a:cubicBezTo>
                    <a:pt x="3720" y="6636"/>
                    <a:pt x="3720" y="6636"/>
                    <a:pt x="3720" y="6636"/>
                  </a:cubicBezTo>
                  <a:cubicBezTo>
                    <a:pt x="3449" y="6873"/>
                    <a:pt x="3449" y="6873"/>
                    <a:pt x="3449" y="6873"/>
                  </a:cubicBezTo>
                  <a:cubicBezTo>
                    <a:pt x="3774" y="6975"/>
                    <a:pt x="3774" y="6975"/>
                    <a:pt x="3774" y="6975"/>
                  </a:cubicBezTo>
                  <a:cubicBezTo>
                    <a:pt x="3774" y="6975"/>
                    <a:pt x="3476" y="7281"/>
                    <a:pt x="3441" y="7312"/>
                  </a:cubicBezTo>
                  <a:cubicBezTo>
                    <a:pt x="3356" y="7326"/>
                    <a:pt x="3266" y="7335"/>
                    <a:pt x="3169" y="7335"/>
                  </a:cubicBezTo>
                  <a:cubicBezTo>
                    <a:pt x="2479" y="7335"/>
                    <a:pt x="1519" y="6927"/>
                    <a:pt x="1281" y="6924"/>
                  </a:cubicBezTo>
                  <a:cubicBezTo>
                    <a:pt x="995" y="6921"/>
                    <a:pt x="636" y="7086"/>
                    <a:pt x="636" y="7086"/>
                  </a:cubicBezTo>
                  <a:cubicBezTo>
                    <a:pt x="823" y="6882"/>
                    <a:pt x="823" y="6882"/>
                    <a:pt x="823" y="6882"/>
                  </a:cubicBezTo>
                  <a:cubicBezTo>
                    <a:pt x="823" y="6882"/>
                    <a:pt x="577" y="6932"/>
                    <a:pt x="339" y="6912"/>
                  </a:cubicBezTo>
                  <a:cubicBezTo>
                    <a:pt x="675" y="6684"/>
                    <a:pt x="675" y="6684"/>
                    <a:pt x="675" y="6684"/>
                  </a:cubicBezTo>
                  <a:cubicBezTo>
                    <a:pt x="380" y="6674"/>
                    <a:pt x="122" y="6586"/>
                    <a:pt x="0" y="6500"/>
                  </a:cubicBezTo>
                  <a:cubicBezTo>
                    <a:pt x="0" y="6500"/>
                    <a:pt x="543" y="6457"/>
                    <a:pt x="1280" y="6465"/>
                  </a:cubicBezTo>
                  <a:cubicBezTo>
                    <a:pt x="1578" y="6468"/>
                    <a:pt x="2083" y="6498"/>
                    <a:pt x="2083" y="6498"/>
                  </a:cubicBezTo>
                  <a:cubicBezTo>
                    <a:pt x="1834" y="6392"/>
                    <a:pt x="1600" y="6252"/>
                    <a:pt x="1500" y="6006"/>
                  </a:cubicBezTo>
                  <a:cubicBezTo>
                    <a:pt x="1976" y="6078"/>
                    <a:pt x="1976" y="6078"/>
                    <a:pt x="1976" y="6078"/>
                  </a:cubicBezTo>
                  <a:cubicBezTo>
                    <a:pt x="1776" y="5956"/>
                    <a:pt x="1486" y="5649"/>
                    <a:pt x="1432" y="5412"/>
                  </a:cubicBezTo>
                  <a:cubicBezTo>
                    <a:pt x="1964" y="5598"/>
                    <a:pt x="1964" y="5598"/>
                    <a:pt x="1964" y="5598"/>
                  </a:cubicBezTo>
                  <a:cubicBezTo>
                    <a:pt x="1869" y="5496"/>
                    <a:pt x="1541" y="5188"/>
                    <a:pt x="1482" y="4831"/>
                  </a:cubicBezTo>
                  <a:cubicBezTo>
                    <a:pt x="1902" y="5096"/>
                    <a:pt x="1902" y="5096"/>
                    <a:pt x="1902" y="5096"/>
                  </a:cubicBezTo>
                  <a:cubicBezTo>
                    <a:pt x="1792" y="4985"/>
                    <a:pt x="1493" y="4396"/>
                    <a:pt x="1544" y="4223"/>
                  </a:cubicBezTo>
                  <a:cubicBezTo>
                    <a:pt x="1936" y="4487"/>
                    <a:pt x="1936" y="4487"/>
                    <a:pt x="1936" y="4487"/>
                  </a:cubicBezTo>
                  <a:cubicBezTo>
                    <a:pt x="1748" y="4255"/>
                    <a:pt x="1529" y="3640"/>
                    <a:pt x="1678" y="3401"/>
                  </a:cubicBezTo>
                  <a:cubicBezTo>
                    <a:pt x="1797" y="3864"/>
                    <a:pt x="2063" y="4032"/>
                    <a:pt x="2063" y="4032"/>
                  </a:cubicBezTo>
                  <a:cubicBezTo>
                    <a:pt x="1889" y="3780"/>
                    <a:pt x="1513" y="2887"/>
                    <a:pt x="1872" y="2493"/>
                  </a:cubicBezTo>
                  <a:cubicBezTo>
                    <a:pt x="1966" y="3384"/>
                    <a:pt x="2345" y="3685"/>
                    <a:pt x="2345" y="3685"/>
                  </a:cubicBezTo>
                  <a:cubicBezTo>
                    <a:pt x="2031" y="3186"/>
                    <a:pt x="1674" y="1652"/>
                    <a:pt x="2340" y="1341"/>
                  </a:cubicBezTo>
                  <a:cubicBezTo>
                    <a:pt x="2210" y="2327"/>
                    <a:pt x="2525" y="2863"/>
                    <a:pt x="2525" y="2863"/>
                  </a:cubicBezTo>
                  <a:cubicBezTo>
                    <a:pt x="2326" y="1955"/>
                    <a:pt x="2332" y="668"/>
                    <a:pt x="3007" y="550"/>
                  </a:cubicBezTo>
                  <a:cubicBezTo>
                    <a:pt x="2676" y="1520"/>
                    <a:pt x="2911" y="2268"/>
                    <a:pt x="2911" y="2268"/>
                  </a:cubicBezTo>
                  <a:cubicBezTo>
                    <a:pt x="2863" y="0"/>
                    <a:pt x="3594" y="38"/>
                    <a:pt x="3594" y="3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grpSp>
      <p:sp>
        <p:nvSpPr>
          <p:cNvPr id="25" name="Title 1">
            <a:extLst>
              <a:ext uri="{FF2B5EF4-FFF2-40B4-BE49-F238E27FC236}">
                <a16:creationId xmlns:a16="http://schemas.microsoft.com/office/drawing/2014/main" id="{AF7DE4F0-2CFA-574F-AAAF-6305AD1421A1}"/>
              </a:ext>
            </a:extLst>
          </p:cNvPr>
          <p:cNvSpPr>
            <a:spLocks noGrp="1"/>
          </p:cNvSpPr>
          <p:nvPr>
            <p:ph type="title"/>
          </p:nvPr>
        </p:nvSpPr>
        <p:spPr>
          <a:xfrm>
            <a:off x="504825" y="549277"/>
            <a:ext cx="5770564" cy="1653686"/>
          </a:xfrm>
        </p:spPr>
        <p:txBody>
          <a:bodyPr/>
          <a:lstStyle>
            <a:lvl1pPr>
              <a:defRPr>
                <a:solidFill>
                  <a:schemeClr val="bg1"/>
                </a:solidFill>
              </a:defRPr>
            </a:lvl1pPr>
          </a:lstStyle>
          <a:p>
            <a:r>
              <a:rPr lang="en-US"/>
              <a:t>Click to edit Master title style</a:t>
            </a:r>
            <a:endParaRPr lang="en-GB"/>
          </a:p>
        </p:txBody>
      </p:sp>
      <p:sp>
        <p:nvSpPr>
          <p:cNvPr id="45" name="Text Placeholder 3">
            <a:extLst>
              <a:ext uri="{FF2B5EF4-FFF2-40B4-BE49-F238E27FC236}">
                <a16:creationId xmlns:a16="http://schemas.microsoft.com/office/drawing/2014/main" id="{D9636366-842F-6746-91E5-B98A25227510}"/>
              </a:ext>
            </a:extLst>
          </p:cNvPr>
          <p:cNvSpPr>
            <a:spLocks noGrp="1"/>
          </p:cNvSpPr>
          <p:nvPr>
            <p:ph type="body" sz="quarter" idx="12"/>
          </p:nvPr>
        </p:nvSpPr>
        <p:spPr>
          <a:xfrm>
            <a:off x="504832" y="2442198"/>
            <a:ext cx="2726057" cy="986806"/>
          </a:xfrm>
        </p:spPr>
        <p:txBody>
          <a:bodyPr/>
          <a:lstStyle>
            <a:lvl1pPr>
              <a:lnSpc>
                <a:spcPct val="112000"/>
              </a:lnSpc>
              <a:spcAft>
                <a:spcPts val="0"/>
              </a:spcAft>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p:txBody>
      </p:sp>
      <p:sp>
        <p:nvSpPr>
          <p:cNvPr id="46" name="Text Placeholder 3">
            <a:extLst>
              <a:ext uri="{FF2B5EF4-FFF2-40B4-BE49-F238E27FC236}">
                <a16:creationId xmlns:a16="http://schemas.microsoft.com/office/drawing/2014/main" id="{F1304CE5-D1B1-A34F-B482-6E13A01C7F1B}"/>
              </a:ext>
            </a:extLst>
          </p:cNvPr>
          <p:cNvSpPr>
            <a:spLocks noGrp="1"/>
          </p:cNvSpPr>
          <p:nvPr>
            <p:ph type="body" sz="quarter" idx="13"/>
          </p:nvPr>
        </p:nvSpPr>
        <p:spPr>
          <a:xfrm>
            <a:off x="3549340" y="2442198"/>
            <a:ext cx="2726057" cy="986806"/>
          </a:xfrm>
        </p:spPr>
        <p:txBody>
          <a:bodyPr/>
          <a:lstStyle>
            <a:lvl1pPr>
              <a:lnSpc>
                <a:spcPct val="112000"/>
              </a:lnSpc>
              <a:spcAft>
                <a:spcPts val="0"/>
              </a:spcAft>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19200052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over Slide">
    <p:spTree>
      <p:nvGrpSpPr>
        <p:cNvPr id="1" name=""/>
        <p:cNvGrpSpPr/>
        <p:nvPr/>
      </p:nvGrpSpPr>
      <p:grpSpPr>
        <a:xfrm>
          <a:off x="0" y="0"/>
          <a:ext cx="0" cy="0"/>
          <a:chOff x="0" y="0"/>
          <a:chExt cx="0" cy="0"/>
        </a:xfrm>
      </p:grpSpPr>
      <p:pic>
        <p:nvPicPr>
          <p:cNvPr id="5" name="Picture 4" descr="A picture containing pie chart&#10;&#10;Description automatically generated">
            <a:extLst>
              <a:ext uri="{FF2B5EF4-FFF2-40B4-BE49-F238E27FC236}">
                <a16:creationId xmlns:a16="http://schemas.microsoft.com/office/drawing/2014/main" id="{6A3F484B-733E-DD40-9856-D3480EB05B82}"/>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0" y="0"/>
            <a:ext cx="12192000" cy="6858000"/>
          </a:xfrm>
          <a:prstGeom prst="rect">
            <a:avLst/>
          </a:prstGeom>
        </p:spPr>
      </p:pic>
      <p:pic>
        <p:nvPicPr>
          <p:cNvPr id="45" name="Picture 44">
            <a:extLst>
              <a:ext uri="{FF2B5EF4-FFF2-40B4-BE49-F238E27FC236}">
                <a16:creationId xmlns:a16="http://schemas.microsoft.com/office/drawing/2014/main" id="{958F4D21-EEDA-41F1-870B-3790AF38A4D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026801" y="2369022"/>
            <a:ext cx="2138401" cy="2334271"/>
          </a:xfrm>
          <a:prstGeom prst="rect">
            <a:avLst/>
          </a:prstGeom>
        </p:spPr>
      </p:pic>
    </p:spTree>
    <p:extLst>
      <p:ext uri="{BB962C8B-B14F-4D97-AF65-F5344CB8AC3E}">
        <p14:creationId xmlns:p14="http://schemas.microsoft.com/office/powerpoint/2010/main" val="25349755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1_Title Slide">
    <p:bg>
      <p:bgPr>
        <a:solidFill>
          <a:schemeClr val="tx2"/>
        </a:solidFill>
        <a:effectLst/>
      </p:bgPr>
    </p:bg>
    <p:spTree>
      <p:nvGrpSpPr>
        <p:cNvPr id="1" name=""/>
        <p:cNvGrpSpPr/>
        <p:nvPr/>
      </p:nvGrpSpPr>
      <p:grpSpPr>
        <a:xfrm>
          <a:off x="0" y="0"/>
          <a:ext cx="0" cy="0"/>
          <a:chOff x="0" y="0"/>
          <a:chExt cx="0" cy="0"/>
        </a:xfrm>
      </p:grpSpPr>
      <p:pic>
        <p:nvPicPr>
          <p:cNvPr id="24" name="Picture 23" descr="A picture containing pie chart&#10;&#10;Description automatically generated">
            <a:extLst>
              <a:ext uri="{FF2B5EF4-FFF2-40B4-BE49-F238E27FC236}">
                <a16:creationId xmlns:a16="http://schemas.microsoft.com/office/drawing/2014/main" id="{679CA6D4-DB00-455E-AC6F-BE50491FE771}"/>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9" name="Title 1">
            <a:extLst>
              <a:ext uri="{FF2B5EF4-FFF2-40B4-BE49-F238E27FC236}">
                <a16:creationId xmlns:a16="http://schemas.microsoft.com/office/drawing/2014/main" id="{C0CE8417-9F56-B54E-8200-9F05C7705D91}"/>
              </a:ext>
            </a:extLst>
          </p:cNvPr>
          <p:cNvSpPr>
            <a:spLocks noGrp="1"/>
          </p:cNvSpPr>
          <p:nvPr>
            <p:ph type="title"/>
          </p:nvPr>
        </p:nvSpPr>
        <p:spPr>
          <a:xfrm>
            <a:off x="504825" y="549277"/>
            <a:ext cx="5770564" cy="1653686"/>
          </a:xfrm>
        </p:spPr>
        <p:txBody>
          <a:bodyPr/>
          <a:lstStyle>
            <a:lvl1pPr>
              <a:defRPr>
                <a:solidFill>
                  <a:schemeClr val="bg1"/>
                </a:solidFill>
              </a:defRPr>
            </a:lvl1pPr>
          </a:lstStyle>
          <a:p>
            <a:r>
              <a:rPr lang="en-US"/>
              <a:t>Click to edit Master title style</a:t>
            </a:r>
            <a:endParaRPr lang="en-GB"/>
          </a:p>
        </p:txBody>
      </p:sp>
      <p:grpSp>
        <p:nvGrpSpPr>
          <p:cNvPr id="33" name="Group 32">
            <a:extLst>
              <a:ext uri="{FF2B5EF4-FFF2-40B4-BE49-F238E27FC236}">
                <a16:creationId xmlns:a16="http://schemas.microsoft.com/office/drawing/2014/main" id="{60148C3A-0935-3548-9D74-B20E0F264E11}"/>
              </a:ext>
            </a:extLst>
          </p:cNvPr>
          <p:cNvGrpSpPr>
            <a:grpSpLocks noChangeAspect="1"/>
          </p:cNvGrpSpPr>
          <p:nvPr/>
        </p:nvGrpSpPr>
        <p:grpSpPr bwMode="auto">
          <a:xfrm>
            <a:off x="9483956" y="4094268"/>
            <a:ext cx="1991010" cy="1986618"/>
            <a:chOff x="2464" y="1494"/>
            <a:chExt cx="2267" cy="2262"/>
          </a:xfrm>
          <a:solidFill>
            <a:schemeClr val="bg1"/>
          </a:solidFill>
        </p:grpSpPr>
        <p:sp>
          <p:nvSpPr>
            <p:cNvPr id="34" name="Oval 33">
              <a:extLst>
                <a:ext uri="{FF2B5EF4-FFF2-40B4-BE49-F238E27FC236}">
                  <a16:creationId xmlns:a16="http://schemas.microsoft.com/office/drawing/2014/main" id="{ADEE46C6-B8D0-BE4A-924A-0B4DE9AA2BCE}"/>
                </a:ext>
              </a:extLst>
            </p:cNvPr>
            <p:cNvSpPr>
              <a:spLocks noChangeArrowheads="1"/>
            </p:cNvSpPr>
            <p:nvPr/>
          </p:nvSpPr>
          <p:spPr bwMode="auto">
            <a:xfrm>
              <a:off x="3170" y="3451"/>
              <a:ext cx="70" cy="6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35" name="Oval 34">
              <a:extLst>
                <a:ext uri="{FF2B5EF4-FFF2-40B4-BE49-F238E27FC236}">
                  <a16:creationId xmlns:a16="http://schemas.microsoft.com/office/drawing/2014/main" id="{9CAFDA5C-9A68-C846-9B69-27759DF4D8DE}"/>
                </a:ext>
              </a:extLst>
            </p:cNvPr>
            <p:cNvSpPr>
              <a:spLocks noChangeArrowheads="1"/>
            </p:cNvSpPr>
            <p:nvPr/>
          </p:nvSpPr>
          <p:spPr bwMode="auto">
            <a:xfrm>
              <a:off x="4070" y="3451"/>
              <a:ext cx="71" cy="6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36" name="Freeform 35">
              <a:extLst>
                <a:ext uri="{FF2B5EF4-FFF2-40B4-BE49-F238E27FC236}">
                  <a16:creationId xmlns:a16="http://schemas.microsoft.com/office/drawing/2014/main" id="{6FE05E72-E06C-F44C-A372-292C18FFDCEC}"/>
                </a:ext>
              </a:extLst>
            </p:cNvPr>
            <p:cNvSpPr>
              <a:spLocks noEditPoints="1"/>
            </p:cNvSpPr>
            <p:nvPr/>
          </p:nvSpPr>
          <p:spPr bwMode="auto">
            <a:xfrm>
              <a:off x="2771" y="3538"/>
              <a:ext cx="191" cy="218"/>
            </a:xfrm>
            <a:custGeom>
              <a:avLst/>
              <a:gdLst>
                <a:gd name="T0" fmla="*/ 770 w 770"/>
                <a:gd name="T1" fmla="*/ 353 h 881"/>
                <a:gd name="T2" fmla="*/ 770 w 770"/>
                <a:gd name="T3" fmla="*/ 857 h 881"/>
                <a:gd name="T4" fmla="*/ 550 w 770"/>
                <a:gd name="T5" fmla="*/ 857 h 881"/>
                <a:gd name="T6" fmla="*/ 550 w 770"/>
                <a:gd name="T7" fmla="*/ 772 h 881"/>
                <a:gd name="T8" fmla="*/ 310 w 770"/>
                <a:gd name="T9" fmla="*/ 876 h 881"/>
                <a:gd name="T10" fmla="*/ 0 w 770"/>
                <a:gd name="T11" fmla="*/ 617 h 881"/>
                <a:gd name="T12" fmla="*/ 514 w 770"/>
                <a:gd name="T13" fmla="*/ 320 h 881"/>
                <a:gd name="T14" fmla="*/ 543 w 770"/>
                <a:gd name="T15" fmla="*/ 320 h 881"/>
                <a:gd name="T16" fmla="*/ 379 w 770"/>
                <a:gd name="T17" fmla="*/ 190 h 881"/>
                <a:gd name="T18" fmla="*/ 155 w 770"/>
                <a:gd name="T19" fmla="*/ 270 h 881"/>
                <a:gd name="T20" fmla="*/ 22 w 770"/>
                <a:gd name="T21" fmla="*/ 137 h 881"/>
                <a:gd name="T22" fmla="*/ 385 w 770"/>
                <a:gd name="T23" fmla="*/ 0 h 881"/>
                <a:gd name="T24" fmla="*/ 682 w 770"/>
                <a:gd name="T25" fmla="*/ 91 h 881"/>
                <a:gd name="T26" fmla="*/ 770 w 770"/>
                <a:gd name="T27" fmla="*/ 353 h 881"/>
                <a:gd name="T28" fmla="*/ 543 w 770"/>
                <a:gd name="T29" fmla="*/ 493 h 881"/>
                <a:gd name="T30" fmla="*/ 521 w 770"/>
                <a:gd name="T31" fmla="*/ 493 h 881"/>
                <a:gd name="T32" fmla="*/ 326 w 770"/>
                <a:gd name="T33" fmla="*/ 516 h 881"/>
                <a:gd name="T34" fmla="*/ 241 w 770"/>
                <a:gd name="T35" fmla="*/ 602 h 881"/>
                <a:gd name="T36" fmla="*/ 356 w 770"/>
                <a:gd name="T37" fmla="*/ 689 h 881"/>
                <a:gd name="T38" fmla="*/ 543 w 770"/>
                <a:gd name="T39" fmla="*/ 519 h 881"/>
                <a:gd name="T40" fmla="*/ 543 w 770"/>
                <a:gd name="T41" fmla="*/ 493 h 8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770" h="881">
                  <a:moveTo>
                    <a:pt x="770" y="353"/>
                  </a:moveTo>
                  <a:cubicBezTo>
                    <a:pt x="770" y="857"/>
                    <a:pt x="770" y="857"/>
                    <a:pt x="770" y="857"/>
                  </a:cubicBezTo>
                  <a:cubicBezTo>
                    <a:pt x="550" y="857"/>
                    <a:pt x="550" y="857"/>
                    <a:pt x="550" y="857"/>
                  </a:cubicBezTo>
                  <a:cubicBezTo>
                    <a:pt x="550" y="772"/>
                    <a:pt x="550" y="772"/>
                    <a:pt x="550" y="772"/>
                  </a:cubicBezTo>
                  <a:cubicBezTo>
                    <a:pt x="492" y="834"/>
                    <a:pt x="421" y="873"/>
                    <a:pt x="310" y="876"/>
                  </a:cubicBezTo>
                  <a:cubicBezTo>
                    <a:pt x="137" y="881"/>
                    <a:pt x="0" y="775"/>
                    <a:pt x="0" y="617"/>
                  </a:cubicBezTo>
                  <a:cubicBezTo>
                    <a:pt x="0" y="373"/>
                    <a:pt x="260" y="320"/>
                    <a:pt x="514" y="320"/>
                  </a:cubicBezTo>
                  <a:cubicBezTo>
                    <a:pt x="543" y="320"/>
                    <a:pt x="543" y="320"/>
                    <a:pt x="543" y="320"/>
                  </a:cubicBezTo>
                  <a:cubicBezTo>
                    <a:pt x="543" y="252"/>
                    <a:pt x="513" y="190"/>
                    <a:pt x="379" y="190"/>
                  </a:cubicBezTo>
                  <a:cubicBezTo>
                    <a:pt x="287" y="190"/>
                    <a:pt x="210" y="219"/>
                    <a:pt x="155" y="270"/>
                  </a:cubicBezTo>
                  <a:cubicBezTo>
                    <a:pt x="22" y="137"/>
                    <a:pt x="22" y="137"/>
                    <a:pt x="22" y="137"/>
                  </a:cubicBezTo>
                  <a:cubicBezTo>
                    <a:pt x="113" y="46"/>
                    <a:pt x="242" y="0"/>
                    <a:pt x="385" y="0"/>
                  </a:cubicBezTo>
                  <a:cubicBezTo>
                    <a:pt x="526" y="0"/>
                    <a:pt x="604" y="20"/>
                    <a:pt x="682" y="91"/>
                  </a:cubicBezTo>
                  <a:cubicBezTo>
                    <a:pt x="757" y="158"/>
                    <a:pt x="770" y="283"/>
                    <a:pt x="770" y="353"/>
                  </a:cubicBezTo>
                  <a:moveTo>
                    <a:pt x="543" y="493"/>
                  </a:moveTo>
                  <a:cubicBezTo>
                    <a:pt x="521" y="493"/>
                    <a:pt x="521" y="493"/>
                    <a:pt x="521" y="493"/>
                  </a:cubicBezTo>
                  <a:cubicBezTo>
                    <a:pt x="484" y="493"/>
                    <a:pt x="394" y="498"/>
                    <a:pt x="326" y="516"/>
                  </a:cubicBezTo>
                  <a:cubicBezTo>
                    <a:pt x="280" y="529"/>
                    <a:pt x="241" y="560"/>
                    <a:pt x="241" y="602"/>
                  </a:cubicBezTo>
                  <a:cubicBezTo>
                    <a:pt x="241" y="663"/>
                    <a:pt x="301" y="689"/>
                    <a:pt x="356" y="689"/>
                  </a:cubicBezTo>
                  <a:cubicBezTo>
                    <a:pt x="473" y="689"/>
                    <a:pt x="543" y="615"/>
                    <a:pt x="543" y="519"/>
                  </a:cubicBezTo>
                  <a:lnTo>
                    <a:pt x="543" y="49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37" name="Freeform 36">
              <a:extLst>
                <a:ext uri="{FF2B5EF4-FFF2-40B4-BE49-F238E27FC236}">
                  <a16:creationId xmlns:a16="http://schemas.microsoft.com/office/drawing/2014/main" id="{A66DB4D5-0F81-FA40-BF7F-D49AB4BE3A60}"/>
                </a:ext>
              </a:extLst>
            </p:cNvPr>
            <p:cNvSpPr>
              <a:spLocks/>
            </p:cNvSpPr>
            <p:nvPr/>
          </p:nvSpPr>
          <p:spPr bwMode="auto">
            <a:xfrm>
              <a:off x="2983" y="3477"/>
              <a:ext cx="154" cy="278"/>
            </a:xfrm>
            <a:custGeom>
              <a:avLst/>
              <a:gdLst>
                <a:gd name="T0" fmla="*/ 401 w 622"/>
                <a:gd name="T1" fmla="*/ 264 h 1120"/>
                <a:gd name="T2" fmla="*/ 401 w 622"/>
                <a:gd name="T3" fmla="*/ 0 h 1120"/>
                <a:gd name="T4" fmla="*/ 163 w 622"/>
                <a:gd name="T5" fmla="*/ 0 h 1120"/>
                <a:gd name="T6" fmla="*/ 163 w 622"/>
                <a:gd name="T7" fmla="*/ 264 h 1120"/>
                <a:gd name="T8" fmla="*/ 0 w 622"/>
                <a:gd name="T9" fmla="*/ 264 h 1120"/>
                <a:gd name="T10" fmla="*/ 0 w 622"/>
                <a:gd name="T11" fmla="*/ 463 h 1120"/>
                <a:gd name="T12" fmla="*/ 163 w 622"/>
                <a:gd name="T13" fmla="*/ 463 h 1120"/>
                <a:gd name="T14" fmla="*/ 163 w 622"/>
                <a:gd name="T15" fmla="*/ 818 h 1120"/>
                <a:gd name="T16" fmla="*/ 231 w 622"/>
                <a:gd name="T17" fmla="*/ 1055 h 1120"/>
                <a:gd name="T18" fmla="*/ 444 w 622"/>
                <a:gd name="T19" fmla="*/ 1120 h 1120"/>
                <a:gd name="T20" fmla="*/ 622 w 622"/>
                <a:gd name="T21" fmla="*/ 1086 h 1120"/>
                <a:gd name="T22" fmla="*/ 622 w 622"/>
                <a:gd name="T23" fmla="*/ 898 h 1120"/>
                <a:gd name="T24" fmla="*/ 494 w 622"/>
                <a:gd name="T25" fmla="*/ 915 h 1120"/>
                <a:gd name="T26" fmla="*/ 401 w 622"/>
                <a:gd name="T27" fmla="*/ 807 h 1120"/>
                <a:gd name="T28" fmla="*/ 401 w 622"/>
                <a:gd name="T29" fmla="*/ 463 h 1120"/>
                <a:gd name="T30" fmla="*/ 622 w 622"/>
                <a:gd name="T31" fmla="*/ 463 h 1120"/>
                <a:gd name="T32" fmla="*/ 622 w 622"/>
                <a:gd name="T33" fmla="*/ 264 h 1120"/>
                <a:gd name="T34" fmla="*/ 401 w 622"/>
                <a:gd name="T35" fmla="*/ 264 h 1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22" h="1120">
                  <a:moveTo>
                    <a:pt x="401" y="264"/>
                  </a:moveTo>
                  <a:cubicBezTo>
                    <a:pt x="401" y="0"/>
                    <a:pt x="401" y="0"/>
                    <a:pt x="401" y="0"/>
                  </a:cubicBezTo>
                  <a:cubicBezTo>
                    <a:pt x="163" y="0"/>
                    <a:pt x="163" y="0"/>
                    <a:pt x="163" y="0"/>
                  </a:cubicBezTo>
                  <a:cubicBezTo>
                    <a:pt x="163" y="264"/>
                    <a:pt x="163" y="264"/>
                    <a:pt x="163" y="264"/>
                  </a:cubicBezTo>
                  <a:cubicBezTo>
                    <a:pt x="0" y="264"/>
                    <a:pt x="0" y="264"/>
                    <a:pt x="0" y="264"/>
                  </a:cubicBezTo>
                  <a:cubicBezTo>
                    <a:pt x="0" y="463"/>
                    <a:pt x="0" y="463"/>
                    <a:pt x="0" y="463"/>
                  </a:cubicBezTo>
                  <a:cubicBezTo>
                    <a:pt x="163" y="463"/>
                    <a:pt x="163" y="463"/>
                    <a:pt x="163" y="463"/>
                  </a:cubicBezTo>
                  <a:cubicBezTo>
                    <a:pt x="163" y="818"/>
                    <a:pt x="163" y="818"/>
                    <a:pt x="163" y="818"/>
                  </a:cubicBezTo>
                  <a:cubicBezTo>
                    <a:pt x="163" y="937"/>
                    <a:pt x="184" y="1008"/>
                    <a:pt x="231" y="1055"/>
                  </a:cubicBezTo>
                  <a:cubicBezTo>
                    <a:pt x="276" y="1099"/>
                    <a:pt x="343" y="1120"/>
                    <a:pt x="444" y="1120"/>
                  </a:cubicBezTo>
                  <a:cubicBezTo>
                    <a:pt x="508" y="1120"/>
                    <a:pt x="572" y="1108"/>
                    <a:pt x="622" y="1086"/>
                  </a:cubicBezTo>
                  <a:cubicBezTo>
                    <a:pt x="622" y="898"/>
                    <a:pt x="622" y="898"/>
                    <a:pt x="622" y="898"/>
                  </a:cubicBezTo>
                  <a:cubicBezTo>
                    <a:pt x="592" y="908"/>
                    <a:pt x="549" y="915"/>
                    <a:pt x="494" y="915"/>
                  </a:cubicBezTo>
                  <a:cubicBezTo>
                    <a:pt x="420" y="915"/>
                    <a:pt x="401" y="874"/>
                    <a:pt x="401" y="807"/>
                  </a:cubicBezTo>
                  <a:cubicBezTo>
                    <a:pt x="401" y="463"/>
                    <a:pt x="401" y="463"/>
                    <a:pt x="401" y="463"/>
                  </a:cubicBezTo>
                  <a:cubicBezTo>
                    <a:pt x="622" y="463"/>
                    <a:pt x="622" y="463"/>
                    <a:pt x="622" y="463"/>
                  </a:cubicBezTo>
                  <a:cubicBezTo>
                    <a:pt x="622" y="264"/>
                    <a:pt x="622" y="264"/>
                    <a:pt x="622" y="264"/>
                  </a:cubicBezTo>
                  <a:lnTo>
                    <a:pt x="401" y="26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38" name="Freeform 37">
              <a:extLst>
                <a:ext uri="{FF2B5EF4-FFF2-40B4-BE49-F238E27FC236}">
                  <a16:creationId xmlns:a16="http://schemas.microsoft.com/office/drawing/2014/main" id="{1AFBF16F-8A81-754F-B3ED-C36F8A11E574}"/>
                </a:ext>
              </a:extLst>
            </p:cNvPr>
            <p:cNvSpPr>
              <a:spLocks noEditPoints="1"/>
            </p:cNvSpPr>
            <p:nvPr/>
          </p:nvSpPr>
          <p:spPr bwMode="auto">
            <a:xfrm>
              <a:off x="4426" y="3538"/>
              <a:ext cx="213" cy="217"/>
            </a:xfrm>
            <a:custGeom>
              <a:avLst/>
              <a:gdLst>
                <a:gd name="T0" fmla="*/ 857 w 857"/>
                <a:gd name="T1" fmla="*/ 453 h 876"/>
                <a:gd name="T2" fmla="*/ 857 w 857"/>
                <a:gd name="T3" fmla="*/ 516 h 876"/>
                <a:gd name="T4" fmla="*/ 244 w 857"/>
                <a:gd name="T5" fmla="*/ 516 h 876"/>
                <a:gd name="T6" fmla="*/ 459 w 857"/>
                <a:gd name="T7" fmla="*/ 680 h 876"/>
                <a:gd name="T8" fmla="*/ 678 w 857"/>
                <a:gd name="T9" fmla="*/ 583 h 876"/>
                <a:gd name="T10" fmla="*/ 829 w 857"/>
                <a:gd name="T11" fmla="*/ 693 h 876"/>
                <a:gd name="T12" fmla="*/ 463 w 857"/>
                <a:gd name="T13" fmla="*/ 876 h 876"/>
                <a:gd name="T14" fmla="*/ 0 w 857"/>
                <a:gd name="T15" fmla="*/ 438 h 876"/>
                <a:gd name="T16" fmla="*/ 433 w 857"/>
                <a:gd name="T17" fmla="*/ 0 h 876"/>
                <a:gd name="T18" fmla="*/ 857 w 857"/>
                <a:gd name="T19" fmla="*/ 453 h 876"/>
                <a:gd name="T20" fmla="*/ 605 w 857"/>
                <a:gd name="T21" fmla="*/ 345 h 876"/>
                <a:gd name="T22" fmla="*/ 425 w 857"/>
                <a:gd name="T23" fmla="*/ 189 h 876"/>
                <a:gd name="T24" fmla="*/ 245 w 857"/>
                <a:gd name="T25" fmla="*/ 345 h 876"/>
                <a:gd name="T26" fmla="*/ 605 w 857"/>
                <a:gd name="T27" fmla="*/ 345 h 8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57" h="876">
                  <a:moveTo>
                    <a:pt x="857" y="453"/>
                  </a:moveTo>
                  <a:cubicBezTo>
                    <a:pt x="857" y="516"/>
                    <a:pt x="857" y="516"/>
                    <a:pt x="857" y="516"/>
                  </a:cubicBezTo>
                  <a:cubicBezTo>
                    <a:pt x="244" y="516"/>
                    <a:pt x="244" y="516"/>
                    <a:pt x="244" y="516"/>
                  </a:cubicBezTo>
                  <a:cubicBezTo>
                    <a:pt x="249" y="602"/>
                    <a:pt x="345" y="675"/>
                    <a:pt x="459" y="680"/>
                  </a:cubicBezTo>
                  <a:cubicBezTo>
                    <a:pt x="565" y="684"/>
                    <a:pt x="623" y="642"/>
                    <a:pt x="678" y="583"/>
                  </a:cubicBezTo>
                  <a:cubicBezTo>
                    <a:pt x="829" y="693"/>
                    <a:pt x="829" y="693"/>
                    <a:pt x="829" y="693"/>
                  </a:cubicBezTo>
                  <a:cubicBezTo>
                    <a:pt x="737" y="809"/>
                    <a:pt x="624" y="876"/>
                    <a:pt x="463" y="876"/>
                  </a:cubicBezTo>
                  <a:cubicBezTo>
                    <a:pt x="208" y="876"/>
                    <a:pt x="0" y="718"/>
                    <a:pt x="0" y="438"/>
                  </a:cubicBezTo>
                  <a:cubicBezTo>
                    <a:pt x="0" y="215"/>
                    <a:pt x="139" y="0"/>
                    <a:pt x="433" y="0"/>
                  </a:cubicBezTo>
                  <a:cubicBezTo>
                    <a:pt x="736" y="0"/>
                    <a:pt x="857" y="235"/>
                    <a:pt x="857" y="453"/>
                  </a:cubicBezTo>
                  <a:moveTo>
                    <a:pt x="605" y="345"/>
                  </a:moveTo>
                  <a:cubicBezTo>
                    <a:pt x="594" y="254"/>
                    <a:pt x="544" y="187"/>
                    <a:pt x="425" y="189"/>
                  </a:cubicBezTo>
                  <a:cubicBezTo>
                    <a:pt x="324" y="191"/>
                    <a:pt x="256" y="259"/>
                    <a:pt x="245" y="345"/>
                  </a:cubicBezTo>
                  <a:lnTo>
                    <a:pt x="605" y="34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39" name="Freeform 38">
              <a:extLst>
                <a:ext uri="{FF2B5EF4-FFF2-40B4-BE49-F238E27FC236}">
                  <a16:creationId xmlns:a16="http://schemas.microsoft.com/office/drawing/2014/main" id="{E7BC8B40-7702-114B-A54F-B22AF0D5EC34}"/>
                </a:ext>
              </a:extLst>
            </p:cNvPr>
            <p:cNvSpPr>
              <a:spLocks/>
            </p:cNvSpPr>
            <p:nvPr/>
          </p:nvSpPr>
          <p:spPr bwMode="auto">
            <a:xfrm>
              <a:off x="2464" y="3449"/>
              <a:ext cx="272" cy="301"/>
            </a:xfrm>
            <a:custGeom>
              <a:avLst/>
              <a:gdLst>
                <a:gd name="T0" fmla="*/ 207 w 272"/>
                <a:gd name="T1" fmla="*/ 0 h 301"/>
                <a:gd name="T2" fmla="*/ 207 w 272"/>
                <a:gd name="T3" fmla="*/ 204 h 301"/>
                <a:gd name="T4" fmla="*/ 80 w 272"/>
                <a:gd name="T5" fmla="*/ 0 h 301"/>
                <a:gd name="T6" fmla="*/ 0 w 272"/>
                <a:gd name="T7" fmla="*/ 0 h 301"/>
                <a:gd name="T8" fmla="*/ 0 w 272"/>
                <a:gd name="T9" fmla="*/ 301 h 301"/>
                <a:gd name="T10" fmla="*/ 65 w 272"/>
                <a:gd name="T11" fmla="*/ 301 h 301"/>
                <a:gd name="T12" fmla="*/ 65 w 272"/>
                <a:gd name="T13" fmla="*/ 90 h 301"/>
                <a:gd name="T14" fmla="*/ 196 w 272"/>
                <a:gd name="T15" fmla="*/ 301 h 301"/>
                <a:gd name="T16" fmla="*/ 272 w 272"/>
                <a:gd name="T17" fmla="*/ 301 h 301"/>
                <a:gd name="T18" fmla="*/ 272 w 272"/>
                <a:gd name="T19" fmla="*/ 0 h 301"/>
                <a:gd name="T20" fmla="*/ 207 w 272"/>
                <a:gd name="T21" fmla="*/ 0 h 3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72" h="301">
                  <a:moveTo>
                    <a:pt x="207" y="0"/>
                  </a:moveTo>
                  <a:lnTo>
                    <a:pt x="207" y="204"/>
                  </a:lnTo>
                  <a:lnTo>
                    <a:pt x="80" y="0"/>
                  </a:lnTo>
                  <a:lnTo>
                    <a:pt x="0" y="0"/>
                  </a:lnTo>
                  <a:lnTo>
                    <a:pt x="0" y="301"/>
                  </a:lnTo>
                  <a:lnTo>
                    <a:pt x="65" y="301"/>
                  </a:lnTo>
                  <a:lnTo>
                    <a:pt x="65" y="90"/>
                  </a:lnTo>
                  <a:lnTo>
                    <a:pt x="196" y="301"/>
                  </a:lnTo>
                  <a:lnTo>
                    <a:pt x="272" y="301"/>
                  </a:lnTo>
                  <a:lnTo>
                    <a:pt x="272" y="0"/>
                  </a:lnTo>
                  <a:lnTo>
                    <a:pt x="207"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40" name="Freeform 39">
              <a:extLst>
                <a:ext uri="{FF2B5EF4-FFF2-40B4-BE49-F238E27FC236}">
                  <a16:creationId xmlns:a16="http://schemas.microsoft.com/office/drawing/2014/main" id="{7D71D2CF-318E-614F-8BA3-A1CE1FD301E7}"/>
                </a:ext>
              </a:extLst>
            </p:cNvPr>
            <p:cNvSpPr>
              <a:spLocks/>
            </p:cNvSpPr>
            <p:nvPr/>
          </p:nvSpPr>
          <p:spPr bwMode="auto">
            <a:xfrm>
              <a:off x="3734" y="3543"/>
              <a:ext cx="321" cy="207"/>
            </a:xfrm>
            <a:custGeom>
              <a:avLst/>
              <a:gdLst>
                <a:gd name="T0" fmla="*/ 259 w 321"/>
                <a:gd name="T1" fmla="*/ 0 h 207"/>
                <a:gd name="T2" fmla="*/ 226 w 321"/>
                <a:gd name="T3" fmla="*/ 129 h 207"/>
                <a:gd name="T4" fmla="*/ 192 w 321"/>
                <a:gd name="T5" fmla="*/ 0 h 207"/>
                <a:gd name="T6" fmla="*/ 131 w 321"/>
                <a:gd name="T7" fmla="*/ 0 h 207"/>
                <a:gd name="T8" fmla="*/ 98 w 321"/>
                <a:gd name="T9" fmla="*/ 128 h 207"/>
                <a:gd name="T10" fmla="*/ 65 w 321"/>
                <a:gd name="T11" fmla="*/ 0 h 207"/>
                <a:gd name="T12" fmla="*/ 0 w 321"/>
                <a:gd name="T13" fmla="*/ 0 h 207"/>
                <a:gd name="T14" fmla="*/ 66 w 321"/>
                <a:gd name="T15" fmla="*/ 207 h 207"/>
                <a:gd name="T16" fmla="*/ 125 w 321"/>
                <a:gd name="T17" fmla="*/ 207 h 207"/>
                <a:gd name="T18" fmla="*/ 161 w 321"/>
                <a:gd name="T19" fmla="*/ 77 h 207"/>
                <a:gd name="T20" fmla="*/ 201 w 321"/>
                <a:gd name="T21" fmla="*/ 207 h 207"/>
                <a:gd name="T22" fmla="*/ 255 w 321"/>
                <a:gd name="T23" fmla="*/ 207 h 207"/>
                <a:gd name="T24" fmla="*/ 321 w 321"/>
                <a:gd name="T25" fmla="*/ 0 h 207"/>
                <a:gd name="T26" fmla="*/ 259 w 321"/>
                <a:gd name="T27" fmla="*/ 0 h 2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21" h="207">
                  <a:moveTo>
                    <a:pt x="259" y="0"/>
                  </a:moveTo>
                  <a:lnTo>
                    <a:pt x="226" y="129"/>
                  </a:lnTo>
                  <a:lnTo>
                    <a:pt x="192" y="0"/>
                  </a:lnTo>
                  <a:lnTo>
                    <a:pt x="131" y="0"/>
                  </a:lnTo>
                  <a:lnTo>
                    <a:pt x="98" y="128"/>
                  </a:lnTo>
                  <a:lnTo>
                    <a:pt x="65" y="0"/>
                  </a:lnTo>
                  <a:lnTo>
                    <a:pt x="0" y="0"/>
                  </a:lnTo>
                  <a:lnTo>
                    <a:pt x="66" y="207"/>
                  </a:lnTo>
                  <a:lnTo>
                    <a:pt x="125" y="207"/>
                  </a:lnTo>
                  <a:lnTo>
                    <a:pt x="161" y="77"/>
                  </a:lnTo>
                  <a:lnTo>
                    <a:pt x="201" y="207"/>
                  </a:lnTo>
                  <a:lnTo>
                    <a:pt x="255" y="207"/>
                  </a:lnTo>
                  <a:lnTo>
                    <a:pt x="321" y="0"/>
                  </a:lnTo>
                  <a:lnTo>
                    <a:pt x="25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41" name="Freeform 40">
              <a:extLst>
                <a:ext uri="{FF2B5EF4-FFF2-40B4-BE49-F238E27FC236}">
                  <a16:creationId xmlns:a16="http://schemas.microsoft.com/office/drawing/2014/main" id="{D9588A39-8C80-034E-8D3D-67E98E17D017}"/>
                </a:ext>
              </a:extLst>
            </p:cNvPr>
            <p:cNvSpPr>
              <a:spLocks/>
            </p:cNvSpPr>
            <p:nvPr/>
          </p:nvSpPr>
          <p:spPr bwMode="auto">
            <a:xfrm>
              <a:off x="3175" y="3543"/>
              <a:ext cx="60" cy="207"/>
            </a:xfrm>
            <a:custGeom>
              <a:avLst/>
              <a:gdLst>
                <a:gd name="T0" fmla="*/ 60 w 60"/>
                <a:gd name="T1" fmla="*/ 0 h 207"/>
                <a:gd name="T2" fmla="*/ 0 w 60"/>
                <a:gd name="T3" fmla="*/ 0 h 207"/>
                <a:gd name="T4" fmla="*/ 0 w 60"/>
                <a:gd name="T5" fmla="*/ 106 h 207"/>
                <a:gd name="T6" fmla="*/ 0 w 60"/>
                <a:gd name="T7" fmla="*/ 207 h 207"/>
                <a:gd name="T8" fmla="*/ 60 w 60"/>
                <a:gd name="T9" fmla="*/ 207 h 207"/>
                <a:gd name="T10" fmla="*/ 60 w 60"/>
                <a:gd name="T11" fmla="*/ 106 h 207"/>
                <a:gd name="T12" fmla="*/ 60 w 60"/>
                <a:gd name="T13" fmla="*/ 0 h 207"/>
              </a:gdLst>
              <a:ahLst/>
              <a:cxnLst>
                <a:cxn ang="0">
                  <a:pos x="T0" y="T1"/>
                </a:cxn>
                <a:cxn ang="0">
                  <a:pos x="T2" y="T3"/>
                </a:cxn>
                <a:cxn ang="0">
                  <a:pos x="T4" y="T5"/>
                </a:cxn>
                <a:cxn ang="0">
                  <a:pos x="T6" y="T7"/>
                </a:cxn>
                <a:cxn ang="0">
                  <a:pos x="T8" y="T9"/>
                </a:cxn>
                <a:cxn ang="0">
                  <a:pos x="T10" y="T11"/>
                </a:cxn>
                <a:cxn ang="0">
                  <a:pos x="T12" y="T13"/>
                </a:cxn>
              </a:cxnLst>
              <a:rect l="0" t="0" r="r" b="b"/>
              <a:pathLst>
                <a:path w="60" h="207">
                  <a:moveTo>
                    <a:pt x="60" y="0"/>
                  </a:moveTo>
                  <a:lnTo>
                    <a:pt x="0" y="0"/>
                  </a:lnTo>
                  <a:lnTo>
                    <a:pt x="0" y="106"/>
                  </a:lnTo>
                  <a:lnTo>
                    <a:pt x="0" y="207"/>
                  </a:lnTo>
                  <a:lnTo>
                    <a:pt x="60" y="207"/>
                  </a:lnTo>
                  <a:lnTo>
                    <a:pt x="60" y="106"/>
                  </a:lnTo>
                  <a:lnTo>
                    <a:pt x="6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42" name="Freeform 41">
              <a:extLst>
                <a:ext uri="{FF2B5EF4-FFF2-40B4-BE49-F238E27FC236}">
                  <a16:creationId xmlns:a16="http://schemas.microsoft.com/office/drawing/2014/main" id="{CB4CA907-2965-5041-A4D1-88FFC0AAFE43}"/>
                </a:ext>
              </a:extLst>
            </p:cNvPr>
            <p:cNvSpPr>
              <a:spLocks/>
            </p:cNvSpPr>
            <p:nvPr/>
          </p:nvSpPr>
          <p:spPr bwMode="auto">
            <a:xfrm>
              <a:off x="4076" y="3543"/>
              <a:ext cx="59" cy="207"/>
            </a:xfrm>
            <a:custGeom>
              <a:avLst/>
              <a:gdLst>
                <a:gd name="T0" fmla="*/ 59 w 59"/>
                <a:gd name="T1" fmla="*/ 0 h 207"/>
                <a:gd name="T2" fmla="*/ 0 w 59"/>
                <a:gd name="T3" fmla="*/ 0 h 207"/>
                <a:gd name="T4" fmla="*/ 0 w 59"/>
                <a:gd name="T5" fmla="*/ 106 h 207"/>
                <a:gd name="T6" fmla="*/ 0 w 59"/>
                <a:gd name="T7" fmla="*/ 207 h 207"/>
                <a:gd name="T8" fmla="*/ 59 w 59"/>
                <a:gd name="T9" fmla="*/ 207 h 207"/>
                <a:gd name="T10" fmla="*/ 59 w 59"/>
                <a:gd name="T11" fmla="*/ 106 h 207"/>
                <a:gd name="T12" fmla="*/ 59 w 59"/>
                <a:gd name="T13" fmla="*/ 0 h 207"/>
              </a:gdLst>
              <a:ahLst/>
              <a:cxnLst>
                <a:cxn ang="0">
                  <a:pos x="T0" y="T1"/>
                </a:cxn>
                <a:cxn ang="0">
                  <a:pos x="T2" y="T3"/>
                </a:cxn>
                <a:cxn ang="0">
                  <a:pos x="T4" y="T5"/>
                </a:cxn>
                <a:cxn ang="0">
                  <a:pos x="T6" y="T7"/>
                </a:cxn>
                <a:cxn ang="0">
                  <a:pos x="T8" y="T9"/>
                </a:cxn>
                <a:cxn ang="0">
                  <a:pos x="T10" y="T11"/>
                </a:cxn>
                <a:cxn ang="0">
                  <a:pos x="T12" y="T13"/>
                </a:cxn>
              </a:cxnLst>
              <a:rect l="0" t="0" r="r" b="b"/>
              <a:pathLst>
                <a:path w="59" h="207">
                  <a:moveTo>
                    <a:pt x="59" y="0"/>
                  </a:moveTo>
                  <a:lnTo>
                    <a:pt x="0" y="0"/>
                  </a:lnTo>
                  <a:lnTo>
                    <a:pt x="0" y="106"/>
                  </a:lnTo>
                  <a:lnTo>
                    <a:pt x="0" y="207"/>
                  </a:lnTo>
                  <a:lnTo>
                    <a:pt x="59" y="207"/>
                  </a:lnTo>
                  <a:lnTo>
                    <a:pt x="59" y="106"/>
                  </a:lnTo>
                  <a:lnTo>
                    <a:pt x="5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43" name="Freeform 42">
              <a:extLst>
                <a:ext uri="{FF2B5EF4-FFF2-40B4-BE49-F238E27FC236}">
                  <a16:creationId xmlns:a16="http://schemas.microsoft.com/office/drawing/2014/main" id="{064BDBD4-DC9B-2643-895F-7535E7862951}"/>
                </a:ext>
              </a:extLst>
            </p:cNvPr>
            <p:cNvSpPr>
              <a:spLocks/>
            </p:cNvSpPr>
            <p:nvPr/>
          </p:nvSpPr>
          <p:spPr bwMode="auto">
            <a:xfrm>
              <a:off x="3527" y="3538"/>
              <a:ext cx="190" cy="212"/>
            </a:xfrm>
            <a:custGeom>
              <a:avLst/>
              <a:gdLst>
                <a:gd name="T0" fmla="*/ 686 w 767"/>
                <a:gd name="T1" fmla="*/ 77 h 857"/>
                <a:gd name="T2" fmla="*/ 480 w 767"/>
                <a:gd name="T3" fmla="*/ 0 h 857"/>
                <a:gd name="T4" fmla="*/ 231 w 767"/>
                <a:gd name="T5" fmla="*/ 111 h 857"/>
                <a:gd name="T6" fmla="*/ 231 w 767"/>
                <a:gd name="T7" fmla="*/ 20 h 857"/>
                <a:gd name="T8" fmla="*/ 0 w 767"/>
                <a:gd name="T9" fmla="*/ 20 h 857"/>
                <a:gd name="T10" fmla="*/ 0 w 767"/>
                <a:gd name="T11" fmla="*/ 857 h 857"/>
                <a:gd name="T12" fmla="*/ 241 w 767"/>
                <a:gd name="T13" fmla="*/ 857 h 857"/>
                <a:gd name="T14" fmla="*/ 241 w 767"/>
                <a:gd name="T15" fmla="*/ 402 h 857"/>
                <a:gd name="T16" fmla="*/ 285 w 767"/>
                <a:gd name="T17" fmla="*/ 268 h 857"/>
                <a:gd name="T18" fmla="*/ 390 w 767"/>
                <a:gd name="T19" fmla="*/ 221 h 857"/>
                <a:gd name="T20" fmla="*/ 494 w 767"/>
                <a:gd name="T21" fmla="*/ 268 h 857"/>
                <a:gd name="T22" fmla="*/ 527 w 767"/>
                <a:gd name="T23" fmla="*/ 434 h 857"/>
                <a:gd name="T24" fmla="*/ 527 w 767"/>
                <a:gd name="T25" fmla="*/ 857 h 857"/>
                <a:gd name="T26" fmla="*/ 767 w 767"/>
                <a:gd name="T27" fmla="*/ 857 h 857"/>
                <a:gd name="T28" fmla="*/ 767 w 767"/>
                <a:gd name="T29" fmla="*/ 334 h 857"/>
                <a:gd name="T30" fmla="*/ 686 w 767"/>
                <a:gd name="T31" fmla="*/ 77 h 8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767" h="857">
                  <a:moveTo>
                    <a:pt x="686" y="77"/>
                  </a:moveTo>
                  <a:cubicBezTo>
                    <a:pt x="636" y="24"/>
                    <a:pt x="573" y="0"/>
                    <a:pt x="480" y="0"/>
                  </a:cubicBezTo>
                  <a:cubicBezTo>
                    <a:pt x="388" y="1"/>
                    <a:pt x="281" y="46"/>
                    <a:pt x="231" y="111"/>
                  </a:cubicBezTo>
                  <a:cubicBezTo>
                    <a:pt x="231" y="20"/>
                    <a:pt x="231" y="20"/>
                    <a:pt x="231" y="20"/>
                  </a:cubicBezTo>
                  <a:cubicBezTo>
                    <a:pt x="0" y="20"/>
                    <a:pt x="0" y="20"/>
                    <a:pt x="0" y="20"/>
                  </a:cubicBezTo>
                  <a:cubicBezTo>
                    <a:pt x="0" y="857"/>
                    <a:pt x="0" y="857"/>
                    <a:pt x="0" y="857"/>
                  </a:cubicBezTo>
                  <a:cubicBezTo>
                    <a:pt x="241" y="857"/>
                    <a:pt x="241" y="857"/>
                    <a:pt x="241" y="857"/>
                  </a:cubicBezTo>
                  <a:cubicBezTo>
                    <a:pt x="241" y="402"/>
                    <a:pt x="241" y="402"/>
                    <a:pt x="241" y="402"/>
                  </a:cubicBezTo>
                  <a:cubicBezTo>
                    <a:pt x="241" y="343"/>
                    <a:pt x="257" y="299"/>
                    <a:pt x="285" y="268"/>
                  </a:cubicBezTo>
                  <a:cubicBezTo>
                    <a:pt x="309" y="241"/>
                    <a:pt x="345" y="224"/>
                    <a:pt x="390" y="221"/>
                  </a:cubicBezTo>
                  <a:cubicBezTo>
                    <a:pt x="444" y="218"/>
                    <a:pt x="473" y="242"/>
                    <a:pt x="494" y="268"/>
                  </a:cubicBezTo>
                  <a:cubicBezTo>
                    <a:pt x="520" y="300"/>
                    <a:pt x="527" y="357"/>
                    <a:pt x="527" y="434"/>
                  </a:cubicBezTo>
                  <a:cubicBezTo>
                    <a:pt x="527" y="857"/>
                    <a:pt x="527" y="857"/>
                    <a:pt x="527" y="857"/>
                  </a:cubicBezTo>
                  <a:cubicBezTo>
                    <a:pt x="767" y="857"/>
                    <a:pt x="767" y="857"/>
                    <a:pt x="767" y="857"/>
                  </a:cubicBezTo>
                  <a:cubicBezTo>
                    <a:pt x="767" y="334"/>
                    <a:pt x="767" y="334"/>
                    <a:pt x="767" y="334"/>
                  </a:cubicBezTo>
                  <a:cubicBezTo>
                    <a:pt x="767" y="232"/>
                    <a:pt x="754" y="147"/>
                    <a:pt x="686" y="77"/>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44" name="Freeform 43">
              <a:extLst>
                <a:ext uri="{FF2B5EF4-FFF2-40B4-BE49-F238E27FC236}">
                  <a16:creationId xmlns:a16="http://schemas.microsoft.com/office/drawing/2014/main" id="{596A12D7-425E-AD43-A65E-B72F97666F37}"/>
                </a:ext>
              </a:extLst>
            </p:cNvPr>
            <p:cNvSpPr>
              <a:spLocks noEditPoints="1"/>
            </p:cNvSpPr>
            <p:nvPr/>
          </p:nvSpPr>
          <p:spPr bwMode="auto">
            <a:xfrm>
              <a:off x="4170" y="3449"/>
              <a:ext cx="222" cy="306"/>
            </a:xfrm>
            <a:custGeom>
              <a:avLst/>
              <a:gdLst>
                <a:gd name="T0" fmla="*/ 900 w 900"/>
                <a:gd name="T1" fmla="*/ 0 h 1233"/>
                <a:gd name="T2" fmla="*/ 900 w 900"/>
                <a:gd name="T3" fmla="*/ 1214 h 1233"/>
                <a:gd name="T4" fmla="*/ 673 w 900"/>
                <a:gd name="T5" fmla="*/ 1214 h 1233"/>
                <a:gd name="T6" fmla="*/ 673 w 900"/>
                <a:gd name="T7" fmla="*/ 1121 h 1233"/>
                <a:gd name="T8" fmla="*/ 414 w 900"/>
                <a:gd name="T9" fmla="*/ 1233 h 1233"/>
                <a:gd name="T10" fmla="*/ 124 w 900"/>
                <a:gd name="T11" fmla="*/ 1121 h 1233"/>
                <a:gd name="T12" fmla="*/ 0 w 900"/>
                <a:gd name="T13" fmla="*/ 796 h 1233"/>
                <a:gd name="T14" fmla="*/ 406 w 900"/>
                <a:gd name="T15" fmla="*/ 357 h 1233"/>
                <a:gd name="T16" fmla="*/ 659 w 900"/>
                <a:gd name="T17" fmla="*/ 451 h 1233"/>
                <a:gd name="T18" fmla="*/ 659 w 900"/>
                <a:gd name="T19" fmla="*/ 0 h 1233"/>
                <a:gd name="T20" fmla="*/ 900 w 900"/>
                <a:gd name="T21" fmla="*/ 0 h 1233"/>
                <a:gd name="T22" fmla="*/ 666 w 900"/>
                <a:gd name="T23" fmla="*/ 796 h 1233"/>
                <a:gd name="T24" fmla="*/ 453 w 900"/>
                <a:gd name="T25" fmla="*/ 569 h 1233"/>
                <a:gd name="T26" fmla="*/ 241 w 900"/>
                <a:gd name="T27" fmla="*/ 796 h 1233"/>
                <a:gd name="T28" fmla="*/ 453 w 900"/>
                <a:gd name="T29" fmla="*/ 1022 h 1233"/>
                <a:gd name="T30" fmla="*/ 666 w 900"/>
                <a:gd name="T31" fmla="*/ 796 h 12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00" h="1233">
                  <a:moveTo>
                    <a:pt x="900" y="0"/>
                  </a:moveTo>
                  <a:cubicBezTo>
                    <a:pt x="900" y="1214"/>
                    <a:pt x="900" y="1214"/>
                    <a:pt x="900" y="1214"/>
                  </a:cubicBezTo>
                  <a:cubicBezTo>
                    <a:pt x="673" y="1214"/>
                    <a:pt x="673" y="1214"/>
                    <a:pt x="673" y="1214"/>
                  </a:cubicBezTo>
                  <a:cubicBezTo>
                    <a:pt x="673" y="1121"/>
                    <a:pt x="673" y="1121"/>
                    <a:pt x="673" y="1121"/>
                  </a:cubicBezTo>
                  <a:cubicBezTo>
                    <a:pt x="620" y="1182"/>
                    <a:pt x="534" y="1233"/>
                    <a:pt x="414" y="1233"/>
                  </a:cubicBezTo>
                  <a:cubicBezTo>
                    <a:pt x="298" y="1233"/>
                    <a:pt x="198" y="1195"/>
                    <a:pt x="124" y="1121"/>
                  </a:cubicBezTo>
                  <a:cubicBezTo>
                    <a:pt x="44" y="1041"/>
                    <a:pt x="0" y="926"/>
                    <a:pt x="0" y="796"/>
                  </a:cubicBezTo>
                  <a:cubicBezTo>
                    <a:pt x="0" y="541"/>
                    <a:pt x="171" y="357"/>
                    <a:pt x="406" y="357"/>
                  </a:cubicBezTo>
                  <a:cubicBezTo>
                    <a:pt x="508" y="357"/>
                    <a:pt x="594" y="389"/>
                    <a:pt x="659" y="451"/>
                  </a:cubicBezTo>
                  <a:cubicBezTo>
                    <a:pt x="659" y="0"/>
                    <a:pt x="659" y="0"/>
                    <a:pt x="659" y="0"/>
                  </a:cubicBezTo>
                  <a:lnTo>
                    <a:pt x="900" y="0"/>
                  </a:lnTo>
                  <a:close/>
                  <a:moveTo>
                    <a:pt x="666" y="796"/>
                  </a:moveTo>
                  <a:cubicBezTo>
                    <a:pt x="666" y="683"/>
                    <a:pt x="593" y="569"/>
                    <a:pt x="453" y="569"/>
                  </a:cubicBezTo>
                  <a:cubicBezTo>
                    <a:pt x="314" y="569"/>
                    <a:pt x="241" y="683"/>
                    <a:pt x="241" y="796"/>
                  </a:cubicBezTo>
                  <a:cubicBezTo>
                    <a:pt x="241" y="908"/>
                    <a:pt x="314" y="1022"/>
                    <a:pt x="453" y="1022"/>
                  </a:cubicBezTo>
                  <a:cubicBezTo>
                    <a:pt x="593" y="1022"/>
                    <a:pt x="666" y="908"/>
                    <a:pt x="666" y="79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64" name="Freeform 63">
              <a:extLst>
                <a:ext uri="{FF2B5EF4-FFF2-40B4-BE49-F238E27FC236}">
                  <a16:creationId xmlns:a16="http://schemas.microsoft.com/office/drawing/2014/main" id="{1B806B14-8C07-0F4D-B564-0FBB1ACC3987}"/>
                </a:ext>
              </a:extLst>
            </p:cNvPr>
            <p:cNvSpPr>
              <a:spLocks noEditPoints="1"/>
            </p:cNvSpPr>
            <p:nvPr/>
          </p:nvSpPr>
          <p:spPr bwMode="auto">
            <a:xfrm>
              <a:off x="3269" y="3538"/>
              <a:ext cx="224" cy="217"/>
            </a:xfrm>
            <a:custGeom>
              <a:avLst/>
              <a:gdLst>
                <a:gd name="T0" fmla="*/ 905 w 905"/>
                <a:gd name="T1" fmla="*/ 438 h 877"/>
                <a:gd name="T2" fmla="*/ 453 w 905"/>
                <a:gd name="T3" fmla="*/ 877 h 877"/>
                <a:gd name="T4" fmla="*/ 0 w 905"/>
                <a:gd name="T5" fmla="*/ 438 h 877"/>
                <a:gd name="T6" fmla="*/ 453 w 905"/>
                <a:gd name="T7" fmla="*/ 0 h 877"/>
                <a:gd name="T8" fmla="*/ 905 w 905"/>
                <a:gd name="T9" fmla="*/ 438 h 877"/>
                <a:gd name="T10" fmla="*/ 453 w 905"/>
                <a:gd name="T11" fmla="*/ 212 h 877"/>
                <a:gd name="T12" fmla="*/ 241 w 905"/>
                <a:gd name="T13" fmla="*/ 438 h 877"/>
                <a:gd name="T14" fmla="*/ 453 w 905"/>
                <a:gd name="T15" fmla="*/ 664 h 877"/>
                <a:gd name="T16" fmla="*/ 665 w 905"/>
                <a:gd name="T17" fmla="*/ 438 h 877"/>
                <a:gd name="T18" fmla="*/ 453 w 905"/>
                <a:gd name="T19" fmla="*/ 212 h 8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5" h="877">
                  <a:moveTo>
                    <a:pt x="905" y="438"/>
                  </a:moveTo>
                  <a:cubicBezTo>
                    <a:pt x="905" y="692"/>
                    <a:pt x="715" y="877"/>
                    <a:pt x="453" y="877"/>
                  </a:cubicBezTo>
                  <a:cubicBezTo>
                    <a:pt x="190" y="877"/>
                    <a:pt x="0" y="692"/>
                    <a:pt x="0" y="438"/>
                  </a:cubicBezTo>
                  <a:cubicBezTo>
                    <a:pt x="0" y="184"/>
                    <a:pt x="190" y="0"/>
                    <a:pt x="453" y="0"/>
                  </a:cubicBezTo>
                  <a:cubicBezTo>
                    <a:pt x="715" y="0"/>
                    <a:pt x="905" y="184"/>
                    <a:pt x="905" y="438"/>
                  </a:cubicBezTo>
                  <a:moveTo>
                    <a:pt x="453" y="212"/>
                  </a:moveTo>
                  <a:cubicBezTo>
                    <a:pt x="313" y="212"/>
                    <a:pt x="241" y="326"/>
                    <a:pt x="241" y="438"/>
                  </a:cubicBezTo>
                  <a:cubicBezTo>
                    <a:pt x="241" y="551"/>
                    <a:pt x="313" y="664"/>
                    <a:pt x="453" y="664"/>
                  </a:cubicBezTo>
                  <a:cubicBezTo>
                    <a:pt x="592" y="664"/>
                    <a:pt x="665" y="551"/>
                    <a:pt x="665" y="438"/>
                  </a:cubicBezTo>
                  <a:cubicBezTo>
                    <a:pt x="665" y="326"/>
                    <a:pt x="592" y="212"/>
                    <a:pt x="453" y="21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65" name="Freeform 64">
              <a:extLst>
                <a:ext uri="{FF2B5EF4-FFF2-40B4-BE49-F238E27FC236}">
                  <a16:creationId xmlns:a16="http://schemas.microsoft.com/office/drawing/2014/main" id="{FC43AA3D-6218-5F44-B42C-5CD72E76091E}"/>
                </a:ext>
              </a:extLst>
            </p:cNvPr>
            <p:cNvSpPr>
              <a:spLocks noEditPoints="1"/>
            </p:cNvSpPr>
            <p:nvPr/>
          </p:nvSpPr>
          <p:spPr bwMode="auto">
            <a:xfrm>
              <a:off x="4636" y="3449"/>
              <a:ext cx="95" cy="95"/>
            </a:xfrm>
            <a:custGeom>
              <a:avLst/>
              <a:gdLst>
                <a:gd name="T0" fmla="*/ 118 w 383"/>
                <a:gd name="T1" fmla="*/ 299 h 382"/>
                <a:gd name="T2" fmla="*/ 158 w 383"/>
                <a:gd name="T3" fmla="*/ 299 h 382"/>
                <a:gd name="T4" fmla="*/ 158 w 383"/>
                <a:gd name="T5" fmla="*/ 209 h 382"/>
                <a:gd name="T6" fmla="*/ 187 w 383"/>
                <a:gd name="T7" fmla="*/ 209 h 382"/>
                <a:gd name="T8" fmla="*/ 242 w 383"/>
                <a:gd name="T9" fmla="*/ 299 h 382"/>
                <a:gd name="T10" fmla="*/ 284 w 383"/>
                <a:gd name="T11" fmla="*/ 299 h 382"/>
                <a:gd name="T12" fmla="*/ 227 w 383"/>
                <a:gd name="T13" fmla="*/ 206 h 382"/>
                <a:gd name="T14" fmla="*/ 279 w 383"/>
                <a:gd name="T15" fmla="*/ 146 h 382"/>
                <a:gd name="T16" fmla="*/ 202 w 383"/>
                <a:gd name="T17" fmla="*/ 80 h 382"/>
                <a:gd name="T18" fmla="*/ 118 w 383"/>
                <a:gd name="T19" fmla="*/ 80 h 382"/>
                <a:gd name="T20" fmla="*/ 118 w 383"/>
                <a:gd name="T21" fmla="*/ 299 h 382"/>
                <a:gd name="T22" fmla="*/ 158 w 383"/>
                <a:gd name="T23" fmla="*/ 114 h 382"/>
                <a:gd name="T24" fmla="*/ 187 w 383"/>
                <a:gd name="T25" fmla="*/ 114 h 382"/>
                <a:gd name="T26" fmla="*/ 239 w 383"/>
                <a:gd name="T27" fmla="*/ 145 h 382"/>
                <a:gd name="T28" fmla="*/ 187 w 383"/>
                <a:gd name="T29" fmla="*/ 176 h 382"/>
                <a:gd name="T30" fmla="*/ 158 w 383"/>
                <a:gd name="T31" fmla="*/ 176 h 382"/>
                <a:gd name="T32" fmla="*/ 158 w 383"/>
                <a:gd name="T33" fmla="*/ 114 h 382"/>
                <a:gd name="T34" fmla="*/ 0 w 383"/>
                <a:gd name="T35" fmla="*/ 191 h 382"/>
                <a:gd name="T36" fmla="*/ 191 w 383"/>
                <a:gd name="T37" fmla="*/ 382 h 382"/>
                <a:gd name="T38" fmla="*/ 383 w 383"/>
                <a:gd name="T39" fmla="*/ 191 h 382"/>
                <a:gd name="T40" fmla="*/ 191 w 383"/>
                <a:gd name="T41" fmla="*/ 0 h 382"/>
                <a:gd name="T42" fmla="*/ 0 w 383"/>
                <a:gd name="T43" fmla="*/ 191 h 382"/>
                <a:gd name="T44" fmla="*/ 34 w 383"/>
                <a:gd name="T45" fmla="*/ 191 h 382"/>
                <a:gd name="T46" fmla="*/ 191 w 383"/>
                <a:gd name="T47" fmla="*/ 34 h 382"/>
                <a:gd name="T48" fmla="*/ 349 w 383"/>
                <a:gd name="T49" fmla="*/ 191 h 382"/>
                <a:gd name="T50" fmla="*/ 191 w 383"/>
                <a:gd name="T51" fmla="*/ 349 h 382"/>
                <a:gd name="T52" fmla="*/ 34 w 383"/>
                <a:gd name="T53" fmla="*/ 191 h 3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83" h="382">
                  <a:moveTo>
                    <a:pt x="118" y="299"/>
                  </a:moveTo>
                  <a:cubicBezTo>
                    <a:pt x="158" y="299"/>
                    <a:pt x="158" y="299"/>
                    <a:pt x="158" y="299"/>
                  </a:cubicBezTo>
                  <a:cubicBezTo>
                    <a:pt x="158" y="209"/>
                    <a:pt x="158" y="209"/>
                    <a:pt x="158" y="209"/>
                  </a:cubicBezTo>
                  <a:cubicBezTo>
                    <a:pt x="187" y="209"/>
                    <a:pt x="187" y="209"/>
                    <a:pt x="187" y="209"/>
                  </a:cubicBezTo>
                  <a:cubicBezTo>
                    <a:pt x="242" y="299"/>
                    <a:pt x="242" y="299"/>
                    <a:pt x="242" y="299"/>
                  </a:cubicBezTo>
                  <a:cubicBezTo>
                    <a:pt x="284" y="299"/>
                    <a:pt x="284" y="299"/>
                    <a:pt x="284" y="299"/>
                  </a:cubicBezTo>
                  <a:cubicBezTo>
                    <a:pt x="227" y="206"/>
                    <a:pt x="227" y="206"/>
                    <a:pt x="227" y="206"/>
                  </a:cubicBezTo>
                  <a:cubicBezTo>
                    <a:pt x="257" y="203"/>
                    <a:pt x="279" y="184"/>
                    <a:pt x="279" y="146"/>
                  </a:cubicBezTo>
                  <a:cubicBezTo>
                    <a:pt x="279" y="104"/>
                    <a:pt x="255" y="80"/>
                    <a:pt x="202" y="80"/>
                  </a:cubicBezTo>
                  <a:cubicBezTo>
                    <a:pt x="118" y="80"/>
                    <a:pt x="118" y="80"/>
                    <a:pt x="118" y="80"/>
                  </a:cubicBezTo>
                  <a:lnTo>
                    <a:pt x="118" y="299"/>
                  </a:lnTo>
                  <a:close/>
                  <a:moveTo>
                    <a:pt x="158" y="114"/>
                  </a:moveTo>
                  <a:cubicBezTo>
                    <a:pt x="187" y="114"/>
                    <a:pt x="187" y="114"/>
                    <a:pt x="187" y="114"/>
                  </a:cubicBezTo>
                  <a:cubicBezTo>
                    <a:pt x="212" y="114"/>
                    <a:pt x="239" y="115"/>
                    <a:pt x="239" y="145"/>
                  </a:cubicBezTo>
                  <a:cubicBezTo>
                    <a:pt x="239" y="174"/>
                    <a:pt x="212" y="176"/>
                    <a:pt x="187" y="176"/>
                  </a:cubicBezTo>
                  <a:cubicBezTo>
                    <a:pt x="158" y="176"/>
                    <a:pt x="158" y="176"/>
                    <a:pt x="158" y="176"/>
                  </a:cubicBezTo>
                  <a:lnTo>
                    <a:pt x="158" y="114"/>
                  </a:lnTo>
                  <a:close/>
                  <a:moveTo>
                    <a:pt x="0" y="191"/>
                  </a:moveTo>
                  <a:cubicBezTo>
                    <a:pt x="0" y="296"/>
                    <a:pt x="86" y="382"/>
                    <a:pt x="191" y="382"/>
                  </a:cubicBezTo>
                  <a:cubicBezTo>
                    <a:pt x="297" y="382"/>
                    <a:pt x="383" y="296"/>
                    <a:pt x="383" y="191"/>
                  </a:cubicBezTo>
                  <a:cubicBezTo>
                    <a:pt x="383" y="86"/>
                    <a:pt x="297" y="0"/>
                    <a:pt x="191" y="0"/>
                  </a:cubicBezTo>
                  <a:cubicBezTo>
                    <a:pt x="86" y="0"/>
                    <a:pt x="0" y="86"/>
                    <a:pt x="0" y="191"/>
                  </a:cubicBezTo>
                  <a:moveTo>
                    <a:pt x="34" y="191"/>
                  </a:moveTo>
                  <a:cubicBezTo>
                    <a:pt x="34" y="104"/>
                    <a:pt x="104" y="34"/>
                    <a:pt x="191" y="34"/>
                  </a:cubicBezTo>
                  <a:cubicBezTo>
                    <a:pt x="278" y="34"/>
                    <a:pt x="349" y="104"/>
                    <a:pt x="349" y="191"/>
                  </a:cubicBezTo>
                  <a:cubicBezTo>
                    <a:pt x="349" y="278"/>
                    <a:pt x="278" y="349"/>
                    <a:pt x="191" y="349"/>
                  </a:cubicBezTo>
                  <a:cubicBezTo>
                    <a:pt x="104" y="349"/>
                    <a:pt x="34" y="278"/>
                    <a:pt x="34" y="191"/>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66" name="Freeform 65">
              <a:extLst>
                <a:ext uri="{FF2B5EF4-FFF2-40B4-BE49-F238E27FC236}">
                  <a16:creationId xmlns:a16="http://schemas.microsoft.com/office/drawing/2014/main" id="{FA52EE74-F9BE-524C-BDD0-CD2D80ADBAA6}"/>
                </a:ext>
              </a:extLst>
            </p:cNvPr>
            <p:cNvSpPr>
              <a:spLocks/>
            </p:cNvSpPr>
            <p:nvPr/>
          </p:nvSpPr>
          <p:spPr bwMode="auto">
            <a:xfrm>
              <a:off x="3768" y="1895"/>
              <a:ext cx="434" cy="1109"/>
            </a:xfrm>
            <a:custGeom>
              <a:avLst/>
              <a:gdLst>
                <a:gd name="T0" fmla="*/ 509 w 1751"/>
                <a:gd name="T1" fmla="*/ 0 h 4481"/>
                <a:gd name="T2" fmla="*/ 509 w 1751"/>
                <a:gd name="T3" fmla="*/ 2792 h 4481"/>
                <a:gd name="T4" fmla="*/ 161 w 1751"/>
                <a:gd name="T5" fmla="*/ 2452 h 4481"/>
                <a:gd name="T6" fmla="*/ 161 w 1751"/>
                <a:gd name="T7" fmla="*/ 3527 h 4481"/>
                <a:gd name="T8" fmla="*/ 19 w 1751"/>
                <a:gd name="T9" fmla="*/ 4087 h 4481"/>
                <a:gd name="T10" fmla="*/ 17 w 1751"/>
                <a:gd name="T11" fmla="*/ 4090 h 4481"/>
                <a:gd name="T12" fmla="*/ 0 w 1751"/>
                <a:gd name="T13" fmla="*/ 4110 h 4481"/>
                <a:gd name="T14" fmla="*/ 393 w 1751"/>
                <a:gd name="T15" fmla="*/ 4481 h 4481"/>
                <a:gd name="T16" fmla="*/ 1751 w 1751"/>
                <a:gd name="T17" fmla="*/ 4481 h 4481"/>
                <a:gd name="T18" fmla="*/ 1751 w 1751"/>
                <a:gd name="T19" fmla="*/ 0 h 4481"/>
                <a:gd name="T20" fmla="*/ 509 w 1751"/>
                <a:gd name="T21" fmla="*/ 0 h 44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51" h="4481">
                  <a:moveTo>
                    <a:pt x="509" y="0"/>
                  </a:moveTo>
                  <a:cubicBezTo>
                    <a:pt x="509" y="2792"/>
                    <a:pt x="509" y="2792"/>
                    <a:pt x="509" y="2792"/>
                  </a:cubicBezTo>
                  <a:cubicBezTo>
                    <a:pt x="161" y="2452"/>
                    <a:pt x="161" y="2452"/>
                    <a:pt x="161" y="2452"/>
                  </a:cubicBezTo>
                  <a:cubicBezTo>
                    <a:pt x="161" y="3527"/>
                    <a:pt x="161" y="3527"/>
                    <a:pt x="161" y="3527"/>
                  </a:cubicBezTo>
                  <a:cubicBezTo>
                    <a:pt x="161" y="3775"/>
                    <a:pt x="139" y="3938"/>
                    <a:pt x="19" y="4087"/>
                  </a:cubicBezTo>
                  <a:cubicBezTo>
                    <a:pt x="17" y="4090"/>
                    <a:pt x="17" y="4090"/>
                    <a:pt x="17" y="4090"/>
                  </a:cubicBezTo>
                  <a:cubicBezTo>
                    <a:pt x="11" y="4097"/>
                    <a:pt x="5" y="4103"/>
                    <a:pt x="0" y="4110"/>
                  </a:cubicBezTo>
                  <a:cubicBezTo>
                    <a:pt x="393" y="4481"/>
                    <a:pt x="393" y="4481"/>
                    <a:pt x="393" y="4481"/>
                  </a:cubicBezTo>
                  <a:cubicBezTo>
                    <a:pt x="1751" y="4481"/>
                    <a:pt x="1751" y="4481"/>
                    <a:pt x="1751" y="4481"/>
                  </a:cubicBezTo>
                  <a:cubicBezTo>
                    <a:pt x="1751" y="0"/>
                    <a:pt x="1751" y="0"/>
                    <a:pt x="1751" y="0"/>
                  </a:cubicBezTo>
                  <a:lnTo>
                    <a:pt x="50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67" name="Freeform 66">
              <a:extLst>
                <a:ext uri="{FF2B5EF4-FFF2-40B4-BE49-F238E27FC236}">
                  <a16:creationId xmlns:a16="http://schemas.microsoft.com/office/drawing/2014/main" id="{CBEDE5D4-5500-494D-A1EE-CB749746A46D}"/>
                </a:ext>
              </a:extLst>
            </p:cNvPr>
            <p:cNvSpPr>
              <a:spLocks/>
            </p:cNvSpPr>
            <p:nvPr/>
          </p:nvSpPr>
          <p:spPr bwMode="auto">
            <a:xfrm>
              <a:off x="2850" y="1895"/>
              <a:ext cx="523" cy="1109"/>
            </a:xfrm>
            <a:custGeom>
              <a:avLst/>
              <a:gdLst>
                <a:gd name="T0" fmla="*/ 1242 w 2112"/>
                <a:gd name="T1" fmla="*/ 1773 h 4481"/>
                <a:gd name="T2" fmla="*/ 1839 w 2112"/>
                <a:gd name="T3" fmla="*/ 2338 h 4481"/>
                <a:gd name="T4" fmla="*/ 1856 w 2112"/>
                <a:gd name="T5" fmla="*/ 1719 h 4481"/>
                <a:gd name="T6" fmla="*/ 1912 w 2112"/>
                <a:gd name="T7" fmla="*/ 1629 h 4481"/>
                <a:gd name="T8" fmla="*/ 2062 w 2112"/>
                <a:gd name="T9" fmla="*/ 795 h 4481"/>
                <a:gd name="T10" fmla="*/ 2112 w 2112"/>
                <a:gd name="T11" fmla="*/ 740 h 4481"/>
                <a:gd name="T12" fmla="*/ 1354 w 2112"/>
                <a:gd name="T13" fmla="*/ 0 h 4481"/>
                <a:gd name="T14" fmla="*/ 0 w 2112"/>
                <a:gd name="T15" fmla="*/ 0 h 4481"/>
                <a:gd name="T16" fmla="*/ 0 w 2112"/>
                <a:gd name="T17" fmla="*/ 4481 h 4481"/>
                <a:gd name="T18" fmla="*/ 1242 w 2112"/>
                <a:gd name="T19" fmla="*/ 4481 h 4481"/>
                <a:gd name="T20" fmla="*/ 1242 w 2112"/>
                <a:gd name="T21" fmla="*/ 1773 h 44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12" h="4481">
                  <a:moveTo>
                    <a:pt x="1242" y="1773"/>
                  </a:moveTo>
                  <a:cubicBezTo>
                    <a:pt x="1242" y="1773"/>
                    <a:pt x="1790" y="2292"/>
                    <a:pt x="1839" y="2338"/>
                  </a:cubicBezTo>
                  <a:cubicBezTo>
                    <a:pt x="1787" y="2144"/>
                    <a:pt x="1751" y="1887"/>
                    <a:pt x="1856" y="1719"/>
                  </a:cubicBezTo>
                  <a:cubicBezTo>
                    <a:pt x="1912" y="1629"/>
                    <a:pt x="1912" y="1629"/>
                    <a:pt x="1912" y="1629"/>
                  </a:cubicBezTo>
                  <a:cubicBezTo>
                    <a:pt x="1855" y="1323"/>
                    <a:pt x="1869" y="1006"/>
                    <a:pt x="2062" y="795"/>
                  </a:cubicBezTo>
                  <a:cubicBezTo>
                    <a:pt x="2112" y="740"/>
                    <a:pt x="2112" y="740"/>
                    <a:pt x="2112" y="740"/>
                  </a:cubicBezTo>
                  <a:cubicBezTo>
                    <a:pt x="1354" y="0"/>
                    <a:pt x="1354" y="0"/>
                    <a:pt x="1354" y="0"/>
                  </a:cubicBezTo>
                  <a:cubicBezTo>
                    <a:pt x="0" y="0"/>
                    <a:pt x="0" y="0"/>
                    <a:pt x="0" y="0"/>
                  </a:cubicBezTo>
                  <a:cubicBezTo>
                    <a:pt x="0" y="4481"/>
                    <a:pt x="0" y="4481"/>
                    <a:pt x="0" y="4481"/>
                  </a:cubicBezTo>
                  <a:cubicBezTo>
                    <a:pt x="1242" y="4481"/>
                    <a:pt x="1242" y="4481"/>
                    <a:pt x="1242" y="4481"/>
                  </a:cubicBezTo>
                  <a:lnTo>
                    <a:pt x="1242" y="177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68" name="Freeform 67">
              <a:extLst>
                <a:ext uri="{FF2B5EF4-FFF2-40B4-BE49-F238E27FC236}">
                  <a16:creationId xmlns:a16="http://schemas.microsoft.com/office/drawing/2014/main" id="{3374E4E7-3472-E34E-9607-8FC0F351B613}"/>
                </a:ext>
              </a:extLst>
            </p:cNvPr>
            <p:cNvSpPr>
              <a:spLocks/>
            </p:cNvSpPr>
            <p:nvPr/>
          </p:nvSpPr>
          <p:spPr bwMode="auto">
            <a:xfrm>
              <a:off x="3792" y="3082"/>
              <a:ext cx="352" cy="210"/>
            </a:xfrm>
            <a:custGeom>
              <a:avLst/>
              <a:gdLst>
                <a:gd name="T0" fmla="*/ 264 w 1420"/>
                <a:gd name="T1" fmla="*/ 22 h 850"/>
                <a:gd name="T2" fmla="*/ 977 w 1420"/>
                <a:gd name="T3" fmla="*/ 90 h 850"/>
                <a:gd name="T4" fmla="*/ 1098 w 1420"/>
                <a:gd name="T5" fmla="*/ 235 h 850"/>
                <a:gd name="T6" fmla="*/ 839 w 1420"/>
                <a:gd name="T7" fmla="*/ 204 h 850"/>
                <a:gd name="T8" fmla="*/ 830 w 1420"/>
                <a:gd name="T9" fmla="*/ 299 h 850"/>
                <a:gd name="T10" fmla="*/ 1115 w 1420"/>
                <a:gd name="T11" fmla="*/ 258 h 850"/>
                <a:gd name="T12" fmla="*/ 1406 w 1420"/>
                <a:gd name="T13" fmla="*/ 463 h 850"/>
                <a:gd name="T14" fmla="*/ 1104 w 1420"/>
                <a:gd name="T15" fmla="*/ 436 h 850"/>
                <a:gd name="T16" fmla="*/ 636 w 1420"/>
                <a:gd name="T17" fmla="*/ 622 h 850"/>
                <a:gd name="T18" fmla="*/ 120 w 1420"/>
                <a:gd name="T19" fmla="*/ 850 h 850"/>
                <a:gd name="T20" fmla="*/ 429 w 1420"/>
                <a:gd name="T21" fmla="*/ 520 h 850"/>
                <a:gd name="T22" fmla="*/ 131 w 1420"/>
                <a:gd name="T23" fmla="*/ 416 h 850"/>
                <a:gd name="T24" fmla="*/ 375 w 1420"/>
                <a:gd name="T25" fmla="*/ 203 h 850"/>
                <a:gd name="T26" fmla="*/ 0 w 1420"/>
                <a:gd name="T27" fmla="*/ 0 h 850"/>
                <a:gd name="T28" fmla="*/ 264 w 1420"/>
                <a:gd name="T29" fmla="*/ 22 h 8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420" h="850">
                  <a:moveTo>
                    <a:pt x="264" y="22"/>
                  </a:moveTo>
                  <a:cubicBezTo>
                    <a:pt x="558" y="44"/>
                    <a:pt x="767" y="64"/>
                    <a:pt x="977" y="90"/>
                  </a:cubicBezTo>
                  <a:cubicBezTo>
                    <a:pt x="1057" y="100"/>
                    <a:pt x="1088" y="192"/>
                    <a:pt x="1098" y="235"/>
                  </a:cubicBezTo>
                  <a:cubicBezTo>
                    <a:pt x="998" y="210"/>
                    <a:pt x="839" y="204"/>
                    <a:pt x="839" y="204"/>
                  </a:cubicBezTo>
                  <a:cubicBezTo>
                    <a:pt x="830" y="299"/>
                    <a:pt x="830" y="299"/>
                    <a:pt x="830" y="299"/>
                  </a:cubicBezTo>
                  <a:cubicBezTo>
                    <a:pt x="830" y="299"/>
                    <a:pt x="966" y="260"/>
                    <a:pt x="1115" y="258"/>
                  </a:cubicBezTo>
                  <a:cubicBezTo>
                    <a:pt x="1115" y="258"/>
                    <a:pt x="1420" y="257"/>
                    <a:pt x="1406" y="463"/>
                  </a:cubicBezTo>
                  <a:cubicBezTo>
                    <a:pt x="1322" y="405"/>
                    <a:pt x="1152" y="428"/>
                    <a:pt x="1104" y="436"/>
                  </a:cubicBezTo>
                  <a:cubicBezTo>
                    <a:pt x="951" y="461"/>
                    <a:pt x="805" y="532"/>
                    <a:pt x="636" y="622"/>
                  </a:cubicBezTo>
                  <a:cubicBezTo>
                    <a:pt x="482" y="703"/>
                    <a:pt x="315" y="791"/>
                    <a:pt x="120" y="850"/>
                  </a:cubicBezTo>
                  <a:cubicBezTo>
                    <a:pt x="206" y="767"/>
                    <a:pt x="429" y="520"/>
                    <a:pt x="429" y="520"/>
                  </a:cubicBezTo>
                  <a:cubicBezTo>
                    <a:pt x="131" y="416"/>
                    <a:pt x="131" y="416"/>
                    <a:pt x="131" y="416"/>
                  </a:cubicBezTo>
                  <a:cubicBezTo>
                    <a:pt x="375" y="203"/>
                    <a:pt x="375" y="203"/>
                    <a:pt x="375" y="203"/>
                  </a:cubicBezTo>
                  <a:cubicBezTo>
                    <a:pt x="0" y="0"/>
                    <a:pt x="0" y="0"/>
                    <a:pt x="0" y="0"/>
                  </a:cubicBezTo>
                  <a:cubicBezTo>
                    <a:pt x="93" y="8"/>
                    <a:pt x="182" y="15"/>
                    <a:pt x="264" y="2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69" name="Freeform 68">
              <a:extLst>
                <a:ext uri="{FF2B5EF4-FFF2-40B4-BE49-F238E27FC236}">
                  <a16:creationId xmlns:a16="http://schemas.microsoft.com/office/drawing/2014/main" id="{7A7FB9A9-D903-AB44-8509-AEDFA873CE75}"/>
                </a:ext>
              </a:extLst>
            </p:cNvPr>
            <p:cNvSpPr>
              <a:spLocks/>
            </p:cNvSpPr>
            <p:nvPr/>
          </p:nvSpPr>
          <p:spPr bwMode="auto">
            <a:xfrm>
              <a:off x="3750" y="1503"/>
              <a:ext cx="59" cy="1386"/>
            </a:xfrm>
            <a:custGeom>
              <a:avLst/>
              <a:gdLst>
                <a:gd name="T0" fmla="*/ 236 w 236"/>
                <a:gd name="T1" fmla="*/ 0 h 5594"/>
                <a:gd name="T2" fmla="*/ 116 w 236"/>
                <a:gd name="T3" fmla="*/ 1792 h 5594"/>
                <a:gd name="T4" fmla="*/ 116 w 236"/>
                <a:gd name="T5" fmla="*/ 5108 h 5594"/>
                <a:gd name="T6" fmla="*/ 0 w 236"/>
                <a:gd name="T7" fmla="*/ 5594 h 5594"/>
              </a:gdLst>
              <a:ahLst/>
              <a:cxnLst>
                <a:cxn ang="0">
                  <a:pos x="T0" y="T1"/>
                </a:cxn>
                <a:cxn ang="0">
                  <a:pos x="T2" y="T3"/>
                </a:cxn>
                <a:cxn ang="0">
                  <a:pos x="T4" y="T5"/>
                </a:cxn>
                <a:cxn ang="0">
                  <a:pos x="T6" y="T7"/>
                </a:cxn>
              </a:cxnLst>
              <a:rect l="0" t="0" r="r" b="b"/>
              <a:pathLst>
                <a:path w="236" h="5594">
                  <a:moveTo>
                    <a:pt x="236" y="0"/>
                  </a:moveTo>
                  <a:cubicBezTo>
                    <a:pt x="236" y="0"/>
                    <a:pt x="116" y="644"/>
                    <a:pt x="116" y="1792"/>
                  </a:cubicBezTo>
                  <a:cubicBezTo>
                    <a:pt x="116" y="5108"/>
                    <a:pt x="116" y="5108"/>
                    <a:pt x="116" y="5108"/>
                  </a:cubicBezTo>
                  <a:cubicBezTo>
                    <a:pt x="116" y="5337"/>
                    <a:pt x="96" y="5474"/>
                    <a:pt x="0" y="559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70" name="Freeform 69">
              <a:extLst>
                <a:ext uri="{FF2B5EF4-FFF2-40B4-BE49-F238E27FC236}">
                  <a16:creationId xmlns:a16="http://schemas.microsoft.com/office/drawing/2014/main" id="{FC28484A-7EDA-F545-869F-81A3A5093258}"/>
                </a:ext>
              </a:extLst>
            </p:cNvPr>
            <p:cNvSpPr>
              <a:spLocks/>
            </p:cNvSpPr>
            <p:nvPr/>
          </p:nvSpPr>
          <p:spPr bwMode="auto">
            <a:xfrm>
              <a:off x="2919" y="1494"/>
              <a:ext cx="934" cy="1816"/>
            </a:xfrm>
            <a:custGeom>
              <a:avLst/>
              <a:gdLst>
                <a:gd name="T0" fmla="*/ 3358 w 3774"/>
                <a:gd name="T1" fmla="*/ 5632 h 7335"/>
                <a:gd name="T2" fmla="*/ 3079 w 3774"/>
                <a:gd name="T3" fmla="*/ 6187 h 7335"/>
                <a:gd name="T4" fmla="*/ 3079 w 3774"/>
                <a:gd name="T5" fmla="*/ 6187 h 7335"/>
                <a:gd name="T6" fmla="*/ 3302 w 3774"/>
                <a:gd name="T7" fmla="*/ 6410 h 7335"/>
                <a:gd name="T8" fmla="*/ 3720 w 3774"/>
                <a:gd name="T9" fmla="*/ 6636 h 7335"/>
                <a:gd name="T10" fmla="*/ 3449 w 3774"/>
                <a:gd name="T11" fmla="*/ 6873 h 7335"/>
                <a:gd name="T12" fmla="*/ 3774 w 3774"/>
                <a:gd name="T13" fmla="*/ 6975 h 7335"/>
                <a:gd name="T14" fmla="*/ 3441 w 3774"/>
                <a:gd name="T15" fmla="*/ 7312 h 7335"/>
                <a:gd name="T16" fmla="*/ 3169 w 3774"/>
                <a:gd name="T17" fmla="*/ 7335 h 7335"/>
                <a:gd name="T18" fmla="*/ 1281 w 3774"/>
                <a:gd name="T19" fmla="*/ 6924 h 7335"/>
                <a:gd name="T20" fmla="*/ 636 w 3774"/>
                <a:gd name="T21" fmla="*/ 7086 h 7335"/>
                <a:gd name="T22" fmla="*/ 823 w 3774"/>
                <a:gd name="T23" fmla="*/ 6882 h 7335"/>
                <a:gd name="T24" fmla="*/ 339 w 3774"/>
                <a:gd name="T25" fmla="*/ 6912 h 7335"/>
                <a:gd name="T26" fmla="*/ 675 w 3774"/>
                <a:gd name="T27" fmla="*/ 6684 h 7335"/>
                <a:gd name="T28" fmla="*/ 0 w 3774"/>
                <a:gd name="T29" fmla="*/ 6500 h 7335"/>
                <a:gd name="T30" fmla="*/ 1280 w 3774"/>
                <a:gd name="T31" fmla="*/ 6465 h 7335"/>
                <a:gd name="T32" fmla="*/ 2083 w 3774"/>
                <a:gd name="T33" fmla="*/ 6498 h 7335"/>
                <a:gd name="T34" fmla="*/ 1500 w 3774"/>
                <a:gd name="T35" fmla="*/ 6006 h 7335"/>
                <a:gd name="T36" fmla="*/ 1976 w 3774"/>
                <a:gd name="T37" fmla="*/ 6078 h 7335"/>
                <a:gd name="T38" fmla="*/ 1432 w 3774"/>
                <a:gd name="T39" fmla="*/ 5412 h 7335"/>
                <a:gd name="T40" fmla="*/ 1964 w 3774"/>
                <a:gd name="T41" fmla="*/ 5598 h 7335"/>
                <a:gd name="T42" fmla="*/ 1482 w 3774"/>
                <a:gd name="T43" fmla="*/ 4831 h 7335"/>
                <a:gd name="T44" fmla="*/ 1902 w 3774"/>
                <a:gd name="T45" fmla="*/ 5096 h 7335"/>
                <a:gd name="T46" fmla="*/ 1544 w 3774"/>
                <a:gd name="T47" fmla="*/ 4223 h 7335"/>
                <a:gd name="T48" fmla="*/ 1936 w 3774"/>
                <a:gd name="T49" fmla="*/ 4487 h 7335"/>
                <a:gd name="T50" fmla="*/ 1678 w 3774"/>
                <a:gd name="T51" fmla="*/ 3401 h 7335"/>
                <a:gd name="T52" fmla="*/ 2063 w 3774"/>
                <a:gd name="T53" fmla="*/ 4032 h 7335"/>
                <a:gd name="T54" fmla="*/ 1872 w 3774"/>
                <a:gd name="T55" fmla="*/ 2493 h 7335"/>
                <a:gd name="T56" fmla="*/ 2345 w 3774"/>
                <a:gd name="T57" fmla="*/ 3685 h 7335"/>
                <a:gd name="T58" fmla="*/ 2340 w 3774"/>
                <a:gd name="T59" fmla="*/ 1341 h 7335"/>
                <a:gd name="T60" fmla="*/ 2525 w 3774"/>
                <a:gd name="T61" fmla="*/ 2863 h 7335"/>
                <a:gd name="T62" fmla="*/ 3007 w 3774"/>
                <a:gd name="T63" fmla="*/ 550 h 7335"/>
                <a:gd name="T64" fmla="*/ 2911 w 3774"/>
                <a:gd name="T65" fmla="*/ 2268 h 7335"/>
                <a:gd name="T66" fmla="*/ 3594 w 3774"/>
                <a:gd name="T67" fmla="*/ 38 h 73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774" h="7335">
                  <a:moveTo>
                    <a:pt x="3358" y="5632"/>
                  </a:moveTo>
                  <a:cubicBezTo>
                    <a:pt x="3219" y="5793"/>
                    <a:pt x="3040" y="6021"/>
                    <a:pt x="3079" y="6187"/>
                  </a:cubicBezTo>
                  <a:cubicBezTo>
                    <a:pt x="3079" y="6187"/>
                    <a:pt x="3079" y="6187"/>
                    <a:pt x="3079" y="6187"/>
                  </a:cubicBezTo>
                  <a:cubicBezTo>
                    <a:pt x="3107" y="6325"/>
                    <a:pt x="3302" y="6410"/>
                    <a:pt x="3302" y="6410"/>
                  </a:cubicBezTo>
                  <a:cubicBezTo>
                    <a:pt x="3720" y="6636"/>
                    <a:pt x="3720" y="6636"/>
                    <a:pt x="3720" y="6636"/>
                  </a:cubicBezTo>
                  <a:cubicBezTo>
                    <a:pt x="3449" y="6873"/>
                    <a:pt x="3449" y="6873"/>
                    <a:pt x="3449" y="6873"/>
                  </a:cubicBezTo>
                  <a:cubicBezTo>
                    <a:pt x="3774" y="6975"/>
                    <a:pt x="3774" y="6975"/>
                    <a:pt x="3774" y="6975"/>
                  </a:cubicBezTo>
                  <a:cubicBezTo>
                    <a:pt x="3774" y="6975"/>
                    <a:pt x="3476" y="7281"/>
                    <a:pt x="3441" y="7312"/>
                  </a:cubicBezTo>
                  <a:cubicBezTo>
                    <a:pt x="3356" y="7326"/>
                    <a:pt x="3266" y="7335"/>
                    <a:pt x="3169" y="7335"/>
                  </a:cubicBezTo>
                  <a:cubicBezTo>
                    <a:pt x="2479" y="7335"/>
                    <a:pt x="1519" y="6927"/>
                    <a:pt x="1281" y="6924"/>
                  </a:cubicBezTo>
                  <a:cubicBezTo>
                    <a:pt x="995" y="6921"/>
                    <a:pt x="636" y="7086"/>
                    <a:pt x="636" y="7086"/>
                  </a:cubicBezTo>
                  <a:cubicBezTo>
                    <a:pt x="823" y="6882"/>
                    <a:pt x="823" y="6882"/>
                    <a:pt x="823" y="6882"/>
                  </a:cubicBezTo>
                  <a:cubicBezTo>
                    <a:pt x="823" y="6882"/>
                    <a:pt x="577" y="6932"/>
                    <a:pt x="339" y="6912"/>
                  </a:cubicBezTo>
                  <a:cubicBezTo>
                    <a:pt x="675" y="6684"/>
                    <a:pt x="675" y="6684"/>
                    <a:pt x="675" y="6684"/>
                  </a:cubicBezTo>
                  <a:cubicBezTo>
                    <a:pt x="380" y="6674"/>
                    <a:pt x="122" y="6586"/>
                    <a:pt x="0" y="6500"/>
                  </a:cubicBezTo>
                  <a:cubicBezTo>
                    <a:pt x="0" y="6500"/>
                    <a:pt x="543" y="6457"/>
                    <a:pt x="1280" y="6465"/>
                  </a:cubicBezTo>
                  <a:cubicBezTo>
                    <a:pt x="1578" y="6468"/>
                    <a:pt x="2083" y="6498"/>
                    <a:pt x="2083" y="6498"/>
                  </a:cubicBezTo>
                  <a:cubicBezTo>
                    <a:pt x="1834" y="6392"/>
                    <a:pt x="1600" y="6252"/>
                    <a:pt x="1500" y="6006"/>
                  </a:cubicBezTo>
                  <a:cubicBezTo>
                    <a:pt x="1976" y="6078"/>
                    <a:pt x="1976" y="6078"/>
                    <a:pt x="1976" y="6078"/>
                  </a:cubicBezTo>
                  <a:cubicBezTo>
                    <a:pt x="1776" y="5956"/>
                    <a:pt x="1486" y="5649"/>
                    <a:pt x="1432" y="5412"/>
                  </a:cubicBezTo>
                  <a:cubicBezTo>
                    <a:pt x="1964" y="5598"/>
                    <a:pt x="1964" y="5598"/>
                    <a:pt x="1964" y="5598"/>
                  </a:cubicBezTo>
                  <a:cubicBezTo>
                    <a:pt x="1869" y="5496"/>
                    <a:pt x="1541" y="5188"/>
                    <a:pt x="1482" y="4831"/>
                  </a:cubicBezTo>
                  <a:cubicBezTo>
                    <a:pt x="1902" y="5096"/>
                    <a:pt x="1902" y="5096"/>
                    <a:pt x="1902" y="5096"/>
                  </a:cubicBezTo>
                  <a:cubicBezTo>
                    <a:pt x="1792" y="4985"/>
                    <a:pt x="1493" y="4396"/>
                    <a:pt x="1544" y="4223"/>
                  </a:cubicBezTo>
                  <a:cubicBezTo>
                    <a:pt x="1936" y="4487"/>
                    <a:pt x="1936" y="4487"/>
                    <a:pt x="1936" y="4487"/>
                  </a:cubicBezTo>
                  <a:cubicBezTo>
                    <a:pt x="1748" y="4255"/>
                    <a:pt x="1529" y="3640"/>
                    <a:pt x="1678" y="3401"/>
                  </a:cubicBezTo>
                  <a:cubicBezTo>
                    <a:pt x="1797" y="3864"/>
                    <a:pt x="2063" y="4032"/>
                    <a:pt x="2063" y="4032"/>
                  </a:cubicBezTo>
                  <a:cubicBezTo>
                    <a:pt x="1889" y="3780"/>
                    <a:pt x="1513" y="2887"/>
                    <a:pt x="1872" y="2493"/>
                  </a:cubicBezTo>
                  <a:cubicBezTo>
                    <a:pt x="1966" y="3384"/>
                    <a:pt x="2345" y="3685"/>
                    <a:pt x="2345" y="3685"/>
                  </a:cubicBezTo>
                  <a:cubicBezTo>
                    <a:pt x="2031" y="3186"/>
                    <a:pt x="1674" y="1652"/>
                    <a:pt x="2340" y="1341"/>
                  </a:cubicBezTo>
                  <a:cubicBezTo>
                    <a:pt x="2210" y="2327"/>
                    <a:pt x="2525" y="2863"/>
                    <a:pt x="2525" y="2863"/>
                  </a:cubicBezTo>
                  <a:cubicBezTo>
                    <a:pt x="2326" y="1955"/>
                    <a:pt x="2332" y="668"/>
                    <a:pt x="3007" y="550"/>
                  </a:cubicBezTo>
                  <a:cubicBezTo>
                    <a:pt x="2676" y="1520"/>
                    <a:pt x="2911" y="2268"/>
                    <a:pt x="2911" y="2268"/>
                  </a:cubicBezTo>
                  <a:cubicBezTo>
                    <a:pt x="2863" y="0"/>
                    <a:pt x="3594" y="38"/>
                    <a:pt x="3594" y="3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grpSp>
      <p:sp>
        <p:nvSpPr>
          <p:cNvPr id="25" name="Text Placeholder 3">
            <a:extLst>
              <a:ext uri="{FF2B5EF4-FFF2-40B4-BE49-F238E27FC236}">
                <a16:creationId xmlns:a16="http://schemas.microsoft.com/office/drawing/2014/main" id="{4EC5CC60-4AF4-F644-B8B0-4E05C102B845}"/>
              </a:ext>
            </a:extLst>
          </p:cNvPr>
          <p:cNvSpPr>
            <a:spLocks noGrp="1"/>
          </p:cNvSpPr>
          <p:nvPr>
            <p:ph type="body" sz="quarter" idx="12"/>
          </p:nvPr>
        </p:nvSpPr>
        <p:spPr>
          <a:xfrm>
            <a:off x="504831" y="2442198"/>
            <a:ext cx="2726057" cy="986806"/>
          </a:xfrm>
        </p:spPr>
        <p:txBody>
          <a:bodyPr/>
          <a:lstStyle>
            <a:lvl1pPr>
              <a:lnSpc>
                <a:spcPct val="112000"/>
              </a:lnSpc>
              <a:spcAft>
                <a:spcPts val="0"/>
              </a:spcAft>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p:txBody>
      </p:sp>
      <p:sp>
        <p:nvSpPr>
          <p:cNvPr id="27" name="Text Placeholder 3">
            <a:extLst>
              <a:ext uri="{FF2B5EF4-FFF2-40B4-BE49-F238E27FC236}">
                <a16:creationId xmlns:a16="http://schemas.microsoft.com/office/drawing/2014/main" id="{1BAE55D1-F868-E44A-BDBA-496630A1EDA5}"/>
              </a:ext>
            </a:extLst>
          </p:cNvPr>
          <p:cNvSpPr>
            <a:spLocks noGrp="1"/>
          </p:cNvSpPr>
          <p:nvPr>
            <p:ph type="body" sz="quarter" idx="13"/>
          </p:nvPr>
        </p:nvSpPr>
        <p:spPr>
          <a:xfrm>
            <a:off x="3549339" y="2442198"/>
            <a:ext cx="2726057" cy="986806"/>
          </a:xfrm>
        </p:spPr>
        <p:txBody>
          <a:bodyPr/>
          <a:lstStyle>
            <a:lvl1pPr>
              <a:lnSpc>
                <a:spcPct val="112000"/>
              </a:lnSpc>
              <a:spcAft>
                <a:spcPts val="0"/>
              </a:spcAft>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211359008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1_Title Slide 2">
    <p:bg>
      <p:bgPr>
        <a:solidFill>
          <a:schemeClr val="tx2"/>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4AB28DA-8311-4C87-A270-A26F9574C96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grpSp>
        <p:nvGrpSpPr>
          <p:cNvPr id="26" name="Group 25">
            <a:extLst>
              <a:ext uri="{FF2B5EF4-FFF2-40B4-BE49-F238E27FC236}">
                <a16:creationId xmlns:a16="http://schemas.microsoft.com/office/drawing/2014/main" id="{064BF798-CC9D-1541-AE53-488C61F2485D}"/>
              </a:ext>
            </a:extLst>
          </p:cNvPr>
          <p:cNvGrpSpPr>
            <a:grpSpLocks noChangeAspect="1"/>
          </p:cNvGrpSpPr>
          <p:nvPr/>
        </p:nvGrpSpPr>
        <p:grpSpPr bwMode="auto">
          <a:xfrm>
            <a:off x="9483956" y="4094268"/>
            <a:ext cx="1991010" cy="1986618"/>
            <a:chOff x="2464" y="1494"/>
            <a:chExt cx="2267" cy="2262"/>
          </a:xfrm>
          <a:solidFill>
            <a:schemeClr val="bg1"/>
          </a:solidFill>
        </p:grpSpPr>
        <p:sp>
          <p:nvSpPr>
            <p:cNvPr id="27" name="Oval 26">
              <a:extLst>
                <a:ext uri="{FF2B5EF4-FFF2-40B4-BE49-F238E27FC236}">
                  <a16:creationId xmlns:a16="http://schemas.microsoft.com/office/drawing/2014/main" id="{887F432A-F08B-8646-A608-A83C0ED4197F}"/>
                </a:ext>
              </a:extLst>
            </p:cNvPr>
            <p:cNvSpPr>
              <a:spLocks noChangeArrowheads="1"/>
            </p:cNvSpPr>
            <p:nvPr/>
          </p:nvSpPr>
          <p:spPr bwMode="auto">
            <a:xfrm>
              <a:off x="3170" y="3451"/>
              <a:ext cx="70" cy="6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28" name="Oval 27">
              <a:extLst>
                <a:ext uri="{FF2B5EF4-FFF2-40B4-BE49-F238E27FC236}">
                  <a16:creationId xmlns:a16="http://schemas.microsoft.com/office/drawing/2014/main" id="{47108310-CF70-E041-8559-0BBAF0A3E134}"/>
                </a:ext>
              </a:extLst>
            </p:cNvPr>
            <p:cNvSpPr>
              <a:spLocks noChangeArrowheads="1"/>
            </p:cNvSpPr>
            <p:nvPr/>
          </p:nvSpPr>
          <p:spPr bwMode="auto">
            <a:xfrm>
              <a:off x="4070" y="3451"/>
              <a:ext cx="71" cy="6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29" name="Freeform 28">
              <a:extLst>
                <a:ext uri="{FF2B5EF4-FFF2-40B4-BE49-F238E27FC236}">
                  <a16:creationId xmlns:a16="http://schemas.microsoft.com/office/drawing/2014/main" id="{A038E46F-6542-8F48-8D1E-77199F5A3A3A}"/>
                </a:ext>
              </a:extLst>
            </p:cNvPr>
            <p:cNvSpPr>
              <a:spLocks noEditPoints="1"/>
            </p:cNvSpPr>
            <p:nvPr/>
          </p:nvSpPr>
          <p:spPr bwMode="auto">
            <a:xfrm>
              <a:off x="2771" y="3538"/>
              <a:ext cx="191" cy="218"/>
            </a:xfrm>
            <a:custGeom>
              <a:avLst/>
              <a:gdLst>
                <a:gd name="T0" fmla="*/ 770 w 770"/>
                <a:gd name="T1" fmla="*/ 353 h 881"/>
                <a:gd name="T2" fmla="*/ 770 w 770"/>
                <a:gd name="T3" fmla="*/ 857 h 881"/>
                <a:gd name="T4" fmla="*/ 550 w 770"/>
                <a:gd name="T5" fmla="*/ 857 h 881"/>
                <a:gd name="T6" fmla="*/ 550 w 770"/>
                <a:gd name="T7" fmla="*/ 772 h 881"/>
                <a:gd name="T8" fmla="*/ 310 w 770"/>
                <a:gd name="T9" fmla="*/ 876 h 881"/>
                <a:gd name="T10" fmla="*/ 0 w 770"/>
                <a:gd name="T11" fmla="*/ 617 h 881"/>
                <a:gd name="T12" fmla="*/ 514 w 770"/>
                <a:gd name="T13" fmla="*/ 320 h 881"/>
                <a:gd name="T14" fmla="*/ 543 w 770"/>
                <a:gd name="T15" fmla="*/ 320 h 881"/>
                <a:gd name="T16" fmla="*/ 379 w 770"/>
                <a:gd name="T17" fmla="*/ 190 h 881"/>
                <a:gd name="T18" fmla="*/ 155 w 770"/>
                <a:gd name="T19" fmla="*/ 270 h 881"/>
                <a:gd name="T20" fmla="*/ 22 w 770"/>
                <a:gd name="T21" fmla="*/ 137 h 881"/>
                <a:gd name="T22" fmla="*/ 385 w 770"/>
                <a:gd name="T23" fmla="*/ 0 h 881"/>
                <a:gd name="T24" fmla="*/ 682 w 770"/>
                <a:gd name="T25" fmla="*/ 91 h 881"/>
                <a:gd name="T26" fmla="*/ 770 w 770"/>
                <a:gd name="T27" fmla="*/ 353 h 881"/>
                <a:gd name="T28" fmla="*/ 543 w 770"/>
                <a:gd name="T29" fmla="*/ 493 h 881"/>
                <a:gd name="T30" fmla="*/ 521 w 770"/>
                <a:gd name="T31" fmla="*/ 493 h 881"/>
                <a:gd name="T32" fmla="*/ 326 w 770"/>
                <a:gd name="T33" fmla="*/ 516 h 881"/>
                <a:gd name="T34" fmla="*/ 241 w 770"/>
                <a:gd name="T35" fmla="*/ 602 h 881"/>
                <a:gd name="T36" fmla="*/ 356 w 770"/>
                <a:gd name="T37" fmla="*/ 689 h 881"/>
                <a:gd name="T38" fmla="*/ 543 w 770"/>
                <a:gd name="T39" fmla="*/ 519 h 881"/>
                <a:gd name="T40" fmla="*/ 543 w 770"/>
                <a:gd name="T41" fmla="*/ 493 h 8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770" h="881">
                  <a:moveTo>
                    <a:pt x="770" y="353"/>
                  </a:moveTo>
                  <a:cubicBezTo>
                    <a:pt x="770" y="857"/>
                    <a:pt x="770" y="857"/>
                    <a:pt x="770" y="857"/>
                  </a:cubicBezTo>
                  <a:cubicBezTo>
                    <a:pt x="550" y="857"/>
                    <a:pt x="550" y="857"/>
                    <a:pt x="550" y="857"/>
                  </a:cubicBezTo>
                  <a:cubicBezTo>
                    <a:pt x="550" y="772"/>
                    <a:pt x="550" y="772"/>
                    <a:pt x="550" y="772"/>
                  </a:cubicBezTo>
                  <a:cubicBezTo>
                    <a:pt x="492" y="834"/>
                    <a:pt x="421" y="873"/>
                    <a:pt x="310" y="876"/>
                  </a:cubicBezTo>
                  <a:cubicBezTo>
                    <a:pt x="137" y="881"/>
                    <a:pt x="0" y="775"/>
                    <a:pt x="0" y="617"/>
                  </a:cubicBezTo>
                  <a:cubicBezTo>
                    <a:pt x="0" y="373"/>
                    <a:pt x="260" y="320"/>
                    <a:pt x="514" y="320"/>
                  </a:cubicBezTo>
                  <a:cubicBezTo>
                    <a:pt x="543" y="320"/>
                    <a:pt x="543" y="320"/>
                    <a:pt x="543" y="320"/>
                  </a:cubicBezTo>
                  <a:cubicBezTo>
                    <a:pt x="543" y="252"/>
                    <a:pt x="513" y="190"/>
                    <a:pt x="379" y="190"/>
                  </a:cubicBezTo>
                  <a:cubicBezTo>
                    <a:pt x="287" y="190"/>
                    <a:pt x="210" y="219"/>
                    <a:pt x="155" y="270"/>
                  </a:cubicBezTo>
                  <a:cubicBezTo>
                    <a:pt x="22" y="137"/>
                    <a:pt x="22" y="137"/>
                    <a:pt x="22" y="137"/>
                  </a:cubicBezTo>
                  <a:cubicBezTo>
                    <a:pt x="113" y="46"/>
                    <a:pt x="242" y="0"/>
                    <a:pt x="385" y="0"/>
                  </a:cubicBezTo>
                  <a:cubicBezTo>
                    <a:pt x="526" y="0"/>
                    <a:pt x="604" y="20"/>
                    <a:pt x="682" y="91"/>
                  </a:cubicBezTo>
                  <a:cubicBezTo>
                    <a:pt x="757" y="158"/>
                    <a:pt x="770" y="283"/>
                    <a:pt x="770" y="353"/>
                  </a:cubicBezTo>
                  <a:moveTo>
                    <a:pt x="543" y="493"/>
                  </a:moveTo>
                  <a:cubicBezTo>
                    <a:pt x="521" y="493"/>
                    <a:pt x="521" y="493"/>
                    <a:pt x="521" y="493"/>
                  </a:cubicBezTo>
                  <a:cubicBezTo>
                    <a:pt x="484" y="493"/>
                    <a:pt x="394" y="498"/>
                    <a:pt x="326" y="516"/>
                  </a:cubicBezTo>
                  <a:cubicBezTo>
                    <a:pt x="280" y="529"/>
                    <a:pt x="241" y="560"/>
                    <a:pt x="241" y="602"/>
                  </a:cubicBezTo>
                  <a:cubicBezTo>
                    <a:pt x="241" y="663"/>
                    <a:pt x="301" y="689"/>
                    <a:pt x="356" y="689"/>
                  </a:cubicBezTo>
                  <a:cubicBezTo>
                    <a:pt x="473" y="689"/>
                    <a:pt x="543" y="615"/>
                    <a:pt x="543" y="519"/>
                  </a:cubicBezTo>
                  <a:lnTo>
                    <a:pt x="543" y="49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30" name="Freeform 29">
              <a:extLst>
                <a:ext uri="{FF2B5EF4-FFF2-40B4-BE49-F238E27FC236}">
                  <a16:creationId xmlns:a16="http://schemas.microsoft.com/office/drawing/2014/main" id="{ABC9D15F-1D25-9E4E-B017-768D600F683C}"/>
                </a:ext>
              </a:extLst>
            </p:cNvPr>
            <p:cNvSpPr>
              <a:spLocks/>
            </p:cNvSpPr>
            <p:nvPr/>
          </p:nvSpPr>
          <p:spPr bwMode="auto">
            <a:xfrm>
              <a:off x="2983" y="3477"/>
              <a:ext cx="154" cy="278"/>
            </a:xfrm>
            <a:custGeom>
              <a:avLst/>
              <a:gdLst>
                <a:gd name="T0" fmla="*/ 401 w 622"/>
                <a:gd name="T1" fmla="*/ 264 h 1120"/>
                <a:gd name="T2" fmla="*/ 401 w 622"/>
                <a:gd name="T3" fmla="*/ 0 h 1120"/>
                <a:gd name="T4" fmla="*/ 163 w 622"/>
                <a:gd name="T5" fmla="*/ 0 h 1120"/>
                <a:gd name="T6" fmla="*/ 163 w 622"/>
                <a:gd name="T7" fmla="*/ 264 h 1120"/>
                <a:gd name="T8" fmla="*/ 0 w 622"/>
                <a:gd name="T9" fmla="*/ 264 h 1120"/>
                <a:gd name="T10" fmla="*/ 0 w 622"/>
                <a:gd name="T11" fmla="*/ 463 h 1120"/>
                <a:gd name="T12" fmla="*/ 163 w 622"/>
                <a:gd name="T13" fmla="*/ 463 h 1120"/>
                <a:gd name="T14" fmla="*/ 163 w 622"/>
                <a:gd name="T15" fmla="*/ 818 h 1120"/>
                <a:gd name="T16" fmla="*/ 231 w 622"/>
                <a:gd name="T17" fmla="*/ 1055 h 1120"/>
                <a:gd name="T18" fmla="*/ 444 w 622"/>
                <a:gd name="T19" fmla="*/ 1120 h 1120"/>
                <a:gd name="T20" fmla="*/ 622 w 622"/>
                <a:gd name="T21" fmla="*/ 1086 h 1120"/>
                <a:gd name="T22" fmla="*/ 622 w 622"/>
                <a:gd name="T23" fmla="*/ 898 h 1120"/>
                <a:gd name="T24" fmla="*/ 494 w 622"/>
                <a:gd name="T25" fmla="*/ 915 h 1120"/>
                <a:gd name="T26" fmla="*/ 401 w 622"/>
                <a:gd name="T27" fmla="*/ 807 h 1120"/>
                <a:gd name="T28" fmla="*/ 401 w 622"/>
                <a:gd name="T29" fmla="*/ 463 h 1120"/>
                <a:gd name="T30" fmla="*/ 622 w 622"/>
                <a:gd name="T31" fmla="*/ 463 h 1120"/>
                <a:gd name="T32" fmla="*/ 622 w 622"/>
                <a:gd name="T33" fmla="*/ 264 h 1120"/>
                <a:gd name="T34" fmla="*/ 401 w 622"/>
                <a:gd name="T35" fmla="*/ 264 h 1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22" h="1120">
                  <a:moveTo>
                    <a:pt x="401" y="264"/>
                  </a:moveTo>
                  <a:cubicBezTo>
                    <a:pt x="401" y="0"/>
                    <a:pt x="401" y="0"/>
                    <a:pt x="401" y="0"/>
                  </a:cubicBezTo>
                  <a:cubicBezTo>
                    <a:pt x="163" y="0"/>
                    <a:pt x="163" y="0"/>
                    <a:pt x="163" y="0"/>
                  </a:cubicBezTo>
                  <a:cubicBezTo>
                    <a:pt x="163" y="264"/>
                    <a:pt x="163" y="264"/>
                    <a:pt x="163" y="264"/>
                  </a:cubicBezTo>
                  <a:cubicBezTo>
                    <a:pt x="0" y="264"/>
                    <a:pt x="0" y="264"/>
                    <a:pt x="0" y="264"/>
                  </a:cubicBezTo>
                  <a:cubicBezTo>
                    <a:pt x="0" y="463"/>
                    <a:pt x="0" y="463"/>
                    <a:pt x="0" y="463"/>
                  </a:cubicBezTo>
                  <a:cubicBezTo>
                    <a:pt x="163" y="463"/>
                    <a:pt x="163" y="463"/>
                    <a:pt x="163" y="463"/>
                  </a:cubicBezTo>
                  <a:cubicBezTo>
                    <a:pt x="163" y="818"/>
                    <a:pt x="163" y="818"/>
                    <a:pt x="163" y="818"/>
                  </a:cubicBezTo>
                  <a:cubicBezTo>
                    <a:pt x="163" y="937"/>
                    <a:pt x="184" y="1008"/>
                    <a:pt x="231" y="1055"/>
                  </a:cubicBezTo>
                  <a:cubicBezTo>
                    <a:pt x="276" y="1099"/>
                    <a:pt x="343" y="1120"/>
                    <a:pt x="444" y="1120"/>
                  </a:cubicBezTo>
                  <a:cubicBezTo>
                    <a:pt x="508" y="1120"/>
                    <a:pt x="572" y="1108"/>
                    <a:pt x="622" y="1086"/>
                  </a:cubicBezTo>
                  <a:cubicBezTo>
                    <a:pt x="622" y="898"/>
                    <a:pt x="622" y="898"/>
                    <a:pt x="622" y="898"/>
                  </a:cubicBezTo>
                  <a:cubicBezTo>
                    <a:pt x="592" y="908"/>
                    <a:pt x="549" y="915"/>
                    <a:pt x="494" y="915"/>
                  </a:cubicBezTo>
                  <a:cubicBezTo>
                    <a:pt x="420" y="915"/>
                    <a:pt x="401" y="874"/>
                    <a:pt x="401" y="807"/>
                  </a:cubicBezTo>
                  <a:cubicBezTo>
                    <a:pt x="401" y="463"/>
                    <a:pt x="401" y="463"/>
                    <a:pt x="401" y="463"/>
                  </a:cubicBezTo>
                  <a:cubicBezTo>
                    <a:pt x="622" y="463"/>
                    <a:pt x="622" y="463"/>
                    <a:pt x="622" y="463"/>
                  </a:cubicBezTo>
                  <a:cubicBezTo>
                    <a:pt x="622" y="264"/>
                    <a:pt x="622" y="264"/>
                    <a:pt x="622" y="264"/>
                  </a:cubicBezTo>
                  <a:lnTo>
                    <a:pt x="401" y="26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31" name="Freeform 30">
              <a:extLst>
                <a:ext uri="{FF2B5EF4-FFF2-40B4-BE49-F238E27FC236}">
                  <a16:creationId xmlns:a16="http://schemas.microsoft.com/office/drawing/2014/main" id="{B0236B60-1C06-F348-8743-A7C0E65DF510}"/>
                </a:ext>
              </a:extLst>
            </p:cNvPr>
            <p:cNvSpPr>
              <a:spLocks noEditPoints="1"/>
            </p:cNvSpPr>
            <p:nvPr/>
          </p:nvSpPr>
          <p:spPr bwMode="auto">
            <a:xfrm>
              <a:off x="4426" y="3538"/>
              <a:ext cx="213" cy="217"/>
            </a:xfrm>
            <a:custGeom>
              <a:avLst/>
              <a:gdLst>
                <a:gd name="T0" fmla="*/ 857 w 857"/>
                <a:gd name="T1" fmla="*/ 453 h 876"/>
                <a:gd name="T2" fmla="*/ 857 w 857"/>
                <a:gd name="T3" fmla="*/ 516 h 876"/>
                <a:gd name="T4" fmla="*/ 244 w 857"/>
                <a:gd name="T5" fmla="*/ 516 h 876"/>
                <a:gd name="T6" fmla="*/ 459 w 857"/>
                <a:gd name="T7" fmla="*/ 680 h 876"/>
                <a:gd name="T8" fmla="*/ 678 w 857"/>
                <a:gd name="T9" fmla="*/ 583 h 876"/>
                <a:gd name="T10" fmla="*/ 829 w 857"/>
                <a:gd name="T11" fmla="*/ 693 h 876"/>
                <a:gd name="T12" fmla="*/ 463 w 857"/>
                <a:gd name="T13" fmla="*/ 876 h 876"/>
                <a:gd name="T14" fmla="*/ 0 w 857"/>
                <a:gd name="T15" fmla="*/ 438 h 876"/>
                <a:gd name="T16" fmla="*/ 433 w 857"/>
                <a:gd name="T17" fmla="*/ 0 h 876"/>
                <a:gd name="T18" fmla="*/ 857 w 857"/>
                <a:gd name="T19" fmla="*/ 453 h 876"/>
                <a:gd name="T20" fmla="*/ 605 w 857"/>
                <a:gd name="T21" fmla="*/ 345 h 876"/>
                <a:gd name="T22" fmla="*/ 425 w 857"/>
                <a:gd name="T23" fmla="*/ 189 h 876"/>
                <a:gd name="T24" fmla="*/ 245 w 857"/>
                <a:gd name="T25" fmla="*/ 345 h 876"/>
                <a:gd name="T26" fmla="*/ 605 w 857"/>
                <a:gd name="T27" fmla="*/ 345 h 8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57" h="876">
                  <a:moveTo>
                    <a:pt x="857" y="453"/>
                  </a:moveTo>
                  <a:cubicBezTo>
                    <a:pt x="857" y="516"/>
                    <a:pt x="857" y="516"/>
                    <a:pt x="857" y="516"/>
                  </a:cubicBezTo>
                  <a:cubicBezTo>
                    <a:pt x="244" y="516"/>
                    <a:pt x="244" y="516"/>
                    <a:pt x="244" y="516"/>
                  </a:cubicBezTo>
                  <a:cubicBezTo>
                    <a:pt x="249" y="602"/>
                    <a:pt x="345" y="675"/>
                    <a:pt x="459" y="680"/>
                  </a:cubicBezTo>
                  <a:cubicBezTo>
                    <a:pt x="565" y="684"/>
                    <a:pt x="623" y="642"/>
                    <a:pt x="678" y="583"/>
                  </a:cubicBezTo>
                  <a:cubicBezTo>
                    <a:pt x="829" y="693"/>
                    <a:pt x="829" y="693"/>
                    <a:pt x="829" y="693"/>
                  </a:cubicBezTo>
                  <a:cubicBezTo>
                    <a:pt x="737" y="809"/>
                    <a:pt x="624" y="876"/>
                    <a:pt x="463" y="876"/>
                  </a:cubicBezTo>
                  <a:cubicBezTo>
                    <a:pt x="208" y="876"/>
                    <a:pt x="0" y="718"/>
                    <a:pt x="0" y="438"/>
                  </a:cubicBezTo>
                  <a:cubicBezTo>
                    <a:pt x="0" y="215"/>
                    <a:pt x="139" y="0"/>
                    <a:pt x="433" y="0"/>
                  </a:cubicBezTo>
                  <a:cubicBezTo>
                    <a:pt x="736" y="0"/>
                    <a:pt x="857" y="235"/>
                    <a:pt x="857" y="453"/>
                  </a:cubicBezTo>
                  <a:moveTo>
                    <a:pt x="605" y="345"/>
                  </a:moveTo>
                  <a:cubicBezTo>
                    <a:pt x="594" y="254"/>
                    <a:pt x="544" y="187"/>
                    <a:pt x="425" y="189"/>
                  </a:cubicBezTo>
                  <a:cubicBezTo>
                    <a:pt x="324" y="191"/>
                    <a:pt x="256" y="259"/>
                    <a:pt x="245" y="345"/>
                  </a:cubicBezTo>
                  <a:lnTo>
                    <a:pt x="605" y="34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32" name="Freeform 31">
              <a:extLst>
                <a:ext uri="{FF2B5EF4-FFF2-40B4-BE49-F238E27FC236}">
                  <a16:creationId xmlns:a16="http://schemas.microsoft.com/office/drawing/2014/main" id="{E1C17EF2-C7D9-9344-BDB1-DDA24E4F1906}"/>
                </a:ext>
              </a:extLst>
            </p:cNvPr>
            <p:cNvSpPr>
              <a:spLocks/>
            </p:cNvSpPr>
            <p:nvPr/>
          </p:nvSpPr>
          <p:spPr bwMode="auto">
            <a:xfrm>
              <a:off x="2464" y="3449"/>
              <a:ext cx="272" cy="301"/>
            </a:xfrm>
            <a:custGeom>
              <a:avLst/>
              <a:gdLst>
                <a:gd name="T0" fmla="*/ 207 w 272"/>
                <a:gd name="T1" fmla="*/ 0 h 301"/>
                <a:gd name="T2" fmla="*/ 207 w 272"/>
                <a:gd name="T3" fmla="*/ 204 h 301"/>
                <a:gd name="T4" fmla="*/ 80 w 272"/>
                <a:gd name="T5" fmla="*/ 0 h 301"/>
                <a:gd name="T6" fmla="*/ 0 w 272"/>
                <a:gd name="T7" fmla="*/ 0 h 301"/>
                <a:gd name="T8" fmla="*/ 0 w 272"/>
                <a:gd name="T9" fmla="*/ 301 h 301"/>
                <a:gd name="T10" fmla="*/ 65 w 272"/>
                <a:gd name="T11" fmla="*/ 301 h 301"/>
                <a:gd name="T12" fmla="*/ 65 w 272"/>
                <a:gd name="T13" fmla="*/ 90 h 301"/>
                <a:gd name="T14" fmla="*/ 196 w 272"/>
                <a:gd name="T15" fmla="*/ 301 h 301"/>
                <a:gd name="T16" fmla="*/ 272 w 272"/>
                <a:gd name="T17" fmla="*/ 301 h 301"/>
                <a:gd name="T18" fmla="*/ 272 w 272"/>
                <a:gd name="T19" fmla="*/ 0 h 301"/>
                <a:gd name="T20" fmla="*/ 207 w 272"/>
                <a:gd name="T21" fmla="*/ 0 h 3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72" h="301">
                  <a:moveTo>
                    <a:pt x="207" y="0"/>
                  </a:moveTo>
                  <a:lnTo>
                    <a:pt x="207" y="204"/>
                  </a:lnTo>
                  <a:lnTo>
                    <a:pt x="80" y="0"/>
                  </a:lnTo>
                  <a:lnTo>
                    <a:pt x="0" y="0"/>
                  </a:lnTo>
                  <a:lnTo>
                    <a:pt x="0" y="301"/>
                  </a:lnTo>
                  <a:lnTo>
                    <a:pt x="65" y="301"/>
                  </a:lnTo>
                  <a:lnTo>
                    <a:pt x="65" y="90"/>
                  </a:lnTo>
                  <a:lnTo>
                    <a:pt x="196" y="301"/>
                  </a:lnTo>
                  <a:lnTo>
                    <a:pt x="272" y="301"/>
                  </a:lnTo>
                  <a:lnTo>
                    <a:pt x="272" y="0"/>
                  </a:lnTo>
                  <a:lnTo>
                    <a:pt x="207"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33" name="Freeform 32">
              <a:extLst>
                <a:ext uri="{FF2B5EF4-FFF2-40B4-BE49-F238E27FC236}">
                  <a16:creationId xmlns:a16="http://schemas.microsoft.com/office/drawing/2014/main" id="{CCA3B6EB-815A-334B-8E70-FB8652A02710}"/>
                </a:ext>
              </a:extLst>
            </p:cNvPr>
            <p:cNvSpPr>
              <a:spLocks/>
            </p:cNvSpPr>
            <p:nvPr/>
          </p:nvSpPr>
          <p:spPr bwMode="auto">
            <a:xfrm>
              <a:off x="3734" y="3543"/>
              <a:ext cx="321" cy="207"/>
            </a:xfrm>
            <a:custGeom>
              <a:avLst/>
              <a:gdLst>
                <a:gd name="T0" fmla="*/ 259 w 321"/>
                <a:gd name="T1" fmla="*/ 0 h 207"/>
                <a:gd name="T2" fmla="*/ 226 w 321"/>
                <a:gd name="T3" fmla="*/ 129 h 207"/>
                <a:gd name="T4" fmla="*/ 192 w 321"/>
                <a:gd name="T5" fmla="*/ 0 h 207"/>
                <a:gd name="T6" fmla="*/ 131 w 321"/>
                <a:gd name="T7" fmla="*/ 0 h 207"/>
                <a:gd name="T8" fmla="*/ 98 w 321"/>
                <a:gd name="T9" fmla="*/ 128 h 207"/>
                <a:gd name="T10" fmla="*/ 65 w 321"/>
                <a:gd name="T11" fmla="*/ 0 h 207"/>
                <a:gd name="T12" fmla="*/ 0 w 321"/>
                <a:gd name="T13" fmla="*/ 0 h 207"/>
                <a:gd name="T14" fmla="*/ 66 w 321"/>
                <a:gd name="T15" fmla="*/ 207 h 207"/>
                <a:gd name="T16" fmla="*/ 125 w 321"/>
                <a:gd name="T17" fmla="*/ 207 h 207"/>
                <a:gd name="T18" fmla="*/ 161 w 321"/>
                <a:gd name="T19" fmla="*/ 77 h 207"/>
                <a:gd name="T20" fmla="*/ 201 w 321"/>
                <a:gd name="T21" fmla="*/ 207 h 207"/>
                <a:gd name="T22" fmla="*/ 255 w 321"/>
                <a:gd name="T23" fmla="*/ 207 h 207"/>
                <a:gd name="T24" fmla="*/ 321 w 321"/>
                <a:gd name="T25" fmla="*/ 0 h 207"/>
                <a:gd name="T26" fmla="*/ 259 w 321"/>
                <a:gd name="T27" fmla="*/ 0 h 2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21" h="207">
                  <a:moveTo>
                    <a:pt x="259" y="0"/>
                  </a:moveTo>
                  <a:lnTo>
                    <a:pt x="226" y="129"/>
                  </a:lnTo>
                  <a:lnTo>
                    <a:pt x="192" y="0"/>
                  </a:lnTo>
                  <a:lnTo>
                    <a:pt x="131" y="0"/>
                  </a:lnTo>
                  <a:lnTo>
                    <a:pt x="98" y="128"/>
                  </a:lnTo>
                  <a:lnTo>
                    <a:pt x="65" y="0"/>
                  </a:lnTo>
                  <a:lnTo>
                    <a:pt x="0" y="0"/>
                  </a:lnTo>
                  <a:lnTo>
                    <a:pt x="66" y="207"/>
                  </a:lnTo>
                  <a:lnTo>
                    <a:pt x="125" y="207"/>
                  </a:lnTo>
                  <a:lnTo>
                    <a:pt x="161" y="77"/>
                  </a:lnTo>
                  <a:lnTo>
                    <a:pt x="201" y="207"/>
                  </a:lnTo>
                  <a:lnTo>
                    <a:pt x="255" y="207"/>
                  </a:lnTo>
                  <a:lnTo>
                    <a:pt x="321" y="0"/>
                  </a:lnTo>
                  <a:lnTo>
                    <a:pt x="25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34" name="Freeform 33">
              <a:extLst>
                <a:ext uri="{FF2B5EF4-FFF2-40B4-BE49-F238E27FC236}">
                  <a16:creationId xmlns:a16="http://schemas.microsoft.com/office/drawing/2014/main" id="{27A18704-879D-8744-9C0D-F54620CCA762}"/>
                </a:ext>
              </a:extLst>
            </p:cNvPr>
            <p:cNvSpPr>
              <a:spLocks/>
            </p:cNvSpPr>
            <p:nvPr/>
          </p:nvSpPr>
          <p:spPr bwMode="auto">
            <a:xfrm>
              <a:off x="3175" y="3543"/>
              <a:ext cx="60" cy="207"/>
            </a:xfrm>
            <a:custGeom>
              <a:avLst/>
              <a:gdLst>
                <a:gd name="T0" fmla="*/ 60 w 60"/>
                <a:gd name="T1" fmla="*/ 0 h 207"/>
                <a:gd name="T2" fmla="*/ 0 w 60"/>
                <a:gd name="T3" fmla="*/ 0 h 207"/>
                <a:gd name="T4" fmla="*/ 0 w 60"/>
                <a:gd name="T5" fmla="*/ 106 h 207"/>
                <a:gd name="T6" fmla="*/ 0 w 60"/>
                <a:gd name="T7" fmla="*/ 207 h 207"/>
                <a:gd name="T8" fmla="*/ 60 w 60"/>
                <a:gd name="T9" fmla="*/ 207 h 207"/>
                <a:gd name="T10" fmla="*/ 60 w 60"/>
                <a:gd name="T11" fmla="*/ 106 h 207"/>
                <a:gd name="T12" fmla="*/ 60 w 60"/>
                <a:gd name="T13" fmla="*/ 0 h 207"/>
              </a:gdLst>
              <a:ahLst/>
              <a:cxnLst>
                <a:cxn ang="0">
                  <a:pos x="T0" y="T1"/>
                </a:cxn>
                <a:cxn ang="0">
                  <a:pos x="T2" y="T3"/>
                </a:cxn>
                <a:cxn ang="0">
                  <a:pos x="T4" y="T5"/>
                </a:cxn>
                <a:cxn ang="0">
                  <a:pos x="T6" y="T7"/>
                </a:cxn>
                <a:cxn ang="0">
                  <a:pos x="T8" y="T9"/>
                </a:cxn>
                <a:cxn ang="0">
                  <a:pos x="T10" y="T11"/>
                </a:cxn>
                <a:cxn ang="0">
                  <a:pos x="T12" y="T13"/>
                </a:cxn>
              </a:cxnLst>
              <a:rect l="0" t="0" r="r" b="b"/>
              <a:pathLst>
                <a:path w="60" h="207">
                  <a:moveTo>
                    <a:pt x="60" y="0"/>
                  </a:moveTo>
                  <a:lnTo>
                    <a:pt x="0" y="0"/>
                  </a:lnTo>
                  <a:lnTo>
                    <a:pt x="0" y="106"/>
                  </a:lnTo>
                  <a:lnTo>
                    <a:pt x="0" y="207"/>
                  </a:lnTo>
                  <a:lnTo>
                    <a:pt x="60" y="207"/>
                  </a:lnTo>
                  <a:lnTo>
                    <a:pt x="60" y="106"/>
                  </a:lnTo>
                  <a:lnTo>
                    <a:pt x="6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35" name="Freeform 34">
              <a:extLst>
                <a:ext uri="{FF2B5EF4-FFF2-40B4-BE49-F238E27FC236}">
                  <a16:creationId xmlns:a16="http://schemas.microsoft.com/office/drawing/2014/main" id="{F5E330D9-FE00-A242-BEC0-C973C41E8D0B}"/>
                </a:ext>
              </a:extLst>
            </p:cNvPr>
            <p:cNvSpPr>
              <a:spLocks/>
            </p:cNvSpPr>
            <p:nvPr/>
          </p:nvSpPr>
          <p:spPr bwMode="auto">
            <a:xfrm>
              <a:off x="4076" y="3543"/>
              <a:ext cx="59" cy="207"/>
            </a:xfrm>
            <a:custGeom>
              <a:avLst/>
              <a:gdLst>
                <a:gd name="T0" fmla="*/ 59 w 59"/>
                <a:gd name="T1" fmla="*/ 0 h 207"/>
                <a:gd name="T2" fmla="*/ 0 w 59"/>
                <a:gd name="T3" fmla="*/ 0 h 207"/>
                <a:gd name="T4" fmla="*/ 0 w 59"/>
                <a:gd name="T5" fmla="*/ 106 h 207"/>
                <a:gd name="T6" fmla="*/ 0 w 59"/>
                <a:gd name="T7" fmla="*/ 207 h 207"/>
                <a:gd name="T8" fmla="*/ 59 w 59"/>
                <a:gd name="T9" fmla="*/ 207 h 207"/>
                <a:gd name="T10" fmla="*/ 59 w 59"/>
                <a:gd name="T11" fmla="*/ 106 h 207"/>
                <a:gd name="T12" fmla="*/ 59 w 59"/>
                <a:gd name="T13" fmla="*/ 0 h 207"/>
              </a:gdLst>
              <a:ahLst/>
              <a:cxnLst>
                <a:cxn ang="0">
                  <a:pos x="T0" y="T1"/>
                </a:cxn>
                <a:cxn ang="0">
                  <a:pos x="T2" y="T3"/>
                </a:cxn>
                <a:cxn ang="0">
                  <a:pos x="T4" y="T5"/>
                </a:cxn>
                <a:cxn ang="0">
                  <a:pos x="T6" y="T7"/>
                </a:cxn>
                <a:cxn ang="0">
                  <a:pos x="T8" y="T9"/>
                </a:cxn>
                <a:cxn ang="0">
                  <a:pos x="T10" y="T11"/>
                </a:cxn>
                <a:cxn ang="0">
                  <a:pos x="T12" y="T13"/>
                </a:cxn>
              </a:cxnLst>
              <a:rect l="0" t="0" r="r" b="b"/>
              <a:pathLst>
                <a:path w="59" h="207">
                  <a:moveTo>
                    <a:pt x="59" y="0"/>
                  </a:moveTo>
                  <a:lnTo>
                    <a:pt x="0" y="0"/>
                  </a:lnTo>
                  <a:lnTo>
                    <a:pt x="0" y="106"/>
                  </a:lnTo>
                  <a:lnTo>
                    <a:pt x="0" y="207"/>
                  </a:lnTo>
                  <a:lnTo>
                    <a:pt x="59" y="207"/>
                  </a:lnTo>
                  <a:lnTo>
                    <a:pt x="59" y="106"/>
                  </a:lnTo>
                  <a:lnTo>
                    <a:pt x="5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36" name="Freeform 35">
              <a:extLst>
                <a:ext uri="{FF2B5EF4-FFF2-40B4-BE49-F238E27FC236}">
                  <a16:creationId xmlns:a16="http://schemas.microsoft.com/office/drawing/2014/main" id="{A2D8D6AA-29B1-A049-A99F-0AA28E5F7D7A}"/>
                </a:ext>
              </a:extLst>
            </p:cNvPr>
            <p:cNvSpPr>
              <a:spLocks/>
            </p:cNvSpPr>
            <p:nvPr/>
          </p:nvSpPr>
          <p:spPr bwMode="auto">
            <a:xfrm>
              <a:off x="3527" y="3538"/>
              <a:ext cx="190" cy="212"/>
            </a:xfrm>
            <a:custGeom>
              <a:avLst/>
              <a:gdLst>
                <a:gd name="T0" fmla="*/ 686 w 767"/>
                <a:gd name="T1" fmla="*/ 77 h 857"/>
                <a:gd name="T2" fmla="*/ 480 w 767"/>
                <a:gd name="T3" fmla="*/ 0 h 857"/>
                <a:gd name="T4" fmla="*/ 231 w 767"/>
                <a:gd name="T5" fmla="*/ 111 h 857"/>
                <a:gd name="T6" fmla="*/ 231 w 767"/>
                <a:gd name="T7" fmla="*/ 20 h 857"/>
                <a:gd name="T8" fmla="*/ 0 w 767"/>
                <a:gd name="T9" fmla="*/ 20 h 857"/>
                <a:gd name="T10" fmla="*/ 0 w 767"/>
                <a:gd name="T11" fmla="*/ 857 h 857"/>
                <a:gd name="T12" fmla="*/ 241 w 767"/>
                <a:gd name="T13" fmla="*/ 857 h 857"/>
                <a:gd name="T14" fmla="*/ 241 w 767"/>
                <a:gd name="T15" fmla="*/ 402 h 857"/>
                <a:gd name="T16" fmla="*/ 285 w 767"/>
                <a:gd name="T17" fmla="*/ 268 h 857"/>
                <a:gd name="T18" fmla="*/ 390 w 767"/>
                <a:gd name="T19" fmla="*/ 221 h 857"/>
                <a:gd name="T20" fmla="*/ 494 w 767"/>
                <a:gd name="T21" fmla="*/ 268 h 857"/>
                <a:gd name="T22" fmla="*/ 527 w 767"/>
                <a:gd name="T23" fmla="*/ 434 h 857"/>
                <a:gd name="T24" fmla="*/ 527 w 767"/>
                <a:gd name="T25" fmla="*/ 857 h 857"/>
                <a:gd name="T26" fmla="*/ 767 w 767"/>
                <a:gd name="T27" fmla="*/ 857 h 857"/>
                <a:gd name="T28" fmla="*/ 767 w 767"/>
                <a:gd name="T29" fmla="*/ 334 h 857"/>
                <a:gd name="T30" fmla="*/ 686 w 767"/>
                <a:gd name="T31" fmla="*/ 77 h 8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767" h="857">
                  <a:moveTo>
                    <a:pt x="686" y="77"/>
                  </a:moveTo>
                  <a:cubicBezTo>
                    <a:pt x="636" y="24"/>
                    <a:pt x="573" y="0"/>
                    <a:pt x="480" y="0"/>
                  </a:cubicBezTo>
                  <a:cubicBezTo>
                    <a:pt x="388" y="1"/>
                    <a:pt x="281" y="46"/>
                    <a:pt x="231" y="111"/>
                  </a:cubicBezTo>
                  <a:cubicBezTo>
                    <a:pt x="231" y="20"/>
                    <a:pt x="231" y="20"/>
                    <a:pt x="231" y="20"/>
                  </a:cubicBezTo>
                  <a:cubicBezTo>
                    <a:pt x="0" y="20"/>
                    <a:pt x="0" y="20"/>
                    <a:pt x="0" y="20"/>
                  </a:cubicBezTo>
                  <a:cubicBezTo>
                    <a:pt x="0" y="857"/>
                    <a:pt x="0" y="857"/>
                    <a:pt x="0" y="857"/>
                  </a:cubicBezTo>
                  <a:cubicBezTo>
                    <a:pt x="241" y="857"/>
                    <a:pt x="241" y="857"/>
                    <a:pt x="241" y="857"/>
                  </a:cubicBezTo>
                  <a:cubicBezTo>
                    <a:pt x="241" y="402"/>
                    <a:pt x="241" y="402"/>
                    <a:pt x="241" y="402"/>
                  </a:cubicBezTo>
                  <a:cubicBezTo>
                    <a:pt x="241" y="343"/>
                    <a:pt x="257" y="299"/>
                    <a:pt x="285" y="268"/>
                  </a:cubicBezTo>
                  <a:cubicBezTo>
                    <a:pt x="309" y="241"/>
                    <a:pt x="345" y="224"/>
                    <a:pt x="390" y="221"/>
                  </a:cubicBezTo>
                  <a:cubicBezTo>
                    <a:pt x="444" y="218"/>
                    <a:pt x="473" y="242"/>
                    <a:pt x="494" y="268"/>
                  </a:cubicBezTo>
                  <a:cubicBezTo>
                    <a:pt x="520" y="300"/>
                    <a:pt x="527" y="357"/>
                    <a:pt x="527" y="434"/>
                  </a:cubicBezTo>
                  <a:cubicBezTo>
                    <a:pt x="527" y="857"/>
                    <a:pt x="527" y="857"/>
                    <a:pt x="527" y="857"/>
                  </a:cubicBezTo>
                  <a:cubicBezTo>
                    <a:pt x="767" y="857"/>
                    <a:pt x="767" y="857"/>
                    <a:pt x="767" y="857"/>
                  </a:cubicBezTo>
                  <a:cubicBezTo>
                    <a:pt x="767" y="334"/>
                    <a:pt x="767" y="334"/>
                    <a:pt x="767" y="334"/>
                  </a:cubicBezTo>
                  <a:cubicBezTo>
                    <a:pt x="767" y="232"/>
                    <a:pt x="754" y="147"/>
                    <a:pt x="686" y="77"/>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37" name="Freeform 36">
              <a:extLst>
                <a:ext uri="{FF2B5EF4-FFF2-40B4-BE49-F238E27FC236}">
                  <a16:creationId xmlns:a16="http://schemas.microsoft.com/office/drawing/2014/main" id="{49A31F80-755A-1941-8AA3-AAAA2F4557B0}"/>
                </a:ext>
              </a:extLst>
            </p:cNvPr>
            <p:cNvSpPr>
              <a:spLocks noEditPoints="1"/>
            </p:cNvSpPr>
            <p:nvPr/>
          </p:nvSpPr>
          <p:spPr bwMode="auto">
            <a:xfrm>
              <a:off x="4170" y="3449"/>
              <a:ext cx="222" cy="306"/>
            </a:xfrm>
            <a:custGeom>
              <a:avLst/>
              <a:gdLst>
                <a:gd name="T0" fmla="*/ 900 w 900"/>
                <a:gd name="T1" fmla="*/ 0 h 1233"/>
                <a:gd name="T2" fmla="*/ 900 w 900"/>
                <a:gd name="T3" fmla="*/ 1214 h 1233"/>
                <a:gd name="T4" fmla="*/ 673 w 900"/>
                <a:gd name="T5" fmla="*/ 1214 h 1233"/>
                <a:gd name="T6" fmla="*/ 673 w 900"/>
                <a:gd name="T7" fmla="*/ 1121 h 1233"/>
                <a:gd name="T8" fmla="*/ 414 w 900"/>
                <a:gd name="T9" fmla="*/ 1233 h 1233"/>
                <a:gd name="T10" fmla="*/ 124 w 900"/>
                <a:gd name="T11" fmla="*/ 1121 h 1233"/>
                <a:gd name="T12" fmla="*/ 0 w 900"/>
                <a:gd name="T13" fmla="*/ 796 h 1233"/>
                <a:gd name="T14" fmla="*/ 406 w 900"/>
                <a:gd name="T15" fmla="*/ 357 h 1233"/>
                <a:gd name="T16" fmla="*/ 659 w 900"/>
                <a:gd name="T17" fmla="*/ 451 h 1233"/>
                <a:gd name="T18" fmla="*/ 659 w 900"/>
                <a:gd name="T19" fmla="*/ 0 h 1233"/>
                <a:gd name="T20" fmla="*/ 900 w 900"/>
                <a:gd name="T21" fmla="*/ 0 h 1233"/>
                <a:gd name="T22" fmla="*/ 666 w 900"/>
                <a:gd name="T23" fmla="*/ 796 h 1233"/>
                <a:gd name="T24" fmla="*/ 453 w 900"/>
                <a:gd name="T25" fmla="*/ 569 h 1233"/>
                <a:gd name="T26" fmla="*/ 241 w 900"/>
                <a:gd name="T27" fmla="*/ 796 h 1233"/>
                <a:gd name="T28" fmla="*/ 453 w 900"/>
                <a:gd name="T29" fmla="*/ 1022 h 1233"/>
                <a:gd name="T30" fmla="*/ 666 w 900"/>
                <a:gd name="T31" fmla="*/ 796 h 12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00" h="1233">
                  <a:moveTo>
                    <a:pt x="900" y="0"/>
                  </a:moveTo>
                  <a:cubicBezTo>
                    <a:pt x="900" y="1214"/>
                    <a:pt x="900" y="1214"/>
                    <a:pt x="900" y="1214"/>
                  </a:cubicBezTo>
                  <a:cubicBezTo>
                    <a:pt x="673" y="1214"/>
                    <a:pt x="673" y="1214"/>
                    <a:pt x="673" y="1214"/>
                  </a:cubicBezTo>
                  <a:cubicBezTo>
                    <a:pt x="673" y="1121"/>
                    <a:pt x="673" y="1121"/>
                    <a:pt x="673" y="1121"/>
                  </a:cubicBezTo>
                  <a:cubicBezTo>
                    <a:pt x="620" y="1182"/>
                    <a:pt x="534" y="1233"/>
                    <a:pt x="414" y="1233"/>
                  </a:cubicBezTo>
                  <a:cubicBezTo>
                    <a:pt x="298" y="1233"/>
                    <a:pt x="198" y="1195"/>
                    <a:pt x="124" y="1121"/>
                  </a:cubicBezTo>
                  <a:cubicBezTo>
                    <a:pt x="44" y="1041"/>
                    <a:pt x="0" y="926"/>
                    <a:pt x="0" y="796"/>
                  </a:cubicBezTo>
                  <a:cubicBezTo>
                    <a:pt x="0" y="541"/>
                    <a:pt x="171" y="357"/>
                    <a:pt x="406" y="357"/>
                  </a:cubicBezTo>
                  <a:cubicBezTo>
                    <a:pt x="508" y="357"/>
                    <a:pt x="594" y="389"/>
                    <a:pt x="659" y="451"/>
                  </a:cubicBezTo>
                  <a:cubicBezTo>
                    <a:pt x="659" y="0"/>
                    <a:pt x="659" y="0"/>
                    <a:pt x="659" y="0"/>
                  </a:cubicBezTo>
                  <a:lnTo>
                    <a:pt x="900" y="0"/>
                  </a:lnTo>
                  <a:close/>
                  <a:moveTo>
                    <a:pt x="666" y="796"/>
                  </a:moveTo>
                  <a:cubicBezTo>
                    <a:pt x="666" y="683"/>
                    <a:pt x="593" y="569"/>
                    <a:pt x="453" y="569"/>
                  </a:cubicBezTo>
                  <a:cubicBezTo>
                    <a:pt x="314" y="569"/>
                    <a:pt x="241" y="683"/>
                    <a:pt x="241" y="796"/>
                  </a:cubicBezTo>
                  <a:cubicBezTo>
                    <a:pt x="241" y="908"/>
                    <a:pt x="314" y="1022"/>
                    <a:pt x="453" y="1022"/>
                  </a:cubicBezTo>
                  <a:cubicBezTo>
                    <a:pt x="593" y="1022"/>
                    <a:pt x="666" y="908"/>
                    <a:pt x="666" y="79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38" name="Freeform 37">
              <a:extLst>
                <a:ext uri="{FF2B5EF4-FFF2-40B4-BE49-F238E27FC236}">
                  <a16:creationId xmlns:a16="http://schemas.microsoft.com/office/drawing/2014/main" id="{C7694B31-931B-F648-8678-62120664A596}"/>
                </a:ext>
              </a:extLst>
            </p:cNvPr>
            <p:cNvSpPr>
              <a:spLocks noEditPoints="1"/>
            </p:cNvSpPr>
            <p:nvPr/>
          </p:nvSpPr>
          <p:spPr bwMode="auto">
            <a:xfrm>
              <a:off x="3269" y="3538"/>
              <a:ext cx="224" cy="217"/>
            </a:xfrm>
            <a:custGeom>
              <a:avLst/>
              <a:gdLst>
                <a:gd name="T0" fmla="*/ 905 w 905"/>
                <a:gd name="T1" fmla="*/ 438 h 877"/>
                <a:gd name="T2" fmla="*/ 453 w 905"/>
                <a:gd name="T3" fmla="*/ 877 h 877"/>
                <a:gd name="T4" fmla="*/ 0 w 905"/>
                <a:gd name="T5" fmla="*/ 438 h 877"/>
                <a:gd name="T6" fmla="*/ 453 w 905"/>
                <a:gd name="T7" fmla="*/ 0 h 877"/>
                <a:gd name="T8" fmla="*/ 905 w 905"/>
                <a:gd name="T9" fmla="*/ 438 h 877"/>
                <a:gd name="T10" fmla="*/ 453 w 905"/>
                <a:gd name="T11" fmla="*/ 212 h 877"/>
                <a:gd name="T12" fmla="*/ 241 w 905"/>
                <a:gd name="T13" fmla="*/ 438 h 877"/>
                <a:gd name="T14" fmla="*/ 453 w 905"/>
                <a:gd name="T15" fmla="*/ 664 h 877"/>
                <a:gd name="T16" fmla="*/ 665 w 905"/>
                <a:gd name="T17" fmla="*/ 438 h 877"/>
                <a:gd name="T18" fmla="*/ 453 w 905"/>
                <a:gd name="T19" fmla="*/ 212 h 8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5" h="877">
                  <a:moveTo>
                    <a:pt x="905" y="438"/>
                  </a:moveTo>
                  <a:cubicBezTo>
                    <a:pt x="905" y="692"/>
                    <a:pt x="715" y="877"/>
                    <a:pt x="453" y="877"/>
                  </a:cubicBezTo>
                  <a:cubicBezTo>
                    <a:pt x="190" y="877"/>
                    <a:pt x="0" y="692"/>
                    <a:pt x="0" y="438"/>
                  </a:cubicBezTo>
                  <a:cubicBezTo>
                    <a:pt x="0" y="184"/>
                    <a:pt x="190" y="0"/>
                    <a:pt x="453" y="0"/>
                  </a:cubicBezTo>
                  <a:cubicBezTo>
                    <a:pt x="715" y="0"/>
                    <a:pt x="905" y="184"/>
                    <a:pt x="905" y="438"/>
                  </a:cubicBezTo>
                  <a:moveTo>
                    <a:pt x="453" y="212"/>
                  </a:moveTo>
                  <a:cubicBezTo>
                    <a:pt x="313" y="212"/>
                    <a:pt x="241" y="326"/>
                    <a:pt x="241" y="438"/>
                  </a:cubicBezTo>
                  <a:cubicBezTo>
                    <a:pt x="241" y="551"/>
                    <a:pt x="313" y="664"/>
                    <a:pt x="453" y="664"/>
                  </a:cubicBezTo>
                  <a:cubicBezTo>
                    <a:pt x="592" y="664"/>
                    <a:pt x="665" y="551"/>
                    <a:pt x="665" y="438"/>
                  </a:cubicBezTo>
                  <a:cubicBezTo>
                    <a:pt x="665" y="326"/>
                    <a:pt x="592" y="212"/>
                    <a:pt x="453" y="21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39" name="Freeform 38">
              <a:extLst>
                <a:ext uri="{FF2B5EF4-FFF2-40B4-BE49-F238E27FC236}">
                  <a16:creationId xmlns:a16="http://schemas.microsoft.com/office/drawing/2014/main" id="{CBC5FEF1-7BF4-A748-BB3A-66A641499B4E}"/>
                </a:ext>
              </a:extLst>
            </p:cNvPr>
            <p:cNvSpPr>
              <a:spLocks noEditPoints="1"/>
            </p:cNvSpPr>
            <p:nvPr/>
          </p:nvSpPr>
          <p:spPr bwMode="auto">
            <a:xfrm>
              <a:off x="4636" y="3449"/>
              <a:ext cx="95" cy="95"/>
            </a:xfrm>
            <a:custGeom>
              <a:avLst/>
              <a:gdLst>
                <a:gd name="T0" fmla="*/ 118 w 383"/>
                <a:gd name="T1" fmla="*/ 299 h 382"/>
                <a:gd name="T2" fmla="*/ 158 w 383"/>
                <a:gd name="T3" fmla="*/ 299 h 382"/>
                <a:gd name="T4" fmla="*/ 158 w 383"/>
                <a:gd name="T5" fmla="*/ 209 h 382"/>
                <a:gd name="T6" fmla="*/ 187 w 383"/>
                <a:gd name="T7" fmla="*/ 209 h 382"/>
                <a:gd name="T8" fmla="*/ 242 w 383"/>
                <a:gd name="T9" fmla="*/ 299 h 382"/>
                <a:gd name="T10" fmla="*/ 284 w 383"/>
                <a:gd name="T11" fmla="*/ 299 h 382"/>
                <a:gd name="T12" fmla="*/ 227 w 383"/>
                <a:gd name="T13" fmla="*/ 206 h 382"/>
                <a:gd name="T14" fmla="*/ 279 w 383"/>
                <a:gd name="T15" fmla="*/ 146 h 382"/>
                <a:gd name="T16" fmla="*/ 202 w 383"/>
                <a:gd name="T17" fmla="*/ 80 h 382"/>
                <a:gd name="T18" fmla="*/ 118 w 383"/>
                <a:gd name="T19" fmla="*/ 80 h 382"/>
                <a:gd name="T20" fmla="*/ 118 w 383"/>
                <a:gd name="T21" fmla="*/ 299 h 382"/>
                <a:gd name="T22" fmla="*/ 158 w 383"/>
                <a:gd name="T23" fmla="*/ 114 h 382"/>
                <a:gd name="T24" fmla="*/ 187 w 383"/>
                <a:gd name="T25" fmla="*/ 114 h 382"/>
                <a:gd name="T26" fmla="*/ 239 w 383"/>
                <a:gd name="T27" fmla="*/ 145 h 382"/>
                <a:gd name="T28" fmla="*/ 187 w 383"/>
                <a:gd name="T29" fmla="*/ 176 h 382"/>
                <a:gd name="T30" fmla="*/ 158 w 383"/>
                <a:gd name="T31" fmla="*/ 176 h 382"/>
                <a:gd name="T32" fmla="*/ 158 w 383"/>
                <a:gd name="T33" fmla="*/ 114 h 382"/>
                <a:gd name="T34" fmla="*/ 0 w 383"/>
                <a:gd name="T35" fmla="*/ 191 h 382"/>
                <a:gd name="T36" fmla="*/ 191 w 383"/>
                <a:gd name="T37" fmla="*/ 382 h 382"/>
                <a:gd name="T38" fmla="*/ 383 w 383"/>
                <a:gd name="T39" fmla="*/ 191 h 382"/>
                <a:gd name="T40" fmla="*/ 191 w 383"/>
                <a:gd name="T41" fmla="*/ 0 h 382"/>
                <a:gd name="T42" fmla="*/ 0 w 383"/>
                <a:gd name="T43" fmla="*/ 191 h 382"/>
                <a:gd name="T44" fmla="*/ 34 w 383"/>
                <a:gd name="T45" fmla="*/ 191 h 382"/>
                <a:gd name="T46" fmla="*/ 191 w 383"/>
                <a:gd name="T47" fmla="*/ 34 h 382"/>
                <a:gd name="T48" fmla="*/ 349 w 383"/>
                <a:gd name="T49" fmla="*/ 191 h 382"/>
                <a:gd name="T50" fmla="*/ 191 w 383"/>
                <a:gd name="T51" fmla="*/ 349 h 382"/>
                <a:gd name="T52" fmla="*/ 34 w 383"/>
                <a:gd name="T53" fmla="*/ 191 h 3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83" h="382">
                  <a:moveTo>
                    <a:pt x="118" y="299"/>
                  </a:moveTo>
                  <a:cubicBezTo>
                    <a:pt x="158" y="299"/>
                    <a:pt x="158" y="299"/>
                    <a:pt x="158" y="299"/>
                  </a:cubicBezTo>
                  <a:cubicBezTo>
                    <a:pt x="158" y="209"/>
                    <a:pt x="158" y="209"/>
                    <a:pt x="158" y="209"/>
                  </a:cubicBezTo>
                  <a:cubicBezTo>
                    <a:pt x="187" y="209"/>
                    <a:pt x="187" y="209"/>
                    <a:pt x="187" y="209"/>
                  </a:cubicBezTo>
                  <a:cubicBezTo>
                    <a:pt x="242" y="299"/>
                    <a:pt x="242" y="299"/>
                    <a:pt x="242" y="299"/>
                  </a:cubicBezTo>
                  <a:cubicBezTo>
                    <a:pt x="284" y="299"/>
                    <a:pt x="284" y="299"/>
                    <a:pt x="284" y="299"/>
                  </a:cubicBezTo>
                  <a:cubicBezTo>
                    <a:pt x="227" y="206"/>
                    <a:pt x="227" y="206"/>
                    <a:pt x="227" y="206"/>
                  </a:cubicBezTo>
                  <a:cubicBezTo>
                    <a:pt x="257" y="203"/>
                    <a:pt x="279" y="184"/>
                    <a:pt x="279" y="146"/>
                  </a:cubicBezTo>
                  <a:cubicBezTo>
                    <a:pt x="279" y="104"/>
                    <a:pt x="255" y="80"/>
                    <a:pt x="202" y="80"/>
                  </a:cubicBezTo>
                  <a:cubicBezTo>
                    <a:pt x="118" y="80"/>
                    <a:pt x="118" y="80"/>
                    <a:pt x="118" y="80"/>
                  </a:cubicBezTo>
                  <a:lnTo>
                    <a:pt x="118" y="299"/>
                  </a:lnTo>
                  <a:close/>
                  <a:moveTo>
                    <a:pt x="158" y="114"/>
                  </a:moveTo>
                  <a:cubicBezTo>
                    <a:pt x="187" y="114"/>
                    <a:pt x="187" y="114"/>
                    <a:pt x="187" y="114"/>
                  </a:cubicBezTo>
                  <a:cubicBezTo>
                    <a:pt x="212" y="114"/>
                    <a:pt x="239" y="115"/>
                    <a:pt x="239" y="145"/>
                  </a:cubicBezTo>
                  <a:cubicBezTo>
                    <a:pt x="239" y="174"/>
                    <a:pt x="212" y="176"/>
                    <a:pt x="187" y="176"/>
                  </a:cubicBezTo>
                  <a:cubicBezTo>
                    <a:pt x="158" y="176"/>
                    <a:pt x="158" y="176"/>
                    <a:pt x="158" y="176"/>
                  </a:cubicBezTo>
                  <a:lnTo>
                    <a:pt x="158" y="114"/>
                  </a:lnTo>
                  <a:close/>
                  <a:moveTo>
                    <a:pt x="0" y="191"/>
                  </a:moveTo>
                  <a:cubicBezTo>
                    <a:pt x="0" y="296"/>
                    <a:pt x="86" y="382"/>
                    <a:pt x="191" y="382"/>
                  </a:cubicBezTo>
                  <a:cubicBezTo>
                    <a:pt x="297" y="382"/>
                    <a:pt x="383" y="296"/>
                    <a:pt x="383" y="191"/>
                  </a:cubicBezTo>
                  <a:cubicBezTo>
                    <a:pt x="383" y="86"/>
                    <a:pt x="297" y="0"/>
                    <a:pt x="191" y="0"/>
                  </a:cubicBezTo>
                  <a:cubicBezTo>
                    <a:pt x="86" y="0"/>
                    <a:pt x="0" y="86"/>
                    <a:pt x="0" y="191"/>
                  </a:cubicBezTo>
                  <a:moveTo>
                    <a:pt x="34" y="191"/>
                  </a:moveTo>
                  <a:cubicBezTo>
                    <a:pt x="34" y="104"/>
                    <a:pt x="104" y="34"/>
                    <a:pt x="191" y="34"/>
                  </a:cubicBezTo>
                  <a:cubicBezTo>
                    <a:pt x="278" y="34"/>
                    <a:pt x="349" y="104"/>
                    <a:pt x="349" y="191"/>
                  </a:cubicBezTo>
                  <a:cubicBezTo>
                    <a:pt x="349" y="278"/>
                    <a:pt x="278" y="349"/>
                    <a:pt x="191" y="349"/>
                  </a:cubicBezTo>
                  <a:cubicBezTo>
                    <a:pt x="104" y="349"/>
                    <a:pt x="34" y="278"/>
                    <a:pt x="34" y="191"/>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40" name="Freeform 39">
              <a:extLst>
                <a:ext uri="{FF2B5EF4-FFF2-40B4-BE49-F238E27FC236}">
                  <a16:creationId xmlns:a16="http://schemas.microsoft.com/office/drawing/2014/main" id="{93802D51-B7EE-2847-9135-A91396ADE95E}"/>
                </a:ext>
              </a:extLst>
            </p:cNvPr>
            <p:cNvSpPr>
              <a:spLocks/>
            </p:cNvSpPr>
            <p:nvPr/>
          </p:nvSpPr>
          <p:spPr bwMode="auto">
            <a:xfrm>
              <a:off x="3768" y="1895"/>
              <a:ext cx="434" cy="1109"/>
            </a:xfrm>
            <a:custGeom>
              <a:avLst/>
              <a:gdLst>
                <a:gd name="T0" fmla="*/ 509 w 1751"/>
                <a:gd name="T1" fmla="*/ 0 h 4481"/>
                <a:gd name="T2" fmla="*/ 509 w 1751"/>
                <a:gd name="T3" fmla="*/ 2792 h 4481"/>
                <a:gd name="T4" fmla="*/ 161 w 1751"/>
                <a:gd name="T5" fmla="*/ 2452 h 4481"/>
                <a:gd name="T6" fmla="*/ 161 w 1751"/>
                <a:gd name="T7" fmla="*/ 3527 h 4481"/>
                <a:gd name="T8" fmla="*/ 19 w 1751"/>
                <a:gd name="T9" fmla="*/ 4087 h 4481"/>
                <a:gd name="T10" fmla="*/ 17 w 1751"/>
                <a:gd name="T11" fmla="*/ 4090 h 4481"/>
                <a:gd name="T12" fmla="*/ 0 w 1751"/>
                <a:gd name="T13" fmla="*/ 4110 h 4481"/>
                <a:gd name="T14" fmla="*/ 393 w 1751"/>
                <a:gd name="T15" fmla="*/ 4481 h 4481"/>
                <a:gd name="T16" fmla="*/ 1751 w 1751"/>
                <a:gd name="T17" fmla="*/ 4481 h 4481"/>
                <a:gd name="T18" fmla="*/ 1751 w 1751"/>
                <a:gd name="T19" fmla="*/ 0 h 4481"/>
                <a:gd name="T20" fmla="*/ 509 w 1751"/>
                <a:gd name="T21" fmla="*/ 0 h 44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51" h="4481">
                  <a:moveTo>
                    <a:pt x="509" y="0"/>
                  </a:moveTo>
                  <a:cubicBezTo>
                    <a:pt x="509" y="2792"/>
                    <a:pt x="509" y="2792"/>
                    <a:pt x="509" y="2792"/>
                  </a:cubicBezTo>
                  <a:cubicBezTo>
                    <a:pt x="161" y="2452"/>
                    <a:pt x="161" y="2452"/>
                    <a:pt x="161" y="2452"/>
                  </a:cubicBezTo>
                  <a:cubicBezTo>
                    <a:pt x="161" y="3527"/>
                    <a:pt x="161" y="3527"/>
                    <a:pt x="161" y="3527"/>
                  </a:cubicBezTo>
                  <a:cubicBezTo>
                    <a:pt x="161" y="3775"/>
                    <a:pt x="139" y="3938"/>
                    <a:pt x="19" y="4087"/>
                  </a:cubicBezTo>
                  <a:cubicBezTo>
                    <a:pt x="17" y="4090"/>
                    <a:pt x="17" y="4090"/>
                    <a:pt x="17" y="4090"/>
                  </a:cubicBezTo>
                  <a:cubicBezTo>
                    <a:pt x="11" y="4097"/>
                    <a:pt x="5" y="4103"/>
                    <a:pt x="0" y="4110"/>
                  </a:cubicBezTo>
                  <a:cubicBezTo>
                    <a:pt x="393" y="4481"/>
                    <a:pt x="393" y="4481"/>
                    <a:pt x="393" y="4481"/>
                  </a:cubicBezTo>
                  <a:cubicBezTo>
                    <a:pt x="1751" y="4481"/>
                    <a:pt x="1751" y="4481"/>
                    <a:pt x="1751" y="4481"/>
                  </a:cubicBezTo>
                  <a:cubicBezTo>
                    <a:pt x="1751" y="0"/>
                    <a:pt x="1751" y="0"/>
                    <a:pt x="1751" y="0"/>
                  </a:cubicBezTo>
                  <a:lnTo>
                    <a:pt x="50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41" name="Freeform 40">
              <a:extLst>
                <a:ext uri="{FF2B5EF4-FFF2-40B4-BE49-F238E27FC236}">
                  <a16:creationId xmlns:a16="http://schemas.microsoft.com/office/drawing/2014/main" id="{0B104E08-0240-0A4C-8DC6-02A087EB8856}"/>
                </a:ext>
              </a:extLst>
            </p:cNvPr>
            <p:cNvSpPr>
              <a:spLocks/>
            </p:cNvSpPr>
            <p:nvPr/>
          </p:nvSpPr>
          <p:spPr bwMode="auto">
            <a:xfrm>
              <a:off x="2850" y="1895"/>
              <a:ext cx="523" cy="1109"/>
            </a:xfrm>
            <a:custGeom>
              <a:avLst/>
              <a:gdLst>
                <a:gd name="T0" fmla="*/ 1242 w 2112"/>
                <a:gd name="T1" fmla="*/ 1773 h 4481"/>
                <a:gd name="T2" fmla="*/ 1839 w 2112"/>
                <a:gd name="T3" fmla="*/ 2338 h 4481"/>
                <a:gd name="T4" fmla="*/ 1856 w 2112"/>
                <a:gd name="T5" fmla="*/ 1719 h 4481"/>
                <a:gd name="T6" fmla="*/ 1912 w 2112"/>
                <a:gd name="T7" fmla="*/ 1629 h 4481"/>
                <a:gd name="T8" fmla="*/ 2062 w 2112"/>
                <a:gd name="T9" fmla="*/ 795 h 4481"/>
                <a:gd name="T10" fmla="*/ 2112 w 2112"/>
                <a:gd name="T11" fmla="*/ 740 h 4481"/>
                <a:gd name="T12" fmla="*/ 1354 w 2112"/>
                <a:gd name="T13" fmla="*/ 0 h 4481"/>
                <a:gd name="T14" fmla="*/ 0 w 2112"/>
                <a:gd name="T15" fmla="*/ 0 h 4481"/>
                <a:gd name="T16" fmla="*/ 0 w 2112"/>
                <a:gd name="T17" fmla="*/ 4481 h 4481"/>
                <a:gd name="T18" fmla="*/ 1242 w 2112"/>
                <a:gd name="T19" fmla="*/ 4481 h 4481"/>
                <a:gd name="T20" fmla="*/ 1242 w 2112"/>
                <a:gd name="T21" fmla="*/ 1773 h 44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12" h="4481">
                  <a:moveTo>
                    <a:pt x="1242" y="1773"/>
                  </a:moveTo>
                  <a:cubicBezTo>
                    <a:pt x="1242" y="1773"/>
                    <a:pt x="1790" y="2292"/>
                    <a:pt x="1839" y="2338"/>
                  </a:cubicBezTo>
                  <a:cubicBezTo>
                    <a:pt x="1787" y="2144"/>
                    <a:pt x="1751" y="1887"/>
                    <a:pt x="1856" y="1719"/>
                  </a:cubicBezTo>
                  <a:cubicBezTo>
                    <a:pt x="1912" y="1629"/>
                    <a:pt x="1912" y="1629"/>
                    <a:pt x="1912" y="1629"/>
                  </a:cubicBezTo>
                  <a:cubicBezTo>
                    <a:pt x="1855" y="1323"/>
                    <a:pt x="1869" y="1006"/>
                    <a:pt x="2062" y="795"/>
                  </a:cubicBezTo>
                  <a:cubicBezTo>
                    <a:pt x="2112" y="740"/>
                    <a:pt x="2112" y="740"/>
                    <a:pt x="2112" y="740"/>
                  </a:cubicBezTo>
                  <a:cubicBezTo>
                    <a:pt x="1354" y="0"/>
                    <a:pt x="1354" y="0"/>
                    <a:pt x="1354" y="0"/>
                  </a:cubicBezTo>
                  <a:cubicBezTo>
                    <a:pt x="0" y="0"/>
                    <a:pt x="0" y="0"/>
                    <a:pt x="0" y="0"/>
                  </a:cubicBezTo>
                  <a:cubicBezTo>
                    <a:pt x="0" y="4481"/>
                    <a:pt x="0" y="4481"/>
                    <a:pt x="0" y="4481"/>
                  </a:cubicBezTo>
                  <a:cubicBezTo>
                    <a:pt x="1242" y="4481"/>
                    <a:pt x="1242" y="4481"/>
                    <a:pt x="1242" y="4481"/>
                  </a:cubicBezTo>
                  <a:lnTo>
                    <a:pt x="1242" y="177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42" name="Freeform 41">
              <a:extLst>
                <a:ext uri="{FF2B5EF4-FFF2-40B4-BE49-F238E27FC236}">
                  <a16:creationId xmlns:a16="http://schemas.microsoft.com/office/drawing/2014/main" id="{576B74ED-9E8B-1F46-9FE9-A8B1E73E4571}"/>
                </a:ext>
              </a:extLst>
            </p:cNvPr>
            <p:cNvSpPr>
              <a:spLocks/>
            </p:cNvSpPr>
            <p:nvPr/>
          </p:nvSpPr>
          <p:spPr bwMode="auto">
            <a:xfrm>
              <a:off x="3792" y="3082"/>
              <a:ext cx="352" cy="210"/>
            </a:xfrm>
            <a:custGeom>
              <a:avLst/>
              <a:gdLst>
                <a:gd name="T0" fmla="*/ 264 w 1420"/>
                <a:gd name="T1" fmla="*/ 22 h 850"/>
                <a:gd name="T2" fmla="*/ 977 w 1420"/>
                <a:gd name="T3" fmla="*/ 90 h 850"/>
                <a:gd name="T4" fmla="*/ 1098 w 1420"/>
                <a:gd name="T5" fmla="*/ 235 h 850"/>
                <a:gd name="T6" fmla="*/ 839 w 1420"/>
                <a:gd name="T7" fmla="*/ 204 h 850"/>
                <a:gd name="T8" fmla="*/ 830 w 1420"/>
                <a:gd name="T9" fmla="*/ 299 h 850"/>
                <a:gd name="T10" fmla="*/ 1115 w 1420"/>
                <a:gd name="T11" fmla="*/ 258 h 850"/>
                <a:gd name="T12" fmla="*/ 1406 w 1420"/>
                <a:gd name="T13" fmla="*/ 463 h 850"/>
                <a:gd name="T14" fmla="*/ 1104 w 1420"/>
                <a:gd name="T15" fmla="*/ 436 h 850"/>
                <a:gd name="T16" fmla="*/ 636 w 1420"/>
                <a:gd name="T17" fmla="*/ 622 h 850"/>
                <a:gd name="T18" fmla="*/ 120 w 1420"/>
                <a:gd name="T19" fmla="*/ 850 h 850"/>
                <a:gd name="T20" fmla="*/ 429 w 1420"/>
                <a:gd name="T21" fmla="*/ 520 h 850"/>
                <a:gd name="T22" fmla="*/ 131 w 1420"/>
                <a:gd name="T23" fmla="*/ 416 h 850"/>
                <a:gd name="T24" fmla="*/ 375 w 1420"/>
                <a:gd name="T25" fmla="*/ 203 h 850"/>
                <a:gd name="T26" fmla="*/ 0 w 1420"/>
                <a:gd name="T27" fmla="*/ 0 h 850"/>
                <a:gd name="T28" fmla="*/ 264 w 1420"/>
                <a:gd name="T29" fmla="*/ 22 h 8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420" h="850">
                  <a:moveTo>
                    <a:pt x="264" y="22"/>
                  </a:moveTo>
                  <a:cubicBezTo>
                    <a:pt x="558" y="44"/>
                    <a:pt x="767" y="64"/>
                    <a:pt x="977" y="90"/>
                  </a:cubicBezTo>
                  <a:cubicBezTo>
                    <a:pt x="1057" y="100"/>
                    <a:pt x="1088" y="192"/>
                    <a:pt x="1098" y="235"/>
                  </a:cubicBezTo>
                  <a:cubicBezTo>
                    <a:pt x="998" y="210"/>
                    <a:pt x="839" y="204"/>
                    <a:pt x="839" y="204"/>
                  </a:cubicBezTo>
                  <a:cubicBezTo>
                    <a:pt x="830" y="299"/>
                    <a:pt x="830" y="299"/>
                    <a:pt x="830" y="299"/>
                  </a:cubicBezTo>
                  <a:cubicBezTo>
                    <a:pt x="830" y="299"/>
                    <a:pt x="966" y="260"/>
                    <a:pt x="1115" y="258"/>
                  </a:cubicBezTo>
                  <a:cubicBezTo>
                    <a:pt x="1115" y="258"/>
                    <a:pt x="1420" y="257"/>
                    <a:pt x="1406" y="463"/>
                  </a:cubicBezTo>
                  <a:cubicBezTo>
                    <a:pt x="1322" y="405"/>
                    <a:pt x="1152" y="428"/>
                    <a:pt x="1104" y="436"/>
                  </a:cubicBezTo>
                  <a:cubicBezTo>
                    <a:pt x="951" y="461"/>
                    <a:pt x="805" y="532"/>
                    <a:pt x="636" y="622"/>
                  </a:cubicBezTo>
                  <a:cubicBezTo>
                    <a:pt x="482" y="703"/>
                    <a:pt x="315" y="791"/>
                    <a:pt x="120" y="850"/>
                  </a:cubicBezTo>
                  <a:cubicBezTo>
                    <a:pt x="206" y="767"/>
                    <a:pt x="429" y="520"/>
                    <a:pt x="429" y="520"/>
                  </a:cubicBezTo>
                  <a:cubicBezTo>
                    <a:pt x="131" y="416"/>
                    <a:pt x="131" y="416"/>
                    <a:pt x="131" y="416"/>
                  </a:cubicBezTo>
                  <a:cubicBezTo>
                    <a:pt x="375" y="203"/>
                    <a:pt x="375" y="203"/>
                    <a:pt x="375" y="203"/>
                  </a:cubicBezTo>
                  <a:cubicBezTo>
                    <a:pt x="0" y="0"/>
                    <a:pt x="0" y="0"/>
                    <a:pt x="0" y="0"/>
                  </a:cubicBezTo>
                  <a:cubicBezTo>
                    <a:pt x="93" y="8"/>
                    <a:pt x="182" y="15"/>
                    <a:pt x="264" y="2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43" name="Freeform 42">
              <a:extLst>
                <a:ext uri="{FF2B5EF4-FFF2-40B4-BE49-F238E27FC236}">
                  <a16:creationId xmlns:a16="http://schemas.microsoft.com/office/drawing/2014/main" id="{030EBA72-A689-6944-90E7-3CCAAB129BDE}"/>
                </a:ext>
              </a:extLst>
            </p:cNvPr>
            <p:cNvSpPr>
              <a:spLocks/>
            </p:cNvSpPr>
            <p:nvPr/>
          </p:nvSpPr>
          <p:spPr bwMode="auto">
            <a:xfrm>
              <a:off x="3750" y="1503"/>
              <a:ext cx="59" cy="1386"/>
            </a:xfrm>
            <a:custGeom>
              <a:avLst/>
              <a:gdLst>
                <a:gd name="T0" fmla="*/ 236 w 236"/>
                <a:gd name="T1" fmla="*/ 0 h 5594"/>
                <a:gd name="T2" fmla="*/ 116 w 236"/>
                <a:gd name="T3" fmla="*/ 1792 h 5594"/>
                <a:gd name="T4" fmla="*/ 116 w 236"/>
                <a:gd name="T5" fmla="*/ 5108 h 5594"/>
                <a:gd name="T6" fmla="*/ 0 w 236"/>
                <a:gd name="T7" fmla="*/ 5594 h 5594"/>
              </a:gdLst>
              <a:ahLst/>
              <a:cxnLst>
                <a:cxn ang="0">
                  <a:pos x="T0" y="T1"/>
                </a:cxn>
                <a:cxn ang="0">
                  <a:pos x="T2" y="T3"/>
                </a:cxn>
                <a:cxn ang="0">
                  <a:pos x="T4" y="T5"/>
                </a:cxn>
                <a:cxn ang="0">
                  <a:pos x="T6" y="T7"/>
                </a:cxn>
              </a:cxnLst>
              <a:rect l="0" t="0" r="r" b="b"/>
              <a:pathLst>
                <a:path w="236" h="5594">
                  <a:moveTo>
                    <a:pt x="236" y="0"/>
                  </a:moveTo>
                  <a:cubicBezTo>
                    <a:pt x="236" y="0"/>
                    <a:pt x="116" y="644"/>
                    <a:pt x="116" y="1792"/>
                  </a:cubicBezTo>
                  <a:cubicBezTo>
                    <a:pt x="116" y="5108"/>
                    <a:pt x="116" y="5108"/>
                    <a:pt x="116" y="5108"/>
                  </a:cubicBezTo>
                  <a:cubicBezTo>
                    <a:pt x="116" y="5337"/>
                    <a:pt x="96" y="5474"/>
                    <a:pt x="0" y="559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44" name="Freeform 43">
              <a:extLst>
                <a:ext uri="{FF2B5EF4-FFF2-40B4-BE49-F238E27FC236}">
                  <a16:creationId xmlns:a16="http://schemas.microsoft.com/office/drawing/2014/main" id="{8621F305-98E4-E64E-9F5B-71DA3F4C5C35}"/>
                </a:ext>
              </a:extLst>
            </p:cNvPr>
            <p:cNvSpPr>
              <a:spLocks/>
            </p:cNvSpPr>
            <p:nvPr/>
          </p:nvSpPr>
          <p:spPr bwMode="auto">
            <a:xfrm>
              <a:off x="2919" y="1494"/>
              <a:ext cx="934" cy="1816"/>
            </a:xfrm>
            <a:custGeom>
              <a:avLst/>
              <a:gdLst>
                <a:gd name="T0" fmla="*/ 3358 w 3774"/>
                <a:gd name="T1" fmla="*/ 5632 h 7335"/>
                <a:gd name="T2" fmla="*/ 3079 w 3774"/>
                <a:gd name="T3" fmla="*/ 6187 h 7335"/>
                <a:gd name="T4" fmla="*/ 3079 w 3774"/>
                <a:gd name="T5" fmla="*/ 6187 h 7335"/>
                <a:gd name="T6" fmla="*/ 3302 w 3774"/>
                <a:gd name="T7" fmla="*/ 6410 h 7335"/>
                <a:gd name="T8" fmla="*/ 3720 w 3774"/>
                <a:gd name="T9" fmla="*/ 6636 h 7335"/>
                <a:gd name="T10" fmla="*/ 3449 w 3774"/>
                <a:gd name="T11" fmla="*/ 6873 h 7335"/>
                <a:gd name="T12" fmla="*/ 3774 w 3774"/>
                <a:gd name="T13" fmla="*/ 6975 h 7335"/>
                <a:gd name="T14" fmla="*/ 3441 w 3774"/>
                <a:gd name="T15" fmla="*/ 7312 h 7335"/>
                <a:gd name="T16" fmla="*/ 3169 w 3774"/>
                <a:gd name="T17" fmla="*/ 7335 h 7335"/>
                <a:gd name="T18" fmla="*/ 1281 w 3774"/>
                <a:gd name="T19" fmla="*/ 6924 h 7335"/>
                <a:gd name="T20" fmla="*/ 636 w 3774"/>
                <a:gd name="T21" fmla="*/ 7086 h 7335"/>
                <a:gd name="T22" fmla="*/ 823 w 3774"/>
                <a:gd name="T23" fmla="*/ 6882 h 7335"/>
                <a:gd name="T24" fmla="*/ 339 w 3774"/>
                <a:gd name="T25" fmla="*/ 6912 h 7335"/>
                <a:gd name="T26" fmla="*/ 675 w 3774"/>
                <a:gd name="T27" fmla="*/ 6684 h 7335"/>
                <a:gd name="T28" fmla="*/ 0 w 3774"/>
                <a:gd name="T29" fmla="*/ 6500 h 7335"/>
                <a:gd name="T30" fmla="*/ 1280 w 3774"/>
                <a:gd name="T31" fmla="*/ 6465 h 7335"/>
                <a:gd name="T32" fmla="*/ 2083 w 3774"/>
                <a:gd name="T33" fmla="*/ 6498 h 7335"/>
                <a:gd name="T34" fmla="*/ 1500 w 3774"/>
                <a:gd name="T35" fmla="*/ 6006 h 7335"/>
                <a:gd name="T36" fmla="*/ 1976 w 3774"/>
                <a:gd name="T37" fmla="*/ 6078 h 7335"/>
                <a:gd name="T38" fmla="*/ 1432 w 3774"/>
                <a:gd name="T39" fmla="*/ 5412 h 7335"/>
                <a:gd name="T40" fmla="*/ 1964 w 3774"/>
                <a:gd name="T41" fmla="*/ 5598 h 7335"/>
                <a:gd name="T42" fmla="*/ 1482 w 3774"/>
                <a:gd name="T43" fmla="*/ 4831 h 7335"/>
                <a:gd name="T44" fmla="*/ 1902 w 3774"/>
                <a:gd name="T45" fmla="*/ 5096 h 7335"/>
                <a:gd name="T46" fmla="*/ 1544 w 3774"/>
                <a:gd name="T47" fmla="*/ 4223 h 7335"/>
                <a:gd name="T48" fmla="*/ 1936 w 3774"/>
                <a:gd name="T49" fmla="*/ 4487 h 7335"/>
                <a:gd name="T50" fmla="*/ 1678 w 3774"/>
                <a:gd name="T51" fmla="*/ 3401 h 7335"/>
                <a:gd name="T52" fmla="*/ 2063 w 3774"/>
                <a:gd name="T53" fmla="*/ 4032 h 7335"/>
                <a:gd name="T54" fmla="*/ 1872 w 3774"/>
                <a:gd name="T55" fmla="*/ 2493 h 7335"/>
                <a:gd name="T56" fmla="*/ 2345 w 3774"/>
                <a:gd name="T57" fmla="*/ 3685 h 7335"/>
                <a:gd name="T58" fmla="*/ 2340 w 3774"/>
                <a:gd name="T59" fmla="*/ 1341 h 7335"/>
                <a:gd name="T60" fmla="*/ 2525 w 3774"/>
                <a:gd name="T61" fmla="*/ 2863 h 7335"/>
                <a:gd name="T62" fmla="*/ 3007 w 3774"/>
                <a:gd name="T63" fmla="*/ 550 h 7335"/>
                <a:gd name="T64" fmla="*/ 2911 w 3774"/>
                <a:gd name="T65" fmla="*/ 2268 h 7335"/>
                <a:gd name="T66" fmla="*/ 3594 w 3774"/>
                <a:gd name="T67" fmla="*/ 38 h 73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774" h="7335">
                  <a:moveTo>
                    <a:pt x="3358" y="5632"/>
                  </a:moveTo>
                  <a:cubicBezTo>
                    <a:pt x="3219" y="5793"/>
                    <a:pt x="3040" y="6021"/>
                    <a:pt x="3079" y="6187"/>
                  </a:cubicBezTo>
                  <a:cubicBezTo>
                    <a:pt x="3079" y="6187"/>
                    <a:pt x="3079" y="6187"/>
                    <a:pt x="3079" y="6187"/>
                  </a:cubicBezTo>
                  <a:cubicBezTo>
                    <a:pt x="3107" y="6325"/>
                    <a:pt x="3302" y="6410"/>
                    <a:pt x="3302" y="6410"/>
                  </a:cubicBezTo>
                  <a:cubicBezTo>
                    <a:pt x="3720" y="6636"/>
                    <a:pt x="3720" y="6636"/>
                    <a:pt x="3720" y="6636"/>
                  </a:cubicBezTo>
                  <a:cubicBezTo>
                    <a:pt x="3449" y="6873"/>
                    <a:pt x="3449" y="6873"/>
                    <a:pt x="3449" y="6873"/>
                  </a:cubicBezTo>
                  <a:cubicBezTo>
                    <a:pt x="3774" y="6975"/>
                    <a:pt x="3774" y="6975"/>
                    <a:pt x="3774" y="6975"/>
                  </a:cubicBezTo>
                  <a:cubicBezTo>
                    <a:pt x="3774" y="6975"/>
                    <a:pt x="3476" y="7281"/>
                    <a:pt x="3441" y="7312"/>
                  </a:cubicBezTo>
                  <a:cubicBezTo>
                    <a:pt x="3356" y="7326"/>
                    <a:pt x="3266" y="7335"/>
                    <a:pt x="3169" y="7335"/>
                  </a:cubicBezTo>
                  <a:cubicBezTo>
                    <a:pt x="2479" y="7335"/>
                    <a:pt x="1519" y="6927"/>
                    <a:pt x="1281" y="6924"/>
                  </a:cubicBezTo>
                  <a:cubicBezTo>
                    <a:pt x="995" y="6921"/>
                    <a:pt x="636" y="7086"/>
                    <a:pt x="636" y="7086"/>
                  </a:cubicBezTo>
                  <a:cubicBezTo>
                    <a:pt x="823" y="6882"/>
                    <a:pt x="823" y="6882"/>
                    <a:pt x="823" y="6882"/>
                  </a:cubicBezTo>
                  <a:cubicBezTo>
                    <a:pt x="823" y="6882"/>
                    <a:pt x="577" y="6932"/>
                    <a:pt x="339" y="6912"/>
                  </a:cubicBezTo>
                  <a:cubicBezTo>
                    <a:pt x="675" y="6684"/>
                    <a:pt x="675" y="6684"/>
                    <a:pt x="675" y="6684"/>
                  </a:cubicBezTo>
                  <a:cubicBezTo>
                    <a:pt x="380" y="6674"/>
                    <a:pt x="122" y="6586"/>
                    <a:pt x="0" y="6500"/>
                  </a:cubicBezTo>
                  <a:cubicBezTo>
                    <a:pt x="0" y="6500"/>
                    <a:pt x="543" y="6457"/>
                    <a:pt x="1280" y="6465"/>
                  </a:cubicBezTo>
                  <a:cubicBezTo>
                    <a:pt x="1578" y="6468"/>
                    <a:pt x="2083" y="6498"/>
                    <a:pt x="2083" y="6498"/>
                  </a:cubicBezTo>
                  <a:cubicBezTo>
                    <a:pt x="1834" y="6392"/>
                    <a:pt x="1600" y="6252"/>
                    <a:pt x="1500" y="6006"/>
                  </a:cubicBezTo>
                  <a:cubicBezTo>
                    <a:pt x="1976" y="6078"/>
                    <a:pt x="1976" y="6078"/>
                    <a:pt x="1976" y="6078"/>
                  </a:cubicBezTo>
                  <a:cubicBezTo>
                    <a:pt x="1776" y="5956"/>
                    <a:pt x="1486" y="5649"/>
                    <a:pt x="1432" y="5412"/>
                  </a:cubicBezTo>
                  <a:cubicBezTo>
                    <a:pt x="1964" y="5598"/>
                    <a:pt x="1964" y="5598"/>
                    <a:pt x="1964" y="5598"/>
                  </a:cubicBezTo>
                  <a:cubicBezTo>
                    <a:pt x="1869" y="5496"/>
                    <a:pt x="1541" y="5188"/>
                    <a:pt x="1482" y="4831"/>
                  </a:cubicBezTo>
                  <a:cubicBezTo>
                    <a:pt x="1902" y="5096"/>
                    <a:pt x="1902" y="5096"/>
                    <a:pt x="1902" y="5096"/>
                  </a:cubicBezTo>
                  <a:cubicBezTo>
                    <a:pt x="1792" y="4985"/>
                    <a:pt x="1493" y="4396"/>
                    <a:pt x="1544" y="4223"/>
                  </a:cubicBezTo>
                  <a:cubicBezTo>
                    <a:pt x="1936" y="4487"/>
                    <a:pt x="1936" y="4487"/>
                    <a:pt x="1936" y="4487"/>
                  </a:cubicBezTo>
                  <a:cubicBezTo>
                    <a:pt x="1748" y="4255"/>
                    <a:pt x="1529" y="3640"/>
                    <a:pt x="1678" y="3401"/>
                  </a:cubicBezTo>
                  <a:cubicBezTo>
                    <a:pt x="1797" y="3864"/>
                    <a:pt x="2063" y="4032"/>
                    <a:pt x="2063" y="4032"/>
                  </a:cubicBezTo>
                  <a:cubicBezTo>
                    <a:pt x="1889" y="3780"/>
                    <a:pt x="1513" y="2887"/>
                    <a:pt x="1872" y="2493"/>
                  </a:cubicBezTo>
                  <a:cubicBezTo>
                    <a:pt x="1966" y="3384"/>
                    <a:pt x="2345" y="3685"/>
                    <a:pt x="2345" y="3685"/>
                  </a:cubicBezTo>
                  <a:cubicBezTo>
                    <a:pt x="2031" y="3186"/>
                    <a:pt x="1674" y="1652"/>
                    <a:pt x="2340" y="1341"/>
                  </a:cubicBezTo>
                  <a:cubicBezTo>
                    <a:pt x="2210" y="2327"/>
                    <a:pt x="2525" y="2863"/>
                    <a:pt x="2525" y="2863"/>
                  </a:cubicBezTo>
                  <a:cubicBezTo>
                    <a:pt x="2326" y="1955"/>
                    <a:pt x="2332" y="668"/>
                    <a:pt x="3007" y="550"/>
                  </a:cubicBezTo>
                  <a:cubicBezTo>
                    <a:pt x="2676" y="1520"/>
                    <a:pt x="2911" y="2268"/>
                    <a:pt x="2911" y="2268"/>
                  </a:cubicBezTo>
                  <a:cubicBezTo>
                    <a:pt x="2863" y="0"/>
                    <a:pt x="3594" y="38"/>
                    <a:pt x="3594" y="3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grpSp>
      <p:sp>
        <p:nvSpPr>
          <p:cNvPr id="25" name="Title 1">
            <a:extLst>
              <a:ext uri="{FF2B5EF4-FFF2-40B4-BE49-F238E27FC236}">
                <a16:creationId xmlns:a16="http://schemas.microsoft.com/office/drawing/2014/main" id="{1061EFA8-D1BD-1848-B96E-246A948FC007}"/>
              </a:ext>
            </a:extLst>
          </p:cNvPr>
          <p:cNvSpPr>
            <a:spLocks noGrp="1"/>
          </p:cNvSpPr>
          <p:nvPr>
            <p:ph type="title"/>
          </p:nvPr>
        </p:nvSpPr>
        <p:spPr>
          <a:xfrm>
            <a:off x="504825" y="549277"/>
            <a:ext cx="5770564" cy="1653686"/>
          </a:xfrm>
        </p:spPr>
        <p:txBody>
          <a:bodyPr/>
          <a:lstStyle>
            <a:lvl1pPr>
              <a:defRPr>
                <a:solidFill>
                  <a:schemeClr val="bg1"/>
                </a:solidFill>
              </a:defRPr>
            </a:lvl1pPr>
          </a:lstStyle>
          <a:p>
            <a:r>
              <a:rPr lang="en-US"/>
              <a:t>Click to edit Master title style</a:t>
            </a:r>
            <a:endParaRPr lang="en-GB"/>
          </a:p>
        </p:txBody>
      </p:sp>
      <p:sp>
        <p:nvSpPr>
          <p:cNvPr id="48" name="Text Placeholder 3">
            <a:extLst>
              <a:ext uri="{FF2B5EF4-FFF2-40B4-BE49-F238E27FC236}">
                <a16:creationId xmlns:a16="http://schemas.microsoft.com/office/drawing/2014/main" id="{F5506C4E-03D4-BD41-A775-BC177E6071DC}"/>
              </a:ext>
            </a:extLst>
          </p:cNvPr>
          <p:cNvSpPr>
            <a:spLocks noGrp="1"/>
          </p:cNvSpPr>
          <p:nvPr>
            <p:ph type="body" sz="quarter" idx="12"/>
          </p:nvPr>
        </p:nvSpPr>
        <p:spPr>
          <a:xfrm>
            <a:off x="504831" y="2442198"/>
            <a:ext cx="2726057" cy="986806"/>
          </a:xfrm>
        </p:spPr>
        <p:txBody>
          <a:bodyPr/>
          <a:lstStyle>
            <a:lvl1pPr>
              <a:lnSpc>
                <a:spcPct val="112000"/>
              </a:lnSpc>
              <a:spcAft>
                <a:spcPts val="0"/>
              </a:spcAft>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p:txBody>
      </p:sp>
      <p:sp>
        <p:nvSpPr>
          <p:cNvPr id="49" name="Text Placeholder 3">
            <a:extLst>
              <a:ext uri="{FF2B5EF4-FFF2-40B4-BE49-F238E27FC236}">
                <a16:creationId xmlns:a16="http://schemas.microsoft.com/office/drawing/2014/main" id="{9AFA0A99-C125-9748-B85D-2523356ED05E}"/>
              </a:ext>
            </a:extLst>
          </p:cNvPr>
          <p:cNvSpPr>
            <a:spLocks noGrp="1"/>
          </p:cNvSpPr>
          <p:nvPr>
            <p:ph type="body" sz="quarter" idx="13"/>
          </p:nvPr>
        </p:nvSpPr>
        <p:spPr>
          <a:xfrm>
            <a:off x="3549339" y="2442198"/>
            <a:ext cx="2726057" cy="986806"/>
          </a:xfrm>
        </p:spPr>
        <p:txBody>
          <a:bodyPr/>
          <a:lstStyle>
            <a:lvl1pPr>
              <a:lnSpc>
                <a:spcPct val="112000"/>
              </a:lnSpc>
              <a:spcAft>
                <a:spcPts val="0"/>
              </a:spcAft>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3891629301"/>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1_Title Slide 3">
    <p:bg>
      <p:bgPr>
        <a:solidFill>
          <a:schemeClr val="tx2"/>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4AB28DA-8311-4C87-A270-A26F9574C960}"/>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grpSp>
        <p:nvGrpSpPr>
          <p:cNvPr id="26" name="Group 25">
            <a:extLst>
              <a:ext uri="{FF2B5EF4-FFF2-40B4-BE49-F238E27FC236}">
                <a16:creationId xmlns:a16="http://schemas.microsoft.com/office/drawing/2014/main" id="{746CECC4-0A48-724D-9DE8-9BE917B1CCF3}"/>
              </a:ext>
            </a:extLst>
          </p:cNvPr>
          <p:cNvGrpSpPr>
            <a:grpSpLocks noChangeAspect="1"/>
          </p:cNvGrpSpPr>
          <p:nvPr/>
        </p:nvGrpSpPr>
        <p:grpSpPr bwMode="auto">
          <a:xfrm>
            <a:off x="9483956" y="4094268"/>
            <a:ext cx="1991010" cy="1986618"/>
            <a:chOff x="2464" y="1494"/>
            <a:chExt cx="2267" cy="2262"/>
          </a:xfrm>
          <a:solidFill>
            <a:schemeClr val="bg1"/>
          </a:solidFill>
        </p:grpSpPr>
        <p:sp>
          <p:nvSpPr>
            <p:cNvPr id="27" name="Oval 26">
              <a:extLst>
                <a:ext uri="{FF2B5EF4-FFF2-40B4-BE49-F238E27FC236}">
                  <a16:creationId xmlns:a16="http://schemas.microsoft.com/office/drawing/2014/main" id="{500EB822-4111-2847-B3A2-1359C1D5DA7E}"/>
                </a:ext>
              </a:extLst>
            </p:cNvPr>
            <p:cNvSpPr>
              <a:spLocks noChangeArrowheads="1"/>
            </p:cNvSpPr>
            <p:nvPr/>
          </p:nvSpPr>
          <p:spPr bwMode="auto">
            <a:xfrm>
              <a:off x="3170" y="3451"/>
              <a:ext cx="70" cy="6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28" name="Oval 27">
              <a:extLst>
                <a:ext uri="{FF2B5EF4-FFF2-40B4-BE49-F238E27FC236}">
                  <a16:creationId xmlns:a16="http://schemas.microsoft.com/office/drawing/2014/main" id="{19422B8E-4042-CB44-9F86-7E9AD2FC0571}"/>
                </a:ext>
              </a:extLst>
            </p:cNvPr>
            <p:cNvSpPr>
              <a:spLocks noChangeArrowheads="1"/>
            </p:cNvSpPr>
            <p:nvPr/>
          </p:nvSpPr>
          <p:spPr bwMode="auto">
            <a:xfrm>
              <a:off x="4070" y="3451"/>
              <a:ext cx="71" cy="6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29" name="Freeform 28">
              <a:extLst>
                <a:ext uri="{FF2B5EF4-FFF2-40B4-BE49-F238E27FC236}">
                  <a16:creationId xmlns:a16="http://schemas.microsoft.com/office/drawing/2014/main" id="{4EEF6F4E-A015-DF4B-940D-0C781730157B}"/>
                </a:ext>
              </a:extLst>
            </p:cNvPr>
            <p:cNvSpPr>
              <a:spLocks noEditPoints="1"/>
            </p:cNvSpPr>
            <p:nvPr/>
          </p:nvSpPr>
          <p:spPr bwMode="auto">
            <a:xfrm>
              <a:off x="2771" y="3538"/>
              <a:ext cx="191" cy="218"/>
            </a:xfrm>
            <a:custGeom>
              <a:avLst/>
              <a:gdLst>
                <a:gd name="T0" fmla="*/ 770 w 770"/>
                <a:gd name="T1" fmla="*/ 353 h 881"/>
                <a:gd name="T2" fmla="*/ 770 w 770"/>
                <a:gd name="T3" fmla="*/ 857 h 881"/>
                <a:gd name="T4" fmla="*/ 550 w 770"/>
                <a:gd name="T5" fmla="*/ 857 h 881"/>
                <a:gd name="T6" fmla="*/ 550 w 770"/>
                <a:gd name="T7" fmla="*/ 772 h 881"/>
                <a:gd name="T8" fmla="*/ 310 w 770"/>
                <a:gd name="T9" fmla="*/ 876 h 881"/>
                <a:gd name="T10" fmla="*/ 0 w 770"/>
                <a:gd name="T11" fmla="*/ 617 h 881"/>
                <a:gd name="T12" fmla="*/ 514 w 770"/>
                <a:gd name="T13" fmla="*/ 320 h 881"/>
                <a:gd name="T14" fmla="*/ 543 w 770"/>
                <a:gd name="T15" fmla="*/ 320 h 881"/>
                <a:gd name="T16" fmla="*/ 379 w 770"/>
                <a:gd name="T17" fmla="*/ 190 h 881"/>
                <a:gd name="T18" fmla="*/ 155 w 770"/>
                <a:gd name="T19" fmla="*/ 270 h 881"/>
                <a:gd name="T20" fmla="*/ 22 w 770"/>
                <a:gd name="T21" fmla="*/ 137 h 881"/>
                <a:gd name="T22" fmla="*/ 385 w 770"/>
                <a:gd name="T23" fmla="*/ 0 h 881"/>
                <a:gd name="T24" fmla="*/ 682 w 770"/>
                <a:gd name="T25" fmla="*/ 91 h 881"/>
                <a:gd name="T26" fmla="*/ 770 w 770"/>
                <a:gd name="T27" fmla="*/ 353 h 881"/>
                <a:gd name="T28" fmla="*/ 543 w 770"/>
                <a:gd name="T29" fmla="*/ 493 h 881"/>
                <a:gd name="T30" fmla="*/ 521 w 770"/>
                <a:gd name="T31" fmla="*/ 493 h 881"/>
                <a:gd name="T32" fmla="*/ 326 w 770"/>
                <a:gd name="T33" fmla="*/ 516 h 881"/>
                <a:gd name="T34" fmla="*/ 241 w 770"/>
                <a:gd name="T35" fmla="*/ 602 h 881"/>
                <a:gd name="T36" fmla="*/ 356 w 770"/>
                <a:gd name="T37" fmla="*/ 689 h 881"/>
                <a:gd name="T38" fmla="*/ 543 w 770"/>
                <a:gd name="T39" fmla="*/ 519 h 881"/>
                <a:gd name="T40" fmla="*/ 543 w 770"/>
                <a:gd name="T41" fmla="*/ 493 h 8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770" h="881">
                  <a:moveTo>
                    <a:pt x="770" y="353"/>
                  </a:moveTo>
                  <a:cubicBezTo>
                    <a:pt x="770" y="857"/>
                    <a:pt x="770" y="857"/>
                    <a:pt x="770" y="857"/>
                  </a:cubicBezTo>
                  <a:cubicBezTo>
                    <a:pt x="550" y="857"/>
                    <a:pt x="550" y="857"/>
                    <a:pt x="550" y="857"/>
                  </a:cubicBezTo>
                  <a:cubicBezTo>
                    <a:pt x="550" y="772"/>
                    <a:pt x="550" y="772"/>
                    <a:pt x="550" y="772"/>
                  </a:cubicBezTo>
                  <a:cubicBezTo>
                    <a:pt x="492" y="834"/>
                    <a:pt x="421" y="873"/>
                    <a:pt x="310" y="876"/>
                  </a:cubicBezTo>
                  <a:cubicBezTo>
                    <a:pt x="137" y="881"/>
                    <a:pt x="0" y="775"/>
                    <a:pt x="0" y="617"/>
                  </a:cubicBezTo>
                  <a:cubicBezTo>
                    <a:pt x="0" y="373"/>
                    <a:pt x="260" y="320"/>
                    <a:pt x="514" y="320"/>
                  </a:cubicBezTo>
                  <a:cubicBezTo>
                    <a:pt x="543" y="320"/>
                    <a:pt x="543" y="320"/>
                    <a:pt x="543" y="320"/>
                  </a:cubicBezTo>
                  <a:cubicBezTo>
                    <a:pt x="543" y="252"/>
                    <a:pt x="513" y="190"/>
                    <a:pt x="379" y="190"/>
                  </a:cubicBezTo>
                  <a:cubicBezTo>
                    <a:pt x="287" y="190"/>
                    <a:pt x="210" y="219"/>
                    <a:pt x="155" y="270"/>
                  </a:cubicBezTo>
                  <a:cubicBezTo>
                    <a:pt x="22" y="137"/>
                    <a:pt x="22" y="137"/>
                    <a:pt x="22" y="137"/>
                  </a:cubicBezTo>
                  <a:cubicBezTo>
                    <a:pt x="113" y="46"/>
                    <a:pt x="242" y="0"/>
                    <a:pt x="385" y="0"/>
                  </a:cubicBezTo>
                  <a:cubicBezTo>
                    <a:pt x="526" y="0"/>
                    <a:pt x="604" y="20"/>
                    <a:pt x="682" y="91"/>
                  </a:cubicBezTo>
                  <a:cubicBezTo>
                    <a:pt x="757" y="158"/>
                    <a:pt x="770" y="283"/>
                    <a:pt x="770" y="353"/>
                  </a:cubicBezTo>
                  <a:moveTo>
                    <a:pt x="543" y="493"/>
                  </a:moveTo>
                  <a:cubicBezTo>
                    <a:pt x="521" y="493"/>
                    <a:pt x="521" y="493"/>
                    <a:pt x="521" y="493"/>
                  </a:cubicBezTo>
                  <a:cubicBezTo>
                    <a:pt x="484" y="493"/>
                    <a:pt x="394" y="498"/>
                    <a:pt x="326" y="516"/>
                  </a:cubicBezTo>
                  <a:cubicBezTo>
                    <a:pt x="280" y="529"/>
                    <a:pt x="241" y="560"/>
                    <a:pt x="241" y="602"/>
                  </a:cubicBezTo>
                  <a:cubicBezTo>
                    <a:pt x="241" y="663"/>
                    <a:pt x="301" y="689"/>
                    <a:pt x="356" y="689"/>
                  </a:cubicBezTo>
                  <a:cubicBezTo>
                    <a:pt x="473" y="689"/>
                    <a:pt x="543" y="615"/>
                    <a:pt x="543" y="519"/>
                  </a:cubicBezTo>
                  <a:lnTo>
                    <a:pt x="543" y="49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30" name="Freeform 29">
              <a:extLst>
                <a:ext uri="{FF2B5EF4-FFF2-40B4-BE49-F238E27FC236}">
                  <a16:creationId xmlns:a16="http://schemas.microsoft.com/office/drawing/2014/main" id="{33E57ED8-1DDF-334D-BC51-56C7A35A5D58}"/>
                </a:ext>
              </a:extLst>
            </p:cNvPr>
            <p:cNvSpPr>
              <a:spLocks/>
            </p:cNvSpPr>
            <p:nvPr/>
          </p:nvSpPr>
          <p:spPr bwMode="auto">
            <a:xfrm>
              <a:off x="2983" y="3477"/>
              <a:ext cx="154" cy="278"/>
            </a:xfrm>
            <a:custGeom>
              <a:avLst/>
              <a:gdLst>
                <a:gd name="T0" fmla="*/ 401 w 622"/>
                <a:gd name="T1" fmla="*/ 264 h 1120"/>
                <a:gd name="T2" fmla="*/ 401 w 622"/>
                <a:gd name="T3" fmla="*/ 0 h 1120"/>
                <a:gd name="T4" fmla="*/ 163 w 622"/>
                <a:gd name="T5" fmla="*/ 0 h 1120"/>
                <a:gd name="T6" fmla="*/ 163 w 622"/>
                <a:gd name="T7" fmla="*/ 264 h 1120"/>
                <a:gd name="T8" fmla="*/ 0 w 622"/>
                <a:gd name="T9" fmla="*/ 264 h 1120"/>
                <a:gd name="T10" fmla="*/ 0 w 622"/>
                <a:gd name="T11" fmla="*/ 463 h 1120"/>
                <a:gd name="T12" fmla="*/ 163 w 622"/>
                <a:gd name="T13" fmla="*/ 463 h 1120"/>
                <a:gd name="T14" fmla="*/ 163 w 622"/>
                <a:gd name="T15" fmla="*/ 818 h 1120"/>
                <a:gd name="T16" fmla="*/ 231 w 622"/>
                <a:gd name="T17" fmla="*/ 1055 h 1120"/>
                <a:gd name="T18" fmla="*/ 444 w 622"/>
                <a:gd name="T19" fmla="*/ 1120 h 1120"/>
                <a:gd name="T20" fmla="*/ 622 w 622"/>
                <a:gd name="T21" fmla="*/ 1086 h 1120"/>
                <a:gd name="T22" fmla="*/ 622 w 622"/>
                <a:gd name="T23" fmla="*/ 898 h 1120"/>
                <a:gd name="T24" fmla="*/ 494 w 622"/>
                <a:gd name="T25" fmla="*/ 915 h 1120"/>
                <a:gd name="T26" fmla="*/ 401 w 622"/>
                <a:gd name="T27" fmla="*/ 807 h 1120"/>
                <a:gd name="T28" fmla="*/ 401 w 622"/>
                <a:gd name="T29" fmla="*/ 463 h 1120"/>
                <a:gd name="T30" fmla="*/ 622 w 622"/>
                <a:gd name="T31" fmla="*/ 463 h 1120"/>
                <a:gd name="T32" fmla="*/ 622 w 622"/>
                <a:gd name="T33" fmla="*/ 264 h 1120"/>
                <a:gd name="T34" fmla="*/ 401 w 622"/>
                <a:gd name="T35" fmla="*/ 264 h 1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22" h="1120">
                  <a:moveTo>
                    <a:pt x="401" y="264"/>
                  </a:moveTo>
                  <a:cubicBezTo>
                    <a:pt x="401" y="0"/>
                    <a:pt x="401" y="0"/>
                    <a:pt x="401" y="0"/>
                  </a:cubicBezTo>
                  <a:cubicBezTo>
                    <a:pt x="163" y="0"/>
                    <a:pt x="163" y="0"/>
                    <a:pt x="163" y="0"/>
                  </a:cubicBezTo>
                  <a:cubicBezTo>
                    <a:pt x="163" y="264"/>
                    <a:pt x="163" y="264"/>
                    <a:pt x="163" y="264"/>
                  </a:cubicBezTo>
                  <a:cubicBezTo>
                    <a:pt x="0" y="264"/>
                    <a:pt x="0" y="264"/>
                    <a:pt x="0" y="264"/>
                  </a:cubicBezTo>
                  <a:cubicBezTo>
                    <a:pt x="0" y="463"/>
                    <a:pt x="0" y="463"/>
                    <a:pt x="0" y="463"/>
                  </a:cubicBezTo>
                  <a:cubicBezTo>
                    <a:pt x="163" y="463"/>
                    <a:pt x="163" y="463"/>
                    <a:pt x="163" y="463"/>
                  </a:cubicBezTo>
                  <a:cubicBezTo>
                    <a:pt x="163" y="818"/>
                    <a:pt x="163" y="818"/>
                    <a:pt x="163" y="818"/>
                  </a:cubicBezTo>
                  <a:cubicBezTo>
                    <a:pt x="163" y="937"/>
                    <a:pt x="184" y="1008"/>
                    <a:pt x="231" y="1055"/>
                  </a:cubicBezTo>
                  <a:cubicBezTo>
                    <a:pt x="276" y="1099"/>
                    <a:pt x="343" y="1120"/>
                    <a:pt x="444" y="1120"/>
                  </a:cubicBezTo>
                  <a:cubicBezTo>
                    <a:pt x="508" y="1120"/>
                    <a:pt x="572" y="1108"/>
                    <a:pt x="622" y="1086"/>
                  </a:cubicBezTo>
                  <a:cubicBezTo>
                    <a:pt x="622" y="898"/>
                    <a:pt x="622" y="898"/>
                    <a:pt x="622" y="898"/>
                  </a:cubicBezTo>
                  <a:cubicBezTo>
                    <a:pt x="592" y="908"/>
                    <a:pt x="549" y="915"/>
                    <a:pt x="494" y="915"/>
                  </a:cubicBezTo>
                  <a:cubicBezTo>
                    <a:pt x="420" y="915"/>
                    <a:pt x="401" y="874"/>
                    <a:pt x="401" y="807"/>
                  </a:cubicBezTo>
                  <a:cubicBezTo>
                    <a:pt x="401" y="463"/>
                    <a:pt x="401" y="463"/>
                    <a:pt x="401" y="463"/>
                  </a:cubicBezTo>
                  <a:cubicBezTo>
                    <a:pt x="622" y="463"/>
                    <a:pt x="622" y="463"/>
                    <a:pt x="622" y="463"/>
                  </a:cubicBezTo>
                  <a:cubicBezTo>
                    <a:pt x="622" y="264"/>
                    <a:pt x="622" y="264"/>
                    <a:pt x="622" y="264"/>
                  </a:cubicBezTo>
                  <a:lnTo>
                    <a:pt x="401" y="26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31" name="Freeform 30">
              <a:extLst>
                <a:ext uri="{FF2B5EF4-FFF2-40B4-BE49-F238E27FC236}">
                  <a16:creationId xmlns:a16="http://schemas.microsoft.com/office/drawing/2014/main" id="{A2091A0A-1651-184C-B7E6-735099B4FAB3}"/>
                </a:ext>
              </a:extLst>
            </p:cNvPr>
            <p:cNvSpPr>
              <a:spLocks noEditPoints="1"/>
            </p:cNvSpPr>
            <p:nvPr/>
          </p:nvSpPr>
          <p:spPr bwMode="auto">
            <a:xfrm>
              <a:off x="4426" y="3538"/>
              <a:ext cx="213" cy="217"/>
            </a:xfrm>
            <a:custGeom>
              <a:avLst/>
              <a:gdLst>
                <a:gd name="T0" fmla="*/ 857 w 857"/>
                <a:gd name="T1" fmla="*/ 453 h 876"/>
                <a:gd name="T2" fmla="*/ 857 w 857"/>
                <a:gd name="T3" fmla="*/ 516 h 876"/>
                <a:gd name="T4" fmla="*/ 244 w 857"/>
                <a:gd name="T5" fmla="*/ 516 h 876"/>
                <a:gd name="T6" fmla="*/ 459 w 857"/>
                <a:gd name="T7" fmla="*/ 680 h 876"/>
                <a:gd name="T8" fmla="*/ 678 w 857"/>
                <a:gd name="T9" fmla="*/ 583 h 876"/>
                <a:gd name="T10" fmla="*/ 829 w 857"/>
                <a:gd name="T11" fmla="*/ 693 h 876"/>
                <a:gd name="T12" fmla="*/ 463 w 857"/>
                <a:gd name="T13" fmla="*/ 876 h 876"/>
                <a:gd name="T14" fmla="*/ 0 w 857"/>
                <a:gd name="T15" fmla="*/ 438 h 876"/>
                <a:gd name="T16" fmla="*/ 433 w 857"/>
                <a:gd name="T17" fmla="*/ 0 h 876"/>
                <a:gd name="T18" fmla="*/ 857 w 857"/>
                <a:gd name="T19" fmla="*/ 453 h 876"/>
                <a:gd name="T20" fmla="*/ 605 w 857"/>
                <a:gd name="T21" fmla="*/ 345 h 876"/>
                <a:gd name="T22" fmla="*/ 425 w 857"/>
                <a:gd name="T23" fmla="*/ 189 h 876"/>
                <a:gd name="T24" fmla="*/ 245 w 857"/>
                <a:gd name="T25" fmla="*/ 345 h 876"/>
                <a:gd name="T26" fmla="*/ 605 w 857"/>
                <a:gd name="T27" fmla="*/ 345 h 8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57" h="876">
                  <a:moveTo>
                    <a:pt x="857" y="453"/>
                  </a:moveTo>
                  <a:cubicBezTo>
                    <a:pt x="857" y="516"/>
                    <a:pt x="857" y="516"/>
                    <a:pt x="857" y="516"/>
                  </a:cubicBezTo>
                  <a:cubicBezTo>
                    <a:pt x="244" y="516"/>
                    <a:pt x="244" y="516"/>
                    <a:pt x="244" y="516"/>
                  </a:cubicBezTo>
                  <a:cubicBezTo>
                    <a:pt x="249" y="602"/>
                    <a:pt x="345" y="675"/>
                    <a:pt x="459" y="680"/>
                  </a:cubicBezTo>
                  <a:cubicBezTo>
                    <a:pt x="565" y="684"/>
                    <a:pt x="623" y="642"/>
                    <a:pt x="678" y="583"/>
                  </a:cubicBezTo>
                  <a:cubicBezTo>
                    <a:pt x="829" y="693"/>
                    <a:pt x="829" y="693"/>
                    <a:pt x="829" y="693"/>
                  </a:cubicBezTo>
                  <a:cubicBezTo>
                    <a:pt x="737" y="809"/>
                    <a:pt x="624" y="876"/>
                    <a:pt x="463" y="876"/>
                  </a:cubicBezTo>
                  <a:cubicBezTo>
                    <a:pt x="208" y="876"/>
                    <a:pt x="0" y="718"/>
                    <a:pt x="0" y="438"/>
                  </a:cubicBezTo>
                  <a:cubicBezTo>
                    <a:pt x="0" y="215"/>
                    <a:pt x="139" y="0"/>
                    <a:pt x="433" y="0"/>
                  </a:cubicBezTo>
                  <a:cubicBezTo>
                    <a:pt x="736" y="0"/>
                    <a:pt x="857" y="235"/>
                    <a:pt x="857" y="453"/>
                  </a:cubicBezTo>
                  <a:moveTo>
                    <a:pt x="605" y="345"/>
                  </a:moveTo>
                  <a:cubicBezTo>
                    <a:pt x="594" y="254"/>
                    <a:pt x="544" y="187"/>
                    <a:pt x="425" y="189"/>
                  </a:cubicBezTo>
                  <a:cubicBezTo>
                    <a:pt x="324" y="191"/>
                    <a:pt x="256" y="259"/>
                    <a:pt x="245" y="345"/>
                  </a:cubicBezTo>
                  <a:lnTo>
                    <a:pt x="605" y="34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32" name="Freeform 31">
              <a:extLst>
                <a:ext uri="{FF2B5EF4-FFF2-40B4-BE49-F238E27FC236}">
                  <a16:creationId xmlns:a16="http://schemas.microsoft.com/office/drawing/2014/main" id="{B305946B-C562-4B4E-9AC0-91E41860A4F6}"/>
                </a:ext>
              </a:extLst>
            </p:cNvPr>
            <p:cNvSpPr>
              <a:spLocks/>
            </p:cNvSpPr>
            <p:nvPr/>
          </p:nvSpPr>
          <p:spPr bwMode="auto">
            <a:xfrm>
              <a:off x="2464" y="3449"/>
              <a:ext cx="272" cy="301"/>
            </a:xfrm>
            <a:custGeom>
              <a:avLst/>
              <a:gdLst>
                <a:gd name="T0" fmla="*/ 207 w 272"/>
                <a:gd name="T1" fmla="*/ 0 h 301"/>
                <a:gd name="T2" fmla="*/ 207 w 272"/>
                <a:gd name="T3" fmla="*/ 204 h 301"/>
                <a:gd name="T4" fmla="*/ 80 w 272"/>
                <a:gd name="T5" fmla="*/ 0 h 301"/>
                <a:gd name="T6" fmla="*/ 0 w 272"/>
                <a:gd name="T7" fmla="*/ 0 h 301"/>
                <a:gd name="T8" fmla="*/ 0 w 272"/>
                <a:gd name="T9" fmla="*/ 301 h 301"/>
                <a:gd name="T10" fmla="*/ 65 w 272"/>
                <a:gd name="T11" fmla="*/ 301 h 301"/>
                <a:gd name="T12" fmla="*/ 65 w 272"/>
                <a:gd name="T13" fmla="*/ 90 h 301"/>
                <a:gd name="T14" fmla="*/ 196 w 272"/>
                <a:gd name="T15" fmla="*/ 301 h 301"/>
                <a:gd name="T16" fmla="*/ 272 w 272"/>
                <a:gd name="T17" fmla="*/ 301 h 301"/>
                <a:gd name="T18" fmla="*/ 272 w 272"/>
                <a:gd name="T19" fmla="*/ 0 h 301"/>
                <a:gd name="T20" fmla="*/ 207 w 272"/>
                <a:gd name="T21" fmla="*/ 0 h 3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72" h="301">
                  <a:moveTo>
                    <a:pt x="207" y="0"/>
                  </a:moveTo>
                  <a:lnTo>
                    <a:pt x="207" y="204"/>
                  </a:lnTo>
                  <a:lnTo>
                    <a:pt x="80" y="0"/>
                  </a:lnTo>
                  <a:lnTo>
                    <a:pt x="0" y="0"/>
                  </a:lnTo>
                  <a:lnTo>
                    <a:pt x="0" y="301"/>
                  </a:lnTo>
                  <a:lnTo>
                    <a:pt x="65" y="301"/>
                  </a:lnTo>
                  <a:lnTo>
                    <a:pt x="65" y="90"/>
                  </a:lnTo>
                  <a:lnTo>
                    <a:pt x="196" y="301"/>
                  </a:lnTo>
                  <a:lnTo>
                    <a:pt x="272" y="301"/>
                  </a:lnTo>
                  <a:lnTo>
                    <a:pt x="272" y="0"/>
                  </a:lnTo>
                  <a:lnTo>
                    <a:pt x="207"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33" name="Freeform 32">
              <a:extLst>
                <a:ext uri="{FF2B5EF4-FFF2-40B4-BE49-F238E27FC236}">
                  <a16:creationId xmlns:a16="http://schemas.microsoft.com/office/drawing/2014/main" id="{FB9DAA7A-7179-D14A-AE50-DEF5D04F4FA9}"/>
                </a:ext>
              </a:extLst>
            </p:cNvPr>
            <p:cNvSpPr>
              <a:spLocks/>
            </p:cNvSpPr>
            <p:nvPr/>
          </p:nvSpPr>
          <p:spPr bwMode="auto">
            <a:xfrm>
              <a:off x="3734" y="3543"/>
              <a:ext cx="321" cy="207"/>
            </a:xfrm>
            <a:custGeom>
              <a:avLst/>
              <a:gdLst>
                <a:gd name="T0" fmla="*/ 259 w 321"/>
                <a:gd name="T1" fmla="*/ 0 h 207"/>
                <a:gd name="T2" fmla="*/ 226 w 321"/>
                <a:gd name="T3" fmla="*/ 129 h 207"/>
                <a:gd name="T4" fmla="*/ 192 w 321"/>
                <a:gd name="T5" fmla="*/ 0 h 207"/>
                <a:gd name="T6" fmla="*/ 131 w 321"/>
                <a:gd name="T7" fmla="*/ 0 h 207"/>
                <a:gd name="T8" fmla="*/ 98 w 321"/>
                <a:gd name="T9" fmla="*/ 128 h 207"/>
                <a:gd name="T10" fmla="*/ 65 w 321"/>
                <a:gd name="T11" fmla="*/ 0 h 207"/>
                <a:gd name="T12" fmla="*/ 0 w 321"/>
                <a:gd name="T13" fmla="*/ 0 h 207"/>
                <a:gd name="T14" fmla="*/ 66 w 321"/>
                <a:gd name="T15" fmla="*/ 207 h 207"/>
                <a:gd name="T16" fmla="*/ 125 w 321"/>
                <a:gd name="T17" fmla="*/ 207 h 207"/>
                <a:gd name="T18" fmla="*/ 161 w 321"/>
                <a:gd name="T19" fmla="*/ 77 h 207"/>
                <a:gd name="T20" fmla="*/ 201 w 321"/>
                <a:gd name="T21" fmla="*/ 207 h 207"/>
                <a:gd name="T22" fmla="*/ 255 w 321"/>
                <a:gd name="T23" fmla="*/ 207 h 207"/>
                <a:gd name="T24" fmla="*/ 321 w 321"/>
                <a:gd name="T25" fmla="*/ 0 h 207"/>
                <a:gd name="T26" fmla="*/ 259 w 321"/>
                <a:gd name="T27" fmla="*/ 0 h 2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21" h="207">
                  <a:moveTo>
                    <a:pt x="259" y="0"/>
                  </a:moveTo>
                  <a:lnTo>
                    <a:pt x="226" y="129"/>
                  </a:lnTo>
                  <a:lnTo>
                    <a:pt x="192" y="0"/>
                  </a:lnTo>
                  <a:lnTo>
                    <a:pt x="131" y="0"/>
                  </a:lnTo>
                  <a:lnTo>
                    <a:pt x="98" y="128"/>
                  </a:lnTo>
                  <a:lnTo>
                    <a:pt x="65" y="0"/>
                  </a:lnTo>
                  <a:lnTo>
                    <a:pt x="0" y="0"/>
                  </a:lnTo>
                  <a:lnTo>
                    <a:pt x="66" y="207"/>
                  </a:lnTo>
                  <a:lnTo>
                    <a:pt x="125" y="207"/>
                  </a:lnTo>
                  <a:lnTo>
                    <a:pt x="161" y="77"/>
                  </a:lnTo>
                  <a:lnTo>
                    <a:pt x="201" y="207"/>
                  </a:lnTo>
                  <a:lnTo>
                    <a:pt x="255" y="207"/>
                  </a:lnTo>
                  <a:lnTo>
                    <a:pt x="321" y="0"/>
                  </a:lnTo>
                  <a:lnTo>
                    <a:pt x="25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34" name="Freeform 33">
              <a:extLst>
                <a:ext uri="{FF2B5EF4-FFF2-40B4-BE49-F238E27FC236}">
                  <a16:creationId xmlns:a16="http://schemas.microsoft.com/office/drawing/2014/main" id="{BC13DBEE-C770-7041-AFA2-0C237AE02B77}"/>
                </a:ext>
              </a:extLst>
            </p:cNvPr>
            <p:cNvSpPr>
              <a:spLocks/>
            </p:cNvSpPr>
            <p:nvPr/>
          </p:nvSpPr>
          <p:spPr bwMode="auto">
            <a:xfrm>
              <a:off x="3175" y="3543"/>
              <a:ext cx="60" cy="207"/>
            </a:xfrm>
            <a:custGeom>
              <a:avLst/>
              <a:gdLst>
                <a:gd name="T0" fmla="*/ 60 w 60"/>
                <a:gd name="T1" fmla="*/ 0 h 207"/>
                <a:gd name="T2" fmla="*/ 0 w 60"/>
                <a:gd name="T3" fmla="*/ 0 h 207"/>
                <a:gd name="T4" fmla="*/ 0 w 60"/>
                <a:gd name="T5" fmla="*/ 106 h 207"/>
                <a:gd name="T6" fmla="*/ 0 w 60"/>
                <a:gd name="T7" fmla="*/ 207 h 207"/>
                <a:gd name="T8" fmla="*/ 60 w 60"/>
                <a:gd name="T9" fmla="*/ 207 h 207"/>
                <a:gd name="T10" fmla="*/ 60 w 60"/>
                <a:gd name="T11" fmla="*/ 106 h 207"/>
                <a:gd name="T12" fmla="*/ 60 w 60"/>
                <a:gd name="T13" fmla="*/ 0 h 207"/>
              </a:gdLst>
              <a:ahLst/>
              <a:cxnLst>
                <a:cxn ang="0">
                  <a:pos x="T0" y="T1"/>
                </a:cxn>
                <a:cxn ang="0">
                  <a:pos x="T2" y="T3"/>
                </a:cxn>
                <a:cxn ang="0">
                  <a:pos x="T4" y="T5"/>
                </a:cxn>
                <a:cxn ang="0">
                  <a:pos x="T6" y="T7"/>
                </a:cxn>
                <a:cxn ang="0">
                  <a:pos x="T8" y="T9"/>
                </a:cxn>
                <a:cxn ang="0">
                  <a:pos x="T10" y="T11"/>
                </a:cxn>
                <a:cxn ang="0">
                  <a:pos x="T12" y="T13"/>
                </a:cxn>
              </a:cxnLst>
              <a:rect l="0" t="0" r="r" b="b"/>
              <a:pathLst>
                <a:path w="60" h="207">
                  <a:moveTo>
                    <a:pt x="60" y="0"/>
                  </a:moveTo>
                  <a:lnTo>
                    <a:pt x="0" y="0"/>
                  </a:lnTo>
                  <a:lnTo>
                    <a:pt x="0" y="106"/>
                  </a:lnTo>
                  <a:lnTo>
                    <a:pt x="0" y="207"/>
                  </a:lnTo>
                  <a:lnTo>
                    <a:pt x="60" y="207"/>
                  </a:lnTo>
                  <a:lnTo>
                    <a:pt x="60" y="106"/>
                  </a:lnTo>
                  <a:lnTo>
                    <a:pt x="6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35" name="Freeform 34">
              <a:extLst>
                <a:ext uri="{FF2B5EF4-FFF2-40B4-BE49-F238E27FC236}">
                  <a16:creationId xmlns:a16="http://schemas.microsoft.com/office/drawing/2014/main" id="{25F55F6D-AE97-BC48-8FF0-AD9F705F70D3}"/>
                </a:ext>
              </a:extLst>
            </p:cNvPr>
            <p:cNvSpPr>
              <a:spLocks/>
            </p:cNvSpPr>
            <p:nvPr/>
          </p:nvSpPr>
          <p:spPr bwMode="auto">
            <a:xfrm>
              <a:off x="4076" y="3543"/>
              <a:ext cx="59" cy="207"/>
            </a:xfrm>
            <a:custGeom>
              <a:avLst/>
              <a:gdLst>
                <a:gd name="T0" fmla="*/ 59 w 59"/>
                <a:gd name="T1" fmla="*/ 0 h 207"/>
                <a:gd name="T2" fmla="*/ 0 w 59"/>
                <a:gd name="T3" fmla="*/ 0 h 207"/>
                <a:gd name="T4" fmla="*/ 0 w 59"/>
                <a:gd name="T5" fmla="*/ 106 h 207"/>
                <a:gd name="T6" fmla="*/ 0 w 59"/>
                <a:gd name="T7" fmla="*/ 207 h 207"/>
                <a:gd name="T8" fmla="*/ 59 w 59"/>
                <a:gd name="T9" fmla="*/ 207 h 207"/>
                <a:gd name="T10" fmla="*/ 59 w 59"/>
                <a:gd name="T11" fmla="*/ 106 h 207"/>
                <a:gd name="T12" fmla="*/ 59 w 59"/>
                <a:gd name="T13" fmla="*/ 0 h 207"/>
              </a:gdLst>
              <a:ahLst/>
              <a:cxnLst>
                <a:cxn ang="0">
                  <a:pos x="T0" y="T1"/>
                </a:cxn>
                <a:cxn ang="0">
                  <a:pos x="T2" y="T3"/>
                </a:cxn>
                <a:cxn ang="0">
                  <a:pos x="T4" y="T5"/>
                </a:cxn>
                <a:cxn ang="0">
                  <a:pos x="T6" y="T7"/>
                </a:cxn>
                <a:cxn ang="0">
                  <a:pos x="T8" y="T9"/>
                </a:cxn>
                <a:cxn ang="0">
                  <a:pos x="T10" y="T11"/>
                </a:cxn>
                <a:cxn ang="0">
                  <a:pos x="T12" y="T13"/>
                </a:cxn>
              </a:cxnLst>
              <a:rect l="0" t="0" r="r" b="b"/>
              <a:pathLst>
                <a:path w="59" h="207">
                  <a:moveTo>
                    <a:pt x="59" y="0"/>
                  </a:moveTo>
                  <a:lnTo>
                    <a:pt x="0" y="0"/>
                  </a:lnTo>
                  <a:lnTo>
                    <a:pt x="0" y="106"/>
                  </a:lnTo>
                  <a:lnTo>
                    <a:pt x="0" y="207"/>
                  </a:lnTo>
                  <a:lnTo>
                    <a:pt x="59" y="207"/>
                  </a:lnTo>
                  <a:lnTo>
                    <a:pt x="59" y="106"/>
                  </a:lnTo>
                  <a:lnTo>
                    <a:pt x="5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36" name="Freeform 35">
              <a:extLst>
                <a:ext uri="{FF2B5EF4-FFF2-40B4-BE49-F238E27FC236}">
                  <a16:creationId xmlns:a16="http://schemas.microsoft.com/office/drawing/2014/main" id="{98642F33-A329-514A-A85F-671C5B468823}"/>
                </a:ext>
              </a:extLst>
            </p:cNvPr>
            <p:cNvSpPr>
              <a:spLocks/>
            </p:cNvSpPr>
            <p:nvPr/>
          </p:nvSpPr>
          <p:spPr bwMode="auto">
            <a:xfrm>
              <a:off x="3527" y="3538"/>
              <a:ext cx="190" cy="212"/>
            </a:xfrm>
            <a:custGeom>
              <a:avLst/>
              <a:gdLst>
                <a:gd name="T0" fmla="*/ 686 w 767"/>
                <a:gd name="T1" fmla="*/ 77 h 857"/>
                <a:gd name="T2" fmla="*/ 480 w 767"/>
                <a:gd name="T3" fmla="*/ 0 h 857"/>
                <a:gd name="T4" fmla="*/ 231 w 767"/>
                <a:gd name="T5" fmla="*/ 111 h 857"/>
                <a:gd name="T6" fmla="*/ 231 w 767"/>
                <a:gd name="T7" fmla="*/ 20 h 857"/>
                <a:gd name="T8" fmla="*/ 0 w 767"/>
                <a:gd name="T9" fmla="*/ 20 h 857"/>
                <a:gd name="T10" fmla="*/ 0 w 767"/>
                <a:gd name="T11" fmla="*/ 857 h 857"/>
                <a:gd name="T12" fmla="*/ 241 w 767"/>
                <a:gd name="T13" fmla="*/ 857 h 857"/>
                <a:gd name="T14" fmla="*/ 241 w 767"/>
                <a:gd name="T15" fmla="*/ 402 h 857"/>
                <a:gd name="T16" fmla="*/ 285 w 767"/>
                <a:gd name="T17" fmla="*/ 268 h 857"/>
                <a:gd name="T18" fmla="*/ 390 w 767"/>
                <a:gd name="T19" fmla="*/ 221 h 857"/>
                <a:gd name="T20" fmla="*/ 494 w 767"/>
                <a:gd name="T21" fmla="*/ 268 h 857"/>
                <a:gd name="T22" fmla="*/ 527 w 767"/>
                <a:gd name="T23" fmla="*/ 434 h 857"/>
                <a:gd name="T24" fmla="*/ 527 w 767"/>
                <a:gd name="T25" fmla="*/ 857 h 857"/>
                <a:gd name="T26" fmla="*/ 767 w 767"/>
                <a:gd name="T27" fmla="*/ 857 h 857"/>
                <a:gd name="T28" fmla="*/ 767 w 767"/>
                <a:gd name="T29" fmla="*/ 334 h 857"/>
                <a:gd name="T30" fmla="*/ 686 w 767"/>
                <a:gd name="T31" fmla="*/ 77 h 8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767" h="857">
                  <a:moveTo>
                    <a:pt x="686" y="77"/>
                  </a:moveTo>
                  <a:cubicBezTo>
                    <a:pt x="636" y="24"/>
                    <a:pt x="573" y="0"/>
                    <a:pt x="480" y="0"/>
                  </a:cubicBezTo>
                  <a:cubicBezTo>
                    <a:pt x="388" y="1"/>
                    <a:pt x="281" y="46"/>
                    <a:pt x="231" y="111"/>
                  </a:cubicBezTo>
                  <a:cubicBezTo>
                    <a:pt x="231" y="20"/>
                    <a:pt x="231" y="20"/>
                    <a:pt x="231" y="20"/>
                  </a:cubicBezTo>
                  <a:cubicBezTo>
                    <a:pt x="0" y="20"/>
                    <a:pt x="0" y="20"/>
                    <a:pt x="0" y="20"/>
                  </a:cubicBezTo>
                  <a:cubicBezTo>
                    <a:pt x="0" y="857"/>
                    <a:pt x="0" y="857"/>
                    <a:pt x="0" y="857"/>
                  </a:cubicBezTo>
                  <a:cubicBezTo>
                    <a:pt x="241" y="857"/>
                    <a:pt x="241" y="857"/>
                    <a:pt x="241" y="857"/>
                  </a:cubicBezTo>
                  <a:cubicBezTo>
                    <a:pt x="241" y="402"/>
                    <a:pt x="241" y="402"/>
                    <a:pt x="241" y="402"/>
                  </a:cubicBezTo>
                  <a:cubicBezTo>
                    <a:pt x="241" y="343"/>
                    <a:pt x="257" y="299"/>
                    <a:pt x="285" y="268"/>
                  </a:cubicBezTo>
                  <a:cubicBezTo>
                    <a:pt x="309" y="241"/>
                    <a:pt x="345" y="224"/>
                    <a:pt x="390" y="221"/>
                  </a:cubicBezTo>
                  <a:cubicBezTo>
                    <a:pt x="444" y="218"/>
                    <a:pt x="473" y="242"/>
                    <a:pt x="494" y="268"/>
                  </a:cubicBezTo>
                  <a:cubicBezTo>
                    <a:pt x="520" y="300"/>
                    <a:pt x="527" y="357"/>
                    <a:pt x="527" y="434"/>
                  </a:cubicBezTo>
                  <a:cubicBezTo>
                    <a:pt x="527" y="857"/>
                    <a:pt x="527" y="857"/>
                    <a:pt x="527" y="857"/>
                  </a:cubicBezTo>
                  <a:cubicBezTo>
                    <a:pt x="767" y="857"/>
                    <a:pt x="767" y="857"/>
                    <a:pt x="767" y="857"/>
                  </a:cubicBezTo>
                  <a:cubicBezTo>
                    <a:pt x="767" y="334"/>
                    <a:pt x="767" y="334"/>
                    <a:pt x="767" y="334"/>
                  </a:cubicBezTo>
                  <a:cubicBezTo>
                    <a:pt x="767" y="232"/>
                    <a:pt x="754" y="147"/>
                    <a:pt x="686" y="77"/>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37" name="Freeform 36">
              <a:extLst>
                <a:ext uri="{FF2B5EF4-FFF2-40B4-BE49-F238E27FC236}">
                  <a16:creationId xmlns:a16="http://schemas.microsoft.com/office/drawing/2014/main" id="{6D7E342B-147E-9F46-B8ED-31FC05952700}"/>
                </a:ext>
              </a:extLst>
            </p:cNvPr>
            <p:cNvSpPr>
              <a:spLocks noEditPoints="1"/>
            </p:cNvSpPr>
            <p:nvPr/>
          </p:nvSpPr>
          <p:spPr bwMode="auto">
            <a:xfrm>
              <a:off x="4170" y="3449"/>
              <a:ext cx="222" cy="306"/>
            </a:xfrm>
            <a:custGeom>
              <a:avLst/>
              <a:gdLst>
                <a:gd name="T0" fmla="*/ 900 w 900"/>
                <a:gd name="T1" fmla="*/ 0 h 1233"/>
                <a:gd name="T2" fmla="*/ 900 w 900"/>
                <a:gd name="T3" fmla="*/ 1214 h 1233"/>
                <a:gd name="T4" fmla="*/ 673 w 900"/>
                <a:gd name="T5" fmla="*/ 1214 h 1233"/>
                <a:gd name="T6" fmla="*/ 673 w 900"/>
                <a:gd name="T7" fmla="*/ 1121 h 1233"/>
                <a:gd name="T8" fmla="*/ 414 w 900"/>
                <a:gd name="T9" fmla="*/ 1233 h 1233"/>
                <a:gd name="T10" fmla="*/ 124 w 900"/>
                <a:gd name="T11" fmla="*/ 1121 h 1233"/>
                <a:gd name="T12" fmla="*/ 0 w 900"/>
                <a:gd name="T13" fmla="*/ 796 h 1233"/>
                <a:gd name="T14" fmla="*/ 406 w 900"/>
                <a:gd name="T15" fmla="*/ 357 h 1233"/>
                <a:gd name="T16" fmla="*/ 659 w 900"/>
                <a:gd name="T17" fmla="*/ 451 h 1233"/>
                <a:gd name="T18" fmla="*/ 659 w 900"/>
                <a:gd name="T19" fmla="*/ 0 h 1233"/>
                <a:gd name="T20" fmla="*/ 900 w 900"/>
                <a:gd name="T21" fmla="*/ 0 h 1233"/>
                <a:gd name="T22" fmla="*/ 666 w 900"/>
                <a:gd name="T23" fmla="*/ 796 h 1233"/>
                <a:gd name="T24" fmla="*/ 453 w 900"/>
                <a:gd name="T25" fmla="*/ 569 h 1233"/>
                <a:gd name="T26" fmla="*/ 241 w 900"/>
                <a:gd name="T27" fmla="*/ 796 h 1233"/>
                <a:gd name="T28" fmla="*/ 453 w 900"/>
                <a:gd name="T29" fmla="*/ 1022 h 1233"/>
                <a:gd name="T30" fmla="*/ 666 w 900"/>
                <a:gd name="T31" fmla="*/ 796 h 12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00" h="1233">
                  <a:moveTo>
                    <a:pt x="900" y="0"/>
                  </a:moveTo>
                  <a:cubicBezTo>
                    <a:pt x="900" y="1214"/>
                    <a:pt x="900" y="1214"/>
                    <a:pt x="900" y="1214"/>
                  </a:cubicBezTo>
                  <a:cubicBezTo>
                    <a:pt x="673" y="1214"/>
                    <a:pt x="673" y="1214"/>
                    <a:pt x="673" y="1214"/>
                  </a:cubicBezTo>
                  <a:cubicBezTo>
                    <a:pt x="673" y="1121"/>
                    <a:pt x="673" y="1121"/>
                    <a:pt x="673" y="1121"/>
                  </a:cubicBezTo>
                  <a:cubicBezTo>
                    <a:pt x="620" y="1182"/>
                    <a:pt x="534" y="1233"/>
                    <a:pt x="414" y="1233"/>
                  </a:cubicBezTo>
                  <a:cubicBezTo>
                    <a:pt x="298" y="1233"/>
                    <a:pt x="198" y="1195"/>
                    <a:pt x="124" y="1121"/>
                  </a:cubicBezTo>
                  <a:cubicBezTo>
                    <a:pt x="44" y="1041"/>
                    <a:pt x="0" y="926"/>
                    <a:pt x="0" y="796"/>
                  </a:cubicBezTo>
                  <a:cubicBezTo>
                    <a:pt x="0" y="541"/>
                    <a:pt x="171" y="357"/>
                    <a:pt x="406" y="357"/>
                  </a:cubicBezTo>
                  <a:cubicBezTo>
                    <a:pt x="508" y="357"/>
                    <a:pt x="594" y="389"/>
                    <a:pt x="659" y="451"/>
                  </a:cubicBezTo>
                  <a:cubicBezTo>
                    <a:pt x="659" y="0"/>
                    <a:pt x="659" y="0"/>
                    <a:pt x="659" y="0"/>
                  </a:cubicBezTo>
                  <a:lnTo>
                    <a:pt x="900" y="0"/>
                  </a:lnTo>
                  <a:close/>
                  <a:moveTo>
                    <a:pt x="666" y="796"/>
                  </a:moveTo>
                  <a:cubicBezTo>
                    <a:pt x="666" y="683"/>
                    <a:pt x="593" y="569"/>
                    <a:pt x="453" y="569"/>
                  </a:cubicBezTo>
                  <a:cubicBezTo>
                    <a:pt x="314" y="569"/>
                    <a:pt x="241" y="683"/>
                    <a:pt x="241" y="796"/>
                  </a:cubicBezTo>
                  <a:cubicBezTo>
                    <a:pt x="241" y="908"/>
                    <a:pt x="314" y="1022"/>
                    <a:pt x="453" y="1022"/>
                  </a:cubicBezTo>
                  <a:cubicBezTo>
                    <a:pt x="593" y="1022"/>
                    <a:pt x="666" y="908"/>
                    <a:pt x="666" y="79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38" name="Freeform 37">
              <a:extLst>
                <a:ext uri="{FF2B5EF4-FFF2-40B4-BE49-F238E27FC236}">
                  <a16:creationId xmlns:a16="http://schemas.microsoft.com/office/drawing/2014/main" id="{BC4714C2-C589-7440-8B2D-CDE7ECF95AB1}"/>
                </a:ext>
              </a:extLst>
            </p:cNvPr>
            <p:cNvSpPr>
              <a:spLocks noEditPoints="1"/>
            </p:cNvSpPr>
            <p:nvPr/>
          </p:nvSpPr>
          <p:spPr bwMode="auto">
            <a:xfrm>
              <a:off x="3269" y="3538"/>
              <a:ext cx="224" cy="217"/>
            </a:xfrm>
            <a:custGeom>
              <a:avLst/>
              <a:gdLst>
                <a:gd name="T0" fmla="*/ 905 w 905"/>
                <a:gd name="T1" fmla="*/ 438 h 877"/>
                <a:gd name="T2" fmla="*/ 453 w 905"/>
                <a:gd name="T3" fmla="*/ 877 h 877"/>
                <a:gd name="T4" fmla="*/ 0 w 905"/>
                <a:gd name="T5" fmla="*/ 438 h 877"/>
                <a:gd name="T6" fmla="*/ 453 w 905"/>
                <a:gd name="T7" fmla="*/ 0 h 877"/>
                <a:gd name="T8" fmla="*/ 905 w 905"/>
                <a:gd name="T9" fmla="*/ 438 h 877"/>
                <a:gd name="T10" fmla="*/ 453 w 905"/>
                <a:gd name="T11" fmla="*/ 212 h 877"/>
                <a:gd name="T12" fmla="*/ 241 w 905"/>
                <a:gd name="T13" fmla="*/ 438 h 877"/>
                <a:gd name="T14" fmla="*/ 453 w 905"/>
                <a:gd name="T15" fmla="*/ 664 h 877"/>
                <a:gd name="T16" fmla="*/ 665 w 905"/>
                <a:gd name="T17" fmla="*/ 438 h 877"/>
                <a:gd name="T18" fmla="*/ 453 w 905"/>
                <a:gd name="T19" fmla="*/ 212 h 8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5" h="877">
                  <a:moveTo>
                    <a:pt x="905" y="438"/>
                  </a:moveTo>
                  <a:cubicBezTo>
                    <a:pt x="905" y="692"/>
                    <a:pt x="715" y="877"/>
                    <a:pt x="453" y="877"/>
                  </a:cubicBezTo>
                  <a:cubicBezTo>
                    <a:pt x="190" y="877"/>
                    <a:pt x="0" y="692"/>
                    <a:pt x="0" y="438"/>
                  </a:cubicBezTo>
                  <a:cubicBezTo>
                    <a:pt x="0" y="184"/>
                    <a:pt x="190" y="0"/>
                    <a:pt x="453" y="0"/>
                  </a:cubicBezTo>
                  <a:cubicBezTo>
                    <a:pt x="715" y="0"/>
                    <a:pt x="905" y="184"/>
                    <a:pt x="905" y="438"/>
                  </a:cubicBezTo>
                  <a:moveTo>
                    <a:pt x="453" y="212"/>
                  </a:moveTo>
                  <a:cubicBezTo>
                    <a:pt x="313" y="212"/>
                    <a:pt x="241" y="326"/>
                    <a:pt x="241" y="438"/>
                  </a:cubicBezTo>
                  <a:cubicBezTo>
                    <a:pt x="241" y="551"/>
                    <a:pt x="313" y="664"/>
                    <a:pt x="453" y="664"/>
                  </a:cubicBezTo>
                  <a:cubicBezTo>
                    <a:pt x="592" y="664"/>
                    <a:pt x="665" y="551"/>
                    <a:pt x="665" y="438"/>
                  </a:cubicBezTo>
                  <a:cubicBezTo>
                    <a:pt x="665" y="326"/>
                    <a:pt x="592" y="212"/>
                    <a:pt x="453" y="21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39" name="Freeform 38">
              <a:extLst>
                <a:ext uri="{FF2B5EF4-FFF2-40B4-BE49-F238E27FC236}">
                  <a16:creationId xmlns:a16="http://schemas.microsoft.com/office/drawing/2014/main" id="{756C9AE0-AC13-5044-BB09-DE4242EA4E39}"/>
                </a:ext>
              </a:extLst>
            </p:cNvPr>
            <p:cNvSpPr>
              <a:spLocks noEditPoints="1"/>
            </p:cNvSpPr>
            <p:nvPr/>
          </p:nvSpPr>
          <p:spPr bwMode="auto">
            <a:xfrm>
              <a:off x="4636" y="3449"/>
              <a:ext cx="95" cy="95"/>
            </a:xfrm>
            <a:custGeom>
              <a:avLst/>
              <a:gdLst>
                <a:gd name="T0" fmla="*/ 118 w 383"/>
                <a:gd name="T1" fmla="*/ 299 h 382"/>
                <a:gd name="T2" fmla="*/ 158 w 383"/>
                <a:gd name="T3" fmla="*/ 299 h 382"/>
                <a:gd name="T4" fmla="*/ 158 w 383"/>
                <a:gd name="T5" fmla="*/ 209 h 382"/>
                <a:gd name="T6" fmla="*/ 187 w 383"/>
                <a:gd name="T7" fmla="*/ 209 h 382"/>
                <a:gd name="T8" fmla="*/ 242 w 383"/>
                <a:gd name="T9" fmla="*/ 299 h 382"/>
                <a:gd name="T10" fmla="*/ 284 w 383"/>
                <a:gd name="T11" fmla="*/ 299 h 382"/>
                <a:gd name="T12" fmla="*/ 227 w 383"/>
                <a:gd name="T13" fmla="*/ 206 h 382"/>
                <a:gd name="T14" fmla="*/ 279 w 383"/>
                <a:gd name="T15" fmla="*/ 146 h 382"/>
                <a:gd name="T16" fmla="*/ 202 w 383"/>
                <a:gd name="T17" fmla="*/ 80 h 382"/>
                <a:gd name="T18" fmla="*/ 118 w 383"/>
                <a:gd name="T19" fmla="*/ 80 h 382"/>
                <a:gd name="T20" fmla="*/ 118 w 383"/>
                <a:gd name="T21" fmla="*/ 299 h 382"/>
                <a:gd name="T22" fmla="*/ 158 w 383"/>
                <a:gd name="T23" fmla="*/ 114 h 382"/>
                <a:gd name="T24" fmla="*/ 187 w 383"/>
                <a:gd name="T25" fmla="*/ 114 h 382"/>
                <a:gd name="T26" fmla="*/ 239 w 383"/>
                <a:gd name="T27" fmla="*/ 145 h 382"/>
                <a:gd name="T28" fmla="*/ 187 w 383"/>
                <a:gd name="T29" fmla="*/ 176 h 382"/>
                <a:gd name="T30" fmla="*/ 158 w 383"/>
                <a:gd name="T31" fmla="*/ 176 h 382"/>
                <a:gd name="T32" fmla="*/ 158 w 383"/>
                <a:gd name="T33" fmla="*/ 114 h 382"/>
                <a:gd name="T34" fmla="*/ 0 w 383"/>
                <a:gd name="T35" fmla="*/ 191 h 382"/>
                <a:gd name="T36" fmla="*/ 191 w 383"/>
                <a:gd name="T37" fmla="*/ 382 h 382"/>
                <a:gd name="T38" fmla="*/ 383 w 383"/>
                <a:gd name="T39" fmla="*/ 191 h 382"/>
                <a:gd name="T40" fmla="*/ 191 w 383"/>
                <a:gd name="T41" fmla="*/ 0 h 382"/>
                <a:gd name="T42" fmla="*/ 0 w 383"/>
                <a:gd name="T43" fmla="*/ 191 h 382"/>
                <a:gd name="T44" fmla="*/ 34 w 383"/>
                <a:gd name="T45" fmla="*/ 191 h 382"/>
                <a:gd name="T46" fmla="*/ 191 w 383"/>
                <a:gd name="T47" fmla="*/ 34 h 382"/>
                <a:gd name="T48" fmla="*/ 349 w 383"/>
                <a:gd name="T49" fmla="*/ 191 h 382"/>
                <a:gd name="T50" fmla="*/ 191 w 383"/>
                <a:gd name="T51" fmla="*/ 349 h 382"/>
                <a:gd name="T52" fmla="*/ 34 w 383"/>
                <a:gd name="T53" fmla="*/ 191 h 3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83" h="382">
                  <a:moveTo>
                    <a:pt x="118" y="299"/>
                  </a:moveTo>
                  <a:cubicBezTo>
                    <a:pt x="158" y="299"/>
                    <a:pt x="158" y="299"/>
                    <a:pt x="158" y="299"/>
                  </a:cubicBezTo>
                  <a:cubicBezTo>
                    <a:pt x="158" y="209"/>
                    <a:pt x="158" y="209"/>
                    <a:pt x="158" y="209"/>
                  </a:cubicBezTo>
                  <a:cubicBezTo>
                    <a:pt x="187" y="209"/>
                    <a:pt x="187" y="209"/>
                    <a:pt x="187" y="209"/>
                  </a:cubicBezTo>
                  <a:cubicBezTo>
                    <a:pt x="242" y="299"/>
                    <a:pt x="242" y="299"/>
                    <a:pt x="242" y="299"/>
                  </a:cubicBezTo>
                  <a:cubicBezTo>
                    <a:pt x="284" y="299"/>
                    <a:pt x="284" y="299"/>
                    <a:pt x="284" y="299"/>
                  </a:cubicBezTo>
                  <a:cubicBezTo>
                    <a:pt x="227" y="206"/>
                    <a:pt x="227" y="206"/>
                    <a:pt x="227" y="206"/>
                  </a:cubicBezTo>
                  <a:cubicBezTo>
                    <a:pt x="257" y="203"/>
                    <a:pt x="279" y="184"/>
                    <a:pt x="279" y="146"/>
                  </a:cubicBezTo>
                  <a:cubicBezTo>
                    <a:pt x="279" y="104"/>
                    <a:pt x="255" y="80"/>
                    <a:pt x="202" y="80"/>
                  </a:cubicBezTo>
                  <a:cubicBezTo>
                    <a:pt x="118" y="80"/>
                    <a:pt x="118" y="80"/>
                    <a:pt x="118" y="80"/>
                  </a:cubicBezTo>
                  <a:lnTo>
                    <a:pt x="118" y="299"/>
                  </a:lnTo>
                  <a:close/>
                  <a:moveTo>
                    <a:pt x="158" y="114"/>
                  </a:moveTo>
                  <a:cubicBezTo>
                    <a:pt x="187" y="114"/>
                    <a:pt x="187" y="114"/>
                    <a:pt x="187" y="114"/>
                  </a:cubicBezTo>
                  <a:cubicBezTo>
                    <a:pt x="212" y="114"/>
                    <a:pt x="239" y="115"/>
                    <a:pt x="239" y="145"/>
                  </a:cubicBezTo>
                  <a:cubicBezTo>
                    <a:pt x="239" y="174"/>
                    <a:pt x="212" y="176"/>
                    <a:pt x="187" y="176"/>
                  </a:cubicBezTo>
                  <a:cubicBezTo>
                    <a:pt x="158" y="176"/>
                    <a:pt x="158" y="176"/>
                    <a:pt x="158" y="176"/>
                  </a:cubicBezTo>
                  <a:lnTo>
                    <a:pt x="158" y="114"/>
                  </a:lnTo>
                  <a:close/>
                  <a:moveTo>
                    <a:pt x="0" y="191"/>
                  </a:moveTo>
                  <a:cubicBezTo>
                    <a:pt x="0" y="296"/>
                    <a:pt x="86" y="382"/>
                    <a:pt x="191" y="382"/>
                  </a:cubicBezTo>
                  <a:cubicBezTo>
                    <a:pt x="297" y="382"/>
                    <a:pt x="383" y="296"/>
                    <a:pt x="383" y="191"/>
                  </a:cubicBezTo>
                  <a:cubicBezTo>
                    <a:pt x="383" y="86"/>
                    <a:pt x="297" y="0"/>
                    <a:pt x="191" y="0"/>
                  </a:cubicBezTo>
                  <a:cubicBezTo>
                    <a:pt x="86" y="0"/>
                    <a:pt x="0" y="86"/>
                    <a:pt x="0" y="191"/>
                  </a:cubicBezTo>
                  <a:moveTo>
                    <a:pt x="34" y="191"/>
                  </a:moveTo>
                  <a:cubicBezTo>
                    <a:pt x="34" y="104"/>
                    <a:pt x="104" y="34"/>
                    <a:pt x="191" y="34"/>
                  </a:cubicBezTo>
                  <a:cubicBezTo>
                    <a:pt x="278" y="34"/>
                    <a:pt x="349" y="104"/>
                    <a:pt x="349" y="191"/>
                  </a:cubicBezTo>
                  <a:cubicBezTo>
                    <a:pt x="349" y="278"/>
                    <a:pt x="278" y="349"/>
                    <a:pt x="191" y="349"/>
                  </a:cubicBezTo>
                  <a:cubicBezTo>
                    <a:pt x="104" y="349"/>
                    <a:pt x="34" y="278"/>
                    <a:pt x="34" y="191"/>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40" name="Freeform 39">
              <a:extLst>
                <a:ext uri="{FF2B5EF4-FFF2-40B4-BE49-F238E27FC236}">
                  <a16:creationId xmlns:a16="http://schemas.microsoft.com/office/drawing/2014/main" id="{DE12E4C2-A267-0F4B-96D4-B4D8191D7249}"/>
                </a:ext>
              </a:extLst>
            </p:cNvPr>
            <p:cNvSpPr>
              <a:spLocks/>
            </p:cNvSpPr>
            <p:nvPr/>
          </p:nvSpPr>
          <p:spPr bwMode="auto">
            <a:xfrm>
              <a:off x="3768" y="1895"/>
              <a:ext cx="434" cy="1109"/>
            </a:xfrm>
            <a:custGeom>
              <a:avLst/>
              <a:gdLst>
                <a:gd name="T0" fmla="*/ 509 w 1751"/>
                <a:gd name="T1" fmla="*/ 0 h 4481"/>
                <a:gd name="T2" fmla="*/ 509 w 1751"/>
                <a:gd name="T3" fmla="*/ 2792 h 4481"/>
                <a:gd name="T4" fmla="*/ 161 w 1751"/>
                <a:gd name="T5" fmla="*/ 2452 h 4481"/>
                <a:gd name="T6" fmla="*/ 161 w 1751"/>
                <a:gd name="T7" fmla="*/ 3527 h 4481"/>
                <a:gd name="T8" fmla="*/ 19 w 1751"/>
                <a:gd name="T9" fmla="*/ 4087 h 4481"/>
                <a:gd name="T10" fmla="*/ 17 w 1751"/>
                <a:gd name="T11" fmla="*/ 4090 h 4481"/>
                <a:gd name="T12" fmla="*/ 0 w 1751"/>
                <a:gd name="T13" fmla="*/ 4110 h 4481"/>
                <a:gd name="T14" fmla="*/ 393 w 1751"/>
                <a:gd name="T15" fmla="*/ 4481 h 4481"/>
                <a:gd name="T16" fmla="*/ 1751 w 1751"/>
                <a:gd name="T17" fmla="*/ 4481 h 4481"/>
                <a:gd name="T18" fmla="*/ 1751 w 1751"/>
                <a:gd name="T19" fmla="*/ 0 h 4481"/>
                <a:gd name="T20" fmla="*/ 509 w 1751"/>
                <a:gd name="T21" fmla="*/ 0 h 44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51" h="4481">
                  <a:moveTo>
                    <a:pt x="509" y="0"/>
                  </a:moveTo>
                  <a:cubicBezTo>
                    <a:pt x="509" y="2792"/>
                    <a:pt x="509" y="2792"/>
                    <a:pt x="509" y="2792"/>
                  </a:cubicBezTo>
                  <a:cubicBezTo>
                    <a:pt x="161" y="2452"/>
                    <a:pt x="161" y="2452"/>
                    <a:pt x="161" y="2452"/>
                  </a:cubicBezTo>
                  <a:cubicBezTo>
                    <a:pt x="161" y="3527"/>
                    <a:pt x="161" y="3527"/>
                    <a:pt x="161" y="3527"/>
                  </a:cubicBezTo>
                  <a:cubicBezTo>
                    <a:pt x="161" y="3775"/>
                    <a:pt x="139" y="3938"/>
                    <a:pt x="19" y="4087"/>
                  </a:cubicBezTo>
                  <a:cubicBezTo>
                    <a:pt x="17" y="4090"/>
                    <a:pt x="17" y="4090"/>
                    <a:pt x="17" y="4090"/>
                  </a:cubicBezTo>
                  <a:cubicBezTo>
                    <a:pt x="11" y="4097"/>
                    <a:pt x="5" y="4103"/>
                    <a:pt x="0" y="4110"/>
                  </a:cubicBezTo>
                  <a:cubicBezTo>
                    <a:pt x="393" y="4481"/>
                    <a:pt x="393" y="4481"/>
                    <a:pt x="393" y="4481"/>
                  </a:cubicBezTo>
                  <a:cubicBezTo>
                    <a:pt x="1751" y="4481"/>
                    <a:pt x="1751" y="4481"/>
                    <a:pt x="1751" y="4481"/>
                  </a:cubicBezTo>
                  <a:cubicBezTo>
                    <a:pt x="1751" y="0"/>
                    <a:pt x="1751" y="0"/>
                    <a:pt x="1751" y="0"/>
                  </a:cubicBezTo>
                  <a:lnTo>
                    <a:pt x="50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41" name="Freeform 40">
              <a:extLst>
                <a:ext uri="{FF2B5EF4-FFF2-40B4-BE49-F238E27FC236}">
                  <a16:creationId xmlns:a16="http://schemas.microsoft.com/office/drawing/2014/main" id="{F5F7AF99-A6E7-8E44-B8C3-C6EA336293D4}"/>
                </a:ext>
              </a:extLst>
            </p:cNvPr>
            <p:cNvSpPr>
              <a:spLocks/>
            </p:cNvSpPr>
            <p:nvPr/>
          </p:nvSpPr>
          <p:spPr bwMode="auto">
            <a:xfrm>
              <a:off x="2850" y="1895"/>
              <a:ext cx="523" cy="1109"/>
            </a:xfrm>
            <a:custGeom>
              <a:avLst/>
              <a:gdLst>
                <a:gd name="T0" fmla="*/ 1242 w 2112"/>
                <a:gd name="T1" fmla="*/ 1773 h 4481"/>
                <a:gd name="T2" fmla="*/ 1839 w 2112"/>
                <a:gd name="T3" fmla="*/ 2338 h 4481"/>
                <a:gd name="T4" fmla="*/ 1856 w 2112"/>
                <a:gd name="T5" fmla="*/ 1719 h 4481"/>
                <a:gd name="T6" fmla="*/ 1912 w 2112"/>
                <a:gd name="T7" fmla="*/ 1629 h 4481"/>
                <a:gd name="T8" fmla="*/ 2062 w 2112"/>
                <a:gd name="T9" fmla="*/ 795 h 4481"/>
                <a:gd name="T10" fmla="*/ 2112 w 2112"/>
                <a:gd name="T11" fmla="*/ 740 h 4481"/>
                <a:gd name="T12" fmla="*/ 1354 w 2112"/>
                <a:gd name="T13" fmla="*/ 0 h 4481"/>
                <a:gd name="T14" fmla="*/ 0 w 2112"/>
                <a:gd name="T15" fmla="*/ 0 h 4481"/>
                <a:gd name="T16" fmla="*/ 0 w 2112"/>
                <a:gd name="T17" fmla="*/ 4481 h 4481"/>
                <a:gd name="T18" fmla="*/ 1242 w 2112"/>
                <a:gd name="T19" fmla="*/ 4481 h 4481"/>
                <a:gd name="T20" fmla="*/ 1242 w 2112"/>
                <a:gd name="T21" fmla="*/ 1773 h 44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12" h="4481">
                  <a:moveTo>
                    <a:pt x="1242" y="1773"/>
                  </a:moveTo>
                  <a:cubicBezTo>
                    <a:pt x="1242" y="1773"/>
                    <a:pt x="1790" y="2292"/>
                    <a:pt x="1839" y="2338"/>
                  </a:cubicBezTo>
                  <a:cubicBezTo>
                    <a:pt x="1787" y="2144"/>
                    <a:pt x="1751" y="1887"/>
                    <a:pt x="1856" y="1719"/>
                  </a:cubicBezTo>
                  <a:cubicBezTo>
                    <a:pt x="1912" y="1629"/>
                    <a:pt x="1912" y="1629"/>
                    <a:pt x="1912" y="1629"/>
                  </a:cubicBezTo>
                  <a:cubicBezTo>
                    <a:pt x="1855" y="1323"/>
                    <a:pt x="1869" y="1006"/>
                    <a:pt x="2062" y="795"/>
                  </a:cubicBezTo>
                  <a:cubicBezTo>
                    <a:pt x="2112" y="740"/>
                    <a:pt x="2112" y="740"/>
                    <a:pt x="2112" y="740"/>
                  </a:cubicBezTo>
                  <a:cubicBezTo>
                    <a:pt x="1354" y="0"/>
                    <a:pt x="1354" y="0"/>
                    <a:pt x="1354" y="0"/>
                  </a:cubicBezTo>
                  <a:cubicBezTo>
                    <a:pt x="0" y="0"/>
                    <a:pt x="0" y="0"/>
                    <a:pt x="0" y="0"/>
                  </a:cubicBezTo>
                  <a:cubicBezTo>
                    <a:pt x="0" y="4481"/>
                    <a:pt x="0" y="4481"/>
                    <a:pt x="0" y="4481"/>
                  </a:cubicBezTo>
                  <a:cubicBezTo>
                    <a:pt x="1242" y="4481"/>
                    <a:pt x="1242" y="4481"/>
                    <a:pt x="1242" y="4481"/>
                  </a:cubicBezTo>
                  <a:lnTo>
                    <a:pt x="1242" y="177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42" name="Freeform 41">
              <a:extLst>
                <a:ext uri="{FF2B5EF4-FFF2-40B4-BE49-F238E27FC236}">
                  <a16:creationId xmlns:a16="http://schemas.microsoft.com/office/drawing/2014/main" id="{BA6B4724-173F-A148-A58A-7BD739179432}"/>
                </a:ext>
              </a:extLst>
            </p:cNvPr>
            <p:cNvSpPr>
              <a:spLocks/>
            </p:cNvSpPr>
            <p:nvPr/>
          </p:nvSpPr>
          <p:spPr bwMode="auto">
            <a:xfrm>
              <a:off x="3792" y="3082"/>
              <a:ext cx="352" cy="210"/>
            </a:xfrm>
            <a:custGeom>
              <a:avLst/>
              <a:gdLst>
                <a:gd name="T0" fmla="*/ 264 w 1420"/>
                <a:gd name="T1" fmla="*/ 22 h 850"/>
                <a:gd name="T2" fmla="*/ 977 w 1420"/>
                <a:gd name="T3" fmla="*/ 90 h 850"/>
                <a:gd name="T4" fmla="*/ 1098 w 1420"/>
                <a:gd name="T5" fmla="*/ 235 h 850"/>
                <a:gd name="T6" fmla="*/ 839 w 1420"/>
                <a:gd name="T7" fmla="*/ 204 h 850"/>
                <a:gd name="T8" fmla="*/ 830 w 1420"/>
                <a:gd name="T9" fmla="*/ 299 h 850"/>
                <a:gd name="T10" fmla="*/ 1115 w 1420"/>
                <a:gd name="T11" fmla="*/ 258 h 850"/>
                <a:gd name="T12" fmla="*/ 1406 w 1420"/>
                <a:gd name="T13" fmla="*/ 463 h 850"/>
                <a:gd name="T14" fmla="*/ 1104 w 1420"/>
                <a:gd name="T15" fmla="*/ 436 h 850"/>
                <a:gd name="T16" fmla="*/ 636 w 1420"/>
                <a:gd name="T17" fmla="*/ 622 h 850"/>
                <a:gd name="T18" fmla="*/ 120 w 1420"/>
                <a:gd name="T19" fmla="*/ 850 h 850"/>
                <a:gd name="T20" fmla="*/ 429 w 1420"/>
                <a:gd name="T21" fmla="*/ 520 h 850"/>
                <a:gd name="T22" fmla="*/ 131 w 1420"/>
                <a:gd name="T23" fmla="*/ 416 h 850"/>
                <a:gd name="T24" fmla="*/ 375 w 1420"/>
                <a:gd name="T25" fmla="*/ 203 h 850"/>
                <a:gd name="T26" fmla="*/ 0 w 1420"/>
                <a:gd name="T27" fmla="*/ 0 h 850"/>
                <a:gd name="T28" fmla="*/ 264 w 1420"/>
                <a:gd name="T29" fmla="*/ 22 h 8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420" h="850">
                  <a:moveTo>
                    <a:pt x="264" y="22"/>
                  </a:moveTo>
                  <a:cubicBezTo>
                    <a:pt x="558" y="44"/>
                    <a:pt x="767" y="64"/>
                    <a:pt x="977" y="90"/>
                  </a:cubicBezTo>
                  <a:cubicBezTo>
                    <a:pt x="1057" y="100"/>
                    <a:pt x="1088" y="192"/>
                    <a:pt x="1098" y="235"/>
                  </a:cubicBezTo>
                  <a:cubicBezTo>
                    <a:pt x="998" y="210"/>
                    <a:pt x="839" y="204"/>
                    <a:pt x="839" y="204"/>
                  </a:cubicBezTo>
                  <a:cubicBezTo>
                    <a:pt x="830" y="299"/>
                    <a:pt x="830" y="299"/>
                    <a:pt x="830" y="299"/>
                  </a:cubicBezTo>
                  <a:cubicBezTo>
                    <a:pt x="830" y="299"/>
                    <a:pt x="966" y="260"/>
                    <a:pt x="1115" y="258"/>
                  </a:cubicBezTo>
                  <a:cubicBezTo>
                    <a:pt x="1115" y="258"/>
                    <a:pt x="1420" y="257"/>
                    <a:pt x="1406" y="463"/>
                  </a:cubicBezTo>
                  <a:cubicBezTo>
                    <a:pt x="1322" y="405"/>
                    <a:pt x="1152" y="428"/>
                    <a:pt x="1104" y="436"/>
                  </a:cubicBezTo>
                  <a:cubicBezTo>
                    <a:pt x="951" y="461"/>
                    <a:pt x="805" y="532"/>
                    <a:pt x="636" y="622"/>
                  </a:cubicBezTo>
                  <a:cubicBezTo>
                    <a:pt x="482" y="703"/>
                    <a:pt x="315" y="791"/>
                    <a:pt x="120" y="850"/>
                  </a:cubicBezTo>
                  <a:cubicBezTo>
                    <a:pt x="206" y="767"/>
                    <a:pt x="429" y="520"/>
                    <a:pt x="429" y="520"/>
                  </a:cubicBezTo>
                  <a:cubicBezTo>
                    <a:pt x="131" y="416"/>
                    <a:pt x="131" y="416"/>
                    <a:pt x="131" y="416"/>
                  </a:cubicBezTo>
                  <a:cubicBezTo>
                    <a:pt x="375" y="203"/>
                    <a:pt x="375" y="203"/>
                    <a:pt x="375" y="203"/>
                  </a:cubicBezTo>
                  <a:cubicBezTo>
                    <a:pt x="0" y="0"/>
                    <a:pt x="0" y="0"/>
                    <a:pt x="0" y="0"/>
                  </a:cubicBezTo>
                  <a:cubicBezTo>
                    <a:pt x="93" y="8"/>
                    <a:pt x="182" y="15"/>
                    <a:pt x="264" y="2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43" name="Freeform 42">
              <a:extLst>
                <a:ext uri="{FF2B5EF4-FFF2-40B4-BE49-F238E27FC236}">
                  <a16:creationId xmlns:a16="http://schemas.microsoft.com/office/drawing/2014/main" id="{73690B43-7688-2046-B603-45F20CD5DA0C}"/>
                </a:ext>
              </a:extLst>
            </p:cNvPr>
            <p:cNvSpPr>
              <a:spLocks/>
            </p:cNvSpPr>
            <p:nvPr/>
          </p:nvSpPr>
          <p:spPr bwMode="auto">
            <a:xfrm>
              <a:off x="3750" y="1503"/>
              <a:ext cx="59" cy="1386"/>
            </a:xfrm>
            <a:custGeom>
              <a:avLst/>
              <a:gdLst>
                <a:gd name="T0" fmla="*/ 236 w 236"/>
                <a:gd name="T1" fmla="*/ 0 h 5594"/>
                <a:gd name="T2" fmla="*/ 116 w 236"/>
                <a:gd name="T3" fmla="*/ 1792 h 5594"/>
                <a:gd name="T4" fmla="*/ 116 w 236"/>
                <a:gd name="T5" fmla="*/ 5108 h 5594"/>
                <a:gd name="T6" fmla="*/ 0 w 236"/>
                <a:gd name="T7" fmla="*/ 5594 h 5594"/>
              </a:gdLst>
              <a:ahLst/>
              <a:cxnLst>
                <a:cxn ang="0">
                  <a:pos x="T0" y="T1"/>
                </a:cxn>
                <a:cxn ang="0">
                  <a:pos x="T2" y="T3"/>
                </a:cxn>
                <a:cxn ang="0">
                  <a:pos x="T4" y="T5"/>
                </a:cxn>
                <a:cxn ang="0">
                  <a:pos x="T6" y="T7"/>
                </a:cxn>
              </a:cxnLst>
              <a:rect l="0" t="0" r="r" b="b"/>
              <a:pathLst>
                <a:path w="236" h="5594">
                  <a:moveTo>
                    <a:pt x="236" y="0"/>
                  </a:moveTo>
                  <a:cubicBezTo>
                    <a:pt x="236" y="0"/>
                    <a:pt x="116" y="644"/>
                    <a:pt x="116" y="1792"/>
                  </a:cubicBezTo>
                  <a:cubicBezTo>
                    <a:pt x="116" y="5108"/>
                    <a:pt x="116" y="5108"/>
                    <a:pt x="116" y="5108"/>
                  </a:cubicBezTo>
                  <a:cubicBezTo>
                    <a:pt x="116" y="5337"/>
                    <a:pt x="96" y="5474"/>
                    <a:pt x="0" y="559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sp>
          <p:nvSpPr>
            <p:cNvPr id="44" name="Freeform 43">
              <a:extLst>
                <a:ext uri="{FF2B5EF4-FFF2-40B4-BE49-F238E27FC236}">
                  <a16:creationId xmlns:a16="http://schemas.microsoft.com/office/drawing/2014/main" id="{A01F9FB1-2BA6-E94F-BB12-01CB2F12C7BC}"/>
                </a:ext>
              </a:extLst>
            </p:cNvPr>
            <p:cNvSpPr>
              <a:spLocks/>
            </p:cNvSpPr>
            <p:nvPr/>
          </p:nvSpPr>
          <p:spPr bwMode="auto">
            <a:xfrm>
              <a:off x="2919" y="1494"/>
              <a:ext cx="934" cy="1816"/>
            </a:xfrm>
            <a:custGeom>
              <a:avLst/>
              <a:gdLst>
                <a:gd name="T0" fmla="*/ 3358 w 3774"/>
                <a:gd name="T1" fmla="*/ 5632 h 7335"/>
                <a:gd name="T2" fmla="*/ 3079 w 3774"/>
                <a:gd name="T3" fmla="*/ 6187 h 7335"/>
                <a:gd name="T4" fmla="*/ 3079 w 3774"/>
                <a:gd name="T5" fmla="*/ 6187 h 7335"/>
                <a:gd name="T6" fmla="*/ 3302 w 3774"/>
                <a:gd name="T7" fmla="*/ 6410 h 7335"/>
                <a:gd name="T8" fmla="*/ 3720 w 3774"/>
                <a:gd name="T9" fmla="*/ 6636 h 7335"/>
                <a:gd name="T10" fmla="*/ 3449 w 3774"/>
                <a:gd name="T11" fmla="*/ 6873 h 7335"/>
                <a:gd name="T12" fmla="*/ 3774 w 3774"/>
                <a:gd name="T13" fmla="*/ 6975 h 7335"/>
                <a:gd name="T14" fmla="*/ 3441 w 3774"/>
                <a:gd name="T15" fmla="*/ 7312 h 7335"/>
                <a:gd name="T16" fmla="*/ 3169 w 3774"/>
                <a:gd name="T17" fmla="*/ 7335 h 7335"/>
                <a:gd name="T18" fmla="*/ 1281 w 3774"/>
                <a:gd name="T19" fmla="*/ 6924 h 7335"/>
                <a:gd name="T20" fmla="*/ 636 w 3774"/>
                <a:gd name="T21" fmla="*/ 7086 h 7335"/>
                <a:gd name="T22" fmla="*/ 823 w 3774"/>
                <a:gd name="T23" fmla="*/ 6882 h 7335"/>
                <a:gd name="T24" fmla="*/ 339 w 3774"/>
                <a:gd name="T25" fmla="*/ 6912 h 7335"/>
                <a:gd name="T26" fmla="*/ 675 w 3774"/>
                <a:gd name="T27" fmla="*/ 6684 h 7335"/>
                <a:gd name="T28" fmla="*/ 0 w 3774"/>
                <a:gd name="T29" fmla="*/ 6500 h 7335"/>
                <a:gd name="T30" fmla="*/ 1280 w 3774"/>
                <a:gd name="T31" fmla="*/ 6465 h 7335"/>
                <a:gd name="T32" fmla="*/ 2083 w 3774"/>
                <a:gd name="T33" fmla="*/ 6498 h 7335"/>
                <a:gd name="T34" fmla="*/ 1500 w 3774"/>
                <a:gd name="T35" fmla="*/ 6006 h 7335"/>
                <a:gd name="T36" fmla="*/ 1976 w 3774"/>
                <a:gd name="T37" fmla="*/ 6078 h 7335"/>
                <a:gd name="T38" fmla="*/ 1432 w 3774"/>
                <a:gd name="T39" fmla="*/ 5412 h 7335"/>
                <a:gd name="T40" fmla="*/ 1964 w 3774"/>
                <a:gd name="T41" fmla="*/ 5598 h 7335"/>
                <a:gd name="T42" fmla="*/ 1482 w 3774"/>
                <a:gd name="T43" fmla="*/ 4831 h 7335"/>
                <a:gd name="T44" fmla="*/ 1902 w 3774"/>
                <a:gd name="T45" fmla="*/ 5096 h 7335"/>
                <a:gd name="T46" fmla="*/ 1544 w 3774"/>
                <a:gd name="T47" fmla="*/ 4223 h 7335"/>
                <a:gd name="T48" fmla="*/ 1936 w 3774"/>
                <a:gd name="T49" fmla="*/ 4487 h 7335"/>
                <a:gd name="T50" fmla="*/ 1678 w 3774"/>
                <a:gd name="T51" fmla="*/ 3401 h 7335"/>
                <a:gd name="T52" fmla="*/ 2063 w 3774"/>
                <a:gd name="T53" fmla="*/ 4032 h 7335"/>
                <a:gd name="T54" fmla="*/ 1872 w 3774"/>
                <a:gd name="T55" fmla="*/ 2493 h 7335"/>
                <a:gd name="T56" fmla="*/ 2345 w 3774"/>
                <a:gd name="T57" fmla="*/ 3685 h 7335"/>
                <a:gd name="T58" fmla="*/ 2340 w 3774"/>
                <a:gd name="T59" fmla="*/ 1341 h 7335"/>
                <a:gd name="T60" fmla="*/ 2525 w 3774"/>
                <a:gd name="T61" fmla="*/ 2863 h 7335"/>
                <a:gd name="T62" fmla="*/ 3007 w 3774"/>
                <a:gd name="T63" fmla="*/ 550 h 7335"/>
                <a:gd name="T64" fmla="*/ 2911 w 3774"/>
                <a:gd name="T65" fmla="*/ 2268 h 7335"/>
                <a:gd name="T66" fmla="*/ 3594 w 3774"/>
                <a:gd name="T67" fmla="*/ 38 h 73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774" h="7335">
                  <a:moveTo>
                    <a:pt x="3358" y="5632"/>
                  </a:moveTo>
                  <a:cubicBezTo>
                    <a:pt x="3219" y="5793"/>
                    <a:pt x="3040" y="6021"/>
                    <a:pt x="3079" y="6187"/>
                  </a:cubicBezTo>
                  <a:cubicBezTo>
                    <a:pt x="3079" y="6187"/>
                    <a:pt x="3079" y="6187"/>
                    <a:pt x="3079" y="6187"/>
                  </a:cubicBezTo>
                  <a:cubicBezTo>
                    <a:pt x="3107" y="6325"/>
                    <a:pt x="3302" y="6410"/>
                    <a:pt x="3302" y="6410"/>
                  </a:cubicBezTo>
                  <a:cubicBezTo>
                    <a:pt x="3720" y="6636"/>
                    <a:pt x="3720" y="6636"/>
                    <a:pt x="3720" y="6636"/>
                  </a:cubicBezTo>
                  <a:cubicBezTo>
                    <a:pt x="3449" y="6873"/>
                    <a:pt x="3449" y="6873"/>
                    <a:pt x="3449" y="6873"/>
                  </a:cubicBezTo>
                  <a:cubicBezTo>
                    <a:pt x="3774" y="6975"/>
                    <a:pt x="3774" y="6975"/>
                    <a:pt x="3774" y="6975"/>
                  </a:cubicBezTo>
                  <a:cubicBezTo>
                    <a:pt x="3774" y="6975"/>
                    <a:pt x="3476" y="7281"/>
                    <a:pt x="3441" y="7312"/>
                  </a:cubicBezTo>
                  <a:cubicBezTo>
                    <a:pt x="3356" y="7326"/>
                    <a:pt x="3266" y="7335"/>
                    <a:pt x="3169" y="7335"/>
                  </a:cubicBezTo>
                  <a:cubicBezTo>
                    <a:pt x="2479" y="7335"/>
                    <a:pt x="1519" y="6927"/>
                    <a:pt x="1281" y="6924"/>
                  </a:cubicBezTo>
                  <a:cubicBezTo>
                    <a:pt x="995" y="6921"/>
                    <a:pt x="636" y="7086"/>
                    <a:pt x="636" y="7086"/>
                  </a:cubicBezTo>
                  <a:cubicBezTo>
                    <a:pt x="823" y="6882"/>
                    <a:pt x="823" y="6882"/>
                    <a:pt x="823" y="6882"/>
                  </a:cubicBezTo>
                  <a:cubicBezTo>
                    <a:pt x="823" y="6882"/>
                    <a:pt x="577" y="6932"/>
                    <a:pt x="339" y="6912"/>
                  </a:cubicBezTo>
                  <a:cubicBezTo>
                    <a:pt x="675" y="6684"/>
                    <a:pt x="675" y="6684"/>
                    <a:pt x="675" y="6684"/>
                  </a:cubicBezTo>
                  <a:cubicBezTo>
                    <a:pt x="380" y="6674"/>
                    <a:pt x="122" y="6586"/>
                    <a:pt x="0" y="6500"/>
                  </a:cubicBezTo>
                  <a:cubicBezTo>
                    <a:pt x="0" y="6500"/>
                    <a:pt x="543" y="6457"/>
                    <a:pt x="1280" y="6465"/>
                  </a:cubicBezTo>
                  <a:cubicBezTo>
                    <a:pt x="1578" y="6468"/>
                    <a:pt x="2083" y="6498"/>
                    <a:pt x="2083" y="6498"/>
                  </a:cubicBezTo>
                  <a:cubicBezTo>
                    <a:pt x="1834" y="6392"/>
                    <a:pt x="1600" y="6252"/>
                    <a:pt x="1500" y="6006"/>
                  </a:cubicBezTo>
                  <a:cubicBezTo>
                    <a:pt x="1976" y="6078"/>
                    <a:pt x="1976" y="6078"/>
                    <a:pt x="1976" y="6078"/>
                  </a:cubicBezTo>
                  <a:cubicBezTo>
                    <a:pt x="1776" y="5956"/>
                    <a:pt x="1486" y="5649"/>
                    <a:pt x="1432" y="5412"/>
                  </a:cubicBezTo>
                  <a:cubicBezTo>
                    <a:pt x="1964" y="5598"/>
                    <a:pt x="1964" y="5598"/>
                    <a:pt x="1964" y="5598"/>
                  </a:cubicBezTo>
                  <a:cubicBezTo>
                    <a:pt x="1869" y="5496"/>
                    <a:pt x="1541" y="5188"/>
                    <a:pt x="1482" y="4831"/>
                  </a:cubicBezTo>
                  <a:cubicBezTo>
                    <a:pt x="1902" y="5096"/>
                    <a:pt x="1902" y="5096"/>
                    <a:pt x="1902" y="5096"/>
                  </a:cubicBezTo>
                  <a:cubicBezTo>
                    <a:pt x="1792" y="4985"/>
                    <a:pt x="1493" y="4396"/>
                    <a:pt x="1544" y="4223"/>
                  </a:cubicBezTo>
                  <a:cubicBezTo>
                    <a:pt x="1936" y="4487"/>
                    <a:pt x="1936" y="4487"/>
                    <a:pt x="1936" y="4487"/>
                  </a:cubicBezTo>
                  <a:cubicBezTo>
                    <a:pt x="1748" y="4255"/>
                    <a:pt x="1529" y="3640"/>
                    <a:pt x="1678" y="3401"/>
                  </a:cubicBezTo>
                  <a:cubicBezTo>
                    <a:pt x="1797" y="3864"/>
                    <a:pt x="2063" y="4032"/>
                    <a:pt x="2063" y="4032"/>
                  </a:cubicBezTo>
                  <a:cubicBezTo>
                    <a:pt x="1889" y="3780"/>
                    <a:pt x="1513" y="2887"/>
                    <a:pt x="1872" y="2493"/>
                  </a:cubicBezTo>
                  <a:cubicBezTo>
                    <a:pt x="1966" y="3384"/>
                    <a:pt x="2345" y="3685"/>
                    <a:pt x="2345" y="3685"/>
                  </a:cubicBezTo>
                  <a:cubicBezTo>
                    <a:pt x="2031" y="3186"/>
                    <a:pt x="1674" y="1652"/>
                    <a:pt x="2340" y="1341"/>
                  </a:cubicBezTo>
                  <a:cubicBezTo>
                    <a:pt x="2210" y="2327"/>
                    <a:pt x="2525" y="2863"/>
                    <a:pt x="2525" y="2863"/>
                  </a:cubicBezTo>
                  <a:cubicBezTo>
                    <a:pt x="2326" y="1955"/>
                    <a:pt x="2332" y="668"/>
                    <a:pt x="3007" y="550"/>
                  </a:cubicBezTo>
                  <a:cubicBezTo>
                    <a:pt x="2676" y="1520"/>
                    <a:pt x="2911" y="2268"/>
                    <a:pt x="2911" y="2268"/>
                  </a:cubicBezTo>
                  <a:cubicBezTo>
                    <a:pt x="2863" y="0"/>
                    <a:pt x="3594" y="38"/>
                    <a:pt x="3594" y="3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51"/>
            </a:p>
          </p:txBody>
        </p:sp>
      </p:grpSp>
      <p:sp>
        <p:nvSpPr>
          <p:cNvPr id="25" name="Title 1">
            <a:extLst>
              <a:ext uri="{FF2B5EF4-FFF2-40B4-BE49-F238E27FC236}">
                <a16:creationId xmlns:a16="http://schemas.microsoft.com/office/drawing/2014/main" id="{AF7DE4F0-2CFA-574F-AAAF-6305AD1421A1}"/>
              </a:ext>
            </a:extLst>
          </p:cNvPr>
          <p:cNvSpPr>
            <a:spLocks noGrp="1"/>
          </p:cNvSpPr>
          <p:nvPr>
            <p:ph type="title"/>
          </p:nvPr>
        </p:nvSpPr>
        <p:spPr>
          <a:xfrm>
            <a:off x="504825" y="549277"/>
            <a:ext cx="5770564" cy="1653686"/>
          </a:xfrm>
        </p:spPr>
        <p:txBody>
          <a:bodyPr/>
          <a:lstStyle>
            <a:lvl1pPr>
              <a:defRPr>
                <a:solidFill>
                  <a:schemeClr val="bg1"/>
                </a:solidFill>
              </a:defRPr>
            </a:lvl1pPr>
          </a:lstStyle>
          <a:p>
            <a:r>
              <a:rPr lang="en-US"/>
              <a:t>Click to edit Master title style</a:t>
            </a:r>
            <a:endParaRPr lang="en-GB"/>
          </a:p>
        </p:txBody>
      </p:sp>
      <p:sp>
        <p:nvSpPr>
          <p:cNvPr id="45" name="Text Placeholder 3">
            <a:extLst>
              <a:ext uri="{FF2B5EF4-FFF2-40B4-BE49-F238E27FC236}">
                <a16:creationId xmlns:a16="http://schemas.microsoft.com/office/drawing/2014/main" id="{D9636366-842F-6746-91E5-B98A25227510}"/>
              </a:ext>
            </a:extLst>
          </p:cNvPr>
          <p:cNvSpPr>
            <a:spLocks noGrp="1"/>
          </p:cNvSpPr>
          <p:nvPr>
            <p:ph type="body" sz="quarter" idx="12"/>
          </p:nvPr>
        </p:nvSpPr>
        <p:spPr>
          <a:xfrm>
            <a:off x="504831" y="2442198"/>
            <a:ext cx="2726057" cy="986806"/>
          </a:xfrm>
        </p:spPr>
        <p:txBody>
          <a:bodyPr/>
          <a:lstStyle>
            <a:lvl1pPr>
              <a:lnSpc>
                <a:spcPct val="112000"/>
              </a:lnSpc>
              <a:spcAft>
                <a:spcPts val="0"/>
              </a:spcAft>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p:txBody>
      </p:sp>
      <p:sp>
        <p:nvSpPr>
          <p:cNvPr id="46" name="Text Placeholder 3">
            <a:extLst>
              <a:ext uri="{FF2B5EF4-FFF2-40B4-BE49-F238E27FC236}">
                <a16:creationId xmlns:a16="http://schemas.microsoft.com/office/drawing/2014/main" id="{F1304CE5-D1B1-A34F-B482-6E13A01C7F1B}"/>
              </a:ext>
            </a:extLst>
          </p:cNvPr>
          <p:cNvSpPr>
            <a:spLocks noGrp="1"/>
          </p:cNvSpPr>
          <p:nvPr>
            <p:ph type="body" sz="quarter" idx="13"/>
          </p:nvPr>
        </p:nvSpPr>
        <p:spPr>
          <a:xfrm>
            <a:off x="3549339" y="2442198"/>
            <a:ext cx="2726057" cy="986806"/>
          </a:xfrm>
        </p:spPr>
        <p:txBody>
          <a:bodyPr/>
          <a:lstStyle>
            <a:lvl1pPr>
              <a:lnSpc>
                <a:spcPct val="112000"/>
              </a:lnSpc>
              <a:spcAft>
                <a:spcPts val="0"/>
              </a:spcAft>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415661547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1_Cover Slide">
    <p:bg>
      <p:bgPr>
        <a:solidFill>
          <a:schemeClr val="tx2"/>
        </a:solidFill>
        <a:effectLst/>
      </p:bgPr>
    </p:bg>
    <p:spTree>
      <p:nvGrpSpPr>
        <p:cNvPr id="1" name=""/>
        <p:cNvGrpSpPr/>
        <p:nvPr/>
      </p:nvGrpSpPr>
      <p:grpSpPr>
        <a:xfrm>
          <a:off x="0" y="0"/>
          <a:ext cx="0" cy="0"/>
          <a:chOff x="0" y="0"/>
          <a:chExt cx="0" cy="0"/>
        </a:xfrm>
      </p:grpSpPr>
      <p:pic>
        <p:nvPicPr>
          <p:cNvPr id="5" name="Picture 4" descr="A picture containing pie chart&#10;&#10;Description automatically generated">
            <a:extLst>
              <a:ext uri="{FF2B5EF4-FFF2-40B4-BE49-F238E27FC236}">
                <a16:creationId xmlns:a16="http://schemas.microsoft.com/office/drawing/2014/main" id="{6A3F484B-733E-DD40-9856-D3480EB05B82}"/>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0" y="0"/>
            <a:ext cx="12192000" cy="6858000"/>
          </a:xfrm>
          <a:prstGeom prst="rect">
            <a:avLst/>
          </a:prstGeom>
        </p:spPr>
      </p:pic>
      <p:pic>
        <p:nvPicPr>
          <p:cNvPr id="45" name="Picture 44">
            <a:extLst>
              <a:ext uri="{FF2B5EF4-FFF2-40B4-BE49-F238E27FC236}">
                <a16:creationId xmlns:a16="http://schemas.microsoft.com/office/drawing/2014/main" id="{958F4D21-EEDA-41F1-870B-3790AF38A4D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026801" y="2369022"/>
            <a:ext cx="2138401" cy="2334271"/>
          </a:xfrm>
          <a:prstGeom prst="rect">
            <a:avLst/>
          </a:prstGeom>
        </p:spPr>
      </p:pic>
    </p:spTree>
    <p:extLst>
      <p:ext uri="{BB962C8B-B14F-4D97-AF65-F5344CB8AC3E}">
        <p14:creationId xmlns:p14="http://schemas.microsoft.com/office/powerpoint/2010/main" val="415086770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Content">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36940F4-4C25-4D67-9351-D7D2C1C1BDA3}"/>
              </a:ext>
            </a:extLst>
          </p:cNvPr>
          <p:cNvSpPr>
            <a:spLocks noGrp="1"/>
          </p:cNvSpPr>
          <p:nvPr>
            <p:ph type="title"/>
          </p:nvPr>
        </p:nvSpPr>
        <p:spPr/>
        <p:txBody>
          <a:bodyPr/>
          <a:lstStyle/>
          <a:p>
            <a:r>
              <a:rPr lang="en-US"/>
              <a:t>Click to edit Master title style</a:t>
            </a:r>
            <a:endParaRPr lang="en-GB"/>
          </a:p>
        </p:txBody>
      </p:sp>
      <p:sp>
        <p:nvSpPr>
          <p:cNvPr id="9" name="Text Placeholder 8">
            <a:extLst>
              <a:ext uri="{FF2B5EF4-FFF2-40B4-BE49-F238E27FC236}">
                <a16:creationId xmlns:a16="http://schemas.microsoft.com/office/drawing/2014/main" id="{CFD3E70C-B524-482C-8CA3-D6F041003102}"/>
              </a:ext>
            </a:extLst>
          </p:cNvPr>
          <p:cNvSpPr>
            <a:spLocks noGrp="1"/>
          </p:cNvSpPr>
          <p:nvPr>
            <p:ph type="body" sz="quarter" idx="13"/>
          </p:nvPr>
        </p:nvSpPr>
        <p:spPr>
          <a:xfrm>
            <a:off x="503238" y="2028835"/>
            <a:ext cx="3442834" cy="4352925"/>
          </a:xfrm>
        </p:spPr>
        <p:txBody>
          <a:bodyPr numCol="1" spcCol="432000"/>
          <a:lstStyle>
            <a:lvl1pPr>
              <a:spcAft>
                <a:spcPts val="425"/>
              </a:spcAft>
              <a:tabLst>
                <a:tab pos="283510" algn="l"/>
              </a:tabLst>
              <a:defRPr sz="900"/>
            </a:lvl1pPr>
            <a:lvl2pPr>
              <a:spcBef>
                <a:spcPts val="1488"/>
              </a:spcBef>
              <a:spcAft>
                <a:spcPts val="425"/>
              </a:spcAft>
              <a:tabLst>
                <a:tab pos="283510" algn="l"/>
              </a:tabLst>
              <a:defRPr sz="900"/>
            </a:lvl2pPr>
            <a:lvl3pPr>
              <a:defRPr sz="751"/>
            </a:lvl3pPr>
            <a:lvl4pPr>
              <a:defRPr sz="751"/>
            </a:lvl4pPr>
            <a:lvl5pPr>
              <a:defRPr sz="751"/>
            </a:lvl5pPr>
          </a:lstStyle>
          <a:p>
            <a:pPr lvl="0"/>
            <a:r>
              <a:rPr lang="en-US"/>
              <a:t>Click to edit Master text styles</a:t>
            </a:r>
          </a:p>
          <a:p>
            <a:pPr lvl="1"/>
            <a:r>
              <a:rPr lang="en-US"/>
              <a:t>Second level</a:t>
            </a:r>
          </a:p>
        </p:txBody>
      </p:sp>
      <p:sp>
        <p:nvSpPr>
          <p:cNvPr id="14" name="Text Placeholder 8">
            <a:extLst>
              <a:ext uri="{FF2B5EF4-FFF2-40B4-BE49-F238E27FC236}">
                <a16:creationId xmlns:a16="http://schemas.microsoft.com/office/drawing/2014/main" id="{C137E720-7C19-45D8-93AC-F3C347EBF28C}"/>
              </a:ext>
            </a:extLst>
          </p:cNvPr>
          <p:cNvSpPr>
            <a:spLocks noGrp="1"/>
          </p:cNvSpPr>
          <p:nvPr>
            <p:ph type="body" sz="quarter" idx="14"/>
          </p:nvPr>
        </p:nvSpPr>
        <p:spPr>
          <a:xfrm>
            <a:off x="4374585" y="2028834"/>
            <a:ext cx="3442834" cy="4352925"/>
          </a:xfrm>
        </p:spPr>
        <p:txBody>
          <a:bodyPr numCol="1" spcCol="432000"/>
          <a:lstStyle>
            <a:lvl1pPr>
              <a:spcAft>
                <a:spcPts val="425"/>
              </a:spcAft>
              <a:tabLst>
                <a:tab pos="283510" algn="l"/>
              </a:tabLst>
              <a:defRPr sz="900"/>
            </a:lvl1pPr>
            <a:lvl2pPr>
              <a:spcBef>
                <a:spcPts val="1488"/>
              </a:spcBef>
              <a:spcAft>
                <a:spcPts val="425"/>
              </a:spcAft>
              <a:tabLst>
                <a:tab pos="283510" algn="l"/>
              </a:tabLst>
              <a:defRPr sz="900"/>
            </a:lvl2pPr>
            <a:lvl3pPr>
              <a:defRPr sz="751"/>
            </a:lvl3pPr>
            <a:lvl4pPr>
              <a:defRPr sz="751"/>
            </a:lvl4pPr>
            <a:lvl5pPr>
              <a:defRPr sz="751"/>
            </a:lvl5pPr>
          </a:lstStyle>
          <a:p>
            <a:pPr lvl="0"/>
            <a:r>
              <a:rPr lang="en-US"/>
              <a:t>Click to edit Master text styles</a:t>
            </a:r>
          </a:p>
          <a:p>
            <a:pPr lvl="1"/>
            <a:r>
              <a:rPr lang="en-US"/>
              <a:t>Second level</a:t>
            </a:r>
          </a:p>
        </p:txBody>
      </p:sp>
      <p:sp>
        <p:nvSpPr>
          <p:cNvPr id="15" name="Text Placeholder 8">
            <a:extLst>
              <a:ext uri="{FF2B5EF4-FFF2-40B4-BE49-F238E27FC236}">
                <a16:creationId xmlns:a16="http://schemas.microsoft.com/office/drawing/2014/main" id="{AAE46DAB-D2A9-4816-A4C7-0D70ED515CDD}"/>
              </a:ext>
            </a:extLst>
          </p:cNvPr>
          <p:cNvSpPr>
            <a:spLocks noGrp="1"/>
          </p:cNvSpPr>
          <p:nvPr>
            <p:ph type="body" sz="quarter" idx="15"/>
          </p:nvPr>
        </p:nvSpPr>
        <p:spPr>
          <a:xfrm>
            <a:off x="8244341" y="2028835"/>
            <a:ext cx="3442834" cy="4352925"/>
          </a:xfrm>
        </p:spPr>
        <p:txBody>
          <a:bodyPr numCol="1" spcCol="432000"/>
          <a:lstStyle>
            <a:lvl1pPr>
              <a:spcAft>
                <a:spcPts val="425"/>
              </a:spcAft>
              <a:tabLst>
                <a:tab pos="283510" algn="l"/>
              </a:tabLst>
              <a:defRPr sz="900"/>
            </a:lvl1pPr>
            <a:lvl2pPr>
              <a:spcBef>
                <a:spcPts val="1488"/>
              </a:spcBef>
              <a:spcAft>
                <a:spcPts val="425"/>
              </a:spcAft>
              <a:tabLst>
                <a:tab pos="283510" algn="l"/>
              </a:tabLst>
              <a:defRPr sz="900"/>
            </a:lvl2pPr>
            <a:lvl3pPr>
              <a:defRPr sz="751"/>
            </a:lvl3pPr>
            <a:lvl4pPr>
              <a:defRPr sz="751"/>
            </a:lvl4pPr>
            <a:lvl5pPr>
              <a:defRPr sz="751"/>
            </a:lvl5pPr>
          </a:lstStyle>
          <a:p>
            <a:pPr lvl="0"/>
            <a:r>
              <a:rPr lang="en-US"/>
              <a:t>Click to edit Master text styles</a:t>
            </a:r>
          </a:p>
          <a:p>
            <a:pPr lvl="1"/>
            <a:r>
              <a:rPr lang="en-US"/>
              <a:t>Second level</a:t>
            </a:r>
          </a:p>
        </p:txBody>
      </p:sp>
      <p:sp>
        <p:nvSpPr>
          <p:cNvPr id="10" name="Date Placeholder 9">
            <a:extLst>
              <a:ext uri="{FF2B5EF4-FFF2-40B4-BE49-F238E27FC236}">
                <a16:creationId xmlns:a16="http://schemas.microsoft.com/office/drawing/2014/main" id="{A2836D8F-646B-402F-9B80-2A2AE690B7C1}"/>
              </a:ext>
            </a:extLst>
          </p:cNvPr>
          <p:cNvSpPr>
            <a:spLocks noGrp="1"/>
          </p:cNvSpPr>
          <p:nvPr>
            <p:ph type="dt" sz="half" idx="16"/>
          </p:nvPr>
        </p:nvSpPr>
        <p:spPr>
          <a:xfrm>
            <a:off x="5126408" y="6597655"/>
            <a:ext cx="790213" cy="260349"/>
          </a:xfrm>
          <a:prstGeom prst="rect">
            <a:avLst/>
          </a:prstGeom>
        </p:spPr>
        <p:txBody>
          <a:bodyPr/>
          <a:lstStyle/>
          <a:p>
            <a:fld id="{A965E180-303A-4E15-80BE-2F286FBCA33E}" type="datetimeFigureOut">
              <a:rPr lang="en-US" smtClean="0"/>
              <a:t>9/1/2026</a:t>
            </a:fld>
            <a:endParaRPr lang="en-US"/>
          </a:p>
        </p:txBody>
      </p:sp>
      <p:sp>
        <p:nvSpPr>
          <p:cNvPr id="16" name="Footer Placeholder 15">
            <a:extLst>
              <a:ext uri="{FF2B5EF4-FFF2-40B4-BE49-F238E27FC236}">
                <a16:creationId xmlns:a16="http://schemas.microsoft.com/office/drawing/2014/main" id="{83CE1247-CA20-4FDE-862F-00A2DA3BF0A8}"/>
              </a:ext>
            </a:extLst>
          </p:cNvPr>
          <p:cNvSpPr>
            <a:spLocks noGrp="1"/>
          </p:cNvSpPr>
          <p:nvPr>
            <p:ph type="ftr" sz="quarter" idx="17"/>
          </p:nvPr>
        </p:nvSpPr>
        <p:spPr/>
        <p:txBody>
          <a:bodyPr/>
          <a:lstStyle/>
          <a:p>
            <a:endParaRPr lang="en-US"/>
          </a:p>
        </p:txBody>
      </p:sp>
      <p:sp>
        <p:nvSpPr>
          <p:cNvPr id="17" name="Slide Number Placeholder 16">
            <a:extLst>
              <a:ext uri="{FF2B5EF4-FFF2-40B4-BE49-F238E27FC236}">
                <a16:creationId xmlns:a16="http://schemas.microsoft.com/office/drawing/2014/main" id="{4ABD9BE9-7037-484D-A63B-DAF752468104}"/>
              </a:ext>
            </a:extLst>
          </p:cNvPr>
          <p:cNvSpPr>
            <a:spLocks noGrp="1"/>
          </p:cNvSpPr>
          <p:nvPr>
            <p:ph type="sldNum" sz="quarter" idx="18"/>
          </p:nvPr>
        </p:nvSpPr>
        <p:spPr/>
        <p:txBody>
          <a:bodyPr/>
          <a:lstStyle/>
          <a:p>
            <a:fld id="{26E2892A-E12F-44F8-9FFC-8CD84CE31763}" type="slidenum">
              <a:rPr lang="en-US" smtClean="0"/>
              <a:t>‹#›</a:t>
            </a:fld>
            <a:endParaRPr lang="en-US"/>
          </a:p>
        </p:txBody>
      </p:sp>
    </p:spTree>
    <p:extLst>
      <p:ext uri="{BB962C8B-B14F-4D97-AF65-F5344CB8AC3E}">
        <p14:creationId xmlns:p14="http://schemas.microsoft.com/office/powerpoint/2010/main" val="398501522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1_Content">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36940F4-4C25-4D67-9351-D7D2C1C1BDA3}"/>
              </a:ext>
            </a:extLst>
          </p:cNvPr>
          <p:cNvSpPr>
            <a:spLocks noGrp="1"/>
          </p:cNvSpPr>
          <p:nvPr>
            <p:ph type="title"/>
          </p:nvPr>
        </p:nvSpPr>
        <p:spPr/>
        <p:txBody>
          <a:bodyPr/>
          <a:lstStyle/>
          <a:p>
            <a:r>
              <a:rPr lang="en-US"/>
              <a:t>Click to edit Master title style</a:t>
            </a:r>
            <a:endParaRPr lang="en-GB"/>
          </a:p>
        </p:txBody>
      </p:sp>
      <p:sp>
        <p:nvSpPr>
          <p:cNvPr id="9" name="Text Placeholder 8">
            <a:extLst>
              <a:ext uri="{FF2B5EF4-FFF2-40B4-BE49-F238E27FC236}">
                <a16:creationId xmlns:a16="http://schemas.microsoft.com/office/drawing/2014/main" id="{CFD3E70C-B524-482C-8CA3-D6F041003102}"/>
              </a:ext>
            </a:extLst>
          </p:cNvPr>
          <p:cNvSpPr>
            <a:spLocks noGrp="1"/>
          </p:cNvSpPr>
          <p:nvPr>
            <p:ph type="body" sz="quarter" idx="13"/>
          </p:nvPr>
        </p:nvSpPr>
        <p:spPr>
          <a:xfrm>
            <a:off x="503237" y="2028834"/>
            <a:ext cx="3442834" cy="4352925"/>
          </a:xfrm>
        </p:spPr>
        <p:txBody>
          <a:bodyPr numCol="1" spcCol="432000"/>
          <a:lstStyle>
            <a:lvl1pPr>
              <a:spcAft>
                <a:spcPts val="425"/>
              </a:spcAft>
              <a:tabLst>
                <a:tab pos="283525" algn="l"/>
              </a:tabLst>
              <a:defRPr sz="900"/>
            </a:lvl1pPr>
            <a:lvl2pPr>
              <a:spcBef>
                <a:spcPts val="1488"/>
              </a:spcBef>
              <a:spcAft>
                <a:spcPts val="425"/>
              </a:spcAft>
              <a:tabLst>
                <a:tab pos="283525" algn="l"/>
              </a:tabLst>
              <a:defRPr sz="900"/>
            </a:lvl2pPr>
            <a:lvl3pPr>
              <a:defRPr sz="751"/>
            </a:lvl3pPr>
            <a:lvl4pPr>
              <a:defRPr sz="751"/>
            </a:lvl4pPr>
            <a:lvl5pPr>
              <a:defRPr sz="751"/>
            </a:lvl5pPr>
          </a:lstStyle>
          <a:p>
            <a:pPr lvl="0"/>
            <a:r>
              <a:rPr lang="en-US"/>
              <a:t>Click to edit Master text styles</a:t>
            </a:r>
          </a:p>
          <a:p>
            <a:pPr lvl="1"/>
            <a:r>
              <a:rPr lang="en-US"/>
              <a:t>Second level</a:t>
            </a:r>
          </a:p>
        </p:txBody>
      </p:sp>
      <p:sp>
        <p:nvSpPr>
          <p:cNvPr id="14" name="Text Placeholder 8">
            <a:extLst>
              <a:ext uri="{FF2B5EF4-FFF2-40B4-BE49-F238E27FC236}">
                <a16:creationId xmlns:a16="http://schemas.microsoft.com/office/drawing/2014/main" id="{C137E720-7C19-45D8-93AC-F3C347EBF28C}"/>
              </a:ext>
            </a:extLst>
          </p:cNvPr>
          <p:cNvSpPr>
            <a:spLocks noGrp="1"/>
          </p:cNvSpPr>
          <p:nvPr>
            <p:ph type="body" sz="quarter" idx="14"/>
          </p:nvPr>
        </p:nvSpPr>
        <p:spPr>
          <a:xfrm>
            <a:off x="4374585" y="2028833"/>
            <a:ext cx="3442834" cy="4352925"/>
          </a:xfrm>
        </p:spPr>
        <p:txBody>
          <a:bodyPr numCol="1" spcCol="432000"/>
          <a:lstStyle>
            <a:lvl1pPr>
              <a:spcAft>
                <a:spcPts val="425"/>
              </a:spcAft>
              <a:tabLst>
                <a:tab pos="283525" algn="l"/>
              </a:tabLst>
              <a:defRPr sz="900"/>
            </a:lvl1pPr>
            <a:lvl2pPr>
              <a:spcBef>
                <a:spcPts val="1488"/>
              </a:spcBef>
              <a:spcAft>
                <a:spcPts val="425"/>
              </a:spcAft>
              <a:tabLst>
                <a:tab pos="283525" algn="l"/>
              </a:tabLst>
              <a:defRPr sz="900"/>
            </a:lvl2pPr>
            <a:lvl3pPr>
              <a:defRPr sz="751"/>
            </a:lvl3pPr>
            <a:lvl4pPr>
              <a:defRPr sz="751"/>
            </a:lvl4pPr>
            <a:lvl5pPr>
              <a:defRPr sz="751"/>
            </a:lvl5pPr>
          </a:lstStyle>
          <a:p>
            <a:pPr lvl="0"/>
            <a:r>
              <a:rPr lang="en-US"/>
              <a:t>Click to edit Master text styles</a:t>
            </a:r>
          </a:p>
          <a:p>
            <a:pPr lvl="1"/>
            <a:r>
              <a:rPr lang="en-US"/>
              <a:t>Second level</a:t>
            </a:r>
          </a:p>
        </p:txBody>
      </p:sp>
      <p:sp>
        <p:nvSpPr>
          <p:cNvPr id="15" name="Text Placeholder 8">
            <a:extLst>
              <a:ext uri="{FF2B5EF4-FFF2-40B4-BE49-F238E27FC236}">
                <a16:creationId xmlns:a16="http://schemas.microsoft.com/office/drawing/2014/main" id="{AAE46DAB-D2A9-4816-A4C7-0D70ED515CDD}"/>
              </a:ext>
            </a:extLst>
          </p:cNvPr>
          <p:cNvSpPr>
            <a:spLocks noGrp="1"/>
          </p:cNvSpPr>
          <p:nvPr>
            <p:ph type="body" sz="quarter" idx="15"/>
          </p:nvPr>
        </p:nvSpPr>
        <p:spPr>
          <a:xfrm>
            <a:off x="8244341" y="2028834"/>
            <a:ext cx="3442834" cy="4352925"/>
          </a:xfrm>
        </p:spPr>
        <p:txBody>
          <a:bodyPr numCol="1" spcCol="432000"/>
          <a:lstStyle>
            <a:lvl1pPr>
              <a:spcAft>
                <a:spcPts val="425"/>
              </a:spcAft>
              <a:tabLst>
                <a:tab pos="283525" algn="l"/>
              </a:tabLst>
              <a:defRPr sz="900"/>
            </a:lvl1pPr>
            <a:lvl2pPr>
              <a:spcBef>
                <a:spcPts val="1488"/>
              </a:spcBef>
              <a:spcAft>
                <a:spcPts val="425"/>
              </a:spcAft>
              <a:tabLst>
                <a:tab pos="283525" algn="l"/>
              </a:tabLst>
              <a:defRPr sz="900"/>
            </a:lvl2pPr>
            <a:lvl3pPr>
              <a:defRPr sz="751"/>
            </a:lvl3pPr>
            <a:lvl4pPr>
              <a:defRPr sz="751"/>
            </a:lvl4pPr>
            <a:lvl5pPr>
              <a:defRPr sz="751"/>
            </a:lvl5pPr>
          </a:lstStyle>
          <a:p>
            <a:pPr lvl="0"/>
            <a:r>
              <a:rPr lang="en-US"/>
              <a:t>Click to edit Master text styles</a:t>
            </a:r>
          </a:p>
          <a:p>
            <a:pPr lvl="1"/>
            <a:r>
              <a:rPr lang="en-US"/>
              <a:t>Second level</a:t>
            </a:r>
          </a:p>
        </p:txBody>
      </p:sp>
      <p:sp>
        <p:nvSpPr>
          <p:cNvPr id="10" name="Date Placeholder 9">
            <a:extLst>
              <a:ext uri="{FF2B5EF4-FFF2-40B4-BE49-F238E27FC236}">
                <a16:creationId xmlns:a16="http://schemas.microsoft.com/office/drawing/2014/main" id="{A2836D8F-646B-402F-9B80-2A2AE690B7C1}"/>
              </a:ext>
            </a:extLst>
          </p:cNvPr>
          <p:cNvSpPr>
            <a:spLocks noGrp="1"/>
          </p:cNvSpPr>
          <p:nvPr>
            <p:ph type="dt" sz="half" idx="16"/>
          </p:nvPr>
        </p:nvSpPr>
        <p:spPr>
          <a:xfrm>
            <a:off x="5126407" y="6597655"/>
            <a:ext cx="790213" cy="260349"/>
          </a:xfrm>
          <a:prstGeom prst="rect">
            <a:avLst/>
          </a:prstGeom>
        </p:spPr>
        <p:txBody>
          <a:bodyPr/>
          <a:lstStyle/>
          <a:p>
            <a:fld id="{A965E180-303A-4E15-80BE-2F286FBCA33E}" type="datetimeFigureOut">
              <a:rPr lang="en-US" smtClean="0"/>
              <a:t>9/1/2026</a:t>
            </a:fld>
            <a:endParaRPr lang="en-US"/>
          </a:p>
        </p:txBody>
      </p:sp>
      <p:sp>
        <p:nvSpPr>
          <p:cNvPr id="16" name="Footer Placeholder 15">
            <a:extLst>
              <a:ext uri="{FF2B5EF4-FFF2-40B4-BE49-F238E27FC236}">
                <a16:creationId xmlns:a16="http://schemas.microsoft.com/office/drawing/2014/main" id="{83CE1247-CA20-4FDE-862F-00A2DA3BF0A8}"/>
              </a:ext>
            </a:extLst>
          </p:cNvPr>
          <p:cNvSpPr>
            <a:spLocks noGrp="1"/>
          </p:cNvSpPr>
          <p:nvPr>
            <p:ph type="ftr" sz="quarter" idx="17"/>
          </p:nvPr>
        </p:nvSpPr>
        <p:spPr/>
        <p:txBody>
          <a:bodyPr/>
          <a:lstStyle/>
          <a:p>
            <a:endParaRPr lang="en-US"/>
          </a:p>
        </p:txBody>
      </p:sp>
      <p:sp>
        <p:nvSpPr>
          <p:cNvPr id="17" name="Slide Number Placeholder 16">
            <a:extLst>
              <a:ext uri="{FF2B5EF4-FFF2-40B4-BE49-F238E27FC236}">
                <a16:creationId xmlns:a16="http://schemas.microsoft.com/office/drawing/2014/main" id="{4ABD9BE9-7037-484D-A63B-DAF752468104}"/>
              </a:ext>
            </a:extLst>
          </p:cNvPr>
          <p:cNvSpPr>
            <a:spLocks noGrp="1"/>
          </p:cNvSpPr>
          <p:nvPr>
            <p:ph type="sldNum" sz="quarter" idx="18"/>
          </p:nvPr>
        </p:nvSpPr>
        <p:spPr/>
        <p:txBody>
          <a:bodyPr/>
          <a:lstStyle/>
          <a:p>
            <a:fld id="{26E2892A-E12F-44F8-9FFC-8CD84CE31763}" type="slidenum">
              <a:rPr lang="en-US" smtClean="0"/>
              <a:t>‹#›</a:t>
            </a:fld>
            <a:endParaRPr lang="en-US"/>
          </a:p>
        </p:txBody>
      </p:sp>
    </p:spTree>
    <p:extLst>
      <p:ext uri="{BB962C8B-B14F-4D97-AF65-F5344CB8AC3E}">
        <p14:creationId xmlns:p14="http://schemas.microsoft.com/office/powerpoint/2010/main" val="91354237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27417E-3B96-499C-AC3A-CDF07AEF4BCB}"/>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2C92A555-CEFA-4D21-902E-3F719B31B36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Footer Placeholder 7">
            <a:extLst>
              <a:ext uri="{FF2B5EF4-FFF2-40B4-BE49-F238E27FC236}">
                <a16:creationId xmlns:a16="http://schemas.microsoft.com/office/drawing/2014/main" id="{CCADF828-A606-B144-B40B-41CC623EF845}"/>
              </a:ext>
            </a:extLst>
          </p:cNvPr>
          <p:cNvSpPr>
            <a:spLocks noGrp="1"/>
          </p:cNvSpPr>
          <p:nvPr>
            <p:ph type="ftr" sz="quarter" idx="11"/>
          </p:nvPr>
        </p:nvSpPr>
        <p:spPr>
          <a:xfrm>
            <a:off x="1004480" y="6574834"/>
            <a:ext cx="4406400" cy="260351"/>
          </a:xfrm>
        </p:spPr>
        <p:txBody>
          <a:bodyPr/>
          <a:lstStyle>
            <a:lvl1pPr>
              <a:defRPr sz="675"/>
            </a:lvl1pPr>
          </a:lstStyle>
          <a:p>
            <a:endParaRPr lang="en-US"/>
          </a:p>
        </p:txBody>
      </p:sp>
      <p:sp>
        <p:nvSpPr>
          <p:cNvPr id="9" name="Slide Number Placeholder 8">
            <a:extLst>
              <a:ext uri="{FF2B5EF4-FFF2-40B4-BE49-F238E27FC236}">
                <a16:creationId xmlns:a16="http://schemas.microsoft.com/office/drawing/2014/main" id="{AC2C5185-2FFB-9042-B8D2-9F63941B9E6D}"/>
              </a:ext>
            </a:extLst>
          </p:cNvPr>
          <p:cNvSpPr>
            <a:spLocks noGrp="1"/>
          </p:cNvSpPr>
          <p:nvPr>
            <p:ph type="sldNum" sz="quarter" idx="12"/>
          </p:nvPr>
        </p:nvSpPr>
        <p:spPr/>
        <p:txBody>
          <a:bodyPr/>
          <a:lstStyle/>
          <a:p>
            <a:fld id="{26E2892A-E12F-44F8-9FFC-8CD84CE31763}" type="slidenum">
              <a:rPr lang="en-US" smtClean="0"/>
              <a:t>‹#›</a:t>
            </a:fld>
            <a:endParaRPr lang="en-US"/>
          </a:p>
        </p:txBody>
      </p:sp>
    </p:spTree>
    <p:extLst>
      <p:ext uri="{BB962C8B-B14F-4D97-AF65-F5344CB8AC3E}">
        <p14:creationId xmlns:p14="http://schemas.microsoft.com/office/powerpoint/2010/main" val="364529020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woObj" preserve="1">
  <p:cSld name="Two Blocks of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3F0A54-5B28-4308-9F4C-A89070E90C66}"/>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0B02CCA4-3CB8-459B-8F0C-82B1623A942F}"/>
              </a:ext>
            </a:extLst>
          </p:cNvPr>
          <p:cNvSpPr>
            <a:spLocks noGrp="1"/>
          </p:cNvSpPr>
          <p:nvPr>
            <p:ph sz="half" idx="1"/>
          </p:nvPr>
        </p:nvSpPr>
        <p:spPr>
          <a:xfrm>
            <a:off x="504004" y="2028824"/>
            <a:ext cx="5410800" cy="435292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257DC9AC-5058-43F9-9D95-42D4C6DCD43E}"/>
              </a:ext>
            </a:extLst>
          </p:cNvPr>
          <p:cNvSpPr>
            <a:spLocks noGrp="1"/>
          </p:cNvSpPr>
          <p:nvPr>
            <p:ph sz="half" idx="2"/>
          </p:nvPr>
        </p:nvSpPr>
        <p:spPr>
          <a:xfrm>
            <a:off x="6275389" y="2028824"/>
            <a:ext cx="5410800" cy="435292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Date Placeholder 7">
            <a:extLst>
              <a:ext uri="{FF2B5EF4-FFF2-40B4-BE49-F238E27FC236}">
                <a16:creationId xmlns:a16="http://schemas.microsoft.com/office/drawing/2014/main" id="{2DBAA558-0E78-C349-9E01-07AEEEEBFDB4}"/>
              </a:ext>
            </a:extLst>
          </p:cNvPr>
          <p:cNvSpPr>
            <a:spLocks noGrp="1"/>
          </p:cNvSpPr>
          <p:nvPr>
            <p:ph type="dt" sz="half" idx="10"/>
          </p:nvPr>
        </p:nvSpPr>
        <p:spPr>
          <a:xfrm>
            <a:off x="5126407" y="6597656"/>
            <a:ext cx="790213" cy="260349"/>
          </a:xfrm>
          <a:prstGeom prst="rect">
            <a:avLst/>
          </a:prstGeom>
        </p:spPr>
        <p:txBody>
          <a:bodyPr/>
          <a:lstStyle/>
          <a:p>
            <a:fld id="{A965E180-303A-4E15-80BE-2F286FBCA33E}" type="datetimeFigureOut">
              <a:rPr lang="en-US" smtClean="0"/>
              <a:t>9/1/2026</a:t>
            </a:fld>
            <a:endParaRPr lang="en-US"/>
          </a:p>
        </p:txBody>
      </p:sp>
      <p:sp>
        <p:nvSpPr>
          <p:cNvPr id="9" name="Footer Placeholder 8">
            <a:extLst>
              <a:ext uri="{FF2B5EF4-FFF2-40B4-BE49-F238E27FC236}">
                <a16:creationId xmlns:a16="http://schemas.microsoft.com/office/drawing/2014/main" id="{6392F214-B197-0F43-85E3-7646D7E61044}"/>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618F6384-5879-204E-9BF1-65A3DB0BE6BA}"/>
              </a:ext>
            </a:extLst>
          </p:cNvPr>
          <p:cNvSpPr>
            <a:spLocks noGrp="1"/>
          </p:cNvSpPr>
          <p:nvPr>
            <p:ph type="sldNum" sz="quarter" idx="12"/>
          </p:nvPr>
        </p:nvSpPr>
        <p:spPr/>
        <p:txBody>
          <a:bodyPr/>
          <a:lstStyle/>
          <a:p>
            <a:fld id="{26E2892A-E12F-44F8-9FFC-8CD84CE31763}" type="slidenum">
              <a:rPr lang="en-US" smtClean="0"/>
              <a:t>‹#›</a:t>
            </a:fld>
            <a:endParaRPr lang="en-US"/>
          </a:p>
        </p:txBody>
      </p:sp>
    </p:spTree>
    <p:extLst>
      <p:ext uri="{BB962C8B-B14F-4D97-AF65-F5344CB8AC3E}">
        <p14:creationId xmlns:p14="http://schemas.microsoft.com/office/powerpoint/2010/main" val="1520725120"/>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Three Blocks of Content and Subheadin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3F0A54-5B28-4308-9F4C-A89070E90C66}"/>
              </a:ext>
            </a:extLst>
          </p:cNvPr>
          <p:cNvSpPr>
            <a:spLocks noGrp="1"/>
          </p:cNvSpPr>
          <p:nvPr>
            <p:ph type="title" hasCustomPrompt="1"/>
          </p:nvPr>
        </p:nvSpPr>
        <p:spPr/>
        <p:txBody>
          <a:bodyPr/>
          <a:lstStyle/>
          <a:p>
            <a:r>
              <a:rPr lang="en-GB"/>
              <a:t>Click to </a:t>
            </a:r>
            <a:br>
              <a:rPr lang="en-GB"/>
            </a:br>
            <a:r>
              <a:rPr lang="en-GB"/>
              <a:t>edit Master title style</a:t>
            </a:r>
          </a:p>
        </p:txBody>
      </p:sp>
      <p:sp>
        <p:nvSpPr>
          <p:cNvPr id="3" name="Content Placeholder 2">
            <a:extLst>
              <a:ext uri="{FF2B5EF4-FFF2-40B4-BE49-F238E27FC236}">
                <a16:creationId xmlns:a16="http://schemas.microsoft.com/office/drawing/2014/main" id="{0B02CCA4-3CB8-459B-8F0C-82B1623A942F}"/>
              </a:ext>
            </a:extLst>
          </p:cNvPr>
          <p:cNvSpPr>
            <a:spLocks noGrp="1"/>
          </p:cNvSpPr>
          <p:nvPr>
            <p:ph sz="half" idx="1"/>
          </p:nvPr>
        </p:nvSpPr>
        <p:spPr>
          <a:xfrm>
            <a:off x="504001" y="2570205"/>
            <a:ext cx="3384000" cy="381154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257DC9AC-5058-43F9-9D95-42D4C6DCD43E}"/>
              </a:ext>
            </a:extLst>
          </p:cNvPr>
          <p:cNvSpPr>
            <a:spLocks noGrp="1"/>
          </p:cNvSpPr>
          <p:nvPr>
            <p:ph sz="half" idx="2"/>
          </p:nvPr>
        </p:nvSpPr>
        <p:spPr>
          <a:xfrm>
            <a:off x="4404001" y="2570205"/>
            <a:ext cx="3384000" cy="381154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Content Placeholder 3">
            <a:extLst>
              <a:ext uri="{FF2B5EF4-FFF2-40B4-BE49-F238E27FC236}">
                <a16:creationId xmlns:a16="http://schemas.microsoft.com/office/drawing/2014/main" id="{49180339-D40B-3C49-9210-4319F4484A6D}"/>
              </a:ext>
            </a:extLst>
          </p:cNvPr>
          <p:cNvSpPr>
            <a:spLocks noGrp="1"/>
          </p:cNvSpPr>
          <p:nvPr>
            <p:ph sz="half" idx="13"/>
          </p:nvPr>
        </p:nvSpPr>
        <p:spPr>
          <a:xfrm>
            <a:off x="8295325" y="2570205"/>
            <a:ext cx="3384000" cy="381154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Text Placeholder 9">
            <a:extLst>
              <a:ext uri="{FF2B5EF4-FFF2-40B4-BE49-F238E27FC236}">
                <a16:creationId xmlns:a16="http://schemas.microsoft.com/office/drawing/2014/main" id="{6C76187D-BF9E-C24D-AE49-F93C909EFA87}"/>
              </a:ext>
            </a:extLst>
          </p:cNvPr>
          <p:cNvSpPr>
            <a:spLocks noGrp="1"/>
          </p:cNvSpPr>
          <p:nvPr>
            <p:ph type="body" sz="quarter" idx="14"/>
          </p:nvPr>
        </p:nvSpPr>
        <p:spPr>
          <a:xfrm>
            <a:off x="504827" y="2028826"/>
            <a:ext cx="11182350" cy="442526"/>
          </a:xfrm>
        </p:spPr>
        <p:txBody>
          <a:bodyPr/>
          <a:lstStyle>
            <a:lvl1pPr>
              <a:defRPr sz="1275" b="1" i="0">
                <a:latin typeface="+mn-lt"/>
                <a:cs typeface="Gotham-Medium" pitchFamily="2" charset="0"/>
              </a:defRPr>
            </a:lvl1pPr>
            <a:lvl2pPr>
              <a:defRPr sz="1125"/>
            </a:lvl2pPr>
            <a:lvl3pPr>
              <a:defRPr sz="1125"/>
            </a:lvl3pPr>
            <a:lvl4pPr>
              <a:defRPr sz="1125"/>
            </a:lvl4pPr>
            <a:lvl5pPr>
              <a:defRPr sz="1125"/>
            </a:lvl5pPr>
          </a:lstStyle>
          <a:p>
            <a:pPr lvl="0"/>
            <a:r>
              <a:rPr lang="en-US"/>
              <a:t>Click to edit Master text styles</a:t>
            </a:r>
          </a:p>
        </p:txBody>
      </p:sp>
      <p:sp>
        <p:nvSpPr>
          <p:cNvPr id="11" name="Date Placeholder 10">
            <a:extLst>
              <a:ext uri="{FF2B5EF4-FFF2-40B4-BE49-F238E27FC236}">
                <a16:creationId xmlns:a16="http://schemas.microsoft.com/office/drawing/2014/main" id="{78CADE54-A192-C146-97A9-D92CB40BA643}"/>
              </a:ext>
            </a:extLst>
          </p:cNvPr>
          <p:cNvSpPr>
            <a:spLocks noGrp="1"/>
          </p:cNvSpPr>
          <p:nvPr>
            <p:ph type="dt" sz="half" idx="15"/>
          </p:nvPr>
        </p:nvSpPr>
        <p:spPr>
          <a:xfrm>
            <a:off x="5126407" y="6597656"/>
            <a:ext cx="790213" cy="260349"/>
          </a:xfrm>
          <a:prstGeom prst="rect">
            <a:avLst/>
          </a:prstGeom>
        </p:spPr>
        <p:txBody>
          <a:bodyPr/>
          <a:lstStyle/>
          <a:p>
            <a:fld id="{A965E180-303A-4E15-80BE-2F286FBCA33E}" type="datetimeFigureOut">
              <a:rPr lang="en-US" smtClean="0"/>
              <a:t>9/1/2026</a:t>
            </a:fld>
            <a:endParaRPr lang="en-US"/>
          </a:p>
        </p:txBody>
      </p:sp>
      <p:sp>
        <p:nvSpPr>
          <p:cNvPr id="12" name="Footer Placeholder 11">
            <a:extLst>
              <a:ext uri="{FF2B5EF4-FFF2-40B4-BE49-F238E27FC236}">
                <a16:creationId xmlns:a16="http://schemas.microsoft.com/office/drawing/2014/main" id="{2A1076F2-5931-524E-A720-A0AA49C46A54}"/>
              </a:ext>
            </a:extLst>
          </p:cNvPr>
          <p:cNvSpPr>
            <a:spLocks noGrp="1"/>
          </p:cNvSpPr>
          <p:nvPr>
            <p:ph type="ftr" sz="quarter" idx="16"/>
          </p:nvPr>
        </p:nvSpPr>
        <p:spPr/>
        <p:txBody>
          <a:bodyPr/>
          <a:lstStyle/>
          <a:p>
            <a:endParaRPr lang="en-US"/>
          </a:p>
        </p:txBody>
      </p:sp>
      <p:sp>
        <p:nvSpPr>
          <p:cNvPr id="13" name="Slide Number Placeholder 12">
            <a:extLst>
              <a:ext uri="{FF2B5EF4-FFF2-40B4-BE49-F238E27FC236}">
                <a16:creationId xmlns:a16="http://schemas.microsoft.com/office/drawing/2014/main" id="{CDD5FDB5-FE92-EB4E-8AF2-9AA1BD15901B}"/>
              </a:ext>
            </a:extLst>
          </p:cNvPr>
          <p:cNvSpPr>
            <a:spLocks noGrp="1"/>
          </p:cNvSpPr>
          <p:nvPr>
            <p:ph type="sldNum" sz="quarter" idx="17"/>
          </p:nvPr>
        </p:nvSpPr>
        <p:spPr/>
        <p:txBody>
          <a:bodyPr/>
          <a:lstStyle/>
          <a:p>
            <a:fld id="{26E2892A-E12F-44F8-9FFC-8CD84CE31763}" type="slidenum">
              <a:rPr lang="en-US" smtClean="0"/>
              <a:t>‹#›</a:t>
            </a:fld>
            <a:endParaRPr lang="en-US"/>
          </a:p>
        </p:txBody>
      </p:sp>
    </p:spTree>
    <p:extLst>
      <p:ext uri="{BB962C8B-B14F-4D97-AF65-F5344CB8AC3E}">
        <p14:creationId xmlns:p14="http://schemas.microsoft.com/office/powerpoint/2010/main" val="177545933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Content and Im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27417E-3B96-499C-AC3A-CDF07AEF4BCB}"/>
              </a:ext>
            </a:extLst>
          </p:cNvPr>
          <p:cNvSpPr>
            <a:spLocks noGrp="1"/>
          </p:cNvSpPr>
          <p:nvPr>
            <p:ph type="title"/>
          </p:nvPr>
        </p:nvSpPr>
        <p:spPr>
          <a:xfrm>
            <a:off x="504001" y="550800"/>
            <a:ext cx="11183175" cy="1187450"/>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2C92A555-CEFA-4D21-902E-3F719B31B369}"/>
              </a:ext>
            </a:extLst>
          </p:cNvPr>
          <p:cNvSpPr>
            <a:spLocks noGrp="1"/>
          </p:cNvSpPr>
          <p:nvPr>
            <p:ph idx="1"/>
          </p:nvPr>
        </p:nvSpPr>
        <p:spPr>
          <a:xfrm>
            <a:off x="504825" y="2026807"/>
            <a:ext cx="4140001" cy="43549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Picture Placeholder 6">
            <a:extLst>
              <a:ext uri="{FF2B5EF4-FFF2-40B4-BE49-F238E27FC236}">
                <a16:creationId xmlns:a16="http://schemas.microsoft.com/office/drawing/2014/main" id="{7D6F183F-50F5-F347-8D3A-DF3311A81380}"/>
              </a:ext>
            </a:extLst>
          </p:cNvPr>
          <p:cNvSpPr>
            <a:spLocks noGrp="1"/>
          </p:cNvSpPr>
          <p:nvPr>
            <p:ph type="pic" sz="quarter" idx="13"/>
          </p:nvPr>
        </p:nvSpPr>
        <p:spPr>
          <a:xfrm>
            <a:off x="5077577" y="2028832"/>
            <a:ext cx="6609600" cy="4352924"/>
          </a:xfrm>
          <a:solidFill>
            <a:schemeClr val="bg1">
              <a:lumMod val="85000"/>
            </a:schemeClr>
          </a:solidFill>
        </p:spPr>
        <p:txBody>
          <a:bodyPr/>
          <a:lstStyle/>
          <a:p>
            <a:r>
              <a:rPr lang="en-US"/>
              <a:t>Click icon to add picture</a:t>
            </a:r>
            <a:endParaRPr lang="en-GB"/>
          </a:p>
        </p:txBody>
      </p:sp>
      <p:sp>
        <p:nvSpPr>
          <p:cNvPr id="8" name="Date Placeholder 7">
            <a:extLst>
              <a:ext uri="{FF2B5EF4-FFF2-40B4-BE49-F238E27FC236}">
                <a16:creationId xmlns:a16="http://schemas.microsoft.com/office/drawing/2014/main" id="{2D6CA709-9FB5-6845-95C1-FC8B4536BEEC}"/>
              </a:ext>
            </a:extLst>
          </p:cNvPr>
          <p:cNvSpPr>
            <a:spLocks noGrp="1"/>
          </p:cNvSpPr>
          <p:nvPr>
            <p:ph type="dt" sz="half" idx="14"/>
          </p:nvPr>
        </p:nvSpPr>
        <p:spPr>
          <a:xfrm>
            <a:off x="5126407" y="6597656"/>
            <a:ext cx="790213" cy="260349"/>
          </a:xfrm>
          <a:prstGeom prst="rect">
            <a:avLst/>
          </a:prstGeom>
        </p:spPr>
        <p:txBody>
          <a:bodyPr/>
          <a:lstStyle/>
          <a:p>
            <a:fld id="{A965E180-303A-4E15-80BE-2F286FBCA33E}" type="datetimeFigureOut">
              <a:rPr lang="en-US" smtClean="0"/>
              <a:t>9/1/2026</a:t>
            </a:fld>
            <a:endParaRPr lang="en-US"/>
          </a:p>
        </p:txBody>
      </p:sp>
      <p:sp>
        <p:nvSpPr>
          <p:cNvPr id="9" name="Footer Placeholder 8">
            <a:extLst>
              <a:ext uri="{FF2B5EF4-FFF2-40B4-BE49-F238E27FC236}">
                <a16:creationId xmlns:a16="http://schemas.microsoft.com/office/drawing/2014/main" id="{73CF6AB0-3DB5-ED4F-A1C3-2AF73A378427}"/>
              </a:ext>
            </a:extLst>
          </p:cNvPr>
          <p:cNvSpPr>
            <a:spLocks noGrp="1"/>
          </p:cNvSpPr>
          <p:nvPr>
            <p:ph type="ftr" sz="quarter" idx="15"/>
          </p:nvPr>
        </p:nvSpPr>
        <p:spPr/>
        <p:txBody>
          <a:bodyPr/>
          <a:lstStyle/>
          <a:p>
            <a:endParaRPr lang="en-US"/>
          </a:p>
        </p:txBody>
      </p:sp>
      <p:sp>
        <p:nvSpPr>
          <p:cNvPr id="10" name="Slide Number Placeholder 9">
            <a:extLst>
              <a:ext uri="{FF2B5EF4-FFF2-40B4-BE49-F238E27FC236}">
                <a16:creationId xmlns:a16="http://schemas.microsoft.com/office/drawing/2014/main" id="{9CB336D1-9CBF-9B4C-A6D6-8FBC5CB36FEC}"/>
              </a:ext>
            </a:extLst>
          </p:cNvPr>
          <p:cNvSpPr>
            <a:spLocks noGrp="1"/>
          </p:cNvSpPr>
          <p:nvPr>
            <p:ph type="sldNum" sz="quarter" idx="16"/>
          </p:nvPr>
        </p:nvSpPr>
        <p:spPr/>
        <p:txBody>
          <a:bodyPr/>
          <a:lstStyle/>
          <a:p>
            <a:fld id="{26E2892A-E12F-44F8-9FFC-8CD84CE31763}" type="slidenum">
              <a:rPr lang="en-US" smtClean="0"/>
              <a:t>‹#›</a:t>
            </a:fld>
            <a:endParaRPr lang="en-US"/>
          </a:p>
        </p:txBody>
      </p:sp>
    </p:spTree>
    <p:extLst>
      <p:ext uri="{BB962C8B-B14F-4D97-AF65-F5344CB8AC3E}">
        <p14:creationId xmlns:p14="http://schemas.microsoft.com/office/powerpoint/2010/main" val="978421794"/>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Content and 4 Imag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27417E-3B96-499C-AC3A-CDF07AEF4BCB}"/>
              </a:ext>
            </a:extLst>
          </p:cNvPr>
          <p:cNvSpPr>
            <a:spLocks noGrp="1"/>
          </p:cNvSpPr>
          <p:nvPr>
            <p:ph type="title"/>
          </p:nvPr>
        </p:nvSpPr>
        <p:spPr>
          <a:xfrm>
            <a:off x="504001" y="550800"/>
            <a:ext cx="11183175" cy="1187450"/>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2C92A555-CEFA-4D21-902E-3F719B31B369}"/>
              </a:ext>
            </a:extLst>
          </p:cNvPr>
          <p:cNvSpPr>
            <a:spLocks noGrp="1"/>
          </p:cNvSpPr>
          <p:nvPr>
            <p:ph idx="1"/>
          </p:nvPr>
        </p:nvSpPr>
        <p:spPr>
          <a:xfrm>
            <a:off x="504825" y="2026801"/>
            <a:ext cx="4140001" cy="4352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Picture Placeholder 6">
            <a:extLst>
              <a:ext uri="{FF2B5EF4-FFF2-40B4-BE49-F238E27FC236}">
                <a16:creationId xmlns:a16="http://schemas.microsoft.com/office/drawing/2014/main" id="{7D6F183F-50F5-F347-8D3A-DF3311A81380}"/>
              </a:ext>
            </a:extLst>
          </p:cNvPr>
          <p:cNvSpPr>
            <a:spLocks noGrp="1"/>
          </p:cNvSpPr>
          <p:nvPr>
            <p:ph type="pic" sz="quarter" idx="13"/>
          </p:nvPr>
        </p:nvSpPr>
        <p:spPr>
          <a:xfrm>
            <a:off x="5077576" y="2028826"/>
            <a:ext cx="3240000" cy="2124000"/>
          </a:xfrm>
          <a:solidFill>
            <a:schemeClr val="bg1">
              <a:lumMod val="85000"/>
            </a:schemeClr>
          </a:solidFill>
        </p:spPr>
        <p:txBody>
          <a:bodyPr/>
          <a:lstStyle/>
          <a:p>
            <a:r>
              <a:rPr lang="en-US"/>
              <a:t>Click icon to add picture</a:t>
            </a:r>
            <a:endParaRPr lang="en-GB"/>
          </a:p>
        </p:txBody>
      </p:sp>
      <p:sp>
        <p:nvSpPr>
          <p:cNvPr id="8" name="Picture Placeholder 6">
            <a:extLst>
              <a:ext uri="{FF2B5EF4-FFF2-40B4-BE49-F238E27FC236}">
                <a16:creationId xmlns:a16="http://schemas.microsoft.com/office/drawing/2014/main" id="{6D7E614C-60AC-6F42-A716-A5BA95111F5C}"/>
              </a:ext>
            </a:extLst>
          </p:cNvPr>
          <p:cNvSpPr>
            <a:spLocks noGrp="1"/>
          </p:cNvSpPr>
          <p:nvPr>
            <p:ph type="pic" sz="quarter" idx="14"/>
          </p:nvPr>
        </p:nvSpPr>
        <p:spPr>
          <a:xfrm>
            <a:off x="8439324" y="2028826"/>
            <a:ext cx="3240000" cy="2124000"/>
          </a:xfrm>
          <a:solidFill>
            <a:schemeClr val="bg1">
              <a:lumMod val="85000"/>
            </a:schemeClr>
          </a:solidFill>
        </p:spPr>
        <p:txBody>
          <a:bodyPr/>
          <a:lstStyle/>
          <a:p>
            <a:r>
              <a:rPr lang="en-US"/>
              <a:t>Click icon to add picture</a:t>
            </a:r>
            <a:endParaRPr lang="en-GB"/>
          </a:p>
        </p:txBody>
      </p:sp>
      <p:sp>
        <p:nvSpPr>
          <p:cNvPr id="9" name="Picture Placeholder 6">
            <a:extLst>
              <a:ext uri="{FF2B5EF4-FFF2-40B4-BE49-F238E27FC236}">
                <a16:creationId xmlns:a16="http://schemas.microsoft.com/office/drawing/2014/main" id="{81CF12D5-ACD0-964B-8F86-2EC87E6AD044}"/>
              </a:ext>
            </a:extLst>
          </p:cNvPr>
          <p:cNvSpPr>
            <a:spLocks noGrp="1"/>
          </p:cNvSpPr>
          <p:nvPr>
            <p:ph type="pic" sz="quarter" idx="15"/>
          </p:nvPr>
        </p:nvSpPr>
        <p:spPr>
          <a:xfrm>
            <a:off x="5077576" y="4257750"/>
            <a:ext cx="3240000" cy="2124000"/>
          </a:xfrm>
          <a:solidFill>
            <a:schemeClr val="bg1">
              <a:lumMod val="85000"/>
            </a:schemeClr>
          </a:solidFill>
        </p:spPr>
        <p:txBody>
          <a:bodyPr/>
          <a:lstStyle/>
          <a:p>
            <a:r>
              <a:rPr lang="en-US"/>
              <a:t>Click icon to add picture</a:t>
            </a:r>
            <a:endParaRPr lang="en-GB"/>
          </a:p>
        </p:txBody>
      </p:sp>
      <p:sp>
        <p:nvSpPr>
          <p:cNvPr id="10" name="Picture Placeholder 6">
            <a:extLst>
              <a:ext uri="{FF2B5EF4-FFF2-40B4-BE49-F238E27FC236}">
                <a16:creationId xmlns:a16="http://schemas.microsoft.com/office/drawing/2014/main" id="{58187A2F-D967-034D-8415-3B08E9F0D4D5}"/>
              </a:ext>
            </a:extLst>
          </p:cNvPr>
          <p:cNvSpPr>
            <a:spLocks noGrp="1"/>
          </p:cNvSpPr>
          <p:nvPr>
            <p:ph type="pic" sz="quarter" idx="16"/>
          </p:nvPr>
        </p:nvSpPr>
        <p:spPr>
          <a:xfrm>
            <a:off x="8439324" y="4257750"/>
            <a:ext cx="3240000" cy="2124000"/>
          </a:xfrm>
          <a:solidFill>
            <a:schemeClr val="bg1">
              <a:lumMod val="85000"/>
            </a:schemeClr>
          </a:solidFill>
        </p:spPr>
        <p:txBody>
          <a:bodyPr/>
          <a:lstStyle/>
          <a:p>
            <a:r>
              <a:rPr lang="en-US"/>
              <a:t>Click icon to add picture</a:t>
            </a:r>
            <a:endParaRPr lang="en-GB"/>
          </a:p>
        </p:txBody>
      </p:sp>
      <p:sp>
        <p:nvSpPr>
          <p:cNvPr id="11" name="Date Placeholder 10">
            <a:extLst>
              <a:ext uri="{FF2B5EF4-FFF2-40B4-BE49-F238E27FC236}">
                <a16:creationId xmlns:a16="http://schemas.microsoft.com/office/drawing/2014/main" id="{F77ECADA-054B-264C-AE18-329A92B8B773}"/>
              </a:ext>
            </a:extLst>
          </p:cNvPr>
          <p:cNvSpPr>
            <a:spLocks noGrp="1"/>
          </p:cNvSpPr>
          <p:nvPr>
            <p:ph type="dt" sz="half" idx="17"/>
          </p:nvPr>
        </p:nvSpPr>
        <p:spPr>
          <a:xfrm>
            <a:off x="5126407" y="6597656"/>
            <a:ext cx="790213" cy="260349"/>
          </a:xfrm>
          <a:prstGeom prst="rect">
            <a:avLst/>
          </a:prstGeom>
        </p:spPr>
        <p:txBody>
          <a:bodyPr/>
          <a:lstStyle/>
          <a:p>
            <a:fld id="{A965E180-303A-4E15-80BE-2F286FBCA33E}" type="datetimeFigureOut">
              <a:rPr lang="en-US" smtClean="0"/>
              <a:t>9/1/2026</a:t>
            </a:fld>
            <a:endParaRPr lang="en-US"/>
          </a:p>
        </p:txBody>
      </p:sp>
      <p:sp>
        <p:nvSpPr>
          <p:cNvPr id="12" name="Footer Placeholder 11">
            <a:extLst>
              <a:ext uri="{FF2B5EF4-FFF2-40B4-BE49-F238E27FC236}">
                <a16:creationId xmlns:a16="http://schemas.microsoft.com/office/drawing/2014/main" id="{8CD7C49F-98DB-F94A-B6E9-6542542CE1BB}"/>
              </a:ext>
            </a:extLst>
          </p:cNvPr>
          <p:cNvSpPr>
            <a:spLocks noGrp="1"/>
          </p:cNvSpPr>
          <p:nvPr>
            <p:ph type="ftr" sz="quarter" idx="18"/>
          </p:nvPr>
        </p:nvSpPr>
        <p:spPr/>
        <p:txBody>
          <a:bodyPr/>
          <a:lstStyle/>
          <a:p>
            <a:endParaRPr lang="en-US"/>
          </a:p>
        </p:txBody>
      </p:sp>
      <p:sp>
        <p:nvSpPr>
          <p:cNvPr id="13" name="Slide Number Placeholder 12">
            <a:extLst>
              <a:ext uri="{FF2B5EF4-FFF2-40B4-BE49-F238E27FC236}">
                <a16:creationId xmlns:a16="http://schemas.microsoft.com/office/drawing/2014/main" id="{E4DEF5FD-5669-B743-A3ED-77D68220ED7E}"/>
              </a:ext>
            </a:extLst>
          </p:cNvPr>
          <p:cNvSpPr>
            <a:spLocks noGrp="1"/>
          </p:cNvSpPr>
          <p:nvPr>
            <p:ph type="sldNum" sz="quarter" idx="19"/>
          </p:nvPr>
        </p:nvSpPr>
        <p:spPr/>
        <p:txBody>
          <a:bodyPr/>
          <a:lstStyle/>
          <a:p>
            <a:fld id="{26E2892A-E12F-44F8-9FFC-8CD84CE31763}" type="slidenum">
              <a:rPr lang="en-US" smtClean="0"/>
              <a:t>‹#›</a:t>
            </a:fld>
            <a:endParaRPr lang="en-US"/>
          </a:p>
        </p:txBody>
      </p:sp>
    </p:spTree>
    <p:extLst>
      <p:ext uri="{BB962C8B-B14F-4D97-AF65-F5344CB8AC3E}">
        <p14:creationId xmlns:p14="http://schemas.microsoft.com/office/powerpoint/2010/main" val="2892798745"/>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3 Images and Captio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27417E-3B96-499C-AC3A-CDF07AEF4BCB}"/>
              </a:ext>
            </a:extLst>
          </p:cNvPr>
          <p:cNvSpPr>
            <a:spLocks noGrp="1"/>
          </p:cNvSpPr>
          <p:nvPr>
            <p:ph type="title"/>
          </p:nvPr>
        </p:nvSpPr>
        <p:spPr>
          <a:xfrm>
            <a:off x="504002" y="550800"/>
            <a:ext cx="11183175" cy="1187450"/>
          </a:xfrm>
        </p:spPr>
        <p:txBody>
          <a:bodyPr/>
          <a:lstStyle/>
          <a:p>
            <a:r>
              <a:rPr lang="en-US"/>
              <a:t>Click to edit Master title style</a:t>
            </a:r>
            <a:endParaRPr lang="en-GB"/>
          </a:p>
        </p:txBody>
      </p:sp>
      <p:sp>
        <p:nvSpPr>
          <p:cNvPr id="7" name="Picture Placeholder 6">
            <a:extLst>
              <a:ext uri="{FF2B5EF4-FFF2-40B4-BE49-F238E27FC236}">
                <a16:creationId xmlns:a16="http://schemas.microsoft.com/office/drawing/2014/main" id="{7D6F183F-50F5-F347-8D3A-DF3311A81380}"/>
              </a:ext>
            </a:extLst>
          </p:cNvPr>
          <p:cNvSpPr>
            <a:spLocks noGrp="1"/>
          </p:cNvSpPr>
          <p:nvPr>
            <p:ph type="pic" sz="quarter" idx="13"/>
          </p:nvPr>
        </p:nvSpPr>
        <p:spPr>
          <a:xfrm>
            <a:off x="504004" y="2040925"/>
            <a:ext cx="3301200" cy="2548800"/>
          </a:xfrm>
          <a:solidFill>
            <a:schemeClr val="bg1">
              <a:lumMod val="85000"/>
            </a:schemeClr>
          </a:solidFill>
        </p:spPr>
        <p:txBody>
          <a:bodyPr/>
          <a:lstStyle/>
          <a:p>
            <a:r>
              <a:rPr lang="en-US"/>
              <a:t>Click icon to add picture</a:t>
            </a:r>
            <a:endParaRPr lang="en-GB"/>
          </a:p>
        </p:txBody>
      </p:sp>
      <p:sp>
        <p:nvSpPr>
          <p:cNvPr id="12" name="Picture Placeholder 6">
            <a:extLst>
              <a:ext uri="{FF2B5EF4-FFF2-40B4-BE49-F238E27FC236}">
                <a16:creationId xmlns:a16="http://schemas.microsoft.com/office/drawing/2014/main" id="{7A529A3E-FB3D-DF4A-A2F9-E775C7360C50}"/>
              </a:ext>
            </a:extLst>
          </p:cNvPr>
          <p:cNvSpPr>
            <a:spLocks noGrp="1"/>
          </p:cNvSpPr>
          <p:nvPr>
            <p:ph type="pic" sz="quarter" idx="15"/>
          </p:nvPr>
        </p:nvSpPr>
        <p:spPr>
          <a:xfrm>
            <a:off x="4445407" y="2034875"/>
            <a:ext cx="3301200" cy="2548800"/>
          </a:xfrm>
          <a:solidFill>
            <a:schemeClr val="bg1">
              <a:lumMod val="85000"/>
            </a:schemeClr>
          </a:solidFill>
        </p:spPr>
        <p:txBody>
          <a:bodyPr/>
          <a:lstStyle/>
          <a:p>
            <a:r>
              <a:rPr lang="en-US"/>
              <a:t>Click icon to add picture</a:t>
            </a:r>
            <a:endParaRPr lang="en-GB"/>
          </a:p>
        </p:txBody>
      </p:sp>
      <p:sp>
        <p:nvSpPr>
          <p:cNvPr id="14" name="Picture Placeholder 6">
            <a:extLst>
              <a:ext uri="{FF2B5EF4-FFF2-40B4-BE49-F238E27FC236}">
                <a16:creationId xmlns:a16="http://schemas.microsoft.com/office/drawing/2014/main" id="{E8E75C81-FAFA-444F-AFA7-F038111B6D4C}"/>
              </a:ext>
            </a:extLst>
          </p:cNvPr>
          <p:cNvSpPr>
            <a:spLocks noGrp="1"/>
          </p:cNvSpPr>
          <p:nvPr>
            <p:ph type="pic" sz="quarter" idx="17"/>
          </p:nvPr>
        </p:nvSpPr>
        <p:spPr>
          <a:xfrm>
            <a:off x="8378127" y="2028825"/>
            <a:ext cx="3301200" cy="2548800"/>
          </a:xfrm>
          <a:solidFill>
            <a:schemeClr val="bg1">
              <a:lumMod val="85000"/>
            </a:schemeClr>
          </a:solidFill>
        </p:spPr>
        <p:txBody>
          <a:bodyPr/>
          <a:lstStyle/>
          <a:p>
            <a:r>
              <a:rPr lang="en-US"/>
              <a:t>Click icon to add picture</a:t>
            </a:r>
            <a:endParaRPr lang="en-GB"/>
          </a:p>
        </p:txBody>
      </p:sp>
      <p:sp>
        <p:nvSpPr>
          <p:cNvPr id="15" name="Date Placeholder 14">
            <a:extLst>
              <a:ext uri="{FF2B5EF4-FFF2-40B4-BE49-F238E27FC236}">
                <a16:creationId xmlns:a16="http://schemas.microsoft.com/office/drawing/2014/main" id="{E46A8604-D063-734E-A923-17DCF3C818E6}"/>
              </a:ext>
            </a:extLst>
          </p:cNvPr>
          <p:cNvSpPr>
            <a:spLocks noGrp="1"/>
          </p:cNvSpPr>
          <p:nvPr>
            <p:ph type="dt" sz="half" idx="18"/>
          </p:nvPr>
        </p:nvSpPr>
        <p:spPr>
          <a:xfrm>
            <a:off x="5126408" y="6597656"/>
            <a:ext cx="790213" cy="260349"/>
          </a:xfrm>
          <a:prstGeom prst="rect">
            <a:avLst/>
          </a:prstGeom>
        </p:spPr>
        <p:txBody>
          <a:bodyPr/>
          <a:lstStyle/>
          <a:p>
            <a:fld id="{A965E180-303A-4E15-80BE-2F286FBCA33E}" type="datetimeFigureOut">
              <a:rPr lang="en-US" smtClean="0"/>
              <a:t>9/1/2026</a:t>
            </a:fld>
            <a:endParaRPr lang="en-US"/>
          </a:p>
        </p:txBody>
      </p:sp>
      <p:sp>
        <p:nvSpPr>
          <p:cNvPr id="16" name="Footer Placeholder 15">
            <a:extLst>
              <a:ext uri="{FF2B5EF4-FFF2-40B4-BE49-F238E27FC236}">
                <a16:creationId xmlns:a16="http://schemas.microsoft.com/office/drawing/2014/main" id="{69F76947-C27A-3A46-9553-566EDCC43B36}"/>
              </a:ext>
            </a:extLst>
          </p:cNvPr>
          <p:cNvSpPr>
            <a:spLocks noGrp="1"/>
          </p:cNvSpPr>
          <p:nvPr>
            <p:ph type="ftr" sz="quarter" idx="19"/>
          </p:nvPr>
        </p:nvSpPr>
        <p:spPr/>
        <p:txBody>
          <a:bodyPr/>
          <a:lstStyle/>
          <a:p>
            <a:endParaRPr lang="en-US"/>
          </a:p>
        </p:txBody>
      </p:sp>
      <p:sp>
        <p:nvSpPr>
          <p:cNvPr id="17" name="Slide Number Placeholder 16">
            <a:extLst>
              <a:ext uri="{FF2B5EF4-FFF2-40B4-BE49-F238E27FC236}">
                <a16:creationId xmlns:a16="http://schemas.microsoft.com/office/drawing/2014/main" id="{13C599AC-D93A-1A40-B4F9-D368AFB6527E}"/>
              </a:ext>
            </a:extLst>
          </p:cNvPr>
          <p:cNvSpPr>
            <a:spLocks noGrp="1"/>
          </p:cNvSpPr>
          <p:nvPr>
            <p:ph type="sldNum" sz="quarter" idx="20"/>
          </p:nvPr>
        </p:nvSpPr>
        <p:spPr/>
        <p:txBody>
          <a:bodyPr/>
          <a:lstStyle/>
          <a:p>
            <a:fld id="{26E2892A-E12F-44F8-9FFC-8CD84CE31763}" type="slidenum">
              <a:rPr lang="en-US" smtClean="0"/>
              <a:t>‹#›</a:t>
            </a:fld>
            <a:endParaRPr lang="en-US"/>
          </a:p>
        </p:txBody>
      </p:sp>
      <p:sp>
        <p:nvSpPr>
          <p:cNvPr id="21" name="Content Placeholder 2">
            <a:extLst>
              <a:ext uri="{FF2B5EF4-FFF2-40B4-BE49-F238E27FC236}">
                <a16:creationId xmlns:a16="http://schemas.microsoft.com/office/drawing/2014/main" id="{AF30AE00-BBC7-4641-A388-21B7636095A6}"/>
              </a:ext>
            </a:extLst>
          </p:cNvPr>
          <p:cNvSpPr>
            <a:spLocks noGrp="1"/>
          </p:cNvSpPr>
          <p:nvPr>
            <p:ph idx="1"/>
          </p:nvPr>
        </p:nvSpPr>
        <p:spPr>
          <a:xfrm>
            <a:off x="504829" y="4872832"/>
            <a:ext cx="3309051" cy="1508924"/>
          </a:xfrm>
        </p:spPr>
        <p:txBody>
          <a:bodyPr/>
          <a:lstStyle>
            <a:lvl1pPr>
              <a:defRPr sz="1050"/>
            </a:lvl1pPr>
            <a:lvl2pPr>
              <a:defRPr sz="1050"/>
            </a:lvl2pPr>
            <a:lvl3pPr>
              <a:defRPr sz="1050"/>
            </a:lvl3pPr>
            <a:lvl4pPr>
              <a:defRPr sz="1050"/>
            </a:lvl4pPr>
            <a:lvl5pPr>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2" name="Content Placeholder 2">
            <a:extLst>
              <a:ext uri="{FF2B5EF4-FFF2-40B4-BE49-F238E27FC236}">
                <a16:creationId xmlns:a16="http://schemas.microsoft.com/office/drawing/2014/main" id="{E3C5B76E-67E4-B441-A2EB-FE142C3E56CB}"/>
              </a:ext>
            </a:extLst>
          </p:cNvPr>
          <p:cNvSpPr>
            <a:spLocks noGrp="1"/>
          </p:cNvSpPr>
          <p:nvPr>
            <p:ph idx="14"/>
          </p:nvPr>
        </p:nvSpPr>
        <p:spPr>
          <a:xfrm>
            <a:off x="4437552" y="4866024"/>
            <a:ext cx="3309051" cy="1515728"/>
          </a:xfrm>
        </p:spPr>
        <p:txBody>
          <a:bodyPr/>
          <a:lstStyle>
            <a:lvl1pPr>
              <a:defRPr sz="1050"/>
            </a:lvl1pPr>
            <a:lvl2pPr>
              <a:defRPr sz="1050"/>
            </a:lvl2pPr>
            <a:lvl3pPr>
              <a:defRPr sz="1050"/>
            </a:lvl3pPr>
            <a:lvl4pPr>
              <a:defRPr sz="1050"/>
            </a:lvl4pPr>
            <a:lvl5pPr>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3" name="Content Placeholder 2">
            <a:extLst>
              <a:ext uri="{FF2B5EF4-FFF2-40B4-BE49-F238E27FC236}">
                <a16:creationId xmlns:a16="http://schemas.microsoft.com/office/drawing/2014/main" id="{9924B702-C920-CC4C-AB9B-E5241B2248FA}"/>
              </a:ext>
            </a:extLst>
          </p:cNvPr>
          <p:cNvSpPr>
            <a:spLocks noGrp="1"/>
          </p:cNvSpPr>
          <p:nvPr>
            <p:ph idx="16"/>
          </p:nvPr>
        </p:nvSpPr>
        <p:spPr>
          <a:xfrm>
            <a:off x="8370273" y="4859224"/>
            <a:ext cx="3309051" cy="1522532"/>
          </a:xfrm>
        </p:spPr>
        <p:txBody>
          <a:bodyPr/>
          <a:lstStyle>
            <a:lvl1pPr>
              <a:defRPr sz="1050"/>
            </a:lvl1pPr>
            <a:lvl2pPr>
              <a:defRPr sz="1050"/>
            </a:lvl2pPr>
            <a:lvl3pPr>
              <a:defRPr sz="1050"/>
            </a:lvl3pPr>
            <a:lvl4pPr>
              <a:defRPr sz="1050"/>
            </a:lvl4pPr>
            <a:lvl5pPr>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2616993826"/>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2126D46-BC5D-46ED-8980-6E82FDD288B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90" y="0"/>
            <a:ext cx="12189630" cy="6858000"/>
          </a:xfrm>
          <a:prstGeom prst="rect">
            <a:avLst/>
          </a:prstGeom>
        </p:spPr>
      </p:pic>
      <p:sp>
        <p:nvSpPr>
          <p:cNvPr id="2" name="Title 1">
            <a:extLst>
              <a:ext uri="{FF2B5EF4-FFF2-40B4-BE49-F238E27FC236}">
                <a16:creationId xmlns:a16="http://schemas.microsoft.com/office/drawing/2014/main" id="{C4443FCA-9294-41A7-A9C0-27EAD67AF2F9}"/>
              </a:ext>
            </a:extLst>
          </p:cNvPr>
          <p:cNvSpPr>
            <a:spLocks noGrp="1"/>
          </p:cNvSpPr>
          <p:nvPr>
            <p:ph type="title"/>
          </p:nvPr>
        </p:nvSpPr>
        <p:spPr>
          <a:xfrm>
            <a:off x="504825" y="549280"/>
            <a:ext cx="5770564" cy="5832475"/>
          </a:xfrm>
        </p:spPr>
        <p:txBody>
          <a:bodyPr anchor="t"/>
          <a:lstStyle>
            <a:lvl1pPr>
              <a:defRPr sz="4876">
                <a:solidFill>
                  <a:schemeClr val="bg1"/>
                </a:solidFill>
              </a:defRPr>
            </a:lvl1pPr>
          </a:lstStyle>
          <a:p>
            <a:r>
              <a:rPr lang="en-US"/>
              <a:t>Click to edit Master title style</a:t>
            </a:r>
            <a:endParaRPr lang="en-GB"/>
          </a:p>
        </p:txBody>
      </p:sp>
    </p:spTree>
    <p:extLst>
      <p:ext uri="{BB962C8B-B14F-4D97-AF65-F5344CB8AC3E}">
        <p14:creationId xmlns:p14="http://schemas.microsoft.com/office/powerpoint/2010/main" val="227532478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Section Header 2">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52CA24D-5DF8-48B0-AB39-60E2BA9FD5FE}"/>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4" name="Title 1">
            <a:extLst>
              <a:ext uri="{FF2B5EF4-FFF2-40B4-BE49-F238E27FC236}">
                <a16:creationId xmlns:a16="http://schemas.microsoft.com/office/drawing/2014/main" id="{7703DDDC-291A-3043-A7B8-C2944D8C2F1F}"/>
              </a:ext>
            </a:extLst>
          </p:cNvPr>
          <p:cNvSpPr>
            <a:spLocks noGrp="1"/>
          </p:cNvSpPr>
          <p:nvPr>
            <p:ph type="title"/>
          </p:nvPr>
        </p:nvSpPr>
        <p:spPr>
          <a:xfrm>
            <a:off x="504825" y="549280"/>
            <a:ext cx="5770564" cy="5832475"/>
          </a:xfrm>
        </p:spPr>
        <p:txBody>
          <a:bodyPr anchor="t"/>
          <a:lstStyle>
            <a:lvl1pPr>
              <a:defRPr sz="4876">
                <a:solidFill>
                  <a:schemeClr val="bg1"/>
                </a:solidFill>
              </a:defRPr>
            </a:lvl1pPr>
          </a:lstStyle>
          <a:p>
            <a:r>
              <a:rPr lang="en-US"/>
              <a:t>Click to edit Master title style</a:t>
            </a:r>
            <a:endParaRPr lang="en-GB"/>
          </a:p>
        </p:txBody>
      </p:sp>
    </p:spTree>
    <p:extLst>
      <p:ext uri="{BB962C8B-B14F-4D97-AF65-F5344CB8AC3E}">
        <p14:creationId xmlns:p14="http://schemas.microsoft.com/office/powerpoint/2010/main" val="399391323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Section Header 3">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0A5400D-7B89-4AEF-AD2F-C4EC4B24DD4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Title 1">
            <a:extLst>
              <a:ext uri="{FF2B5EF4-FFF2-40B4-BE49-F238E27FC236}">
                <a16:creationId xmlns:a16="http://schemas.microsoft.com/office/drawing/2014/main" id="{3CADD10B-5351-EC45-9D04-9E2F2AED4960}"/>
              </a:ext>
            </a:extLst>
          </p:cNvPr>
          <p:cNvSpPr>
            <a:spLocks noGrp="1"/>
          </p:cNvSpPr>
          <p:nvPr>
            <p:ph type="title"/>
          </p:nvPr>
        </p:nvSpPr>
        <p:spPr>
          <a:xfrm>
            <a:off x="504825" y="549280"/>
            <a:ext cx="5770564" cy="5832475"/>
          </a:xfrm>
        </p:spPr>
        <p:txBody>
          <a:bodyPr anchor="t"/>
          <a:lstStyle>
            <a:lvl1pPr>
              <a:defRPr sz="4876">
                <a:solidFill>
                  <a:schemeClr val="bg1"/>
                </a:solidFill>
              </a:defRPr>
            </a:lvl1pPr>
          </a:lstStyle>
          <a:p>
            <a:r>
              <a:rPr lang="en-US"/>
              <a:t>Click to edit Master title style</a:t>
            </a:r>
            <a:endParaRPr lang="en-GB"/>
          </a:p>
        </p:txBody>
      </p:sp>
    </p:spTree>
    <p:extLst>
      <p:ext uri="{BB962C8B-B14F-4D97-AF65-F5344CB8AC3E}">
        <p14:creationId xmlns:p14="http://schemas.microsoft.com/office/powerpoint/2010/main" val="2315000917"/>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1_Section Header">
    <p:bg>
      <p:bgPr>
        <a:solidFill>
          <a:schemeClr val="bg2"/>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2126D46-BC5D-46ED-8980-6E82FDD288B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90" y="0"/>
            <a:ext cx="12189630" cy="6858000"/>
          </a:xfrm>
          <a:prstGeom prst="rect">
            <a:avLst/>
          </a:prstGeom>
        </p:spPr>
      </p:pic>
      <p:sp>
        <p:nvSpPr>
          <p:cNvPr id="2" name="Title 1">
            <a:extLst>
              <a:ext uri="{FF2B5EF4-FFF2-40B4-BE49-F238E27FC236}">
                <a16:creationId xmlns:a16="http://schemas.microsoft.com/office/drawing/2014/main" id="{C4443FCA-9294-41A7-A9C0-27EAD67AF2F9}"/>
              </a:ext>
            </a:extLst>
          </p:cNvPr>
          <p:cNvSpPr>
            <a:spLocks noGrp="1"/>
          </p:cNvSpPr>
          <p:nvPr>
            <p:ph type="title"/>
          </p:nvPr>
        </p:nvSpPr>
        <p:spPr>
          <a:xfrm>
            <a:off x="504825" y="549280"/>
            <a:ext cx="5770564" cy="5832475"/>
          </a:xfrm>
        </p:spPr>
        <p:txBody>
          <a:bodyPr anchor="t"/>
          <a:lstStyle>
            <a:lvl1pPr>
              <a:defRPr sz="4876">
                <a:solidFill>
                  <a:schemeClr val="bg1"/>
                </a:solidFill>
              </a:defRPr>
            </a:lvl1pPr>
          </a:lstStyle>
          <a:p>
            <a:r>
              <a:rPr lang="en-US"/>
              <a:t>Click to edit Master title style</a:t>
            </a:r>
            <a:endParaRPr lang="en-GB"/>
          </a:p>
        </p:txBody>
      </p:sp>
    </p:spTree>
    <p:extLst>
      <p:ext uri="{BB962C8B-B14F-4D97-AF65-F5344CB8AC3E}">
        <p14:creationId xmlns:p14="http://schemas.microsoft.com/office/powerpoint/2010/main" val="770634491"/>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1_Section Header 2">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52CA24D-5DF8-48B0-AB39-60E2BA9FD5FE}"/>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4" name="Title 1">
            <a:extLst>
              <a:ext uri="{FF2B5EF4-FFF2-40B4-BE49-F238E27FC236}">
                <a16:creationId xmlns:a16="http://schemas.microsoft.com/office/drawing/2014/main" id="{7703DDDC-291A-3043-A7B8-C2944D8C2F1F}"/>
              </a:ext>
            </a:extLst>
          </p:cNvPr>
          <p:cNvSpPr>
            <a:spLocks noGrp="1"/>
          </p:cNvSpPr>
          <p:nvPr>
            <p:ph type="title"/>
          </p:nvPr>
        </p:nvSpPr>
        <p:spPr>
          <a:xfrm>
            <a:off x="504825" y="549280"/>
            <a:ext cx="5770564" cy="5832475"/>
          </a:xfrm>
        </p:spPr>
        <p:txBody>
          <a:bodyPr anchor="t"/>
          <a:lstStyle>
            <a:lvl1pPr>
              <a:defRPr sz="4876">
                <a:solidFill>
                  <a:schemeClr val="bg1"/>
                </a:solidFill>
              </a:defRPr>
            </a:lvl1pPr>
          </a:lstStyle>
          <a:p>
            <a:r>
              <a:rPr lang="en-US"/>
              <a:t>Click to edit Master title style</a:t>
            </a:r>
            <a:endParaRPr lang="en-GB"/>
          </a:p>
        </p:txBody>
      </p:sp>
    </p:spTree>
    <p:extLst>
      <p:ext uri="{BB962C8B-B14F-4D97-AF65-F5344CB8AC3E}">
        <p14:creationId xmlns:p14="http://schemas.microsoft.com/office/powerpoint/2010/main" val="3345263055"/>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1_Section Header 3">
    <p:bg>
      <p:bgPr>
        <a:solidFill>
          <a:schemeClr val="tx2"/>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0A5400D-7B89-4AEF-AD2F-C4EC4B24DD4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Title 1">
            <a:extLst>
              <a:ext uri="{FF2B5EF4-FFF2-40B4-BE49-F238E27FC236}">
                <a16:creationId xmlns:a16="http://schemas.microsoft.com/office/drawing/2014/main" id="{3CADD10B-5351-EC45-9D04-9E2F2AED4960}"/>
              </a:ext>
            </a:extLst>
          </p:cNvPr>
          <p:cNvSpPr>
            <a:spLocks noGrp="1"/>
          </p:cNvSpPr>
          <p:nvPr>
            <p:ph type="title"/>
          </p:nvPr>
        </p:nvSpPr>
        <p:spPr>
          <a:xfrm>
            <a:off x="504825" y="549280"/>
            <a:ext cx="5770564" cy="5832475"/>
          </a:xfrm>
        </p:spPr>
        <p:txBody>
          <a:bodyPr anchor="t"/>
          <a:lstStyle>
            <a:lvl1pPr>
              <a:defRPr sz="4876">
                <a:solidFill>
                  <a:schemeClr val="bg1"/>
                </a:solidFill>
              </a:defRPr>
            </a:lvl1pPr>
          </a:lstStyle>
          <a:p>
            <a:r>
              <a:rPr lang="en-US"/>
              <a:t>Click to edit Master title style</a:t>
            </a:r>
            <a:endParaRPr lang="en-GB"/>
          </a:p>
        </p:txBody>
      </p:sp>
    </p:spTree>
    <p:extLst>
      <p:ext uri="{BB962C8B-B14F-4D97-AF65-F5344CB8AC3E}">
        <p14:creationId xmlns:p14="http://schemas.microsoft.com/office/powerpoint/2010/main" val="1791746090"/>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2543A9-3564-4F63-BA2E-A27814223CA9}"/>
              </a:ext>
            </a:extLst>
          </p:cNvPr>
          <p:cNvSpPr>
            <a:spLocks noGrp="1"/>
          </p:cNvSpPr>
          <p:nvPr>
            <p:ph type="title"/>
          </p:nvPr>
        </p:nvSpPr>
        <p:spPr/>
        <p:txBody>
          <a:bodyPr/>
          <a:lstStyle/>
          <a:p>
            <a:r>
              <a:rPr lang="en-US"/>
              <a:t>Click to edit Master title style</a:t>
            </a:r>
            <a:endParaRPr lang="en-GB"/>
          </a:p>
        </p:txBody>
      </p:sp>
      <p:sp>
        <p:nvSpPr>
          <p:cNvPr id="6" name="Date Placeholder 5">
            <a:extLst>
              <a:ext uri="{FF2B5EF4-FFF2-40B4-BE49-F238E27FC236}">
                <a16:creationId xmlns:a16="http://schemas.microsoft.com/office/drawing/2014/main" id="{BAB7DA8D-25AF-774D-BDBF-FFABEF37DF62}"/>
              </a:ext>
            </a:extLst>
          </p:cNvPr>
          <p:cNvSpPr>
            <a:spLocks noGrp="1"/>
          </p:cNvSpPr>
          <p:nvPr>
            <p:ph type="dt" sz="half" idx="10"/>
          </p:nvPr>
        </p:nvSpPr>
        <p:spPr>
          <a:xfrm>
            <a:off x="5126407" y="6597656"/>
            <a:ext cx="790213" cy="260349"/>
          </a:xfrm>
          <a:prstGeom prst="rect">
            <a:avLst/>
          </a:prstGeom>
        </p:spPr>
        <p:txBody>
          <a:bodyPr/>
          <a:lstStyle/>
          <a:p>
            <a:fld id="{A965E180-303A-4E15-80BE-2F286FBCA33E}" type="datetimeFigureOut">
              <a:rPr lang="en-US" smtClean="0"/>
              <a:t>9/1/2026</a:t>
            </a:fld>
            <a:endParaRPr lang="en-US"/>
          </a:p>
        </p:txBody>
      </p:sp>
      <p:sp>
        <p:nvSpPr>
          <p:cNvPr id="7" name="Footer Placeholder 6">
            <a:extLst>
              <a:ext uri="{FF2B5EF4-FFF2-40B4-BE49-F238E27FC236}">
                <a16:creationId xmlns:a16="http://schemas.microsoft.com/office/drawing/2014/main" id="{21D5EFB8-0EE1-544B-BDDD-2AE5CEED69DB}"/>
              </a:ext>
            </a:extLst>
          </p:cNvPr>
          <p:cNvSpPr>
            <a:spLocks noGrp="1"/>
          </p:cNvSpPr>
          <p:nvPr>
            <p:ph type="ftr" sz="quarter" idx="11"/>
          </p:nvPr>
        </p:nvSpPr>
        <p:spPr/>
        <p:txBody>
          <a:bodyPr/>
          <a:lstStyle/>
          <a:p>
            <a:endParaRPr lang="en-US"/>
          </a:p>
        </p:txBody>
      </p:sp>
      <p:sp>
        <p:nvSpPr>
          <p:cNvPr id="8" name="Slide Number Placeholder 7">
            <a:extLst>
              <a:ext uri="{FF2B5EF4-FFF2-40B4-BE49-F238E27FC236}">
                <a16:creationId xmlns:a16="http://schemas.microsoft.com/office/drawing/2014/main" id="{3CBBAC67-0E50-2949-876E-ACCE3F2EABFC}"/>
              </a:ext>
            </a:extLst>
          </p:cNvPr>
          <p:cNvSpPr>
            <a:spLocks noGrp="1"/>
          </p:cNvSpPr>
          <p:nvPr>
            <p:ph type="sldNum" sz="quarter" idx="12"/>
          </p:nvPr>
        </p:nvSpPr>
        <p:spPr/>
        <p:txBody>
          <a:bodyPr/>
          <a:lstStyle/>
          <a:p>
            <a:fld id="{26E2892A-E12F-44F8-9FFC-8CD84CE31763}" type="slidenum">
              <a:rPr lang="en-US" smtClean="0"/>
              <a:t>‹#›</a:t>
            </a:fld>
            <a:endParaRPr lang="en-US"/>
          </a:p>
        </p:txBody>
      </p:sp>
    </p:spTree>
    <p:extLst>
      <p:ext uri="{BB962C8B-B14F-4D97-AF65-F5344CB8AC3E}">
        <p14:creationId xmlns:p14="http://schemas.microsoft.com/office/powerpoint/2010/main" val="2691851882"/>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60E09F45-A703-9F41-A7AC-D760BBC32423}"/>
              </a:ext>
            </a:extLst>
          </p:cNvPr>
          <p:cNvSpPr>
            <a:spLocks noGrp="1"/>
          </p:cNvSpPr>
          <p:nvPr>
            <p:ph type="dt" sz="half" idx="10"/>
          </p:nvPr>
        </p:nvSpPr>
        <p:spPr>
          <a:xfrm>
            <a:off x="5126407" y="6597656"/>
            <a:ext cx="790213" cy="260349"/>
          </a:xfrm>
          <a:prstGeom prst="rect">
            <a:avLst/>
          </a:prstGeom>
        </p:spPr>
        <p:txBody>
          <a:bodyPr/>
          <a:lstStyle/>
          <a:p>
            <a:fld id="{A965E180-303A-4E15-80BE-2F286FBCA33E}" type="datetimeFigureOut">
              <a:rPr lang="en-US" smtClean="0"/>
              <a:t>9/1/2026</a:t>
            </a:fld>
            <a:endParaRPr lang="en-US"/>
          </a:p>
        </p:txBody>
      </p:sp>
      <p:sp>
        <p:nvSpPr>
          <p:cNvPr id="6" name="Footer Placeholder 5">
            <a:extLst>
              <a:ext uri="{FF2B5EF4-FFF2-40B4-BE49-F238E27FC236}">
                <a16:creationId xmlns:a16="http://schemas.microsoft.com/office/drawing/2014/main" id="{C2270D36-A2C7-154C-9135-54D930ABCBD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D40C9F8-AC3E-7D46-97A2-EA339B41671B}"/>
              </a:ext>
            </a:extLst>
          </p:cNvPr>
          <p:cNvSpPr>
            <a:spLocks noGrp="1"/>
          </p:cNvSpPr>
          <p:nvPr>
            <p:ph type="sldNum" sz="quarter" idx="12"/>
          </p:nvPr>
        </p:nvSpPr>
        <p:spPr/>
        <p:txBody>
          <a:bodyPr/>
          <a:lstStyle/>
          <a:p>
            <a:fld id="{26E2892A-E12F-44F8-9FFC-8CD84CE31763}" type="slidenum">
              <a:rPr lang="en-US" smtClean="0"/>
              <a:t>‹#›</a:t>
            </a:fld>
            <a:endParaRPr lang="en-US"/>
          </a:p>
        </p:txBody>
      </p:sp>
    </p:spTree>
    <p:extLst>
      <p:ext uri="{BB962C8B-B14F-4D97-AF65-F5344CB8AC3E}">
        <p14:creationId xmlns:p14="http://schemas.microsoft.com/office/powerpoint/2010/main" val="3170926647"/>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cSld name="1_Title and Content">
    <p:spTree>
      <p:nvGrpSpPr>
        <p:cNvPr id="1" name=""/>
        <p:cNvGrpSpPr/>
        <p:nvPr/>
      </p:nvGrpSpPr>
      <p:grpSpPr>
        <a:xfrm>
          <a:off x="0" y="0"/>
          <a:ext cx="0" cy="0"/>
          <a:chOff x="0" y="0"/>
          <a:chExt cx="0" cy="0"/>
        </a:xfrm>
      </p:grpSpPr>
      <p:cxnSp>
        <p:nvCxnSpPr>
          <p:cNvPr id="21" name="Straight Connector 20"/>
          <p:cNvCxnSpPr/>
          <p:nvPr/>
        </p:nvCxnSpPr>
        <p:spPr>
          <a:xfrm>
            <a:off x="508002" y="6357591"/>
            <a:ext cx="11277601" cy="0"/>
          </a:xfrm>
          <a:prstGeom prst="line">
            <a:avLst/>
          </a:prstGeom>
          <a:ln w="6350">
            <a:solidFill>
              <a:srgbClr val="C9CAC8"/>
            </a:solidFill>
            <a:prstDash val="solid"/>
          </a:ln>
        </p:spPr>
        <p:style>
          <a:lnRef idx="1">
            <a:schemeClr val="accent1"/>
          </a:lnRef>
          <a:fillRef idx="0">
            <a:schemeClr val="accent1"/>
          </a:fillRef>
          <a:effectRef idx="0">
            <a:schemeClr val="accent1"/>
          </a:effectRef>
          <a:fontRef idx="minor">
            <a:schemeClr val="tx1"/>
          </a:fontRef>
        </p:style>
      </p:cxnSp>
      <p:sp>
        <p:nvSpPr>
          <p:cNvPr id="9" name="Title 1"/>
          <p:cNvSpPr>
            <a:spLocks noGrp="1"/>
          </p:cNvSpPr>
          <p:nvPr>
            <p:ph type="title" hasCustomPrompt="1"/>
          </p:nvPr>
        </p:nvSpPr>
        <p:spPr>
          <a:xfrm>
            <a:off x="406402" y="-18468"/>
            <a:ext cx="11176001" cy="780471"/>
          </a:xfrm>
          <a:prstGeom prst="rect">
            <a:avLst/>
          </a:prstGeom>
        </p:spPr>
        <p:txBody>
          <a:bodyPr bIns="0" anchor="b" anchorCtr="0">
            <a:noAutofit/>
          </a:bodyPr>
          <a:lstStyle>
            <a:lvl1pPr algn="l">
              <a:lnSpc>
                <a:spcPts val="2100"/>
              </a:lnSpc>
              <a:spcAft>
                <a:spcPts val="0"/>
              </a:spcAft>
              <a:defRPr sz="2100" b="0" baseline="0">
                <a:solidFill>
                  <a:srgbClr val="000000"/>
                </a:solidFill>
                <a:latin typeface="Arial" pitchFamily="34" charset="0"/>
                <a:cs typeface="Arial" pitchFamily="34" charset="0"/>
              </a:defRPr>
            </a:lvl1pPr>
          </a:lstStyle>
          <a:p>
            <a:r>
              <a:rPr lang="en-US"/>
              <a:t>Headline (28 pt, Arial) </a:t>
            </a:r>
            <a:br>
              <a:rPr lang="en-US"/>
            </a:br>
            <a:r>
              <a:rPr lang="en-US"/>
              <a:t>(headline can wrap)</a:t>
            </a:r>
          </a:p>
        </p:txBody>
      </p:sp>
      <p:sp>
        <p:nvSpPr>
          <p:cNvPr id="13" name="Slide Number Placeholder 5">
            <a:extLst>
              <a:ext uri="{FF2B5EF4-FFF2-40B4-BE49-F238E27FC236}">
                <a16:creationId xmlns:a16="http://schemas.microsoft.com/office/drawing/2014/main" id="{717B8F22-75CC-6744-9FFA-54DE8F643DE9}"/>
              </a:ext>
            </a:extLst>
          </p:cNvPr>
          <p:cNvSpPr>
            <a:spLocks noGrp="1"/>
          </p:cNvSpPr>
          <p:nvPr>
            <p:ph type="sldNum" sz="quarter" idx="13"/>
          </p:nvPr>
        </p:nvSpPr>
        <p:spPr>
          <a:xfrm>
            <a:off x="10972800" y="6406831"/>
            <a:ext cx="812800" cy="259080"/>
          </a:xfrm>
          <a:prstGeom prst="rect">
            <a:avLst/>
          </a:prstGeom>
        </p:spPr>
        <p:txBody>
          <a:bodyPr anchor="t" anchorCtr="0"/>
          <a:lstStyle>
            <a:lvl1pPr>
              <a:defRPr sz="900" b="0">
                <a:solidFill>
                  <a:srgbClr val="747678"/>
                </a:solidFill>
                <a:latin typeface="Arial" pitchFamily="34" charset="0"/>
                <a:cs typeface="Arial" pitchFamily="34" charset="0"/>
              </a:defRPr>
            </a:lvl1pPr>
          </a:lstStyle>
          <a:p>
            <a:fld id="{26E2892A-E12F-44F8-9FFC-8CD84CE31763}" type="slidenum">
              <a:rPr lang="en-US" smtClean="0"/>
              <a:t>‹#›</a:t>
            </a:fld>
            <a:endParaRPr lang="en-US"/>
          </a:p>
        </p:txBody>
      </p:sp>
      <p:cxnSp>
        <p:nvCxnSpPr>
          <p:cNvPr id="3" name="Straight Connector 2">
            <a:extLst>
              <a:ext uri="{FF2B5EF4-FFF2-40B4-BE49-F238E27FC236}">
                <a16:creationId xmlns:a16="http://schemas.microsoft.com/office/drawing/2014/main" id="{2E92D43E-8CBB-446E-81E5-DFE00FD985A7}"/>
              </a:ext>
            </a:extLst>
          </p:cNvPr>
          <p:cNvCxnSpPr/>
          <p:nvPr/>
        </p:nvCxnSpPr>
        <p:spPr>
          <a:xfrm>
            <a:off x="526473" y="766619"/>
            <a:ext cx="11157529" cy="0"/>
          </a:xfrm>
          <a:prstGeom prst="line">
            <a:avLst/>
          </a:prstGeom>
          <a:ln>
            <a:solidFill>
              <a:srgbClr val="00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36810636"/>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cSld name="Tit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Slide Number Placeholder 2"/>
          <p:cNvSpPr>
            <a:spLocks noGrp="1"/>
          </p:cNvSpPr>
          <p:nvPr>
            <p:ph type="sldNum" sz="quarter" idx="10"/>
          </p:nvPr>
        </p:nvSpPr>
        <p:spPr/>
        <p:txBody>
          <a:bodyPr/>
          <a:lstStyle/>
          <a:p>
            <a:fld id="{26E2892A-E12F-44F8-9FFC-8CD84CE31763}" type="slidenum">
              <a:rPr lang="en-US" smtClean="0"/>
              <a:t>‹#›</a:t>
            </a:fld>
            <a:endParaRPr lang="en-US"/>
          </a:p>
        </p:txBody>
      </p:sp>
      <p:sp>
        <p:nvSpPr>
          <p:cNvPr id="4" name="Footer Placeholder 3"/>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3681266006"/>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cSld name="1_Blank">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BA68B6A2-1488-4577-BAB5-E2A0A9091E4C}"/>
              </a:ext>
            </a:extLst>
          </p:cNvPr>
          <p:cNvGrpSpPr/>
          <p:nvPr/>
        </p:nvGrpSpPr>
        <p:grpSpPr>
          <a:xfrm>
            <a:off x="0" y="6789946"/>
            <a:ext cx="12192000" cy="77821"/>
            <a:chOff x="0" y="6780111"/>
            <a:chExt cx="9144000" cy="77821"/>
          </a:xfrm>
        </p:grpSpPr>
        <p:sp>
          <p:nvSpPr>
            <p:cNvPr id="9" name="Rectangle 8"/>
            <p:cNvSpPr/>
            <p:nvPr/>
          </p:nvSpPr>
          <p:spPr>
            <a:xfrm>
              <a:off x="0" y="6780112"/>
              <a:ext cx="2383277" cy="77819"/>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o-RO" sz="1350">
                <a:solidFill>
                  <a:prstClr val="white"/>
                </a:solidFill>
              </a:endParaRPr>
            </a:p>
          </p:txBody>
        </p:sp>
        <p:sp>
          <p:nvSpPr>
            <p:cNvPr id="10" name="Rectangle 9"/>
            <p:cNvSpPr/>
            <p:nvPr/>
          </p:nvSpPr>
          <p:spPr>
            <a:xfrm>
              <a:off x="2383277" y="6780111"/>
              <a:ext cx="6760723" cy="77821"/>
            </a:xfrm>
            <a:prstGeom prst="rect">
              <a:avLst/>
            </a:prstGeom>
            <a:gradFill flip="none" rotWithShape="1">
              <a:gsLst>
                <a:gs pos="77000">
                  <a:srgbClr val="00B0F0"/>
                </a:gs>
                <a:gs pos="0">
                  <a:srgbClr val="0092DA"/>
                </a:gs>
                <a:gs pos="10000">
                  <a:srgbClr val="94DEF9"/>
                </a:gs>
                <a:gs pos="21000">
                  <a:schemeClr val="bg1"/>
                </a:gs>
                <a:gs pos="100000">
                  <a:srgbClr val="0070C0"/>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o-RO" sz="1350">
                <a:solidFill>
                  <a:prstClr val="white"/>
                </a:solidFill>
              </a:endParaRPr>
            </a:p>
          </p:txBody>
        </p:sp>
      </p:grpSp>
      <p:sp>
        <p:nvSpPr>
          <p:cNvPr id="5" name="Title 1"/>
          <p:cNvSpPr>
            <a:spLocks noGrp="1"/>
          </p:cNvSpPr>
          <p:nvPr>
            <p:ph type="title" hasCustomPrompt="1"/>
          </p:nvPr>
        </p:nvSpPr>
        <p:spPr>
          <a:xfrm>
            <a:off x="153602" y="158744"/>
            <a:ext cx="11886461" cy="439200"/>
          </a:xfrm>
        </p:spPr>
        <p:txBody>
          <a:bodyPr>
            <a:noAutofit/>
          </a:bodyPr>
          <a:lstStyle>
            <a:lvl1pPr>
              <a:defRPr sz="2600" b="1"/>
            </a:lvl1pPr>
          </a:lstStyle>
          <a:p>
            <a:r>
              <a:rPr lang="en-US"/>
              <a:t>CLICK TO EDIT MASTER TITLE STYLE</a:t>
            </a:r>
          </a:p>
        </p:txBody>
      </p:sp>
      <p:sp>
        <p:nvSpPr>
          <p:cNvPr id="6" name="Text Placeholder 6"/>
          <p:cNvSpPr>
            <a:spLocks noGrp="1"/>
          </p:cNvSpPr>
          <p:nvPr>
            <p:ph type="body" sz="quarter" idx="13" hasCustomPrompt="1"/>
          </p:nvPr>
        </p:nvSpPr>
        <p:spPr>
          <a:xfrm>
            <a:off x="151942" y="583128"/>
            <a:ext cx="11886461" cy="583200"/>
          </a:xfrm>
        </p:spPr>
        <p:txBody>
          <a:bodyPr>
            <a:normAutofit/>
          </a:bodyPr>
          <a:lstStyle>
            <a:lvl1pPr marL="0" indent="0">
              <a:buNone/>
              <a:defRPr sz="2000"/>
            </a:lvl1pPr>
          </a:lstStyle>
          <a:p>
            <a:pPr lvl="0"/>
            <a:r>
              <a:rPr lang="en-US"/>
              <a:t>Click to edit master text styles</a:t>
            </a:r>
          </a:p>
        </p:txBody>
      </p:sp>
    </p:spTree>
    <p:extLst>
      <p:ext uri="{BB962C8B-B14F-4D97-AF65-F5344CB8AC3E}">
        <p14:creationId xmlns:p14="http://schemas.microsoft.com/office/powerpoint/2010/main" val="690279790"/>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cSld name="5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7E10B4-46ED-489D-9711-3C3102552793}"/>
              </a:ext>
            </a:extLst>
          </p:cNvPr>
          <p:cNvSpPr>
            <a:spLocks noGrp="1"/>
          </p:cNvSpPr>
          <p:nvPr>
            <p:ph type="title"/>
          </p:nvPr>
        </p:nvSpPr>
        <p:spPr/>
        <p:txBody>
          <a:bodyPr/>
          <a:lstStyle/>
          <a:p>
            <a:r>
              <a:rPr lang="en-US"/>
              <a:t>Click to edit Master title style</a:t>
            </a:r>
          </a:p>
        </p:txBody>
      </p:sp>
      <p:sp>
        <p:nvSpPr>
          <p:cNvPr id="6" name="Date Placeholder 5">
            <a:extLst>
              <a:ext uri="{FF2B5EF4-FFF2-40B4-BE49-F238E27FC236}">
                <a16:creationId xmlns:a16="http://schemas.microsoft.com/office/drawing/2014/main" id="{A43AC688-7CA0-49B7-BE5C-14D7BE087CEB}"/>
              </a:ext>
            </a:extLst>
          </p:cNvPr>
          <p:cNvSpPr>
            <a:spLocks noGrp="1"/>
          </p:cNvSpPr>
          <p:nvPr>
            <p:ph type="dt" sz="half" idx="14"/>
          </p:nvPr>
        </p:nvSpPr>
        <p:spPr/>
        <p:txBody>
          <a:bodyPr/>
          <a:lstStyle/>
          <a:p>
            <a:fld id="{A965E180-303A-4E15-80BE-2F286FBCA33E}" type="datetimeFigureOut">
              <a:rPr lang="en-US" smtClean="0"/>
              <a:t>9/1/2026</a:t>
            </a:fld>
            <a:endParaRPr lang="en-US"/>
          </a:p>
        </p:txBody>
      </p:sp>
      <p:sp>
        <p:nvSpPr>
          <p:cNvPr id="8" name="Footer Placeholder 7">
            <a:extLst>
              <a:ext uri="{FF2B5EF4-FFF2-40B4-BE49-F238E27FC236}">
                <a16:creationId xmlns:a16="http://schemas.microsoft.com/office/drawing/2014/main" id="{F99F8086-45FF-4FA5-8AC3-05C610A4838B}"/>
              </a:ext>
            </a:extLst>
          </p:cNvPr>
          <p:cNvSpPr>
            <a:spLocks noGrp="1"/>
          </p:cNvSpPr>
          <p:nvPr>
            <p:ph type="ftr" sz="quarter" idx="15"/>
          </p:nvPr>
        </p:nvSpPr>
        <p:spPr/>
        <p:txBody>
          <a:bodyPr/>
          <a:lstStyle/>
          <a:p>
            <a:endParaRPr lang="en-US"/>
          </a:p>
        </p:txBody>
      </p:sp>
      <p:sp>
        <p:nvSpPr>
          <p:cNvPr id="11" name="Picture Placeholder 10">
            <a:extLst>
              <a:ext uri="{FF2B5EF4-FFF2-40B4-BE49-F238E27FC236}">
                <a16:creationId xmlns:a16="http://schemas.microsoft.com/office/drawing/2014/main" id="{9B9D6AD1-AE5B-E83C-5FCC-323CCA0795F9}"/>
              </a:ext>
            </a:extLst>
          </p:cNvPr>
          <p:cNvSpPr>
            <a:spLocks noGrp="1"/>
          </p:cNvSpPr>
          <p:nvPr>
            <p:ph type="pic" sz="quarter" idx="17"/>
          </p:nvPr>
        </p:nvSpPr>
        <p:spPr>
          <a:xfrm>
            <a:off x="0" y="4587547"/>
            <a:ext cx="12192000" cy="1889453"/>
          </a:xfrm>
          <a:custGeom>
            <a:avLst/>
            <a:gdLst>
              <a:gd name="connsiteX0" fmla="*/ 0 w 12192000"/>
              <a:gd name="connsiteY0" fmla="*/ 0 h 1889453"/>
              <a:gd name="connsiteX1" fmla="*/ 12192000 w 12192000"/>
              <a:gd name="connsiteY1" fmla="*/ 0 h 1889453"/>
              <a:gd name="connsiteX2" fmla="*/ 12192000 w 12192000"/>
              <a:gd name="connsiteY2" fmla="*/ 1889453 h 1889453"/>
              <a:gd name="connsiteX3" fmla="*/ 0 w 12192000"/>
              <a:gd name="connsiteY3" fmla="*/ 1889453 h 1889453"/>
            </a:gdLst>
            <a:ahLst/>
            <a:cxnLst>
              <a:cxn ang="0">
                <a:pos x="connsiteX0" y="connsiteY0"/>
              </a:cxn>
              <a:cxn ang="0">
                <a:pos x="connsiteX1" y="connsiteY1"/>
              </a:cxn>
              <a:cxn ang="0">
                <a:pos x="connsiteX2" y="connsiteY2"/>
              </a:cxn>
              <a:cxn ang="0">
                <a:pos x="connsiteX3" y="connsiteY3"/>
              </a:cxn>
            </a:cxnLst>
            <a:rect l="l" t="t" r="r" b="b"/>
            <a:pathLst>
              <a:path w="12192000" h="1889453">
                <a:moveTo>
                  <a:pt x="0" y="0"/>
                </a:moveTo>
                <a:lnTo>
                  <a:pt x="12192000" y="0"/>
                </a:lnTo>
                <a:lnTo>
                  <a:pt x="12192000" y="1889453"/>
                </a:lnTo>
                <a:lnTo>
                  <a:pt x="0" y="1889453"/>
                </a:lnTo>
                <a:close/>
              </a:path>
            </a:pathLst>
          </a:custGeom>
        </p:spPr>
        <p:txBody>
          <a:bodyPr wrap="square">
            <a:noAutofit/>
          </a:bodyPr>
          <a:lstStyle/>
          <a:p>
            <a:r>
              <a:rPr lang="en-US"/>
              <a:t>Click icon to add picture</a:t>
            </a:r>
          </a:p>
        </p:txBody>
      </p:sp>
      <p:sp>
        <p:nvSpPr>
          <p:cNvPr id="10" name="Text Placeholder 6">
            <a:extLst>
              <a:ext uri="{FF2B5EF4-FFF2-40B4-BE49-F238E27FC236}">
                <a16:creationId xmlns:a16="http://schemas.microsoft.com/office/drawing/2014/main" id="{64FD1521-7001-6B38-057F-3A0C646ED1DD}"/>
              </a:ext>
            </a:extLst>
          </p:cNvPr>
          <p:cNvSpPr>
            <a:spLocks noGrp="1"/>
          </p:cNvSpPr>
          <p:nvPr>
            <p:ph type="body" sz="quarter" idx="13"/>
          </p:nvPr>
        </p:nvSpPr>
        <p:spPr>
          <a:xfrm>
            <a:off x="190500" y="795868"/>
            <a:ext cx="11811000" cy="226714"/>
          </a:xfrm>
        </p:spPr>
        <p:txBody>
          <a:bodyPr anchor="t">
            <a:noAutofit/>
          </a:bodyPr>
          <a:lstStyle>
            <a:lvl1pPr marL="0" indent="0" algn="l">
              <a:lnSpc>
                <a:spcPct val="100000"/>
              </a:lnSpc>
              <a:spcBef>
                <a:spcPts val="0"/>
              </a:spcBef>
              <a:buFontTx/>
              <a:buNone/>
              <a:defRPr sz="1000">
                <a:solidFill>
                  <a:schemeClr val="tx2">
                    <a:lumMod val="50000"/>
                    <a:lumOff val="50000"/>
                  </a:schemeClr>
                </a:solidFill>
                <a:latin typeface="Arial" panose="020B0604020202020204" pitchFamily="34" charset="0"/>
                <a:cs typeface="Arial" panose="020B0604020202020204" pitchFamily="34" charset="0"/>
              </a:defRPr>
            </a:lvl1pPr>
            <a:lvl2pPr marL="457177" indent="0">
              <a:buFontTx/>
              <a:buNone/>
              <a:defRPr/>
            </a:lvl2pPr>
            <a:lvl3pPr marL="914353" indent="0">
              <a:buFontTx/>
              <a:buNone/>
              <a:defRPr/>
            </a:lvl3pPr>
            <a:lvl4pPr marL="1371530" indent="0">
              <a:buFontTx/>
              <a:buNone/>
              <a:defRPr/>
            </a:lvl4pPr>
            <a:lvl5pPr marL="1828706" indent="0">
              <a:buFontTx/>
              <a:buNone/>
              <a:defRPr/>
            </a:lvl5pPr>
          </a:lstStyle>
          <a:p>
            <a:pPr lvl="0"/>
            <a:r>
              <a:rPr lang="en-US"/>
              <a:t>Click to edit Master text styles</a:t>
            </a:r>
          </a:p>
        </p:txBody>
      </p:sp>
    </p:spTree>
    <p:extLst>
      <p:ext uri="{BB962C8B-B14F-4D97-AF65-F5344CB8AC3E}">
        <p14:creationId xmlns:p14="http://schemas.microsoft.com/office/powerpoint/2010/main" val="2084199879"/>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10" name="Title ">
            <a:extLst>
              <a:ext uri="{FF2B5EF4-FFF2-40B4-BE49-F238E27FC236}">
                <a16:creationId xmlns:a16="http://schemas.microsoft.com/office/drawing/2014/main" id="{A34371E6-E4E5-D745-9264-8EA9C0BE58EE}"/>
              </a:ext>
            </a:extLst>
          </p:cNvPr>
          <p:cNvSpPr>
            <a:spLocks noGrp="1"/>
          </p:cNvSpPr>
          <p:nvPr>
            <p:ph type="title"/>
          </p:nvPr>
        </p:nvSpPr>
        <p:spPr>
          <a:xfrm>
            <a:off x="431801" y="368299"/>
            <a:ext cx="11328399" cy="1102692"/>
          </a:xfrm>
          <a:prstGeom prst="rect">
            <a:avLst/>
          </a:prstGeom>
        </p:spPr>
        <p:txBody>
          <a:bodyPr vert="horz" lIns="0" tIns="0" rIns="0" bIns="0" rtlCol="0" anchor="t" anchorCtr="0">
            <a:noAutofit/>
          </a:bodyPr>
          <a:lstStyle/>
          <a:p>
            <a:r>
              <a:rPr lang="en-US"/>
              <a:t>Click to edit Master title style</a:t>
            </a:r>
            <a:endParaRPr lang="en-GB"/>
          </a:p>
        </p:txBody>
      </p:sp>
      <p:sp>
        <p:nvSpPr>
          <p:cNvPr id="14" name="Content Placeholder 1">
            <a:extLst>
              <a:ext uri="{FF2B5EF4-FFF2-40B4-BE49-F238E27FC236}">
                <a16:creationId xmlns:a16="http://schemas.microsoft.com/office/drawing/2014/main" id="{52B3A6DB-7A6D-8F4B-9781-155B17631561}"/>
              </a:ext>
            </a:extLst>
          </p:cNvPr>
          <p:cNvSpPr>
            <a:spLocks noGrp="1"/>
          </p:cNvSpPr>
          <p:nvPr>
            <p:ph idx="13"/>
          </p:nvPr>
        </p:nvSpPr>
        <p:spPr>
          <a:xfrm>
            <a:off x="431802" y="1577010"/>
            <a:ext cx="11328397" cy="4399721"/>
          </a:xfrm>
        </p:spPr>
        <p:txBody>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 name="Footnotes Placeholder ">
            <a:extLst>
              <a:ext uri="{FF2B5EF4-FFF2-40B4-BE49-F238E27FC236}">
                <a16:creationId xmlns:a16="http://schemas.microsoft.com/office/drawing/2014/main" id="{3BA9D919-C329-9440-8087-E6F1BDD2F0CE}"/>
              </a:ext>
            </a:extLst>
          </p:cNvPr>
          <p:cNvSpPr>
            <a:spLocks noGrp="1"/>
          </p:cNvSpPr>
          <p:nvPr>
            <p:ph type="body" sz="quarter" idx="14" hasCustomPrompt="1"/>
          </p:nvPr>
        </p:nvSpPr>
        <p:spPr>
          <a:xfrm>
            <a:off x="431800" y="6109253"/>
            <a:ext cx="11328400" cy="393701"/>
          </a:xfrm>
        </p:spPr>
        <p:txBody>
          <a:bodyPr/>
          <a:lstStyle>
            <a:lvl1pPr>
              <a:spcAft>
                <a:spcPts val="0"/>
              </a:spcAft>
              <a:defRPr sz="800"/>
            </a:lvl1pPr>
            <a:lvl2pPr>
              <a:defRPr sz="800"/>
            </a:lvl2pPr>
            <a:lvl3pPr>
              <a:defRPr sz="800"/>
            </a:lvl3pPr>
            <a:lvl4pPr>
              <a:defRPr sz="800"/>
            </a:lvl4pPr>
            <a:lvl5pPr>
              <a:defRPr sz="800"/>
            </a:lvl5pPr>
          </a:lstStyle>
          <a:p>
            <a:pPr lvl="0"/>
            <a:r>
              <a:rPr lang="en-US"/>
              <a:t> * Tied directly to information on page</a:t>
            </a:r>
          </a:p>
          <a:p>
            <a:pPr lvl="0"/>
            <a:r>
              <a:rPr lang="en-US"/>
              <a:t>** Tied directly to information on page</a:t>
            </a:r>
          </a:p>
          <a:p>
            <a:pPr lvl="0"/>
            <a:r>
              <a:rPr lang="en-US"/>
              <a:t>Source: Source information goes here</a:t>
            </a:r>
          </a:p>
        </p:txBody>
      </p:sp>
      <p:sp>
        <p:nvSpPr>
          <p:cNvPr id="11" name="Slide Number Placeholder ">
            <a:extLst>
              <a:ext uri="{FF2B5EF4-FFF2-40B4-BE49-F238E27FC236}">
                <a16:creationId xmlns:a16="http://schemas.microsoft.com/office/drawing/2014/main" id="{65EB6EC4-FA42-5E40-B0BC-3A5BE65BF8BC}"/>
              </a:ext>
            </a:extLst>
          </p:cNvPr>
          <p:cNvSpPr>
            <a:spLocks noGrp="1"/>
          </p:cNvSpPr>
          <p:nvPr>
            <p:ph type="sldNum" sz="quarter" idx="4"/>
          </p:nvPr>
        </p:nvSpPr>
        <p:spPr>
          <a:xfrm>
            <a:off x="193290" y="6623436"/>
            <a:ext cx="238511" cy="234564"/>
          </a:xfrm>
          <a:prstGeom prst="rect">
            <a:avLst/>
          </a:prstGeom>
        </p:spPr>
        <p:txBody>
          <a:bodyPr vert="horz" lIns="0" tIns="0" rIns="0" bIns="0" rtlCol="0" anchor="t" anchorCtr="0">
            <a:noAutofit/>
          </a:bodyPr>
          <a:lstStyle>
            <a:lvl1pPr algn="l">
              <a:lnSpc>
                <a:spcPct val="90000"/>
              </a:lnSpc>
              <a:spcBef>
                <a:spcPts val="0"/>
              </a:spcBef>
              <a:defRPr sz="1000">
                <a:solidFill>
                  <a:srgbClr val="999999"/>
                </a:solidFill>
              </a:defRPr>
            </a:lvl1pPr>
          </a:lstStyle>
          <a:p>
            <a:fld id="{5B4A74C5-79B0-4340-9A8D-1CCBE3E8C644}" type="slidenum">
              <a:rPr lang="en-GB" smtClean="0"/>
              <a:pPr/>
              <a:t>‹#›</a:t>
            </a:fld>
            <a:endParaRPr lang="en-GB"/>
          </a:p>
        </p:txBody>
      </p:sp>
      <p:sp>
        <p:nvSpPr>
          <p:cNvPr id="12" name="Footer Placeholder ">
            <a:extLst>
              <a:ext uri="{FF2B5EF4-FFF2-40B4-BE49-F238E27FC236}">
                <a16:creationId xmlns:a16="http://schemas.microsoft.com/office/drawing/2014/main" id="{9C469A68-DF3A-2E44-A7F3-5C0FEC2DA65A}"/>
              </a:ext>
            </a:extLst>
          </p:cNvPr>
          <p:cNvSpPr>
            <a:spLocks noGrp="1"/>
          </p:cNvSpPr>
          <p:nvPr>
            <p:ph type="ftr" sz="quarter" idx="3"/>
          </p:nvPr>
        </p:nvSpPr>
        <p:spPr>
          <a:xfrm>
            <a:off x="720000" y="6669087"/>
            <a:ext cx="4406400" cy="188914"/>
          </a:xfrm>
          <a:prstGeom prst="rect">
            <a:avLst/>
          </a:prstGeom>
        </p:spPr>
        <p:txBody>
          <a:bodyPr vert="horz" lIns="0" tIns="0" rIns="0" bIns="0" rtlCol="0" anchor="t" anchorCtr="0">
            <a:noAutofit/>
          </a:bodyPr>
          <a:lstStyle>
            <a:lvl1pPr algn="l">
              <a:lnSpc>
                <a:spcPct val="90000"/>
              </a:lnSpc>
              <a:spcBef>
                <a:spcPts val="0"/>
              </a:spcBef>
              <a:defRPr sz="600">
                <a:solidFill>
                  <a:schemeClr val="tx1"/>
                </a:solidFill>
              </a:defRPr>
            </a:lvl1pPr>
          </a:lstStyle>
          <a:p>
            <a:r>
              <a:rPr lang="en-GB"/>
              <a:t>To create or edit a header or footer, go to Insert &gt; Header &amp; Footer</a:t>
            </a:r>
          </a:p>
        </p:txBody>
      </p:sp>
      <p:sp>
        <p:nvSpPr>
          <p:cNvPr id="13" name="Date Placeholder ">
            <a:extLst>
              <a:ext uri="{FF2B5EF4-FFF2-40B4-BE49-F238E27FC236}">
                <a16:creationId xmlns:a16="http://schemas.microsoft.com/office/drawing/2014/main" id="{CC789C5C-FE34-1B4F-AA9C-D124CF5FD550}"/>
              </a:ext>
            </a:extLst>
          </p:cNvPr>
          <p:cNvSpPr>
            <a:spLocks noGrp="1"/>
          </p:cNvSpPr>
          <p:nvPr>
            <p:ph type="dt" sz="half" idx="2"/>
          </p:nvPr>
        </p:nvSpPr>
        <p:spPr>
          <a:xfrm>
            <a:off x="5126400" y="6669089"/>
            <a:ext cx="790213" cy="188912"/>
          </a:xfrm>
          <a:prstGeom prst="rect">
            <a:avLst/>
          </a:prstGeom>
        </p:spPr>
        <p:txBody>
          <a:bodyPr vert="horz" lIns="0" tIns="0" rIns="0" bIns="0" rtlCol="0" anchor="t" anchorCtr="0">
            <a:noAutofit/>
          </a:bodyPr>
          <a:lstStyle>
            <a:lvl1pPr algn="l">
              <a:lnSpc>
                <a:spcPct val="90000"/>
              </a:lnSpc>
              <a:spcBef>
                <a:spcPts val="0"/>
              </a:spcBef>
              <a:defRPr sz="600">
                <a:solidFill>
                  <a:schemeClr val="tx1"/>
                </a:solidFill>
              </a:defRPr>
            </a:lvl1pPr>
          </a:lstStyle>
          <a:p>
            <a:fld id="{99FB4F80-B509-4318-AEA2-271565442194}" type="datetime1">
              <a:rPr lang="en-GB" smtClean="0"/>
              <a:pPr/>
              <a:t>01/09/2026</a:t>
            </a:fld>
            <a:endParaRPr lang="en-GB"/>
          </a:p>
        </p:txBody>
      </p:sp>
    </p:spTree>
    <p:extLst>
      <p:ext uri="{BB962C8B-B14F-4D97-AF65-F5344CB8AC3E}">
        <p14:creationId xmlns:p14="http://schemas.microsoft.com/office/powerpoint/2010/main" val="2876903173"/>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userDrawn="1">
  <p:cSld name="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680FBC-A2A5-725A-6954-CE829B121ADC}"/>
              </a:ext>
            </a:extLst>
          </p:cNvPr>
          <p:cNvSpPr>
            <a:spLocks noGrp="1"/>
          </p:cNvSpPr>
          <p:nvPr>
            <p:ph type="title"/>
          </p:nvPr>
        </p:nvSpPr>
        <p:spPr>
          <a:xfrm>
            <a:off x="993341" y="174100"/>
            <a:ext cx="10205317" cy="930761"/>
          </a:xfrm>
        </p:spPr>
        <p:txBody>
          <a:bodyPr anchor="ctr" anchorCtr="0"/>
          <a:lstStyle>
            <a:lvl1pPr>
              <a:defRPr>
                <a:solidFill>
                  <a:schemeClr val="bg2"/>
                </a:solidFill>
              </a:defRPr>
            </a:lvl1pPr>
          </a:lstStyle>
          <a:p>
            <a:r>
              <a:rPr lang="en-US"/>
              <a:t>Click to edit Master title style</a:t>
            </a:r>
          </a:p>
        </p:txBody>
      </p:sp>
      <p:sp>
        <p:nvSpPr>
          <p:cNvPr id="3" name="Date Placeholder 2">
            <a:extLst>
              <a:ext uri="{FF2B5EF4-FFF2-40B4-BE49-F238E27FC236}">
                <a16:creationId xmlns:a16="http://schemas.microsoft.com/office/drawing/2014/main" id="{8DE59F68-16F4-E4FE-48E8-EBDEABE0DCC7}"/>
              </a:ext>
            </a:extLst>
          </p:cNvPr>
          <p:cNvSpPr>
            <a:spLocks noGrp="1"/>
          </p:cNvSpPr>
          <p:nvPr>
            <p:ph type="dt" sz="half" idx="10"/>
          </p:nvPr>
        </p:nvSpPr>
        <p:spPr/>
        <p:txBody>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600" b="0" i="0" u="none" strike="noStrike" kern="1200" cap="none" spc="0" normalizeH="0" baseline="0" noProof="0">
                <a:ln>
                  <a:noFill/>
                </a:ln>
                <a:solidFill>
                  <a:srgbClr val="000000"/>
                </a:solidFill>
                <a:effectLst/>
                <a:uLnTx/>
                <a:uFillTx/>
                <a:latin typeface="Arial"/>
                <a:ea typeface="+mn-ea"/>
                <a:cs typeface="+mn-cs"/>
              </a:rPr>
              <a:t>6/14/21</a:t>
            </a:r>
            <a:endParaRPr kumimoji="0" lang="en-GB" sz="600" b="0" i="0" u="none" strike="noStrike" kern="1200" cap="none" spc="0" normalizeH="0" baseline="0" noProof="0">
              <a:ln>
                <a:noFill/>
              </a:ln>
              <a:solidFill>
                <a:srgbClr val="000000"/>
              </a:solidFill>
              <a:effectLst/>
              <a:uLnTx/>
              <a:uFillTx/>
              <a:latin typeface="Arial"/>
              <a:ea typeface="+mn-ea"/>
              <a:cs typeface="+mn-cs"/>
            </a:endParaRPr>
          </a:p>
        </p:txBody>
      </p:sp>
      <p:sp>
        <p:nvSpPr>
          <p:cNvPr id="4" name="Footer Placeholder 3">
            <a:extLst>
              <a:ext uri="{FF2B5EF4-FFF2-40B4-BE49-F238E27FC236}">
                <a16:creationId xmlns:a16="http://schemas.microsoft.com/office/drawing/2014/main" id="{08CD889A-C72B-6FBA-BF11-B41A732064DE}"/>
              </a:ext>
            </a:extLst>
          </p:cNvPr>
          <p:cNvSpPr>
            <a:spLocks noGrp="1"/>
          </p:cNvSpPr>
          <p:nvPr>
            <p:ph type="ftr" sz="quarter" idx="11"/>
          </p:nvPr>
        </p:nvSpPr>
        <p:spPr/>
        <p:txBody>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GB" sz="600" b="0" i="0" u="none" strike="noStrike" kern="1200" cap="none" spc="0" normalizeH="0" baseline="0" noProof="0">
                <a:ln>
                  <a:noFill/>
                </a:ln>
                <a:solidFill>
                  <a:srgbClr val="000000"/>
                </a:solidFill>
                <a:effectLst/>
                <a:uLnTx/>
                <a:uFillTx/>
                <a:latin typeface="Arial"/>
                <a:ea typeface="+mn-ea"/>
                <a:cs typeface="+mn-cs"/>
              </a:rPr>
              <a:t>To create or edit a header or footer, go to Insert &gt; Header &amp; Footer</a:t>
            </a:r>
          </a:p>
        </p:txBody>
      </p:sp>
      <p:sp>
        <p:nvSpPr>
          <p:cNvPr id="5" name="Slide Number Placeholder 4">
            <a:extLst>
              <a:ext uri="{FF2B5EF4-FFF2-40B4-BE49-F238E27FC236}">
                <a16:creationId xmlns:a16="http://schemas.microsoft.com/office/drawing/2014/main" id="{437F6E30-1295-1DF6-75CB-BABA2534518C}"/>
              </a:ext>
            </a:extLst>
          </p:cNvPr>
          <p:cNvSpPr>
            <a:spLocks noGrp="1"/>
          </p:cNvSpPr>
          <p:nvPr>
            <p:ph type="sldNum" sz="quarter" idx="12"/>
          </p:nvPr>
        </p:nvSpPr>
        <p:spPr/>
        <p:txBody>
          <a:bodyPr/>
          <a:lstStyle/>
          <a:p>
            <a:pPr marL="0" marR="0" lvl="0" indent="0" algn="l" defTabSz="914400" rtl="0" eaLnBrk="1" fontAlgn="auto" latinLnBrk="0" hangingPunct="1">
              <a:lnSpc>
                <a:spcPct val="90000"/>
              </a:lnSpc>
              <a:spcBef>
                <a:spcPts val="0"/>
              </a:spcBef>
              <a:spcAft>
                <a:spcPts val="0"/>
              </a:spcAft>
              <a:buClrTx/>
              <a:buSzTx/>
              <a:buFontTx/>
              <a:buNone/>
              <a:tabLst/>
              <a:defRPr/>
            </a:pPr>
            <a:fld id="{5B4A74C5-79B0-4340-9A8D-1CCBE3E8C644}" type="slidenum">
              <a:rPr kumimoji="0" lang="en-GB" sz="1000" b="0" i="0" u="none" strike="noStrike" kern="1200" cap="none" spc="0" normalizeH="0" baseline="0" noProof="0" smtClean="0">
                <a:ln>
                  <a:noFill/>
                </a:ln>
                <a:solidFill>
                  <a:srgbClr val="999999"/>
                </a:solidFill>
                <a:effectLst/>
                <a:uLnTx/>
                <a:uFillTx/>
                <a:latin typeface="Arial"/>
                <a:ea typeface="+mn-ea"/>
                <a:cs typeface="+mn-cs"/>
              </a:rPr>
              <a:pPr marL="0" marR="0" lvl="0" indent="0" algn="l" defTabSz="914400" rtl="0" eaLnBrk="1" fontAlgn="auto" latinLnBrk="0" hangingPunct="1">
                <a:lnSpc>
                  <a:spcPct val="90000"/>
                </a:lnSpc>
                <a:spcBef>
                  <a:spcPts val="0"/>
                </a:spcBef>
                <a:spcAft>
                  <a:spcPts val="0"/>
                </a:spcAft>
                <a:buClrTx/>
                <a:buSzTx/>
                <a:buFontTx/>
                <a:buNone/>
                <a:tabLst/>
                <a:defRPr/>
              </a:pPr>
              <a:t>‹#›</a:t>
            </a:fld>
            <a:endParaRPr kumimoji="0" lang="en-GB" sz="1000" b="0" i="0" u="none" strike="noStrike" kern="1200" cap="none" spc="0" normalizeH="0" baseline="0" noProof="0">
              <a:ln>
                <a:noFill/>
              </a:ln>
              <a:solidFill>
                <a:srgbClr val="999999"/>
              </a:solidFill>
              <a:effectLst/>
              <a:uLnTx/>
              <a:uFillTx/>
              <a:latin typeface="Arial"/>
              <a:ea typeface="+mn-ea"/>
              <a:cs typeface="+mn-cs"/>
            </a:endParaRPr>
          </a:p>
        </p:txBody>
      </p:sp>
      <p:sp>
        <p:nvSpPr>
          <p:cNvPr id="13" name="Rectangle 12">
            <a:extLst>
              <a:ext uri="{FF2B5EF4-FFF2-40B4-BE49-F238E27FC236}">
                <a16:creationId xmlns:a16="http://schemas.microsoft.com/office/drawing/2014/main" id="{CD86577F-B6F0-B6B6-E35B-393116BD756A}"/>
              </a:ext>
            </a:extLst>
          </p:cNvPr>
          <p:cNvSpPr/>
          <p:nvPr userDrawn="1"/>
        </p:nvSpPr>
        <p:spPr>
          <a:xfrm>
            <a:off x="0" y="-1"/>
            <a:ext cx="12192000" cy="13617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Arial"/>
              <a:ea typeface="+mn-ea"/>
              <a:cs typeface="+mn-cs"/>
            </a:endParaRPr>
          </a:p>
        </p:txBody>
      </p:sp>
      <p:sp>
        <p:nvSpPr>
          <p:cNvPr id="22" name="Rectangle 21">
            <a:extLst>
              <a:ext uri="{FF2B5EF4-FFF2-40B4-BE49-F238E27FC236}">
                <a16:creationId xmlns:a16="http://schemas.microsoft.com/office/drawing/2014/main" id="{81828713-7617-95D7-2175-8A7D902CA769}"/>
              </a:ext>
            </a:extLst>
          </p:cNvPr>
          <p:cNvSpPr/>
          <p:nvPr userDrawn="1"/>
        </p:nvSpPr>
        <p:spPr>
          <a:xfrm>
            <a:off x="0" y="0"/>
            <a:ext cx="10858774" cy="136173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Arial"/>
              <a:ea typeface="+mn-ea"/>
              <a:cs typeface="+mn-cs"/>
            </a:endParaRPr>
          </a:p>
        </p:txBody>
      </p:sp>
      <p:sp>
        <p:nvSpPr>
          <p:cNvPr id="23" name="Right Triangle 22">
            <a:extLst>
              <a:ext uri="{FF2B5EF4-FFF2-40B4-BE49-F238E27FC236}">
                <a16:creationId xmlns:a16="http://schemas.microsoft.com/office/drawing/2014/main" id="{B354DB66-56F0-A8A7-21B7-7A16B2063555}"/>
              </a:ext>
            </a:extLst>
          </p:cNvPr>
          <p:cNvSpPr/>
          <p:nvPr userDrawn="1"/>
        </p:nvSpPr>
        <p:spPr>
          <a:xfrm flipV="1">
            <a:off x="10858774" y="0"/>
            <a:ext cx="914400" cy="1361732"/>
          </a:xfrm>
          <a:prstGeom prst="r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Arial"/>
              <a:ea typeface="+mn-ea"/>
              <a:cs typeface="+mn-cs"/>
            </a:endParaRPr>
          </a:p>
        </p:txBody>
      </p:sp>
      <p:pic>
        <p:nvPicPr>
          <p:cNvPr id="25" name="Picture 24" descr="A white bird with a black background&#10;&#10;AI-generated content may be incorrect.">
            <a:extLst>
              <a:ext uri="{FF2B5EF4-FFF2-40B4-BE49-F238E27FC236}">
                <a16:creationId xmlns:a16="http://schemas.microsoft.com/office/drawing/2014/main" id="{FAAAC8E8-C4BC-CA54-4710-D12485982170}"/>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620774" y="639480"/>
            <a:ext cx="304800" cy="365760"/>
          </a:xfrm>
          <a:prstGeom prst="rect">
            <a:avLst/>
          </a:prstGeom>
        </p:spPr>
      </p:pic>
    </p:spTree>
    <p:custDataLst>
      <p:tags r:id="rId1"/>
    </p:custDataLst>
    <p:extLst>
      <p:ext uri="{BB962C8B-B14F-4D97-AF65-F5344CB8AC3E}">
        <p14:creationId xmlns:p14="http://schemas.microsoft.com/office/powerpoint/2010/main" val="1977769660"/>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52356896"/>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3D7581-42EF-49CD-857A-42D138B6C71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AF7E34F-A216-4971-AC93-C1676FC3245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E2C2AAB-CE79-4203-84CD-19820EF01D3F}"/>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632E8C0D-E4B8-42EE-ACEF-D516AF4B172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E823CE9-A4AF-42A8-BACE-796708064786}"/>
              </a:ext>
            </a:extLst>
          </p:cNvPr>
          <p:cNvSpPr>
            <a:spLocks noGrp="1"/>
          </p:cNvSpPr>
          <p:nvPr>
            <p:ph type="sldNum" sz="quarter" idx="12"/>
          </p:nvPr>
        </p:nvSpPr>
        <p:spPr/>
        <p:txBody>
          <a:bodyPr/>
          <a:lstStyle/>
          <a:p>
            <a:fld id="{10654EDE-1844-45C5-B77B-942F00315BA8}" type="slidenum">
              <a:rPr lang="en-US" smtClean="0"/>
              <a:t>‹#›</a:t>
            </a:fld>
            <a:endParaRPr lang="en-US"/>
          </a:p>
        </p:txBody>
      </p:sp>
    </p:spTree>
    <p:extLst>
      <p:ext uri="{BB962C8B-B14F-4D97-AF65-F5344CB8AC3E}">
        <p14:creationId xmlns:p14="http://schemas.microsoft.com/office/powerpoint/2010/main" val="3761755140"/>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9948FB-5C5E-4AA3-89EA-75C0D26F174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2AEBFC0-D79B-42C4-A1C2-DB5D845D7F8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5E02479-18C8-4E6C-B2AD-BA26A6CC8A16}"/>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50676FC6-58A3-4F1C-8F8D-B926A91DE7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9D2C44E-4602-4996-AFA9-D6F137FD6D47}"/>
              </a:ext>
            </a:extLst>
          </p:cNvPr>
          <p:cNvSpPr>
            <a:spLocks noGrp="1"/>
          </p:cNvSpPr>
          <p:nvPr>
            <p:ph type="sldNum" sz="quarter" idx="12"/>
          </p:nvPr>
        </p:nvSpPr>
        <p:spPr/>
        <p:txBody>
          <a:bodyPr/>
          <a:lstStyle/>
          <a:p>
            <a:fld id="{10654EDE-1844-45C5-B77B-942F00315BA8}" type="slidenum">
              <a:rPr lang="en-US" smtClean="0"/>
              <a:t>‹#›</a:t>
            </a:fld>
            <a:endParaRPr lang="en-US"/>
          </a:p>
        </p:txBody>
      </p:sp>
    </p:spTree>
    <p:extLst>
      <p:ext uri="{BB962C8B-B14F-4D97-AF65-F5344CB8AC3E}">
        <p14:creationId xmlns:p14="http://schemas.microsoft.com/office/powerpoint/2010/main" val="3307659386"/>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CBBE51-0535-47B1-ABBE-79231C0A929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42C6A69-E536-4835-B663-3D5747F58A5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469EAB5-9443-4291-ABE3-8EB5D825E471}"/>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D8E41668-E0D8-4598-9089-64EBB0A4621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B8E8945-4954-419F-830D-0DCA5F9E3081}"/>
              </a:ext>
            </a:extLst>
          </p:cNvPr>
          <p:cNvSpPr>
            <a:spLocks noGrp="1"/>
          </p:cNvSpPr>
          <p:nvPr>
            <p:ph type="sldNum" sz="quarter" idx="12"/>
          </p:nvPr>
        </p:nvSpPr>
        <p:spPr/>
        <p:txBody>
          <a:bodyPr/>
          <a:lstStyle/>
          <a:p>
            <a:fld id="{10654EDE-1844-45C5-B77B-942F00315BA8}" type="slidenum">
              <a:rPr lang="en-US" smtClean="0"/>
              <a:t>‹#›</a:t>
            </a:fld>
            <a:endParaRPr lang="en-US"/>
          </a:p>
        </p:txBody>
      </p:sp>
    </p:spTree>
    <p:extLst>
      <p:ext uri="{BB962C8B-B14F-4D97-AF65-F5344CB8AC3E}">
        <p14:creationId xmlns:p14="http://schemas.microsoft.com/office/powerpoint/2010/main" val="762179474"/>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4A8F4E-4222-48AF-BB92-2C43CC4DDFC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23FCA8F-010D-41B7-998B-2FA16F1138E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4BD319A-E4DC-471A-8034-FF57835B4CA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9F0C625-D79B-4CA0-9C55-0981BD32C375}"/>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8626314F-50D5-4C52-81E0-2B08C6CB52C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59E7514-0785-437A-A7AB-0F9F2487ADE9}"/>
              </a:ext>
            </a:extLst>
          </p:cNvPr>
          <p:cNvSpPr>
            <a:spLocks noGrp="1"/>
          </p:cNvSpPr>
          <p:nvPr>
            <p:ph type="sldNum" sz="quarter" idx="12"/>
          </p:nvPr>
        </p:nvSpPr>
        <p:spPr/>
        <p:txBody>
          <a:bodyPr/>
          <a:lstStyle/>
          <a:p>
            <a:fld id="{10654EDE-1844-45C5-B77B-942F00315BA8}" type="slidenum">
              <a:rPr lang="en-US" smtClean="0"/>
              <a:t>‹#›</a:t>
            </a:fld>
            <a:endParaRPr lang="en-US"/>
          </a:p>
        </p:txBody>
      </p:sp>
    </p:spTree>
    <p:extLst>
      <p:ext uri="{BB962C8B-B14F-4D97-AF65-F5344CB8AC3E}">
        <p14:creationId xmlns:p14="http://schemas.microsoft.com/office/powerpoint/2010/main" val="1898052334"/>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783F7B-42BB-4BA1-85CC-9AF3AE3B822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2BD6F22-10C2-4F74-BA15-21C9812B9E6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8668E84-28E0-422B-80FE-48FF877DAF6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AAA6AB5-03FD-4BB9-8F8D-4A022180FC5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716BFEC-B3B2-47EC-83E9-4FED7B1255D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8CA64B0-F0BE-446C-9CAD-EB8FD2574618}"/>
              </a:ext>
            </a:extLst>
          </p:cNvPr>
          <p:cNvSpPr>
            <a:spLocks noGrp="1"/>
          </p:cNvSpPr>
          <p:nvPr>
            <p:ph type="dt" sz="half" idx="10"/>
          </p:nvPr>
        </p:nvSpPr>
        <p:spPr/>
        <p:txBody>
          <a:bodyPr/>
          <a:lstStyle/>
          <a:p>
            <a:endParaRPr lang="en-US"/>
          </a:p>
        </p:txBody>
      </p:sp>
      <p:sp>
        <p:nvSpPr>
          <p:cNvPr id="8" name="Footer Placeholder 7">
            <a:extLst>
              <a:ext uri="{FF2B5EF4-FFF2-40B4-BE49-F238E27FC236}">
                <a16:creationId xmlns:a16="http://schemas.microsoft.com/office/drawing/2014/main" id="{6EFD8D84-7842-4A78-BB88-C72B0B0A0F3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A41B2CE-A177-4AB0-B197-322D5A7B4045}"/>
              </a:ext>
            </a:extLst>
          </p:cNvPr>
          <p:cNvSpPr>
            <a:spLocks noGrp="1"/>
          </p:cNvSpPr>
          <p:nvPr>
            <p:ph type="sldNum" sz="quarter" idx="12"/>
          </p:nvPr>
        </p:nvSpPr>
        <p:spPr/>
        <p:txBody>
          <a:bodyPr/>
          <a:lstStyle/>
          <a:p>
            <a:fld id="{10654EDE-1844-45C5-B77B-942F00315BA8}" type="slidenum">
              <a:rPr lang="en-US" smtClean="0"/>
              <a:t>‹#›</a:t>
            </a:fld>
            <a:endParaRPr lang="en-US"/>
          </a:p>
        </p:txBody>
      </p:sp>
    </p:spTree>
    <p:extLst>
      <p:ext uri="{BB962C8B-B14F-4D97-AF65-F5344CB8AC3E}">
        <p14:creationId xmlns:p14="http://schemas.microsoft.com/office/powerpoint/2010/main" val="291260846"/>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583DFB-3FD1-4240-99C6-309987C6697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2CAA22A-686A-4F17-9DD5-19B80521B32F}"/>
              </a:ext>
            </a:extLst>
          </p:cNvPr>
          <p:cNvSpPr>
            <a:spLocks noGrp="1"/>
          </p:cNvSpPr>
          <p:nvPr>
            <p:ph type="dt" sz="half" idx="10"/>
          </p:nvPr>
        </p:nvSpPr>
        <p:spPr/>
        <p:txBody>
          <a:bodyPr/>
          <a:lstStyle/>
          <a:p>
            <a:endParaRPr lang="en-US"/>
          </a:p>
        </p:txBody>
      </p:sp>
      <p:sp>
        <p:nvSpPr>
          <p:cNvPr id="4" name="Footer Placeholder 3">
            <a:extLst>
              <a:ext uri="{FF2B5EF4-FFF2-40B4-BE49-F238E27FC236}">
                <a16:creationId xmlns:a16="http://schemas.microsoft.com/office/drawing/2014/main" id="{7EE369C4-91B1-4B22-89A3-A556A99383F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338AAB2-FE28-42D3-9FB3-2B90C244674E}"/>
              </a:ext>
            </a:extLst>
          </p:cNvPr>
          <p:cNvSpPr>
            <a:spLocks noGrp="1"/>
          </p:cNvSpPr>
          <p:nvPr>
            <p:ph type="sldNum" sz="quarter" idx="12"/>
          </p:nvPr>
        </p:nvSpPr>
        <p:spPr/>
        <p:txBody>
          <a:bodyPr/>
          <a:lstStyle/>
          <a:p>
            <a:fld id="{10654EDE-1844-45C5-B77B-942F00315BA8}" type="slidenum">
              <a:rPr lang="en-US" smtClean="0"/>
              <a:t>‹#›</a:t>
            </a:fld>
            <a:endParaRPr lang="en-US"/>
          </a:p>
        </p:txBody>
      </p:sp>
    </p:spTree>
    <p:extLst>
      <p:ext uri="{BB962C8B-B14F-4D97-AF65-F5344CB8AC3E}">
        <p14:creationId xmlns:p14="http://schemas.microsoft.com/office/powerpoint/2010/main" val="281169322"/>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13AE7D0-8A17-4F36-AC7B-03FC2E00F794}"/>
              </a:ext>
            </a:extLst>
          </p:cNvPr>
          <p:cNvSpPr>
            <a:spLocks noGrp="1"/>
          </p:cNvSpPr>
          <p:nvPr>
            <p:ph type="dt" sz="half" idx="10"/>
          </p:nvPr>
        </p:nvSpPr>
        <p:spPr/>
        <p:txBody>
          <a:bodyPr/>
          <a:lstStyle/>
          <a:p>
            <a:endParaRPr lang="en-US"/>
          </a:p>
        </p:txBody>
      </p:sp>
      <p:sp>
        <p:nvSpPr>
          <p:cNvPr id="3" name="Footer Placeholder 2">
            <a:extLst>
              <a:ext uri="{FF2B5EF4-FFF2-40B4-BE49-F238E27FC236}">
                <a16:creationId xmlns:a16="http://schemas.microsoft.com/office/drawing/2014/main" id="{6F2D9AEF-851C-4372-9147-ED44BEF26C8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1304BB6-6AE6-44F7-A60B-72911B54443C}"/>
              </a:ext>
            </a:extLst>
          </p:cNvPr>
          <p:cNvSpPr>
            <a:spLocks noGrp="1"/>
          </p:cNvSpPr>
          <p:nvPr>
            <p:ph type="sldNum" sz="quarter" idx="12"/>
          </p:nvPr>
        </p:nvSpPr>
        <p:spPr/>
        <p:txBody>
          <a:bodyPr/>
          <a:lstStyle/>
          <a:p>
            <a:fld id="{10654EDE-1844-45C5-B77B-942F00315BA8}" type="slidenum">
              <a:rPr lang="en-US" smtClean="0"/>
              <a:t>‹#›</a:t>
            </a:fld>
            <a:endParaRPr lang="en-US"/>
          </a:p>
        </p:txBody>
      </p:sp>
    </p:spTree>
    <p:extLst>
      <p:ext uri="{BB962C8B-B14F-4D97-AF65-F5344CB8AC3E}">
        <p14:creationId xmlns:p14="http://schemas.microsoft.com/office/powerpoint/2010/main" val="1091518327"/>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B7E322-4CBF-499F-84A7-E8BA18258E4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D5A5637-5A70-46B1-A4E0-4B17F385522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5D716FA-F820-4E04-A784-5BB215CB674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063D617-3278-4A8C-ACB0-B2976420C542}"/>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1FBFF09A-BD80-4BB2-B9EE-83F62365E90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D321FEF-40AF-478B-BEBF-3157716CADB0}"/>
              </a:ext>
            </a:extLst>
          </p:cNvPr>
          <p:cNvSpPr>
            <a:spLocks noGrp="1"/>
          </p:cNvSpPr>
          <p:nvPr>
            <p:ph type="sldNum" sz="quarter" idx="12"/>
          </p:nvPr>
        </p:nvSpPr>
        <p:spPr/>
        <p:txBody>
          <a:bodyPr/>
          <a:lstStyle/>
          <a:p>
            <a:fld id="{10654EDE-1844-45C5-B77B-942F00315BA8}" type="slidenum">
              <a:rPr lang="en-US" smtClean="0"/>
              <a:t>‹#›</a:t>
            </a:fld>
            <a:endParaRPr lang="en-US"/>
          </a:p>
        </p:txBody>
      </p:sp>
    </p:spTree>
    <p:extLst>
      <p:ext uri="{BB962C8B-B14F-4D97-AF65-F5344CB8AC3E}">
        <p14:creationId xmlns:p14="http://schemas.microsoft.com/office/powerpoint/2010/main" val="2508484681"/>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2A749F-4F93-4786-8A47-AE40DDBC49B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A9583A3-BB74-48D6-9B46-EBF15CC8AD3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7F38AF1-61C5-4E92-96A5-A0C19785191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62A3A4A-D5D2-4CCE-8A6B-CA4D47B9035E}"/>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6CDE5702-C63D-4A5C-AD34-6EF6F02D88D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8F6FD1A-07CB-490C-9BCE-A9FCB55DFEFA}"/>
              </a:ext>
            </a:extLst>
          </p:cNvPr>
          <p:cNvSpPr>
            <a:spLocks noGrp="1"/>
          </p:cNvSpPr>
          <p:nvPr>
            <p:ph type="sldNum" sz="quarter" idx="12"/>
          </p:nvPr>
        </p:nvSpPr>
        <p:spPr/>
        <p:txBody>
          <a:bodyPr/>
          <a:lstStyle/>
          <a:p>
            <a:fld id="{10654EDE-1844-45C5-B77B-942F00315BA8}" type="slidenum">
              <a:rPr lang="en-US" smtClean="0"/>
              <a:t>‹#›</a:t>
            </a:fld>
            <a:endParaRPr lang="en-US"/>
          </a:p>
        </p:txBody>
      </p:sp>
    </p:spTree>
    <p:extLst>
      <p:ext uri="{BB962C8B-B14F-4D97-AF65-F5344CB8AC3E}">
        <p14:creationId xmlns:p14="http://schemas.microsoft.com/office/powerpoint/2010/main" val="359771256"/>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1D548E-FA00-4DE8-B443-CA210218910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3B4AD29-A3CA-4453-A44C-0A7156EDF18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08B8A0B-E49F-4AF0-B529-FE38A3E1D02F}"/>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A75E416C-F394-40BD-BA13-4C1B899F721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37ACB15-3F11-4354-A0DD-2C8C02736837}"/>
              </a:ext>
            </a:extLst>
          </p:cNvPr>
          <p:cNvSpPr>
            <a:spLocks noGrp="1"/>
          </p:cNvSpPr>
          <p:nvPr>
            <p:ph type="sldNum" sz="quarter" idx="12"/>
          </p:nvPr>
        </p:nvSpPr>
        <p:spPr/>
        <p:txBody>
          <a:bodyPr/>
          <a:lstStyle/>
          <a:p>
            <a:fld id="{10654EDE-1844-45C5-B77B-942F00315BA8}" type="slidenum">
              <a:rPr lang="en-US" smtClean="0"/>
              <a:t>‹#›</a:t>
            </a:fld>
            <a:endParaRPr lang="en-US"/>
          </a:p>
        </p:txBody>
      </p:sp>
    </p:spTree>
    <p:extLst>
      <p:ext uri="{BB962C8B-B14F-4D97-AF65-F5344CB8AC3E}">
        <p14:creationId xmlns:p14="http://schemas.microsoft.com/office/powerpoint/2010/main" val="2440608949"/>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933590D-02FD-4681-B6E5-E1FBEC42959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98D4B17-D6D1-4B15-BE30-8D874566557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003E23A-F235-45C5-AD9F-1E13C4C9A208}"/>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C14F79E5-2E6E-40AA-8C16-37245976951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4CB4A2E-9B25-4DDA-9F5E-44709525E99B}"/>
              </a:ext>
            </a:extLst>
          </p:cNvPr>
          <p:cNvSpPr>
            <a:spLocks noGrp="1"/>
          </p:cNvSpPr>
          <p:nvPr>
            <p:ph type="sldNum" sz="quarter" idx="12"/>
          </p:nvPr>
        </p:nvSpPr>
        <p:spPr/>
        <p:txBody>
          <a:bodyPr/>
          <a:lstStyle/>
          <a:p>
            <a:fld id="{10654EDE-1844-45C5-B77B-942F00315BA8}" type="slidenum">
              <a:rPr lang="en-US" smtClean="0"/>
              <a:t>‹#›</a:t>
            </a:fld>
            <a:endParaRPr lang="en-US"/>
          </a:p>
        </p:txBody>
      </p:sp>
    </p:spTree>
    <p:extLst>
      <p:ext uri="{BB962C8B-B14F-4D97-AF65-F5344CB8AC3E}">
        <p14:creationId xmlns:p14="http://schemas.microsoft.com/office/powerpoint/2010/main" val="1435394557"/>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userDrawn="1">
  <p:cSld name="Title">
    <p:spTree>
      <p:nvGrpSpPr>
        <p:cNvPr id="1" name=""/>
        <p:cNvGrpSpPr/>
        <p:nvPr/>
      </p:nvGrpSpPr>
      <p:grpSpPr>
        <a:xfrm>
          <a:off x="0" y="0"/>
          <a:ext cx="0" cy="0"/>
          <a:chOff x="0" y="0"/>
          <a:chExt cx="0" cy="0"/>
        </a:xfrm>
      </p:grpSpPr>
      <p:sp>
        <p:nvSpPr>
          <p:cNvPr id="11" name="Title 10"/>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59179063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9.xml"/><Relationship Id="rId3" Type="http://schemas.openxmlformats.org/officeDocument/2006/relationships/slideLayout" Target="../slideLayouts/slideLayout24.xml"/><Relationship Id="rId7" Type="http://schemas.openxmlformats.org/officeDocument/2006/relationships/slideLayout" Target="../slideLayouts/slideLayout28.xml"/><Relationship Id="rId12" Type="http://schemas.openxmlformats.org/officeDocument/2006/relationships/theme" Target="../theme/theme2.xml"/><Relationship Id="rId2" Type="http://schemas.openxmlformats.org/officeDocument/2006/relationships/slideLayout" Target="../slideLayouts/slideLayout23.xml"/><Relationship Id="rId1" Type="http://schemas.openxmlformats.org/officeDocument/2006/relationships/slideLayout" Target="../slideLayouts/slideLayout22.xml"/><Relationship Id="rId6" Type="http://schemas.openxmlformats.org/officeDocument/2006/relationships/slideLayout" Target="../slideLayouts/slideLayout27.xml"/><Relationship Id="rId11" Type="http://schemas.openxmlformats.org/officeDocument/2006/relationships/slideLayout" Target="../slideLayouts/slideLayout32.xml"/><Relationship Id="rId5" Type="http://schemas.openxmlformats.org/officeDocument/2006/relationships/slideLayout" Target="../slideLayouts/slideLayout26.xml"/><Relationship Id="rId10" Type="http://schemas.openxmlformats.org/officeDocument/2006/relationships/slideLayout" Target="../slideLayouts/slideLayout31.xml"/><Relationship Id="rId4" Type="http://schemas.openxmlformats.org/officeDocument/2006/relationships/slideLayout" Target="../slideLayouts/slideLayout25.xml"/><Relationship Id="rId9" Type="http://schemas.openxmlformats.org/officeDocument/2006/relationships/slideLayout" Target="../slideLayouts/slideLayout3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0.xml"/><Relationship Id="rId13" Type="http://schemas.openxmlformats.org/officeDocument/2006/relationships/slideLayout" Target="../slideLayouts/slideLayout45.xml"/><Relationship Id="rId18" Type="http://schemas.openxmlformats.org/officeDocument/2006/relationships/slideLayout" Target="../slideLayouts/slideLayout50.xml"/><Relationship Id="rId26" Type="http://schemas.openxmlformats.org/officeDocument/2006/relationships/slideLayout" Target="../slideLayouts/slideLayout58.xml"/><Relationship Id="rId3" Type="http://schemas.openxmlformats.org/officeDocument/2006/relationships/slideLayout" Target="../slideLayouts/slideLayout35.xml"/><Relationship Id="rId21" Type="http://schemas.openxmlformats.org/officeDocument/2006/relationships/slideLayout" Target="../slideLayouts/slideLayout53.xml"/><Relationship Id="rId7" Type="http://schemas.openxmlformats.org/officeDocument/2006/relationships/slideLayout" Target="../slideLayouts/slideLayout39.xml"/><Relationship Id="rId12" Type="http://schemas.openxmlformats.org/officeDocument/2006/relationships/slideLayout" Target="../slideLayouts/slideLayout44.xml"/><Relationship Id="rId17" Type="http://schemas.openxmlformats.org/officeDocument/2006/relationships/slideLayout" Target="../slideLayouts/slideLayout49.xml"/><Relationship Id="rId25" Type="http://schemas.openxmlformats.org/officeDocument/2006/relationships/slideLayout" Target="../slideLayouts/slideLayout57.xml"/><Relationship Id="rId2" Type="http://schemas.openxmlformats.org/officeDocument/2006/relationships/slideLayout" Target="../slideLayouts/slideLayout34.xml"/><Relationship Id="rId16" Type="http://schemas.openxmlformats.org/officeDocument/2006/relationships/slideLayout" Target="../slideLayouts/slideLayout48.xml"/><Relationship Id="rId20" Type="http://schemas.openxmlformats.org/officeDocument/2006/relationships/slideLayout" Target="../slideLayouts/slideLayout52.xml"/><Relationship Id="rId29" Type="http://schemas.openxmlformats.org/officeDocument/2006/relationships/slideLayout" Target="../slideLayouts/slideLayout61.xml"/><Relationship Id="rId1" Type="http://schemas.openxmlformats.org/officeDocument/2006/relationships/slideLayout" Target="../slideLayouts/slideLayout33.xml"/><Relationship Id="rId6" Type="http://schemas.openxmlformats.org/officeDocument/2006/relationships/slideLayout" Target="../slideLayouts/slideLayout38.xml"/><Relationship Id="rId11" Type="http://schemas.openxmlformats.org/officeDocument/2006/relationships/slideLayout" Target="../slideLayouts/slideLayout43.xml"/><Relationship Id="rId24" Type="http://schemas.openxmlformats.org/officeDocument/2006/relationships/slideLayout" Target="../slideLayouts/slideLayout56.xml"/><Relationship Id="rId32" Type="http://schemas.openxmlformats.org/officeDocument/2006/relationships/theme" Target="../theme/theme3.xml"/><Relationship Id="rId5" Type="http://schemas.openxmlformats.org/officeDocument/2006/relationships/slideLayout" Target="../slideLayouts/slideLayout37.xml"/><Relationship Id="rId15" Type="http://schemas.openxmlformats.org/officeDocument/2006/relationships/slideLayout" Target="../slideLayouts/slideLayout47.xml"/><Relationship Id="rId23" Type="http://schemas.openxmlformats.org/officeDocument/2006/relationships/slideLayout" Target="../slideLayouts/slideLayout55.xml"/><Relationship Id="rId28" Type="http://schemas.openxmlformats.org/officeDocument/2006/relationships/slideLayout" Target="../slideLayouts/slideLayout60.xml"/><Relationship Id="rId10" Type="http://schemas.openxmlformats.org/officeDocument/2006/relationships/slideLayout" Target="../slideLayouts/slideLayout42.xml"/><Relationship Id="rId19" Type="http://schemas.openxmlformats.org/officeDocument/2006/relationships/slideLayout" Target="../slideLayouts/slideLayout51.xml"/><Relationship Id="rId31" Type="http://schemas.openxmlformats.org/officeDocument/2006/relationships/slideLayout" Target="../slideLayouts/slideLayout63.xml"/><Relationship Id="rId4" Type="http://schemas.openxmlformats.org/officeDocument/2006/relationships/slideLayout" Target="../slideLayouts/slideLayout36.xml"/><Relationship Id="rId9" Type="http://schemas.openxmlformats.org/officeDocument/2006/relationships/slideLayout" Target="../slideLayouts/slideLayout41.xml"/><Relationship Id="rId14" Type="http://schemas.openxmlformats.org/officeDocument/2006/relationships/slideLayout" Target="../slideLayouts/slideLayout46.xml"/><Relationship Id="rId22" Type="http://schemas.openxmlformats.org/officeDocument/2006/relationships/slideLayout" Target="../slideLayouts/slideLayout54.xml"/><Relationship Id="rId27" Type="http://schemas.openxmlformats.org/officeDocument/2006/relationships/slideLayout" Target="../slideLayouts/slideLayout59.xml"/><Relationship Id="rId30" Type="http://schemas.openxmlformats.org/officeDocument/2006/relationships/slideLayout" Target="../slideLayouts/slideLayout62.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71.xml"/><Relationship Id="rId13" Type="http://schemas.openxmlformats.org/officeDocument/2006/relationships/theme" Target="../theme/theme4.xml"/><Relationship Id="rId3" Type="http://schemas.openxmlformats.org/officeDocument/2006/relationships/slideLayout" Target="../slideLayouts/slideLayout66.xml"/><Relationship Id="rId7" Type="http://schemas.openxmlformats.org/officeDocument/2006/relationships/slideLayout" Target="../slideLayouts/slideLayout70.xml"/><Relationship Id="rId12" Type="http://schemas.openxmlformats.org/officeDocument/2006/relationships/slideLayout" Target="../slideLayouts/slideLayout75.xml"/><Relationship Id="rId2" Type="http://schemas.openxmlformats.org/officeDocument/2006/relationships/slideLayout" Target="../slideLayouts/slideLayout65.xml"/><Relationship Id="rId16" Type="http://schemas.openxmlformats.org/officeDocument/2006/relationships/image" Target="../media/image16.emf"/><Relationship Id="rId1" Type="http://schemas.openxmlformats.org/officeDocument/2006/relationships/slideLayout" Target="../slideLayouts/slideLayout64.xml"/><Relationship Id="rId6" Type="http://schemas.openxmlformats.org/officeDocument/2006/relationships/slideLayout" Target="../slideLayouts/slideLayout69.xml"/><Relationship Id="rId11" Type="http://schemas.openxmlformats.org/officeDocument/2006/relationships/slideLayout" Target="../slideLayouts/slideLayout74.xml"/><Relationship Id="rId5" Type="http://schemas.openxmlformats.org/officeDocument/2006/relationships/slideLayout" Target="../slideLayouts/slideLayout68.xml"/><Relationship Id="rId15" Type="http://schemas.openxmlformats.org/officeDocument/2006/relationships/oleObject" Target="../embeddings/oleObject1.bin"/><Relationship Id="rId10" Type="http://schemas.openxmlformats.org/officeDocument/2006/relationships/slideLayout" Target="../slideLayouts/slideLayout73.xml"/><Relationship Id="rId4" Type="http://schemas.openxmlformats.org/officeDocument/2006/relationships/slideLayout" Target="../slideLayouts/slideLayout67.xml"/><Relationship Id="rId9" Type="http://schemas.openxmlformats.org/officeDocument/2006/relationships/slideLayout" Target="../slideLayouts/slideLayout72.xml"/><Relationship Id="rId14"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947D5398-7070-473B-A412-A9AEA384C93D}"/>
              </a:ext>
            </a:extLst>
          </p:cNvPr>
          <p:cNvSpPr>
            <a:spLocks noGrp="1"/>
          </p:cNvSpPr>
          <p:nvPr>
            <p:ph type="title"/>
          </p:nvPr>
        </p:nvSpPr>
        <p:spPr>
          <a:xfrm>
            <a:off x="504000" y="550798"/>
            <a:ext cx="11183175" cy="930761"/>
          </a:xfrm>
          <a:prstGeom prst="rect">
            <a:avLst/>
          </a:prstGeom>
        </p:spPr>
        <p:txBody>
          <a:bodyPr vert="horz" lIns="0" tIns="0" rIns="0" bIns="0" rtlCol="0" anchor="t" anchorCtr="0">
            <a:noAutofit/>
          </a:bodyPr>
          <a:lstStyle/>
          <a:p>
            <a:r>
              <a:rPr lang="en-US"/>
              <a:t>Click to edit Master title style</a:t>
            </a:r>
            <a:endParaRPr lang="en-GB"/>
          </a:p>
        </p:txBody>
      </p:sp>
      <p:sp>
        <p:nvSpPr>
          <p:cNvPr id="3" name="Text Placeholder 1">
            <a:extLst>
              <a:ext uri="{FF2B5EF4-FFF2-40B4-BE49-F238E27FC236}">
                <a16:creationId xmlns:a16="http://schemas.microsoft.com/office/drawing/2014/main" id="{ED47719C-7D6E-4EC3-9B77-5FE8197F9D7B}"/>
              </a:ext>
            </a:extLst>
          </p:cNvPr>
          <p:cNvSpPr>
            <a:spLocks noGrp="1"/>
          </p:cNvSpPr>
          <p:nvPr>
            <p:ph type="body" idx="1"/>
          </p:nvPr>
        </p:nvSpPr>
        <p:spPr>
          <a:xfrm>
            <a:off x="504825" y="1597307"/>
            <a:ext cx="11182350" cy="4363226"/>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
            <a:extLst>
              <a:ext uri="{FF2B5EF4-FFF2-40B4-BE49-F238E27FC236}">
                <a16:creationId xmlns:a16="http://schemas.microsoft.com/office/drawing/2014/main" id="{771E4EEA-1D06-4A33-84C5-C0AB423854A0}"/>
              </a:ext>
            </a:extLst>
          </p:cNvPr>
          <p:cNvSpPr>
            <a:spLocks noGrp="1"/>
          </p:cNvSpPr>
          <p:nvPr>
            <p:ph type="dt" sz="half" idx="2"/>
          </p:nvPr>
        </p:nvSpPr>
        <p:spPr>
          <a:xfrm>
            <a:off x="5126400" y="6597651"/>
            <a:ext cx="790213" cy="260349"/>
          </a:xfrm>
          <a:prstGeom prst="rect">
            <a:avLst/>
          </a:prstGeom>
        </p:spPr>
        <p:txBody>
          <a:bodyPr vert="horz" lIns="0" tIns="0" rIns="0" bIns="0" rtlCol="0" anchor="t" anchorCtr="0">
            <a:noAutofit/>
          </a:bodyPr>
          <a:lstStyle>
            <a:lvl1pPr algn="l">
              <a:lnSpc>
                <a:spcPct val="90000"/>
              </a:lnSpc>
              <a:spcBef>
                <a:spcPts val="0"/>
              </a:spcBef>
              <a:defRPr sz="600">
                <a:solidFill>
                  <a:schemeClr val="tx1"/>
                </a:solidFill>
              </a:defRPr>
            </a:lvl1pPr>
          </a:lstStyle>
          <a:p>
            <a:pPr algn="l"/>
            <a:r>
              <a:rPr lang="en-US"/>
              <a:t>6/14/21</a:t>
            </a:r>
            <a:endParaRPr lang="en-GB"/>
          </a:p>
        </p:txBody>
      </p:sp>
      <p:sp>
        <p:nvSpPr>
          <p:cNvPr id="5" name="Footer Placeholder ">
            <a:extLst>
              <a:ext uri="{FF2B5EF4-FFF2-40B4-BE49-F238E27FC236}">
                <a16:creationId xmlns:a16="http://schemas.microsoft.com/office/drawing/2014/main" id="{00AF207B-B60F-4C7F-AA4F-411C5E312FDF}"/>
              </a:ext>
            </a:extLst>
          </p:cNvPr>
          <p:cNvSpPr>
            <a:spLocks noGrp="1"/>
          </p:cNvSpPr>
          <p:nvPr>
            <p:ph type="ftr" sz="quarter" idx="3"/>
          </p:nvPr>
        </p:nvSpPr>
        <p:spPr>
          <a:xfrm>
            <a:off x="720000" y="6597649"/>
            <a:ext cx="4406400" cy="260351"/>
          </a:xfrm>
          <a:prstGeom prst="rect">
            <a:avLst/>
          </a:prstGeom>
        </p:spPr>
        <p:txBody>
          <a:bodyPr vert="horz" lIns="0" tIns="0" rIns="0" bIns="0" rtlCol="0" anchor="t" anchorCtr="0">
            <a:noAutofit/>
          </a:bodyPr>
          <a:lstStyle>
            <a:lvl1pPr algn="l">
              <a:lnSpc>
                <a:spcPct val="90000"/>
              </a:lnSpc>
              <a:spcBef>
                <a:spcPts val="0"/>
              </a:spcBef>
              <a:defRPr sz="600">
                <a:solidFill>
                  <a:schemeClr val="tx1"/>
                </a:solidFill>
              </a:defRPr>
            </a:lvl1pPr>
          </a:lstStyle>
          <a:p>
            <a:r>
              <a:rPr lang="en-GB"/>
              <a:t>To create or edit a header or footer, go to Insert &gt; Header &amp; Footer</a:t>
            </a:r>
          </a:p>
        </p:txBody>
      </p:sp>
      <p:sp>
        <p:nvSpPr>
          <p:cNvPr id="6" name="Slide Number Placeholder ">
            <a:extLst>
              <a:ext uri="{FF2B5EF4-FFF2-40B4-BE49-F238E27FC236}">
                <a16:creationId xmlns:a16="http://schemas.microsoft.com/office/drawing/2014/main" id="{B3B18286-AFC3-45C1-9396-A22798BC906A}"/>
              </a:ext>
            </a:extLst>
          </p:cNvPr>
          <p:cNvSpPr>
            <a:spLocks noGrp="1"/>
          </p:cNvSpPr>
          <p:nvPr>
            <p:ph type="sldNum" sz="quarter" idx="4"/>
          </p:nvPr>
        </p:nvSpPr>
        <p:spPr>
          <a:xfrm>
            <a:off x="216001" y="6552000"/>
            <a:ext cx="238510" cy="306000"/>
          </a:xfrm>
          <a:prstGeom prst="rect">
            <a:avLst/>
          </a:prstGeom>
        </p:spPr>
        <p:txBody>
          <a:bodyPr vert="horz" lIns="0" tIns="0" rIns="0" bIns="0" rtlCol="0" anchor="t" anchorCtr="0">
            <a:noAutofit/>
          </a:bodyPr>
          <a:lstStyle>
            <a:lvl1pPr algn="l">
              <a:lnSpc>
                <a:spcPct val="90000"/>
              </a:lnSpc>
              <a:spcBef>
                <a:spcPts val="0"/>
              </a:spcBef>
              <a:defRPr sz="1000">
                <a:solidFill>
                  <a:srgbClr val="999999"/>
                </a:solidFill>
              </a:defRPr>
            </a:lvl1pPr>
          </a:lstStyle>
          <a:p>
            <a:fld id="{5B4A74C5-79B0-4340-9A8D-1CCBE3E8C644}" type="slidenum">
              <a:rPr lang="en-GB" smtClean="0"/>
              <a:pPr/>
              <a:t>‹#›</a:t>
            </a:fld>
            <a:endParaRPr lang="en-GB"/>
          </a:p>
        </p:txBody>
      </p:sp>
    </p:spTree>
    <p:extLst>
      <p:ext uri="{BB962C8B-B14F-4D97-AF65-F5344CB8AC3E}">
        <p14:creationId xmlns:p14="http://schemas.microsoft.com/office/powerpoint/2010/main" val="1132594695"/>
      </p:ext>
    </p:extLst>
  </p:cSld>
  <p:clrMap bg1="lt1" tx1="dk1" bg2="lt2" tx2="dk2" accent1="accent1" accent2="accent2" accent3="accent3" accent4="accent4" accent5="accent5" accent6="accent6" hlink="hlink" folHlink="folHlink"/>
  <p:sldLayoutIdLst>
    <p:sldLayoutId id="2147483649" r:id="rId1"/>
    <p:sldLayoutId id="2147483671" r:id="rId2"/>
    <p:sldLayoutId id="2147483672" r:id="rId3"/>
    <p:sldLayoutId id="2147483670" r:id="rId4"/>
    <p:sldLayoutId id="2147483669" r:id="rId5"/>
    <p:sldLayoutId id="2147483650" r:id="rId6"/>
    <p:sldLayoutId id="2147483652" r:id="rId7"/>
    <p:sldLayoutId id="2147483663" r:id="rId8"/>
    <p:sldLayoutId id="2147483659" r:id="rId9"/>
    <p:sldLayoutId id="2147483661" r:id="rId10"/>
    <p:sldLayoutId id="2147483662" r:id="rId11"/>
    <p:sldLayoutId id="2147483651" r:id="rId12"/>
    <p:sldLayoutId id="2147483657" r:id="rId13"/>
    <p:sldLayoutId id="2147483658" r:id="rId14"/>
    <p:sldLayoutId id="2147483654" r:id="rId15"/>
    <p:sldLayoutId id="2147483655" r:id="rId16"/>
    <p:sldLayoutId id="2147483673" r:id="rId17"/>
    <p:sldLayoutId id="2147483674" r:id="rId18"/>
    <p:sldLayoutId id="2147483675" r:id="rId19"/>
    <p:sldLayoutId id="2147483688" r:id="rId20"/>
    <p:sldLayoutId id="2147483734" r:id="rId21"/>
  </p:sldLayoutIdLst>
  <p:hf hdr="0" dt="0"/>
  <p:txStyles>
    <p:titleStyle>
      <a:lvl1pPr algn="l" defTabSz="914400" rtl="0" eaLnBrk="1" latinLnBrk="0" hangingPunct="1">
        <a:lnSpc>
          <a:spcPct val="90000"/>
        </a:lnSpc>
        <a:spcBef>
          <a:spcPts val="0"/>
        </a:spcBef>
        <a:buNone/>
        <a:defRPr sz="2400" b="1" kern="1200">
          <a:solidFill>
            <a:schemeClr val="bg2"/>
          </a:solidFill>
          <a:latin typeface="+mj-lt"/>
          <a:ea typeface="+mj-ea"/>
          <a:cs typeface="+mj-cs"/>
        </a:defRPr>
      </a:lvl1pPr>
    </p:titleStyle>
    <p:bodyStyle>
      <a:lvl1pPr marL="0" indent="0" algn="l" defTabSz="914400" rtl="0" eaLnBrk="1" latinLnBrk="0" hangingPunct="1">
        <a:lnSpc>
          <a:spcPct val="112000"/>
        </a:lnSpc>
        <a:spcBef>
          <a:spcPts val="0"/>
        </a:spcBef>
        <a:spcAft>
          <a:spcPts val="1200"/>
        </a:spcAft>
        <a:buFont typeface="Arial" panose="020B0604020202020204" pitchFamily="34" charset="0"/>
        <a:buNone/>
        <a:defRPr sz="1400" kern="1200">
          <a:solidFill>
            <a:schemeClr val="tx1"/>
          </a:solidFill>
          <a:latin typeface="+mn-lt"/>
          <a:ea typeface="+mn-ea"/>
          <a:cs typeface="+mn-cs"/>
        </a:defRPr>
      </a:lvl1pPr>
      <a:lvl2pPr marL="0" indent="0" algn="l" defTabSz="914400" rtl="0" eaLnBrk="1" latinLnBrk="0" hangingPunct="1">
        <a:lnSpc>
          <a:spcPct val="112000"/>
        </a:lnSpc>
        <a:spcBef>
          <a:spcPts val="0"/>
        </a:spcBef>
        <a:buFont typeface="Arial" panose="020B0604020202020204" pitchFamily="34" charset="0"/>
        <a:buNone/>
        <a:defRPr sz="1400" b="1" kern="1200">
          <a:solidFill>
            <a:schemeClr val="tx1"/>
          </a:solidFill>
          <a:latin typeface="+mn-lt"/>
          <a:ea typeface="+mn-ea"/>
          <a:cs typeface="Gotham Bold" pitchFamily="50" charset="0"/>
        </a:defRPr>
      </a:lvl2pPr>
      <a:lvl3pPr marL="180000" indent="-180000" algn="l" defTabSz="914400" rtl="0" eaLnBrk="1" latinLnBrk="0" hangingPunct="1">
        <a:lnSpc>
          <a:spcPct val="112000"/>
        </a:lnSpc>
        <a:spcBef>
          <a:spcPts val="0"/>
        </a:spcBef>
        <a:spcAft>
          <a:spcPts val="1200"/>
        </a:spcAft>
        <a:buFont typeface="Arial" panose="020B0604020202020204" pitchFamily="34" charset="0"/>
        <a:buChar char="•"/>
        <a:defRPr sz="1400" kern="1200">
          <a:solidFill>
            <a:schemeClr val="tx1"/>
          </a:solidFill>
          <a:latin typeface="+mn-lt"/>
          <a:ea typeface="+mn-ea"/>
          <a:cs typeface="+mn-cs"/>
        </a:defRPr>
      </a:lvl3pPr>
      <a:lvl4pPr marL="360000" indent="-180000" algn="l" defTabSz="914400" rtl="0" eaLnBrk="1" latinLnBrk="0" hangingPunct="1">
        <a:lnSpc>
          <a:spcPct val="112000"/>
        </a:lnSpc>
        <a:spcBef>
          <a:spcPts val="0"/>
        </a:spcBef>
        <a:spcAft>
          <a:spcPts val="1200"/>
        </a:spcAft>
        <a:buFont typeface="Courier New" panose="02070309020205020404" pitchFamily="49" charset="0"/>
        <a:buChar char="o"/>
        <a:defRPr sz="1400" kern="1200">
          <a:solidFill>
            <a:schemeClr val="tx1"/>
          </a:solidFill>
          <a:latin typeface="+mn-lt"/>
          <a:ea typeface="+mn-ea"/>
          <a:cs typeface="+mn-cs"/>
        </a:defRPr>
      </a:lvl4pPr>
      <a:lvl5pPr marL="540000" indent="-180000" algn="l" defTabSz="914400" rtl="0" eaLnBrk="1" latinLnBrk="0" hangingPunct="1">
        <a:lnSpc>
          <a:spcPct val="112000"/>
        </a:lnSpc>
        <a:spcBef>
          <a:spcPts val="0"/>
        </a:spcBef>
        <a:spcAft>
          <a:spcPts val="1200"/>
        </a:spcAft>
        <a:buFont typeface="Wingdings"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318" userDrawn="1">
          <p15:clr>
            <a:srgbClr val="F26B43"/>
          </p15:clr>
        </p15:guide>
        <p15:guide id="4" pos="7362" userDrawn="1">
          <p15:clr>
            <a:srgbClr val="F26B43"/>
          </p15:clr>
        </p15:guide>
        <p15:guide id="5" orient="horz" pos="346" userDrawn="1">
          <p15:clr>
            <a:srgbClr val="F26B43"/>
          </p15:clr>
        </p15:guide>
        <p15:guide id="6" orient="horz" pos="4156" userDrawn="1">
          <p15:clr>
            <a:srgbClr val="F26B43"/>
          </p15:clr>
        </p15:guide>
        <p15:guide id="7" orient="horz" pos="1278" userDrawn="1">
          <p15:clr>
            <a:srgbClr val="F26B43"/>
          </p15:clr>
        </p15:guide>
        <p15:guide id="8" pos="3727" userDrawn="1">
          <p15:clr>
            <a:srgbClr val="F26B43"/>
          </p15:clr>
        </p15:guide>
        <p15:guide id="9" pos="3953" userDrawn="1">
          <p15:clr>
            <a:srgbClr val="F26B43"/>
          </p15:clr>
        </p15:guide>
        <p15:guide id="10" orient="horz" pos="402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2731CED-3CC3-FA73-7E6A-2F42863A11C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26998FF-D8FB-6572-254F-17DA73BDD24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719F96F-3BC7-6820-B3C6-169791F7D9C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7C66F3F-3937-4267-85C4-09A8DBA433E1}" type="datetimeFigureOut">
              <a:rPr lang="en-US" smtClean="0"/>
              <a:t>9/1/2026</a:t>
            </a:fld>
            <a:endParaRPr lang="en-US"/>
          </a:p>
        </p:txBody>
      </p:sp>
      <p:sp>
        <p:nvSpPr>
          <p:cNvPr id="5" name="Footer Placeholder 4">
            <a:extLst>
              <a:ext uri="{FF2B5EF4-FFF2-40B4-BE49-F238E27FC236}">
                <a16:creationId xmlns:a16="http://schemas.microsoft.com/office/drawing/2014/main" id="{34E3D88D-8AD8-FD20-7D32-E511E1A9762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E5E7B90-CC72-DBC8-93CE-6EA782029EB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D159209-E10C-4C7C-9E44-A25BAD9EEF6C}" type="slidenum">
              <a:rPr lang="en-US" smtClean="0"/>
              <a:t>‹#›</a:t>
            </a:fld>
            <a:endParaRPr lang="en-US"/>
          </a:p>
        </p:txBody>
      </p:sp>
    </p:spTree>
    <p:extLst>
      <p:ext uri="{BB962C8B-B14F-4D97-AF65-F5344CB8AC3E}">
        <p14:creationId xmlns:p14="http://schemas.microsoft.com/office/powerpoint/2010/main" val="2258349230"/>
      </p:ext>
    </p:extLst>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 id="2147483682" r:id="rId6"/>
    <p:sldLayoutId id="2147483683" r:id="rId7"/>
    <p:sldLayoutId id="2147483684" r:id="rId8"/>
    <p:sldLayoutId id="2147483685" r:id="rId9"/>
    <p:sldLayoutId id="2147483686" r:id="rId10"/>
    <p:sldLayoutId id="214748368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47D5398-7070-473B-A412-A9AEA384C93D}"/>
              </a:ext>
            </a:extLst>
          </p:cNvPr>
          <p:cNvSpPr>
            <a:spLocks noGrp="1"/>
          </p:cNvSpPr>
          <p:nvPr>
            <p:ph type="title"/>
          </p:nvPr>
        </p:nvSpPr>
        <p:spPr>
          <a:xfrm>
            <a:off x="504001" y="550798"/>
            <a:ext cx="11183175" cy="1368000"/>
          </a:xfrm>
          <a:prstGeom prst="rect">
            <a:avLst/>
          </a:prstGeom>
        </p:spPr>
        <p:txBody>
          <a:bodyPr vert="horz" lIns="0" tIns="0" rIns="0" bIns="0" rtlCol="0" anchor="t" anchorCtr="0">
            <a:no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ED47719C-7D6E-4EC3-9B77-5FE8197F9D7B}"/>
              </a:ext>
            </a:extLst>
          </p:cNvPr>
          <p:cNvSpPr>
            <a:spLocks noGrp="1"/>
          </p:cNvSpPr>
          <p:nvPr>
            <p:ph type="body" idx="1"/>
          </p:nvPr>
        </p:nvSpPr>
        <p:spPr>
          <a:xfrm>
            <a:off x="504825" y="2026807"/>
            <a:ext cx="11182350" cy="4354949"/>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00AF207B-B60F-4C7F-AA4F-411C5E312FDF}"/>
              </a:ext>
            </a:extLst>
          </p:cNvPr>
          <p:cNvSpPr>
            <a:spLocks noGrp="1"/>
          </p:cNvSpPr>
          <p:nvPr>
            <p:ph type="ftr" sz="quarter" idx="3"/>
          </p:nvPr>
        </p:nvSpPr>
        <p:spPr>
          <a:xfrm>
            <a:off x="720000" y="6597657"/>
            <a:ext cx="4406400" cy="260351"/>
          </a:xfrm>
          <a:prstGeom prst="rect">
            <a:avLst/>
          </a:prstGeom>
        </p:spPr>
        <p:txBody>
          <a:bodyPr vert="horz" lIns="0" tIns="0" rIns="0" bIns="0" rtlCol="0" anchor="t" anchorCtr="0">
            <a:noAutofit/>
          </a:bodyPr>
          <a:lstStyle>
            <a:lvl1pPr algn="l">
              <a:lnSpc>
                <a:spcPct val="90000"/>
              </a:lnSpc>
              <a:spcBef>
                <a:spcPts val="0"/>
              </a:spcBef>
              <a:defRPr sz="600">
                <a:solidFill>
                  <a:schemeClr val="tx1"/>
                </a:solidFill>
              </a:defRPr>
            </a:lvl1pPr>
          </a:lstStyle>
          <a:p>
            <a:endParaRPr lang="en-US"/>
          </a:p>
        </p:txBody>
      </p:sp>
      <p:sp>
        <p:nvSpPr>
          <p:cNvPr id="6" name="Slide Number Placeholder 5">
            <a:extLst>
              <a:ext uri="{FF2B5EF4-FFF2-40B4-BE49-F238E27FC236}">
                <a16:creationId xmlns:a16="http://schemas.microsoft.com/office/drawing/2014/main" id="{B3B18286-AFC3-45C1-9396-A22798BC906A}"/>
              </a:ext>
            </a:extLst>
          </p:cNvPr>
          <p:cNvSpPr>
            <a:spLocks noGrp="1"/>
          </p:cNvSpPr>
          <p:nvPr>
            <p:ph type="sldNum" sz="quarter" idx="4"/>
          </p:nvPr>
        </p:nvSpPr>
        <p:spPr>
          <a:xfrm>
            <a:off x="216006" y="6552000"/>
            <a:ext cx="238510" cy="306000"/>
          </a:xfrm>
          <a:prstGeom prst="rect">
            <a:avLst/>
          </a:prstGeom>
        </p:spPr>
        <p:txBody>
          <a:bodyPr vert="horz" lIns="0" tIns="0" rIns="0" bIns="0" rtlCol="0" anchor="t" anchorCtr="0">
            <a:noAutofit/>
          </a:bodyPr>
          <a:lstStyle>
            <a:lvl1pPr algn="l">
              <a:lnSpc>
                <a:spcPct val="90000"/>
              </a:lnSpc>
              <a:spcBef>
                <a:spcPts val="0"/>
              </a:spcBef>
              <a:defRPr sz="751">
                <a:solidFill>
                  <a:srgbClr val="999999"/>
                </a:solidFill>
              </a:defRPr>
            </a:lvl1pPr>
          </a:lstStyle>
          <a:p>
            <a:fld id="{26E2892A-E12F-44F8-9FFC-8CD84CE31763}" type="slidenum">
              <a:rPr lang="en-US" smtClean="0"/>
              <a:t>‹#›</a:t>
            </a:fld>
            <a:endParaRPr lang="en-US"/>
          </a:p>
        </p:txBody>
      </p:sp>
    </p:spTree>
    <p:extLst>
      <p:ext uri="{BB962C8B-B14F-4D97-AF65-F5344CB8AC3E}">
        <p14:creationId xmlns:p14="http://schemas.microsoft.com/office/powerpoint/2010/main" val="931602772"/>
      </p:ext>
    </p:extLst>
  </p:cSld>
  <p:clrMap bg1="lt1" tx1="dk1" bg2="lt2" tx2="dk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 id="2147483701" r:id="rId12"/>
    <p:sldLayoutId id="2147483702" r:id="rId13"/>
    <p:sldLayoutId id="2147483703" r:id="rId14"/>
    <p:sldLayoutId id="2147483704" r:id="rId15"/>
    <p:sldLayoutId id="2147483705" r:id="rId16"/>
    <p:sldLayoutId id="2147483706" r:id="rId17"/>
    <p:sldLayoutId id="2147483707" r:id="rId18"/>
    <p:sldLayoutId id="2147483708" r:id="rId19"/>
    <p:sldLayoutId id="2147483709" r:id="rId20"/>
    <p:sldLayoutId id="2147483710" r:id="rId21"/>
    <p:sldLayoutId id="2147483711" r:id="rId22"/>
    <p:sldLayoutId id="2147483712" r:id="rId23"/>
    <p:sldLayoutId id="2147483713" r:id="rId24"/>
    <p:sldLayoutId id="2147483714" r:id="rId25"/>
    <p:sldLayoutId id="2147483715" r:id="rId26"/>
    <p:sldLayoutId id="2147483716" r:id="rId27"/>
    <p:sldLayoutId id="2147483717" r:id="rId28"/>
    <p:sldLayoutId id="2147483718" r:id="rId29"/>
    <p:sldLayoutId id="2147483719" r:id="rId30"/>
    <p:sldLayoutId id="2147483720" r:id="rId31"/>
  </p:sldLayoutIdLst>
  <p:txStyles>
    <p:titleStyle>
      <a:lvl1pPr algn="l" defTabSz="685858" rtl="0" eaLnBrk="1" latinLnBrk="0" hangingPunct="1">
        <a:lnSpc>
          <a:spcPct val="90000"/>
        </a:lnSpc>
        <a:spcBef>
          <a:spcPts val="0"/>
        </a:spcBef>
        <a:buNone/>
        <a:defRPr sz="2100" b="1" kern="1200">
          <a:solidFill>
            <a:schemeClr val="bg2"/>
          </a:solidFill>
          <a:latin typeface="+mj-lt"/>
          <a:ea typeface="+mj-ea"/>
          <a:cs typeface="+mj-cs"/>
        </a:defRPr>
      </a:lvl1pPr>
    </p:titleStyle>
    <p:bodyStyle>
      <a:lvl1pPr marL="0" indent="0" algn="l" defTabSz="685858" rtl="0" eaLnBrk="1" latinLnBrk="0" hangingPunct="1">
        <a:lnSpc>
          <a:spcPct val="112000"/>
        </a:lnSpc>
        <a:spcBef>
          <a:spcPts val="0"/>
        </a:spcBef>
        <a:spcAft>
          <a:spcPts val="900"/>
        </a:spcAft>
        <a:buFont typeface="Arial" panose="020B0604020202020204" pitchFamily="34" charset="0"/>
        <a:buNone/>
        <a:defRPr sz="1050" kern="1200">
          <a:solidFill>
            <a:schemeClr val="tx1"/>
          </a:solidFill>
          <a:latin typeface="+mn-lt"/>
          <a:ea typeface="+mn-ea"/>
          <a:cs typeface="+mn-cs"/>
        </a:defRPr>
      </a:lvl1pPr>
      <a:lvl2pPr marL="0" indent="0" algn="l" defTabSz="685858" rtl="0" eaLnBrk="1" latinLnBrk="0" hangingPunct="1">
        <a:lnSpc>
          <a:spcPct val="112000"/>
        </a:lnSpc>
        <a:spcBef>
          <a:spcPts val="0"/>
        </a:spcBef>
        <a:buFont typeface="Arial" panose="020B0604020202020204" pitchFamily="34" charset="0"/>
        <a:buNone/>
        <a:defRPr sz="1050" b="1" kern="1200">
          <a:solidFill>
            <a:schemeClr val="tx1"/>
          </a:solidFill>
          <a:latin typeface="+mn-lt"/>
          <a:ea typeface="+mn-ea"/>
          <a:cs typeface="Gotham Bold" pitchFamily="50" charset="0"/>
        </a:defRPr>
      </a:lvl2pPr>
      <a:lvl3pPr marL="135013" indent="-135013" algn="l" defTabSz="685858" rtl="0" eaLnBrk="1" latinLnBrk="0" hangingPunct="1">
        <a:lnSpc>
          <a:spcPct val="112000"/>
        </a:lnSpc>
        <a:spcBef>
          <a:spcPts val="0"/>
        </a:spcBef>
        <a:spcAft>
          <a:spcPts val="900"/>
        </a:spcAft>
        <a:buFont typeface="Arial" panose="020B0604020202020204" pitchFamily="34" charset="0"/>
        <a:buChar char="•"/>
        <a:defRPr sz="1050" kern="1200">
          <a:solidFill>
            <a:schemeClr val="tx1"/>
          </a:solidFill>
          <a:latin typeface="+mn-lt"/>
          <a:ea typeface="+mn-ea"/>
          <a:cs typeface="+mn-cs"/>
        </a:defRPr>
      </a:lvl3pPr>
      <a:lvl4pPr marL="270023" indent="-135013" algn="l" defTabSz="685858" rtl="0" eaLnBrk="1" latinLnBrk="0" hangingPunct="1">
        <a:lnSpc>
          <a:spcPct val="112000"/>
        </a:lnSpc>
        <a:spcBef>
          <a:spcPts val="0"/>
        </a:spcBef>
        <a:spcAft>
          <a:spcPts val="900"/>
        </a:spcAft>
        <a:buFont typeface="Courier New" panose="02070309020205020404" pitchFamily="49" charset="0"/>
        <a:buChar char="o"/>
        <a:defRPr sz="1050" kern="1200">
          <a:solidFill>
            <a:schemeClr val="tx1"/>
          </a:solidFill>
          <a:latin typeface="+mn-lt"/>
          <a:ea typeface="+mn-ea"/>
          <a:cs typeface="+mn-cs"/>
        </a:defRPr>
      </a:lvl4pPr>
      <a:lvl5pPr marL="405034" indent="-135013" algn="l" defTabSz="685858" rtl="0" eaLnBrk="1" latinLnBrk="0" hangingPunct="1">
        <a:lnSpc>
          <a:spcPct val="112000"/>
        </a:lnSpc>
        <a:spcBef>
          <a:spcPts val="0"/>
        </a:spcBef>
        <a:spcAft>
          <a:spcPts val="900"/>
        </a:spcAft>
        <a:buFont typeface="Wingdings" pitchFamily="2" charset="2"/>
        <a:buChar char="§"/>
        <a:defRPr sz="1050" kern="1200">
          <a:solidFill>
            <a:schemeClr val="tx1"/>
          </a:solidFill>
          <a:latin typeface="+mn-lt"/>
          <a:ea typeface="+mn-ea"/>
          <a:cs typeface="+mn-cs"/>
        </a:defRPr>
      </a:lvl5pPr>
      <a:lvl6pPr marL="1886108" indent="-171464" algn="l" defTabSz="68585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9037" indent="-171464" algn="l" defTabSz="68585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964" indent="-171464" algn="l" defTabSz="68585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892" indent="-171464" algn="l" defTabSz="68585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p:bodyStyle>
    <p:otherStyle>
      <a:defPPr>
        <a:defRPr lang="en-US"/>
      </a:defPPr>
      <a:lvl1pPr marL="0" algn="l" defTabSz="685858" rtl="0" eaLnBrk="1" latinLnBrk="0" hangingPunct="1">
        <a:defRPr sz="900" kern="1200">
          <a:solidFill>
            <a:schemeClr val="tx1"/>
          </a:solidFill>
          <a:latin typeface="+mn-lt"/>
          <a:ea typeface="+mn-ea"/>
          <a:cs typeface="+mn-cs"/>
        </a:defRPr>
      </a:lvl1pPr>
      <a:lvl2pPr marL="342929" algn="l" defTabSz="685858" rtl="0" eaLnBrk="1" latinLnBrk="0" hangingPunct="1">
        <a:defRPr sz="900" kern="1200">
          <a:solidFill>
            <a:schemeClr val="tx1"/>
          </a:solidFill>
          <a:latin typeface="+mn-lt"/>
          <a:ea typeface="+mn-ea"/>
          <a:cs typeface="+mn-cs"/>
        </a:defRPr>
      </a:lvl2pPr>
      <a:lvl3pPr marL="685858" algn="l" defTabSz="685858" rtl="0" eaLnBrk="1" latinLnBrk="0" hangingPunct="1">
        <a:defRPr sz="900" kern="1200">
          <a:solidFill>
            <a:schemeClr val="tx1"/>
          </a:solidFill>
          <a:latin typeface="+mn-lt"/>
          <a:ea typeface="+mn-ea"/>
          <a:cs typeface="+mn-cs"/>
        </a:defRPr>
      </a:lvl3pPr>
      <a:lvl4pPr marL="1028785" algn="l" defTabSz="685858" rtl="0" eaLnBrk="1" latinLnBrk="0" hangingPunct="1">
        <a:defRPr sz="900" kern="1200">
          <a:solidFill>
            <a:schemeClr val="tx1"/>
          </a:solidFill>
          <a:latin typeface="+mn-lt"/>
          <a:ea typeface="+mn-ea"/>
          <a:cs typeface="+mn-cs"/>
        </a:defRPr>
      </a:lvl4pPr>
      <a:lvl5pPr marL="1371715" algn="l" defTabSz="685858" rtl="0" eaLnBrk="1" latinLnBrk="0" hangingPunct="1">
        <a:defRPr sz="900" kern="1200">
          <a:solidFill>
            <a:schemeClr val="tx1"/>
          </a:solidFill>
          <a:latin typeface="+mn-lt"/>
          <a:ea typeface="+mn-ea"/>
          <a:cs typeface="+mn-cs"/>
        </a:defRPr>
      </a:lvl5pPr>
      <a:lvl6pPr marL="1714642" algn="l" defTabSz="685858" rtl="0" eaLnBrk="1" latinLnBrk="0" hangingPunct="1">
        <a:defRPr sz="900" kern="1200">
          <a:solidFill>
            <a:schemeClr val="tx1"/>
          </a:solidFill>
          <a:latin typeface="+mn-lt"/>
          <a:ea typeface="+mn-ea"/>
          <a:cs typeface="+mn-cs"/>
        </a:defRPr>
      </a:lvl6pPr>
      <a:lvl7pPr marL="2057571" algn="l" defTabSz="685858" rtl="0" eaLnBrk="1" latinLnBrk="0" hangingPunct="1">
        <a:defRPr sz="900" kern="1200">
          <a:solidFill>
            <a:schemeClr val="tx1"/>
          </a:solidFill>
          <a:latin typeface="+mn-lt"/>
          <a:ea typeface="+mn-ea"/>
          <a:cs typeface="+mn-cs"/>
        </a:defRPr>
      </a:lvl7pPr>
      <a:lvl8pPr marL="2400500" algn="l" defTabSz="685858" rtl="0" eaLnBrk="1" latinLnBrk="0" hangingPunct="1">
        <a:defRPr sz="900" kern="1200">
          <a:solidFill>
            <a:schemeClr val="tx1"/>
          </a:solidFill>
          <a:latin typeface="+mn-lt"/>
          <a:ea typeface="+mn-ea"/>
          <a:cs typeface="+mn-cs"/>
        </a:defRPr>
      </a:lvl8pPr>
      <a:lvl9pPr marL="2743429" algn="l" defTabSz="685858" rtl="0" eaLnBrk="1" latinLnBrk="0" hangingPunct="1">
        <a:defRPr sz="9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5120">
          <p15:clr>
            <a:srgbClr val="F26B43"/>
          </p15:clr>
        </p15:guide>
        <p15:guide id="3" pos="424">
          <p15:clr>
            <a:srgbClr val="F26B43"/>
          </p15:clr>
        </p15:guide>
        <p15:guide id="4" pos="9816">
          <p15:clr>
            <a:srgbClr val="F26B43"/>
          </p15:clr>
        </p15:guide>
        <p15:guide id="5" orient="horz" pos="346">
          <p15:clr>
            <a:srgbClr val="F26B43"/>
          </p15:clr>
        </p15:guide>
        <p15:guide id="6" orient="horz" pos="4156">
          <p15:clr>
            <a:srgbClr val="F26B43"/>
          </p15:clr>
        </p15:guide>
        <p15:guide id="7" orient="horz" pos="1278">
          <p15:clr>
            <a:srgbClr val="F26B43"/>
          </p15:clr>
        </p15:guide>
        <p15:guide id="8" pos="4968">
          <p15:clr>
            <a:srgbClr val="F26B43"/>
          </p15:clr>
        </p15:guide>
        <p15:guide id="9" pos="5272">
          <p15:clr>
            <a:srgbClr val="F26B43"/>
          </p15:clr>
        </p15:guide>
        <p15:guide id="10" orient="horz" pos="4020">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2B8A1960-DEBC-AA38-3680-B6DB3EEAF80D}"/>
              </a:ext>
            </a:extLst>
          </p:cNvPr>
          <p:cNvGraphicFramePr>
            <a:graphicFrameLocks noChangeAspect="1"/>
          </p:cNvGraphicFramePr>
          <p:nvPr userDrawn="1">
            <p:custDataLst>
              <p:tags r:id="rId14"/>
            </p:custDataLst>
            <p:extLst>
              <p:ext uri="{D42A27DB-BD31-4B8C-83A1-F6EECF244321}">
                <p14:modId xmlns:p14="http://schemas.microsoft.com/office/powerpoint/2010/main" val="94180720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5" imgW="624" imgH="623" progId="TCLayout.ActiveDocument.1">
                  <p:embed/>
                </p:oleObj>
              </mc:Choice>
              <mc:Fallback>
                <p:oleObj name="think-cell Slide" r:id="rId15" imgW="624" imgH="623" progId="TCLayout.ActiveDocument.1">
                  <p:embed/>
                  <p:pic>
                    <p:nvPicPr>
                      <p:cNvPr id="8" name="think-cell data - do not delete" hidden="1">
                        <a:extLst>
                          <a:ext uri="{FF2B5EF4-FFF2-40B4-BE49-F238E27FC236}">
                            <a16:creationId xmlns:a16="http://schemas.microsoft.com/office/drawing/2014/main" id="{2B8A1960-DEBC-AA38-3680-B6DB3EEAF80D}"/>
                          </a:ext>
                        </a:extLst>
                      </p:cNvPr>
                      <p:cNvPicPr/>
                      <p:nvPr/>
                    </p:nvPicPr>
                    <p:blipFill>
                      <a:blip r:embed="rId16"/>
                      <a:stretch>
                        <a:fillRect/>
                      </a:stretch>
                    </p:blipFill>
                    <p:spPr>
                      <a:xfrm>
                        <a:off x="1588" y="1588"/>
                        <a:ext cx="1588" cy="1588"/>
                      </a:xfrm>
                      <a:prstGeom prst="rect">
                        <a:avLst/>
                      </a:prstGeom>
                    </p:spPr>
                  </p:pic>
                </p:oleObj>
              </mc:Fallback>
            </mc:AlternateContent>
          </a:graphicData>
        </a:graphic>
      </p:graphicFrame>
      <p:sp>
        <p:nvSpPr>
          <p:cNvPr id="2" name="Title Placeholder 1">
            <a:extLst>
              <a:ext uri="{FF2B5EF4-FFF2-40B4-BE49-F238E27FC236}">
                <a16:creationId xmlns:a16="http://schemas.microsoft.com/office/drawing/2014/main" id="{1B429A1C-9F41-481F-97D9-82E7EEC99F4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8AC58B8-489E-4225-8299-F09941F2D5A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662428B-4320-4B38-8754-A36A60650E6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a:extLst>
              <a:ext uri="{FF2B5EF4-FFF2-40B4-BE49-F238E27FC236}">
                <a16:creationId xmlns:a16="http://schemas.microsoft.com/office/drawing/2014/main" id="{105626D2-DE46-4802-97C4-FA250DC704B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1E823ED-83C0-471E-9C25-51B395BC73B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0654EDE-1844-45C5-B77B-942F00315BA8}" type="slidenum">
              <a:rPr lang="en-US" smtClean="0"/>
              <a:t>‹#›</a:t>
            </a:fld>
            <a:endParaRPr lang="en-US"/>
          </a:p>
        </p:txBody>
      </p:sp>
    </p:spTree>
    <p:extLst>
      <p:ext uri="{BB962C8B-B14F-4D97-AF65-F5344CB8AC3E}">
        <p14:creationId xmlns:p14="http://schemas.microsoft.com/office/powerpoint/2010/main" val="1670859996"/>
      </p:ext>
    </p:extLst>
  </p:cSld>
  <p:clrMap bg1="lt1" tx1="dk1" bg2="lt2" tx2="dk2" accent1="accent1" accent2="accent2" accent3="accent3" accent4="accent4" accent5="accent5" accent6="accent6" hlink="hlink" folHlink="folHlink"/>
  <p:sldLayoutIdLst>
    <p:sldLayoutId id="2147483722" r:id="rId1"/>
    <p:sldLayoutId id="2147483723" r:id="rId2"/>
    <p:sldLayoutId id="2147483724" r:id="rId3"/>
    <p:sldLayoutId id="2147483725" r:id="rId4"/>
    <p:sldLayoutId id="2147483726" r:id="rId5"/>
    <p:sldLayoutId id="2147483727" r:id="rId6"/>
    <p:sldLayoutId id="2147483728" r:id="rId7"/>
    <p:sldLayoutId id="2147483729" r:id="rId8"/>
    <p:sldLayoutId id="2147483730" r:id="rId9"/>
    <p:sldLayoutId id="2147483731" r:id="rId10"/>
    <p:sldLayoutId id="2147483732" r:id="rId11"/>
    <p:sldLayoutId id="2147483733"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7.xml"/><Relationship Id="rId1" Type="http://schemas.openxmlformats.org/officeDocument/2006/relationships/tags" Target="../tags/tag3.xml"/><Relationship Id="rId5" Type="http://schemas.openxmlformats.org/officeDocument/2006/relationships/image" Target="../media/image17.emf"/><Relationship Id="rId4" Type="http://schemas.openxmlformats.org/officeDocument/2006/relationships/oleObject" Target="../embeddings/oleObject2.bin"/></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9.xml"/><Relationship Id="rId1" Type="http://schemas.openxmlformats.org/officeDocument/2006/relationships/tags" Target="../tags/tag4.xml"/><Relationship Id="rId5" Type="http://schemas.openxmlformats.org/officeDocument/2006/relationships/image" Target="../media/image17.emf"/><Relationship Id="rId4" Type="http://schemas.openxmlformats.org/officeDocument/2006/relationships/oleObject" Target="../embeddings/oleObject2.bin"/></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3.xml"/><Relationship Id="rId1" Type="http://schemas.openxmlformats.org/officeDocument/2006/relationships/tags" Target="../tags/tag5.xml"/><Relationship Id="rId5" Type="http://schemas.openxmlformats.org/officeDocument/2006/relationships/image" Target="../media/image17.emf"/><Relationship Id="rId4" Type="http://schemas.openxmlformats.org/officeDocument/2006/relationships/oleObject" Target="../embeddings/oleObject2.bin"/></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7.xml"/><Relationship Id="rId1" Type="http://schemas.openxmlformats.org/officeDocument/2006/relationships/tags" Target="../tags/tag6.xml"/><Relationship Id="rId5" Type="http://schemas.openxmlformats.org/officeDocument/2006/relationships/image" Target="../media/image17.emf"/><Relationship Id="rId4" Type="http://schemas.openxmlformats.org/officeDocument/2006/relationships/oleObject" Target="../embeddings/oleObject2.bin"/></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65.xml"/><Relationship Id="rId1" Type="http://schemas.openxmlformats.org/officeDocument/2006/relationships/tags" Target="../tags/tag7.xml"/><Relationship Id="rId5" Type="http://schemas.openxmlformats.org/officeDocument/2006/relationships/image" Target="../media/image17.emf"/><Relationship Id="rId4" Type="http://schemas.openxmlformats.org/officeDocument/2006/relationships/oleObject" Target="../embeddings/oleObject2.bin"/></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65.xml"/><Relationship Id="rId1" Type="http://schemas.openxmlformats.org/officeDocument/2006/relationships/tags" Target="../tags/tag8.xml"/><Relationship Id="rId5" Type="http://schemas.openxmlformats.org/officeDocument/2006/relationships/image" Target="../media/image17.emf"/><Relationship Id="rId4" Type="http://schemas.openxmlformats.org/officeDocument/2006/relationships/oleObject" Target="../embeddings/oleObject2.bin"/></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65.xml"/><Relationship Id="rId1" Type="http://schemas.openxmlformats.org/officeDocument/2006/relationships/tags" Target="../tags/tag9.xml"/><Relationship Id="rId5" Type="http://schemas.openxmlformats.org/officeDocument/2006/relationships/image" Target="../media/image17.emf"/><Relationship Id="rId4" Type="http://schemas.openxmlformats.org/officeDocument/2006/relationships/oleObject" Target="../embeddings/oleObject2.bin"/></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65.xml"/><Relationship Id="rId1" Type="http://schemas.openxmlformats.org/officeDocument/2006/relationships/tags" Target="../tags/tag10.xml"/><Relationship Id="rId5" Type="http://schemas.openxmlformats.org/officeDocument/2006/relationships/image" Target="../media/image17.emf"/><Relationship Id="rId4" Type="http://schemas.openxmlformats.org/officeDocument/2006/relationships/oleObject" Target="../embeddings/oleObject2.bin"/></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65.xml"/><Relationship Id="rId1" Type="http://schemas.openxmlformats.org/officeDocument/2006/relationships/tags" Target="../tags/tag11.xml"/><Relationship Id="rId5" Type="http://schemas.openxmlformats.org/officeDocument/2006/relationships/image" Target="../media/image17.emf"/><Relationship Id="rId4" Type="http://schemas.openxmlformats.org/officeDocument/2006/relationships/oleObject" Target="../embeddings/oleObject2.bin"/></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3.xml"/><Relationship Id="rId1" Type="http://schemas.openxmlformats.org/officeDocument/2006/relationships/tags" Target="../tags/tag12.xml"/><Relationship Id="rId5" Type="http://schemas.openxmlformats.org/officeDocument/2006/relationships/image" Target="../media/image17.emf"/><Relationship Id="rId4" Type="http://schemas.openxmlformats.org/officeDocument/2006/relationships/oleObject" Target="../embeddings/oleObject2.bin"/></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3.xml"/><Relationship Id="rId1" Type="http://schemas.openxmlformats.org/officeDocument/2006/relationships/tags" Target="../tags/tag13.xml"/><Relationship Id="rId5" Type="http://schemas.openxmlformats.org/officeDocument/2006/relationships/image" Target="../media/image17.emf"/><Relationship Id="rId4" Type="http://schemas.openxmlformats.org/officeDocument/2006/relationships/oleObject" Target="../embeddings/oleObject2.bin"/></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3.xml"/><Relationship Id="rId1" Type="http://schemas.openxmlformats.org/officeDocument/2006/relationships/tags" Target="../tags/tag14.xml"/><Relationship Id="rId5" Type="http://schemas.openxmlformats.org/officeDocument/2006/relationships/image" Target="../media/image17.emf"/><Relationship Id="rId4" Type="http://schemas.openxmlformats.org/officeDocument/2006/relationships/oleObject" Target="../embeddings/oleObject2.bin"/></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43.xml"/><Relationship Id="rId1" Type="http://schemas.openxmlformats.org/officeDocument/2006/relationships/tags" Target="../tags/tag15.xml"/><Relationship Id="rId5" Type="http://schemas.openxmlformats.org/officeDocument/2006/relationships/image" Target="../media/image17.emf"/><Relationship Id="rId4" Type="http://schemas.openxmlformats.org/officeDocument/2006/relationships/oleObject" Target="../embeddings/oleObject2.bin"/></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9.xml"/><Relationship Id="rId1" Type="http://schemas.openxmlformats.org/officeDocument/2006/relationships/tags" Target="../tags/tag16.xml"/><Relationship Id="rId5" Type="http://schemas.openxmlformats.org/officeDocument/2006/relationships/image" Target="../media/image17.emf"/><Relationship Id="rId4" Type="http://schemas.openxmlformats.org/officeDocument/2006/relationships/oleObject" Target="../embeddings/oleObject2.bin"/></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65.xml"/><Relationship Id="rId1" Type="http://schemas.openxmlformats.org/officeDocument/2006/relationships/tags" Target="../tags/tag17.xml"/><Relationship Id="rId5" Type="http://schemas.openxmlformats.org/officeDocument/2006/relationships/image" Target="../media/image17.emf"/><Relationship Id="rId4" Type="http://schemas.openxmlformats.org/officeDocument/2006/relationships/oleObject" Target="../embeddings/oleObject2.bin"/></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65.xml"/><Relationship Id="rId1" Type="http://schemas.openxmlformats.org/officeDocument/2006/relationships/tags" Target="../tags/tag18.xml"/><Relationship Id="rId5" Type="http://schemas.openxmlformats.org/officeDocument/2006/relationships/image" Target="../media/image17.emf"/><Relationship Id="rId4" Type="http://schemas.openxmlformats.org/officeDocument/2006/relationships/oleObject" Target="../embeddings/oleObject2.bin"/></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65.xml"/><Relationship Id="rId1" Type="http://schemas.openxmlformats.org/officeDocument/2006/relationships/tags" Target="../tags/tag19.xml"/><Relationship Id="rId5" Type="http://schemas.openxmlformats.org/officeDocument/2006/relationships/image" Target="../media/image17.emf"/><Relationship Id="rId4" Type="http://schemas.openxmlformats.org/officeDocument/2006/relationships/oleObject" Target="../embeddings/oleObject2.bin"/></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9.xml"/><Relationship Id="rId1" Type="http://schemas.openxmlformats.org/officeDocument/2006/relationships/tags" Target="../tags/tag20.xml"/><Relationship Id="rId5" Type="http://schemas.openxmlformats.org/officeDocument/2006/relationships/image" Target="../media/image17.emf"/><Relationship Id="rId4" Type="http://schemas.openxmlformats.org/officeDocument/2006/relationships/oleObject" Target="../embeddings/oleObject2.bin"/></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9.xml"/><Relationship Id="rId1" Type="http://schemas.openxmlformats.org/officeDocument/2006/relationships/tags" Target="../tags/tag21.xml"/><Relationship Id="rId5" Type="http://schemas.openxmlformats.org/officeDocument/2006/relationships/image" Target="../media/image17.emf"/><Relationship Id="rId4" Type="http://schemas.openxmlformats.org/officeDocument/2006/relationships/oleObject" Target="../embeddings/oleObject2.bin"/></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3.xml"/><Relationship Id="rId1" Type="http://schemas.openxmlformats.org/officeDocument/2006/relationships/tags" Target="../tags/tag22.xml"/><Relationship Id="rId5" Type="http://schemas.openxmlformats.org/officeDocument/2006/relationships/image" Target="../media/image17.emf"/><Relationship Id="rId4" Type="http://schemas.openxmlformats.org/officeDocument/2006/relationships/oleObject" Target="../embeddings/oleObject2.bin"/></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9.xml"/><Relationship Id="rId1" Type="http://schemas.openxmlformats.org/officeDocument/2006/relationships/tags" Target="../tags/tag23.xml"/><Relationship Id="rId5" Type="http://schemas.openxmlformats.org/officeDocument/2006/relationships/image" Target="../media/image17.emf"/><Relationship Id="rId4" Type="http://schemas.openxmlformats.org/officeDocument/2006/relationships/oleObject" Target="../embeddings/oleObject2.bin"/></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43.xml"/><Relationship Id="rId1" Type="http://schemas.openxmlformats.org/officeDocument/2006/relationships/tags" Target="../tags/tag24.xml"/><Relationship Id="rId5" Type="http://schemas.openxmlformats.org/officeDocument/2006/relationships/image" Target="../media/image17.emf"/><Relationship Id="rId4" Type="http://schemas.openxmlformats.org/officeDocument/2006/relationships/oleObject" Target="../embeddings/oleObject2.bin"/></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55.xml"/><Relationship Id="rId1" Type="http://schemas.openxmlformats.org/officeDocument/2006/relationships/tags" Target="../tags/tag25.xml"/><Relationship Id="rId5" Type="http://schemas.openxmlformats.org/officeDocument/2006/relationships/image" Target="../media/image17.emf"/><Relationship Id="rId4" Type="http://schemas.openxmlformats.org/officeDocument/2006/relationships/oleObject" Target="../embeddings/oleObject2.bin"/></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55.xml"/><Relationship Id="rId1" Type="http://schemas.openxmlformats.org/officeDocument/2006/relationships/tags" Target="../tags/tag26.xml"/><Relationship Id="rId5" Type="http://schemas.openxmlformats.org/officeDocument/2006/relationships/image" Target="../media/image17.emf"/><Relationship Id="rId4" Type="http://schemas.openxmlformats.org/officeDocument/2006/relationships/oleObject" Target="../embeddings/oleObject2.bin"/></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55.xml"/><Relationship Id="rId1" Type="http://schemas.openxmlformats.org/officeDocument/2006/relationships/tags" Target="../tags/tag27.xml"/><Relationship Id="rId5" Type="http://schemas.openxmlformats.org/officeDocument/2006/relationships/image" Target="../media/image17.emf"/><Relationship Id="rId4" Type="http://schemas.openxmlformats.org/officeDocument/2006/relationships/oleObject" Target="../embeddings/oleObject2.bin"/></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55.xml"/><Relationship Id="rId1" Type="http://schemas.openxmlformats.org/officeDocument/2006/relationships/tags" Target="../tags/tag28.xml"/><Relationship Id="rId5" Type="http://schemas.openxmlformats.org/officeDocument/2006/relationships/image" Target="../media/image17.emf"/><Relationship Id="rId4" Type="http://schemas.openxmlformats.org/officeDocument/2006/relationships/oleObject" Target="../embeddings/oleObject2.bin"/></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55.xml"/><Relationship Id="rId1" Type="http://schemas.openxmlformats.org/officeDocument/2006/relationships/tags" Target="../tags/tag29.xml"/><Relationship Id="rId5" Type="http://schemas.openxmlformats.org/officeDocument/2006/relationships/image" Target="../media/image17.emf"/><Relationship Id="rId4" Type="http://schemas.openxmlformats.org/officeDocument/2006/relationships/oleObject" Target="../embeddings/oleObject2.bin"/></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55.xml"/><Relationship Id="rId1" Type="http://schemas.openxmlformats.org/officeDocument/2006/relationships/tags" Target="../tags/tag30.xml"/><Relationship Id="rId5" Type="http://schemas.openxmlformats.org/officeDocument/2006/relationships/image" Target="../media/image17.emf"/><Relationship Id="rId4" Type="http://schemas.openxmlformats.org/officeDocument/2006/relationships/oleObject" Target="../embeddings/oleObject2.bin"/></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19.xml"/><Relationship Id="rId1" Type="http://schemas.openxmlformats.org/officeDocument/2006/relationships/tags" Target="../tags/tag31.xml"/><Relationship Id="rId5" Type="http://schemas.openxmlformats.org/officeDocument/2006/relationships/image" Target="../media/image17.emf"/><Relationship Id="rId4" Type="http://schemas.openxmlformats.org/officeDocument/2006/relationships/oleObject" Target="../embeddings/oleObject2.bin"/></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43.xml"/><Relationship Id="rId1" Type="http://schemas.openxmlformats.org/officeDocument/2006/relationships/tags" Target="../tags/tag32.xml"/><Relationship Id="rId5" Type="http://schemas.openxmlformats.org/officeDocument/2006/relationships/image" Target="../media/image17.emf"/><Relationship Id="rId4" Type="http://schemas.openxmlformats.org/officeDocument/2006/relationships/oleObject" Target="../embeddings/oleObject2.bin"/></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19.xml"/><Relationship Id="rId1" Type="http://schemas.openxmlformats.org/officeDocument/2006/relationships/tags" Target="../tags/tag33.xml"/><Relationship Id="rId5" Type="http://schemas.openxmlformats.org/officeDocument/2006/relationships/image" Target="../media/image17.emf"/><Relationship Id="rId4" Type="http://schemas.openxmlformats.org/officeDocument/2006/relationships/oleObject" Target="../embeddings/oleObject2.bin"/></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20.xml"/><Relationship Id="rId1" Type="http://schemas.openxmlformats.org/officeDocument/2006/relationships/tags" Target="../tags/tag34.xml"/><Relationship Id="rId5" Type="http://schemas.openxmlformats.org/officeDocument/2006/relationships/image" Target="../media/image17.emf"/><Relationship Id="rId4" Type="http://schemas.openxmlformats.org/officeDocument/2006/relationships/oleObject" Target="../embeddings/oleObject2.bin"/></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21.xml"/><Relationship Id="rId1" Type="http://schemas.openxmlformats.org/officeDocument/2006/relationships/tags" Target="../tags/tag35.xml"/><Relationship Id="rId5" Type="http://schemas.openxmlformats.org/officeDocument/2006/relationships/image" Target="../media/image18.emf"/><Relationship Id="rId4" Type="http://schemas.openxmlformats.org/officeDocument/2006/relationships/oleObject" Target="../embeddings/oleObject3.bin"/></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20.xml"/><Relationship Id="rId1" Type="http://schemas.openxmlformats.org/officeDocument/2006/relationships/tags" Target="../tags/tag36.xml"/><Relationship Id="rId5" Type="http://schemas.openxmlformats.org/officeDocument/2006/relationships/image" Target="../media/image17.emf"/><Relationship Id="rId4" Type="http://schemas.openxmlformats.org/officeDocument/2006/relationships/oleObject" Target="../embeddings/oleObject2.bin"/></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9.xml"/></Relationships>
</file>

<file path=ppt/slides/_rels/slide4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9.xml"/></Relationships>
</file>

<file path=ppt/slides/_rels/slide4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5.xml"/><Relationship Id="rId1" Type="http://schemas.openxmlformats.org/officeDocument/2006/relationships/slideLayout" Target="../slideLayouts/slideLayout19.xml"/><Relationship Id="rId4" Type="http://schemas.openxmlformats.org/officeDocument/2006/relationships/image" Target="../media/image20.png"/></Relationships>
</file>

<file path=ppt/slides/_rels/slide4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9.xml"/></Relationships>
</file>

<file path=ppt/slides/_rels/slide4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9.xml"/></Relationships>
</file>

<file path=ppt/slides/_rels/slide4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9.xml"/></Relationships>
</file>

<file path=ppt/slides/_rels/slide4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9.xml"/></Relationships>
</file>

<file path=ppt/slides/_rels/slide4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9.xml"/></Relationships>
</file>

<file path=ppt/slides/_rels/slide5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9.xml"/></Relationships>
</file>

<file path=ppt/slides/_rels/slide5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9.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0.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053C479C-CC25-654E-B9F8-6BF1D7E8E718}"/>
              </a:ext>
            </a:extLst>
          </p:cNvPr>
          <p:cNvSpPr>
            <a:spLocks noGrp="1"/>
          </p:cNvSpPr>
          <p:nvPr>
            <p:ph type="title"/>
          </p:nvPr>
        </p:nvSpPr>
        <p:spPr/>
        <p:txBody>
          <a:bodyPr/>
          <a:lstStyle/>
          <a:p>
            <a:r>
              <a:rPr lang="en-US"/>
              <a:t>2026 Weekly Portfolio Status</a:t>
            </a:r>
          </a:p>
        </p:txBody>
      </p:sp>
      <p:sp>
        <p:nvSpPr>
          <p:cNvPr id="10" name="Text Placeholder 9">
            <a:extLst>
              <a:ext uri="{FF2B5EF4-FFF2-40B4-BE49-F238E27FC236}">
                <a16:creationId xmlns:a16="http://schemas.microsoft.com/office/drawing/2014/main" id="{4AE516F1-C650-D241-B4B4-325C346925E8}"/>
              </a:ext>
            </a:extLst>
          </p:cNvPr>
          <p:cNvSpPr>
            <a:spLocks noGrp="1"/>
          </p:cNvSpPr>
          <p:nvPr>
            <p:ph type="body" sz="quarter" idx="12"/>
          </p:nvPr>
        </p:nvSpPr>
        <p:spPr/>
        <p:txBody>
          <a:bodyPr/>
          <a:lstStyle/>
          <a:p>
            <a:r>
              <a:rPr lang="en-US"/>
              <a:t>Cindy Trudeau &amp; Delivery Leads</a:t>
            </a:r>
          </a:p>
          <a:p>
            <a:endParaRPr lang="en-US"/>
          </a:p>
        </p:txBody>
      </p:sp>
      <p:sp>
        <p:nvSpPr>
          <p:cNvPr id="11" name="Text Placeholder 10">
            <a:extLst>
              <a:ext uri="{FF2B5EF4-FFF2-40B4-BE49-F238E27FC236}">
                <a16:creationId xmlns:a16="http://schemas.microsoft.com/office/drawing/2014/main" id="{F3074D63-196F-2446-ACC4-5020D61EDE04}"/>
              </a:ext>
            </a:extLst>
          </p:cNvPr>
          <p:cNvSpPr>
            <a:spLocks noGrp="1"/>
          </p:cNvSpPr>
          <p:nvPr>
            <p:ph type="body" sz="quarter" idx="13"/>
          </p:nvPr>
        </p:nvSpPr>
        <p:spPr/>
        <p:txBody>
          <a:bodyPr/>
          <a:lstStyle/>
          <a:p>
            <a:r>
              <a:rPr lang="en-US"/>
              <a:t>Aug 31, 2026</a:t>
            </a:r>
          </a:p>
        </p:txBody>
      </p:sp>
      <p:sp>
        <p:nvSpPr>
          <p:cNvPr id="12" name="Text Placeholder 11">
            <a:extLst>
              <a:ext uri="{FF2B5EF4-FFF2-40B4-BE49-F238E27FC236}">
                <a16:creationId xmlns:a16="http://schemas.microsoft.com/office/drawing/2014/main" id="{4FB5C958-1BC8-6245-92E1-79E2A30BF6C3}"/>
              </a:ext>
            </a:extLst>
          </p:cNvPr>
          <p:cNvSpPr>
            <a:spLocks noGrp="1"/>
          </p:cNvSpPr>
          <p:nvPr>
            <p:ph type="body" sz="quarter" idx="14"/>
          </p:nvPr>
        </p:nvSpPr>
        <p:spPr/>
        <p:txBody>
          <a:bodyPr/>
          <a:lstStyle/>
          <a:p>
            <a:r>
              <a:rPr lang="en-US"/>
              <a:t>Pet Tech Delivery</a:t>
            </a:r>
          </a:p>
        </p:txBody>
      </p:sp>
    </p:spTree>
    <p:extLst>
      <p:ext uri="{BB962C8B-B14F-4D97-AF65-F5344CB8AC3E}">
        <p14:creationId xmlns:p14="http://schemas.microsoft.com/office/powerpoint/2010/main" val="21805730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33565F-450F-D5FF-644D-B9AEB40C52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6F2040-5540-415B-35A8-E674F87F54C1}"/>
              </a:ext>
            </a:extLst>
          </p:cNvPr>
          <p:cNvSpPr>
            <a:spLocks noGrp="1"/>
          </p:cNvSpPr>
          <p:nvPr>
            <p:ph type="title"/>
          </p:nvPr>
        </p:nvSpPr>
        <p:spPr/>
        <p:txBody>
          <a:bodyPr/>
          <a:lstStyle/>
          <a:p>
            <a:r>
              <a:rPr lang="en-US"/>
              <a:t>Red Projects</a:t>
            </a:r>
          </a:p>
        </p:txBody>
      </p:sp>
    </p:spTree>
    <p:extLst>
      <p:ext uri="{BB962C8B-B14F-4D97-AF65-F5344CB8AC3E}">
        <p14:creationId xmlns:p14="http://schemas.microsoft.com/office/powerpoint/2010/main" val="38293793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F2B2F0-4580-F6C2-5051-5CBC3173A031}"/>
            </a:ext>
          </a:extLst>
        </p:cNvPr>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32BE4F1F-3225-1E70-24E9-5FFAC76DF3C9}"/>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8" imgH="408" progId="TCLayout.ActiveDocument.1">
                  <p:embed/>
                </p:oleObj>
              </mc:Choice>
              <mc:Fallback>
                <p:oleObj name="think-cell Slide" r:id="rId4" imgW="408" imgH="408" progId="TCLayout.ActiveDocument.1">
                  <p:embed/>
                  <p:pic>
                    <p:nvPicPr>
                      <p:cNvPr id="9" name="think-cell data - do not delete" hidden="1">
                        <a:extLst>
                          <a:ext uri="{FF2B5EF4-FFF2-40B4-BE49-F238E27FC236}">
                            <a16:creationId xmlns:a16="http://schemas.microsoft.com/office/drawing/2014/main" id="{32BE4F1F-3225-1E70-24E9-5FFAC76DF3C9}"/>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graphicFrame>
        <p:nvGraphicFramePr>
          <p:cNvPr id="32" name="Group 614">
            <a:extLst>
              <a:ext uri="{FF2B5EF4-FFF2-40B4-BE49-F238E27FC236}">
                <a16:creationId xmlns:a16="http://schemas.microsoft.com/office/drawing/2014/main" id="{63AD4511-D4B7-A078-B036-440C2ACFC8D9}"/>
              </a:ext>
            </a:extLst>
          </p:cNvPr>
          <p:cNvGraphicFramePr>
            <a:graphicFrameLocks noGrp="1"/>
          </p:cNvGraphicFramePr>
          <p:nvPr>
            <p:extLst>
              <p:ext uri="{D42A27DB-BD31-4B8C-83A1-F6EECF244321}">
                <p14:modId xmlns:p14="http://schemas.microsoft.com/office/powerpoint/2010/main" val="390860074"/>
              </p:ext>
            </p:extLst>
          </p:nvPr>
        </p:nvGraphicFramePr>
        <p:xfrm>
          <a:off x="4854769" y="6412912"/>
          <a:ext cx="7254529" cy="386554"/>
        </p:xfrm>
        <a:graphic>
          <a:graphicData uri="http://schemas.openxmlformats.org/drawingml/2006/table">
            <a:tbl>
              <a:tblPr/>
              <a:tblGrid>
                <a:gridCol w="616423">
                  <a:extLst>
                    <a:ext uri="{9D8B030D-6E8A-4147-A177-3AD203B41FA5}">
                      <a16:colId xmlns:a16="http://schemas.microsoft.com/office/drawing/2014/main" val="20000"/>
                    </a:ext>
                  </a:extLst>
                </a:gridCol>
                <a:gridCol w="312429">
                  <a:extLst>
                    <a:ext uri="{9D8B030D-6E8A-4147-A177-3AD203B41FA5}">
                      <a16:colId xmlns:a16="http://schemas.microsoft.com/office/drawing/2014/main" val="20001"/>
                    </a:ext>
                  </a:extLst>
                </a:gridCol>
                <a:gridCol w="770075">
                  <a:extLst>
                    <a:ext uri="{9D8B030D-6E8A-4147-A177-3AD203B41FA5}">
                      <a16:colId xmlns:a16="http://schemas.microsoft.com/office/drawing/2014/main" val="20002"/>
                    </a:ext>
                  </a:extLst>
                </a:gridCol>
                <a:gridCol w="307805">
                  <a:extLst>
                    <a:ext uri="{9D8B030D-6E8A-4147-A177-3AD203B41FA5}">
                      <a16:colId xmlns:a16="http://schemas.microsoft.com/office/drawing/2014/main" val="20003"/>
                    </a:ext>
                  </a:extLst>
                </a:gridCol>
                <a:gridCol w="676286">
                  <a:extLst>
                    <a:ext uri="{9D8B030D-6E8A-4147-A177-3AD203B41FA5}">
                      <a16:colId xmlns:a16="http://schemas.microsoft.com/office/drawing/2014/main" val="20004"/>
                    </a:ext>
                  </a:extLst>
                </a:gridCol>
                <a:gridCol w="526566">
                  <a:extLst>
                    <a:ext uri="{9D8B030D-6E8A-4147-A177-3AD203B41FA5}">
                      <a16:colId xmlns:a16="http://schemas.microsoft.com/office/drawing/2014/main" val="20005"/>
                    </a:ext>
                  </a:extLst>
                </a:gridCol>
                <a:gridCol w="577842">
                  <a:extLst>
                    <a:ext uri="{9D8B030D-6E8A-4147-A177-3AD203B41FA5}">
                      <a16:colId xmlns:a16="http://schemas.microsoft.com/office/drawing/2014/main" val="20006"/>
                    </a:ext>
                  </a:extLst>
                </a:gridCol>
                <a:gridCol w="375067">
                  <a:extLst>
                    <a:ext uri="{9D8B030D-6E8A-4147-A177-3AD203B41FA5}">
                      <a16:colId xmlns:a16="http://schemas.microsoft.com/office/drawing/2014/main" val="20007"/>
                    </a:ext>
                  </a:extLst>
                </a:gridCol>
                <a:gridCol w="1394626">
                  <a:extLst>
                    <a:ext uri="{9D8B030D-6E8A-4147-A177-3AD203B41FA5}">
                      <a16:colId xmlns:a16="http://schemas.microsoft.com/office/drawing/2014/main" val="20008"/>
                    </a:ext>
                  </a:extLst>
                </a:gridCol>
                <a:gridCol w="384448">
                  <a:extLst>
                    <a:ext uri="{9D8B030D-6E8A-4147-A177-3AD203B41FA5}">
                      <a16:colId xmlns:a16="http://schemas.microsoft.com/office/drawing/2014/main" val="20009"/>
                    </a:ext>
                  </a:extLst>
                </a:gridCol>
                <a:gridCol w="1312962">
                  <a:extLst>
                    <a:ext uri="{9D8B030D-6E8A-4147-A177-3AD203B41FA5}">
                      <a16:colId xmlns:a16="http://schemas.microsoft.com/office/drawing/2014/main" val="20010"/>
                    </a:ext>
                  </a:extLst>
                </a:gridCol>
              </a:tblGrid>
              <a:tr h="386554">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Arial" charset="0"/>
                          <a:cs typeface="Arial" charset="0"/>
                        </a:rPr>
                        <a:t>Status Key</a:t>
                      </a:r>
                      <a:endParaRPr kumimoji="0" lang="en-GB" sz="1600" b="0" i="0" u="none" strike="noStrike" cap="none" normalizeH="0" baseline="0">
                        <a:ln>
                          <a:noFill/>
                        </a:ln>
                        <a:solidFill>
                          <a:srgbClr val="002060"/>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mj-lt"/>
                        </a:rPr>
                        <a:t>C</a:t>
                      </a: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Arial" charset="0"/>
                          <a:cs typeface="Arial" charset="0"/>
                        </a:rPr>
                        <a:t>Completed</a:t>
                      </a:r>
                      <a:endParaRPr kumimoji="0" lang="en-GB" sz="1600" b="0" i="0" u="none" strike="noStrike" cap="none" normalizeH="0" baseline="0">
                        <a:ln>
                          <a:noFill/>
                        </a:ln>
                        <a:solidFill>
                          <a:srgbClr val="002060"/>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On-Schedule</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Major Issues</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Some Issues</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NS</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Not Started</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2" name="Title 1">
            <a:extLst>
              <a:ext uri="{FF2B5EF4-FFF2-40B4-BE49-F238E27FC236}">
                <a16:creationId xmlns:a16="http://schemas.microsoft.com/office/drawing/2014/main" id="{10502D40-DD86-9371-5DD1-EF34C378EAFF}"/>
              </a:ext>
            </a:extLst>
          </p:cNvPr>
          <p:cNvSpPr>
            <a:spLocks noGrp="1"/>
          </p:cNvSpPr>
          <p:nvPr>
            <p:ph type="title"/>
          </p:nvPr>
        </p:nvSpPr>
        <p:spPr>
          <a:xfrm>
            <a:off x="231954" y="101795"/>
            <a:ext cx="9281086" cy="788695"/>
          </a:xfrm>
        </p:spPr>
        <p:txBody>
          <a:bodyPr vert="horz">
            <a:normAutofit fontScale="90000"/>
          </a:bodyPr>
          <a:lstStyle/>
          <a:p>
            <a:r>
              <a:rPr lang="en-US" sz="2700" b="1">
                <a:solidFill>
                  <a:srgbClr val="29389F"/>
                </a:solidFill>
                <a:latin typeface="Arial" panose="020B0604020202020204" pitchFamily="34" charset="0"/>
                <a:cs typeface="Arial" panose="020B0604020202020204" pitchFamily="34" charset="0"/>
              </a:rPr>
              <a:t>Add-a-Pet Improvements</a:t>
            </a:r>
            <a:br>
              <a:rPr lang="en-US"/>
            </a:br>
            <a:r>
              <a:rPr lang="en-US" sz="1600" b="0">
                <a:solidFill>
                  <a:srgbClr val="0070C0"/>
                </a:solidFill>
                <a:latin typeface="Arial" panose="020B0604020202020204" pitchFamily="34" charset="0"/>
                <a:cs typeface="Arial" panose="020B0604020202020204" pitchFamily="34" charset="0"/>
              </a:rPr>
              <a:t>Streamline the add‑a‑pet quote flow to boost conversion by showing the right products and eliminating redundant data entry</a:t>
            </a:r>
            <a:endParaRPr sz="1800" b="0">
              <a:solidFill>
                <a:srgbClr val="0070C0"/>
              </a:solidFill>
              <a:latin typeface="Arial" panose="020B0604020202020204" pitchFamily="34" charset="0"/>
              <a:cs typeface="Arial" panose="020B0604020202020204" pitchFamily="34" charset="0"/>
            </a:endParaRPr>
          </a:p>
        </p:txBody>
      </p:sp>
      <p:graphicFrame>
        <p:nvGraphicFramePr>
          <p:cNvPr id="27" name="Table 26">
            <a:extLst>
              <a:ext uri="{FF2B5EF4-FFF2-40B4-BE49-F238E27FC236}">
                <a16:creationId xmlns:a16="http://schemas.microsoft.com/office/drawing/2014/main" id="{5A8260D5-6AA9-D2C1-CE5B-005266EC586F}"/>
              </a:ext>
            </a:extLst>
          </p:cNvPr>
          <p:cNvGraphicFramePr>
            <a:graphicFrameLocks noGrp="1"/>
          </p:cNvGraphicFramePr>
          <p:nvPr>
            <p:extLst>
              <p:ext uri="{D42A27DB-BD31-4B8C-83A1-F6EECF244321}">
                <p14:modId xmlns:p14="http://schemas.microsoft.com/office/powerpoint/2010/main" val="4186953941"/>
              </p:ext>
            </p:extLst>
          </p:nvPr>
        </p:nvGraphicFramePr>
        <p:xfrm>
          <a:off x="4854769" y="1717076"/>
          <a:ext cx="7269726" cy="3185269"/>
        </p:xfrm>
        <a:graphic>
          <a:graphicData uri="http://schemas.openxmlformats.org/drawingml/2006/table">
            <a:tbl>
              <a:tblPr>
                <a:tableStyleId>{5C22544A-7EE6-4342-B048-85BDC9FD1C3A}</a:tableStyleId>
              </a:tblPr>
              <a:tblGrid>
                <a:gridCol w="2571943">
                  <a:extLst>
                    <a:ext uri="{9D8B030D-6E8A-4147-A177-3AD203B41FA5}">
                      <a16:colId xmlns:a16="http://schemas.microsoft.com/office/drawing/2014/main" val="2456552316"/>
                    </a:ext>
                  </a:extLst>
                </a:gridCol>
                <a:gridCol w="496229">
                  <a:extLst>
                    <a:ext uri="{9D8B030D-6E8A-4147-A177-3AD203B41FA5}">
                      <a16:colId xmlns:a16="http://schemas.microsoft.com/office/drawing/2014/main" val="1100051595"/>
                    </a:ext>
                  </a:extLst>
                </a:gridCol>
                <a:gridCol w="585439">
                  <a:extLst>
                    <a:ext uri="{9D8B030D-6E8A-4147-A177-3AD203B41FA5}">
                      <a16:colId xmlns:a16="http://schemas.microsoft.com/office/drawing/2014/main" val="2042261034"/>
                    </a:ext>
                  </a:extLst>
                </a:gridCol>
                <a:gridCol w="3616115">
                  <a:extLst>
                    <a:ext uri="{9D8B030D-6E8A-4147-A177-3AD203B41FA5}">
                      <a16:colId xmlns:a16="http://schemas.microsoft.com/office/drawing/2014/main" val="2815874248"/>
                    </a:ext>
                  </a:extLst>
                </a:gridCol>
              </a:tblGrid>
              <a:tr h="304528">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Milestone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Status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Due Date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Notes</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225904">
                <a:tc>
                  <a:txBody>
                    <a:bodyPr/>
                    <a:lstStyle/>
                    <a:p>
                      <a:pPr marL="114300" marR="0" lvl="0" indent="0" algn="l" rtl="0" eaLnBrk="1" fontAlgn="ctr" latinLnBrk="0" hangingPunct="1">
                        <a:lnSpc>
                          <a:spcPct val="95000"/>
                        </a:lnSpc>
                        <a:spcBef>
                          <a:spcPct val="0"/>
                        </a:spcBef>
                        <a:spcAft>
                          <a:spcPct val="50000"/>
                        </a:spcAft>
                        <a:buClrTx/>
                        <a:buSzTx/>
                        <a:buFontTx/>
                        <a:buNone/>
                      </a:pPr>
                      <a:r>
                        <a:rPr lang="en-US" sz="850" b="0" kern="1200">
                          <a:solidFill>
                            <a:schemeClr val="tx1"/>
                          </a:solidFill>
                          <a:effectLst/>
                          <a:latin typeface="+mn-lt"/>
                          <a:ea typeface="+mn-ea"/>
                          <a:cs typeface="+mn-cs"/>
                        </a:rPr>
                        <a:t>Validate and Lock business requirements</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r>
                        <a:rPr lang="en-US" sz="850" b="0" kern="1200">
                          <a:solidFill>
                            <a:schemeClr val="tx1"/>
                          </a:solidFill>
                          <a:effectLst/>
                          <a:latin typeface="+mn-lt"/>
                          <a:ea typeface="+mn-ea"/>
                          <a:cs typeface="+mn-cs"/>
                        </a:rPr>
                        <a:t>C</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r>
                        <a:rPr lang="en-US" sz="850" b="0" strike="noStrike" kern="1200">
                          <a:solidFill>
                            <a:schemeClr val="tx1"/>
                          </a:solidFill>
                          <a:effectLst/>
                          <a:latin typeface="+mn-lt"/>
                          <a:ea typeface="+mn-ea"/>
                          <a:cs typeface="+mn-cs"/>
                        </a:rPr>
                        <a:t>1/20</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0" hangingPunct="1">
                        <a:lnSpc>
                          <a:spcPts val="600"/>
                        </a:lnSpc>
                        <a:spcBef>
                          <a:spcPts val="300"/>
                        </a:spcBef>
                        <a:spcAft>
                          <a:spcPts val="0"/>
                        </a:spcAft>
                        <a:buClrTx/>
                        <a:buSzTx/>
                        <a:buFontTx/>
                        <a:buNone/>
                        <a:tabLst/>
                        <a:defRPr/>
                      </a:pPr>
                      <a:endParaRPr lang="en-US" sz="850" b="0" i="0">
                        <a:solidFill>
                          <a:srgbClr val="000000"/>
                        </a:solidFill>
                        <a:effectLst/>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748893264"/>
                  </a:ext>
                </a:extLst>
              </a:tr>
              <a:tr h="213379">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50">
                          <a:latin typeface="+mn-lt"/>
                        </a:rPr>
                        <a:t>Obtain approval from BDE</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0" hangingPunct="1">
                        <a:lnSpc>
                          <a:spcPct val="95000"/>
                        </a:lnSpc>
                        <a:spcBef>
                          <a:spcPct val="0"/>
                        </a:spcBef>
                        <a:spcAft>
                          <a:spcPct val="50000"/>
                        </a:spcAft>
                        <a:buClrTx/>
                        <a:buSzTx/>
                        <a:buFontTx/>
                        <a:buNone/>
                        <a:tabLst/>
                        <a:defRPr/>
                      </a:pPr>
                      <a:r>
                        <a:rPr lang="en-US" sz="850" b="0" kern="1200">
                          <a:solidFill>
                            <a:schemeClr val="tx1"/>
                          </a:solidFill>
                          <a:effectLst/>
                          <a:latin typeface="+mn-lt"/>
                          <a:ea typeface="+mn-ea"/>
                          <a:cs typeface="+mn-cs"/>
                        </a:rPr>
                        <a:t>C</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0" hangingPunct="1">
                        <a:lnSpc>
                          <a:spcPct val="95000"/>
                        </a:lnSpc>
                        <a:spcBef>
                          <a:spcPct val="0"/>
                        </a:spcBef>
                        <a:spcAft>
                          <a:spcPct val="50000"/>
                        </a:spcAft>
                        <a:buClrTx/>
                        <a:buSzTx/>
                        <a:buFontTx/>
                        <a:buNone/>
                        <a:tabLst/>
                        <a:defRPr/>
                      </a:pPr>
                      <a:r>
                        <a:rPr lang="en-US" sz="850" b="0" strike="noStrike" kern="1200">
                          <a:solidFill>
                            <a:schemeClr val="tx1"/>
                          </a:solidFill>
                          <a:effectLst/>
                          <a:latin typeface="+mn-lt"/>
                          <a:ea typeface="+mn-ea"/>
                          <a:cs typeface="+mn-cs"/>
                        </a:rPr>
                        <a:t>2/10</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algn="l">
                        <a:lnSpc>
                          <a:spcPct val="114999"/>
                        </a:lnSpc>
                        <a:spcAft>
                          <a:spcPts val="800"/>
                        </a:spcAft>
                        <a:buNone/>
                      </a:pPr>
                      <a:r>
                        <a:rPr lang="en-US" sz="850" b="0" i="0" u="none" strike="noStrike" kern="100" noProof="0">
                          <a:solidFill>
                            <a:schemeClr val="dk1"/>
                          </a:solidFill>
                          <a:effectLst/>
                          <a:latin typeface="+mn-lt"/>
                        </a:rPr>
                        <a:t>I</a:t>
                      </a:r>
                      <a:r>
                        <a:rPr lang="en-US" sz="850" b="0" i="0" u="none" strike="noStrike" kern="100" noProof="0">
                          <a:solidFill>
                            <a:schemeClr val="dk1"/>
                          </a:solidFill>
                          <a:effectLst/>
                          <a:latin typeface="+mn-lt"/>
                          <a:ea typeface="+mn-ea"/>
                          <a:cs typeface="+mn-cs"/>
                        </a:rPr>
                        <a:t>ncorporated BDE feedback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805706767"/>
                  </a:ext>
                </a:extLst>
              </a:tr>
              <a:tr h="213379">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50">
                          <a:latin typeface="+mn-lt"/>
                        </a:rPr>
                        <a:t>Detail Requirements and Epic Creations</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rtl="0" eaLnBrk="1" fontAlgn="auto" latinLnBrk="0" hangingPunct="1">
                        <a:lnSpc>
                          <a:spcPct val="95000"/>
                        </a:lnSpc>
                        <a:spcBef>
                          <a:spcPct val="0"/>
                        </a:spcBef>
                        <a:spcAft>
                          <a:spcPct val="50000"/>
                        </a:spcAft>
                        <a:buClrTx/>
                        <a:buSzTx/>
                        <a:buFontTx/>
                        <a:buNone/>
                      </a:pPr>
                      <a:r>
                        <a:rPr lang="en-US" sz="850" b="0" kern="1200">
                          <a:solidFill>
                            <a:schemeClr val="tx1"/>
                          </a:solidFill>
                          <a:effectLst/>
                          <a:latin typeface="+mn-lt"/>
                          <a:ea typeface="+mn-ea"/>
                          <a:cs typeface="+mn-cs"/>
                        </a:rPr>
                        <a:t>       C</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0" hangingPunct="1">
                        <a:lnSpc>
                          <a:spcPct val="95000"/>
                        </a:lnSpc>
                        <a:spcBef>
                          <a:spcPct val="0"/>
                        </a:spcBef>
                        <a:spcAft>
                          <a:spcPct val="50000"/>
                        </a:spcAft>
                        <a:buClrTx/>
                        <a:buSzTx/>
                        <a:buFontTx/>
                        <a:buNone/>
                        <a:tabLst/>
                        <a:defRPr/>
                      </a:pPr>
                      <a:r>
                        <a:rPr lang="en-US" sz="850" b="0" strike="noStrike" kern="1200">
                          <a:solidFill>
                            <a:schemeClr val="tx1"/>
                          </a:solidFill>
                          <a:effectLst/>
                          <a:latin typeface="+mn-lt"/>
                          <a:ea typeface="+mn-ea"/>
                          <a:cs typeface="+mn-cs"/>
                        </a:rPr>
                        <a:t>1/26/-2/9</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algn="l">
                        <a:lnSpc>
                          <a:spcPct val="114999"/>
                        </a:lnSpc>
                        <a:spcAft>
                          <a:spcPts val="800"/>
                        </a:spcAft>
                        <a:buNone/>
                      </a:pPr>
                      <a:r>
                        <a:rPr lang="en-US" sz="850" b="0" i="0" u="none" strike="noStrike" kern="100" noProof="0">
                          <a:solidFill>
                            <a:schemeClr val="dk1"/>
                          </a:solidFill>
                          <a:effectLst/>
                          <a:latin typeface="+mn-lt"/>
                        </a:rPr>
                        <a:t>Scott (TA) to deliver; Nidia met with Scott on 1/30 to support Epic creations.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943924009"/>
                  </a:ext>
                </a:extLst>
              </a:tr>
              <a:tr h="257053">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50" kern="1200">
                          <a:solidFill>
                            <a:schemeClr val="dk1"/>
                          </a:solidFill>
                          <a:latin typeface="+mn-lt"/>
                          <a:ea typeface="+mn-ea"/>
                          <a:cs typeface="+mn-cs"/>
                        </a:rPr>
                        <a:t>Deliver end‑to‑end architectural design for the new solution.</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850">
                          <a:latin typeface="+mn-lt"/>
                        </a:rPr>
                        <a:t>C</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850" b="0" strike="sngStrike" kern="1200">
                          <a:solidFill>
                            <a:schemeClr val="tx1"/>
                          </a:solidFill>
                          <a:effectLst/>
                          <a:latin typeface="+mn-lt"/>
                          <a:ea typeface="+mn-ea"/>
                          <a:cs typeface="+mn-cs"/>
                        </a:rPr>
                        <a:t>2/2-2/13</a:t>
                      </a:r>
                      <a:r>
                        <a:rPr lang="en-US" sz="850" b="0" strike="noStrike" kern="1200">
                          <a:solidFill>
                            <a:schemeClr val="tx1"/>
                          </a:solidFill>
                          <a:effectLst/>
                          <a:latin typeface="+mn-lt"/>
                          <a:ea typeface="+mn-ea"/>
                          <a:cs typeface="+mn-cs"/>
                        </a:rPr>
                        <a:t> 2/20</a:t>
                      </a:r>
                      <a:endParaRPr lang="en-US" sz="850" b="0" strike="sngStrike" kern="1200">
                        <a:solidFill>
                          <a:schemeClr val="tx1"/>
                        </a:solidFill>
                        <a:effectLst/>
                        <a:latin typeface="+mn-lt"/>
                        <a:ea typeface="+mn-ea"/>
                        <a:cs typeface="+mn-cs"/>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base" latinLnBrk="0" hangingPunct="1">
                        <a:lnSpc>
                          <a:spcPct val="100000"/>
                        </a:lnSpc>
                        <a:spcBef>
                          <a:spcPts val="200"/>
                        </a:spcBef>
                        <a:spcAft>
                          <a:spcPts val="0"/>
                        </a:spcAft>
                        <a:buClrTx/>
                        <a:buSzTx/>
                        <a:buFontTx/>
                        <a:buNone/>
                        <a:tabLst/>
                        <a:defRPr/>
                      </a:pPr>
                      <a:r>
                        <a:rPr lang="en-US" sz="850" kern="100">
                          <a:solidFill>
                            <a:schemeClr val="dk1"/>
                          </a:solidFill>
                          <a:latin typeface="+mn-lt"/>
                          <a:cs typeface="Times New Roman"/>
                        </a:rPr>
                        <a:t>Josh shared with IT teams on  2/23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387139067"/>
                  </a:ext>
                </a:extLst>
              </a:tr>
              <a:tr h="234224">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50" kern="1200">
                          <a:solidFill>
                            <a:schemeClr val="dk1"/>
                          </a:solidFill>
                          <a:latin typeface="+mn-lt"/>
                          <a:ea typeface="+mn-ea"/>
                          <a:cs typeface="+mn-cs"/>
                        </a:rPr>
                        <a:t>Provide L0 project estimates with high‑level scope and effort</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850">
                          <a:latin typeface="+mn-lt"/>
                        </a:rPr>
                        <a:t>C</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850" strike="noStrike">
                          <a:latin typeface="+mn-lt"/>
                        </a:rPr>
                        <a:t>3/6/26</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base" latinLnBrk="0" hangingPunct="1">
                        <a:lnSpc>
                          <a:spcPct val="100000"/>
                        </a:lnSpc>
                        <a:spcBef>
                          <a:spcPts val="200"/>
                        </a:spcBef>
                        <a:spcAft>
                          <a:spcPts val="0"/>
                        </a:spcAft>
                        <a:buClrTx/>
                        <a:buSzTx/>
                        <a:buFontTx/>
                        <a:buNone/>
                        <a:tabLst/>
                        <a:defRPr/>
                      </a:pPr>
                      <a:r>
                        <a:rPr lang="en-US" sz="850" b="0" i="0">
                          <a:solidFill>
                            <a:srgbClr val="000000"/>
                          </a:solidFill>
                          <a:effectLst/>
                          <a:latin typeface="+mn-lt"/>
                          <a:cs typeface="Times New Roman"/>
                        </a:rPr>
                        <a:t>Line estimates are being received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775249404"/>
                  </a:ext>
                </a:extLst>
              </a:tr>
              <a:tr h="305268">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50" kern="1200">
                          <a:solidFill>
                            <a:schemeClr val="dk1"/>
                          </a:solidFill>
                          <a:latin typeface="+mn-lt"/>
                          <a:ea typeface="+mn-ea"/>
                          <a:cs typeface="+mn-cs"/>
                        </a:rPr>
                        <a:t>Build project plan based online approval of estimates</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685858" rtl="0" eaLnBrk="1" fontAlgn="auto" latinLnBrk="0" hangingPunct="1">
                        <a:lnSpc>
                          <a:spcPct val="100000"/>
                        </a:lnSpc>
                        <a:spcBef>
                          <a:spcPts val="0"/>
                        </a:spcBef>
                        <a:spcAft>
                          <a:spcPts val="0"/>
                        </a:spcAft>
                        <a:buClrTx/>
                        <a:buSzTx/>
                        <a:buFontTx/>
                        <a:buNone/>
                        <a:tabLst/>
                        <a:defRPr/>
                      </a:pPr>
                      <a:r>
                        <a:rPr lang="en-US" sz="850">
                          <a:latin typeface="+mn-lt"/>
                        </a:rPr>
                        <a:t>C</a:t>
                      </a:r>
                    </a:p>
                    <a:p>
                      <a:pPr algn="ctr"/>
                      <a:endParaRPr lang="en-US" sz="850">
                        <a:latin typeface="+mn-lt"/>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850" strike="noStrike">
                          <a:latin typeface="+mn-lt"/>
                        </a:rPr>
                        <a:t>3/17</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rtl="0" eaLnBrk="1" fontAlgn="ctr" latinLnBrk="0" hangingPunct="1">
                        <a:lnSpc>
                          <a:spcPct val="95000"/>
                        </a:lnSpc>
                        <a:spcBef>
                          <a:spcPct val="0"/>
                        </a:spcBef>
                        <a:spcAft>
                          <a:spcPct val="50000"/>
                        </a:spcAft>
                        <a:buClrTx/>
                        <a:buSzTx/>
                        <a:buFontTx/>
                        <a:buNone/>
                      </a:pPr>
                      <a:r>
                        <a:rPr lang="en-US" sz="850" b="0" strike="noStrike" kern="1200">
                          <a:solidFill>
                            <a:schemeClr val="tx1"/>
                          </a:solidFill>
                          <a:effectLst/>
                          <a:latin typeface="+mn-lt"/>
                          <a:ea typeface="+mn-ea"/>
                          <a:cs typeface="+mn-cs"/>
                        </a:rPr>
                        <a:t>Rekha will build-transitioned to DL on 3/13 after reviewing estimates and planning budget.</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676961585"/>
                  </a:ext>
                </a:extLst>
              </a:tr>
              <a:tr h="223959">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50" kern="1200">
                          <a:solidFill>
                            <a:schemeClr val="dk1"/>
                          </a:solidFill>
                          <a:latin typeface="+mn-lt"/>
                          <a:ea typeface="+mn-ea"/>
                          <a:cs typeface="+mn-cs"/>
                        </a:rPr>
                        <a:t>Technical Design</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850">
                          <a:latin typeface="+mn-lt"/>
                        </a:rPr>
                        <a:t>C</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850" strike="noStrike">
                          <a:latin typeface="+mn-lt"/>
                        </a:rPr>
                        <a:t>2/27</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rtl="0" eaLnBrk="1" fontAlgn="ctr" latinLnBrk="0" hangingPunct="1">
                        <a:lnSpc>
                          <a:spcPct val="95000"/>
                        </a:lnSpc>
                        <a:spcBef>
                          <a:spcPct val="0"/>
                        </a:spcBef>
                        <a:spcAft>
                          <a:spcPct val="50000"/>
                        </a:spcAft>
                        <a:buClrTx/>
                        <a:buSzTx/>
                        <a:buFontTx/>
                        <a:buNone/>
                      </a:pPr>
                      <a:r>
                        <a:rPr lang="en-US" sz="850" b="0" kern="1200">
                          <a:solidFill>
                            <a:schemeClr val="tx1"/>
                          </a:solidFill>
                          <a:effectLst/>
                          <a:latin typeface="+mn-lt"/>
                          <a:ea typeface="+mn-ea"/>
                          <a:cs typeface="+mn-cs"/>
                        </a:rPr>
                        <a:t> Vu Pham will complete</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617819655"/>
                  </a:ext>
                </a:extLst>
              </a:tr>
              <a:tr h="236175">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50" kern="1200">
                          <a:solidFill>
                            <a:schemeClr val="dk1"/>
                          </a:solidFill>
                          <a:latin typeface="+mn-lt"/>
                          <a:ea typeface="+mn-ea"/>
                          <a:cs typeface="+mn-cs"/>
                        </a:rPr>
                        <a:t>DDIT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850">
                          <a:latin typeface="+mn-lt"/>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850">
                          <a:latin typeface="+mn-lt"/>
                        </a:rPr>
                        <a:t>7/8 7/20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lvl="0"/>
                      <a:r>
                        <a:rPr lang="en-US" sz="850" kern="1200">
                          <a:solidFill>
                            <a:schemeClr val="dk1"/>
                          </a:solidFill>
                          <a:effectLst/>
                          <a:latin typeface="+mn-lt"/>
                          <a:ea typeface="+mn-ea"/>
                          <a:cs typeface="+mn-cs"/>
                        </a:rPr>
                        <a:t>EW/Tail Blazers/MIM/Scrum Sharks have begun work. Duration is 40 days.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162506059"/>
                  </a:ext>
                </a:extLst>
              </a:tr>
              <a:tr h="236175">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50" kern="1200">
                          <a:solidFill>
                            <a:schemeClr val="dk1"/>
                          </a:solidFill>
                          <a:latin typeface="+mn-lt"/>
                          <a:ea typeface="+mn-ea"/>
                          <a:cs typeface="+mn-cs"/>
                        </a:rPr>
                        <a:t>E2E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50">
                        <a:latin typeface="+mn-l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50" strike="sngStrike">
                          <a:latin typeface="+mn-lt"/>
                        </a:rPr>
                        <a:t>8/5</a:t>
                      </a:r>
                      <a:r>
                        <a:rPr lang="en-US" sz="850">
                          <a:latin typeface="+mn-lt"/>
                        </a:rPr>
                        <a:t> 9/1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r>
                        <a:rPr lang="en-US" sz="850" kern="1200">
                          <a:solidFill>
                            <a:schemeClr val="dk1"/>
                          </a:solidFill>
                          <a:effectLst/>
                          <a:latin typeface="+mn-lt"/>
                          <a:ea typeface="+mn-ea"/>
                          <a:cs typeface="+mn-cs"/>
                        </a:rPr>
                        <a:t>E2E in progress with 86% completed, 14% no run</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20125674"/>
                  </a:ext>
                </a:extLst>
              </a:tr>
              <a:tr h="236175">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50" kern="1200">
                          <a:solidFill>
                            <a:schemeClr val="dk1"/>
                          </a:solidFill>
                          <a:latin typeface="+mn-lt"/>
                          <a:ea typeface="+mn-ea"/>
                          <a:cs typeface="+mn-cs"/>
                        </a:rPr>
                        <a:t>UAT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50">
                        <a:latin typeface="+mn-l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50" strike="sngStrike">
                          <a:latin typeface="+mn-lt"/>
                        </a:rPr>
                        <a:t>8/7</a:t>
                      </a:r>
                      <a:r>
                        <a:rPr lang="en-US" sz="850">
                          <a:latin typeface="+mn-lt"/>
                        </a:rPr>
                        <a:t> 9/2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r>
                        <a:rPr lang="en-US" sz="850" kern="1200">
                          <a:solidFill>
                            <a:schemeClr val="dk1"/>
                          </a:solidFill>
                          <a:effectLst/>
                          <a:latin typeface="+mn-lt"/>
                          <a:ea typeface="+mn-ea"/>
                          <a:cs typeface="+mn-cs"/>
                        </a:rPr>
                        <a:t>UAT in progress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53880179"/>
                  </a:ext>
                </a:extLst>
              </a:tr>
              <a:tr h="236175">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50" kern="1200">
                          <a:solidFill>
                            <a:schemeClr val="dk1"/>
                          </a:solidFill>
                          <a:latin typeface="+mn-lt"/>
                          <a:ea typeface="+mn-ea"/>
                          <a:cs typeface="+mn-cs"/>
                        </a:rPr>
                        <a:t>Go Live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50">
                          <a:latin typeface="+mn-lt"/>
                        </a:rPr>
                        <a:t>NS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50" strike="sngStrike">
                          <a:latin typeface="+mn-lt"/>
                        </a:rPr>
                        <a:t>8/12</a:t>
                      </a:r>
                      <a:r>
                        <a:rPr lang="en-US" sz="850">
                          <a:latin typeface="+mn-lt"/>
                        </a:rPr>
                        <a:t> </a:t>
                      </a:r>
                      <a:r>
                        <a:rPr lang="en-US" sz="850" strike="sngStrike">
                          <a:latin typeface="+mn-lt"/>
                        </a:rPr>
                        <a:t>8/19</a:t>
                      </a:r>
                      <a:r>
                        <a:rPr lang="en-US" sz="850">
                          <a:latin typeface="+mn-lt"/>
                        </a:rPr>
                        <a:t> </a:t>
                      </a:r>
                      <a:r>
                        <a:rPr lang="en-US" sz="850" strike="sngStrike">
                          <a:latin typeface="+mn-lt"/>
                        </a:rPr>
                        <a:t>8/26</a:t>
                      </a:r>
                      <a:r>
                        <a:rPr lang="en-US" sz="850">
                          <a:latin typeface="+mn-lt"/>
                        </a:rPr>
                        <a:t> TBD</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endParaRPr lang="en-US" sz="850" kern="1200">
                        <a:solidFill>
                          <a:schemeClr val="dk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64433576"/>
                  </a:ext>
                </a:extLst>
              </a:tr>
            </a:tbl>
          </a:graphicData>
        </a:graphic>
      </p:graphicFrame>
      <p:graphicFrame>
        <p:nvGraphicFramePr>
          <p:cNvPr id="29" name="Table 28">
            <a:extLst>
              <a:ext uri="{FF2B5EF4-FFF2-40B4-BE49-F238E27FC236}">
                <a16:creationId xmlns:a16="http://schemas.microsoft.com/office/drawing/2014/main" id="{97C636B1-8A8C-80E1-F679-341FF24354AC}"/>
              </a:ext>
            </a:extLst>
          </p:cNvPr>
          <p:cNvGraphicFramePr>
            <a:graphicFrameLocks noGrp="1"/>
          </p:cNvGraphicFramePr>
          <p:nvPr>
            <p:extLst>
              <p:ext uri="{D42A27DB-BD31-4B8C-83A1-F6EECF244321}">
                <p14:modId xmlns:p14="http://schemas.microsoft.com/office/powerpoint/2010/main" val="4258577769"/>
              </p:ext>
            </p:extLst>
          </p:nvPr>
        </p:nvGraphicFramePr>
        <p:xfrm>
          <a:off x="4854769" y="4899533"/>
          <a:ext cx="7254527" cy="1532763"/>
        </p:xfrm>
        <a:graphic>
          <a:graphicData uri="http://schemas.openxmlformats.org/drawingml/2006/table">
            <a:tbl>
              <a:tblPr>
                <a:tableStyleId>{5C22544A-7EE6-4342-B048-85BDC9FD1C3A}</a:tableStyleId>
              </a:tblPr>
              <a:tblGrid>
                <a:gridCol w="2676817">
                  <a:extLst>
                    <a:ext uri="{9D8B030D-6E8A-4147-A177-3AD203B41FA5}">
                      <a16:colId xmlns:a16="http://schemas.microsoft.com/office/drawing/2014/main" val="2456552316"/>
                    </a:ext>
                  </a:extLst>
                </a:gridCol>
                <a:gridCol w="525650">
                  <a:extLst>
                    <a:ext uri="{9D8B030D-6E8A-4147-A177-3AD203B41FA5}">
                      <a16:colId xmlns:a16="http://schemas.microsoft.com/office/drawing/2014/main" val="1100051595"/>
                    </a:ext>
                  </a:extLst>
                </a:gridCol>
                <a:gridCol w="583806">
                  <a:extLst>
                    <a:ext uri="{9D8B030D-6E8A-4147-A177-3AD203B41FA5}">
                      <a16:colId xmlns:a16="http://schemas.microsoft.com/office/drawing/2014/main" val="2042261034"/>
                    </a:ext>
                  </a:extLst>
                </a:gridCol>
                <a:gridCol w="3468254">
                  <a:extLst>
                    <a:ext uri="{9D8B030D-6E8A-4147-A177-3AD203B41FA5}">
                      <a16:colId xmlns:a16="http://schemas.microsoft.com/office/drawing/2014/main" val="2815874248"/>
                    </a:ext>
                  </a:extLst>
                </a:gridCol>
              </a:tblGrid>
              <a:tr h="258561">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Critical Risks/Issues</a:t>
                      </a:r>
                      <a:endParaRPr kumimoji="0" lang="en-US" sz="1050" b="1" i="0" u="none" strike="noStrike" kern="1200" cap="none" normalizeH="0" baseline="0">
                        <a:ln>
                          <a:noFill/>
                        </a:ln>
                        <a:solidFill>
                          <a:schemeClr val="bg1"/>
                        </a:solidFill>
                        <a:effectLst/>
                        <a:latin typeface="Arial" charset="0"/>
                        <a:ea typeface="+mn-ea"/>
                        <a:cs typeface="+mn-cs"/>
                      </a:endParaRP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Status</a:t>
                      </a:r>
                    </a:p>
                  </a:txBody>
                  <a:tcPr marL="9525" marR="9525" marT="9525" marB="0" anchor="ct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Target Date</a:t>
                      </a:r>
                    </a:p>
                  </a:txBody>
                  <a:tcPr marL="9525" marR="9525" marT="9525" marB="0" anchor="ctr">
                    <a:lnL w="12700">
                      <a:solidFill>
                        <a:schemeClr val="tx1"/>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Resolution / Mitigation</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313508">
                <a:tc>
                  <a:txBody>
                    <a:bodyPr/>
                    <a:lstStyle/>
                    <a:p>
                      <a:pPr fontAlgn="t">
                        <a:lnSpc>
                          <a:spcPct val="100000"/>
                        </a:lnSpc>
                        <a:buNone/>
                      </a:pPr>
                      <a:r>
                        <a:rPr lang="en-US" sz="850" kern="100">
                          <a:solidFill>
                            <a:srgbClr val="000000"/>
                          </a:solidFill>
                          <a:latin typeface="Aptos" panose="020B0004020202020204" pitchFamily="34" charset="0"/>
                          <a:ea typeface="+mn-ea"/>
                          <a:cs typeface="Times New Roman"/>
                        </a:rPr>
                        <a:t>Two showstopper defects remain open in Add a Pet (MPI enrollment and payment processing). Additional issues involving member prefill and employer selection are under review. These defects currently block production deployment and contribute to schedule risk.</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15000"/>
                        </a:lnSpc>
                        <a:spcBef>
                          <a:spcPts val="0"/>
                        </a:spcBef>
                        <a:spcAft>
                          <a:spcPts val="800"/>
                        </a:spcAft>
                        <a:buClrTx/>
                        <a:buSzTx/>
                        <a:buFontTx/>
                        <a:buNone/>
                        <a:tabLst/>
                        <a:defRPr/>
                      </a:pPr>
                      <a:r>
                        <a:rPr lang="en-US" sz="850" kern="1200">
                          <a:solidFill>
                            <a:schemeClr val="dk1"/>
                          </a:solidFill>
                          <a:latin typeface="+mn-lt"/>
                          <a:ea typeface="+mn-ea"/>
                          <a:cs typeface="+mn-cs"/>
                        </a:rPr>
                        <a:t>C</a:t>
                      </a:r>
                    </a:p>
                  </a:txBody>
                  <a:tcPr marL="9525" marR="9525" marT="9525" marB="0" anchor="ct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15000"/>
                        </a:lnSpc>
                        <a:spcBef>
                          <a:spcPts val="0"/>
                        </a:spcBef>
                        <a:spcAft>
                          <a:spcPts val="800"/>
                        </a:spcAft>
                        <a:buClrTx/>
                        <a:buSzTx/>
                        <a:buFontTx/>
                        <a:buNone/>
                        <a:tabLst/>
                        <a:defRPr/>
                      </a:pPr>
                      <a:r>
                        <a:rPr lang="en-US" sz="850" kern="1200">
                          <a:solidFill>
                            <a:schemeClr val="dk1"/>
                          </a:solidFill>
                          <a:latin typeface="+mn-lt"/>
                          <a:ea typeface="+mn-ea"/>
                          <a:cs typeface="+mn-cs"/>
                        </a:rPr>
                        <a:t>8/25</a:t>
                      </a:r>
                    </a:p>
                  </a:txBody>
                  <a:tcPr marL="9525" marR="9525" marT="9525" marB="0" anchor="ctr">
                    <a:lnL w="12700">
                      <a:solidFill>
                        <a:schemeClr val="tx1"/>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lnSpc>
                          <a:spcPct val="100000"/>
                        </a:lnSpc>
                        <a:buNone/>
                      </a:pPr>
                      <a:r>
                        <a:rPr lang="en-US" sz="850" kern="100">
                          <a:solidFill>
                            <a:srgbClr val="000000"/>
                          </a:solidFill>
                          <a:latin typeface="Aptos" panose="020B0004020202020204" pitchFamily="34" charset="0"/>
                          <a:ea typeface="+mn-ea"/>
                          <a:cs typeface="Times New Roman"/>
                        </a:rPr>
                        <a:t>Teams are prioritizing resolution of the showstopper defects and completing E2E retesting. Remaining issues are being assessed for disposition. Production readiness is dependent on successful validation, business approval, and closure of critical defects.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7499024"/>
                  </a:ext>
                </a:extLst>
              </a:tr>
              <a:tr h="313508">
                <a:tc>
                  <a:txBody>
                    <a:bodyPr/>
                    <a:lstStyle/>
                    <a:p>
                      <a:pPr fontAlgn="t">
                        <a:lnSpc>
                          <a:spcPct val="100000"/>
                        </a:lnSpc>
                        <a:buNone/>
                      </a:pPr>
                      <a:r>
                        <a:rPr lang="en-US" sz="850" kern="100">
                          <a:solidFill>
                            <a:srgbClr val="000000"/>
                          </a:solidFill>
                          <a:latin typeface="Aptos" panose="020B0004020202020204" pitchFamily="34" charset="0"/>
                          <a:ea typeface="+mn-ea"/>
                          <a:cs typeface="Times New Roman"/>
                        </a:rPr>
                        <a:t>GoupID is showing up as “NULL” for policies created with Non Payroll Code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15000"/>
                        </a:lnSpc>
                        <a:spcBef>
                          <a:spcPts val="0"/>
                        </a:spcBef>
                        <a:spcAft>
                          <a:spcPts val="800"/>
                        </a:spcAft>
                        <a:buClrTx/>
                        <a:buSzTx/>
                        <a:buFontTx/>
                        <a:buNone/>
                        <a:tabLst/>
                        <a:defRPr/>
                      </a:pPr>
                      <a:endParaRPr lang="en-US" sz="850" kern="1200">
                        <a:solidFill>
                          <a:schemeClr val="dk1"/>
                        </a:solidFill>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15000"/>
                        </a:lnSpc>
                        <a:spcBef>
                          <a:spcPts val="0"/>
                        </a:spcBef>
                        <a:spcAft>
                          <a:spcPts val="800"/>
                        </a:spcAft>
                        <a:buClrTx/>
                        <a:buSzTx/>
                        <a:buFontTx/>
                        <a:buNone/>
                        <a:tabLst/>
                        <a:defRPr/>
                      </a:pPr>
                      <a:r>
                        <a:rPr lang="en-US" sz="850" kern="1200">
                          <a:solidFill>
                            <a:schemeClr val="dk1"/>
                          </a:solidFill>
                          <a:latin typeface="+mn-lt"/>
                          <a:ea typeface="+mn-ea"/>
                          <a:cs typeface="+mn-cs"/>
                        </a:rPr>
                        <a:t>8/31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lnSpc>
                          <a:spcPct val="100000"/>
                        </a:lnSpc>
                        <a:buNone/>
                      </a:pPr>
                      <a:r>
                        <a:rPr lang="en-US" sz="850" kern="100">
                          <a:solidFill>
                            <a:srgbClr val="000000"/>
                          </a:solidFill>
                          <a:latin typeface="Aptos" panose="020B0004020202020204" pitchFamily="34" charset="0"/>
                          <a:ea typeface="+mn-ea"/>
                          <a:cs typeface="Times New Roman"/>
                        </a:rPr>
                        <a:t>GOP team is working on this requirement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69510702"/>
                  </a:ext>
                </a:extLst>
              </a:tr>
            </a:tbl>
          </a:graphicData>
        </a:graphic>
      </p:graphicFrame>
      <p:sp>
        <p:nvSpPr>
          <p:cNvPr id="34" name="Flowchart: Connector 33">
            <a:extLst>
              <a:ext uri="{FF2B5EF4-FFF2-40B4-BE49-F238E27FC236}">
                <a16:creationId xmlns:a16="http://schemas.microsoft.com/office/drawing/2014/main" id="{A6DD89E1-3EF1-B72A-651E-530BA4972946}"/>
              </a:ext>
            </a:extLst>
          </p:cNvPr>
          <p:cNvSpPr/>
          <p:nvPr/>
        </p:nvSpPr>
        <p:spPr>
          <a:xfrm>
            <a:off x="7736488" y="6523893"/>
            <a:ext cx="163286" cy="164592"/>
          </a:xfrm>
          <a:prstGeom prst="flowChartConnector">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6" name="Flowchart: Connector 35">
            <a:extLst>
              <a:ext uri="{FF2B5EF4-FFF2-40B4-BE49-F238E27FC236}">
                <a16:creationId xmlns:a16="http://schemas.microsoft.com/office/drawing/2014/main" id="{99167821-28DD-864D-841C-B2D608F91D56}"/>
              </a:ext>
            </a:extLst>
          </p:cNvPr>
          <p:cNvSpPr/>
          <p:nvPr/>
        </p:nvSpPr>
        <p:spPr>
          <a:xfrm>
            <a:off x="8759062" y="6523893"/>
            <a:ext cx="163285" cy="164592"/>
          </a:xfrm>
          <a:prstGeom prst="flowChartConnector">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 name="TextBox 4">
            <a:extLst>
              <a:ext uri="{FF2B5EF4-FFF2-40B4-BE49-F238E27FC236}">
                <a16:creationId xmlns:a16="http://schemas.microsoft.com/office/drawing/2014/main" id="{2413875C-412C-45CD-14CA-650C16441BEA}"/>
              </a:ext>
            </a:extLst>
          </p:cNvPr>
          <p:cNvSpPr txBox="1"/>
          <p:nvPr/>
        </p:nvSpPr>
        <p:spPr>
          <a:xfrm>
            <a:off x="44017" y="1754615"/>
            <a:ext cx="4743293" cy="3919022"/>
          </a:xfrm>
          <a:prstGeom prst="rect">
            <a:avLst/>
          </a:prstGeom>
          <a:noFill/>
        </p:spPr>
        <p:txBody>
          <a:bodyPr wrap="square" lIns="91440" tIns="45720" rIns="91440" bIns="45720" anchor="t">
            <a:spAutoFit/>
          </a:bodyPr>
          <a:lstStyle/>
          <a:p>
            <a:pPr lvl="0">
              <a:defRPr/>
            </a:pPr>
            <a:r>
              <a:rPr lang="en-US" sz="900" b="1" kern="100">
                <a:solidFill>
                  <a:srgbClr val="000000"/>
                </a:solidFill>
                <a:latin typeface="Arial"/>
                <a:cs typeface="Times New Roman"/>
              </a:rPr>
              <a:t>Status:</a:t>
            </a:r>
            <a:br>
              <a:rPr lang="en-US" sz="900" b="1" kern="100">
                <a:solidFill>
                  <a:srgbClr val="000000"/>
                </a:solidFill>
                <a:latin typeface="Arial"/>
                <a:cs typeface="Times New Roman"/>
              </a:rPr>
            </a:br>
            <a:r>
              <a:rPr lang="en-US" sz="850" b="1" kern="100">
                <a:solidFill>
                  <a:srgbClr val="000000"/>
                </a:solidFill>
                <a:latin typeface="Aptos" panose="020B0004020202020204" pitchFamily="34" charset="0"/>
                <a:cs typeface="Times New Roman"/>
              </a:rPr>
              <a:t>Overall Status: </a:t>
            </a:r>
            <a:r>
              <a:rPr lang="en-US" sz="850" b="1" kern="100">
                <a:solidFill>
                  <a:srgbClr val="000000"/>
                </a:solidFill>
                <a:highlight>
                  <a:srgbClr val="FF0000"/>
                </a:highlight>
                <a:latin typeface="Aptos" panose="020B0004020202020204" pitchFamily="34" charset="0"/>
                <a:cs typeface="Times New Roman"/>
              </a:rPr>
              <a:t>RED</a:t>
            </a:r>
            <a:br>
              <a:rPr lang="en-US" sz="850" kern="100">
                <a:solidFill>
                  <a:srgbClr val="000000"/>
                </a:solidFill>
                <a:latin typeface="Aptos" panose="020B0004020202020204" pitchFamily="34" charset="0"/>
                <a:cs typeface="Times New Roman"/>
              </a:rPr>
            </a:br>
            <a:endParaRPr lang="en-US" sz="850" kern="100">
              <a:solidFill>
                <a:srgbClr val="000000"/>
              </a:solidFill>
              <a:latin typeface="Aptos" panose="020B0004020202020204" pitchFamily="34" charset="0"/>
              <a:cs typeface="Times New Roman"/>
            </a:endParaRPr>
          </a:p>
          <a:p>
            <a:pPr lvl="0">
              <a:defRPr/>
            </a:pPr>
            <a:r>
              <a:rPr lang="en-US" sz="850" kern="100">
                <a:solidFill>
                  <a:srgbClr val="000000"/>
                </a:solidFill>
                <a:latin typeface="Aptos" panose="020B0004020202020204" pitchFamily="34" charset="0"/>
                <a:cs typeface="Times New Roman"/>
              </a:rPr>
              <a:t>The Add a Pet project remains in Red status due to critical open defects and additional logical change required Based on current discussions, the next potential deployment target is 9/9, contingent upon successful remediation of critical defects, completion of testing, and business approval.</a:t>
            </a:r>
            <a:br>
              <a:rPr lang="en-US" sz="850">
                <a:latin typeface="Aptos" panose="020B0004020202020204" pitchFamily="34" charset="0"/>
              </a:rPr>
            </a:br>
            <a:r>
              <a:rPr lang="en-US" sz="850" b="1">
                <a:solidFill>
                  <a:prstClr val="black"/>
                </a:solidFill>
                <a:latin typeface="Aptos" panose="020B0004020202020204" pitchFamily="34" charset="0"/>
              </a:rPr>
              <a:t>Path To Yellow: </a:t>
            </a:r>
          </a:p>
          <a:p>
            <a:pPr marL="171450" indent="-171450">
              <a:buFont typeface="Arial" panose="020B0604020202020204" pitchFamily="34" charset="0"/>
              <a:buChar char="•"/>
            </a:pPr>
            <a:r>
              <a:rPr lang="en-US" sz="850" kern="100">
                <a:solidFill>
                  <a:srgbClr val="000000"/>
                </a:solidFill>
                <a:latin typeface="Aptos" panose="020B0004020202020204" pitchFamily="34" charset="0"/>
                <a:cs typeface="Times New Roman"/>
              </a:rPr>
              <a:t>Complete E2E retesting and validate all previously resolved defects across critical business flows.</a:t>
            </a:r>
          </a:p>
          <a:p>
            <a:pPr marL="171450" indent="-171450">
              <a:buFont typeface="Arial" panose="020B0604020202020204" pitchFamily="34" charset="0"/>
              <a:buChar char="•"/>
            </a:pPr>
            <a:r>
              <a:rPr lang="en-US" sz="850" kern="100">
                <a:solidFill>
                  <a:srgbClr val="000000"/>
                </a:solidFill>
                <a:latin typeface="Aptos" panose="020B0004020202020204" pitchFamily="34" charset="0"/>
                <a:cs typeface="Times New Roman"/>
              </a:rPr>
              <a:t>Demonstrate stable integrations and consistent test execution results.</a:t>
            </a:r>
          </a:p>
          <a:p>
            <a:r>
              <a:rPr lang="en-US" sz="850" b="1">
                <a:solidFill>
                  <a:prstClr val="black"/>
                </a:solidFill>
                <a:latin typeface="Aptos" panose="020B0004020202020204" pitchFamily="34" charset="0"/>
              </a:rPr>
              <a:t>Path To Green:</a:t>
            </a:r>
          </a:p>
          <a:p>
            <a:pPr marL="171450" indent="-171450">
              <a:buFont typeface="Arial" panose="020B0604020202020204" pitchFamily="34" charset="0"/>
              <a:buChar char="•"/>
            </a:pPr>
            <a:r>
              <a:rPr lang="en-US" sz="850" kern="100">
                <a:solidFill>
                  <a:srgbClr val="000000"/>
                </a:solidFill>
                <a:latin typeface="Aptos" panose="020B0004020202020204" pitchFamily="34" charset="0"/>
                <a:cs typeface="Times New Roman"/>
              </a:rPr>
              <a:t>Receive business UAT sign-off.</a:t>
            </a:r>
          </a:p>
          <a:p>
            <a:pPr marL="171450" indent="-171450">
              <a:buFont typeface="Arial" panose="020B0604020202020204" pitchFamily="34" charset="0"/>
              <a:buChar char="•"/>
            </a:pPr>
            <a:r>
              <a:rPr lang="en-US" sz="850" kern="100">
                <a:solidFill>
                  <a:srgbClr val="000000"/>
                </a:solidFill>
                <a:latin typeface="Aptos" panose="020B0004020202020204" pitchFamily="34" charset="0"/>
                <a:cs typeface="Times New Roman"/>
              </a:rPr>
              <a:t>Obtain final release approvals and confirm production readiness</a:t>
            </a:r>
          </a:p>
          <a:p>
            <a:pPr fontAlgn="t">
              <a:lnSpc>
                <a:spcPts val="1500"/>
              </a:lnSpc>
              <a:buNone/>
            </a:pPr>
            <a:r>
              <a:rPr lang="en-US" sz="850" b="1">
                <a:solidFill>
                  <a:prstClr val="black"/>
                </a:solidFill>
                <a:latin typeface="Aptos" panose="020B0004020202020204" pitchFamily="34" charset="0"/>
              </a:rPr>
              <a:t>Accomplishments:</a:t>
            </a:r>
          </a:p>
          <a:p>
            <a:pPr marL="171450" indent="-171450">
              <a:buFont typeface="Arial" panose="020B0604020202020204" pitchFamily="34" charset="0"/>
              <a:buChar char="•"/>
            </a:pPr>
            <a:r>
              <a:rPr lang="en-US" sz="850" kern="100">
                <a:solidFill>
                  <a:srgbClr val="000000"/>
                </a:solidFill>
                <a:latin typeface="Aptos" panose="020B0004020202020204" pitchFamily="34" charset="0"/>
                <a:cs typeface="Times New Roman"/>
              </a:rPr>
              <a:t>Overall execution has reached 86% completion, with 12% Blocked and 2% no run. </a:t>
            </a:r>
          </a:p>
          <a:p>
            <a:pPr marL="171450" indent="-171450">
              <a:buFont typeface="Arial" panose="020B0604020202020204" pitchFamily="34" charset="0"/>
              <a:buChar char="•"/>
            </a:pPr>
            <a:r>
              <a:rPr lang="en-US" sz="850" kern="100">
                <a:solidFill>
                  <a:srgbClr val="000000"/>
                </a:solidFill>
                <a:latin typeface="Aptos" panose="020B0004020202020204" pitchFamily="34" charset="0"/>
                <a:cs typeface="Times New Roman"/>
              </a:rPr>
              <a:t>Resolved previously reported E2E blockers and environment-related issues.</a:t>
            </a:r>
          </a:p>
          <a:p>
            <a:pPr marL="171450" indent="-171450">
              <a:buFont typeface="Arial" panose="020B0604020202020204" pitchFamily="34" charset="0"/>
              <a:buChar char="•"/>
            </a:pPr>
            <a:r>
              <a:rPr lang="en-US" sz="850" kern="100">
                <a:solidFill>
                  <a:srgbClr val="000000"/>
                </a:solidFill>
                <a:latin typeface="Aptos" panose="020B0004020202020204" pitchFamily="34" charset="0"/>
                <a:cs typeface="Times New Roman"/>
              </a:rPr>
              <a:t>Restored testing environments and resumed end-to-end retesting activities.</a:t>
            </a:r>
          </a:p>
          <a:p>
            <a:pPr marL="171450" indent="-171450">
              <a:buFont typeface="Arial" panose="020B0604020202020204" pitchFamily="34" charset="0"/>
              <a:buChar char="•"/>
            </a:pPr>
            <a:r>
              <a:rPr lang="en-US" sz="850" kern="100">
                <a:solidFill>
                  <a:srgbClr val="000000"/>
                </a:solidFill>
                <a:latin typeface="Aptos" panose="020B0004020202020204" pitchFamily="34" charset="0"/>
                <a:cs typeface="Times New Roman"/>
              </a:rPr>
              <a:t>Continued cross-team collaboration to validate critical business flows and integrations.</a:t>
            </a:r>
          </a:p>
          <a:p>
            <a:pPr marL="171450" indent="-171450">
              <a:buFont typeface="Arial" panose="020B0604020202020204" pitchFamily="34" charset="0"/>
              <a:buChar char="•"/>
            </a:pPr>
            <a:r>
              <a:rPr lang="en-US" sz="850" kern="100">
                <a:solidFill>
                  <a:srgbClr val="000000"/>
                </a:solidFill>
                <a:latin typeface="Aptos" panose="020B0004020202020204" pitchFamily="34" charset="0"/>
                <a:cs typeface="Times New Roman"/>
              </a:rPr>
              <a:t>Advanced testing efforts toward overall release readiness.</a:t>
            </a:r>
          </a:p>
          <a:p>
            <a:pPr fontAlgn="t">
              <a:lnSpc>
                <a:spcPts val="1500"/>
              </a:lnSpc>
              <a:spcBef>
                <a:spcPts val="200"/>
              </a:spcBef>
              <a:buSzPts val="1000"/>
              <a:buNone/>
              <a:tabLst>
                <a:tab pos="457200" algn="l"/>
              </a:tabLst>
              <a:defRPr/>
            </a:pPr>
            <a:r>
              <a:rPr lang="en-US" sz="850" b="1" kern="100">
                <a:solidFill>
                  <a:srgbClr val="000000"/>
                </a:solidFill>
                <a:latin typeface="Aptos" panose="020B0004020202020204" pitchFamily="34" charset="0"/>
                <a:cs typeface="Times New Roman"/>
              </a:rPr>
              <a:t>Next Steps:</a:t>
            </a:r>
          </a:p>
          <a:p>
            <a:pPr marL="171450" indent="-171450">
              <a:buFont typeface="Arial" panose="020B0604020202020204" pitchFamily="34" charset="0"/>
              <a:buChar char="•"/>
            </a:pPr>
            <a:r>
              <a:rPr lang="en-US" sz="850" kern="100">
                <a:solidFill>
                  <a:srgbClr val="000000"/>
                </a:solidFill>
                <a:latin typeface="Aptos" panose="020B0004020202020204" pitchFamily="34" charset="0"/>
                <a:cs typeface="Times New Roman"/>
              </a:rPr>
              <a:t>Complete remaining E2E retesting and validation activities.</a:t>
            </a:r>
          </a:p>
          <a:p>
            <a:pPr marL="171450" indent="-171450">
              <a:buFont typeface="Arial" panose="020B0604020202020204" pitchFamily="34" charset="0"/>
              <a:buChar char="•"/>
            </a:pPr>
            <a:r>
              <a:rPr lang="en-US" sz="850" kern="100">
                <a:solidFill>
                  <a:srgbClr val="000000"/>
                </a:solidFill>
                <a:latin typeface="Aptos" panose="020B0004020202020204" pitchFamily="34" charset="0"/>
                <a:cs typeface="Times New Roman"/>
              </a:rPr>
              <a:t>Monitor and address any defects identified during retesting.</a:t>
            </a:r>
          </a:p>
          <a:p>
            <a:pPr marL="171450" indent="-171450">
              <a:buFont typeface="Arial" panose="020B0604020202020204" pitchFamily="34" charset="0"/>
              <a:buChar char="•"/>
            </a:pPr>
            <a:r>
              <a:rPr lang="en-US" sz="850" kern="100">
                <a:solidFill>
                  <a:srgbClr val="000000"/>
                </a:solidFill>
                <a:latin typeface="Aptos" panose="020B0004020202020204" pitchFamily="34" charset="0"/>
                <a:cs typeface="Times New Roman"/>
              </a:rPr>
              <a:t>Continue business validation and UAT support activities.</a:t>
            </a:r>
          </a:p>
          <a:p>
            <a:pPr marL="171450" indent="-171450">
              <a:buFont typeface="Arial" panose="020B0604020202020204" pitchFamily="34" charset="0"/>
              <a:buChar char="•"/>
            </a:pPr>
            <a:r>
              <a:rPr lang="en-US" sz="850" kern="100">
                <a:solidFill>
                  <a:srgbClr val="000000"/>
                </a:solidFill>
                <a:latin typeface="Aptos" panose="020B0004020202020204" pitchFamily="34" charset="0"/>
                <a:cs typeface="Times New Roman"/>
              </a:rPr>
              <a:t>Finalize release readiness assessments and deployment planning.</a:t>
            </a:r>
          </a:p>
          <a:p>
            <a:pPr marL="171450" indent="-171450">
              <a:buFont typeface="Arial" panose="020B0604020202020204" pitchFamily="34" charset="0"/>
              <a:buChar char="•"/>
            </a:pPr>
            <a:r>
              <a:rPr lang="en-US" sz="850" kern="100">
                <a:solidFill>
                  <a:srgbClr val="000000"/>
                </a:solidFill>
                <a:latin typeface="Aptos" panose="020B0004020202020204" pitchFamily="34" charset="0"/>
                <a:cs typeface="Times New Roman"/>
              </a:rPr>
              <a:t>Review schedule risks and ensure readiness criteria are met before confirming the next release date.</a:t>
            </a:r>
          </a:p>
          <a:p>
            <a:endParaRPr lang="en-US" sz="900" kern="100">
              <a:solidFill>
                <a:srgbClr val="000000"/>
              </a:solidFill>
              <a:latin typeface="Arial"/>
              <a:cs typeface="Times New Roman"/>
            </a:endParaRPr>
          </a:p>
        </p:txBody>
      </p:sp>
      <p:sp>
        <p:nvSpPr>
          <p:cNvPr id="3" name="TextBox 2">
            <a:extLst>
              <a:ext uri="{FF2B5EF4-FFF2-40B4-BE49-F238E27FC236}">
                <a16:creationId xmlns:a16="http://schemas.microsoft.com/office/drawing/2014/main" id="{12F01CC3-8F92-1A23-46A6-1A29B14CDD7C}"/>
              </a:ext>
            </a:extLst>
          </p:cNvPr>
          <p:cNvSpPr txBox="1"/>
          <p:nvPr/>
        </p:nvSpPr>
        <p:spPr>
          <a:xfrm>
            <a:off x="9515820" y="56135"/>
            <a:ext cx="2676180" cy="517320"/>
          </a:xfrm>
          <a:prstGeom prst="rect">
            <a:avLst/>
          </a:prstGeom>
          <a:noFill/>
        </p:spPr>
        <p:txBody>
          <a:bodyPr wrap="none" lIns="0" tIns="0" rIns="0" bIns="0" rtlCol="0" anchor="t">
            <a:noAutofit/>
          </a:bodyPr>
          <a:lstStyle>
            <a:defPPr>
              <a:defRPr lang="en-US"/>
            </a:defPPr>
            <a:lvl1pPr>
              <a:lnSpc>
                <a:spcPct val="112000"/>
              </a:lnSpc>
              <a:defRPr sz="1200">
                <a:solidFill>
                  <a:prstClr val="black"/>
                </a:solidFill>
                <a:latin typeface="Aptos" panose="02110004020202020204"/>
              </a:defRPr>
            </a:lvl1pPr>
          </a:lstStyle>
          <a:p>
            <a:r>
              <a:rPr lang="en-US"/>
              <a:t>Project Manager : Rekha Kothandaraman</a:t>
            </a:r>
          </a:p>
          <a:p>
            <a:r>
              <a:rPr lang="en-US" err="1"/>
              <a:t>OpEx</a:t>
            </a:r>
            <a:r>
              <a:rPr lang="en-US"/>
              <a:t> Business Lead: Nidia Gudino</a:t>
            </a:r>
          </a:p>
        </p:txBody>
      </p:sp>
      <p:graphicFrame>
        <p:nvGraphicFramePr>
          <p:cNvPr id="11" name="Group 513">
            <a:extLst>
              <a:ext uri="{FF2B5EF4-FFF2-40B4-BE49-F238E27FC236}">
                <a16:creationId xmlns:a16="http://schemas.microsoft.com/office/drawing/2014/main" id="{05C32E88-CCBE-B044-767A-2F65F050CBDB}"/>
              </a:ext>
            </a:extLst>
          </p:cNvPr>
          <p:cNvGraphicFramePr>
            <a:graphicFrameLocks/>
          </p:cNvGraphicFramePr>
          <p:nvPr>
            <p:extLst>
              <p:ext uri="{D42A27DB-BD31-4B8C-83A1-F6EECF244321}">
                <p14:modId xmlns:p14="http://schemas.microsoft.com/office/powerpoint/2010/main" val="1596301591"/>
              </p:ext>
            </p:extLst>
          </p:nvPr>
        </p:nvGraphicFramePr>
        <p:xfrm>
          <a:off x="247649" y="927650"/>
          <a:ext cx="2625023" cy="344301"/>
        </p:xfrm>
        <a:graphic>
          <a:graphicData uri="http://schemas.openxmlformats.org/drawingml/2006/table">
            <a:tbl>
              <a:tblPr/>
              <a:tblGrid>
                <a:gridCol w="1017729">
                  <a:extLst>
                    <a:ext uri="{9D8B030D-6E8A-4147-A177-3AD203B41FA5}">
                      <a16:colId xmlns:a16="http://schemas.microsoft.com/office/drawing/2014/main" val="20000"/>
                    </a:ext>
                  </a:extLst>
                </a:gridCol>
                <a:gridCol w="1607294">
                  <a:extLst>
                    <a:ext uri="{9D8B030D-6E8A-4147-A177-3AD203B41FA5}">
                      <a16:colId xmlns:a16="http://schemas.microsoft.com/office/drawing/2014/main" val="20001"/>
                    </a:ext>
                  </a:extLst>
                </a:gridCol>
              </a:tblGrid>
              <a:tr h="344301">
                <a:tc>
                  <a:txBody>
                    <a:bodyPr/>
                    <a:lstStyle/>
                    <a:p>
                      <a:pPr marL="0" marR="0" lvl="0" indent="0" algn="l" defTabSz="914400" rtl="0" eaLnBrk="0" fontAlgn="base" latinLnBrk="0" hangingPunct="0">
                        <a:lnSpc>
                          <a:spcPct val="95000"/>
                        </a:lnSpc>
                        <a:spcBef>
                          <a:spcPct val="0"/>
                        </a:spcBef>
                        <a:spcAft>
                          <a:spcPct val="50000"/>
                        </a:spcAft>
                        <a:buClrTx/>
                        <a:buSzTx/>
                        <a:buFontTx/>
                        <a:buNone/>
                        <a:tabLst/>
                      </a:pPr>
                      <a:r>
                        <a:rPr kumimoji="0" lang="en-GB" sz="1050" b="1" i="0" u="none" strike="noStrike" kern="1200" cap="none" normalizeH="0" baseline="0">
                          <a:ln>
                            <a:noFill/>
                          </a:ln>
                          <a:solidFill>
                            <a:schemeClr val="bg1"/>
                          </a:solidFill>
                          <a:effectLst/>
                          <a:latin typeface="Arial"/>
                          <a:ea typeface="+mn-ea"/>
                          <a:cs typeface="+mn-cs"/>
                        </a:rPr>
                        <a:t>Status Date:</a:t>
                      </a:r>
                    </a:p>
                  </a:txBody>
                  <a:tcPr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GB" sz="850" b="1" i="0" u="none" strike="noStrike" kern="1200" cap="none" normalizeH="0" baseline="0">
                          <a:ln>
                            <a:noFill/>
                          </a:ln>
                          <a:solidFill>
                            <a:schemeClr val="tx1"/>
                          </a:solidFill>
                          <a:effectLst/>
                          <a:latin typeface="+mn-lt"/>
                          <a:ea typeface="+mn-ea"/>
                          <a:cs typeface="+mn-cs"/>
                        </a:rPr>
                        <a:t>8/28/2026</a:t>
                      </a:r>
                    </a:p>
                  </a:txBody>
                  <a:tcPr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14" name="Table 13">
            <a:extLst>
              <a:ext uri="{FF2B5EF4-FFF2-40B4-BE49-F238E27FC236}">
                <a16:creationId xmlns:a16="http://schemas.microsoft.com/office/drawing/2014/main" id="{67039604-CAFB-9C58-F0B7-F5FBDDBE4895}"/>
              </a:ext>
            </a:extLst>
          </p:cNvPr>
          <p:cNvGraphicFramePr>
            <a:graphicFrameLocks noGrp="1"/>
          </p:cNvGraphicFramePr>
          <p:nvPr>
            <p:extLst>
              <p:ext uri="{D42A27DB-BD31-4B8C-83A1-F6EECF244321}">
                <p14:modId xmlns:p14="http://schemas.microsoft.com/office/powerpoint/2010/main" val="3831163660"/>
              </p:ext>
            </p:extLst>
          </p:nvPr>
        </p:nvGraphicFramePr>
        <p:xfrm>
          <a:off x="6701948" y="920667"/>
          <a:ext cx="5352360" cy="746972"/>
        </p:xfrm>
        <a:graphic>
          <a:graphicData uri="http://schemas.openxmlformats.org/drawingml/2006/table">
            <a:tbl>
              <a:tblPr>
                <a:tableStyleId>{5C22544A-7EE6-4342-B048-85BDC9FD1C3A}</a:tableStyleId>
              </a:tblPr>
              <a:tblGrid>
                <a:gridCol w="1045337">
                  <a:extLst>
                    <a:ext uri="{9D8B030D-6E8A-4147-A177-3AD203B41FA5}">
                      <a16:colId xmlns:a16="http://schemas.microsoft.com/office/drawing/2014/main" val="2456552316"/>
                    </a:ext>
                  </a:extLst>
                </a:gridCol>
                <a:gridCol w="926511">
                  <a:extLst>
                    <a:ext uri="{9D8B030D-6E8A-4147-A177-3AD203B41FA5}">
                      <a16:colId xmlns:a16="http://schemas.microsoft.com/office/drawing/2014/main" val="2327174630"/>
                    </a:ext>
                  </a:extLst>
                </a:gridCol>
                <a:gridCol w="1514970">
                  <a:extLst>
                    <a:ext uri="{9D8B030D-6E8A-4147-A177-3AD203B41FA5}">
                      <a16:colId xmlns:a16="http://schemas.microsoft.com/office/drawing/2014/main" val="1100051595"/>
                    </a:ext>
                  </a:extLst>
                </a:gridCol>
                <a:gridCol w="913991">
                  <a:extLst>
                    <a:ext uri="{9D8B030D-6E8A-4147-A177-3AD203B41FA5}">
                      <a16:colId xmlns:a16="http://schemas.microsoft.com/office/drawing/2014/main" val="2042261034"/>
                    </a:ext>
                  </a:extLst>
                </a:gridCol>
                <a:gridCol w="951551">
                  <a:extLst>
                    <a:ext uri="{9D8B030D-6E8A-4147-A177-3AD203B41FA5}">
                      <a16:colId xmlns:a16="http://schemas.microsoft.com/office/drawing/2014/main" val="2815874248"/>
                    </a:ext>
                  </a:extLst>
                </a:gridCol>
              </a:tblGrid>
              <a:tr h="409821">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2026 Budget</a:t>
                      </a:r>
                      <a:r>
                        <a:rPr lang="en-US" sz="1050" b="1" i="0" u="none" strike="noStrike" kern="1200" cap="none" normalizeH="0" baseline="0">
                          <a:ln>
                            <a:noFill/>
                          </a:ln>
                          <a:solidFill>
                            <a:schemeClr val="bg1"/>
                          </a:solidFill>
                          <a:effectLst/>
                          <a:latin typeface="Arial"/>
                          <a:ea typeface="+mn-ea"/>
                          <a:cs typeface="+mn-cs"/>
                        </a:rPr>
                        <a:t> </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YTD Actuals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Remaining 2026 Forecast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Current YE Forecast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Total Budget</a:t>
                      </a:r>
                      <a:r>
                        <a:rPr lang="en-US" sz="1050" b="1" i="0" u="none" strike="noStrike" kern="1200" cap="none" normalizeH="0" baseline="0">
                          <a:ln>
                            <a:noFill/>
                          </a:ln>
                          <a:solidFill>
                            <a:schemeClr val="bg1"/>
                          </a:solidFill>
                          <a:effectLst/>
                          <a:latin typeface="Arial"/>
                          <a:ea typeface="+mn-ea"/>
                          <a:cs typeface="+mn-cs"/>
                        </a:rPr>
                        <a:t> </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337151">
                <a:tc>
                  <a:txBody>
                    <a:bodyPr/>
                    <a:lstStyle/>
                    <a:p>
                      <a:pPr marL="0" marR="0" lvl="0" indent="0" algn="ctr" rtl="0" eaLnBrk="1" fontAlgn="ctr" latinLnBrk="0" hangingPunct="1">
                        <a:lnSpc>
                          <a:spcPct val="95000"/>
                        </a:lnSpc>
                        <a:spcBef>
                          <a:spcPct val="0"/>
                        </a:spcBef>
                        <a:spcAft>
                          <a:spcPct val="50000"/>
                        </a:spcAft>
                        <a:buClrTx/>
                        <a:buSzTx/>
                        <a:buFontTx/>
                        <a:buNone/>
                      </a:pPr>
                      <a:r>
                        <a:rPr kumimoji="0" lang="en-US" sz="850" b="1" i="0" u="none" strike="noStrike" kern="1200" cap="none" normalizeH="0" baseline="0">
                          <a:ln>
                            <a:noFill/>
                          </a:ln>
                          <a:solidFill>
                            <a:schemeClr val="tx1"/>
                          </a:solidFill>
                          <a:effectLst/>
                          <a:latin typeface="+mn-lt"/>
                          <a:ea typeface="+mn-ea"/>
                          <a:cs typeface="+mn-cs"/>
                        </a:rPr>
                        <a:t>$356,440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r>
                        <a:rPr kumimoji="0" lang="en-US" sz="850" b="1" i="0" u="none" strike="noStrike" kern="1200" cap="none" normalizeH="0" baseline="0">
                          <a:ln>
                            <a:noFill/>
                          </a:ln>
                          <a:solidFill>
                            <a:schemeClr val="tx1"/>
                          </a:solidFill>
                          <a:effectLst/>
                          <a:latin typeface="+mn-lt"/>
                          <a:ea typeface="+mn-ea"/>
                          <a:cs typeface="+mn-cs"/>
                        </a:rPr>
                        <a:t>$233,740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defRPr/>
                      </a:pPr>
                      <a:r>
                        <a:rPr kumimoji="0" lang="en-US" sz="850" b="1" i="0" u="none" strike="noStrike" kern="1200" cap="none" normalizeH="0" baseline="0">
                          <a:ln>
                            <a:noFill/>
                          </a:ln>
                          <a:solidFill>
                            <a:schemeClr val="tx1"/>
                          </a:solidFill>
                          <a:effectLst/>
                          <a:latin typeface="+mn-lt"/>
                          <a:ea typeface="+mn-ea"/>
                          <a:cs typeface="+mn-cs"/>
                        </a:rPr>
                        <a:t>$122,700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850" b="1" i="0" u="none" strike="noStrike" kern="1200" cap="none" normalizeH="0" baseline="0">
                          <a:ln>
                            <a:noFill/>
                          </a:ln>
                          <a:solidFill>
                            <a:schemeClr val="tx1"/>
                          </a:solidFill>
                          <a:effectLst/>
                          <a:latin typeface="+mn-lt"/>
                          <a:ea typeface="+mn-ea"/>
                          <a:cs typeface="+mn-cs"/>
                        </a:rPr>
                        <a:t>$356,440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850" b="1" i="0" u="none" strike="noStrike" kern="1200" cap="none" normalizeH="0" baseline="0">
                          <a:ln>
                            <a:noFill/>
                          </a:ln>
                          <a:solidFill>
                            <a:schemeClr val="tx1"/>
                          </a:solidFill>
                          <a:effectLst/>
                          <a:latin typeface="+mn-lt"/>
                          <a:ea typeface="+mn-ea"/>
                          <a:cs typeface="+mn-cs"/>
                        </a:rPr>
                        <a:t>$356,440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7499024"/>
                  </a:ext>
                </a:extLst>
              </a:tr>
            </a:tbl>
          </a:graphicData>
        </a:graphic>
      </p:graphicFrame>
      <p:graphicFrame>
        <p:nvGraphicFramePr>
          <p:cNvPr id="25" name="Table 24">
            <a:extLst>
              <a:ext uri="{FF2B5EF4-FFF2-40B4-BE49-F238E27FC236}">
                <a16:creationId xmlns:a16="http://schemas.microsoft.com/office/drawing/2014/main" id="{C1F7138E-F5AC-6909-C1EB-40B0D65ABEEC}"/>
              </a:ext>
            </a:extLst>
          </p:cNvPr>
          <p:cNvGraphicFramePr>
            <a:graphicFrameLocks noGrp="1" noDrilldown="1" noMove="1" noResize="1"/>
          </p:cNvGraphicFramePr>
          <p:nvPr/>
        </p:nvGraphicFramePr>
        <p:xfrm>
          <a:off x="2872673" y="920667"/>
          <a:ext cx="3829275" cy="749848"/>
        </p:xfrm>
        <a:graphic>
          <a:graphicData uri="http://schemas.openxmlformats.org/drawingml/2006/table">
            <a:tbl>
              <a:tblPr>
                <a:tableStyleId>{5C22544A-7EE6-4342-B048-85BDC9FD1C3A}</a:tableStyleId>
              </a:tblPr>
              <a:tblGrid>
                <a:gridCol w="1042158">
                  <a:extLst>
                    <a:ext uri="{9D8B030D-6E8A-4147-A177-3AD203B41FA5}">
                      <a16:colId xmlns:a16="http://schemas.microsoft.com/office/drawing/2014/main" val="2456552316"/>
                    </a:ext>
                  </a:extLst>
                </a:gridCol>
                <a:gridCol w="961214">
                  <a:extLst>
                    <a:ext uri="{9D8B030D-6E8A-4147-A177-3AD203B41FA5}">
                      <a16:colId xmlns:a16="http://schemas.microsoft.com/office/drawing/2014/main" val="1100051595"/>
                    </a:ext>
                  </a:extLst>
                </a:gridCol>
                <a:gridCol w="920742">
                  <a:extLst>
                    <a:ext uri="{9D8B030D-6E8A-4147-A177-3AD203B41FA5}">
                      <a16:colId xmlns:a16="http://schemas.microsoft.com/office/drawing/2014/main" val="2042261034"/>
                    </a:ext>
                  </a:extLst>
                </a:gridCol>
                <a:gridCol w="905161">
                  <a:extLst>
                    <a:ext uri="{9D8B030D-6E8A-4147-A177-3AD203B41FA5}">
                      <a16:colId xmlns:a16="http://schemas.microsoft.com/office/drawing/2014/main" val="2815874248"/>
                    </a:ext>
                  </a:extLst>
                </a:gridCol>
              </a:tblGrid>
              <a:tr h="409508">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Overall</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Scope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Schedule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Financials</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340340">
                <a:tc>
                  <a:txBody>
                    <a:bodyPr/>
                    <a:lstStyle/>
                    <a:p>
                      <a:pPr marL="0" marR="0" lvl="0" indent="0" algn="ctr" rtl="0" eaLnBrk="1" fontAlgn="ctr" latinLnBrk="0" hangingPunct="1">
                        <a:lnSpc>
                          <a:spcPct val="95000"/>
                        </a:lnSpc>
                        <a:spcBef>
                          <a:spcPct val="0"/>
                        </a:spcBef>
                        <a:spcAft>
                          <a:spcPct val="50000"/>
                        </a:spcAft>
                        <a:buClrTx/>
                        <a:buSzTx/>
                        <a:buFontTx/>
                        <a:buNone/>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rtl="0" eaLnBrk="1" fontAlgn="ctr" latinLnBrk="0" hangingPunct="1">
                        <a:lnSpc>
                          <a:spcPct val="95000"/>
                        </a:lnSpc>
                        <a:spcBef>
                          <a:spcPct val="0"/>
                        </a:spcBef>
                        <a:spcAft>
                          <a:spcPct val="50000"/>
                        </a:spcAft>
                        <a:buClrTx/>
                        <a:buSzTx/>
                        <a:buFontTx/>
                        <a:buNone/>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7499024"/>
                  </a:ext>
                </a:extLst>
              </a:tr>
            </a:tbl>
          </a:graphicData>
        </a:graphic>
      </p:graphicFrame>
      <p:graphicFrame>
        <p:nvGraphicFramePr>
          <p:cNvPr id="26" name="Group 513">
            <a:extLst>
              <a:ext uri="{FF2B5EF4-FFF2-40B4-BE49-F238E27FC236}">
                <a16:creationId xmlns:a16="http://schemas.microsoft.com/office/drawing/2014/main" id="{E51FEE23-0C7F-4105-1A6D-3EC466F78A3B}"/>
              </a:ext>
            </a:extLst>
          </p:cNvPr>
          <p:cNvGraphicFramePr>
            <a:graphicFrameLocks/>
          </p:cNvGraphicFramePr>
          <p:nvPr>
            <p:extLst>
              <p:ext uri="{D42A27DB-BD31-4B8C-83A1-F6EECF244321}">
                <p14:modId xmlns:p14="http://schemas.microsoft.com/office/powerpoint/2010/main" val="3889153482"/>
              </p:ext>
            </p:extLst>
          </p:nvPr>
        </p:nvGraphicFramePr>
        <p:xfrm>
          <a:off x="247650" y="1271951"/>
          <a:ext cx="2622522" cy="395688"/>
        </p:xfrm>
        <a:graphic>
          <a:graphicData uri="http://schemas.openxmlformats.org/drawingml/2006/table">
            <a:tbl>
              <a:tblPr/>
              <a:tblGrid>
                <a:gridCol w="1004817">
                  <a:extLst>
                    <a:ext uri="{9D8B030D-6E8A-4147-A177-3AD203B41FA5}">
                      <a16:colId xmlns:a16="http://schemas.microsoft.com/office/drawing/2014/main" val="20000"/>
                    </a:ext>
                  </a:extLst>
                </a:gridCol>
                <a:gridCol w="1617705">
                  <a:extLst>
                    <a:ext uri="{9D8B030D-6E8A-4147-A177-3AD203B41FA5}">
                      <a16:colId xmlns:a16="http://schemas.microsoft.com/office/drawing/2014/main" val="20001"/>
                    </a:ext>
                  </a:extLst>
                </a:gridCol>
              </a:tblGrid>
              <a:tr h="394924">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GB" sz="1050" b="1" i="0" u="none" strike="noStrike" kern="1200" cap="none" normalizeH="0" baseline="0">
                          <a:ln>
                            <a:noFill/>
                          </a:ln>
                          <a:solidFill>
                            <a:schemeClr val="bg1"/>
                          </a:solidFill>
                          <a:effectLst/>
                          <a:latin typeface="Arial"/>
                          <a:ea typeface="+mn-ea"/>
                          <a:cs typeface="+mn-cs"/>
                        </a:rPr>
                        <a:t>Target Delivery:</a:t>
                      </a:r>
                    </a:p>
                  </a:txBody>
                  <a:tcPr marL="0" marR="0"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850" b="1" i="0" u="none" strike="sngStrike" kern="1200" cap="none" normalizeH="0" baseline="0">
                          <a:ln>
                            <a:noFill/>
                          </a:ln>
                          <a:solidFill>
                            <a:schemeClr val="tx1"/>
                          </a:solidFill>
                          <a:effectLst/>
                          <a:latin typeface="+mn-lt"/>
                          <a:ea typeface="+mn-ea"/>
                          <a:cs typeface="+mn-cs"/>
                        </a:rPr>
                        <a:t>Aug 12th – Aug 19th</a:t>
                      </a:r>
                      <a:r>
                        <a:rPr kumimoji="0" lang="en-US" sz="850" b="1" i="0" u="none" strike="noStrike" kern="1200" cap="none" normalizeH="0" baseline="0">
                          <a:ln>
                            <a:noFill/>
                          </a:ln>
                          <a:solidFill>
                            <a:schemeClr val="tx1"/>
                          </a:solidFill>
                          <a:effectLst/>
                          <a:latin typeface="+mn-lt"/>
                          <a:ea typeface="+mn-ea"/>
                          <a:cs typeface="+mn-cs"/>
                        </a:rPr>
                        <a:t> – </a:t>
                      </a:r>
                      <a:r>
                        <a:rPr kumimoji="0" lang="en-US" sz="850" b="1" i="0" u="none" strike="sngStrike" kern="1200" cap="none" normalizeH="0" baseline="0">
                          <a:ln>
                            <a:noFill/>
                          </a:ln>
                          <a:solidFill>
                            <a:schemeClr val="tx1"/>
                          </a:solidFill>
                          <a:effectLst/>
                          <a:latin typeface="+mn-lt"/>
                          <a:ea typeface="+mn-ea"/>
                          <a:cs typeface="+mn-cs"/>
                        </a:rPr>
                        <a:t>Aug 26</a:t>
                      </a:r>
                      <a:r>
                        <a:rPr kumimoji="0" lang="en-US" sz="850" b="1" i="0" u="none" strike="sngStrike" kern="1200" cap="none" normalizeH="0" baseline="30000">
                          <a:ln>
                            <a:noFill/>
                          </a:ln>
                          <a:solidFill>
                            <a:schemeClr val="tx1"/>
                          </a:solidFill>
                          <a:effectLst/>
                          <a:latin typeface="+mn-lt"/>
                          <a:ea typeface="+mn-ea"/>
                          <a:cs typeface="+mn-cs"/>
                        </a:rPr>
                        <a:t>th</a:t>
                      </a:r>
                      <a:r>
                        <a:rPr kumimoji="0" lang="en-US" sz="850" b="1" i="0" u="none" strike="sngStrike" kern="1200" cap="none" normalizeH="0" baseline="0">
                          <a:ln>
                            <a:noFill/>
                          </a:ln>
                          <a:solidFill>
                            <a:schemeClr val="tx1"/>
                          </a:solidFill>
                          <a:effectLst/>
                          <a:latin typeface="+mn-lt"/>
                          <a:ea typeface="+mn-ea"/>
                          <a:cs typeface="+mn-cs"/>
                        </a:rPr>
                        <a:t> </a:t>
                      </a:r>
                      <a:r>
                        <a:rPr kumimoji="0" lang="en-US" sz="850" b="1" i="0" u="none" strike="noStrike" kern="1200" cap="none" normalizeH="0" baseline="0">
                          <a:ln>
                            <a:noFill/>
                          </a:ln>
                          <a:solidFill>
                            <a:schemeClr val="tx1"/>
                          </a:solidFill>
                          <a:effectLst/>
                          <a:latin typeface="+mn-lt"/>
                          <a:ea typeface="+mn-ea"/>
                          <a:cs typeface="+mn-cs"/>
                        </a:rPr>
                        <a:t>TBD</a:t>
                      </a:r>
                    </a:p>
                  </a:txBody>
                  <a:tcPr marL="0" marR="0"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43" name="Flowchart: Connector 42">
            <a:extLst>
              <a:ext uri="{FF2B5EF4-FFF2-40B4-BE49-F238E27FC236}">
                <a16:creationId xmlns:a16="http://schemas.microsoft.com/office/drawing/2014/main" id="{51A652BC-17DE-6394-DB9F-503C38CBAF7F}"/>
              </a:ext>
            </a:extLst>
          </p:cNvPr>
          <p:cNvSpPr/>
          <p:nvPr/>
        </p:nvSpPr>
        <p:spPr>
          <a:xfrm>
            <a:off x="3303638" y="1403331"/>
            <a:ext cx="163285" cy="164592"/>
          </a:xfrm>
          <a:prstGeom prst="flowChartConnector">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6" name="Flowchart: Connector 45">
            <a:extLst>
              <a:ext uri="{FF2B5EF4-FFF2-40B4-BE49-F238E27FC236}">
                <a16:creationId xmlns:a16="http://schemas.microsoft.com/office/drawing/2014/main" id="{D863E56B-A2A8-F1F8-F03B-25EB4CCF3AB7}"/>
              </a:ext>
            </a:extLst>
          </p:cNvPr>
          <p:cNvSpPr/>
          <p:nvPr/>
        </p:nvSpPr>
        <p:spPr>
          <a:xfrm>
            <a:off x="5143033" y="1403331"/>
            <a:ext cx="163285" cy="164592"/>
          </a:xfrm>
          <a:prstGeom prst="flowChartConnector">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7" name="Flowchart: Connector 46">
            <a:extLst>
              <a:ext uri="{FF2B5EF4-FFF2-40B4-BE49-F238E27FC236}">
                <a16:creationId xmlns:a16="http://schemas.microsoft.com/office/drawing/2014/main" id="{5C650BE7-C202-3CD4-452D-101D29FED8D1}"/>
              </a:ext>
            </a:extLst>
          </p:cNvPr>
          <p:cNvSpPr/>
          <p:nvPr/>
        </p:nvSpPr>
        <p:spPr>
          <a:xfrm>
            <a:off x="6078524" y="1403331"/>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6" name="Flowchart: Connector 5">
            <a:extLst>
              <a:ext uri="{FF2B5EF4-FFF2-40B4-BE49-F238E27FC236}">
                <a16:creationId xmlns:a16="http://schemas.microsoft.com/office/drawing/2014/main" id="{05BDBAFC-9521-DB4F-4BCA-291F8B06BEE8}"/>
              </a:ext>
            </a:extLst>
          </p:cNvPr>
          <p:cNvSpPr/>
          <p:nvPr/>
        </p:nvSpPr>
        <p:spPr>
          <a:xfrm>
            <a:off x="4250024" y="1406342"/>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 name="Flowchart: Connector 3">
            <a:extLst>
              <a:ext uri="{FF2B5EF4-FFF2-40B4-BE49-F238E27FC236}">
                <a16:creationId xmlns:a16="http://schemas.microsoft.com/office/drawing/2014/main" id="{9E39E79F-2C45-47D3-8796-133EF513CAD0}"/>
              </a:ext>
            </a:extLst>
          </p:cNvPr>
          <p:cNvSpPr/>
          <p:nvPr/>
        </p:nvSpPr>
        <p:spPr>
          <a:xfrm>
            <a:off x="7601298" y="4202671"/>
            <a:ext cx="163285" cy="164592"/>
          </a:xfrm>
          <a:prstGeom prst="flowChartConnector">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8" name="Flowchart: Connector 7">
            <a:extLst>
              <a:ext uri="{FF2B5EF4-FFF2-40B4-BE49-F238E27FC236}">
                <a16:creationId xmlns:a16="http://schemas.microsoft.com/office/drawing/2014/main" id="{7163584F-89B1-C039-6DAF-549273F0B72D}"/>
              </a:ext>
            </a:extLst>
          </p:cNvPr>
          <p:cNvSpPr/>
          <p:nvPr/>
        </p:nvSpPr>
        <p:spPr>
          <a:xfrm>
            <a:off x="7601298" y="4449630"/>
            <a:ext cx="163285" cy="164592"/>
          </a:xfrm>
          <a:prstGeom prst="flowChartConnector">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3" name="Flowchart: Connector 12">
            <a:extLst>
              <a:ext uri="{FF2B5EF4-FFF2-40B4-BE49-F238E27FC236}">
                <a16:creationId xmlns:a16="http://schemas.microsoft.com/office/drawing/2014/main" id="{9F47D5B1-7832-D57F-BE23-6AA12305FCCC}"/>
              </a:ext>
            </a:extLst>
          </p:cNvPr>
          <p:cNvSpPr/>
          <p:nvPr/>
        </p:nvSpPr>
        <p:spPr>
          <a:xfrm>
            <a:off x="6620305" y="6523893"/>
            <a:ext cx="163286" cy="164592"/>
          </a:xfrm>
          <a:prstGeom prst="flowChartConnector">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 name="Flowchart: Connector 11">
            <a:extLst>
              <a:ext uri="{FF2B5EF4-FFF2-40B4-BE49-F238E27FC236}">
                <a16:creationId xmlns:a16="http://schemas.microsoft.com/office/drawing/2014/main" id="{091B87F4-3295-574B-DBB3-7CE804FD63F3}"/>
              </a:ext>
            </a:extLst>
          </p:cNvPr>
          <p:cNvSpPr/>
          <p:nvPr/>
        </p:nvSpPr>
        <p:spPr>
          <a:xfrm>
            <a:off x="7709224" y="6137892"/>
            <a:ext cx="163286" cy="164592"/>
          </a:xfrm>
          <a:prstGeom prst="flowChartConnector">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15449917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1AFF82-0EF9-6143-C97F-EEAD1BBAADCC}"/>
            </a:ext>
          </a:extLst>
        </p:cNvPr>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30F5468D-CCD2-7D54-C51C-9DC727BCE987}"/>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8" imgH="408" progId="TCLayout.ActiveDocument.1">
                  <p:embed/>
                </p:oleObj>
              </mc:Choice>
              <mc:Fallback>
                <p:oleObj name="think-cell Slide" r:id="rId4" imgW="408" imgH="408" progId="TCLayout.ActiveDocument.1">
                  <p:embed/>
                  <p:pic>
                    <p:nvPicPr>
                      <p:cNvPr id="9" name="think-cell data - do not delete" hidden="1">
                        <a:extLst>
                          <a:ext uri="{FF2B5EF4-FFF2-40B4-BE49-F238E27FC236}">
                            <a16:creationId xmlns:a16="http://schemas.microsoft.com/office/drawing/2014/main" id="{30F5468D-CCD2-7D54-C51C-9DC727BCE98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graphicFrame>
        <p:nvGraphicFramePr>
          <p:cNvPr id="32" name="Group 614">
            <a:extLst>
              <a:ext uri="{FF2B5EF4-FFF2-40B4-BE49-F238E27FC236}">
                <a16:creationId xmlns:a16="http://schemas.microsoft.com/office/drawing/2014/main" id="{120FFE11-E5E1-74A8-30B4-1B9DCE592CE8}"/>
              </a:ext>
            </a:extLst>
          </p:cNvPr>
          <p:cNvGraphicFramePr>
            <a:graphicFrameLocks noGrp="1"/>
          </p:cNvGraphicFramePr>
          <p:nvPr>
            <p:extLst>
              <p:ext uri="{D42A27DB-BD31-4B8C-83A1-F6EECF244321}">
                <p14:modId xmlns:p14="http://schemas.microsoft.com/office/powerpoint/2010/main" val="1556704267"/>
              </p:ext>
            </p:extLst>
          </p:nvPr>
        </p:nvGraphicFramePr>
        <p:xfrm>
          <a:off x="4980036" y="5958454"/>
          <a:ext cx="7136859" cy="386554"/>
        </p:xfrm>
        <a:graphic>
          <a:graphicData uri="http://schemas.openxmlformats.org/drawingml/2006/table">
            <a:tbl>
              <a:tblPr/>
              <a:tblGrid>
                <a:gridCol w="606425">
                  <a:extLst>
                    <a:ext uri="{9D8B030D-6E8A-4147-A177-3AD203B41FA5}">
                      <a16:colId xmlns:a16="http://schemas.microsoft.com/office/drawing/2014/main" val="20000"/>
                    </a:ext>
                  </a:extLst>
                </a:gridCol>
                <a:gridCol w="307361">
                  <a:extLst>
                    <a:ext uri="{9D8B030D-6E8A-4147-A177-3AD203B41FA5}">
                      <a16:colId xmlns:a16="http://schemas.microsoft.com/office/drawing/2014/main" val="20001"/>
                    </a:ext>
                  </a:extLst>
                </a:gridCol>
                <a:gridCol w="757584">
                  <a:extLst>
                    <a:ext uri="{9D8B030D-6E8A-4147-A177-3AD203B41FA5}">
                      <a16:colId xmlns:a16="http://schemas.microsoft.com/office/drawing/2014/main" val="20002"/>
                    </a:ext>
                  </a:extLst>
                </a:gridCol>
                <a:gridCol w="302812">
                  <a:extLst>
                    <a:ext uri="{9D8B030D-6E8A-4147-A177-3AD203B41FA5}">
                      <a16:colId xmlns:a16="http://schemas.microsoft.com/office/drawing/2014/main" val="20003"/>
                    </a:ext>
                  </a:extLst>
                </a:gridCol>
                <a:gridCol w="665317">
                  <a:extLst>
                    <a:ext uri="{9D8B030D-6E8A-4147-A177-3AD203B41FA5}">
                      <a16:colId xmlns:a16="http://schemas.microsoft.com/office/drawing/2014/main" val="20004"/>
                    </a:ext>
                  </a:extLst>
                </a:gridCol>
                <a:gridCol w="518025">
                  <a:extLst>
                    <a:ext uri="{9D8B030D-6E8A-4147-A177-3AD203B41FA5}">
                      <a16:colId xmlns:a16="http://schemas.microsoft.com/office/drawing/2014/main" val="20005"/>
                    </a:ext>
                  </a:extLst>
                </a:gridCol>
                <a:gridCol w="568469">
                  <a:extLst>
                    <a:ext uri="{9D8B030D-6E8A-4147-A177-3AD203B41FA5}">
                      <a16:colId xmlns:a16="http://schemas.microsoft.com/office/drawing/2014/main" val="20006"/>
                    </a:ext>
                  </a:extLst>
                </a:gridCol>
                <a:gridCol w="368983">
                  <a:extLst>
                    <a:ext uri="{9D8B030D-6E8A-4147-A177-3AD203B41FA5}">
                      <a16:colId xmlns:a16="http://schemas.microsoft.com/office/drawing/2014/main" val="20007"/>
                    </a:ext>
                  </a:extLst>
                </a:gridCol>
                <a:gridCol w="1372005">
                  <a:extLst>
                    <a:ext uri="{9D8B030D-6E8A-4147-A177-3AD203B41FA5}">
                      <a16:colId xmlns:a16="http://schemas.microsoft.com/office/drawing/2014/main" val="20008"/>
                    </a:ext>
                  </a:extLst>
                </a:gridCol>
                <a:gridCol w="378212">
                  <a:extLst>
                    <a:ext uri="{9D8B030D-6E8A-4147-A177-3AD203B41FA5}">
                      <a16:colId xmlns:a16="http://schemas.microsoft.com/office/drawing/2014/main" val="20009"/>
                    </a:ext>
                  </a:extLst>
                </a:gridCol>
                <a:gridCol w="1291666">
                  <a:extLst>
                    <a:ext uri="{9D8B030D-6E8A-4147-A177-3AD203B41FA5}">
                      <a16:colId xmlns:a16="http://schemas.microsoft.com/office/drawing/2014/main" val="20010"/>
                    </a:ext>
                  </a:extLst>
                </a:gridCol>
              </a:tblGrid>
              <a:tr h="386554">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Arial" charset="0"/>
                          <a:cs typeface="Arial" charset="0"/>
                        </a:rPr>
                        <a:t>Status Key</a:t>
                      </a:r>
                      <a:endParaRPr kumimoji="0" lang="en-GB" sz="1600" b="0" i="0" u="none" strike="noStrike" cap="none" normalizeH="0" baseline="0">
                        <a:ln>
                          <a:noFill/>
                        </a:ln>
                        <a:solidFill>
                          <a:srgbClr val="002060"/>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mj-lt"/>
                        </a:rPr>
                        <a:t>C</a:t>
                      </a: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Arial" charset="0"/>
                          <a:cs typeface="Arial" charset="0"/>
                        </a:rPr>
                        <a:t>Completed</a:t>
                      </a:r>
                      <a:endParaRPr kumimoji="0" lang="en-GB" sz="1600" b="0" i="0" u="none" strike="noStrike" cap="none" normalizeH="0" baseline="0">
                        <a:ln>
                          <a:noFill/>
                        </a:ln>
                        <a:solidFill>
                          <a:srgbClr val="002060"/>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On-Schedule</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Major Issues</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Some Issues</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NS</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Not Started</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2" name="Title 1">
            <a:extLst>
              <a:ext uri="{FF2B5EF4-FFF2-40B4-BE49-F238E27FC236}">
                <a16:creationId xmlns:a16="http://schemas.microsoft.com/office/drawing/2014/main" id="{1ABE5BD6-4C14-C93E-586B-6DB89C2FDFE9}"/>
              </a:ext>
            </a:extLst>
          </p:cNvPr>
          <p:cNvSpPr>
            <a:spLocks noGrp="1"/>
          </p:cNvSpPr>
          <p:nvPr>
            <p:ph type="title"/>
          </p:nvPr>
        </p:nvSpPr>
        <p:spPr>
          <a:xfrm>
            <a:off x="389283" y="165725"/>
            <a:ext cx="5692615" cy="517320"/>
          </a:xfrm>
        </p:spPr>
        <p:txBody>
          <a:bodyPr vert="horz">
            <a:noAutofit/>
          </a:bodyPr>
          <a:lstStyle/>
          <a:p>
            <a:r>
              <a:rPr lang="fr-FR">
                <a:solidFill>
                  <a:srgbClr val="29389F"/>
                </a:solidFill>
              </a:rPr>
              <a:t>MPPC UW Questions Reduction MVP3</a:t>
            </a:r>
          </a:p>
        </p:txBody>
      </p:sp>
      <p:graphicFrame>
        <p:nvGraphicFramePr>
          <p:cNvPr id="11" name="Group 513">
            <a:extLst>
              <a:ext uri="{FF2B5EF4-FFF2-40B4-BE49-F238E27FC236}">
                <a16:creationId xmlns:a16="http://schemas.microsoft.com/office/drawing/2014/main" id="{BFC921B7-8473-F0B2-DE79-1DD183682645}"/>
              </a:ext>
            </a:extLst>
          </p:cNvPr>
          <p:cNvGraphicFramePr>
            <a:graphicFrameLocks noGrp="1"/>
          </p:cNvGraphicFramePr>
          <p:nvPr>
            <p:extLst>
              <p:ext uri="{D42A27DB-BD31-4B8C-83A1-F6EECF244321}">
                <p14:modId xmlns:p14="http://schemas.microsoft.com/office/powerpoint/2010/main" val="2500587796"/>
              </p:ext>
            </p:extLst>
          </p:nvPr>
        </p:nvGraphicFramePr>
        <p:xfrm>
          <a:off x="234455" y="927650"/>
          <a:ext cx="2638219" cy="344301"/>
        </p:xfrm>
        <a:graphic>
          <a:graphicData uri="http://schemas.openxmlformats.org/drawingml/2006/table">
            <a:tbl>
              <a:tblPr/>
              <a:tblGrid>
                <a:gridCol w="990046">
                  <a:extLst>
                    <a:ext uri="{9D8B030D-6E8A-4147-A177-3AD203B41FA5}">
                      <a16:colId xmlns:a16="http://schemas.microsoft.com/office/drawing/2014/main" val="20000"/>
                    </a:ext>
                  </a:extLst>
                </a:gridCol>
                <a:gridCol w="1648173">
                  <a:extLst>
                    <a:ext uri="{9D8B030D-6E8A-4147-A177-3AD203B41FA5}">
                      <a16:colId xmlns:a16="http://schemas.microsoft.com/office/drawing/2014/main" val="20001"/>
                    </a:ext>
                  </a:extLst>
                </a:gridCol>
              </a:tblGrid>
              <a:tr h="344301">
                <a:tc>
                  <a:txBody>
                    <a:bodyPr/>
                    <a:lstStyle/>
                    <a:p>
                      <a:pPr marL="0" marR="0" lvl="0" indent="0" algn="l" defTabSz="914400" rtl="0" eaLnBrk="0" fontAlgn="base" latinLnBrk="0" hangingPunct="0">
                        <a:lnSpc>
                          <a:spcPct val="95000"/>
                        </a:lnSpc>
                        <a:spcBef>
                          <a:spcPct val="0"/>
                        </a:spcBef>
                        <a:spcAft>
                          <a:spcPct val="50000"/>
                        </a:spcAft>
                        <a:buClrTx/>
                        <a:buSzTx/>
                        <a:buFontTx/>
                        <a:buNone/>
                        <a:tabLst/>
                      </a:pPr>
                      <a:r>
                        <a:rPr kumimoji="0" lang="en-GB" sz="1050" b="1" i="0" u="none" strike="noStrike" kern="1200" cap="none" normalizeH="0" baseline="0">
                          <a:ln>
                            <a:noFill/>
                          </a:ln>
                          <a:solidFill>
                            <a:schemeClr val="bg1"/>
                          </a:solidFill>
                          <a:effectLst/>
                          <a:latin typeface="Arial"/>
                          <a:ea typeface="+mn-ea"/>
                          <a:cs typeface="+mn-cs"/>
                        </a:rPr>
                        <a:t>Status Date:</a:t>
                      </a:r>
                    </a:p>
                  </a:txBody>
                  <a:tcPr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GB" sz="850" b="1" i="0" u="none" strike="noStrike" kern="1200" cap="none" normalizeH="0" baseline="0">
                          <a:ln>
                            <a:noFill/>
                          </a:ln>
                          <a:solidFill>
                            <a:schemeClr val="tx1"/>
                          </a:solidFill>
                          <a:effectLst/>
                          <a:latin typeface="Aptos" panose="020B0004020202020204" pitchFamily="34" charset="0"/>
                          <a:ea typeface="+mn-ea"/>
                          <a:cs typeface="+mn-cs"/>
                        </a:rPr>
                        <a:t>08/28/2026</a:t>
                      </a:r>
                    </a:p>
                  </a:txBody>
                  <a:tcPr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14" name="Table 13">
            <a:extLst>
              <a:ext uri="{FF2B5EF4-FFF2-40B4-BE49-F238E27FC236}">
                <a16:creationId xmlns:a16="http://schemas.microsoft.com/office/drawing/2014/main" id="{73CC002A-2DFC-C8F3-6C81-9574B1340A99}"/>
              </a:ext>
            </a:extLst>
          </p:cNvPr>
          <p:cNvGraphicFramePr>
            <a:graphicFrameLocks noGrp="1"/>
          </p:cNvGraphicFramePr>
          <p:nvPr>
            <p:extLst>
              <p:ext uri="{D42A27DB-BD31-4B8C-83A1-F6EECF244321}">
                <p14:modId xmlns:p14="http://schemas.microsoft.com/office/powerpoint/2010/main" val="874373861"/>
              </p:ext>
            </p:extLst>
          </p:nvPr>
        </p:nvGraphicFramePr>
        <p:xfrm>
          <a:off x="6640299" y="920668"/>
          <a:ext cx="5476595" cy="749847"/>
        </p:xfrm>
        <a:graphic>
          <a:graphicData uri="http://schemas.openxmlformats.org/drawingml/2006/table">
            <a:tbl>
              <a:tblPr>
                <a:tableStyleId>{5C22544A-7EE6-4342-B048-85BDC9FD1C3A}</a:tableStyleId>
              </a:tblPr>
              <a:tblGrid>
                <a:gridCol w="1069601">
                  <a:extLst>
                    <a:ext uri="{9D8B030D-6E8A-4147-A177-3AD203B41FA5}">
                      <a16:colId xmlns:a16="http://schemas.microsoft.com/office/drawing/2014/main" val="2456552316"/>
                    </a:ext>
                  </a:extLst>
                </a:gridCol>
                <a:gridCol w="948016">
                  <a:extLst>
                    <a:ext uri="{9D8B030D-6E8A-4147-A177-3AD203B41FA5}">
                      <a16:colId xmlns:a16="http://schemas.microsoft.com/office/drawing/2014/main" val="2327174630"/>
                    </a:ext>
                  </a:extLst>
                </a:gridCol>
                <a:gridCol w="1550134">
                  <a:extLst>
                    <a:ext uri="{9D8B030D-6E8A-4147-A177-3AD203B41FA5}">
                      <a16:colId xmlns:a16="http://schemas.microsoft.com/office/drawing/2014/main" val="1100051595"/>
                    </a:ext>
                  </a:extLst>
                </a:gridCol>
                <a:gridCol w="935206">
                  <a:extLst>
                    <a:ext uri="{9D8B030D-6E8A-4147-A177-3AD203B41FA5}">
                      <a16:colId xmlns:a16="http://schemas.microsoft.com/office/drawing/2014/main" val="2042261034"/>
                    </a:ext>
                  </a:extLst>
                </a:gridCol>
                <a:gridCol w="973638">
                  <a:extLst>
                    <a:ext uri="{9D8B030D-6E8A-4147-A177-3AD203B41FA5}">
                      <a16:colId xmlns:a16="http://schemas.microsoft.com/office/drawing/2014/main" val="2815874248"/>
                    </a:ext>
                  </a:extLst>
                </a:gridCol>
              </a:tblGrid>
              <a:tr h="403351">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2026 Budget</a:t>
                      </a:r>
                      <a:r>
                        <a:rPr lang="en-US" sz="1050" b="1" i="0" u="none" strike="noStrike" kern="1200" cap="none" normalizeH="0" baseline="0">
                          <a:ln>
                            <a:noFill/>
                          </a:ln>
                          <a:solidFill>
                            <a:schemeClr val="bg1"/>
                          </a:solidFill>
                          <a:effectLst/>
                          <a:latin typeface="Arial"/>
                          <a:ea typeface="+mn-ea"/>
                          <a:cs typeface="+mn-cs"/>
                        </a:rPr>
                        <a:t> </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YTD Actuals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Remaining 2026 Forecast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Current YE Forecast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Total Budget</a:t>
                      </a:r>
                      <a:r>
                        <a:rPr lang="en-US" sz="1050" b="1" i="0" u="none" strike="noStrike" kern="1200" cap="none" normalizeH="0" baseline="0">
                          <a:ln>
                            <a:noFill/>
                          </a:ln>
                          <a:solidFill>
                            <a:schemeClr val="bg1"/>
                          </a:solidFill>
                          <a:effectLst/>
                          <a:latin typeface="Arial"/>
                          <a:ea typeface="+mn-ea"/>
                          <a:cs typeface="+mn-cs"/>
                        </a:rPr>
                        <a:t> </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346496">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$341,000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$197,033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$146,296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$343,330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$341,000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7499024"/>
                  </a:ext>
                </a:extLst>
              </a:tr>
            </a:tbl>
          </a:graphicData>
        </a:graphic>
      </p:graphicFrame>
      <p:graphicFrame>
        <p:nvGraphicFramePr>
          <p:cNvPr id="25" name="Table 24">
            <a:extLst>
              <a:ext uri="{FF2B5EF4-FFF2-40B4-BE49-F238E27FC236}">
                <a16:creationId xmlns:a16="http://schemas.microsoft.com/office/drawing/2014/main" id="{B6E895CC-BDB5-A791-481B-35F9B3910FB0}"/>
              </a:ext>
            </a:extLst>
          </p:cNvPr>
          <p:cNvGraphicFramePr>
            <a:graphicFrameLocks noGrp="1"/>
          </p:cNvGraphicFramePr>
          <p:nvPr>
            <p:extLst>
              <p:ext uri="{D42A27DB-BD31-4B8C-83A1-F6EECF244321}">
                <p14:modId xmlns:p14="http://schemas.microsoft.com/office/powerpoint/2010/main" val="28191841"/>
              </p:ext>
            </p:extLst>
          </p:nvPr>
        </p:nvGraphicFramePr>
        <p:xfrm>
          <a:off x="2811025" y="920667"/>
          <a:ext cx="3829275" cy="749848"/>
        </p:xfrm>
        <a:graphic>
          <a:graphicData uri="http://schemas.openxmlformats.org/drawingml/2006/table">
            <a:tbl>
              <a:tblPr>
                <a:tableStyleId>{5C22544A-7EE6-4342-B048-85BDC9FD1C3A}</a:tableStyleId>
              </a:tblPr>
              <a:tblGrid>
                <a:gridCol w="1042158">
                  <a:extLst>
                    <a:ext uri="{9D8B030D-6E8A-4147-A177-3AD203B41FA5}">
                      <a16:colId xmlns:a16="http://schemas.microsoft.com/office/drawing/2014/main" val="2456552316"/>
                    </a:ext>
                  </a:extLst>
                </a:gridCol>
                <a:gridCol w="961214">
                  <a:extLst>
                    <a:ext uri="{9D8B030D-6E8A-4147-A177-3AD203B41FA5}">
                      <a16:colId xmlns:a16="http://schemas.microsoft.com/office/drawing/2014/main" val="1100051595"/>
                    </a:ext>
                  </a:extLst>
                </a:gridCol>
                <a:gridCol w="920742">
                  <a:extLst>
                    <a:ext uri="{9D8B030D-6E8A-4147-A177-3AD203B41FA5}">
                      <a16:colId xmlns:a16="http://schemas.microsoft.com/office/drawing/2014/main" val="2042261034"/>
                    </a:ext>
                  </a:extLst>
                </a:gridCol>
                <a:gridCol w="905161">
                  <a:extLst>
                    <a:ext uri="{9D8B030D-6E8A-4147-A177-3AD203B41FA5}">
                      <a16:colId xmlns:a16="http://schemas.microsoft.com/office/drawing/2014/main" val="2815874248"/>
                    </a:ext>
                  </a:extLst>
                </a:gridCol>
              </a:tblGrid>
              <a:tr h="409508">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Overall</a:t>
                      </a:r>
                      <a:endParaRPr kumimoji="0" lang="en-US" sz="1050" b="1" i="0" u="none" strike="noStrike" kern="1200" cap="none" normalizeH="0" baseline="0">
                        <a:ln>
                          <a:noFill/>
                        </a:ln>
                        <a:solidFill>
                          <a:schemeClr val="bg1"/>
                        </a:solidFill>
                        <a:effectLst/>
                        <a:latin typeface="Arial"/>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Scope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Schedule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Financials</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340340">
                <a:tc>
                  <a:txBody>
                    <a:bodyPr/>
                    <a:lstStyle/>
                    <a:p>
                      <a:pPr marL="0" marR="0" lvl="0" indent="0" algn="ctr" rtl="0" eaLnBrk="1" fontAlgn="ctr" latinLnBrk="0" hangingPunct="1">
                        <a:lnSpc>
                          <a:spcPct val="95000"/>
                        </a:lnSpc>
                        <a:spcBef>
                          <a:spcPct val="0"/>
                        </a:spcBef>
                        <a:spcAft>
                          <a:spcPct val="50000"/>
                        </a:spcAft>
                        <a:buClrTx/>
                        <a:buSzTx/>
                        <a:buFontTx/>
                        <a:buNone/>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rtl="0" eaLnBrk="1" fontAlgn="ctr" latinLnBrk="0" hangingPunct="1">
                        <a:lnSpc>
                          <a:spcPct val="95000"/>
                        </a:lnSpc>
                        <a:spcBef>
                          <a:spcPct val="0"/>
                        </a:spcBef>
                        <a:spcAft>
                          <a:spcPct val="50000"/>
                        </a:spcAft>
                        <a:buClrTx/>
                        <a:buSzTx/>
                        <a:buFontTx/>
                        <a:buNone/>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7499024"/>
                  </a:ext>
                </a:extLst>
              </a:tr>
            </a:tbl>
          </a:graphicData>
        </a:graphic>
      </p:graphicFrame>
      <p:graphicFrame>
        <p:nvGraphicFramePr>
          <p:cNvPr id="26" name="Group 513">
            <a:extLst>
              <a:ext uri="{FF2B5EF4-FFF2-40B4-BE49-F238E27FC236}">
                <a16:creationId xmlns:a16="http://schemas.microsoft.com/office/drawing/2014/main" id="{F652D2C5-410F-BAFF-DE54-F0ED0E9CD5D4}"/>
              </a:ext>
            </a:extLst>
          </p:cNvPr>
          <p:cNvGraphicFramePr>
            <a:graphicFrameLocks noGrp="1"/>
          </p:cNvGraphicFramePr>
          <p:nvPr>
            <p:extLst>
              <p:ext uri="{D42A27DB-BD31-4B8C-83A1-F6EECF244321}">
                <p14:modId xmlns:p14="http://schemas.microsoft.com/office/powerpoint/2010/main" val="535609642"/>
              </p:ext>
            </p:extLst>
          </p:nvPr>
        </p:nvGraphicFramePr>
        <p:xfrm>
          <a:off x="231953" y="1271951"/>
          <a:ext cx="2581575" cy="402546"/>
        </p:xfrm>
        <a:graphic>
          <a:graphicData uri="http://schemas.openxmlformats.org/drawingml/2006/table">
            <a:tbl>
              <a:tblPr/>
              <a:tblGrid>
                <a:gridCol w="998602">
                  <a:extLst>
                    <a:ext uri="{9D8B030D-6E8A-4147-A177-3AD203B41FA5}">
                      <a16:colId xmlns:a16="http://schemas.microsoft.com/office/drawing/2014/main" val="20000"/>
                    </a:ext>
                  </a:extLst>
                </a:gridCol>
                <a:gridCol w="1582973">
                  <a:extLst>
                    <a:ext uri="{9D8B030D-6E8A-4147-A177-3AD203B41FA5}">
                      <a16:colId xmlns:a16="http://schemas.microsoft.com/office/drawing/2014/main" val="20001"/>
                    </a:ext>
                  </a:extLst>
                </a:gridCol>
              </a:tblGrid>
              <a:tr h="344301">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GB" sz="1050" b="1" i="0" u="none" strike="noStrike" kern="1200" cap="none" normalizeH="0" baseline="0">
                          <a:ln>
                            <a:noFill/>
                          </a:ln>
                          <a:solidFill>
                            <a:schemeClr val="bg1"/>
                          </a:solidFill>
                          <a:effectLst/>
                          <a:latin typeface="Arial"/>
                          <a:ea typeface="+mn-ea"/>
                          <a:cs typeface="+mn-cs"/>
                        </a:rPr>
                        <a:t>Target Delivery:</a:t>
                      </a:r>
                    </a:p>
                  </a:txBody>
                  <a:tcPr marL="0" marR="0"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850" b="1" i="0" u="none" strike="noStrike" kern="1200" cap="none" normalizeH="0" baseline="0">
                          <a:ln>
                            <a:noFill/>
                          </a:ln>
                          <a:solidFill>
                            <a:schemeClr val="tx1"/>
                          </a:solidFill>
                          <a:effectLst/>
                          <a:latin typeface="Aptos"/>
                          <a:ea typeface="+mn-ea"/>
                          <a:cs typeface="+mn-cs"/>
                        </a:rPr>
                        <a:t> </a:t>
                      </a:r>
                      <a:r>
                        <a:rPr lang="en-US" sz="850" b="1" i="0" u="none" strike="sngStrike" kern="1200" cap="none" normalizeH="0" baseline="0">
                          <a:ln>
                            <a:noFill/>
                          </a:ln>
                          <a:solidFill>
                            <a:schemeClr val="tx1"/>
                          </a:solidFill>
                          <a:effectLst/>
                          <a:latin typeface="Aptos"/>
                          <a:ea typeface="+mn-ea"/>
                          <a:cs typeface="+mn-cs"/>
                        </a:rPr>
                        <a:t>8/26/2026</a:t>
                      </a:r>
                      <a:r>
                        <a:rPr lang="en-US" sz="850" b="1" i="0" u="none" strike="noStrike" kern="1200" cap="none" normalizeH="0" baseline="0">
                          <a:ln>
                            <a:noFill/>
                          </a:ln>
                          <a:solidFill>
                            <a:schemeClr val="tx1"/>
                          </a:solidFill>
                          <a:effectLst/>
                          <a:latin typeface="Aptos"/>
                          <a:ea typeface="+mn-ea"/>
                          <a:cs typeface="+mn-cs"/>
                        </a:rPr>
                        <a:t> 9/9/26  (MVP3)</a:t>
                      </a:r>
                      <a:endParaRPr lang="en-US"/>
                    </a:p>
                    <a:p>
                      <a:pPr marL="0" marR="0" lvl="0" indent="0" algn="ctr" rtl="0">
                        <a:lnSpc>
                          <a:spcPct val="95000"/>
                        </a:lnSpc>
                        <a:spcBef>
                          <a:spcPct val="0"/>
                        </a:spcBef>
                        <a:spcAft>
                          <a:spcPct val="50000"/>
                        </a:spcAft>
                        <a:buClrTx/>
                        <a:buSzTx/>
                        <a:buFontTx/>
                        <a:buNone/>
                      </a:pPr>
                      <a:r>
                        <a:rPr lang="en-US" sz="850" b="1" i="0" u="none" strike="sngStrike" kern="1200" cap="none" normalizeH="0" baseline="0">
                          <a:ln>
                            <a:noFill/>
                          </a:ln>
                          <a:solidFill>
                            <a:schemeClr val="tx1"/>
                          </a:solidFill>
                          <a:effectLst/>
                          <a:latin typeface="Aptos"/>
                          <a:ea typeface="+mn-ea"/>
                          <a:cs typeface="+mn-cs"/>
                        </a:rPr>
                        <a:t>12/9/26</a:t>
                      </a:r>
                      <a:r>
                        <a:rPr lang="en-US" sz="850" b="1" i="0" u="none" strike="noStrike" kern="1200" cap="none" normalizeH="0" baseline="0">
                          <a:ln>
                            <a:noFill/>
                          </a:ln>
                          <a:solidFill>
                            <a:schemeClr val="tx1"/>
                          </a:solidFill>
                          <a:effectLst/>
                          <a:latin typeface="Aptos"/>
                          <a:ea typeface="+mn-ea"/>
                          <a:cs typeface="+mn-cs"/>
                        </a:rPr>
                        <a:t>  2/10/27 /(CR-RPQ)</a:t>
                      </a:r>
                      <a:endParaRPr kumimoji="0" lang="en-US"/>
                    </a:p>
                  </a:txBody>
                  <a:tcPr marL="0" marR="0"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27" name="Table 26">
            <a:extLst>
              <a:ext uri="{FF2B5EF4-FFF2-40B4-BE49-F238E27FC236}">
                <a16:creationId xmlns:a16="http://schemas.microsoft.com/office/drawing/2014/main" id="{BA723C90-E347-BE4F-2081-3B1F7E848FD7}"/>
              </a:ext>
            </a:extLst>
          </p:cNvPr>
          <p:cNvGraphicFramePr>
            <a:graphicFrameLocks noGrp="1"/>
          </p:cNvGraphicFramePr>
          <p:nvPr>
            <p:extLst>
              <p:ext uri="{D42A27DB-BD31-4B8C-83A1-F6EECF244321}">
                <p14:modId xmlns:p14="http://schemas.microsoft.com/office/powerpoint/2010/main" val="2946928367"/>
              </p:ext>
            </p:extLst>
          </p:nvPr>
        </p:nvGraphicFramePr>
        <p:xfrm>
          <a:off x="4984185" y="1924752"/>
          <a:ext cx="7152058" cy="3247463"/>
        </p:xfrm>
        <a:graphic>
          <a:graphicData uri="http://schemas.openxmlformats.org/drawingml/2006/table">
            <a:tbl>
              <a:tblPr>
                <a:tableStyleId>{5C22544A-7EE6-4342-B048-85BDC9FD1C3A}</a:tableStyleId>
              </a:tblPr>
              <a:tblGrid>
                <a:gridCol w="2617796">
                  <a:extLst>
                    <a:ext uri="{9D8B030D-6E8A-4147-A177-3AD203B41FA5}">
                      <a16:colId xmlns:a16="http://schemas.microsoft.com/office/drawing/2014/main" val="2456552316"/>
                    </a:ext>
                  </a:extLst>
                </a:gridCol>
                <a:gridCol w="541753">
                  <a:extLst>
                    <a:ext uri="{9D8B030D-6E8A-4147-A177-3AD203B41FA5}">
                      <a16:colId xmlns:a16="http://schemas.microsoft.com/office/drawing/2014/main" val="1100051595"/>
                    </a:ext>
                  </a:extLst>
                </a:gridCol>
                <a:gridCol w="655527">
                  <a:extLst>
                    <a:ext uri="{9D8B030D-6E8A-4147-A177-3AD203B41FA5}">
                      <a16:colId xmlns:a16="http://schemas.microsoft.com/office/drawing/2014/main" val="2042261034"/>
                    </a:ext>
                  </a:extLst>
                </a:gridCol>
                <a:gridCol w="3336982">
                  <a:extLst>
                    <a:ext uri="{9D8B030D-6E8A-4147-A177-3AD203B41FA5}">
                      <a16:colId xmlns:a16="http://schemas.microsoft.com/office/drawing/2014/main" val="2815874248"/>
                    </a:ext>
                  </a:extLst>
                </a:gridCol>
              </a:tblGrid>
              <a:tr h="419173">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Milestone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Status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Due Date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Notes</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301157">
                <a:tc>
                  <a:txBody>
                    <a:bodyPr/>
                    <a:lstStyle/>
                    <a:p>
                      <a:pPr marL="114300" lvl="0" indent="0" algn="l">
                        <a:lnSpc>
                          <a:spcPct val="95000"/>
                        </a:lnSpc>
                        <a:spcBef>
                          <a:spcPct val="0"/>
                        </a:spcBef>
                        <a:spcAft>
                          <a:spcPct val="50000"/>
                        </a:spcAft>
                        <a:buNone/>
                      </a:pPr>
                      <a:r>
                        <a:rPr lang="en-US" sz="850" kern="1200">
                          <a:solidFill>
                            <a:schemeClr val="dk1"/>
                          </a:solidFill>
                          <a:latin typeface="Aptos" panose="020B0004020202020204" pitchFamily="34" charset="0"/>
                          <a:ea typeface="+mn-ea"/>
                          <a:cs typeface="+mn-cs"/>
                        </a:rPr>
                        <a:t>E2E Testing Completed (MVP3)</a:t>
                      </a:r>
                    </a:p>
                  </a:txBody>
                  <a:tcPr marL="9524" marR="9524" marT="952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0D3D4"/>
                    </a:solidFill>
                  </a:tcPr>
                </a:tc>
                <a:tc>
                  <a:txBody>
                    <a:bodyPr/>
                    <a:lstStyle/>
                    <a:p>
                      <a:pPr lvl="0" algn="ctr">
                        <a:buNone/>
                      </a:pPr>
                      <a:r>
                        <a:rPr lang="en-US" sz="850">
                          <a:latin typeface="Aptos" panose="020B0004020202020204" pitchFamily="34" charset="0"/>
                        </a:rPr>
                        <a:t>C</a:t>
                      </a:r>
                    </a:p>
                  </a:txBody>
                  <a:tcPr marL="9524" marR="9524" marT="952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0D3D4"/>
                    </a:solidFill>
                  </a:tcPr>
                </a:tc>
                <a:tc>
                  <a:txBody>
                    <a:bodyPr/>
                    <a:lstStyle/>
                    <a:p>
                      <a:pPr lvl="0" algn="ctr">
                        <a:buNone/>
                      </a:pPr>
                      <a:r>
                        <a:rPr lang="en-US" sz="850" strike="noStrike">
                          <a:latin typeface="Aptos" panose="020B0004020202020204" pitchFamily="34" charset="0"/>
                        </a:rPr>
                        <a:t>7</a:t>
                      </a:r>
                      <a:r>
                        <a:rPr lang="en-US" sz="850">
                          <a:latin typeface="Aptos" panose="020B0004020202020204" pitchFamily="34" charset="0"/>
                        </a:rPr>
                        <a:t>/16 - </a:t>
                      </a:r>
                      <a:r>
                        <a:rPr lang="en-US" sz="850" strike="noStrike">
                          <a:latin typeface="Aptos" panose="020B0004020202020204" pitchFamily="34" charset="0"/>
                        </a:rPr>
                        <a:t> 8/11</a:t>
                      </a:r>
                      <a:endParaRPr lang="en-US" sz="850" strike="sngStrike">
                        <a:latin typeface="Aptos" panose="020B0004020202020204" pitchFamily="34" charset="0"/>
                      </a:endParaRPr>
                    </a:p>
                  </a:txBody>
                  <a:tcPr marL="9524" marR="9524" marT="952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0D3D4"/>
                    </a:solidFill>
                  </a:tcPr>
                </a:tc>
                <a:tc>
                  <a:txBody>
                    <a:bodyPr/>
                    <a:lstStyle/>
                    <a:p>
                      <a:pPr marL="0" lvl="0" indent="0" algn="l">
                        <a:lnSpc>
                          <a:spcPct val="95000"/>
                        </a:lnSpc>
                        <a:spcBef>
                          <a:spcPct val="0"/>
                        </a:spcBef>
                        <a:spcAft>
                          <a:spcPct val="50000"/>
                        </a:spcAft>
                        <a:buNone/>
                      </a:pPr>
                      <a:r>
                        <a:rPr lang="en-US" sz="850" b="0" kern="1200">
                          <a:solidFill>
                            <a:schemeClr val="tx1"/>
                          </a:solidFill>
                          <a:effectLst/>
                          <a:latin typeface="Aptos" panose="020B0004020202020204" pitchFamily="34" charset="0"/>
                          <a:ea typeface="+mn-ea"/>
                          <a:cs typeface="+mn-cs"/>
                        </a:rPr>
                        <a:t> </a:t>
                      </a:r>
                    </a:p>
                  </a:txBody>
                  <a:tcPr marL="9524" marR="9524" marT="952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0D3D4"/>
                    </a:solidFill>
                  </a:tcPr>
                </a:tc>
                <a:extLst>
                  <a:ext uri="{0D108BD9-81ED-4DB2-BD59-A6C34878D82A}">
                    <a16:rowId xmlns:a16="http://schemas.microsoft.com/office/drawing/2014/main" val="1748893264"/>
                  </a:ext>
                </a:extLst>
              </a:tr>
              <a:tr h="251670">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50" kern="1200">
                          <a:solidFill>
                            <a:schemeClr val="dk1"/>
                          </a:solidFill>
                          <a:latin typeface="Aptos" panose="020B0004020202020204" pitchFamily="34" charset="0"/>
                          <a:ea typeface="+mn-ea"/>
                          <a:cs typeface="+mn-cs"/>
                        </a:rPr>
                        <a:t>UAT Completed (MVP3)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0D3D4"/>
                    </a:solidFill>
                  </a:tcPr>
                </a:tc>
                <a:tc>
                  <a:txBody>
                    <a:bodyPr/>
                    <a:lstStyle/>
                    <a:p>
                      <a:pPr algn="ctr"/>
                      <a:r>
                        <a:rPr lang="en-US" sz="850">
                          <a:latin typeface="Aptos" panose="020B0004020202020204" pitchFamily="34" charset="0"/>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0D3D4"/>
                    </a:solidFill>
                  </a:tcPr>
                </a:tc>
                <a:tc>
                  <a:txBody>
                    <a:bodyPr/>
                    <a:lstStyle/>
                    <a:p>
                      <a:pPr algn="ctr"/>
                      <a:r>
                        <a:rPr lang="en-US" sz="850">
                          <a:latin typeface="Aptos" panose="020B0004020202020204" pitchFamily="34" charset="0"/>
                        </a:rPr>
                        <a:t> 7/29 – 8/11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0D3D4"/>
                    </a:solidFill>
                  </a:tcPr>
                </a:tc>
                <a:tc>
                  <a:txBody>
                    <a:bodyPr/>
                    <a:lstStyle/>
                    <a:p>
                      <a:pPr marL="0" marR="0" lvl="0" indent="0" algn="l" rtl="0" eaLnBrk="1" fontAlgn="ctr" latinLnBrk="0" hangingPunct="1">
                        <a:lnSpc>
                          <a:spcPct val="95000"/>
                        </a:lnSpc>
                        <a:spcBef>
                          <a:spcPct val="0"/>
                        </a:spcBef>
                        <a:spcAft>
                          <a:spcPct val="50000"/>
                        </a:spcAft>
                        <a:buClrTx/>
                        <a:buSzTx/>
                        <a:buFontTx/>
                        <a:buNone/>
                      </a:pPr>
                      <a:endParaRPr lang="en-US" sz="850" b="0" kern="1200">
                        <a:solidFill>
                          <a:schemeClr val="tx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0D3D4"/>
                    </a:solidFill>
                  </a:tcPr>
                </a:tc>
                <a:extLst>
                  <a:ext uri="{0D108BD9-81ED-4DB2-BD59-A6C34878D82A}">
                    <a16:rowId xmlns:a16="http://schemas.microsoft.com/office/drawing/2014/main" val="617819655"/>
                  </a:ext>
                </a:extLst>
              </a:tr>
              <a:tr h="268447">
                <a:tc>
                  <a:txBody>
                    <a:bodyPr/>
                    <a:lstStyle/>
                    <a:p>
                      <a:pPr lvl="0"/>
                      <a:r>
                        <a:rPr lang="en-US" sz="850">
                          <a:latin typeface="Aptos" panose="020B0004020202020204" pitchFamily="34" charset="0"/>
                        </a:rPr>
                        <a:t>    Go-No Go Meeting Scheduled  (MVP3)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0D3D4"/>
                    </a:solidFill>
                  </a:tcPr>
                </a:tc>
                <a:tc>
                  <a:txBody>
                    <a:bodyPr/>
                    <a:lstStyle/>
                    <a:p>
                      <a:pPr algn="ctr"/>
                      <a:r>
                        <a:rPr lang="en-US" sz="850">
                          <a:latin typeface="Aptos" panose="020B0004020202020204" pitchFamily="34" charset="0"/>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0D3D4"/>
                    </a:solidFill>
                  </a:tcPr>
                </a:tc>
                <a:tc>
                  <a:txBody>
                    <a:bodyPr/>
                    <a:lstStyle/>
                    <a:p>
                      <a:pPr algn="ctr"/>
                      <a:r>
                        <a:rPr lang="en-US" sz="850">
                          <a:latin typeface="Aptos" panose="020B0004020202020204" pitchFamily="34" charset="0"/>
                        </a:rPr>
                        <a:t> 8/11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0D3D4"/>
                    </a:solidFill>
                  </a:tcPr>
                </a:tc>
                <a:tc>
                  <a:txBody>
                    <a:bodyPr/>
                    <a:lstStyle/>
                    <a:p>
                      <a:endParaRPr lang="en-US" sz="850">
                        <a:latin typeface="Aptos"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0D3D4"/>
                    </a:solidFill>
                  </a:tcPr>
                </a:tc>
                <a:extLst>
                  <a:ext uri="{0D108BD9-81ED-4DB2-BD59-A6C34878D82A}">
                    <a16:rowId xmlns:a16="http://schemas.microsoft.com/office/drawing/2014/main" val="3162506059"/>
                  </a:ext>
                </a:extLst>
              </a:tr>
              <a:tr h="286072">
                <a:tc>
                  <a:txBody>
                    <a:bodyPr/>
                    <a:lstStyle/>
                    <a:p>
                      <a:r>
                        <a:rPr lang="en-US" sz="850">
                          <a:latin typeface="Aptos" panose="020B0004020202020204" pitchFamily="34" charset="0"/>
                        </a:rPr>
                        <a:t>    Stage Validation Completed (MVP3)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50">
                          <a:latin typeface="Aptos" panose="020B0004020202020204" pitchFamily="34" charset="0"/>
                        </a:rPr>
                        <a:t>NS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850">
                          <a:latin typeface="Aptos" panose="020B0004020202020204" pitchFamily="34" charset="0"/>
                        </a:rPr>
                        <a:t>  </a:t>
                      </a:r>
                      <a:r>
                        <a:rPr lang="en-US" sz="850" strike="sngStrike">
                          <a:latin typeface="Aptos" panose="020B0004020202020204" pitchFamily="34" charset="0"/>
                        </a:rPr>
                        <a:t>8/19</a:t>
                      </a:r>
                      <a:r>
                        <a:rPr lang="en-US" sz="850">
                          <a:latin typeface="Aptos" panose="020B0004020202020204" pitchFamily="34" charset="0"/>
                        </a:rPr>
                        <a:t>  9/4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850">
                          <a:latin typeface="Aptos" panose="020B0004020202020204" pitchFamily="34" charset="0"/>
                        </a:rPr>
                        <a:t>  Need to find environment to validate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29427646"/>
                  </a:ext>
                </a:extLst>
              </a:tr>
              <a:tr h="234892">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50" kern="1200">
                          <a:solidFill>
                            <a:schemeClr val="dk1"/>
                          </a:solidFill>
                          <a:latin typeface="Aptos" panose="020B0004020202020204" pitchFamily="34" charset="0"/>
                          <a:ea typeface="+mn-ea"/>
                          <a:cs typeface="+mn-cs"/>
                        </a:rPr>
                        <a:t>Prod Deployment  (MVP3)</a:t>
                      </a:r>
                    </a:p>
                  </a:txBody>
                  <a:tcPr marL="9525" marR="9525" marT="9525" marB="0" anchor="ctr">
                    <a:lnL w="12700">
                      <a:solidFill>
                        <a:schemeClr val="tx1"/>
                      </a:solidFill>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0">
                      <a:noFill/>
                    </a:lnTlToBr>
                    <a:lnBlToTr w="0">
                      <a:noFill/>
                    </a:lnBlToTr>
                    <a:noFill/>
                  </a:tcPr>
                </a:tc>
                <a:tc>
                  <a:txBody>
                    <a:bodyPr/>
                    <a:lstStyle/>
                    <a:p>
                      <a:pPr algn="ctr"/>
                      <a:r>
                        <a:rPr lang="en-US" sz="850">
                          <a:latin typeface="Aptos" panose="020B0004020202020204" pitchFamily="34" charset="0"/>
                        </a:rPr>
                        <a:t>NS</a:t>
                      </a:r>
                    </a:p>
                  </a:txBody>
                  <a:tcPr marL="9525" marR="9525" marT="9525" marB="0" anchor="ctr">
                    <a:lnL w="12700">
                      <a:solidFill>
                        <a:schemeClr val="tx1"/>
                      </a:solidFill>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0">
                      <a:noFill/>
                    </a:lnTlToBr>
                    <a:lnBlToTr w="0">
                      <a:noFill/>
                    </a:lnBlToTr>
                    <a:noFill/>
                  </a:tcPr>
                </a:tc>
                <a:tc>
                  <a:txBody>
                    <a:bodyPr/>
                    <a:lstStyle/>
                    <a:p>
                      <a:pPr algn="ctr"/>
                      <a:r>
                        <a:rPr lang="en-US" sz="850" strike="sngStrike">
                          <a:latin typeface="Aptos" panose="020B0004020202020204" pitchFamily="34" charset="0"/>
                        </a:rPr>
                        <a:t>8/26 </a:t>
                      </a:r>
                      <a:r>
                        <a:rPr lang="en-US" sz="850">
                          <a:latin typeface="Aptos" panose="020B0004020202020204" pitchFamily="34" charset="0"/>
                        </a:rPr>
                        <a:t>9/9</a:t>
                      </a:r>
                    </a:p>
                  </a:txBody>
                  <a:tcPr marL="9525" marR="9525" marT="9525" marB="0" anchor="ctr">
                    <a:lnL w="12700">
                      <a:solidFill>
                        <a:schemeClr val="tx1"/>
                      </a:solidFill>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0">
                      <a:noFill/>
                    </a:lnTlToBr>
                    <a:lnBlToTr w="0">
                      <a:noFill/>
                    </a:lnBlToTr>
                    <a:noFill/>
                  </a:tcPr>
                </a:tc>
                <a:tc>
                  <a:txBody>
                    <a:bodyPr/>
                    <a:lstStyle/>
                    <a:p>
                      <a:pPr marL="0" marR="0" lvl="0" indent="0" algn="l" rtl="0" eaLnBrk="1" fontAlgn="ctr" latinLnBrk="0" hangingPunct="1">
                        <a:lnSpc>
                          <a:spcPct val="95000"/>
                        </a:lnSpc>
                        <a:spcBef>
                          <a:spcPct val="0"/>
                        </a:spcBef>
                        <a:spcAft>
                          <a:spcPct val="50000"/>
                        </a:spcAft>
                        <a:buClrTx/>
                        <a:buSzTx/>
                        <a:buFontTx/>
                        <a:buNone/>
                      </a:pPr>
                      <a:r>
                        <a:rPr lang="en-US" sz="850" b="0" kern="1200">
                          <a:solidFill>
                            <a:schemeClr val="tx1"/>
                          </a:solidFill>
                          <a:effectLst/>
                          <a:latin typeface="Aptos" panose="020B0004020202020204" pitchFamily="34" charset="0"/>
                          <a:ea typeface="+mn-ea"/>
                          <a:cs typeface="+mn-cs"/>
                        </a:rPr>
                        <a:t> Rescheduled from 8/12 to  8/19 </a:t>
                      </a:r>
                      <a:r>
                        <a:rPr lang="en-US" sz="850" b="0" kern="1200" err="1">
                          <a:solidFill>
                            <a:schemeClr val="tx1"/>
                          </a:solidFill>
                          <a:effectLst/>
                          <a:latin typeface="Aptos" panose="020B0004020202020204" pitchFamily="34" charset="0"/>
                          <a:ea typeface="+mn-ea"/>
                          <a:cs typeface="+mn-cs"/>
                        </a:rPr>
                        <a:t>offcycle</a:t>
                      </a:r>
                      <a:endParaRPr lang="en-US" sz="850" b="0" kern="1200">
                        <a:solidFill>
                          <a:schemeClr val="tx1"/>
                        </a:solidFill>
                        <a:effectLst/>
                        <a:latin typeface="Aptos" panose="020B0004020202020204" pitchFamily="34" charset="0"/>
                        <a:ea typeface="+mn-ea"/>
                        <a:cs typeface="+mn-cs"/>
                      </a:endParaRPr>
                    </a:p>
                  </a:txBody>
                  <a:tcPr marL="9525" marR="9525" marT="9525" marB="0" anchor="ctr">
                    <a:lnL w="12700">
                      <a:solidFill>
                        <a:schemeClr val="tx1"/>
                      </a:solidFill>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0">
                      <a:noFill/>
                    </a:lnTlToBr>
                    <a:lnBlToTr w="0">
                      <a:noFill/>
                    </a:lnBlToTr>
                    <a:noFill/>
                  </a:tcPr>
                </a:tc>
                <a:extLst>
                  <a:ext uri="{0D108BD9-81ED-4DB2-BD59-A6C34878D82A}">
                    <a16:rowId xmlns:a16="http://schemas.microsoft.com/office/drawing/2014/main" val="704749405"/>
                  </a:ext>
                </a:extLst>
              </a:tr>
              <a:tr h="285226">
                <a:tc>
                  <a:txBody>
                    <a:bodyPr/>
                    <a:lstStyle/>
                    <a:p>
                      <a:pPr algn="l"/>
                      <a:r>
                        <a:rPr lang="en-US" sz="850">
                          <a:latin typeface="Aptos" panose="020B0004020202020204" pitchFamily="34" charset="0"/>
                        </a:rPr>
                        <a:t>    Warranty (MVP3)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50">
                          <a:latin typeface="Aptos" panose="020B0004020202020204" pitchFamily="34" charset="0"/>
                        </a:rPr>
                        <a:t>NS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50">
                          <a:latin typeface="Aptos" panose="020B0004020202020204" pitchFamily="34" charset="0"/>
                        </a:rPr>
                        <a:t>9/16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850">
                          <a:latin typeface="Aptos" panose="020B0004020202020204" pitchFamily="34" charset="0"/>
                        </a:rPr>
                        <a:t> 2 missed requirement planned to deliver during warranty.</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91871358"/>
                  </a:ext>
                </a:extLst>
              </a:tr>
              <a:tr h="198799">
                <a:tc>
                  <a:txBody>
                    <a:bodyPr/>
                    <a:lstStyle/>
                    <a:p>
                      <a:pPr lvl="0"/>
                      <a:r>
                        <a:rPr lang="en-US" sz="850">
                          <a:latin typeface="Aptos" panose="020B0004020202020204" pitchFamily="34" charset="0"/>
                        </a:rPr>
                        <a:t>    Project level Epics Created (CR – RPQ)</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850">
                          <a:latin typeface="Aptos" panose="020B0004020202020204" pitchFamily="34" charset="0"/>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850">
                          <a:latin typeface="Aptos" panose="020B0004020202020204" pitchFamily="34" charset="0"/>
                        </a:rPr>
                        <a:t>8/19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lang="en-US" sz="850">
                        <a:latin typeface="Aptos"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571060909"/>
                  </a:ext>
                </a:extLst>
              </a:tr>
              <a:tr h="334009">
                <a:tc>
                  <a:txBody>
                    <a:bodyPr/>
                    <a:lstStyle/>
                    <a:p>
                      <a:r>
                        <a:rPr lang="en-US" sz="850">
                          <a:latin typeface="Aptos" panose="020B0004020202020204"/>
                        </a:rPr>
                        <a:t>     EPIC Prioritization by Product Owners (RPQ)</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850">
                          <a:latin typeface="Aptos" panose="020B0004020202020204"/>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850">
                          <a:latin typeface="Aptos" panose="020B0004020202020204"/>
                        </a:rPr>
                        <a:t>8/19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r>
                        <a:rPr lang="en-US" sz="850">
                          <a:latin typeface="Aptos" panose="020B0004020202020204"/>
                        </a:rPr>
                        <a:t>  Prioritized in respect to Feb Release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14125628"/>
                  </a:ext>
                </a:extLst>
              </a:tr>
              <a:tr h="334009">
                <a:tc>
                  <a:txBody>
                    <a:bodyPr/>
                    <a:lstStyle/>
                    <a:p>
                      <a:r>
                        <a:rPr lang="en-US" sz="850">
                          <a:latin typeface="Aptos" panose="020B0004020202020204"/>
                        </a:rPr>
                        <a:t>     Project Schedule/Timeline Draft (RPQ)</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850">
                          <a:latin typeface="Aptos" panose="020B0004020202020204"/>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850">
                          <a:latin typeface="Aptos" panose="020B0004020202020204"/>
                        </a:rPr>
                        <a:t>8/19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lang="en-US" sz="850">
                        <a:latin typeface="Aptos" panose="020B0004020202020204"/>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2866949865"/>
                  </a:ext>
                </a:extLst>
              </a:tr>
              <a:tr h="334009">
                <a:tc>
                  <a:txBody>
                    <a:bodyPr/>
                    <a:lstStyle/>
                    <a:p>
                      <a:r>
                        <a:rPr lang="en-US" sz="850">
                          <a:latin typeface="Aptos" panose="020B0004020202020204"/>
                        </a:rPr>
                        <a:t>     Stakeholder signoff for CQ data change (RPQ)</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850">
                          <a:latin typeface="Aptos" panose="020B0004020202020204"/>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850" strike="sngStrike">
                          <a:latin typeface="Aptos" panose="020B0004020202020204"/>
                        </a:rPr>
                        <a:t>8/26</a:t>
                      </a:r>
                      <a:r>
                        <a:rPr lang="en-US" sz="850">
                          <a:latin typeface="Aptos" panose="020B0004020202020204"/>
                        </a:rPr>
                        <a:t> 8/31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r>
                        <a:rPr lang="en-US" sz="850">
                          <a:latin typeface="Aptos" panose="020B0004020202020204"/>
                        </a:rPr>
                        <a:t>  Send email request for stakeholder approval</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099678758"/>
                  </a:ext>
                </a:extLst>
              </a:tr>
            </a:tbl>
          </a:graphicData>
        </a:graphic>
      </p:graphicFrame>
      <p:graphicFrame>
        <p:nvGraphicFramePr>
          <p:cNvPr id="29" name="Table 28">
            <a:extLst>
              <a:ext uri="{FF2B5EF4-FFF2-40B4-BE49-F238E27FC236}">
                <a16:creationId xmlns:a16="http://schemas.microsoft.com/office/drawing/2014/main" id="{4CB587BE-A2EE-21D7-2123-1DAB04D6EF69}"/>
              </a:ext>
            </a:extLst>
          </p:cNvPr>
          <p:cNvGraphicFramePr>
            <a:graphicFrameLocks noGrp="1"/>
          </p:cNvGraphicFramePr>
          <p:nvPr>
            <p:extLst>
              <p:ext uri="{D42A27DB-BD31-4B8C-83A1-F6EECF244321}">
                <p14:modId xmlns:p14="http://schemas.microsoft.com/office/powerpoint/2010/main" val="1229113836"/>
              </p:ext>
            </p:extLst>
          </p:nvPr>
        </p:nvGraphicFramePr>
        <p:xfrm>
          <a:off x="4991785" y="5189883"/>
          <a:ext cx="7136859" cy="714807"/>
        </p:xfrm>
        <a:graphic>
          <a:graphicData uri="http://schemas.openxmlformats.org/drawingml/2006/table">
            <a:tbl>
              <a:tblPr>
                <a:tableStyleId>{5C22544A-7EE6-4342-B048-85BDC9FD1C3A}</a:tableStyleId>
              </a:tblPr>
              <a:tblGrid>
                <a:gridCol w="2633399">
                  <a:extLst>
                    <a:ext uri="{9D8B030D-6E8A-4147-A177-3AD203B41FA5}">
                      <a16:colId xmlns:a16="http://schemas.microsoft.com/office/drawing/2014/main" val="2456552316"/>
                    </a:ext>
                  </a:extLst>
                </a:gridCol>
                <a:gridCol w="517124">
                  <a:extLst>
                    <a:ext uri="{9D8B030D-6E8A-4147-A177-3AD203B41FA5}">
                      <a16:colId xmlns:a16="http://schemas.microsoft.com/office/drawing/2014/main" val="1100051595"/>
                    </a:ext>
                  </a:extLst>
                </a:gridCol>
                <a:gridCol w="680145">
                  <a:extLst>
                    <a:ext uri="{9D8B030D-6E8A-4147-A177-3AD203B41FA5}">
                      <a16:colId xmlns:a16="http://schemas.microsoft.com/office/drawing/2014/main" val="2042261034"/>
                    </a:ext>
                  </a:extLst>
                </a:gridCol>
                <a:gridCol w="3306191">
                  <a:extLst>
                    <a:ext uri="{9D8B030D-6E8A-4147-A177-3AD203B41FA5}">
                      <a16:colId xmlns:a16="http://schemas.microsoft.com/office/drawing/2014/main" val="2815874248"/>
                    </a:ext>
                  </a:extLst>
                </a:gridCol>
              </a:tblGrid>
              <a:tr h="389213">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Critical Risks/Issues</a:t>
                      </a:r>
                      <a:endParaRPr kumimoji="0" lang="en-US" sz="1050" b="1" i="0" u="none" strike="noStrike" kern="1200" cap="none" normalizeH="0" baseline="0">
                        <a:ln>
                          <a:noFill/>
                        </a:ln>
                        <a:solidFill>
                          <a:schemeClr val="bg1"/>
                        </a:solidFill>
                        <a:effectLst/>
                        <a:latin typeface="Arial" charset="0"/>
                        <a:ea typeface="+mn-ea"/>
                        <a:cs typeface="+mn-cs"/>
                      </a:endParaRP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Status</a:t>
                      </a:r>
                    </a:p>
                  </a:txBody>
                  <a:tcPr marL="9525" marR="9525" marT="9525" marB="0" anchor="ct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1" fontAlgn="auto" latinLnBrk="0" hangingPunct="1">
                        <a:lnSpc>
                          <a:spcPct val="95000"/>
                        </a:lnSpc>
                        <a:spcBef>
                          <a:spcPct val="0"/>
                        </a:spcBef>
                        <a:spcAft>
                          <a:spcPct val="50000"/>
                        </a:spcAft>
                        <a:buClrTx/>
                        <a:buSzTx/>
                        <a:buFontTx/>
                        <a:buNone/>
                        <a:tabLst/>
                        <a:defRPr/>
                      </a:pPr>
                      <a:r>
                        <a:rPr kumimoji="0" lang="en-US" sz="1050" b="1" i="0" u="none" strike="noStrike" kern="1200" cap="none" normalizeH="0" baseline="0">
                          <a:ln>
                            <a:noFill/>
                          </a:ln>
                          <a:solidFill>
                            <a:schemeClr val="bg1"/>
                          </a:solidFill>
                          <a:effectLst/>
                          <a:latin typeface="+mn-lt"/>
                          <a:ea typeface="+mn-ea"/>
                          <a:cs typeface="+mn-cs"/>
                        </a:rPr>
                        <a:t>Target Date</a:t>
                      </a:r>
                    </a:p>
                  </a:txBody>
                  <a:tcPr marL="9525" marR="9525" marT="9525" marB="0" anchor="ctr">
                    <a:lnL w="12700">
                      <a:solidFill>
                        <a:schemeClr val="tx1"/>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Resolution / Mitigation</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325594">
                <a:tc>
                  <a:txBody>
                    <a:bodyPr/>
                    <a:lstStyle/>
                    <a:p>
                      <a:pPr marL="0" marR="0" lvl="0" indent="0" algn="l" defTabSz="914400" rtl="0" eaLnBrk="1" fontAlgn="auto" latinLnBrk="0" hangingPunct="1">
                        <a:lnSpc>
                          <a:spcPct val="115000"/>
                        </a:lnSpc>
                        <a:spcBef>
                          <a:spcPts val="0"/>
                        </a:spcBef>
                        <a:spcAft>
                          <a:spcPts val="800"/>
                        </a:spcAft>
                        <a:buClrTx/>
                        <a:buSzTx/>
                        <a:buFontTx/>
                        <a:buNone/>
                        <a:tabLst/>
                        <a:defRPr/>
                      </a:pPr>
                      <a:r>
                        <a:rPr lang="en-US" sz="850">
                          <a:latin typeface="+mn-lt"/>
                        </a:rPr>
                        <a:t>Portal Project Dependency with Add A Pet project</a:t>
                      </a: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850" b="0"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r>
                        <a:rPr lang="en-US" sz="850" b="0" strike="noStrike" kern="1200">
                          <a:solidFill>
                            <a:schemeClr val="tx1"/>
                          </a:solidFill>
                          <a:effectLst/>
                          <a:latin typeface="+mn-lt"/>
                          <a:ea typeface="+mn-ea"/>
                          <a:cs typeface="+mn-cs"/>
                        </a:rPr>
                        <a:t>9/4</a:t>
                      </a:r>
                    </a:p>
                  </a:txBody>
                  <a:tcPr marL="9525" marR="9525" marT="9525" marB="0" anchor="ctr">
                    <a:lnL w="12700">
                      <a:solidFill>
                        <a:schemeClr val="tx1"/>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ts val="200"/>
                        </a:spcBef>
                        <a:spcAft>
                          <a:spcPts val="0"/>
                        </a:spcAft>
                        <a:buClrTx/>
                        <a:buSzTx/>
                        <a:buFont typeface="Arial" panose="020B0604020202020204" pitchFamily="34" charset="0"/>
                        <a:buNone/>
                        <a:tabLst/>
                        <a:defRPr/>
                      </a:pPr>
                      <a:r>
                        <a:rPr lang="en-US" sz="850" b="0" strike="noStrike" kern="1200">
                          <a:solidFill>
                            <a:schemeClr val="tx1"/>
                          </a:solidFill>
                          <a:effectLst/>
                          <a:latin typeface="+mn-lt"/>
                          <a:ea typeface="+mn-ea"/>
                          <a:cs typeface="+mn-cs"/>
                        </a:rPr>
                        <a:t>Hard dependency.  High level of confidence for 9/9 release</a:t>
                      </a: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7499024"/>
                  </a:ext>
                </a:extLst>
              </a:tr>
            </a:tbl>
          </a:graphicData>
        </a:graphic>
      </p:graphicFrame>
      <p:sp>
        <p:nvSpPr>
          <p:cNvPr id="33" name="Flowchart: Connector 32">
            <a:extLst>
              <a:ext uri="{FF2B5EF4-FFF2-40B4-BE49-F238E27FC236}">
                <a16:creationId xmlns:a16="http://schemas.microsoft.com/office/drawing/2014/main" id="{416448B3-C471-06D2-E214-8208E6A1C858}"/>
              </a:ext>
            </a:extLst>
          </p:cNvPr>
          <p:cNvSpPr/>
          <p:nvPr/>
        </p:nvSpPr>
        <p:spPr>
          <a:xfrm>
            <a:off x="6729886" y="6079078"/>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Flowchart: Connector 33">
            <a:extLst>
              <a:ext uri="{FF2B5EF4-FFF2-40B4-BE49-F238E27FC236}">
                <a16:creationId xmlns:a16="http://schemas.microsoft.com/office/drawing/2014/main" id="{16113AD1-0727-29D7-165A-26751F365F7C}"/>
              </a:ext>
            </a:extLst>
          </p:cNvPr>
          <p:cNvSpPr/>
          <p:nvPr/>
        </p:nvSpPr>
        <p:spPr>
          <a:xfrm>
            <a:off x="7770332" y="6089686"/>
            <a:ext cx="163286" cy="164592"/>
          </a:xfrm>
          <a:prstGeom prst="flowChartConnector">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Flowchart: Connector 35">
            <a:extLst>
              <a:ext uri="{FF2B5EF4-FFF2-40B4-BE49-F238E27FC236}">
                <a16:creationId xmlns:a16="http://schemas.microsoft.com/office/drawing/2014/main" id="{A148D622-9D77-6567-3AD5-2241D9AAD96E}"/>
              </a:ext>
            </a:extLst>
          </p:cNvPr>
          <p:cNvSpPr/>
          <p:nvPr/>
        </p:nvSpPr>
        <p:spPr>
          <a:xfrm>
            <a:off x="8807808" y="6070925"/>
            <a:ext cx="163285" cy="164592"/>
          </a:xfrm>
          <a:prstGeom prst="flowChartConnector">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44D2CC87-946C-19E5-8C22-504B3023D9E1}"/>
              </a:ext>
            </a:extLst>
          </p:cNvPr>
          <p:cNvSpPr txBox="1"/>
          <p:nvPr/>
        </p:nvSpPr>
        <p:spPr>
          <a:xfrm>
            <a:off x="159545" y="1777635"/>
            <a:ext cx="4743293" cy="4780219"/>
          </a:xfrm>
          <a:prstGeom prst="rect">
            <a:avLst/>
          </a:prstGeom>
          <a:noFill/>
        </p:spPr>
        <p:txBody>
          <a:bodyPr wrap="square" lIns="91440" tIns="45720" rIns="91440" bIns="45720" anchor="t">
            <a:spAutoFit/>
          </a:bodyPr>
          <a:lstStyle/>
          <a:p>
            <a:pPr>
              <a:lnSpc>
                <a:spcPct val="150000"/>
              </a:lnSpc>
              <a:tabLst>
                <a:tab pos="457200" algn="l"/>
              </a:tabLst>
            </a:pPr>
            <a:r>
              <a:rPr lang="en-US" sz="850" b="1">
                <a:latin typeface="Aptos" panose="020B0004020202020204" pitchFamily="34" charset="0"/>
                <a:cs typeface="Arial"/>
              </a:rPr>
              <a:t>Status Update</a:t>
            </a:r>
            <a:endParaRPr lang="en-US" sz="850">
              <a:latin typeface="Aptos" panose="020B0004020202020204" pitchFamily="34" charset="0"/>
              <a:cs typeface="Arial"/>
            </a:endParaRPr>
          </a:p>
          <a:p>
            <a:pPr>
              <a:lnSpc>
                <a:spcPct val="150000"/>
              </a:lnSpc>
              <a:tabLst>
                <a:tab pos="457200" algn="l"/>
              </a:tabLst>
            </a:pPr>
            <a:r>
              <a:rPr lang="en-US" sz="850" b="1">
                <a:latin typeface="Aptos" panose="020B0004020202020204" pitchFamily="34" charset="0"/>
                <a:cs typeface="Arial"/>
              </a:rPr>
              <a:t>Overall Status: </a:t>
            </a:r>
            <a:r>
              <a:rPr lang="en-US" sz="850" b="1">
                <a:highlight>
                  <a:srgbClr val="FF0000"/>
                </a:highlight>
                <a:latin typeface="Aptos" panose="020B0004020202020204" pitchFamily="34" charset="0"/>
                <a:cs typeface="Arial"/>
              </a:rPr>
              <a:t>Red</a:t>
            </a:r>
          </a:p>
          <a:p>
            <a:pPr>
              <a:lnSpc>
                <a:spcPct val="150000"/>
              </a:lnSpc>
              <a:tabLst>
                <a:tab pos="457200" algn="l"/>
              </a:tabLst>
            </a:pPr>
            <a:r>
              <a:rPr lang="en-US" sz="850" b="1">
                <a:latin typeface="Aptos" panose="020B0004020202020204" pitchFamily="34" charset="0"/>
                <a:cs typeface="Arial"/>
              </a:rPr>
              <a:t>Justification </a:t>
            </a:r>
          </a:p>
          <a:p>
            <a:pPr>
              <a:lnSpc>
                <a:spcPct val="150000"/>
              </a:lnSpc>
              <a:tabLst>
                <a:tab pos="457200" algn="l"/>
              </a:tabLst>
            </a:pPr>
            <a:r>
              <a:rPr lang="en-US" sz="850">
                <a:latin typeface="Aptos" panose="020B0004020202020204" pitchFamily="34" charset="0"/>
              </a:rPr>
              <a:t>Due to dependencies and testing delays associated with the Add A Pet project, the release will no longer target the 8/26 off-cycle deployment date and is rescheduled to target 9/9.  UAT is complete and signed off with no issues.</a:t>
            </a:r>
          </a:p>
          <a:p>
            <a:pPr>
              <a:lnSpc>
                <a:spcPct val="150000"/>
              </a:lnSpc>
              <a:tabLst>
                <a:tab pos="457200" algn="l"/>
              </a:tabLst>
            </a:pPr>
            <a:r>
              <a:rPr lang="en-US" sz="850">
                <a:latin typeface="Aptos" panose="020B0004020202020204" pitchFamily="34" charset="0"/>
              </a:rPr>
              <a:t>Additionally, the Change Request to remove the prior underwriting question is now expected to move from the planned December 2026 implementation to February 2027. This shift is driven by competing priorities, capacity constraints across the Scrum Sharks and Epic Winners teams, and the December code freeze.</a:t>
            </a:r>
          </a:p>
          <a:p>
            <a:pPr>
              <a:lnSpc>
                <a:spcPct val="150000"/>
              </a:lnSpc>
              <a:tabLst>
                <a:tab pos="457200" algn="l"/>
              </a:tabLst>
            </a:pPr>
            <a:r>
              <a:rPr lang="en-US" sz="850">
                <a:latin typeface="Aptos" panose="020B0004020202020204" pitchFamily="34" charset="0"/>
              </a:rPr>
              <a:t>We have sent the request to key stakeholders for approval of the move to the February release.</a:t>
            </a:r>
          </a:p>
          <a:p>
            <a:pPr>
              <a:lnSpc>
                <a:spcPct val="150000"/>
              </a:lnSpc>
              <a:tabLst>
                <a:tab pos="457200" algn="l"/>
              </a:tabLst>
            </a:pPr>
            <a:endParaRPr lang="en-US" sz="850" b="1">
              <a:latin typeface="Aptos" panose="020B0004020202020204" pitchFamily="34" charset="0"/>
              <a:cs typeface="Arial"/>
            </a:endParaRPr>
          </a:p>
          <a:p>
            <a:pPr>
              <a:lnSpc>
                <a:spcPct val="150000"/>
              </a:lnSpc>
              <a:tabLst>
                <a:tab pos="457200" algn="l"/>
              </a:tabLst>
            </a:pPr>
            <a:r>
              <a:rPr lang="en-US" sz="850" b="1">
                <a:latin typeface="Aptos" panose="020B0004020202020204" pitchFamily="34" charset="0"/>
                <a:cs typeface="Arial"/>
              </a:rPr>
              <a:t>Path to yellow</a:t>
            </a:r>
            <a:endParaRPr lang="en-US" sz="850" b="1">
              <a:latin typeface="Aptos" panose="020B0004020202020204" pitchFamily="34" charset="0"/>
              <a:ea typeface="Aptos" panose="020B0004020202020204" pitchFamily="34" charset="0"/>
              <a:cs typeface="Arial"/>
            </a:endParaRPr>
          </a:p>
          <a:p>
            <a:pPr marL="228600" indent="-228600">
              <a:lnSpc>
                <a:spcPct val="150000"/>
              </a:lnSpc>
              <a:buAutoNum type="arabicPeriod"/>
              <a:tabLst>
                <a:tab pos="457200" algn="l"/>
              </a:tabLst>
            </a:pPr>
            <a:r>
              <a:rPr lang="en-US" sz="850">
                <a:latin typeface="Aptos" panose="020B0004020202020204" pitchFamily="34" charset="0"/>
                <a:ea typeface="Aptos" panose="020B0004020202020204" pitchFamily="34" charset="0"/>
                <a:cs typeface="Arial"/>
              </a:rPr>
              <a:t>Develop and provide the financial estimate required to support the Change Request extension into February 2027.  (8/24) </a:t>
            </a:r>
            <a:r>
              <a:rPr lang="en-US" sz="850" b="1">
                <a:latin typeface="Aptos" panose="020B0004020202020204" pitchFamily="34" charset="0"/>
                <a:ea typeface="Aptos" panose="020B0004020202020204" pitchFamily="34" charset="0"/>
                <a:cs typeface="Arial"/>
              </a:rPr>
              <a:t> Complete</a:t>
            </a:r>
          </a:p>
          <a:p>
            <a:pPr marL="228600" indent="-228600">
              <a:lnSpc>
                <a:spcPct val="150000"/>
              </a:lnSpc>
              <a:buAutoNum type="arabicPeriod"/>
              <a:tabLst>
                <a:tab pos="457200" algn="l"/>
              </a:tabLst>
            </a:pPr>
            <a:r>
              <a:rPr lang="en-US" sz="850">
                <a:latin typeface="Aptos" panose="020B0004020202020204" pitchFamily="34" charset="0"/>
                <a:ea typeface="Aptos" panose="020B0004020202020204" pitchFamily="34" charset="0"/>
                <a:cs typeface="Arial"/>
              </a:rPr>
              <a:t>Obtain formal approval from project governance for the revised Change Request implementation date. (</a:t>
            </a:r>
            <a:r>
              <a:rPr lang="en-US" sz="850" strike="sngStrike">
                <a:latin typeface="Aptos" panose="020B0004020202020204" pitchFamily="34" charset="0"/>
                <a:ea typeface="Aptos" panose="020B0004020202020204" pitchFamily="34" charset="0"/>
                <a:cs typeface="Arial"/>
              </a:rPr>
              <a:t>8/26</a:t>
            </a:r>
            <a:r>
              <a:rPr lang="en-US" sz="850">
                <a:latin typeface="Aptos" panose="020B0004020202020204" pitchFamily="34" charset="0"/>
                <a:ea typeface="Aptos" panose="020B0004020202020204" pitchFamily="34" charset="0"/>
                <a:cs typeface="Arial"/>
              </a:rPr>
              <a:t>) 8/31 </a:t>
            </a:r>
            <a:r>
              <a:rPr lang="en-US" sz="850" b="1">
                <a:latin typeface="Aptos" panose="020B0004020202020204" pitchFamily="34" charset="0"/>
                <a:ea typeface="Aptos" panose="020B0004020202020204" pitchFamily="34" charset="0"/>
                <a:cs typeface="Arial"/>
              </a:rPr>
              <a:t>Complete</a:t>
            </a:r>
          </a:p>
          <a:p>
            <a:pPr marL="228600" indent="-228600">
              <a:lnSpc>
                <a:spcPct val="150000"/>
              </a:lnSpc>
              <a:buAutoNum type="arabicPeriod"/>
              <a:tabLst>
                <a:tab pos="457200" algn="l"/>
              </a:tabLst>
            </a:pPr>
            <a:r>
              <a:rPr lang="en-US" sz="850">
                <a:latin typeface="Aptos" panose="020B0004020202020204" pitchFamily="34" charset="0"/>
                <a:ea typeface="Aptos" panose="020B0004020202020204" pitchFamily="34" charset="0"/>
                <a:cs typeface="Arial"/>
              </a:rPr>
              <a:t>Obtain a high level of confidence in UAT signoff for the Add A Pet project to support the planned 9/9 release.  (</a:t>
            </a:r>
            <a:r>
              <a:rPr lang="en-US" sz="850" b="1">
                <a:latin typeface="Aptos" panose="020B0004020202020204" pitchFamily="34" charset="0"/>
                <a:ea typeface="Aptos" panose="020B0004020202020204" pitchFamily="34" charset="0"/>
                <a:cs typeface="Arial"/>
              </a:rPr>
              <a:t>9/4</a:t>
            </a:r>
            <a:r>
              <a:rPr lang="en-US" sz="850">
                <a:latin typeface="Aptos" panose="020B0004020202020204" pitchFamily="34" charset="0"/>
                <a:ea typeface="Aptos" panose="020B0004020202020204" pitchFamily="34" charset="0"/>
                <a:cs typeface="Arial"/>
              </a:rPr>
              <a:t>)</a:t>
            </a:r>
            <a:endParaRPr lang="en-US" sz="850" b="1">
              <a:latin typeface="Aptos" panose="020B0004020202020204" pitchFamily="34" charset="0"/>
              <a:cs typeface="Arial"/>
            </a:endParaRPr>
          </a:p>
          <a:p>
            <a:pPr>
              <a:lnSpc>
                <a:spcPct val="150000"/>
              </a:lnSpc>
              <a:tabLst>
                <a:tab pos="457200" algn="l"/>
              </a:tabLst>
            </a:pPr>
            <a:r>
              <a:rPr lang="en-US" sz="850" b="1">
                <a:latin typeface="Aptos" panose="020B0004020202020204" pitchFamily="34" charset="0"/>
                <a:cs typeface="Arial"/>
              </a:rPr>
              <a:t>Accomplishments </a:t>
            </a:r>
          </a:p>
          <a:p>
            <a:pPr marL="171450" indent="-171450">
              <a:lnSpc>
                <a:spcPct val="150000"/>
              </a:lnSpc>
              <a:buFont typeface="Arial" panose="020B0604020202020204" pitchFamily="34" charset="0"/>
              <a:buChar char="•"/>
              <a:tabLst>
                <a:tab pos="457200" algn="l"/>
              </a:tabLst>
            </a:pPr>
            <a:r>
              <a:rPr lang="en-US" sz="850">
                <a:latin typeface="Aptos" panose="020B0004020202020204" pitchFamily="34" charset="0"/>
                <a:cs typeface="Arial"/>
              </a:rPr>
              <a:t>DDIT complete for Warranty fix TAB-1027 for showing pop-up when no vet is available.</a:t>
            </a:r>
          </a:p>
          <a:p>
            <a:pPr>
              <a:lnSpc>
                <a:spcPct val="150000"/>
              </a:lnSpc>
              <a:tabLst>
                <a:tab pos="457200" algn="l"/>
              </a:tabLst>
            </a:pPr>
            <a:r>
              <a:rPr lang="en-US" sz="850" b="1">
                <a:latin typeface="Aptos" panose="020B0004020202020204" pitchFamily="34" charset="0"/>
                <a:cs typeface="Arial"/>
              </a:rPr>
              <a:t>Next Steps</a:t>
            </a:r>
            <a:endParaRPr lang="en-US" sz="850" b="1">
              <a:latin typeface="Aptos" panose="020B0004020202020204" pitchFamily="34" charset="0"/>
              <a:ea typeface="Aptos" panose="020B0004020202020204" pitchFamily="34" charset="0"/>
              <a:cs typeface="Arial"/>
            </a:endParaRPr>
          </a:p>
          <a:p>
            <a:pPr marL="171450" indent="-171450">
              <a:lnSpc>
                <a:spcPct val="150000"/>
              </a:lnSpc>
              <a:buFont typeface="Arial,Sans-Serif"/>
              <a:buChar char="•"/>
              <a:tabLst>
                <a:tab pos="457200" algn="l"/>
              </a:tabLst>
            </a:pPr>
            <a:r>
              <a:rPr lang="en-US" sz="850">
                <a:latin typeface="Aptos" panose="020B0004020202020204" pitchFamily="34" charset="0"/>
                <a:ea typeface="Aptos" panose="020B0004020202020204" pitchFamily="34" charset="0"/>
                <a:cs typeface="Arial"/>
              </a:rPr>
              <a:t>UAT for TAB-1027</a:t>
            </a:r>
          </a:p>
          <a:p>
            <a:pPr marL="171450" indent="-171450">
              <a:lnSpc>
                <a:spcPct val="150000"/>
              </a:lnSpc>
              <a:buFont typeface="Arial,Sans-Serif"/>
              <a:buChar char="•"/>
              <a:tabLst>
                <a:tab pos="457200" algn="l"/>
              </a:tabLst>
            </a:pPr>
            <a:r>
              <a:rPr lang="en-US" sz="850">
                <a:latin typeface="Aptos" panose="020B0004020202020204" pitchFamily="34" charset="0"/>
                <a:ea typeface="Aptos" panose="020B0004020202020204" pitchFamily="34" charset="0"/>
                <a:cs typeface="Arial"/>
              </a:rPr>
              <a:t>DDIT complete and UAT for TAB-1038 ‘Display - Not one of these options’</a:t>
            </a:r>
            <a:endParaRPr lang="en-US" sz="900">
              <a:latin typeface="Arial"/>
              <a:ea typeface="Aptos" panose="020B0004020202020204" pitchFamily="34" charset="0"/>
              <a:cs typeface="Arial"/>
            </a:endParaRPr>
          </a:p>
        </p:txBody>
      </p:sp>
      <p:sp>
        <p:nvSpPr>
          <p:cNvPr id="18" name="TextBox 17">
            <a:extLst>
              <a:ext uri="{FF2B5EF4-FFF2-40B4-BE49-F238E27FC236}">
                <a16:creationId xmlns:a16="http://schemas.microsoft.com/office/drawing/2014/main" id="{21D33B76-9480-B3DD-5A56-0F37DB3D8563}"/>
              </a:ext>
            </a:extLst>
          </p:cNvPr>
          <p:cNvSpPr txBox="1"/>
          <p:nvPr/>
        </p:nvSpPr>
        <p:spPr>
          <a:xfrm>
            <a:off x="9661918" y="91795"/>
            <a:ext cx="3557368" cy="496931"/>
          </a:xfrm>
          <a:prstGeom prst="rect">
            <a:avLst/>
          </a:prstGeom>
          <a:noFill/>
        </p:spPr>
        <p:txBody>
          <a:bodyPr wrap="none" lIns="0" tIns="0" rIns="0" bIns="0" rtlCol="0" anchor="t">
            <a:noAutofit/>
          </a:bodyPr>
          <a:lstStyle>
            <a:defPPr>
              <a:defRPr lang="en-US"/>
            </a:defPPr>
            <a:lvl1pPr>
              <a:lnSpc>
                <a:spcPct val="112000"/>
              </a:lnSpc>
              <a:defRPr sz="1200">
                <a:solidFill>
                  <a:prstClr val="black"/>
                </a:solidFill>
                <a:latin typeface="Aptos" panose="02110004020202020204"/>
              </a:defRPr>
            </a:lvl1pPr>
          </a:lstStyle>
          <a:p>
            <a:r>
              <a:rPr lang="en-US"/>
              <a:t>Project Manager : Kinney Barbour</a:t>
            </a:r>
          </a:p>
          <a:p>
            <a:r>
              <a:rPr lang="en-US" err="1"/>
              <a:t>OpEx</a:t>
            </a:r>
            <a:r>
              <a:rPr lang="en-US"/>
              <a:t> Business Lead: Sara Andrews</a:t>
            </a:r>
          </a:p>
        </p:txBody>
      </p:sp>
      <p:sp>
        <p:nvSpPr>
          <p:cNvPr id="3" name="Flowchart: Connector 2">
            <a:extLst>
              <a:ext uri="{FF2B5EF4-FFF2-40B4-BE49-F238E27FC236}">
                <a16:creationId xmlns:a16="http://schemas.microsoft.com/office/drawing/2014/main" id="{D9E14052-ECC7-CBB3-998F-ADD1FEBB682A}"/>
              </a:ext>
            </a:extLst>
          </p:cNvPr>
          <p:cNvSpPr/>
          <p:nvPr/>
        </p:nvSpPr>
        <p:spPr>
          <a:xfrm>
            <a:off x="4250403" y="1417541"/>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lowchart: Connector 11">
            <a:extLst>
              <a:ext uri="{FF2B5EF4-FFF2-40B4-BE49-F238E27FC236}">
                <a16:creationId xmlns:a16="http://schemas.microsoft.com/office/drawing/2014/main" id="{FA94D9E7-AFC9-84B9-3948-94A013D38B2F}"/>
              </a:ext>
            </a:extLst>
          </p:cNvPr>
          <p:cNvSpPr/>
          <p:nvPr/>
        </p:nvSpPr>
        <p:spPr>
          <a:xfrm>
            <a:off x="6068553" y="1409878"/>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lowchart: Connector 5">
            <a:extLst>
              <a:ext uri="{FF2B5EF4-FFF2-40B4-BE49-F238E27FC236}">
                <a16:creationId xmlns:a16="http://schemas.microsoft.com/office/drawing/2014/main" id="{09AC5AD0-035B-3AEA-4235-B02D93256F0B}"/>
              </a:ext>
            </a:extLst>
          </p:cNvPr>
          <p:cNvSpPr/>
          <p:nvPr/>
        </p:nvSpPr>
        <p:spPr>
          <a:xfrm>
            <a:off x="3333949" y="1426800"/>
            <a:ext cx="163286" cy="164592"/>
          </a:xfrm>
          <a:prstGeom prst="flowChartConnector">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lowchart: Connector 9">
            <a:extLst>
              <a:ext uri="{FF2B5EF4-FFF2-40B4-BE49-F238E27FC236}">
                <a16:creationId xmlns:a16="http://schemas.microsoft.com/office/drawing/2014/main" id="{3FF0A3BF-CCAA-4E7B-EEC3-4D910FFF2940}"/>
              </a:ext>
            </a:extLst>
          </p:cNvPr>
          <p:cNvSpPr/>
          <p:nvPr/>
        </p:nvSpPr>
        <p:spPr>
          <a:xfrm>
            <a:off x="5230756" y="1421654"/>
            <a:ext cx="163286" cy="164592"/>
          </a:xfrm>
          <a:prstGeom prst="flowChartConnector">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lowchart: Connector 12">
            <a:extLst>
              <a:ext uri="{FF2B5EF4-FFF2-40B4-BE49-F238E27FC236}">
                <a16:creationId xmlns:a16="http://schemas.microsoft.com/office/drawing/2014/main" id="{EA0F6BD0-59DB-0A0F-76E1-97E5A5B9C6F1}"/>
              </a:ext>
            </a:extLst>
          </p:cNvPr>
          <p:cNvSpPr/>
          <p:nvPr/>
        </p:nvSpPr>
        <p:spPr>
          <a:xfrm>
            <a:off x="7805076" y="3739945"/>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lowchart: Connector 15">
            <a:extLst>
              <a:ext uri="{FF2B5EF4-FFF2-40B4-BE49-F238E27FC236}">
                <a16:creationId xmlns:a16="http://schemas.microsoft.com/office/drawing/2014/main" id="{B439E336-AA0F-2C83-AADE-D33F6877E3AC}"/>
              </a:ext>
            </a:extLst>
          </p:cNvPr>
          <p:cNvSpPr/>
          <p:nvPr/>
        </p:nvSpPr>
        <p:spPr>
          <a:xfrm>
            <a:off x="7796897" y="5663245"/>
            <a:ext cx="163286" cy="164592"/>
          </a:xfrm>
          <a:prstGeom prst="flowChartConnector">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lowchart: Connector 18">
            <a:extLst>
              <a:ext uri="{FF2B5EF4-FFF2-40B4-BE49-F238E27FC236}">
                <a16:creationId xmlns:a16="http://schemas.microsoft.com/office/drawing/2014/main" id="{E487A275-27B5-5CC9-5C21-FBCF0507008E}"/>
              </a:ext>
            </a:extLst>
          </p:cNvPr>
          <p:cNvSpPr/>
          <p:nvPr/>
        </p:nvSpPr>
        <p:spPr>
          <a:xfrm>
            <a:off x="7814126" y="3485915"/>
            <a:ext cx="163286" cy="164592"/>
          </a:xfrm>
          <a:prstGeom prst="flowChartConnector">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203136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49D440-9B18-4E22-43F5-C94AC80A65DA}"/>
              </a:ext>
            </a:extLst>
          </p:cNvPr>
          <p:cNvSpPr>
            <a:spLocks noGrp="1"/>
          </p:cNvSpPr>
          <p:nvPr>
            <p:ph type="title"/>
          </p:nvPr>
        </p:nvSpPr>
        <p:spPr/>
        <p:txBody>
          <a:bodyPr/>
          <a:lstStyle/>
          <a:p>
            <a:r>
              <a:rPr lang="en-US"/>
              <a:t>Yellow Projects</a:t>
            </a:r>
          </a:p>
        </p:txBody>
      </p:sp>
    </p:spTree>
    <p:extLst>
      <p:ext uri="{BB962C8B-B14F-4D97-AF65-F5344CB8AC3E}">
        <p14:creationId xmlns:p14="http://schemas.microsoft.com/office/powerpoint/2010/main" val="18265100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DCD610-4879-B3F0-C877-C25B99B9E718}"/>
            </a:ext>
          </a:extLst>
        </p:cNvPr>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586A8B60-543B-F3A8-8F2E-DF3E230C7D31}"/>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8" imgH="408" progId="TCLayout.ActiveDocument.1">
                  <p:embed/>
                </p:oleObj>
              </mc:Choice>
              <mc:Fallback>
                <p:oleObj name="think-cell Slide" r:id="rId4" imgW="408" imgH="408" progId="TCLayout.ActiveDocument.1">
                  <p:embed/>
                  <p:pic>
                    <p:nvPicPr>
                      <p:cNvPr id="9" name="think-cell data - do not delete" hidden="1">
                        <a:extLst>
                          <a:ext uri="{FF2B5EF4-FFF2-40B4-BE49-F238E27FC236}">
                            <a16:creationId xmlns:a16="http://schemas.microsoft.com/office/drawing/2014/main" id="{586A8B60-543B-F3A8-8F2E-DF3E230C7D31}"/>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graphicFrame>
        <p:nvGraphicFramePr>
          <p:cNvPr id="32" name="Group 614">
            <a:extLst>
              <a:ext uri="{FF2B5EF4-FFF2-40B4-BE49-F238E27FC236}">
                <a16:creationId xmlns:a16="http://schemas.microsoft.com/office/drawing/2014/main" id="{EB976461-3F7B-A6CC-DFB3-748DCE1EE8B1}"/>
              </a:ext>
            </a:extLst>
          </p:cNvPr>
          <p:cNvGraphicFramePr>
            <a:graphicFrameLocks noGrp="1"/>
          </p:cNvGraphicFramePr>
          <p:nvPr/>
        </p:nvGraphicFramePr>
        <p:xfrm>
          <a:off x="5862789" y="6537040"/>
          <a:ext cx="6203676" cy="310524"/>
        </p:xfrm>
        <a:graphic>
          <a:graphicData uri="http://schemas.openxmlformats.org/drawingml/2006/table">
            <a:tbl>
              <a:tblPr/>
              <a:tblGrid>
                <a:gridCol w="519705">
                  <a:extLst>
                    <a:ext uri="{9D8B030D-6E8A-4147-A177-3AD203B41FA5}">
                      <a16:colId xmlns:a16="http://schemas.microsoft.com/office/drawing/2014/main" val="20000"/>
                    </a:ext>
                  </a:extLst>
                </a:gridCol>
                <a:gridCol w="263408">
                  <a:extLst>
                    <a:ext uri="{9D8B030D-6E8A-4147-A177-3AD203B41FA5}">
                      <a16:colId xmlns:a16="http://schemas.microsoft.com/office/drawing/2014/main" val="20001"/>
                    </a:ext>
                  </a:extLst>
                </a:gridCol>
                <a:gridCol w="649245">
                  <a:extLst>
                    <a:ext uri="{9D8B030D-6E8A-4147-A177-3AD203B41FA5}">
                      <a16:colId xmlns:a16="http://schemas.microsoft.com/office/drawing/2014/main" val="20002"/>
                    </a:ext>
                  </a:extLst>
                </a:gridCol>
                <a:gridCol w="259508">
                  <a:extLst>
                    <a:ext uri="{9D8B030D-6E8A-4147-A177-3AD203B41FA5}">
                      <a16:colId xmlns:a16="http://schemas.microsoft.com/office/drawing/2014/main" val="20003"/>
                    </a:ext>
                  </a:extLst>
                </a:gridCol>
                <a:gridCol w="570172">
                  <a:extLst>
                    <a:ext uri="{9D8B030D-6E8A-4147-A177-3AD203B41FA5}">
                      <a16:colId xmlns:a16="http://schemas.microsoft.com/office/drawing/2014/main" val="20004"/>
                    </a:ext>
                  </a:extLst>
                </a:gridCol>
                <a:gridCol w="443945">
                  <a:extLst>
                    <a:ext uri="{9D8B030D-6E8A-4147-A177-3AD203B41FA5}">
                      <a16:colId xmlns:a16="http://schemas.microsoft.com/office/drawing/2014/main" val="20005"/>
                    </a:ext>
                  </a:extLst>
                </a:gridCol>
                <a:gridCol w="487176">
                  <a:extLst>
                    <a:ext uri="{9D8B030D-6E8A-4147-A177-3AD203B41FA5}">
                      <a16:colId xmlns:a16="http://schemas.microsoft.com/office/drawing/2014/main" val="20006"/>
                    </a:ext>
                  </a:extLst>
                </a:gridCol>
                <a:gridCol w="316216">
                  <a:extLst>
                    <a:ext uri="{9D8B030D-6E8A-4147-A177-3AD203B41FA5}">
                      <a16:colId xmlns:a16="http://schemas.microsoft.com/office/drawing/2014/main" val="20007"/>
                    </a:ext>
                  </a:extLst>
                </a:gridCol>
                <a:gridCol w="1175803">
                  <a:extLst>
                    <a:ext uri="{9D8B030D-6E8A-4147-A177-3AD203B41FA5}">
                      <a16:colId xmlns:a16="http://schemas.microsoft.com/office/drawing/2014/main" val="20008"/>
                    </a:ext>
                  </a:extLst>
                </a:gridCol>
                <a:gridCol w="324125">
                  <a:extLst>
                    <a:ext uri="{9D8B030D-6E8A-4147-A177-3AD203B41FA5}">
                      <a16:colId xmlns:a16="http://schemas.microsoft.com/office/drawing/2014/main" val="20009"/>
                    </a:ext>
                  </a:extLst>
                </a:gridCol>
                <a:gridCol w="1194373">
                  <a:extLst>
                    <a:ext uri="{9D8B030D-6E8A-4147-A177-3AD203B41FA5}">
                      <a16:colId xmlns:a16="http://schemas.microsoft.com/office/drawing/2014/main" val="20010"/>
                    </a:ext>
                  </a:extLst>
                </a:gridCol>
              </a:tblGrid>
              <a:tr h="257799">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Arial" charset="0"/>
                          <a:cs typeface="Arial" charset="0"/>
                        </a:rPr>
                        <a:t>Status Key</a:t>
                      </a:r>
                      <a:endParaRPr kumimoji="0" lang="en-GB" sz="1600" b="0" i="0" u="none" strike="noStrike" cap="none" normalizeH="0" baseline="0">
                        <a:ln>
                          <a:noFill/>
                        </a:ln>
                        <a:solidFill>
                          <a:srgbClr val="002060"/>
                        </a:solidFill>
                        <a:effectLst/>
                        <a:latin typeface="Times New Roman" pitchFamily="18" charset="0"/>
                      </a:endParaRPr>
                    </a:p>
                  </a:txBody>
                  <a:tcPr marL="75570" marR="75570"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mj-lt"/>
                        </a:rPr>
                        <a:t>C</a:t>
                      </a:r>
                    </a:p>
                  </a:txBody>
                  <a:tcPr marL="75570" marR="75570"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Arial" charset="0"/>
                          <a:cs typeface="Arial" charset="0"/>
                        </a:rPr>
                        <a:t>Completed</a:t>
                      </a:r>
                      <a:endParaRPr kumimoji="0" lang="en-GB" sz="1600" b="0" i="0" u="none" strike="noStrike" cap="none" normalizeH="0" baseline="0">
                        <a:ln>
                          <a:noFill/>
                        </a:ln>
                        <a:solidFill>
                          <a:srgbClr val="002060"/>
                        </a:solidFill>
                        <a:effectLst/>
                        <a:latin typeface="Times New Roman" pitchFamily="18" charset="0"/>
                      </a:endParaRPr>
                    </a:p>
                  </a:txBody>
                  <a:tcPr marL="75570" marR="75570"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L="75570" marR="75570"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On-Schedule</a:t>
                      </a:r>
                      <a:endParaRPr kumimoji="0" lang="en-GB" sz="1600" b="0" i="0" u="none" strike="noStrike" cap="none" normalizeH="0" baseline="0">
                        <a:ln>
                          <a:noFill/>
                        </a:ln>
                        <a:solidFill>
                          <a:srgbClr val="1D3A6A"/>
                        </a:solidFill>
                        <a:effectLst/>
                        <a:latin typeface="Times New Roman" pitchFamily="18" charset="0"/>
                      </a:endParaRPr>
                    </a:p>
                  </a:txBody>
                  <a:tcPr marL="75570" marR="75570"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L="75570" marR="75570"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Major Issues</a:t>
                      </a:r>
                      <a:endParaRPr kumimoji="0" lang="en-GB" sz="1600" b="0" i="0" u="none" strike="noStrike" cap="none" normalizeH="0" baseline="0">
                        <a:ln>
                          <a:noFill/>
                        </a:ln>
                        <a:solidFill>
                          <a:srgbClr val="1D3A6A"/>
                        </a:solidFill>
                        <a:effectLst/>
                        <a:latin typeface="Times New Roman" pitchFamily="18" charset="0"/>
                      </a:endParaRPr>
                    </a:p>
                  </a:txBody>
                  <a:tcPr marL="75570" marR="75570"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L="75570" marR="75570"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Some Issues</a:t>
                      </a:r>
                      <a:endParaRPr kumimoji="0" lang="en-GB" sz="1600" b="0" i="0" u="none" strike="noStrike" cap="none" normalizeH="0" baseline="0">
                        <a:ln>
                          <a:noFill/>
                        </a:ln>
                        <a:solidFill>
                          <a:srgbClr val="1D3A6A"/>
                        </a:solidFill>
                        <a:effectLst/>
                        <a:latin typeface="Times New Roman" pitchFamily="18" charset="0"/>
                      </a:endParaRPr>
                    </a:p>
                  </a:txBody>
                  <a:tcPr marL="75570" marR="75570"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NS</a:t>
                      </a:r>
                      <a:endParaRPr kumimoji="0" lang="en-GB" sz="1600" b="0" i="0" u="none" strike="noStrike" cap="none" normalizeH="0" baseline="0">
                        <a:ln>
                          <a:noFill/>
                        </a:ln>
                        <a:solidFill>
                          <a:srgbClr val="1D3A6A"/>
                        </a:solidFill>
                        <a:effectLst/>
                        <a:latin typeface="Times New Roman" pitchFamily="18" charset="0"/>
                      </a:endParaRPr>
                    </a:p>
                  </a:txBody>
                  <a:tcPr marL="75570" marR="75570"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Not Started</a:t>
                      </a:r>
                      <a:endParaRPr kumimoji="0" lang="en-GB" sz="1600" b="0" i="0" u="none" strike="noStrike" cap="none" normalizeH="0" baseline="0">
                        <a:ln>
                          <a:noFill/>
                        </a:ln>
                        <a:solidFill>
                          <a:srgbClr val="1D3A6A"/>
                        </a:solidFill>
                        <a:effectLst/>
                        <a:latin typeface="Times New Roman" pitchFamily="18" charset="0"/>
                      </a:endParaRPr>
                    </a:p>
                  </a:txBody>
                  <a:tcPr marL="75570" marR="75570"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11" name="Group 513">
            <a:extLst>
              <a:ext uri="{FF2B5EF4-FFF2-40B4-BE49-F238E27FC236}">
                <a16:creationId xmlns:a16="http://schemas.microsoft.com/office/drawing/2014/main" id="{2B686D89-6C93-C803-3900-DD08FBD7BB43}"/>
              </a:ext>
            </a:extLst>
          </p:cNvPr>
          <p:cNvGraphicFramePr>
            <a:graphicFrameLocks noGrp="1"/>
          </p:cNvGraphicFramePr>
          <p:nvPr>
            <p:extLst>
              <p:ext uri="{D42A27DB-BD31-4B8C-83A1-F6EECF244321}">
                <p14:modId xmlns:p14="http://schemas.microsoft.com/office/powerpoint/2010/main" val="4186004792"/>
              </p:ext>
            </p:extLst>
          </p:nvPr>
        </p:nvGraphicFramePr>
        <p:xfrm>
          <a:off x="197511" y="635042"/>
          <a:ext cx="2638218" cy="344301"/>
        </p:xfrm>
        <a:graphic>
          <a:graphicData uri="http://schemas.openxmlformats.org/drawingml/2006/table">
            <a:tbl>
              <a:tblPr/>
              <a:tblGrid>
                <a:gridCol w="984745">
                  <a:extLst>
                    <a:ext uri="{9D8B030D-6E8A-4147-A177-3AD203B41FA5}">
                      <a16:colId xmlns:a16="http://schemas.microsoft.com/office/drawing/2014/main" val="20000"/>
                    </a:ext>
                  </a:extLst>
                </a:gridCol>
                <a:gridCol w="1653473">
                  <a:extLst>
                    <a:ext uri="{9D8B030D-6E8A-4147-A177-3AD203B41FA5}">
                      <a16:colId xmlns:a16="http://schemas.microsoft.com/office/drawing/2014/main" val="20001"/>
                    </a:ext>
                  </a:extLst>
                </a:gridCol>
              </a:tblGrid>
              <a:tr h="344301">
                <a:tc>
                  <a:txBody>
                    <a:bodyPr/>
                    <a:lstStyle/>
                    <a:p>
                      <a:pPr marL="0" marR="0" lvl="0" indent="0" algn="l" defTabSz="914400" rtl="0" eaLnBrk="0" fontAlgn="base" latinLnBrk="0" hangingPunct="0">
                        <a:lnSpc>
                          <a:spcPct val="95000"/>
                        </a:lnSpc>
                        <a:spcBef>
                          <a:spcPct val="0"/>
                        </a:spcBef>
                        <a:spcAft>
                          <a:spcPct val="50000"/>
                        </a:spcAft>
                        <a:buClrTx/>
                        <a:buSzTx/>
                        <a:buFontTx/>
                        <a:buNone/>
                        <a:tabLst/>
                      </a:pPr>
                      <a:r>
                        <a:rPr kumimoji="0" lang="en-GB" sz="1050" b="1" i="0" u="none" strike="noStrike" kern="1200" cap="none" normalizeH="0" baseline="0">
                          <a:ln>
                            <a:noFill/>
                          </a:ln>
                          <a:solidFill>
                            <a:schemeClr val="bg1"/>
                          </a:solidFill>
                          <a:effectLst/>
                          <a:latin typeface="Arial"/>
                          <a:ea typeface="+mn-ea"/>
                          <a:cs typeface="+mn-cs"/>
                        </a:rPr>
                        <a:t>Status Date:</a:t>
                      </a:r>
                    </a:p>
                  </a:txBody>
                  <a:tcPr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GB" sz="1050" b="1" i="0" u="none" strike="noStrike" cap="none" normalizeH="0" baseline="0">
                          <a:ln>
                            <a:noFill/>
                          </a:ln>
                          <a:solidFill>
                            <a:schemeClr val="tx1"/>
                          </a:solidFill>
                          <a:effectLst/>
                          <a:latin typeface="Arial"/>
                        </a:rPr>
                        <a:t>08/28/2026</a:t>
                      </a:r>
                      <a:endParaRPr kumimoji="0" lang="en-GB" sz="1050" b="1" i="0" u="none" strike="noStrike" cap="none" normalizeH="0" baseline="0">
                        <a:ln>
                          <a:noFill/>
                        </a:ln>
                        <a:solidFill>
                          <a:schemeClr val="tx1"/>
                        </a:solidFill>
                        <a:effectLst/>
                        <a:latin typeface="Arial" charset="0"/>
                      </a:endParaRPr>
                    </a:p>
                  </a:txBody>
                  <a:tcPr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14" name="Table 13">
            <a:extLst>
              <a:ext uri="{FF2B5EF4-FFF2-40B4-BE49-F238E27FC236}">
                <a16:creationId xmlns:a16="http://schemas.microsoft.com/office/drawing/2014/main" id="{E1A12F7C-7410-0E83-63DD-08372EC5BD28}"/>
              </a:ext>
            </a:extLst>
          </p:cNvPr>
          <p:cNvGraphicFramePr>
            <a:graphicFrameLocks noGrp="1"/>
          </p:cNvGraphicFramePr>
          <p:nvPr>
            <p:extLst>
              <p:ext uri="{D42A27DB-BD31-4B8C-83A1-F6EECF244321}">
                <p14:modId xmlns:p14="http://schemas.microsoft.com/office/powerpoint/2010/main" val="1551964483"/>
              </p:ext>
            </p:extLst>
          </p:nvPr>
        </p:nvGraphicFramePr>
        <p:xfrm>
          <a:off x="6642604" y="633257"/>
          <a:ext cx="5457466" cy="730385"/>
        </p:xfrm>
        <a:graphic>
          <a:graphicData uri="http://schemas.openxmlformats.org/drawingml/2006/table">
            <a:tbl>
              <a:tblPr>
                <a:tableStyleId>{5C22544A-7EE6-4342-B048-85BDC9FD1C3A}</a:tableStyleId>
              </a:tblPr>
              <a:tblGrid>
                <a:gridCol w="1065865">
                  <a:extLst>
                    <a:ext uri="{9D8B030D-6E8A-4147-A177-3AD203B41FA5}">
                      <a16:colId xmlns:a16="http://schemas.microsoft.com/office/drawing/2014/main" val="2456552316"/>
                    </a:ext>
                  </a:extLst>
                </a:gridCol>
                <a:gridCol w="944705">
                  <a:extLst>
                    <a:ext uri="{9D8B030D-6E8A-4147-A177-3AD203B41FA5}">
                      <a16:colId xmlns:a16="http://schemas.microsoft.com/office/drawing/2014/main" val="2327174630"/>
                    </a:ext>
                  </a:extLst>
                </a:gridCol>
                <a:gridCol w="1544720">
                  <a:extLst>
                    <a:ext uri="{9D8B030D-6E8A-4147-A177-3AD203B41FA5}">
                      <a16:colId xmlns:a16="http://schemas.microsoft.com/office/drawing/2014/main" val="1100051595"/>
                    </a:ext>
                  </a:extLst>
                </a:gridCol>
                <a:gridCol w="931939">
                  <a:extLst>
                    <a:ext uri="{9D8B030D-6E8A-4147-A177-3AD203B41FA5}">
                      <a16:colId xmlns:a16="http://schemas.microsoft.com/office/drawing/2014/main" val="2042261034"/>
                    </a:ext>
                  </a:extLst>
                </a:gridCol>
                <a:gridCol w="970237">
                  <a:extLst>
                    <a:ext uri="{9D8B030D-6E8A-4147-A177-3AD203B41FA5}">
                      <a16:colId xmlns:a16="http://schemas.microsoft.com/office/drawing/2014/main" val="2815874248"/>
                    </a:ext>
                  </a:extLst>
                </a:gridCol>
              </a:tblGrid>
              <a:tr h="354378">
                <a:tc>
                  <a:txBody>
                    <a:bodyPr/>
                    <a:lstStyle/>
                    <a:p>
                      <a:pPr marL="0" marR="0" lvl="0" indent="0" algn="ctr" rtl="0" eaLnBrk="0" fontAlgn="base" latinLnBrk="0" hangingPunct="0">
                        <a:lnSpc>
                          <a:spcPct val="95000"/>
                        </a:lnSpc>
                        <a:spcBef>
                          <a:spcPct val="0"/>
                        </a:spcBef>
                        <a:spcAft>
                          <a:spcPct val="50000"/>
                        </a:spcAft>
                        <a:buClrTx/>
                        <a:buSzTx/>
                        <a:buFontTx/>
                        <a:buNone/>
                      </a:pPr>
                      <a:r>
                        <a:rPr lang="en-US" sz="900" b="1" i="0" u="none" strike="noStrike" kern="1200" cap="none" normalizeH="0" baseline="0">
                          <a:ln>
                            <a:noFill/>
                          </a:ln>
                          <a:solidFill>
                            <a:schemeClr val="bg1"/>
                          </a:solidFill>
                          <a:effectLst/>
                          <a:latin typeface="Arial"/>
                          <a:ea typeface="+mn-ea"/>
                          <a:cs typeface="+mn-cs"/>
                        </a:rPr>
                        <a:t> </a:t>
                      </a:r>
                      <a:r>
                        <a:rPr kumimoji="0" lang="en-US" sz="900" b="1" i="0" u="none" strike="noStrike" kern="1200" cap="none" normalizeH="0" baseline="0">
                          <a:ln>
                            <a:noFill/>
                          </a:ln>
                          <a:solidFill>
                            <a:schemeClr val="bg1"/>
                          </a:solidFill>
                          <a:effectLst/>
                          <a:latin typeface="Arial"/>
                          <a:ea typeface="+mn-ea"/>
                          <a:cs typeface="+mn-cs"/>
                        </a:rPr>
                        <a:t>2026 Revised Budget</a:t>
                      </a:r>
                      <a:r>
                        <a:rPr lang="en-US" sz="900" b="1" i="0" u="none" strike="noStrike" kern="1200" cap="none" normalizeH="0" baseline="0">
                          <a:ln>
                            <a:noFill/>
                          </a:ln>
                          <a:solidFill>
                            <a:schemeClr val="bg1"/>
                          </a:solidFill>
                          <a:effectLst/>
                          <a:latin typeface="Arial"/>
                          <a:ea typeface="+mn-ea"/>
                          <a:cs typeface="+mn-cs"/>
                        </a:rPr>
                        <a:t> </a:t>
                      </a:r>
                      <a:endParaRPr kumimoji="0" lang="en-US" sz="900" b="1" i="0" u="none" strike="noStrike" kern="1200" cap="none" normalizeH="0" baseline="0">
                        <a:ln>
                          <a:noFill/>
                        </a:ln>
                        <a:solidFill>
                          <a:schemeClr val="bg1"/>
                        </a:solidFill>
                        <a:effectLst/>
                        <a:latin typeface="Arial" charset="0"/>
                        <a:ea typeface="+mn-ea"/>
                        <a:cs typeface="+mn-cs"/>
                      </a:endParaRPr>
                    </a:p>
                  </a:txBody>
                  <a:tcPr marL="9525" marR="9525" marT="715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900" b="1" i="0" u="none" strike="noStrike" kern="1200" cap="none" normalizeH="0" baseline="0">
                          <a:ln>
                            <a:noFill/>
                          </a:ln>
                          <a:solidFill>
                            <a:schemeClr val="bg1"/>
                          </a:solidFill>
                          <a:effectLst/>
                          <a:latin typeface="Arial"/>
                          <a:ea typeface="+mn-ea"/>
                          <a:cs typeface="+mn-cs"/>
                        </a:rPr>
                        <a:t>YTD </a:t>
                      </a:r>
                      <a:r>
                        <a:rPr kumimoji="0" lang="en-US" sz="900" b="1" i="0" u="none" strike="noStrike" kern="1200" cap="none" normalizeH="0" baseline="0">
                          <a:ln>
                            <a:noFill/>
                          </a:ln>
                          <a:solidFill>
                            <a:schemeClr val="bg1"/>
                          </a:solidFill>
                          <a:effectLst/>
                          <a:latin typeface="Arial"/>
                          <a:ea typeface="+mn-ea"/>
                          <a:cs typeface="+mn-cs"/>
                        </a:rPr>
                        <a:t>Actuals</a:t>
                      </a:r>
                    </a:p>
                  </a:txBody>
                  <a:tcPr marL="9525" marR="9525" marT="715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900" b="1" i="0" u="none" strike="noStrike" kern="1200" cap="none" normalizeH="0" baseline="0">
                          <a:ln>
                            <a:noFill/>
                          </a:ln>
                          <a:solidFill>
                            <a:schemeClr val="bg1"/>
                          </a:solidFill>
                          <a:effectLst/>
                          <a:latin typeface="Arial"/>
                          <a:ea typeface="+mn-ea"/>
                          <a:cs typeface="+mn-cs"/>
                        </a:rPr>
                        <a:t>Remaining 2026 Forecast</a:t>
                      </a:r>
                    </a:p>
                  </a:txBody>
                  <a:tcPr marL="9525" marR="9525" marT="715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900" b="1" i="0" u="none" strike="noStrike" kern="1200" cap="none" normalizeH="0" baseline="0">
                          <a:ln>
                            <a:noFill/>
                          </a:ln>
                          <a:solidFill>
                            <a:schemeClr val="bg1"/>
                          </a:solidFill>
                          <a:effectLst/>
                          <a:latin typeface="Arial"/>
                          <a:ea typeface="+mn-ea"/>
                          <a:cs typeface="+mn-cs"/>
                        </a:rPr>
                        <a:t>Total </a:t>
                      </a:r>
                    </a:p>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900" b="1" i="0" u="none" strike="noStrike" kern="1200" cap="none" normalizeH="0" baseline="0">
                          <a:ln>
                            <a:noFill/>
                          </a:ln>
                          <a:solidFill>
                            <a:schemeClr val="bg1"/>
                          </a:solidFill>
                          <a:effectLst/>
                          <a:latin typeface="Arial"/>
                          <a:ea typeface="+mn-ea"/>
                          <a:cs typeface="+mn-cs"/>
                        </a:rPr>
                        <a:t>Actuals +Fcst</a:t>
                      </a:r>
                    </a:p>
                  </a:txBody>
                  <a:tcPr marL="9525" marR="9525" marT="715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900" b="1" i="0" u="none" strike="noStrike" kern="1200" cap="none" normalizeH="0" baseline="0">
                          <a:ln>
                            <a:noFill/>
                          </a:ln>
                          <a:solidFill>
                            <a:schemeClr val="bg1"/>
                          </a:solidFill>
                          <a:effectLst/>
                          <a:latin typeface="Arial"/>
                          <a:ea typeface="+mn-ea"/>
                          <a:cs typeface="+mn-cs"/>
                        </a:rPr>
                        <a:t> </a:t>
                      </a:r>
                      <a:r>
                        <a:rPr kumimoji="0" lang="en-US" sz="900" b="1" i="0" u="none" strike="noStrike" kern="1200" cap="none" normalizeH="0" baseline="0">
                          <a:ln>
                            <a:noFill/>
                          </a:ln>
                          <a:solidFill>
                            <a:schemeClr val="bg1"/>
                          </a:solidFill>
                          <a:effectLst/>
                          <a:latin typeface="Arial"/>
                          <a:ea typeface="+mn-ea"/>
                          <a:cs typeface="+mn-cs"/>
                        </a:rPr>
                        <a:t>Original</a:t>
                      </a:r>
                    </a:p>
                    <a:p>
                      <a:pPr marL="0" marR="0" lvl="0" indent="0" algn="ctr" rtl="0" eaLnBrk="0" fontAlgn="base" latinLnBrk="0" hangingPunct="0">
                        <a:lnSpc>
                          <a:spcPct val="95000"/>
                        </a:lnSpc>
                        <a:spcBef>
                          <a:spcPct val="0"/>
                        </a:spcBef>
                        <a:spcAft>
                          <a:spcPct val="50000"/>
                        </a:spcAft>
                        <a:buClrTx/>
                        <a:buSzTx/>
                        <a:buFontTx/>
                        <a:buNone/>
                      </a:pPr>
                      <a:r>
                        <a:rPr kumimoji="0" lang="en-US" sz="900" b="1" i="0" u="none" strike="noStrike" kern="1200" cap="none" normalizeH="0" baseline="0">
                          <a:ln>
                            <a:noFill/>
                          </a:ln>
                          <a:solidFill>
                            <a:schemeClr val="bg1"/>
                          </a:solidFill>
                          <a:effectLst/>
                          <a:latin typeface="Arial"/>
                          <a:ea typeface="+mn-ea"/>
                          <a:cs typeface="+mn-cs"/>
                        </a:rPr>
                        <a:t>Budget</a:t>
                      </a:r>
                      <a:r>
                        <a:rPr lang="en-US" sz="900" b="1" i="0" u="none" strike="noStrike" kern="1200" cap="none" normalizeH="0" baseline="0">
                          <a:ln>
                            <a:noFill/>
                          </a:ln>
                          <a:solidFill>
                            <a:schemeClr val="bg1"/>
                          </a:solidFill>
                          <a:effectLst/>
                          <a:latin typeface="Arial"/>
                          <a:ea typeface="+mn-ea"/>
                          <a:cs typeface="+mn-cs"/>
                        </a:rPr>
                        <a:t> </a:t>
                      </a:r>
                      <a:endParaRPr kumimoji="0" lang="en-US" sz="900" b="1" i="0" u="none" strike="noStrike" kern="1200" cap="none" normalizeH="0" baseline="0">
                        <a:ln>
                          <a:noFill/>
                        </a:ln>
                        <a:solidFill>
                          <a:schemeClr val="bg1"/>
                        </a:solidFill>
                        <a:effectLst/>
                        <a:latin typeface="Arial" charset="0"/>
                        <a:ea typeface="+mn-ea"/>
                        <a:cs typeface="+mn-cs"/>
                      </a:endParaRPr>
                    </a:p>
                  </a:txBody>
                  <a:tcPr marL="9525" marR="9525" marT="715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376007">
                <a:tc>
                  <a:txBody>
                    <a:bodyPr/>
                    <a:lstStyle/>
                    <a:p>
                      <a:pPr marL="0" marR="0" lvl="0" indent="0" algn="ctr" rtl="0" eaLnBrk="1" fontAlgn="ctr" latinLnBrk="0" hangingPunct="1">
                        <a:lnSpc>
                          <a:spcPct val="95000"/>
                        </a:lnSpc>
                        <a:spcBef>
                          <a:spcPct val="0"/>
                        </a:spcBef>
                        <a:spcAft>
                          <a:spcPct val="50000"/>
                        </a:spcAft>
                        <a:buClrTx/>
                        <a:buSzTx/>
                        <a:buFontTx/>
                        <a:buNone/>
                      </a:pPr>
                      <a:r>
                        <a:rPr lang="en-US" sz="900">
                          <a:latin typeface="+mn-lt"/>
                          <a:cs typeface="Arial" panose="020B0604020202020204" pitchFamily="34" charset="0"/>
                        </a:rPr>
                        <a:t>$4,050,000</a:t>
                      </a:r>
                      <a:endParaRPr lang="en-US" sz="900" b="1" kern="1200">
                        <a:solidFill>
                          <a:schemeClr val="tx1"/>
                        </a:solidFill>
                        <a:effectLst/>
                        <a:latin typeface="+mn-lt"/>
                        <a:ea typeface="+mn-ea"/>
                        <a:cs typeface="Arial" panose="020B0604020202020204" pitchFamily="34" charset="0"/>
                      </a:endParaRPr>
                    </a:p>
                  </a:txBody>
                  <a:tcPr marL="9525" marR="9525" marT="715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sz="900" b="0" i="0" u="none" strike="noStrike">
                          <a:solidFill>
                            <a:srgbClr val="000000"/>
                          </a:solidFill>
                          <a:effectLst/>
                          <a:latin typeface="+mn-lt"/>
                          <a:cs typeface="Arial" panose="020B0604020202020204" pitchFamily="34" charset="0"/>
                        </a:rPr>
                        <a:t>$1,809,495 </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sz="900" b="0" i="0" u="none" strike="noStrike">
                          <a:solidFill>
                            <a:srgbClr val="000000"/>
                          </a:solidFill>
                          <a:effectLst/>
                          <a:latin typeface="+mn-lt"/>
                          <a:cs typeface="Arial" panose="020B0604020202020204" pitchFamily="34" charset="0"/>
                        </a:rPr>
                        <a:t>$2,044,359.81 </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sz="900" b="0" i="0" u="none" strike="noStrike">
                          <a:solidFill>
                            <a:srgbClr val="000000"/>
                          </a:solidFill>
                          <a:effectLst/>
                          <a:latin typeface="+mn-lt"/>
                          <a:cs typeface="Arial" panose="020B0604020202020204" pitchFamily="34" charset="0"/>
                        </a:rPr>
                        <a:t>$3,853,855 </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defRPr/>
                      </a:pPr>
                      <a:r>
                        <a:rPr lang="en-US" sz="900">
                          <a:latin typeface="+mn-lt"/>
                          <a:cs typeface="Arial" panose="020B0604020202020204" pitchFamily="34" charset="0"/>
                        </a:rPr>
                        <a:t>$6,200,000</a:t>
                      </a:r>
                      <a:endParaRPr lang="en-US" sz="900" b="1" kern="1200">
                        <a:solidFill>
                          <a:schemeClr val="tx1"/>
                        </a:solidFill>
                        <a:effectLst/>
                        <a:latin typeface="+mn-lt"/>
                        <a:ea typeface="+mn-ea"/>
                        <a:cs typeface="Arial" panose="020B0604020202020204" pitchFamily="34" charset="0"/>
                      </a:endParaRPr>
                    </a:p>
                  </a:txBody>
                  <a:tcPr marL="9525" marR="9525" marT="715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7499024"/>
                  </a:ext>
                </a:extLst>
              </a:tr>
            </a:tbl>
          </a:graphicData>
        </a:graphic>
      </p:graphicFrame>
      <p:graphicFrame>
        <p:nvGraphicFramePr>
          <p:cNvPr id="25" name="Table 24">
            <a:extLst>
              <a:ext uri="{FF2B5EF4-FFF2-40B4-BE49-F238E27FC236}">
                <a16:creationId xmlns:a16="http://schemas.microsoft.com/office/drawing/2014/main" id="{FF2BC6A0-20BB-4B9F-83E1-192BE81EFB50}"/>
              </a:ext>
            </a:extLst>
          </p:cNvPr>
          <p:cNvGraphicFramePr>
            <a:graphicFrameLocks noGrp="1"/>
          </p:cNvGraphicFramePr>
          <p:nvPr/>
        </p:nvGraphicFramePr>
        <p:xfrm>
          <a:off x="2811025" y="637202"/>
          <a:ext cx="3829275" cy="743175"/>
        </p:xfrm>
        <a:graphic>
          <a:graphicData uri="http://schemas.openxmlformats.org/drawingml/2006/table">
            <a:tbl>
              <a:tblPr>
                <a:tableStyleId>{5C22544A-7EE6-4342-B048-85BDC9FD1C3A}</a:tableStyleId>
              </a:tblPr>
              <a:tblGrid>
                <a:gridCol w="1042158">
                  <a:extLst>
                    <a:ext uri="{9D8B030D-6E8A-4147-A177-3AD203B41FA5}">
                      <a16:colId xmlns:a16="http://schemas.microsoft.com/office/drawing/2014/main" val="2456552316"/>
                    </a:ext>
                  </a:extLst>
                </a:gridCol>
                <a:gridCol w="961214">
                  <a:extLst>
                    <a:ext uri="{9D8B030D-6E8A-4147-A177-3AD203B41FA5}">
                      <a16:colId xmlns:a16="http://schemas.microsoft.com/office/drawing/2014/main" val="1100051595"/>
                    </a:ext>
                  </a:extLst>
                </a:gridCol>
                <a:gridCol w="920742">
                  <a:extLst>
                    <a:ext uri="{9D8B030D-6E8A-4147-A177-3AD203B41FA5}">
                      <a16:colId xmlns:a16="http://schemas.microsoft.com/office/drawing/2014/main" val="2042261034"/>
                    </a:ext>
                  </a:extLst>
                </a:gridCol>
                <a:gridCol w="905161">
                  <a:extLst>
                    <a:ext uri="{9D8B030D-6E8A-4147-A177-3AD203B41FA5}">
                      <a16:colId xmlns:a16="http://schemas.microsoft.com/office/drawing/2014/main" val="2815874248"/>
                    </a:ext>
                  </a:extLst>
                </a:gridCol>
              </a:tblGrid>
              <a:tr h="380368">
                <a:tc>
                  <a:txBody>
                    <a:bodyPr/>
                    <a:lstStyle/>
                    <a:p>
                      <a:pPr marL="0" marR="0" lvl="0" indent="0" algn="ctr" rtl="0" eaLnBrk="0" fontAlgn="base" latinLnBrk="0" hangingPunct="0">
                        <a:lnSpc>
                          <a:spcPct val="95000"/>
                        </a:lnSpc>
                        <a:spcBef>
                          <a:spcPct val="0"/>
                        </a:spcBef>
                        <a:spcAft>
                          <a:spcPct val="50000"/>
                        </a:spcAft>
                        <a:buClrTx/>
                        <a:buSzTx/>
                        <a:buFontTx/>
                        <a:buNone/>
                      </a:pPr>
                      <a:r>
                        <a:rPr lang="en-US" sz="1100" b="1" i="0" u="none" strike="noStrike" kern="1200" cap="none" normalizeH="0" baseline="0">
                          <a:ln>
                            <a:noFill/>
                          </a:ln>
                          <a:solidFill>
                            <a:schemeClr val="bg1"/>
                          </a:solidFill>
                          <a:effectLst/>
                          <a:latin typeface="Arial"/>
                          <a:ea typeface="+mn-ea"/>
                          <a:cs typeface="+mn-cs"/>
                        </a:rPr>
                        <a:t> </a:t>
                      </a:r>
                      <a:r>
                        <a:rPr kumimoji="0" lang="en-US" sz="1100" b="1" i="0" u="none" strike="noStrike" kern="1200" cap="none" normalizeH="0" baseline="0">
                          <a:ln>
                            <a:noFill/>
                          </a:ln>
                          <a:solidFill>
                            <a:schemeClr val="bg1"/>
                          </a:solidFill>
                          <a:effectLst/>
                          <a:latin typeface="Arial"/>
                          <a:ea typeface="+mn-ea"/>
                          <a:cs typeface="+mn-cs"/>
                        </a:rPr>
                        <a:t>Overall</a:t>
                      </a:r>
                      <a:endParaRPr kumimoji="0" lang="en-US" sz="110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100" b="1" i="0" u="none" strike="noStrike" kern="1200" cap="none" normalizeH="0" baseline="0">
                          <a:ln>
                            <a:noFill/>
                          </a:ln>
                          <a:solidFill>
                            <a:schemeClr val="bg1"/>
                          </a:solidFill>
                          <a:effectLst/>
                          <a:latin typeface="Arial"/>
                          <a:ea typeface="+mn-ea"/>
                          <a:cs typeface="+mn-cs"/>
                        </a:rPr>
                        <a:t>Scope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100" b="1" i="0" u="none" strike="noStrike" kern="1200" cap="none" normalizeH="0" baseline="0">
                          <a:ln>
                            <a:noFill/>
                          </a:ln>
                          <a:solidFill>
                            <a:schemeClr val="bg1"/>
                          </a:solidFill>
                          <a:effectLst/>
                          <a:latin typeface="Arial"/>
                          <a:ea typeface="+mn-ea"/>
                          <a:cs typeface="+mn-cs"/>
                        </a:rPr>
                        <a:t>Schedule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100" b="1" i="0" u="none" strike="noStrike" kern="1200" cap="none" normalizeH="0" baseline="0">
                          <a:ln>
                            <a:noFill/>
                          </a:ln>
                          <a:solidFill>
                            <a:schemeClr val="bg1"/>
                          </a:solidFill>
                          <a:effectLst/>
                          <a:latin typeface="Arial"/>
                          <a:ea typeface="+mn-ea"/>
                          <a:cs typeface="+mn-cs"/>
                        </a:rPr>
                        <a:t>Financials</a:t>
                      </a:r>
                      <a:endParaRPr kumimoji="0" lang="en-US" sz="110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362807">
                <a:tc>
                  <a:txBody>
                    <a:bodyPr/>
                    <a:lstStyle/>
                    <a:p>
                      <a:pPr marL="0" marR="0" lvl="0" indent="0" algn="ctr" rtl="0" eaLnBrk="1" fontAlgn="ctr" latinLnBrk="0" hangingPunct="1">
                        <a:lnSpc>
                          <a:spcPct val="95000"/>
                        </a:lnSpc>
                        <a:spcBef>
                          <a:spcPct val="0"/>
                        </a:spcBef>
                        <a:spcAft>
                          <a:spcPct val="50000"/>
                        </a:spcAft>
                        <a:buClrTx/>
                        <a:buSzTx/>
                        <a:buFontTx/>
                        <a:buNone/>
                      </a:pPr>
                      <a:endParaRPr lang="en-US" sz="110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110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110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rtl="0" eaLnBrk="1" fontAlgn="ctr" latinLnBrk="0" hangingPunct="1">
                        <a:lnSpc>
                          <a:spcPct val="95000"/>
                        </a:lnSpc>
                        <a:spcBef>
                          <a:spcPct val="0"/>
                        </a:spcBef>
                        <a:spcAft>
                          <a:spcPct val="50000"/>
                        </a:spcAft>
                        <a:buClrTx/>
                        <a:buSzTx/>
                        <a:buFontTx/>
                        <a:buNone/>
                      </a:pPr>
                      <a:endParaRPr lang="en-US" sz="110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7499024"/>
                  </a:ext>
                </a:extLst>
              </a:tr>
            </a:tbl>
          </a:graphicData>
        </a:graphic>
      </p:graphicFrame>
      <p:graphicFrame>
        <p:nvGraphicFramePr>
          <p:cNvPr id="26" name="Group 513">
            <a:extLst>
              <a:ext uri="{FF2B5EF4-FFF2-40B4-BE49-F238E27FC236}">
                <a16:creationId xmlns:a16="http://schemas.microsoft.com/office/drawing/2014/main" id="{611930DE-3B05-D706-B09B-54795AB3776A}"/>
              </a:ext>
            </a:extLst>
          </p:cNvPr>
          <p:cNvGraphicFramePr>
            <a:graphicFrameLocks noGrp="1"/>
          </p:cNvGraphicFramePr>
          <p:nvPr>
            <p:extLst>
              <p:ext uri="{D42A27DB-BD31-4B8C-83A1-F6EECF244321}">
                <p14:modId xmlns:p14="http://schemas.microsoft.com/office/powerpoint/2010/main" val="3608247534"/>
              </p:ext>
            </p:extLst>
          </p:nvPr>
        </p:nvGraphicFramePr>
        <p:xfrm>
          <a:off x="195146" y="985024"/>
          <a:ext cx="2607851" cy="395688"/>
        </p:xfrm>
        <a:graphic>
          <a:graphicData uri="http://schemas.openxmlformats.org/drawingml/2006/table">
            <a:tbl>
              <a:tblPr/>
              <a:tblGrid>
                <a:gridCol w="987964">
                  <a:extLst>
                    <a:ext uri="{9D8B030D-6E8A-4147-A177-3AD203B41FA5}">
                      <a16:colId xmlns:a16="http://schemas.microsoft.com/office/drawing/2014/main" val="20000"/>
                    </a:ext>
                  </a:extLst>
                </a:gridCol>
                <a:gridCol w="1619887">
                  <a:extLst>
                    <a:ext uri="{9D8B030D-6E8A-4147-A177-3AD203B41FA5}">
                      <a16:colId xmlns:a16="http://schemas.microsoft.com/office/drawing/2014/main" val="20001"/>
                    </a:ext>
                  </a:extLst>
                </a:gridCol>
              </a:tblGrid>
              <a:tr h="351480">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GB" sz="1050" b="1" i="0" u="none" strike="noStrike" kern="1200" cap="none" normalizeH="0" baseline="0">
                          <a:ln>
                            <a:noFill/>
                          </a:ln>
                          <a:solidFill>
                            <a:schemeClr val="bg1"/>
                          </a:solidFill>
                          <a:effectLst/>
                          <a:latin typeface="Arial"/>
                          <a:ea typeface="+mn-ea"/>
                          <a:cs typeface="+mn-cs"/>
                        </a:rPr>
                        <a:t>Target Delivery:</a:t>
                      </a:r>
                    </a:p>
                  </a:txBody>
                  <a:tcPr marL="0" marR="0"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2060"/>
                    </a:solidFill>
                  </a:tcPr>
                </a:tc>
                <a:tc>
                  <a:txBody>
                    <a:bodyPr/>
                    <a:lstStyle/>
                    <a:p>
                      <a:pPr marL="0" marR="0" lvl="0" indent="0" algn="ctr" rtl="0" eaLnBrk="0" fontAlgn="base" latinLnBrk="0" hangingPunct="0">
                        <a:lnSpc>
                          <a:spcPct val="80000"/>
                        </a:lnSpc>
                        <a:spcBef>
                          <a:spcPct val="0"/>
                        </a:spcBef>
                        <a:spcAft>
                          <a:spcPts val="0"/>
                        </a:spcAft>
                        <a:buClrTx/>
                        <a:buSzTx/>
                        <a:buFontTx/>
                        <a:buNone/>
                      </a:pPr>
                      <a:r>
                        <a:rPr lang="en-US" sz="900" b="1" i="0" u="none" strike="noStrike" cap="none" normalizeH="0" baseline="0">
                          <a:ln>
                            <a:noFill/>
                          </a:ln>
                          <a:solidFill>
                            <a:schemeClr val="tx1"/>
                          </a:solidFill>
                          <a:effectLst/>
                          <a:latin typeface="+mn-lt"/>
                        </a:rPr>
                        <a:t>Dark Launch: Oct 14</a:t>
                      </a:r>
                    </a:p>
                    <a:p>
                      <a:pPr marL="0" marR="0" lvl="0" indent="0" algn="ctr" rtl="0" eaLnBrk="0" fontAlgn="base" latinLnBrk="0" hangingPunct="0">
                        <a:lnSpc>
                          <a:spcPct val="80000"/>
                        </a:lnSpc>
                        <a:spcBef>
                          <a:spcPct val="0"/>
                        </a:spcBef>
                        <a:spcAft>
                          <a:spcPts val="0"/>
                        </a:spcAft>
                        <a:buClrTx/>
                        <a:buSzTx/>
                        <a:buFontTx/>
                        <a:buNone/>
                      </a:pPr>
                      <a:r>
                        <a:rPr lang="en-US" sz="900" b="1" i="0" u="none" strike="noStrike" cap="none" normalizeH="0" baseline="0">
                          <a:ln>
                            <a:noFill/>
                          </a:ln>
                          <a:solidFill>
                            <a:schemeClr val="tx1"/>
                          </a:solidFill>
                          <a:effectLst/>
                          <a:latin typeface="+mn-lt"/>
                        </a:rPr>
                        <a:t>Go live: Nov </a:t>
                      </a:r>
                      <a:r>
                        <a:rPr lang="en-US" sz="900" b="1" i="1" u="none" strike="noStrike" kern="1200" cap="none" normalizeH="0" baseline="0">
                          <a:ln>
                            <a:noFill/>
                          </a:ln>
                          <a:solidFill>
                            <a:schemeClr val="tx1"/>
                          </a:solidFill>
                          <a:effectLst/>
                          <a:latin typeface="+mn-lt"/>
                          <a:ea typeface="+mn-ea"/>
                          <a:cs typeface="+mn-cs"/>
                        </a:rPr>
                        <a:t>11</a:t>
                      </a:r>
                      <a:endParaRPr kumimoji="0" lang="en-US" sz="900" b="1" strike="noStrike">
                        <a:solidFill>
                          <a:schemeClr val="tx1"/>
                        </a:solidFill>
                        <a:highlight>
                          <a:srgbClr val="FFFF99"/>
                        </a:highlight>
                        <a:latin typeface="+mn-lt"/>
                      </a:endParaRPr>
                    </a:p>
                  </a:txBody>
                  <a:tcPr marL="0" marR="0"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27" name="Table 26">
            <a:extLst>
              <a:ext uri="{FF2B5EF4-FFF2-40B4-BE49-F238E27FC236}">
                <a16:creationId xmlns:a16="http://schemas.microsoft.com/office/drawing/2014/main" id="{50D303B1-4685-BE6D-5075-97DA9E0010EB}"/>
              </a:ext>
            </a:extLst>
          </p:cNvPr>
          <p:cNvGraphicFramePr>
            <a:graphicFrameLocks noGrp="1"/>
          </p:cNvGraphicFramePr>
          <p:nvPr>
            <p:extLst>
              <p:ext uri="{D42A27DB-BD31-4B8C-83A1-F6EECF244321}">
                <p14:modId xmlns:p14="http://schemas.microsoft.com/office/powerpoint/2010/main" val="734834797"/>
              </p:ext>
            </p:extLst>
          </p:nvPr>
        </p:nvGraphicFramePr>
        <p:xfrm>
          <a:off x="5901370" y="1421387"/>
          <a:ext cx="6234000" cy="3933258"/>
        </p:xfrm>
        <a:graphic>
          <a:graphicData uri="http://schemas.openxmlformats.org/drawingml/2006/table">
            <a:tbl>
              <a:tblPr>
                <a:tableStyleId>{5C22544A-7EE6-4342-B048-85BDC9FD1C3A}</a:tableStyleId>
              </a:tblPr>
              <a:tblGrid>
                <a:gridCol w="2281769">
                  <a:extLst>
                    <a:ext uri="{9D8B030D-6E8A-4147-A177-3AD203B41FA5}">
                      <a16:colId xmlns:a16="http://schemas.microsoft.com/office/drawing/2014/main" val="2456552316"/>
                    </a:ext>
                  </a:extLst>
                </a:gridCol>
                <a:gridCol w="469697">
                  <a:extLst>
                    <a:ext uri="{9D8B030D-6E8A-4147-A177-3AD203B41FA5}">
                      <a16:colId xmlns:a16="http://schemas.microsoft.com/office/drawing/2014/main" val="1100051595"/>
                    </a:ext>
                  </a:extLst>
                </a:gridCol>
                <a:gridCol w="586670">
                  <a:extLst>
                    <a:ext uri="{9D8B030D-6E8A-4147-A177-3AD203B41FA5}">
                      <a16:colId xmlns:a16="http://schemas.microsoft.com/office/drawing/2014/main" val="2042261034"/>
                    </a:ext>
                  </a:extLst>
                </a:gridCol>
                <a:gridCol w="2895864">
                  <a:extLst>
                    <a:ext uri="{9D8B030D-6E8A-4147-A177-3AD203B41FA5}">
                      <a16:colId xmlns:a16="http://schemas.microsoft.com/office/drawing/2014/main" val="2815874248"/>
                    </a:ext>
                  </a:extLst>
                </a:gridCol>
              </a:tblGrid>
              <a:tr h="316615">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Milestone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Status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Due Date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Notes</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21440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0" kern="1200">
                          <a:solidFill>
                            <a:schemeClr val="tx1"/>
                          </a:solidFill>
                          <a:effectLst/>
                          <a:latin typeface="+mn-lt"/>
                          <a:ea typeface="+mn-ea"/>
                          <a:cs typeface="+mn-cs"/>
                        </a:rPr>
                        <a:t>Bundle 2 (Communication and Servicing))</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800">
                          <a:latin typeface="+mn-lt"/>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800" strike="noStrike">
                          <a:latin typeface="+mn-lt"/>
                        </a:rPr>
                        <a:t>5/6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171450" marR="0" lvl="0" indent="-171450" algn="l" defTabSz="914400" rtl="0" eaLnBrk="1" fontAlgn="base" latinLnBrk="0" hangingPunct="1">
                        <a:lnSpc>
                          <a:spcPct val="100000"/>
                        </a:lnSpc>
                        <a:spcBef>
                          <a:spcPts val="200"/>
                        </a:spcBef>
                        <a:spcAft>
                          <a:spcPts val="0"/>
                        </a:spcAft>
                        <a:buClrTx/>
                        <a:buSzTx/>
                        <a:buFont typeface="Arial" panose="020B0604020202020204" pitchFamily="34" charset="0"/>
                        <a:buChar char="•"/>
                        <a:tabLst/>
                        <a:defRPr/>
                      </a:pPr>
                      <a:endParaRPr lang="en-US" sz="800" b="0" i="0">
                        <a:solidFill>
                          <a:srgbClr val="000000"/>
                        </a:solidFill>
                        <a:effectLst/>
                        <a:latin typeface="+mn-lt"/>
                        <a:cs typeface="Times New Roman"/>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264978745"/>
                  </a:ext>
                </a:extLst>
              </a:tr>
              <a:tr h="21440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0" kern="1200">
                          <a:solidFill>
                            <a:schemeClr val="tx1"/>
                          </a:solidFill>
                          <a:effectLst/>
                          <a:latin typeface="+mn-lt"/>
                          <a:ea typeface="+mn-ea"/>
                          <a:cs typeface="+mn-cs"/>
                        </a:rPr>
                        <a:t>Bundle 3 (VBO admin)</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800">
                          <a:latin typeface="+mn-lt"/>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800" strike="noStrike">
                          <a:latin typeface="+mn-lt"/>
                        </a:rPr>
                        <a:t>5/27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base" latinLnBrk="0" hangingPunct="1">
                        <a:lnSpc>
                          <a:spcPct val="100000"/>
                        </a:lnSpc>
                        <a:spcBef>
                          <a:spcPts val="200"/>
                        </a:spcBef>
                        <a:spcAft>
                          <a:spcPts val="0"/>
                        </a:spcAft>
                        <a:buClrTx/>
                        <a:buSzTx/>
                        <a:buFont typeface="Arial" panose="020B0604020202020204" pitchFamily="34" charset="0"/>
                        <a:buNone/>
                        <a:tabLst/>
                        <a:defRPr/>
                      </a:pPr>
                      <a:endParaRPr lang="en-US" sz="800" b="0" i="0">
                        <a:solidFill>
                          <a:srgbClr val="000000"/>
                        </a:solidFill>
                        <a:effectLst/>
                        <a:latin typeface="+mn-lt"/>
                        <a:cs typeface="Times New Roman"/>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2942323326"/>
                  </a:ext>
                </a:extLst>
              </a:tr>
              <a:tr h="21440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0" kern="1200">
                          <a:solidFill>
                            <a:schemeClr val="tx1"/>
                          </a:solidFill>
                          <a:effectLst/>
                          <a:latin typeface="+mn-lt"/>
                          <a:ea typeface="+mn-ea"/>
                          <a:cs typeface="+mn-cs"/>
                        </a:rPr>
                        <a:t>Bundle 4 (Billing)</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800">
                          <a:latin typeface="+mn-lt"/>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800" strike="noStrike">
                          <a:latin typeface="+mn-lt"/>
                        </a:rPr>
                        <a:t>8/18</a:t>
                      </a:r>
                      <a:endParaRPr lang="en-US" sz="800" strike="sngStrike">
                        <a:latin typeface="+mn-l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171450" marR="0" lvl="0" indent="-171450" algn="l" defTabSz="914400" rtl="0" eaLnBrk="1" fontAlgn="base" latinLnBrk="0" hangingPunct="1">
                        <a:lnSpc>
                          <a:spcPct val="100000"/>
                        </a:lnSpc>
                        <a:spcBef>
                          <a:spcPts val="200"/>
                        </a:spcBef>
                        <a:spcAft>
                          <a:spcPts val="0"/>
                        </a:spcAft>
                        <a:buClrTx/>
                        <a:buSzTx/>
                        <a:buFont typeface="Arial" panose="020B0604020202020204" pitchFamily="34" charset="0"/>
                        <a:buChar char="•"/>
                        <a:tabLst/>
                        <a:defRPr/>
                      </a:pPr>
                      <a:endParaRPr lang="en-US" sz="800" b="0" i="0">
                        <a:solidFill>
                          <a:srgbClr val="000000"/>
                        </a:solidFill>
                        <a:effectLst/>
                        <a:latin typeface="+mn-lt"/>
                        <a:cs typeface="Times New Roman"/>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00590502"/>
                  </a:ext>
                </a:extLst>
              </a:tr>
              <a:tr h="21440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0" kern="1200">
                          <a:solidFill>
                            <a:schemeClr val="tx1"/>
                          </a:solidFill>
                          <a:effectLst/>
                          <a:latin typeface="+mn-lt"/>
                          <a:ea typeface="+mn-ea"/>
                          <a:cs typeface="+mn-cs"/>
                        </a:rPr>
                        <a:t>Finance Schedule</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800">
                          <a:latin typeface="+mn-lt"/>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800" strike="noStrike">
                          <a:latin typeface="+mn-lt"/>
                        </a:rPr>
                        <a:t>7/17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base" latinLnBrk="0" hangingPunct="1">
                        <a:lnSpc>
                          <a:spcPct val="100000"/>
                        </a:lnSpc>
                        <a:spcBef>
                          <a:spcPts val="200"/>
                        </a:spcBef>
                        <a:spcAft>
                          <a:spcPts val="0"/>
                        </a:spcAft>
                        <a:buClrTx/>
                        <a:buSzTx/>
                        <a:buFont typeface="Arial" panose="020B0604020202020204" pitchFamily="34" charset="0"/>
                        <a:buNone/>
                        <a:tabLst/>
                        <a:defRPr/>
                      </a:pPr>
                      <a:endParaRPr lang="en-US" sz="800" b="0" i="0">
                        <a:solidFill>
                          <a:srgbClr val="000000"/>
                        </a:solidFill>
                        <a:effectLst/>
                        <a:latin typeface="+mn-lt"/>
                        <a:cs typeface="Times New Roman"/>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776224152"/>
                  </a:ext>
                </a:extLst>
              </a:tr>
              <a:tr h="21440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0" kern="1200">
                          <a:solidFill>
                            <a:schemeClr val="tx1"/>
                          </a:solidFill>
                          <a:effectLst/>
                          <a:latin typeface="+mn-lt"/>
                          <a:ea typeface="+mn-ea"/>
                          <a:cs typeface="+mn-cs"/>
                        </a:rPr>
                        <a:t>Dark Launch</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800">
                          <a:latin typeface="+mn-lt"/>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strike="noStrike">
                          <a:latin typeface="+mn-lt"/>
                        </a:rPr>
                        <a:t>8/12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base" latinLnBrk="0" hangingPunct="1">
                        <a:lnSpc>
                          <a:spcPct val="100000"/>
                        </a:lnSpc>
                        <a:spcBef>
                          <a:spcPts val="200"/>
                        </a:spcBef>
                        <a:spcAft>
                          <a:spcPts val="0"/>
                        </a:spcAft>
                        <a:buClrTx/>
                        <a:buSzTx/>
                        <a:buFont typeface="Arial" panose="020B0604020202020204" pitchFamily="34" charset="0"/>
                        <a:buNone/>
                        <a:tabLst/>
                        <a:defRPr/>
                      </a:pPr>
                      <a:endParaRPr lang="en-US" sz="800" b="0" i="0">
                        <a:solidFill>
                          <a:srgbClr val="000000"/>
                        </a:solidFill>
                        <a:effectLst/>
                        <a:latin typeface="+mn-lt"/>
                        <a:cs typeface="Times New Roman"/>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576205636"/>
                  </a:ext>
                </a:extLst>
              </a:tr>
              <a:tr h="21440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0" kern="1200">
                          <a:solidFill>
                            <a:schemeClr val="tx1"/>
                          </a:solidFill>
                          <a:effectLst/>
                          <a:latin typeface="+mn-lt"/>
                          <a:ea typeface="+mn-ea"/>
                          <a:cs typeface="+mn-cs"/>
                        </a:rPr>
                        <a:t>Finance Development </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latin typeface="+mn-l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strike="noStrike">
                          <a:latin typeface="+mn-lt"/>
                        </a:rPr>
                        <a:t>9/2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ts val="200"/>
                        </a:spcBef>
                        <a:spcAft>
                          <a:spcPts val="0"/>
                        </a:spcAft>
                        <a:buClrTx/>
                        <a:buSzTx/>
                        <a:buFont typeface="Arial" panose="020B0604020202020204" pitchFamily="34" charset="0"/>
                        <a:buNone/>
                        <a:tabLst/>
                        <a:defRPr/>
                      </a:pPr>
                      <a:endParaRPr lang="en-US" sz="800" b="0" i="0">
                        <a:solidFill>
                          <a:srgbClr val="000000"/>
                        </a:solidFill>
                        <a:effectLst/>
                        <a:latin typeface="+mn-lt"/>
                        <a:cs typeface="Times New Roman"/>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31025449"/>
                  </a:ext>
                </a:extLst>
              </a:tr>
              <a:tr h="21440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0" kern="1200">
                          <a:solidFill>
                            <a:schemeClr val="tx1"/>
                          </a:solidFill>
                          <a:effectLst/>
                          <a:latin typeface="+mn-lt"/>
                          <a:ea typeface="+mn-ea"/>
                          <a:cs typeface="+mn-cs"/>
                        </a:rPr>
                        <a:t>Bundle 5 (Payments and IAM Integration)</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latin typeface="+mn-l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strike="noStrike">
                          <a:latin typeface="+mn-lt"/>
                        </a:rPr>
                        <a:t>9/29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ts val="200"/>
                        </a:spcBef>
                        <a:spcAft>
                          <a:spcPts val="0"/>
                        </a:spcAft>
                        <a:buClrTx/>
                        <a:buSzTx/>
                        <a:buFont typeface="Arial" panose="020B0604020202020204" pitchFamily="34" charset="0"/>
                        <a:buNone/>
                        <a:tabLst/>
                        <a:defRPr/>
                      </a:pPr>
                      <a:r>
                        <a:rPr lang="en-US" sz="800" b="0" i="0">
                          <a:solidFill>
                            <a:srgbClr val="000000"/>
                          </a:solidFill>
                          <a:effectLst/>
                          <a:latin typeface="+mn-lt"/>
                          <a:cs typeface="Times New Roman"/>
                        </a:rPr>
                        <a:t>E2E testing is Red as scope and priorities are not yet finalized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25275584"/>
                  </a:ext>
                </a:extLst>
              </a:tr>
              <a:tr h="23703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0" kern="1200">
                          <a:solidFill>
                            <a:schemeClr val="tx1"/>
                          </a:solidFill>
                          <a:effectLst/>
                          <a:latin typeface="+mn-lt"/>
                          <a:ea typeface="+mn-ea"/>
                          <a:cs typeface="+mn-cs"/>
                        </a:rPr>
                        <a:t>Bundle 6 (Stability, reporting Finance Integration)</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latin typeface="+mn-l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00" strike="noStrike">
                          <a:latin typeface="+mn-lt"/>
                        </a:rPr>
                        <a:t>10/09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ts val="200"/>
                        </a:spcBef>
                        <a:spcAft>
                          <a:spcPts val="0"/>
                        </a:spcAft>
                        <a:buClrTx/>
                        <a:buSzTx/>
                        <a:buFont typeface="Arial" panose="020B0604020202020204" pitchFamily="34" charset="0"/>
                        <a:buNone/>
                        <a:tabLst/>
                        <a:defRPr/>
                      </a:pPr>
                      <a:r>
                        <a:rPr lang="en-US" sz="800" b="0" i="0">
                          <a:solidFill>
                            <a:srgbClr val="000000"/>
                          </a:solidFill>
                          <a:effectLst/>
                          <a:latin typeface="+mn-lt"/>
                          <a:cs typeface="Times New Roman"/>
                        </a:rPr>
                        <a:t>Yellow as scope is not finalized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16645152"/>
                  </a:ext>
                </a:extLst>
              </a:tr>
              <a:tr h="21440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0" kern="1200">
                          <a:solidFill>
                            <a:schemeClr val="tx1"/>
                          </a:solidFill>
                          <a:effectLst/>
                          <a:latin typeface="+mn-lt"/>
                          <a:ea typeface="+mn-ea"/>
                          <a:cs typeface="+mn-cs"/>
                        </a:rPr>
                        <a:t>IAM Dark Launch</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latin typeface="+mn-l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00" strike="noStrike">
                          <a:latin typeface="+mn-lt"/>
                        </a:rPr>
                        <a:t>10/08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ts val="200"/>
                        </a:spcBef>
                        <a:spcAft>
                          <a:spcPts val="0"/>
                        </a:spcAft>
                        <a:buClrTx/>
                        <a:buSzTx/>
                        <a:buFont typeface="Arial" panose="020B0604020202020204" pitchFamily="34" charset="0"/>
                        <a:buNone/>
                        <a:tabLst/>
                        <a:defRPr/>
                      </a:pPr>
                      <a:r>
                        <a:rPr lang="en-US" sz="800" b="0" i="0">
                          <a:solidFill>
                            <a:srgbClr val="000000"/>
                          </a:solidFill>
                          <a:effectLst/>
                          <a:latin typeface="+mn-lt"/>
                          <a:cs typeface="Times New Roman"/>
                        </a:rPr>
                        <a:t>Testing is on hold pending on RBAC/SSO completion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25697369"/>
                  </a:ext>
                </a:extLst>
              </a:tr>
              <a:tr h="23661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0" kern="1200">
                          <a:solidFill>
                            <a:schemeClr val="tx1"/>
                          </a:solidFill>
                          <a:effectLst/>
                          <a:latin typeface="+mn-lt"/>
                          <a:ea typeface="+mn-ea"/>
                          <a:cs typeface="+mn-cs"/>
                        </a:rPr>
                        <a:t>End to End and UAT Validation</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latin typeface="+mn-l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00" strike="noStrike">
                          <a:latin typeface="+mn-lt"/>
                        </a:rPr>
                        <a:t>10/09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marR="0" lvl="0" indent="-171450" algn="l" defTabSz="914400" rtl="0" eaLnBrk="1" fontAlgn="base" latinLnBrk="0" hangingPunct="1">
                        <a:lnSpc>
                          <a:spcPct val="100000"/>
                        </a:lnSpc>
                        <a:spcBef>
                          <a:spcPts val="200"/>
                        </a:spcBef>
                        <a:spcAft>
                          <a:spcPts val="0"/>
                        </a:spcAft>
                        <a:buClrTx/>
                        <a:buSzTx/>
                        <a:buFont typeface="Arial" panose="020B0604020202020204" pitchFamily="34" charset="0"/>
                        <a:buChar char="•"/>
                        <a:tabLst/>
                        <a:defRPr/>
                      </a:pPr>
                      <a:endParaRPr lang="en-US" sz="800" b="0" i="0">
                        <a:solidFill>
                          <a:srgbClr val="000000"/>
                        </a:solidFill>
                        <a:effectLst/>
                        <a:latin typeface="+mn-lt"/>
                        <a:cs typeface="Times New Roman"/>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86259184"/>
                  </a:ext>
                </a:extLst>
              </a:tr>
              <a:tr h="21440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0" kern="1200">
                          <a:solidFill>
                            <a:schemeClr val="tx1"/>
                          </a:solidFill>
                          <a:effectLst/>
                          <a:latin typeface="+mn-lt"/>
                          <a:ea typeface="+mn-ea"/>
                          <a:cs typeface="+mn-cs"/>
                        </a:rPr>
                        <a:t>Portal dark launch</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latin typeface="+mn-l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00" strike="noStrike">
                          <a:latin typeface="+mn-lt"/>
                        </a:rPr>
                        <a:t>10/21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ts val="200"/>
                        </a:spcBef>
                        <a:spcAft>
                          <a:spcPts val="0"/>
                        </a:spcAft>
                        <a:buClrTx/>
                        <a:buSzTx/>
                        <a:buFont typeface="Arial" panose="020B0604020202020204" pitchFamily="34" charset="0"/>
                        <a:buNone/>
                        <a:tabLst/>
                        <a:defRPr/>
                      </a:pPr>
                      <a:endParaRPr lang="en-US" sz="800" b="0" i="0">
                        <a:solidFill>
                          <a:srgbClr val="000000"/>
                        </a:solidFill>
                        <a:effectLst/>
                        <a:latin typeface="+mn-lt"/>
                        <a:cs typeface="Times New Roman"/>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61238048"/>
                  </a:ext>
                </a:extLst>
              </a:tr>
              <a:tr h="21440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0" kern="1200">
                          <a:solidFill>
                            <a:schemeClr val="tx1"/>
                          </a:solidFill>
                          <a:effectLst/>
                          <a:latin typeface="+mn-lt"/>
                          <a:ea typeface="+mn-ea"/>
                          <a:cs typeface="+mn-cs"/>
                        </a:rPr>
                        <a:t>Finance Prod Deployment</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00">
                          <a:latin typeface="+mn-lt"/>
                        </a:rPr>
                        <a:t>NS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00" strike="noStrike">
                          <a:latin typeface="+mn-lt"/>
                        </a:rPr>
                        <a:t>10/23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marR="0" lvl="0" indent="-171450" algn="l" defTabSz="914400" rtl="0" eaLnBrk="1" fontAlgn="base" latinLnBrk="0" hangingPunct="1">
                        <a:lnSpc>
                          <a:spcPct val="100000"/>
                        </a:lnSpc>
                        <a:spcBef>
                          <a:spcPts val="200"/>
                        </a:spcBef>
                        <a:spcAft>
                          <a:spcPts val="0"/>
                        </a:spcAft>
                        <a:buClrTx/>
                        <a:buSzTx/>
                        <a:buFont typeface="Arial" panose="020B0604020202020204" pitchFamily="34" charset="0"/>
                        <a:buChar char="•"/>
                        <a:tabLst/>
                        <a:defRPr/>
                      </a:pPr>
                      <a:endParaRPr lang="en-US" sz="800" b="0" i="0">
                        <a:solidFill>
                          <a:srgbClr val="000000"/>
                        </a:solidFill>
                        <a:effectLst/>
                        <a:latin typeface="+mn-lt"/>
                        <a:cs typeface="Times New Roman"/>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70719525"/>
                  </a:ext>
                </a:extLst>
              </a:tr>
              <a:tr h="237188">
                <a:tc>
                  <a:txBody>
                    <a:bodyPr/>
                    <a:lstStyle/>
                    <a:p>
                      <a:pPr lvl="0" algn="l"/>
                      <a:r>
                        <a:rPr lang="en-US" sz="800" b="0" kern="1200">
                          <a:solidFill>
                            <a:schemeClr val="tx1"/>
                          </a:solidFill>
                          <a:effectLst/>
                          <a:latin typeface="+mn-lt"/>
                          <a:ea typeface="+mn-ea"/>
                          <a:cs typeface="+mn-cs"/>
                        </a:rPr>
                        <a:t>Go Live</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00">
                          <a:latin typeface="+mn-lt"/>
                        </a:rPr>
                        <a:t>NS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00" strike="noStrike">
                          <a:latin typeface="+mn-lt"/>
                        </a:rPr>
                        <a:t>11/11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ts val="200"/>
                        </a:spcBef>
                        <a:spcAft>
                          <a:spcPts val="0"/>
                        </a:spcAft>
                        <a:buClrTx/>
                        <a:buSzTx/>
                        <a:buFontTx/>
                        <a:buNone/>
                        <a:tabLst/>
                        <a:defRPr/>
                      </a:pPr>
                      <a:endParaRPr lang="en-US" sz="800" b="0" i="0">
                        <a:solidFill>
                          <a:srgbClr val="000000"/>
                        </a:solidFill>
                        <a:effectLst/>
                        <a:latin typeface="+mn-lt"/>
                        <a:cs typeface="Times New Roman"/>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93584286"/>
                  </a:ext>
                </a:extLst>
              </a:tr>
              <a:tr h="194092">
                <a:tc>
                  <a:txBody>
                    <a:bodyPr/>
                    <a:lstStyle/>
                    <a:p>
                      <a:pPr lvl="0" algn="l"/>
                      <a:r>
                        <a:rPr lang="en-US" sz="800" b="0" kern="1200">
                          <a:solidFill>
                            <a:schemeClr val="tx1"/>
                          </a:solidFill>
                          <a:effectLst/>
                          <a:latin typeface="+mn-lt"/>
                          <a:ea typeface="+mn-ea"/>
                          <a:cs typeface="+mn-cs"/>
                        </a:rPr>
                        <a:t>Warranty</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00">
                          <a:latin typeface="+mn-lt"/>
                        </a:rPr>
                        <a:t>NS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00" strike="noStrike">
                          <a:latin typeface="+mn-lt"/>
                        </a:rPr>
                        <a:t>12/9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ts val="200"/>
                        </a:spcBef>
                        <a:spcAft>
                          <a:spcPts val="0"/>
                        </a:spcAft>
                        <a:buClrTx/>
                        <a:buSzTx/>
                        <a:buFontTx/>
                        <a:buNone/>
                        <a:tabLst/>
                        <a:defRPr/>
                      </a:pPr>
                      <a:endParaRPr lang="en-US" sz="800" b="0" i="0">
                        <a:solidFill>
                          <a:srgbClr val="000000"/>
                        </a:solidFill>
                        <a:effectLst/>
                        <a:latin typeface="+mn-lt"/>
                        <a:cs typeface="Times New Roman"/>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06085306"/>
                  </a:ext>
                </a:extLst>
              </a:tr>
              <a:tr h="215651">
                <a:tc>
                  <a:txBody>
                    <a:bodyPr/>
                    <a:lstStyle/>
                    <a:p>
                      <a:pPr lvl="0" algn="l"/>
                      <a:r>
                        <a:rPr lang="en-US" sz="800" b="0" kern="1200">
                          <a:solidFill>
                            <a:schemeClr val="tx1"/>
                          </a:solidFill>
                          <a:effectLst/>
                          <a:latin typeface="+mn-lt"/>
                          <a:ea typeface="+mn-ea"/>
                          <a:cs typeface="+mn-cs"/>
                        </a:rPr>
                        <a:t>Onboarding, stability and user experience</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00">
                          <a:latin typeface="+mn-lt"/>
                        </a:rPr>
                        <a:t>NS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00" strike="noStrike">
                          <a:latin typeface="+mn-lt"/>
                        </a:rPr>
                        <a:t>4/30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ts val="200"/>
                        </a:spcBef>
                        <a:spcAft>
                          <a:spcPts val="0"/>
                        </a:spcAft>
                        <a:buClrTx/>
                        <a:buSzTx/>
                        <a:buFontTx/>
                        <a:buNone/>
                        <a:tabLst/>
                        <a:defRPr/>
                      </a:pPr>
                      <a:endParaRPr lang="en-US" sz="800" b="0" i="0">
                        <a:solidFill>
                          <a:srgbClr val="000000"/>
                        </a:solidFill>
                        <a:effectLst/>
                        <a:latin typeface="+mn-lt"/>
                        <a:cs typeface="Times New Roman"/>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23275921"/>
                  </a:ext>
                </a:extLst>
              </a:tr>
              <a:tr h="325925">
                <a:tc>
                  <a:txBody>
                    <a:bodyPr/>
                    <a:lstStyle/>
                    <a:p>
                      <a:pPr lvl="0" algn="l"/>
                      <a:r>
                        <a:rPr lang="en-US" sz="800" b="0" kern="1200">
                          <a:solidFill>
                            <a:schemeClr val="tx1"/>
                          </a:solidFill>
                          <a:effectLst/>
                          <a:latin typeface="+mn-lt"/>
                          <a:ea typeface="+mn-ea"/>
                          <a:cs typeface="+mn-cs"/>
                        </a:rPr>
                        <a:t>“Should Have” Features</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00">
                          <a:latin typeface="+mn-lt"/>
                        </a:rPr>
                        <a:t>NS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00" strike="noStrike">
                          <a:latin typeface="+mn-lt"/>
                        </a:rPr>
                        <a:t>5/31/27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ts val="200"/>
                        </a:spcBef>
                        <a:spcAft>
                          <a:spcPts val="0"/>
                        </a:spcAft>
                        <a:buClrTx/>
                        <a:buSzTx/>
                        <a:buFontTx/>
                        <a:buNone/>
                        <a:tabLst/>
                        <a:defRPr/>
                      </a:pPr>
                      <a:endParaRPr lang="en-US" sz="800" b="0" i="0">
                        <a:solidFill>
                          <a:srgbClr val="000000"/>
                        </a:solidFill>
                        <a:effectLst/>
                        <a:latin typeface="+mn-lt"/>
                        <a:cs typeface="Times New Roman"/>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79857999"/>
                  </a:ext>
                </a:extLst>
              </a:tr>
            </a:tbl>
          </a:graphicData>
        </a:graphic>
      </p:graphicFrame>
      <p:graphicFrame>
        <p:nvGraphicFramePr>
          <p:cNvPr id="29" name="Table 28">
            <a:extLst>
              <a:ext uri="{FF2B5EF4-FFF2-40B4-BE49-F238E27FC236}">
                <a16:creationId xmlns:a16="http://schemas.microsoft.com/office/drawing/2014/main" id="{468E60D2-724C-D6AE-76B6-9F9029EB0EEE}"/>
              </a:ext>
            </a:extLst>
          </p:cNvPr>
          <p:cNvGraphicFramePr>
            <a:graphicFrameLocks noGrp="1"/>
          </p:cNvGraphicFramePr>
          <p:nvPr/>
        </p:nvGraphicFramePr>
        <p:xfrm>
          <a:off x="5862788" y="5450232"/>
          <a:ext cx="6203677" cy="1038398"/>
        </p:xfrm>
        <a:graphic>
          <a:graphicData uri="http://schemas.openxmlformats.org/drawingml/2006/table">
            <a:tbl>
              <a:tblPr>
                <a:tableStyleId>{5C22544A-7EE6-4342-B048-85BDC9FD1C3A}</a:tableStyleId>
              </a:tblPr>
              <a:tblGrid>
                <a:gridCol w="2298730">
                  <a:extLst>
                    <a:ext uri="{9D8B030D-6E8A-4147-A177-3AD203B41FA5}">
                      <a16:colId xmlns:a16="http://schemas.microsoft.com/office/drawing/2014/main" val="2456552316"/>
                    </a:ext>
                  </a:extLst>
                </a:gridCol>
                <a:gridCol w="445110">
                  <a:extLst>
                    <a:ext uri="{9D8B030D-6E8A-4147-A177-3AD203B41FA5}">
                      <a16:colId xmlns:a16="http://schemas.microsoft.com/office/drawing/2014/main" val="1100051595"/>
                    </a:ext>
                  </a:extLst>
                </a:gridCol>
                <a:gridCol w="508696">
                  <a:extLst>
                    <a:ext uri="{9D8B030D-6E8A-4147-A177-3AD203B41FA5}">
                      <a16:colId xmlns:a16="http://schemas.microsoft.com/office/drawing/2014/main" val="2042261034"/>
                    </a:ext>
                  </a:extLst>
                </a:gridCol>
                <a:gridCol w="2951141">
                  <a:extLst>
                    <a:ext uri="{9D8B030D-6E8A-4147-A177-3AD203B41FA5}">
                      <a16:colId xmlns:a16="http://schemas.microsoft.com/office/drawing/2014/main" val="2815874248"/>
                    </a:ext>
                  </a:extLst>
                </a:gridCol>
              </a:tblGrid>
              <a:tr h="290879">
                <a:tc>
                  <a:txBody>
                    <a:bodyPr/>
                    <a:lstStyle/>
                    <a:p>
                      <a:pPr marL="0" marR="0" lvl="0" indent="0" algn="ctr" rtl="0" eaLnBrk="0" fontAlgn="base" latinLnBrk="0" hangingPunct="0">
                        <a:lnSpc>
                          <a:spcPct val="95000"/>
                        </a:lnSpc>
                        <a:spcBef>
                          <a:spcPct val="0"/>
                        </a:spcBef>
                        <a:spcAft>
                          <a:spcPct val="50000"/>
                        </a:spcAft>
                        <a:buClrTx/>
                        <a:buSzTx/>
                        <a:buFontTx/>
                        <a:buNone/>
                      </a:pPr>
                      <a:r>
                        <a:rPr lang="en-US" sz="1000" b="1" i="0" u="none" strike="noStrike" kern="1200" cap="none" normalizeH="0" baseline="0">
                          <a:ln>
                            <a:noFill/>
                          </a:ln>
                          <a:solidFill>
                            <a:schemeClr val="bg1"/>
                          </a:solidFill>
                          <a:effectLst/>
                          <a:latin typeface="Arial"/>
                          <a:ea typeface="+mn-ea"/>
                          <a:cs typeface="+mn-cs"/>
                        </a:rPr>
                        <a:t>Critical Risks/Issues</a:t>
                      </a:r>
                      <a:endParaRPr kumimoji="0" lang="en-US" sz="1000" b="1" i="0" u="none" strike="noStrike" kern="1200" cap="none" normalizeH="0" baseline="0">
                        <a:ln>
                          <a:noFill/>
                        </a:ln>
                        <a:solidFill>
                          <a:schemeClr val="bg1"/>
                        </a:solidFill>
                        <a:effectLst/>
                        <a:latin typeface="Arial" charset="0"/>
                        <a:ea typeface="+mn-ea"/>
                        <a:cs typeface="+mn-cs"/>
                      </a:endParaRPr>
                    </a:p>
                  </a:txBody>
                  <a:tcPr marR="9525" marT="865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00" b="1" i="0" u="none" strike="noStrike" kern="1200" cap="none" normalizeH="0" baseline="0">
                          <a:ln>
                            <a:noFill/>
                          </a:ln>
                          <a:solidFill>
                            <a:schemeClr val="bg1"/>
                          </a:solidFill>
                          <a:effectLst/>
                          <a:latin typeface="Arial"/>
                          <a:ea typeface="+mn-ea"/>
                          <a:cs typeface="+mn-cs"/>
                        </a:rPr>
                        <a:t>Status</a:t>
                      </a:r>
                    </a:p>
                  </a:txBody>
                  <a:tcPr marL="9525" marR="9525" marT="8659" marB="0" anchor="ct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00" b="1" i="0" u="none" strike="noStrike" kern="1200" cap="none" normalizeH="0" baseline="0">
                          <a:ln>
                            <a:noFill/>
                          </a:ln>
                          <a:solidFill>
                            <a:schemeClr val="bg1"/>
                          </a:solidFill>
                          <a:effectLst/>
                          <a:latin typeface="Arial"/>
                          <a:ea typeface="+mn-ea"/>
                          <a:cs typeface="+mn-cs"/>
                        </a:rPr>
                        <a:t>Target Date</a:t>
                      </a:r>
                    </a:p>
                  </a:txBody>
                  <a:tcPr marL="9525" marR="9525" marT="8659" marB="0" anchor="ctr">
                    <a:lnL w="12700">
                      <a:solidFill>
                        <a:schemeClr val="tx1"/>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00" b="1" i="0" u="none" strike="noStrike" kern="1200" cap="none" normalizeH="0" baseline="0">
                          <a:ln>
                            <a:noFill/>
                          </a:ln>
                          <a:solidFill>
                            <a:schemeClr val="bg1"/>
                          </a:solidFill>
                          <a:effectLst/>
                          <a:latin typeface="Arial"/>
                          <a:ea typeface="+mn-ea"/>
                          <a:cs typeface="+mn-cs"/>
                        </a:rPr>
                        <a:t> </a:t>
                      </a:r>
                      <a:r>
                        <a:rPr kumimoji="0" lang="en-US" sz="1000" b="1" i="0" u="none" strike="noStrike" kern="1200" cap="none" normalizeH="0" baseline="0">
                          <a:ln>
                            <a:noFill/>
                          </a:ln>
                          <a:solidFill>
                            <a:schemeClr val="bg1"/>
                          </a:solidFill>
                          <a:effectLst/>
                          <a:latin typeface="Arial"/>
                          <a:ea typeface="+mn-ea"/>
                          <a:cs typeface="+mn-cs"/>
                        </a:rPr>
                        <a:t>Resolution / Mitigation</a:t>
                      </a:r>
                      <a:endParaRPr kumimoji="0" lang="en-US" sz="1000" b="1" i="0" u="none" strike="noStrike" kern="1200" cap="none" normalizeH="0" baseline="0">
                        <a:ln>
                          <a:noFill/>
                        </a:ln>
                        <a:solidFill>
                          <a:schemeClr val="bg1"/>
                        </a:solidFill>
                        <a:effectLst/>
                        <a:latin typeface="Arial" charset="0"/>
                        <a:ea typeface="+mn-ea"/>
                        <a:cs typeface="+mn-cs"/>
                      </a:endParaRPr>
                    </a:p>
                  </a:txBody>
                  <a:tcPr marL="9525" marR="9525" marT="865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721962">
                <a:tc>
                  <a:txBody>
                    <a:bodyPr/>
                    <a:lstStyle/>
                    <a:p>
                      <a:pPr fontAlgn="t">
                        <a:lnSpc>
                          <a:spcPct val="100000"/>
                        </a:lnSpc>
                        <a:buNone/>
                      </a:pPr>
                      <a:r>
                        <a:rPr lang="en-US" sz="700">
                          <a:latin typeface="+mn-lt"/>
                          <a:cs typeface="Arial" panose="020B0604020202020204" pitchFamily="34" charset="0"/>
                        </a:rPr>
                        <a:t>The October 14 dark launch remains achievable but is at risk because UAT now completes October 9, leaving no schedule contingency. Bundle 4 invoice defects and Bundle 6 scope compression could delay testing, defect resolution, and deployment readiness.</a:t>
                      </a:r>
                    </a:p>
                  </a:txBody>
                  <a:tcPr marR="9525" marT="865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700" b="0" kern="1200">
                        <a:solidFill>
                          <a:schemeClr val="tx1"/>
                        </a:solidFill>
                        <a:effectLst/>
                        <a:latin typeface="+mn-lt"/>
                        <a:ea typeface="+mn-ea"/>
                        <a:cs typeface="+mn-cs"/>
                      </a:endParaRPr>
                    </a:p>
                  </a:txBody>
                  <a:tcPr marL="9525" marR="9525" marT="8659" marB="0" anchor="ct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r>
                        <a:rPr lang="en-US" sz="700" b="0" strike="sngStrike" kern="1200">
                          <a:solidFill>
                            <a:schemeClr val="tx1"/>
                          </a:solidFill>
                          <a:effectLst/>
                          <a:latin typeface="+mn-lt"/>
                          <a:ea typeface="+mn-ea"/>
                          <a:cs typeface="+mn-cs"/>
                        </a:rPr>
                        <a:t>8/28</a:t>
                      </a:r>
                    </a:p>
                    <a:p>
                      <a:pPr marL="0" marR="0" lvl="0" indent="0" algn="ctr" defTabSz="914400" rtl="0" eaLnBrk="1" fontAlgn="ctr" latinLnBrk="0" hangingPunct="1">
                        <a:lnSpc>
                          <a:spcPct val="95000"/>
                        </a:lnSpc>
                        <a:spcBef>
                          <a:spcPct val="0"/>
                        </a:spcBef>
                        <a:spcAft>
                          <a:spcPct val="50000"/>
                        </a:spcAft>
                        <a:buClrTx/>
                        <a:buSzTx/>
                        <a:buFontTx/>
                        <a:buNone/>
                        <a:tabLst/>
                      </a:pPr>
                      <a:r>
                        <a:rPr lang="en-US" sz="700" b="0" strike="noStrike" kern="1200">
                          <a:solidFill>
                            <a:schemeClr val="tx1"/>
                          </a:solidFill>
                          <a:effectLst/>
                          <a:latin typeface="+mn-lt"/>
                          <a:ea typeface="+mn-ea"/>
                          <a:cs typeface="+mn-cs"/>
                        </a:rPr>
                        <a:t>9/4</a:t>
                      </a:r>
                    </a:p>
                  </a:txBody>
                  <a:tcPr marL="9525" marR="9525" marT="8659" marB="0" anchor="ctr">
                    <a:lnL w="12700">
                      <a:solidFill>
                        <a:schemeClr val="tx1"/>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800"/>
                        <a:t>Conduct daily IT/business defect triage, prioritize and retest critical invoice and access-control defects, approve a skinny Bundle 6 MVP, validate Finance integration in parallel, defer nonessential scope to the November 11 release, and secure Release Management approval for the revised timeline by August 28.</a:t>
                      </a:r>
                    </a:p>
                  </a:txBody>
                  <a:tcPr marR="9525" marT="865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7499024"/>
                  </a:ext>
                </a:extLst>
              </a:tr>
            </a:tbl>
          </a:graphicData>
        </a:graphic>
      </p:graphicFrame>
      <p:sp>
        <p:nvSpPr>
          <p:cNvPr id="33" name="Flowchart: Connector 32">
            <a:extLst>
              <a:ext uri="{FF2B5EF4-FFF2-40B4-BE49-F238E27FC236}">
                <a16:creationId xmlns:a16="http://schemas.microsoft.com/office/drawing/2014/main" id="{BFDC4A97-E186-8140-E7F8-4319119ABDB0}"/>
              </a:ext>
            </a:extLst>
          </p:cNvPr>
          <p:cNvSpPr/>
          <p:nvPr/>
        </p:nvSpPr>
        <p:spPr>
          <a:xfrm>
            <a:off x="7361218" y="6590965"/>
            <a:ext cx="148441"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4" name="Flowchart: Connector 33">
            <a:extLst>
              <a:ext uri="{FF2B5EF4-FFF2-40B4-BE49-F238E27FC236}">
                <a16:creationId xmlns:a16="http://schemas.microsoft.com/office/drawing/2014/main" id="{AA1A590E-4223-D1C2-EBEA-F8F923823736}"/>
              </a:ext>
            </a:extLst>
          </p:cNvPr>
          <p:cNvSpPr/>
          <p:nvPr/>
        </p:nvSpPr>
        <p:spPr>
          <a:xfrm>
            <a:off x="8309212" y="6591241"/>
            <a:ext cx="148442" cy="164592"/>
          </a:xfrm>
          <a:prstGeom prst="flowChartConnector">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6" name="Flowchart: Connector 35">
            <a:extLst>
              <a:ext uri="{FF2B5EF4-FFF2-40B4-BE49-F238E27FC236}">
                <a16:creationId xmlns:a16="http://schemas.microsoft.com/office/drawing/2014/main" id="{1083ECDA-603E-138B-5ED0-21E5BF13731F}"/>
              </a:ext>
            </a:extLst>
          </p:cNvPr>
          <p:cNvSpPr/>
          <p:nvPr/>
        </p:nvSpPr>
        <p:spPr>
          <a:xfrm>
            <a:off x="9145336" y="6606209"/>
            <a:ext cx="148441" cy="164592"/>
          </a:xfrm>
          <a:prstGeom prst="flowChartConnector">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3" name="Flowchart: Connector 42">
            <a:extLst>
              <a:ext uri="{FF2B5EF4-FFF2-40B4-BE49-F238E27FC236}">
                <a16:creationId xmlns:a16="http://schemas.microsoft.com/office/drawing/2014/main" id="{98848253-A834-A0DA-B7AB-9189A18713BE}"/>
              </a:ext>
            </a:extLst>
          </p:cNvPr>
          <p:cNvSpPr/>
          <p:nvPr/>
        </p:nvSpPr>
        <p:spPr>
          <a:xfrm>
            <a:off x="3303638" y="1110723"/>
            <a:ext cx="163285" cy="164592"/>
          </a:xfrm>
          <a:prstGeom prst="flowChartConnector">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highlight>
                <a:srgbClr val="FF0000"/>
              </a:highlight>
              <a:uLnTx/>
              <a:uFillTx/>
              <a:latin typeface="Aptos" panose="02110004020202020204"/>
              <a:ea typeface="+mn-ea"/>
              <a:cs typeface="+mn-cs"/>
            </a:endParaRPr>
          </a:p>
        </p:txBody>
      </p:sp>
      <p:sp>
        <p:nvSpPr>
          <p:cNvPr id="45" name="Flowchart: Connector 44">
            <a:extLst>
              <a:ext uri="{FF2B5EF4-FFF2-40B4-BE49-F238E27FC236}">
                <a16:creationId xmlns:a16="http://schemas.microsoft.com/office/drawing/2014/main" id="{826F7B89-84CD-2D6D-CB16-DF128E45F449}"/>
              </a:ext>
            </a:extLst>
          </p:cNvPr>
          <p:cNvSpPr/>
          <p:nvPr/>
        </p:nvSpPr>
        <p:spPr>
          <a:xfrm>
            <a:off x="4286105" y="1110723"/>
            <a:ext cx="163285" cy="164592"/>
          </a:xfrm>
          <a:prstGeom prst="flowChartConnector">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6" name="Flowchart: Connector 45">
            <a:extLst>
              <a:ext uri="{FF2B5EF4-FFF2-40B4-BE49-F238E27FC236}">
                <a16:creationId xmlns:a16="http://schemas.microsoft.com/office/drawing/2014/main" id="{2429000E-1D30-8A2E-AD3D-3B2550CEB554}"/>
              </a:ext>
            </a:extLst>
          </p:cNvPr>
          <p:cNvSpPr/>
          <p:nvPr/>
        </p:nvSpPr>
        <p:spPr>
          <a:xfrm>
            <a:off x="5143033" y="1110723"/>
            <a:ext cx="163285" cy="164592"/>
          </a:xfrm>
          <a:prstGeom prst="flowChartConnector">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7" name="Flowchart: Connector 46">
            <a:extLst>
              <a:ext uri="{FF2B5EF4-FFF2-40B4-BE49-F238E27FC236}">
                <a16:creationId xmlns:a16="http://schemas.microsoft.com/office/drawing/2014/main" id="{2312B1EC-FC7E-09BC-2690-CC638DD45A18}"/>
              </a:ext>
            </a:extLst>
          </p:cNvPr>
          <p:cNvSpPr/>
          <p:nvPr/>
        </p:nvSpPr>
        <p:spPr>
          <a:xfrm>
            <a:off x="6078524" y="1101487"/>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 name="TextBox 4">
            <a:extLst>
              <a:ext uri="{FF2B5EF4-FFF2-40B4-BE49-F238E27FC236}">
                <a16:creationId xmlns:a16="http://schemas.microsoft.com/office/drawing/2014/main" id="{FB12DBC5-FE50-D649-59F3-F5DFE1A04FC0}"/>
              </a:ext>
            </a:extLst>
          </p:cNvPr>
          <p:cNvSpPr txBox="1"/>
          <p:nvPr/>
        </p:nvSpPr>
        <p:spPr>
          <a:xfrm>
            <a:off x="10167" y="1419495"/>
            <a:ext cx="5889791" cy="4539704"/>
          </a:xfrm>
          <a:prstGeom prst="rect">
            <a:avLst/>
          </a:prstGeom>
          <a:noFill/>
        </p:spPr>
        <p:txBody>
          <a:bodyPr wrap="square" lIns="91440" tIns="45720" rIns="91440" bIns="4572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1200" cap="none" spc="0" normalizeH="0" baseline="0" noProof="0">
                <a:ln>
                  <a:noFill/>
                </a:ln>
                <a:solidFill>
                  <a:prstClr val="black"/>
                </a:solidFill>
                <a:effectLst/>
                <a:uLnTx/>
                <a:uFillTx/>
                <a:latin typeface="Aptos" panose="02110004020202020204"/>
                <a:ea typeface="+mn-ea"/>
                <a:cs typeface="Arial"/>
              </a:rPr>
              <a:t>Overall status is Yellow trending Red: </a:t>
            </a:r>
            <a:r>
              <a:rPr kumimoji="0" lang="en-US" sz="850" b="0" i="0" u="none" strike="noStrike" kern="1200" cap="none" spc="0" normalizeH="0" baseline="0" noProof="0">
                <a:ln>
                  <a:noFill/>
                </a:ln>
                <a:solidFill>
                  <a:prstClr val="black"/>
                </a:solidFill>
                <a:effectLst/>
                <a:uLnTx/>
                <a:uFillTx/>
                <a:latin typeface="Aptos" panose="02110004020202020204"/>
                <a:ea typeface="+mn-ea"/>
                <a:cs typeface="Arial"/>
              </a:rPr>
              <a:t>Delivery and testing remain at risk because Bundle 5 and Bundle 6 scope and priorities are still being finalized, Critical and High functionality requires completion and code validation, and open defects and dependencies are preventing a reliable E2E schedule.</a:t>
            </a:r>
            <a:endParaRPr lang="en-US" sz="850" b="0" i="0" u="none" strike="noStrike" kern="1200" cap="none" spc="0" normalizeH="0" baseline="0" noProof="0">
              <a:ln>
                <a:noFill/>
              </a:ln>
              <a:solidFill>
                <a:prstClr val="black"/>
              </a:solidFill>
              <a:effectLst/>
              <a:uLnTx/>
              <a:uFillTx/>
              <a:latin typeface="Aptos" panose="02110004020202020204"/>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850" b="0" i="0" u="none" strike="noStrike" kern="1200" cap="none" spc="0" normalizeH="0" baseline="0" noProof="0">
              <a:ln>
                <a:noFill/>
              </a:ln>
              <a:solidFill>
                <a:prstClr val="black"/>
              </a:solidFill>
              <a:effectLst/>
              <a:uLnTx/>
              <a:uFillTx/>
              <a:latin typeface="Aptos" panose="02110004020202020204"/>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1200" cap="none" spc="0" normalizeH="0" baseline="0" noProof="0">
                <a:ln>
                  <a:noFill/>
                </a:ln>
                <a:solidFill>
                  <a:prstClr val="black"/>
                </a:solidFill>
                <a:effectLst/>
                <a:uLnTx/>
                <a:uFillTx/>
                <a:latin typeface="Aptos" panose="02110004020202020204"/>
                <a:ea typeface="+mn-ea"/>
                <a:cs typeface="Arial"/>
              </a:rPr>
              <a:t>Bundle 5 and 6  Schedule Risk and Mitigation Plan:</a:t>
            </a:r>
            <a:endParaRPr lang="en-US" sz="850" b="1" i="0" u="none" strike="noStrike" kern="1200" cap="none" spc="0" normalizeH="0" baseline="0" noProof="0">
              <a:ln>
                <a:noFill/>
              </a:ln>
              <a:solidFill>
                <a:prstClr val="black"/>
              </a:solidFill>
              <a:effectLst/>
              <a:uLnTx/>
              <a:uFillTx/>
              <a:latin typeface="Aptos" panose="02110004020202020204"/>
              <a:cs typeface="Arial"/>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50" b="1" i="0" u="none" strike="noStrike" kern="1200" cap="none" spc="0" normalizeH="0" baseline="0" noProof="0">
                <a:ln>
                  <a:noFill/>
                </a:ln>
                <a:solidFill>
                  <a:prstClr val="black"/>
                </a:solidFill>
                <a:effectLst/>
                <a:uLnTx/>
                <a:uFillTx/>
                <a:latin typeface="Aptos" panose="02110004020202020204"/>
                <a:ea typeface="+mn-ea"/>
                <a:cs typeface="Arial"/>
              </a:rPr>
              <a:t>Risk</a:t>
            </a:r>
            <a:endParaRPr lang="en-US" sz="850" b="1" i="0" u="none" strike="noStrike" kern="1200" cap="none" spc="0" normalizeH="0" baseline="0" noProof="0">
              <a:ln>
                <a:noFill/>
              </a:ln>
              <a:solidFill>
                <a:prstClr val="black"/>
              </a:solidFill>
              <a:effectLst/>
              <a:uLnTx/>
              <a:uFillTx/>
              <a:latin typeface="Aptos" panose="02110004020202020204"/>
              <a:cs typeface="Arial"/>
            </a:endParaRP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50" b="1" i="0" u="none" strike="noStrike" kern="1200" cap="none" spc="0" normalizeH="0" baseline="0" noProof="0">
                <a:ln>
                  <a:noFill/>
                </a:ln>
                <a:solidFill>
                  <a:prstClr val="black"/>
                </a:solidFill>
                <a:effectLst/>
                <a:uLnTx/>
                <a:uFillTx/>
                <a:latin typeface="Aptos" panose="02110004020202020204"/>
                <a:ea typeface="+mn-ea"/>
                <a:cs typeface="Arial"/>
              </a:rPr>
              <a:t>E2E status is Red:</a:t>
            </a:r>
            <a:r>
              <a:rPr kumimoji="0" lang="en-US" sz="850" b="0" i="0" u="none" strike="noStrike" kern="1200" cap="none" spc="0" normalizeH="0" baseline="0" noProof="0">
                <a:ln>
                  <a:noFill/>
                </a:ln>
                <a:solidFill>
                  <a:prstClr val="black"/>
                </a:solidFill>
                <a:effectLst/>
                <a:uLnTx/>
                <a:uFillTx/>
                <a:latin typeface="Aptos" panose="02110004020202020204"/>
                <a:ea typeface="+mn-ea"/>
                <a:cs typeface="Arial"/>
              </a:rPr>
              <a:t> Bundle 5 and Bundle 6 scope and priorities are not yet finalized.</a:t>
            </a:r>
            <a:endParaRPr lang="en-US" sz="850" b="0" i="0" u="none" strike="noStrike" kern="1200" cap="none" spc="0" normalizeH="0" baseline="0" noProof="0">
              <a:ln>
                <a:noFill/>
              </a:ln>
              <a:solidFill>
                <a:prstClr val="black"/>
              </a:solidFill>
              <a:effectLst/>
              <a:uLnTx/>
              <a:uFillTx/>
              <a:latin typeface="Aptos" panose="02110004020202020204"/>
              <a:cs typeface="Arial"/>
            </a:endParaRP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50" b="1" i="0" u="none" strike="noStrike" kern="1200" cap="none" spc="0" normalizeH="0" baseline="0" noProof="0">
                <a:ln>
                  <a:noFill/>
                </a:ln>
                <a:solidFill>
                  <a:prstClr val="black"/>
                </a:solidFill>
                <a:effectLst/>
                <a:uLnTx/>
                <a:uFillTx/>
                <a:latin typeface="Aptos" panose="02110004020202020204"/>
                <a:ea typeface="+mn-ea"/>
                <a:cs typeface="Arial"/>
              </a:rPr>
              <a:t>Implementation readiness is uncertain: </a:t>
            </a:r>
            <a:r>
              <a:rPr kumimoji="0" lang="en-US" sz="850" b="0" i="0" u="none" strike="noStrike" kern="1200" cap="none" spc="0" normalizeH="0" baseline="0" noProof="0">
                <a:ln>
                  <a:noFill/>
                </a:ln>
                <a:solidFill>
                  <a:prstClr val="black"/>
                </a:solidFill>
                <a:effectLst/>
                <a:uLnTx/>
                <a:uFillTx/>
                <a:latin typeface="Aptos" panose="02110004020202020204"/>
                <a:ea typeface="+mn-ea"/>
                <a:cs typeface="Arial"/>
              </a:rPr>
              <a:t>Critical and High-priority functionality still requires completion and code validation.</a:t>
            </a:r>
            <a:endParaRPr lang="en-US" sz="850" b="0" i="0" u="none" strike="noStrike" kern="1200" cap="none" spc="0" normalizeH="0" baseline="0" noProof="0">
              <a:ln>
                <a:noFill/>
              </a:ln>
              <a:solidFill>
                <a:prstClr val="black"/>
              </a:solidFill>
              <a:effectLst/>
              <a:uLnTx/>
              <a:uFillTx/>
              <a:latin typeface="Aptos" panose="02110004020202020204"/>
              <a:cs typeface="Arial"/>
            </a:endParaRP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50" b="1" i="0" u="none" strike="noStrike" kern="1200" cap="none" spc="0" normalizeH="0" baseline="0" noProof="0">
                <a:ln>
                  <a:noFill/>
                </a:ln>
                <a:solidFill>
                  <a:prstClr val="black"/>
                </a:solidFill>
                <a:effectLst/>
                <a:uLnTx/>
                <a:uFillTx/>
                <a:latin typeface="Aptos" panose="02110004020202020204"/>
                <a:ea typeface="+mn-ea"/>
                <a:cs typeface="Arial"/>
              </a:rPr>
              <a:t>Schedule is at risk: </a:t>
            </a:r>
            <a:r>
              <a:rPr kumimoji="0" lang="en-US" sz="850" b="0" i="0" u="none" strike="noStrike" kern="1200" cap="none" spc="0" normalizeH="0" baseline="0" noProof="0">
                <a:ln>
                  <a:noFill/>
                </a:ln>
                <a:solidFill>
                  <a:prstClr val="black"/>
                </a:solidFill>
                <a:effectLst/>
                <a:uLnTx/>
                <a:uFillTx/>
                <a:latin typeface="Aptos" panose="02110004020202020204"/>
                <a:ea typeface="+mn-ea"/>
                <a:cs typeface="Arial"/>
              </a:rPr>
              <a:t>The Bundle 5 testing scope and timeline must be re-baselined.</a:t>
            </a:r>
            <a:endParaRPr lang="en-US" sz="850" b="0" i="0" u="none" strike="noStrike" kern="1200" cap="none" spc="0" normalizeH="0" baseline="0" noProof="0">
              <a:ln>
                <a:noFill/>
              </a:ln>
              <a:solidFill>
                <a:prstClr val="black"/>
              </a:solidFill>
              <a:effectLst/>
              <a:uLnTx/>
              <a:uFillTx/>
              <a:latin typeface="Aptos" panose="02110004020202020204"/>
              <a:cs typeface="Arial"/>
            </a:endParaRP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50" b="1" i="0" u="none" strike="noStrike" kern="1200" cap="none" spc="0" normalizeH="0" baseline="0" noProof="0">
                <a:ln>
                  <a:noFill/>
                </a:ln>
                <a:solidFill>
                  <a:prstClr val="black"/>
                </a:solidFill>
                <a:effectLst/>
                <a:uLnTx/>
                <a:uFillTx/>
                <a:latin typeface="Aptos" panose="02110004020202020204"/>
                <a:ea typeface="+mn-ea"/>
                <a:cs typeface="Arial"/>
              </a:rPr>
              <a:t>Defects remain open: </a:t>
            </a:r>
            <a:r>
              <a:rPr kumimoji="0" lang="en-US" sz="850" b="0" i="0" u="none" strike="noStrike" kern="1200" cap="none" spc="0" normalizeH="0" baseline="0" noProof="0">
                <a:ln>
                  <a:noFill/>
                </a:ln>
                <a:solidFill>
                  <a:prstClr val="black"/>
                </a:solidFill>
                <a:effectLst/>
                <a:uLnTx/>
                <a:uFillTx/>
                <a:latin typeface="Aptos" panose="02110004020202020204"/>
                <a:ea typeface="+mn-ea"/>
                <a:cs typeface="Arial"/>
              </a:rPr>
              <a:t>Several defects require owner assignment, review, and disposition.</a:t>
            </a:r>
            <a:endParaRPr lang="en-US" sz="850" b="0" i="0" u="none" strike="noStrike" kern="1200" cap="none" spc="0" normalizeH="0" baseline="0" noProof="0">
              <a:ln>
                <a:noFill/>
              </a:ln>
              <a:solidFill>
                <a:prstClr val="black"/>
              </a:solidFill>
              <a:effectLst/>
              <a:uLnTx/>
              <a:uFillTx/>
              <a:latin typeface="Aptos" panose="02110004020202020204"/>
              <a:cs typeface="Arial"/>
            </a:endParaRP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50" b="1" i="0" u="none" strike="noStrike" kern="1200" cap="none" spc="0" normalizeH="0" baseline="0" noProof="0">
                <a:ln>
                  <a:noFill/>
                </a:ln>
                <a:solidFill>
                  <a:prstClr val="black"/>
                </a:solidFill>
                <a:effectLst/>
                <a:uLnTx/>
                <a:uFillTx/>
                <a:latin typeface="Aptos" panose="02110004020202020204"/>
                <a:ea typeface="+mn-ea"/>
                <a:cs typeface="Arial"/>
              </a:rPr>
              <a:t>Business impact: </a:t>
            </a:r>
            <a:r>
              <a:rPr kumimoji="0" lang="en-US" sz="850" b="0" i="0" u="none" strike="noStrike" kern="1200" cap="none" spc="0" normalizeH="0" baseline="0" noProof="0">
                <a:ln>
                  <a:noFill/>
                </a:ln>
                <a:solidFill>
                  <a:prstClr val="black"/>
                </a:solidFill>
                <a:effectLst/>
                <a:uLnTx/>
                <a:uFillTx/>
                <a:latin typeface="Aptos" panose="02110004020202020204"/>
                <a:ea typeface="+mn-ea"/>
                <a:cs typeface="Arial"/>
              </a:rPr>
              <a:t>The team cannot yet confirm a reliable E2E testing schedule or release-readiness date.</a:t>
            </a:r>
            <a:endParaRPr lang="en-US" sz="850" b="0" i="0" u="none" strike="noStrike" kern="1200" cap="none" spc="0" normalizeH="0" baseline="0" noProof="0">
              <a:ln>
                <a:noFill/>
              </a:ln>
              <a:solidFill>
                <a:prstClr val="black"/>
              </a:solidFill>
              <a:effectLst/>
              <a:uLnTx/>
              <a:uFillTx/>
              <a:latin typeface="Aptos" panose="02110004020202020204"/>
              <a:cs typeface="Arial"/>
            </a:endParaRP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50" b="1" i="0" u="none" strike="noStrike" kern="1200" cap="none" spc="0" normalizeH="0" baseline="0" noProof="0">
                <a:ln>
                  <a:noFill/>
                </a:ln>
                <a:solidFill>
                  <a:prstClr val="black"/>
                </a:solidFill>
                <a:effectLst/>
                <a:uLnTx/>
                <a:uFillTx/>
                <a:latin typeface="Aptos" panose="02110004020202020204"/>
                <a:ea typeface="+mn-ea"/>
                <a:cs typeface="Arial"/>
              </a:rPr>
              <a:t>IAM Integration Testing (Phase 1) is Yellow</a:t>
            </a:r>
            <a:r>
              <a:rPr kumimoji="0" lang="en-US" sz="850" b="0" i="0" u="none" strike="noStrike" kern="1200" cap="none" spc="0" normalizeH="0" baseline="0" noProof="0">
                <a:ln>
                  <a:noFill/>
                </a:ln>
                <a:solidFill>
                  <a:prstClr val="black"/>
                </a:solidFill>
                <a:effectLst/>
                <a:uLnTx/>
                <a:uFillTx/>
                <a:latin typeface="Aptos" panose="02110004020202020204"/>
                <a:ea typeface="+mn-ea"/>
                <a:cs typeface="Arial"/>
              </a:rPr>
              <a:t>: E2E testing is scheduled for August 31–September 11, but testing is on hold pending RBAC/SSO completion and internal CSR and Proxy Registration testing targeted for August 28.</a:t>
            </a:r>
            <a:endParaRPr lang="en-US" sz="850" b="0" i="0" u="none" strike="noStrike" kern="1200" cap="none" spc="0" normalizeH="0" baseline="0" noProof="0">
              <a:ln>
                <a:noFill/>
              </a:ln>
              <a:solidFill>
                <a:prstClr val="black"/>
              </a:solidFill>
              <a:effectLst/>
              <a:uLnTx/>
              <a:uFillTx/>
              <a:latin typeface="Aptos" panose="02110004020202020204"/>
              <a:cs typeface="Arial"/>
            </a:endParaRP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50" b="1" i="0" u="none" strike="noStrike" kern="1200" cap="none" spc="0" normalizeH="0" baseline="0" noProof="0">
                <a:ln>
                  <a:noFill/>
                </a:ln>
                <a:solidFill>
                  <a:prstClr val="black"/>
                </a:solidFill>
                <a:effectLst/>
                <a:uLnTx/>
                <a:uFillTx/>
                <a:latin typeface="Aptos" panose="02110004020202020204"/>
                <a:ea typeface="+mn-ea"/>
                <a:cs typeface="Arial"/>
              </a:rPr>
              <a:t>Finance Integration Testing is Yellow: </a:t>
            </a:r>
            <a:r>
              <a:rPr kumimoji="0" lang="en-US" sz="850" b="0" i="0" u="none" strike="noStrike" kern="1200" cap="none" spc="0" normalizeH="0" baseline="0" noProof="0">
                <a:ln>
                  <a:noFill/>
                </a:ln>
                <a:solidFill>
                  <a:prstClr val="black"/>
                </a:solidFill>
                <a:effectLst/>
                <a:uLnTx/>
                <a:uFillTx/>
                <a:latin typeface="Aptos" panose="02110004020202020204"/>
                <a:ea typeface="+mn-ea"/>
                <a:cs typeface="Arial"/>
              </a:rPr>
              <a:t>Cycle 1 and Cycle 2 E2E testing is scheduled for September 4–October 2, but outstanding test-planning actions and dependency on Bundle 5 Critical and High Cash testing could affect the schedule.</a:t>
            </a:r>
            <a:endParaRPr lang="en-US" sz="850" b="0" i="0" u="none" strike="noStrike" kern="1200" cap="none" spc="0" normalizeH="0" baseline="0" noProof="0">
              <a:ln>
                <a:noFill/>
              </a:ln>
              <a:solidFill>
                <a:prstClr val="black"/>
              </a:solidFill>
              <a:effectLst/>
              <a:uLnTx/>
              <a:uFillTx/>
              <a:latin typeface="Aptos" panose="02110004020202020204"/>
              <a:cs typeface="Arial"/>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50" b="1" i="0" u="none" strike="noStrike" kern="1200" cap="none" spc="0" normalizeH="0" baseline="0" noProof="0">
                <a:ln>
                  <a:noFill/>
                </a:ln>
                <a:solidFill>
                  <a:prstClr val="black"/>
                </a:solidFill>
                <a:effectLst/>
                <a:uLnTx/>
                <a:uFillTx/>
                <a:latin typeface="Aptos" panose="02110004020202020204"/>
                <a:ea typeface="+mn-ea"/>
                <a:cs typeface="Arial"/>
              </a:rPr>
              <a:t>Mitigation Plan or Go to Green Plan (9/4)</a:t>
            </a:r>
            <a:endParaRPr lang="en-US" sz="850" b="1" i="0" u="none" strike="noStrike" kern="1200" cap="none" spc="0" normalizeH="0" baseline="0" noProof="0">
              <a:ln>
                <a:noFill/>
              </a:ln>
              <a:solidFill>
                <a:prstClr val="black"/>
              </a:solidFill>
              <a:effectLst/>
              <a:uLnTx/>
              <a:uFillTx/>
              <a:latin typeface="Aptos" panose="02110004020202020204"/>
              <a:cs typeface="Arial"/>
            </a:endParaRP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50" b="1" i="0" u="none" strike="noStrike" kern="1200" cap="none" spc="0" normalizeH="0" baseline="0" noProof="0">
                <a:ln>
                  <a:noFill/>
                </a:ln>
                <a:solidFill>
                  <a:prstClr val="black"/>
                </a:solidFill>
                <a:effectLst/>
                <a:uLnTx/>
                <a:uFillTx/>
                <a:latin typeface="Aptos" panose="02110004020202020204"/>
                <a:ea typeface="+mn-ea"/>
                <a:cs typeface="Arial"/>
              </a:rPr>
              <a:t>Finalize priorities: </a:t>
            </a:r>
            <a:r>
              <a:rPr kumimoji="0" lang="en-US" sz="850" b="0" i="0" u="none" strike="noStrike" kern="1200" cap="none" spc="0" normalizeH="0" baseline="0" noProof="0">
                <a:ln>
                  <a:noFill/>
                </a:ln>
                <a:solidFill>
                  <a:prstClr val="black"/>
                </a:solidFill>
                <a:effectLst/>
                <a:uLnTx/>
                <a:uFillTx/>
                <a:latin typeface="Aptos" panose="02110004020202020204"/>
                <a:ea typeface="+mn-ea"/>
                <a:cs typeface="Arial"/>
              </a:rPr>
              <a:t>VBO and Cash business teams to complete behavior prioritization by August 27.</a:t>
            </a:r>
            <a:endParaRPr lang="en-US" sz="850" b="0" i="0" u="none" strike="noStrike" kern="1200" cap="none" spc="0" normalizeH="0" baseline="0" noProof="0">
              <a:ln>
                <a:noFill/>
              </a:ln>
              <a:solidFill>
                <a:prstClr val="black"/>
              </a:solidFill>
              <a:effectLst/>
              <a:uLnTx/>
              <a:uFillTx/>
              <a:latin typeface="Aptos" panose="02110004020202020204"/>
              <a:cs typeface="Arial"/>
            </a:endParaRP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50" b="1" i="0" u="none" strike="noStrike" kern="1200" cap="none" spc="0" normalizeH="0" baseline="0" noProof="0">
                <a:ln>
                  <a:noFill/>
                </a:ln>
                <a:solidFill>
                  <a:prstClr val="black"/>
                </a:solidFill>
                <a:effectLst/>
                <a:uLnTx/>
                <a:uFillTx/>
                <a:latin typeface="Aptos" panose="02110004020202020204"/>
                <a:ea typeface="+mn-ea"/>
                <a:cs typeface="Arial"/>
              </a:rPr>
              <a:t>Close critical gaps: </a:t>
            </a:r>
            <a:r>
              <a:rPr kumimoji="0" lang="en-US" sz="850" b="0" i="0" u="none" strike="noStrike" kern="1200" cap="none" spc="0" normalizeH="0" baseline="0" noProof="0">
                <a:ln>
                  <a:noFill/>
                </a:ln>
                <a:solidFill>
                  <a:prstClr val="black"/>
                </a:solidFill>
                <a:effectLst/>
                <a:uLnTx/>
                <a:uFillTx/>
                <a:latin typeface="Aptos" panose="02110004020202020204"/>
                <a:ea typeface="+mn-ea"/>
                <a:cs typeface="Arial"/>
              </a:rPr>
              <a:t>Development to complete and validate all remaining Critical and High-priority functionality.</a:t>
            </a:r>
            <a:endParaRPr lang="en-US" sz="850" b="0" i="0" u="none" strike="noStrike" kern="1200" cap="none" spc="0" normalizeH="0" baseline="0" noProof="0">
              <a:ln>
                <a:noFill/>
              </a:ln>
              <a:solidFill>
                <a:prstClr val="black"/>
              </a:solidFill>
              <a:effectLst/>
              <a:uLnTx/>
              <a:uFillTx/>
              <a:latin typeface="Aptos" panose="02110004020202020204"/>
              <a:cs typeface="Arial"/>
            </a:endParaRP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50" b="1" i="0" u="none" strike="noStrike" kern="1200" cap="none" spc="0" normalizeH="0" baseline="0" noProof="0">
                <a:ln>
                  <a:noFill/>
                </a:ln>
                <a:solidFill>
                  <a:prstClr val="black"/>
                </a:solidFill>
                <a:effectLst/>
                <a:uLnTx/>
                <a:uFillTx/>
                <a:latin typeface="Aptos" panose="02110004020202020204"/>
                <a:ea typeface="+mn-ea"/>
                <a:cs typeface="Arial"/>
              </a:rPr>
              <a:t>Re-plan testing: </a:t>
            </a:r>
            <a:r>
              <a:rPr kumimoji="0" lang="en-US" sz="850" b="0" i="0" u="none" strike="noStrike" kern="1200" cap="none" spc="0" normalizeH="0" baseline="0" noProof="0">
                <a:ln>
                  <a:noFill/>
                </a:ln>
                <a:solidFill>
                  <a:prstClr val="black"/>
                </a:solidFill>
                <a:effectLst/>
                <a:uLnTx/>
                <a:uFillTx/>
                <a:latin typeface="Aptos" panose="02110004020202020204"/>
                <a:ea typeface="+mn-ea"/>
                <a:cs typeface="Arial"/>
              </a:rPr>
              <a:t>QE to continue backend file-processing validation for Finance integration testing and prepare a revised internal-screen E2E plan.</a:t>
            </a:r>
            <a:endParaRPr lang="en-US" sz="850" b="0" i="0" u="none" strike="noStrike" kern="1200" cap="none" spc="0" normalizeH="0" baseline="0" noProof="0">
              <a:ln>
                <a:noFill/>
              </a:ln>
              <a:solidFill>
                <a:prstClr val="black"/>
              </a:solidFill>
              <a:effectLst/>
              <a:uLnTx/>
              <a:uFillTx/>
              <a:latin typeface="Aptos" panose="02110004020202020204"/>
              <a:cs typeface="Arial"/>
            </a:endParaRP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50" b="1" i="0" u="none" strike="noStrike" kern="1200" cap="none" spc="0" normalizeH="0" baseline="0" noProof="0">
                <a:ln>
                  <a:noFill/>
                </a:ln>
                <a:solidFill>
                  <a:prstClr val="black"/>
                </a:solidFill>
                <a:effectLst/>
                <a:uLnTx/>
                <a:uFillTx/>
                <a:latin typeface="Aptos" panose="02110004020202020204"/>
                <a:ea typeface="+mn-ea"/>
                <a:cs typeface="Arial"/>
              </a:rPr>
              <a:t>Manage defects: </a:t>
            </a:r>
            <a:r>
              <a:rPr kumimoji="0" lang="en-US" sz="850" b="0" i="0" u="none" strike="noStrike" kern="1200" cap="none" spc="0" normalizeH="0" baseline="0" noProof="0">
                <a:ln>
                  <a:noFill/>
                </a:ln>
                <a:solidFill>
                  <a:prstClr val="black"/>
                </a:solidFill>
                <a:effectLst/>
                <a:uLnTx/>
                <a:uFillTx/>
                <a:latin typeface="Aptos" panose="02110004020202020204"/>
                <a:ea typeface="+mn-ea"/>
                <a:cs typeface="Arial"/>
              </a:rPr>
              <a:t>Accountable owners to resolve or disposition open Bundle 5 defects with target dates.</a:t>
            </a:r>
            <a:endParaRPr lang="en-US" sz="850" b="0" i="0" u="none" strike="noStrike" kern="1200" cap="none" spc="0" normalizeH="0" baseline="0" noProof="0">
              <a:ln>
                <a:noFill/>
              </a:ln>
              <a:solidFill>
                <a:prstClr val="black"/>
              </a:solidFill>
              <a:effectLst/>
              <a:uLnTx/>
              <a:uFillTx/>
              <a:latin typeface="Aptos" panose="02110004020202020204"/>
              <a:cs typeface="Arial"/>
            </a:endParaRP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50" b="1" i="0" u="none" strike="noStrike" kern="1200" cap="none" spc="0" normalizeH="0" baseline="0" noProof="0">
                <a:ln>
                  <a:noFill/>
                </a:ln>
                <a:solidFill>
                  <a:prstClr val="black"/>
                </a:solidFill>
                <a:effectLst/>
                <a:uLnTx/>
                <a:uFillTx/>
                <a:latin typeface="Aptos" panose="02110004020202020204"/>
                <a:ea typeface="+mn-ea"/>
                <a:cs typeface="Arial"/>
              </a:rPr>
              <a:t>Resolve dependencies: </a:t>
            </a:r>
            <a:r>
              <a:rPr kumimoji="0" lang="en-US" sz="850" b="0" i="0" u="none" strike="noStrike" kern="1200" cap="none" spc="0" normalizeH="0" baseline="0" noProof="0">
                <a:ln>
                  <a:noFill/>
                </a:ln>
                <a:solidFill>
                  <a:prstClr val="black"/>
                </a:solidFill>
                <a:effectLst/>
                <a:uLnTx/>
                <a:uFillTx/>
                <a:latin typeface="Aptos" panose="02110004020202020204"/>
                <a:ea typeface="+mn-ea"/>
                <a:cs typeface="Arial"/>
              </a:rPr>
              <a:t>Confirm Finance, payment, and IAM dependencies, owners, and readiness dates.</a:t>
            </a:r>
            <a:endParaRPr lang="en-US" sz="850" b="0" i="0" u="none" strike="noStrike" kern="1200" cap="none" spc="0" normalizeH="0" baseline="0" noProof="0">
              <a:ln>
                <a:noFill/>
              </a:ln>
              <a:solidFill>
                <a:prstClr val="black"/>
              </a:solidFill>
              <a:effectLst/>
              <a:uLnTx/>
              <a:uFillTx/>
              <a:latin typeface="Aptos" panose="02110004020202020204"/>
              <a:cs typeface="Arial"/>
            </a:endParaRP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50" b="1" i="0" u="none" strike="noStrike" kern="1200" cap="none" spc="0" normalizeH="0" baseline="0" noProof="0">
                <a:ln>
                  <a:noFill/>
                </a:ln>
                <a:solidFill>
                  <a:prstClr val="black"/>
                </a:solidFill>
                <a:effectLst/>
                <a:uLnTx/>
                <a:uFillTx/>
                <a:latin typeface="Aptos" panose="02110004020202020204"/>
                <a:ea typeface="+mn-ea"/>
                <a:cs typeface="Arial"/>
              </a:rPr>
              <a:t>Leadership action:</a:t>
            </a:r>
            <a:r>
              <a:rPr kumimoji="0" lang="en-US" sz="850" b="0" i="0" u="none" strike="noStrike" kern="1200" cap="none" spc="0" normalizeH="0" baseline="0" noProof="0">
                <a:ln>
                  <a:noFill/>
                </a:ln>
                <a:solidFill>
                  <a:prstClr val="black"/>
                </a:solidFill>
                <a:effectLst/>
                <a:uLnTx/>
                <a:uFillTx/>
                <a:latin typeface="Aptos" panose="02110004020202020204"/>
                <a:ea typeface="+mn-ea"/>
                <a:cs typeface="Arial"/>
              </a:rPr>
              <a:t> Remove blockers, confirm staffing and ownership, and maintain Red status until scope, implementation readiness, defect disposition, and the revised testing </a:t>
            </a:r>
            <a:endParaRPr lang="en-US" sz="850" b="0" i="0" u="none" strike="noStrike" kern="1200" cap="none" spc="0" normalizeH="0" baseline="0" noProof="0">
              <a:ln>
                <a:noFill/>
              </a:ln>
              <a:solidFill>
                <a:prstClr val="black"/>
              </a:solidFill>
              <a:effectLst/>
              <a:uLnTx/>
              <a:uFillTx/>
              <a:latin typeface="Aptos" panose="02110004020202020204"/>
              <a:cs typeface="Arial"/>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50" b="1" i="0" u="none" strike="noStrike" kern="1200" cap="none" spc="0" normalizeH="0" baseline="0" noProof="0">
                <a:ln>
                  <a:noFill/>
                </a:ln>
                <a:solidFill>
                  <a:prstClr val="black"/>
                </a:solidFill>
                <a:effectLst/>
                <a:uLnTx/>
                <a:uFillTx/>
                <a:latin typeface="Aptos" panose="02110004020202020204"/>
                <a:ea typeface="+mn-ea"/>
                <a:cs typeface="Arial"/>
              </a:rPr>
              <a:t>Financial </a:t>
            </a:r>
            <a:endParaRPr lang="en-US" sz="850" b="1" i="0" u="none" strike="noStrike" kern="1200" cap="none" spc="0" normalizeH="0" baseline="0" noProof="0">
              <a:ln>
                <a:noFill/>
              </a:ln>
              <a:solidFill>
                <a:prstClr val="black"/>
              </a:solidFill>
              <a:effectLst/>
              <a:uLnTx/>
              <a:uFillTx/>
              <a:latin typeface="Aptos" panose="02110004020202020204"/>
              <a:cs typeface="Arial"/>
            </a:endParaRP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50" b="1" i="0" u="none" strike="noStrike" kern="1200" cap="none" spc="0" normalizeH="0" baseline="0" noProof="0">
                <a:ln>
                  <a:noFill/>
                </a:ln>
                <a:solidFill>
                  <a:prstClr val="black"/>
                </a:solidFill>
                <a:effectLst/>
                <a:uLnTx/>
                <a:uFillTx/>
                <a:latin typeface="Aptos" panose="02110004020202020204"/>
                <a:ea typeface="+mn-ea"/>
                <a:cs typeface="Arial"/>
              </a:rPr>
              <a:t>July ME:</a:t>
            </a:r>
            <a:r>
              <a:rPr kumimoji="0" lang="en-US" sz="850" b="0" i="0" u="none" strike="noStrike" kern="1200" cap="none" spc="0" normalizeH="0" baseline="0" noProof="0">
                <a:ln>
                  <a:noFill/>
                </a:ln>
                <a:solidFill>
                  <a:prstClr val="black"/>
                </a:solidFill>
                <a:effectLst/>
                <a:uLnTx/>
                <a:uFillTx/>
                <a:latin typeface="Aptos" panose="02110004020202020204"/>
                <a:ea typeface="+mn-ea"/>
                <a:cs typeface="Arial"/>
              </a:rPr>
              <a:t> YTD spend is $1.8M, a $43K decrease month over month, with a YE forecast of $3.8M, approximately $0.3M under the $4.2M budget. The reduction was primarily driven by lower-than-forecast labor spend in the </a:t>
            </a:r>
            <a:r>
              <a:rPr kumimoji="0" lang="en-US" sz="850" b="0" i="0" u="none" strike="noStrike" kern="1200" cap="none" spc="0" normalizeH="0" baseline="0" noProof="0" err="1">
                <a:ln>
                  <a:noFill/>
                </a:ln>
                <a:solidFill>
                  <a:prstClr val="black"/>
                </a:solidFill>
                <a:effectLst/>
                <a:uLnTx/>
                <a:uFillTx/>
                <a:latin typeface="Aptos" panose="02110004020202020204"/>
                <a:ea typeface="+mn-ea"/>
                <a:cs typeface="Arial"/>
              </a:rPr>
              <a:t>Pawroll</a:t>
            </a:r>
            <a:r>
              <a:rPr kumimoji="0" lang="en-US" sz="850" b="0" i="0" u="none" strike="noStrike" kern="1200" cap="none" spc="0" normalizeH="0" baseline="0" noProof="0">
                <a:ln>
                  <a:noFill/>
                </a:ln>
                <a:solidFill>
                  <a:prstClr val="black"/>
                </a:solidFill>
                <a:effectLst/>
                <a:uLnTx/>
                <a:uFillTx/>
                <a:latin typeface="Aptos" panose="02110004020202020204"/>
                <a:ea typeface="+mn-ea"/>
                <a:cs typeface="Arial"/>
              </a:rPr>
              <a:t> Pioneers and Rangers workstream and the release of all remaining contingency to the portfolio.</a:t>
            </a:r>
            <a:endParaRPr lang="en-US" sz="850" b="0" i="0" u="none" strike="noStrike" kern="1200" cap="none" spc="0" normalizeH="0" baseline="0" noProof="0">
              <a:ln>
                <a:noFill/>
              </a:ln>
              <a:solidFill>
                <a:prstClr val="black"/>
              </a:solidFill>
              <a:effectLst/>
              <a:uLnTx/>
              <a:uFillTx/>
              <a:latin typeface="Aptos" panose="02110004020202020204"/>
              <a:cs typeface="Arial"/>
            </a:endParaRP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50" b="0" i="0" u="none" strike="noStrike" kern="1200" cap="none" spc="0" normalizeH="0" baseline="0" noProof="0">
                <a:ln>
                  <a:noFill/>
                </a:ln>
                <a:solidFill>
                  <a:prstClr val="black"/>
                </a:solidFill>
                <a:effectLst/>
                <a:uLnTx/>
                <a:uFillTx/>
                <a:latin typeface="Aptos" panose="02110004020202020204"/>
                <a:ea typeface="+mn-ea"/>
                <a:cs typeface="+mn-cs"/>
              </a:rPr>
              <a:t>An additional $250K has been allocated to accelerate “Should-Have” scope, bringing the total project budget to $4.05M. If resources are not assigned by mid-September, the funding may not be fully utilized.</a:t>
            </a:r>
            <a:endParaRPr lang="en-US" sz="850" b="0" i="0" u="none" strike="noStrike" kern="1200" cap="none" spc="0" normalizeH="0" baseline="0" noProof="0">
              <a:ln>
                <a:noFill/>
              </a:ln>
              <a:solidFill>
                <a:prstClr val="black"/>
              </a:solidFill>
              <a:effectLst/>
              <a:uLnTx/>
              <a:uFillTx/>
              <a:latin typeface="Aptos" panose="02110004020202020204"/>
              <a:cs typeface="Arial" panose="020B0604020202020204" pitchFamily="34" charset="0"/>
            </a:endParaRPr>
          </a:p>
        </p:txBody>
      </p:sp>
      <p:sp>
        <p:nvSpPr>
          <p:cNvPr id="12" name="Title 1">
            <a:extLst>
              <a:ext uri="{FF2B5EF4-FFF2-40B4-BE49-F238E27FC236}">
                <a16:creationId xmlns:a16="http://schemas.microsoft.com/office/drawing/2014/main" id="{7BBD4E6B-B33A-73EE-7ED8-B0110D0AB05F}"/>
              </a:ext>
            </a:extLst>
          </p:cNvPr>
          <p:cNvSpPr>
            <a:spLocks noGrp="1"/>
          </p:cNvSpPr>
          <p:nvPr/>
        </p:nvSpPr>
        <p:spPr>
          <a:xfrm>
            <a:off x="252469" y="94811"/>
            <a:ext cx="11652110" cy="517320"/>
          </a:xfrm>
          <a:prstGeom prst="rect">
            <a:avLst/>
          </a:prstGeom>
        </p:spPr>
        <p:txBody>
          <a:bodyPr vert="horz" lIns="0" tIns="0" rIns="0" bIns="0" rtlCol="0" anchor="t" anchorCtr="0">
            <a:normAutofit lnSpcReduction="10000"/>
          </a:bodyPr>
          <a:lstStyle>
            <a:lvl1pPr algn="l" defTabSz="685858" rtl="0" eaLnBrk="1" latinLnBrk="0" hangingPunct="1">
              <a:lnSpc>
                <a:spcPct val="90000"/>
              </a:lnSpc>
              <a:spcBef>
                <a:spcPts val="0"/>
              </a:spcBef>
              <a:buNone/>
              <a:defRPr sz="2100" b="1" kern="1200">
                <a:solidFill>
                  <a:schemeClr val="bg2"/>
                </a:solidFill>
                <a:latin typeface="+mj-lt"/>
                <a:ea typeface="+mj-ea"/>
                <a:cs typeface="+mj-cs"/>
              </a:defRPr>
            </a:lvl1pPr>
          </a:lstStyle>
          <a:p>
            <a:pPr marL="0" marR="0" lvl="0" indent="0" algn="l" defTabSz="685858" rtl="0" eaLnBrk="1" fontAlgn="auto" latinLnBrk="0" hangingPunct="1">
              <a:lnSpc>
                <a:spcPct val="90000"/>
              </a:lnSpc>
              <a:spcBef>
                <a:spcPts val="0"/>
              </a:spcBef>
              <a:spcAft>
                <a:spcPts val="0"/>
              </a:spcAft>
              <a:buClrTx/>
              <a:buSzTx/>
              <a:buFontTx/>
              <a:buNone/>
              <a:tabLst/>
              <a:defRPr/>
            </a:pPr>
            <a:r>
              <a:rPr lang="en-US" sz="2400">
                <a:solidFill>
                  <a:srgbClr val="29389F"/>
                </a:solidFill>
                <a:latin typeface="Arial"/>
                <a:cs typeface="Arial"/>
              </a:rPr>
              <a:t>Payroll Billing Employer Portal</a:t>
            </a:r>
            <a:br>
              <a:rPr lang="en-US" sz="1400" b="0">
                <a:solidFill>
                  <a:srgbClr val="0070C0"/>
                </a:solidFill>
                <a:latin typeface="Arial" panose="020B0604020202020204" pitchFamily="34" charset="0"/>
                <a:cs typeface="Arial" panose="020B0604020202020204" pitchFamily="34" charset="0"/>
              </a:rPr>
            </a:br>
            <a:r>
              <a:rPr lang="en-US" sz="1400" b="0">
                <a:solidFill>
                  <a:srgbClr val="0070C0"/>
                </a:solidFill>
                <a:latin typeface="Arial" panose="020B0604020202020204" pitchFamily="34" charset="0"/>
                <a:cs typeface="Arial" panose="020B0604020202020204" pitchFamily="34" charset="0"/>
              </a:rPr>
              <a:t>Seamless Self-Service Administration for Payroll Employer Groups</a:t>
            </a:r>
          </a:p>
        </p:txBody>
      </p:sp>
      <p:sp>
        <p:nvSpPr>
          <p:cNvPr id="13" name="TextBox 2">
            <a:extLst>
              <a:ext uri="{FF2B5EF4-FFF2-40B4-BE49-F238E27FC236}">
                <a16:creationId xmlns:a16="http://schemas.microsoft.com/office/drawing/2014/main" id="{3B5DD81F-5E27-F227-89D2-4C402E932192}"/>
              </a:ext>
            </a:extLst>
          </p:cNvPr>
          <p:cNvSpPr txBox="1"/>
          <p:nvPr/>
        </p:nvSpPr>
        <p:spPr>
          <a:xfrm>
            <a:off x="9459190" y="94811"/>
            <a:ext cx="2676180" cy="517320"/>
          </a:xfrm>
          <a:prstGeom prst="rect">
            <a:avLst/>
          </a:prstGeom>
          <a:noFill/>
        </p:spPr>
        <p:txBody>
          <a:bodyPr wrap="none" lIns="0" tIns="0" rIns="0" bIns="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12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t>Delivery Leader: Ali Dadgar</a:t>
            </a:r>
          </a:p>
          <a:p>
            <a:pPr marL="0" marR="0" lvl="0" indent="0" algn="l" defTabSz="914400" rtl="0" eaLnBrk="1" fontAlgn="auto" latinLnBrk="0" hangingPunct="1">
              <a:lnSpc>
                <a:spcPct val="112000"/>
              </a:lnSpc>
              <a:spcBef>
                <a:spcPts val="0"/>
              </a:spcBef>
              <a:spcAft>
                <a:spcPts val="0"/>
              </a:spcAft>
              <a:buClrTx/>
              <a:buSzTx/>
              <a:buFontTx/>
              <a:buNone/>
              <a:tabLst/>
              <a:defRPr/>
            </a:pPr>
            <a:r>
              <a:rPr kumimoji="0" lang="en-US" sz="1200" b="0" i="0" u="none" strike="noStrike" kern="1200" cap="none" spc="0" normalizeH="0" baseline="0" noProof="0" err="1">
                <a:ln>
                  <a:noFill/>
                </a:ln>
                <a:solidFill>
                  <a:prstClr val="black"/>
                </a:solidFill>
                <a:effectLst/>
                <a:uLnTx/>
                <a:uFillTx/>
                <a:latin typeface="Aptos" panose="02110004020202020204"/>
                <a:ea typeface="+mn-ea"/>
                <a:cs typeface="+mn-cs"/>
              </a:rPr>
              <a:t>OpEx</a:t>
            </a:r>
            <a:r>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t> Business Lead: Victor Nas</a:t>
            </a:r>
          </a:p>
        </p:txBody>
      </p:sp>
      <p:sp>
        <p:nvSpPr>
          <p:cNvPr id="4" name="Flowchart: Connector 3">
            <a:extLst>
              <a:ext uri="{FF2B5EF4-FFF2-40B4-BE49-F238E27FC236}">
                <a16:creationId xmlns:a16="http://schemas.microsoft.com/office/drawing/2014/main" id="{AA785469-178F-35C4-565A-76AF57759350}"/>
              </a:ext>
            </a:extLst>
          </p:cNvPr>
          <p:cNvSpPr/>
          <p:nvPr/>
        </p:nvSpPr>
        <p:spPr>
          <a:xfrm>
            <a:off x="8366548" y="6063410"/>
            <a:ext cx="134946" cy="149629"/>
          </a:xfrm>
          <a:prstGeom prst="flowChartConnector">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8" name="Flowchart: Connector 7">
            <a:extLst>
              <a:ext uri="{FF2B5EF4-FFF2-40B4-BE49-F238E27FC236}">
                <a16:creationId xmlns:a16="http://schemas.microsoft.com/office/drawing/2014/main" id="{9EDB354C-BE69-884B-5E6C-96D2694A1024}"/>
              </a:ext>
            </a:extLst>
          </p:cNvPr>
          <p:cNvSpPr/>
          <p:nvPr/>
        </p:nvSpPr>
        <p:spPr>
          <a:xfrm>
            <a:off x="8356913" y="3069584"/>
            <a:ext cx="134946" cy="123660"/>
          </a:xfrm>
          <a:prstGeom prst="flowChartConnector">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 name="Flowchart: Connector 9">
            <a:extLst>
              <a:ext uri="{FF2B5EF4-FFF2-40B4-BE49-F238E27FC236}">
                <a16:creationId xmlns:a16="http://schemas.microsoft.com/office/drawing/2014/main" id="{E7C2A219-ADDD-F89F-EC79-04A1D0644943}"/>
              </a:ext>
            </a:extLst>
          </p:cNvPr>
          <p:cNvSpPr/>
          <p:nvPr/>
        </p:nvSpPr>
        <p:spPr>
          <a:xfrm>
            <a:off x="8353084" y="3304405"/>
            <a:ext cx="134946" cy="123660"/>
          </a:xfrm>
          <a:prstGeom prst="flowChartConnector">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8" name="Flowchart: Connector 17">
            <a:extLst>
              <a:ext uri="{FF2B5EF4-FFF2-40B4-BE49-F238E27FC236}">
                <a16:creationId xmlns:a16="http://schemas.microsoft.com/office/drawing/2014/main" id="{3A6780DC-24E1-B6C4-4307-BFF896EAD7B8}"/>
              </a:ext>
            </a:extLst>
          </p:cNvPr>
          <p:cNvSpPr/>
          <p:nvPr/>
        </p:nvSpPr>
        <p:spPr>
          <a:xfrm>
            <a:off x="8357702" y="3761784"/>
            <a:ext cx="134946" cy="123660"/>
          </a:xfrm>
          <a:prstGeom prst="flowChartConnector">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2" name="Flowchart: Connector 21">
            <a:extLst>
              <a:ext uri="{FF2B5EF4-FFF2-40B4-BE49-F238E27FC236}">
                <a16:creationId xmlns:a16="http://schemas.microsoft.com/office/drawing/2014/main" id="{7236B0E6-FCA3-F213-5E4D-5B5C9E79163C}"/>
              </a:ext>
            </a:extLst>
          </p:cNvPr>
          <p:cNvSpPr/>
          <p:nvPr/>
        </p:nvSpPr>
        <p:spPr>
          <a:xfrm>
            <a:off x="8364954" y="3984145"/>
            <a:ext cx="134946" cy="123660"/>
          </a:xfrm>
          <a:prstGeom prst="flowChartConnector">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7" name="Flowchart: Connector 6">
            <a:extLst>
              <a:ext uri="{FF2B5EF4-FFF2-40B4-BE49-F238E27FC236}">
                <a16:creationId xmlns:a16="http://schemas.microsoft.com/office/drawing/2014/main" id="{1C2F03EF-0276-9066-BF34-E9086DC937E9}"/>
              </a:ext>
            </a:extLst>
          </p:cNvPr>
          <p:cNvSpPr/>
          <p:nvPr/>
        </p:nvSpPr>
        <p:spPr>
          <a:xfrm>
            <a:off x="8361531" y="2861399"/>
            <a:ext cx="134946" cy="123660"/>
          </a:xfrm>
          <a:prstGeom prst="flowChartConnector">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6" name="Flowchart: Connector 15">
            <a:extLst>
              <a:ext uri="{FF2B5EF4-FFF2-40B4-BE49-F238E27FC236}">
                <a16:creationId xmlns:a16="http://schemas.microsoft.com/office/drawing/2014/main" id="{F9297F10-7A9A-B51C-5D30-59D4DA9FF77F}"/>
              </a:ext>
            </a:extLst>
          </p:cNvPr>
          <p:cNvSpPr/>
          <p:nvPr/>
        </p:nvSpPr>
        <p:spPr>
          <a:xfrm>
            <a:off x="8357613" y="3521553"/>
            <a:ext cx="134946" cy="123660"/>
          </a:xfrm>
          <a:prstGeom prst="flowChartConnector">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21953736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3DD669-AA02-BB9F-B376-2F5F4A8E4A9F}"/>
            </a:ext>
          </a:extLst>
        </p:cNvPr>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F4586A5F-23E3-E277-9A63-746285F4925B}"/>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8" imgH="408" progId="TCLayout.ActiveDocument.1">
                  <p:embed/>
                </p:oleObj>
              </mc:Choice>
              <mc:Fallback>
                <p:oleObj name="think-cell Slide" r:id="rId4" imgW="408" imgH="408" progId="TCLayout.ActiveDocument.1">
                  <p:embed/>
                  <p:pic>
                    <p:nvPicPr>
                      <p:cNvPr id="9" name="think-cell data - do not delete" hidden="1">
                        <a:extLst>
                          <a:ext uri="{FF2B5EF4-FFF2-40B4-BE49-F238E27FC236}">
                            <a16:creationId xmlns:a16="http://schemas.microsoft.com/office/drawing/2014/main" id="{F4586A5F-23E3-E277-9A63-746285F4925B}"/>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graphicFrame>
        <p:nvGraphicFramePr>
          <p:cNvPr id="32" name="Group 614">
            <a:extLst>
              <a:ext uri="{FF2B5EF4-FFF2-40B4-BE49-F238E27FC236}">
                <a16:creationId xmlns:a16="http://schemas.microsoft.com/office/drawing/2014/main" id="{55450123-965C-9530-502A-847BDA2C3D72}"/>
              </a:ext>
            </a:extLst>
          </p:cNvPr>
          <p:cNvGraphicFramePr>
            <a:graphicFrameLocks noGrp="1"/>
          </p:cNvGraphicFramePr>
          <p:nvPr/>
        </p:nvGraphicFramePr>
        <p:xfrm>
          <a:off x="4872496" y="6438526"/>
          <a:ext cx="7251313" cy="363339"/>
        </p:xfrm>
        <a:graphic>
          <a:graphicData uri="http://schemas.openxmlformats.org/drawingml/2006/table">
            <a:tbl>
              <a:tblPr/>
              <a:tblGrid>
                <a:gridCol w="616151">
                  <a:extLst>
                    <a:ext uri="{9D8B030D-6E8A-4147-A177-3AD203B41FA5}">
                      <a16:colId xmlns:a16="http://schemas.microsoft.com/office/drawing/2014/main" val="20000"/>
                    </a:ext>
                  </a:extLst>
                </a:gridCol>
                <a:gridCol w="312290">
                  <a:extLst>
                    <a:ext uri="{9D8B030D-6E8A-4147-A177-3AD203B41FA5}">
                      <a16:colId xmlns:a16="http://schemas.microsoft.com/office/drawing/2014/main" val="20001"/>
                    </a:ext>
                  </a:extLst>
                </a:gridCol>
                <a:gridCol w="706791">
                  <a:extLst>
                    <a:ext uri="{9D8B030D-6E8A-4147-A177-3AD203B41FA5}">
                      <a16:colId xmlns:a16="http://schemas.microsoft.com/office/drawing/2014/main" val="20002"/>
                    </a:ext>
                  </a:extLst>
                </a:gridCol>
                <a:gridCol w="404358">
                  <a:extLst>
                    <a:ext uri="{9D8B030D-6E8A-4147-A177-3AD203B41FA5}">
                      <a16:colId xmlns:a16="http://schemas.microsoft.com/office/drawing/2014/main" val="20003"/>
                    </a:ext>
                  </a:extLst>
                </a:gridCol>
                <a:gridCol w="642240">
                  <a:extLst>
                    <a:ext uri="{9D8B030D-6E8A-4147-A177-3AD203B41FA5}">
                      <a16:colId xmlns:a16="http://schemas.microsoft.com/office/drawing/2014/main" val="20004"/>
                    </a:ext>
                  </a:extLst>
                </a:gridCol>
                <a:gridCol w="526333">
                  <a:extLst>
                    <a:ext uri="{9D8B030D-6E8A-4147-A177-3AD203B41FA5}">
                      <a16:colId xmlns:a16="http://schemas.microsoft.com/office/drawing/2014/main" val="20005"/>
                    </a:ext>
                  </a:extLst>
                </a:gridCol>
                <a:gridCol w="502773">
                  <a:extLst>
                    <a:ext uri="{9D8B030D-6E8A-4147-A177-3AD203B41FA5}">
                      <a16:colId xmlns:a16="http://schemas.microsoft.com/office/drawing/2014/main" val="20006"/>
                    </a:ext>
                  </a:extLst>
                </a:gridCol>
                <a:gridCol w="377351">
                  <a:extLst>
                    <a:ext uri="{9D8B030D-6E8A-4147-A177-3AD203B41FA5}">
                      <a16:colId xmlns:a16="http://schemas.microsoft.com/office/drawing/2014/main" val="20007"/>
                    </a:ext>
                  </a:extLst>
                </a:gridCol>
                <a:gridCol w="722236">
                  <a:extLst>
                    <a:ext uri="{9D8B030D-6E8A-4147-A177-3AD203B41FA5}">
                      <a16:colId xmlns:a16="http://schemas.microsoft.com/office/drawing/2014/main" val="20008"/>
                    </a:ext>
                  </a:extLst>
                </a:gridCol>
                <a:gridCol w="471355">
                  <a:extLst>
                    <a:ext uri="{9D8B030D-6E8A-4147-A177-3AD203B41FA5}">
                      <a16:colId xmlns:a16="http://schemas.microsoft.com/office/drawing/2014/main" val="20009"/>
                    </a:ext>
                  </a:extLst>
                </a:gridCol>
                <a:gridCol w="1969435">
                  <a:extLst>
                    <a:ext uri="{9D8B030D-6E8A-4147-A177-3AD203B41FA5}">
                      <a16:colId xmlns:a16="http://schemas.microsoft.com/office/drawing/2014/main" val="20010"/>
                    </a:ext>
                  </a:extLst>
                </a:gridCol>
              </a:tblGrid>
              <a:tr h="363339">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Arial" charset="0"/>
                          <a:cs typeface="Arial" charset="0"/>
                        </a:rPr>
                        <a:t>Status Key</a:t>
                      </a:r>
                      <a:endParaRPr kumimoji="0" lang="en-GB" sz="1600" b="0" i="0" u="none" strike="noStrike" cap="none" normalizeH="0" baseline="0">
                        <a:ln>
                          <a:noFill/>
                        </a:ln>
                        <a:solidFill>
                          <a:srgbClr val="002060"/>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mj-lt"/>
                        </a:rPr>
                        <a:t>C</a:t>
                      </a: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Arial" charset="0"/>
                          <a:cs typeface="Arial" charset="0"/>
                        </a:rPr>
                        <a:t>Completed</a:t>
                      </a:r>
                      <a:endParaRPr kumimoji="0" lang="en-GB" sz="1600" b="0" i="0" u="none" strike="noStrike" cap="none" normalizeH="0" baseline="0">
                        <a:ln>
                          <a:noFill/>
                        </a:ln>
                        <a:solidFill>
                          <a:srgbClr val="002060"/>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On-Schedule</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Major Issues</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Some Issues</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NS</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Not Started</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2" name="Title 1">
            <a:extLst>
              <a:ext uri="{FF2B5EF4-FFF2-40B4-BE49-F238E27FC236}">
                <a16:creationId xmlns:a16="http://schemas.microsoft.com/office/drawing/2014/main" id="{07062657-BBA5-7566-2AC4-D5A5B8A0110D}"/>
              </a:ext>
            </a:extLst>
          </p:cNvPr>
          <p:cNvSpPr>
            <a:spLocks noGrp="1"/>
          </p:cNvSpPr>
          <p:nvPr>
            <p:ph type="title"/>
          </p:nvPr>
        </p:nvSpPr>
        <p:spPr>
          <a:xfrm>
            <a:off x="231954" y="101795"/>
            <a:ext cx="9281086" cy="788695"/>
          </a:xfrm>
        </p:spPr>
        <p:txBody>
          <a:bodyPr vert="horz">
            <a:normAutofit/>
          </a:bodyPr>
          <a:lstStyle/>
          <a:p>
            <a:r>
              <a:rPr lang="en-US" sz="2400" b="1" err="1">
                <a:solidFill>
                  <a:srgbClr val="29389F"/>
                </a:solidFill>
                <a:latin typeface="Arial" pitchFamily="34" charset="0"/>
                <a:cs typeface="Arial" pitchFamily="34" charset="0"/>
              </a:rPr>
              <a:t>FirstVet</a:t>
            </a:r>
            <a:r>
              <a:rPr lang="en-US" sz="2400" b="1">
                <a:solidFill>
                  <a:srgbClr val="29389F"/>
                </a:solidFill>
                <a:latin typeface="Arial" pitchFamily="34" charset="0"/>
                <a:cs typeface="Arial" pitchFamily="34" charset="0"/>
              </a:rPr>
              <a:t> Consultation File - API</a:t>
            </a:r>
          </a:p>
        </p:txBody>
      </p:sp>
      <p:graphicFrame>
        <p:nvGraphicFramePr>
          <p:cNvPr id="11" name="Group 513">
            <a:extLst>
              <a:ext uri="{FF2B5EF4-FFF2-40B4-BE49-F238E27FC236}">
                <a16:creationId xmlns:a16="http://schemas.microsoft.com/office/drawing/2014/main" id="{96B48A6E-42B2-5CB0-E03F-4B0E19FF399D}"/>
              </a:ext>
            </a:extLst>
          </p:cNvPr>
          <p:cNvGraphicFramePr>
            <a:graphicFrameLocks noGrp="1"/>
          </p:cNvGraphicFramePr>
          <p:nvPr>
            <p:extLst>
              <p:ext uri="{D42A27DB-BD31-4B8C-83A1-F6EECF244321}">
                <p14:modId xmlns:p14="http://schemas.microsoft.com/office/powerpoint/2010/main" val="2099493185"/>
              </p:ext>
            </p:extLst>
          </p:nvPr>
        </p:nvGraphicFramePr>
        <p:xfrm>
          <a:off x="231953" y="917792"/>
          <a:ext cx="2579072" cy="354160"/>
        </p:xfrm>
        <a:graphic>
          <a:graphicData uri="http://schemas.openxmlformats.org/drawingml/2006/table">
            <a:tbl>
              <a:tblPr/>
              <a:tblGrid>
                <a:gridCol w="962668">
                  <a:extLst>
                    <a:ext uri="{9D8B030D-6E8A-4147-A177-3AD203B41FA5}">
                      <a16:colId xmlns:a16="http://schemas.microsoft.com/office/drawing/2014/main" val="20000"/>
                    </a:ext>
                  </a:extLst>
                </a:gridCol>
                <a:gridCol w="1616404">
                  <a:extLst>
                    <a:ext uri="{9D8B030D-6E8A-4147-A177-3AD203B41FA5}">
                      <a16:colId xmlns:a16="http://schemas.microsoft.com/office/drawing/2014/main" val="20001"/>
                    </a:ext>
                  </a:extLst>
                </a:gridCol>
              </a:tblGrid>
              <a:tr h="354160">
                <a:tc>
                  <a:txBody>
                    <a:bodyPr/>
                    <a:lstStyle/>
                    <a:p>
                      <a:pPr marL="0" marR="0" lvl="0" indent="0" algn="l" defTabSz="914400" rtl="0" eaLnBrk="0" fontAlgn="base" latinLnBrk="0" hangingPunct="0">
                        <a:lnSpc>
                          <a:spcPct val="95000"/>
                        </a:lnSpc>
                        <a:spcBef>
                          <a:spcPct val="0"/>
                        </a:spcBef>
                        <a:spcAft>
                          <a:spcPct val="50000"/>
                        </a:spcAft>
                        <a:buClrTx/>
                        <a:buSzTx/>
                        <a:buFontTx/>
                        <a:buNone/>
                        <a:tabLst/>
                      </a:pPr>
                      <a:r>
                        <a:rPr kumimoji="0" lang="en-GB" sz="1050" b="1" i="0" u="none" strike="noStrike" kern="1200" cap="none" normalizeH="0" baseline="0">
                          <a:ln>
                            <a:noFill/>
                          </a:ln>
                          <a:solidFill>
                            <a:schemeClr val="bg1"/>
                          </a:solidFill>
                          <a:effectLst/>
                          <a:latin typeface="Arial"/>
                          <a:ea typeface="+mn-ea"/>
                          <a:cs typeface="+mn-cs"/>
                        </a:rPr>
                        <a:t>Status Date:</a:t>
                      </a:r>
                    </a:p>
                  </a:txBody>
                  <a:tcPr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2060"/>
                    </a:solidFill>
                  </a:tcPr>
                </a:tc>
                <a:tc>
                  <a:txBody>
                    <a:bodyPr/>
                    <a:lstStyle/>
                    <a:p>
                      <a:pPr marL="0" marR="0" lvl="0" indent="0" algn="ctr" defTabSz="914400" rtl="0" eaLnBrk="0" fontAlgn="base" latinLnBrk="0" hangingPunct="0">
                        <a:lnSpc>
                          <a:spcPct val="80000"/>
                        </a:lnSpc>
                        <a:spcBef>
                          <a:spcPct val="0"/>
                        </a:spcBef>
                        <a:spcAft>
                          <a:spcPts val="0"/>
                        </a:spcAft>
                        <a:buClrTx/>
                        <a:buSzTx/>
                        <a:buFontTx/>
                        <a:buNone/>
                        <a:tabLst/>
                      </a:pPr>
                      <a:r>
                        <a:rPr lang="en-GB" sz="850" b="1" strike="noStrike" kern="1200">
                          <a:solidFill>
                            <a:schemeClr val="tx1"/>
                          </a:solidFill>
                          <a:latin typeface="+mn-lt"/>
                          <a:ea typeface="+mn-ea"/>
                          <a:cs typeface="+mn-cs"/>
                        </a:rPr>
                        <a:t>8/28/2026</a:t>
                      </a:r>
                    </a:p>
                  </a:txBody>
                  <a:tcPr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14" name="Table 13">
            <a:extLst>
              <a:ext uri="{FF2B5EF4-FFF2-40B4-BE49-F238E27FC236}">
                <a16:creationId xmlns:a16="http://schemas.microsoft.com/office/drawing/2014/main" id="{EA8ADF8E-817A-BD90-F5D7-A689AAFD2BC2}"/>
              </a:ext>
            </a:extLst>
          </p:cNvPr>
          <p:cNvGraphicFramePr>
            <a:graphicFrameLocks noGrp="1"/>
          </p:cNvGraphicFramePr>
          <p:nvPr>
            <p:extLst>
              <p:ext uri="{D42A27DB-BD31-4B8C-83A1-F6EECF244321}">
                <p14:modId xmlns:p14="http://schemas.microsoft.com/office/powerpoint/2010/main" val="85765372"/>
              </p:ext>
            </p:extLst>
          </p:nvPr>
        </p:nvGraphicFramePr>
        <p:xfrm>
          <a:off x="6640300" y="917791"/>
          <a:ext cx="5352360" cy="749847"/>
        </p:xfrm>
        <a:graphic>
          <a:graphicData uri="http://schemas.openxmlformats.org/drawingml/2006/table">
            <a:tbl>
              <a:tblPr>
                <a:tableStyleId>{5C22544A-7EE6-4342-B048-85BDC9FD1C3A}</a:tableStyleId>
              </a:tblPr>
              <a:tblGrid>
                <a:gridCol w="1045337">
                  <a:extLst>
                    <a:ext uri="{9D8B030D-6E8A-4147-A177-3AD203B41FA5}">
                      <a16:colId xmlns:a16="http://schemas.microsoft.com/office/drawing/2014/main" val="2456552316"/>
                    </a:ext>
                  </a:extLst>
                </a:gridCol>
                <a:gridCol w="926511">
                  <a:extLst>
                    <a:ext uri="{9D8B030D-6E8A-4147-A177-3AD203B41FA5}">
                      <a16:colId xmlns:a16="http://schemas.microsoft.com/office/drawing/2014/main" val="2327174630"/>
                    </a:ext>
                  </a:extLst>
                </a:gridCol>
                <a:gridCol w="1514970">
                  <a:extLst>
                    <a:ext uri="{9D8B030D-6E8A-4147-A177-3AD203B41FA5}">
                      <a16:colId xmlns:a16="http://schemas.microsoft.com/office/drawing/2014/main" val="1100051595"/>
                    </a:ext>
                  </a:extLst>
                </a:gridCol>
                <a:gridCol w="913991">
                  <a:extLst>
                    <a:ext uri="{9D8B030D-6E8A-4147-A177-3AD203B41FA5}">
                      <a16:colId xmlns:a16="http://schemas.microsoft.com/office/drawing/2014/main" val="2042261034"/>
                    </a:ext>
                  </a:extLst>
                </a:gridCol>
                <a:gridCol w="951551">
                  <a:extLst>
                    <a:ext uri="{9D8B030D-6E8A-4147-A177-3AD203B41FA5}">
                      <a16:colId xmlns:a16="http://schemas.microsoft.com/office/drawing/2014/main" val="2815874248"/>
                    </a:ext>
                  </a:extLst>
                </a:gridCol>
              </a:tblGrid>
              <a:tr h="385650">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2026 Budget</a:t>
                      </a:r>
                      <a:r>
                        <a:rPr lang="en-US" sz="1050" b="1" i="0" u="none" strike="noStrike" kern="1200" cap="none" normalizeH="0" baseline="0">
                          <a:ln>
                            <a:noFill/>
                          </a:ln>
                          <a:solidFill>
                            <a:schemeClr val="bg1"/>
                          </a:solidFill>
                          <a:effectLst/>
                          <a:latin typeface="Arial"/>
                          <a:ea typeface="+mn-ea"/>
                          <a:cs typeface="+mn-cs"/>
                        </a:rPr>
                        <a:t> </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YTD Actuals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Remaining 2026 Forecast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Current YE Forecast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Total Budget</a:t>
                      </a:r>
                      <a:r>
                        <a:rPr lang="en-US" sz="1050" b="1" i="0" u="none" strike="noStrike" kern="1200" cap="none" normalizeH="0" baseline="0">
                          <a:ln>
                            <a:noFill/>
                          </a:ln>
                          <a:solidFill>
                            <a:schemeClr val="bg1"/>
                          </a:solidFill>
                          <a:effectLst/>
                          <a:latin typeface="Arial"/>
                          <a:ea typeface="+mn-ea"/>
                          <a:cs typeface="+mn-cs"/>
                        </a:rPr>
                        <a:t> </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364197">
                <a:tc>
                  <a:txBody>
                    <a:bodyPr/>
                    <a:lstStyle/>
                    <a:p>
                      <a:pPr marL="0" marR="0" lvl="0" indent="0" algn="ctr" defTabSz="914400" rtl="0" eaLnBrk="0" fontAlgn="base" latinLnBrk="0" hangingPunct="0">
                        <a:lnSpc>
                          <a:spcPct val="80000"/>
                        </a:lnSpc>
                        <a:spcBef>
                          <a:spcPct val="0"/>
                        </a:spcBef>
                        <a:spcAft>
                          <a:spcPts val="0"/>
                        </a:spcAft>
                        <a:buClrTx/>
                        <a:buSzTx/>
                        <a:buFontTx/>
                        <a:buNone/>
                      </a:pPr>
                      <a:r>
                        <a:rPr lang="en-US" sz="850" b="1" strike="noStrike" kern="1200">
                          <a:solidFill>
                            <a:schemeClr val="tx1"/>
                          </a:solidFill>
                          <a:latin typeface="+mn-lt"/>
                          <a:ea typeface="+mn-ea"/>
                          <a:cs typeface="+mn-cs"/>
                        </a:rPr>
                        <a:t>69,100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80000"/>
                        </a:lnSpc>
                        <a:spcBef>
                          <a:spcPct val="0"/>
                        </a:spcBef>
                        <a:spcAft>
                          <a:spcPts val="0"/>
                        </a:spcAft>
                        <a:buClrTx/>
                        <a:buSzTx/>
                        <a:buFontTx/>
                        <a:buNone/>
                        <a:tabLst/>
                      </a:pPr>
                      <a:r>
                        <a:rPr lang="en-US" sz="850" b="1" strike="noStrike" kern="1200">
                          <a:solidFill>
                            <a:schemeClr val="tx1"/>
                          </a:solidFill>
                          <a:latin typeface="+mn-lt"/>
                          <a:ea typeface="+mn-ea"/>
                          <a:cs typeface="+mn-cs"/>
                        </a:rPr>
                        <a:t>32,330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80000"/>
                        </a:lnSpc>
                        <a:spcBef>
                          <a:spcPct val="0"/>
                        </a:spcBef>
                        <a:spcAft>
                          <a:spcPts val="0"/>
                        </a:spcAft>
                        <a:buClrTx/>
                        <a:buSzTx/>
                        <a:buFontTx/>
                        <a:buNone/>
                        <a:tabLst/>
                        <a:defRPr/>
                      </a:pPr>
                      <a:r>
                        <a:rPr lang="en-US" sz="850" b="1" strike="noStrike" kern="1200">
                          <a:solidFill>
                            <a:schemeClr val="tx1"/>
                          </a:solidFill>
                          <a:latin typeface="+mn-lt"/>
                          <a:ea typeface="+mn-ea"/>
                          <a:cs typeface="+mn-cs"/>
                        </a:rPr>
                        <a:t>53,268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80000"/>
                        </a:lnSpc>
                        <a:spcBef>
                          <a:spcPct val="0"/>
                        </a:spcBef>
                        <a:spcAft>
                          <a:spcPts val="0"/>
                        </a:spcAft>
                        <a:buClrTx/>
                        <a:buSzTx/>
                        <a:buFontTx/>
                        <a:buNone/>
                        <a:tabLst/>
                      </a:pPr>
                      <a:r>
                        <a:rPr lang="en-US" sz="850" b="1" strike="noStrike" kern="1200">
                          <a:solidFill>
                            <a:schemeClr val="tx1"/>
                          </a:solidFill>
                          <a:latin typeface="+mn-lt"/>
                          <a:ea typeface="+mn-ea"/>
                          <a:cs typeface="+mn-cs"/>
                        </a:rPr>
                        <a:t>74K</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80000"/>
                        </a:lnSpc>
                        <a:spcBef>
                          <a:spcPct val="0"/>
                        </a:spcBef>
                        <a:spcAft>
                          <a:spcPts val="0"/>
                        </a:spcAft>
                        <a:buClrTx/>
                        <a:buSzTx/>
                        <a:buFontTx/>
                        <a:buNone/>
                      </a:pPr>
                      <a:r>
                        <a:rPr lang="en-US" sz="850" b="1" strike="noStrike" kern="1200">
                          <a:solidFill>
                            <a:schemeClr val="tx1"/>
                          </a:solidFill>
                          <a:latin typeface="+mn-lt"/>
                          <a:ea typeface="+mn-ea"/>
                          <a:cs typeface="+mn-cs"/>
                        </a:rPr>
                        <a:t>74K</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7499024"/>
                  </a:ext>
                </a:extLst>
              </a:tr>
            </a:tbl>
          </a:graphicData>
        </a:graphic>
      </p:graphicFrame>
      <p:graphicFrame>
        <p:nvGraphicFramePr>
          <p:cNvPr id="25" name="Table 24">
            <a:extLst>
              <a:ext uri="{FF2B5EF4-FFF2-40B4-BE49-F238E27FC236}">
                <a16:creationId xmlns:a16="http://schemas.microsoft.com/office/drawing/2014/main" id="{CB86882C-FF74-038A-FC36-909784A4555A}"/>
              </a:ext>
            </a:extLst>
          </p:cNvPr>
          <p:cNvGraphicFramePr>
            <a:graphicFrameLocks noGrp="1"/>
          </p:cNvGraphicFramePr>
          <p:nvPr/>
        </p:nvGraphicFramePr>
        <p:xfrm>
          <a:off x="2811025" y="920667"/>
          <a:ext cx="3829275" cy="749848"/>
        </p:xfrm>
        <a:graphic>
          <a:graphicData uri="http://schemas.openxmlformats.org/drawingml/2006/table">
            <a:tbl>
              <a:tblPr>
                <a:tableStyleId>{5C22544A-7EE6-4342-B048-85BDC9FD1C3A}</a:tableStyleId>
              </a:tblPr>
              <a:tblGrid>
                <a:gridCol w="1042158">
                  <a:extLst>
                    <a:ext uri="{9D8B030D-6E8A-4147-A177-3AD203B41FA5}">
                      <a16:colId xmlns:a16="http://schemas.microsoft.com/office/drawing/2014/main" val="2456552316"/>
                    </a:ext>
                  </a:extLst>
                </a:gridCol>
                <a:gridCol w="961214">
                  <a:extLst>
                    <a:ext uri="{9D8B030D-6E8A-4147-A177-3AD203B41FA5}">
                      <a16:colId xmlns:a16="http://schemas.microsoft.com/office/drawing/2014/main" val="1100051595"/>
                    </a:ext>
                  </a:extLst>
                </a:gridCol>
                <a:gridCol w="920742">
                  <a:extLst>
                    <a:ext uri="{9D8B030D-6E8A-4147-A177-3AD203B41FA5}">
                      <a16:colId xmlns:a16="http://schemas.microsoft.com/office/drawing/2014/main" val="2042261034"/>
                    </a:ext>
                  </a:extLst>
                </a:gridCol>
                <a:gridCol w="905161">
                  <a:extLst>
                    <a:ext uri="{9D8B030D-6E8A-4147-A177-3AD203B41FA5}">
                      <a16:colId xmlns:a16="http://schemas.microsoft.com/office/drawing/2014/main" val="2815874248"/>
                    </a:ext>
                  </a:extLst>
                </a:gridCol>
              </a:tblGrid>
              <a:tr h="409508">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Overall</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Scope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Schedule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Financials</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340340">
                <a:tc>
                  <a:txBody>
                    <a:bodyPr/>
                    <a:lstStyle/>
                    <a:p>
                      <a:pPr marL="0" marR="0" lvl="0" indent="0" algn="ctr" rtl="0" eaLnBrk="1" fontAlgn="ctr" latinLnBrk="0" hangingPunct="1">
                        <a:lnSpc>
                          <a:spcPct val="95000"/>
                        </a:lnSpc>
                        <a:spcBef>
                          <a:spcPct val="0"/>
                        </a:spcBef>
                        <a:spcAft>
                          <a:spcPct val="50000"/>
                        </a:spcAft>
                        <a:buClrTx/>
                        <a:buSzTx/>
                        <a:buFontTx/>
                        <a:buNone/>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rtl="0" eaLnBrk="1" fontAlgn="ctr" latinLnBrk="0" hangingPunct="1">
                        <a:lnSpc>
                          <a:spcPct val="95000"/>
                        </a:lnSpc>
                        <a:spcBef>
                          <a:spcPct val="0"/>
                        </a:spcBef>
                        <a:spcAft>
                          <a:spcPct val="50000"/>
                        </a:spcAft>
                        <a:buClrTx/>
                        <a:buSzTx/>
                        <a:buFontTx/>
                        <a:buNone/>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7499024"/>
                  </a:ext>
                </a:extLst>
              </a:tr>
            </a:tbl>
          </a:graphicData>
        </a:graphic>
      </p:graphicFrame>
      <p:graphicFrame>
        <p:nvGraphicFramePr>
          <p:cNvPr id="26" name="Group 513">
            <a:extLst>
              <a:ext uri="{FF2B5EF4-FFF2-40B4-BE49-F238E27FC236}">
                <a16:creationId xmlns:a16="http://schemas.microsoft.com/office/drawing/2014/main" id="{EF9653B5-B789-59F1-E1B2-C8A9F89DCAAC}"/>
              </a:ext>
            </a:extLst>
          </p:cNvPr>
          <p:cNvGraphicFramePr>
            <a:graphicFrameLocks noGrp="1"/>
          </p:cNvGraphicFramePr>
          <p:nvPr/>
        </p:nvGraphicFramePr>
        <p:xfrm>
          <a:off x="231953" y="1271951"/>
          <a:ext cx="2581575" cy="395688"/>
        </p:xfrm>
        <a:graphic>
          <a:graphicData uri="http://schemas.openxmlformats.org/drawingml/2006/table">
            <a:tbl>
              <a:tblPr/>
              <a:tblGrid>
                <a:gridCol w="998602">
                  <a:extLst>
                    <a:ext uri="{9D8B030D-6E8A-4147-A177-3AD203B41FA5}">
                      <a16:colId xmlns:a16="http://schemas.microsoft.com/office/drawing/2014/main" val="20000"/>
                    </a:ext>
                  </a:extLst>
                </a:gridCol>
                <a:gridCol w="1582973">
                  <a:extLst>
                    <a:ext uri="{9D8B030D-6E8A-4147-A177-3AD203B41FA5}">
                      <a16:colId xmlns:a16="http://schemas.microsoft.com/office/drawing/2014/main" val="20001"/>
                    </a:ext>
                  </a:extLst>
                </a:gridCol>
              </a:tblGrid>
              <a:tr h="344301">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GB" sz="1050" b="1" i="0" u="none" strike="noStrike" kern="1200" cap="none" normalizeH="0" baseline="0">
                          <a:ln>
                            <a:noFill/>
                          </a:ln>
                          <a:solidFill>
                            <a:schemeClr val="bg1"/>
                          </a:solidFill>
                          <a:effectLst/>
                          <a:latin typeface="Arial"/>
                          <a:ea typeface="+mn-ea"/>
                          <a:cs typeface="+mn-cs"/>
                        </a:rPr>
                        <a:t>Target Delivery:</a:t>
                      </a:r>
                    </a:p>
                  </a:txBody>
                  <a:tcPr marL="0" marR="0"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2060"/>
                    </a:solidFill>
                  </a:tcPr>
                </a:tc>
                <a:tc>
                  <a:txBody>
                    <a:bodyPr/>
                    <a:lstStyle/>
                    <a:p>
                      <a:pPr marL="0" marR="0" lvl="0" indent="0" algn="ctr" rtl="0" eaLnBrk="0" fontAlgn="base" latinLnBrk="0" hangingPunct="0">
                        <a:lnSpc>
                          <a:spcPct val="80000"/>
                        </a:lnSpc>
                        <a:spcBef>
                          <a:spcPct val="0"/>
                        </a:spcBef>
                        <a:spcAft>
                          <a:spcPts val="0"/>
                        </a:spcAft>
                        <a:buClrTx/>
                        <a:buSzTx/>
                        <a:buFontTx/>
                        <a:buNone/>
                      </a:pPr>
                      <a:r>
                        <a:rPr lang="en-US" sz="850" b="1" strike="sngStrike">
                          <a:solidFill>
                            <a:schemeClr val="tx1"/>
                          </a:solidFill>
                          <a:latin typeface="+mn-lt"/>
                        </a:rPr>
                        <a:t>Aug</a:t>
                      </a:r>
                      <a:r>
                        <a:rPr kumimoji="0" lang="en-US" sz="850" b="1" strike="sngStrike">
                          <a:solidFill>
                            <a:schemeClr val="tx1"/>
                          </a:solidFill>
                          <a:latin typeface="+mn-lt"/>
                        </a:rPr>
                        <a:t> 12</a:t>
                      </a:r>
                      <a:r>
                        <a:rPr kumimoji="0" lang="en-US" sz="850" b="1" strike="sngStrike" baseline="30000">
                          <a:solidFill>
                            <a:schemeClr val="tx1"/>
                          </a:solidFill>
                          <a:latin typeface="+mn-lt"/>
                        </a:rPr>
                        <a:t>th</a:t>
                      </a:r>
                      <a:r>
                        <a:rPr kumimoji="0" lang="en-US" sz="850" b="1" strike="sngStrike">
                          <a:solidFill>
                            <a:schemeClr val="tx1"/>
                          </a:solidFill>
                          <a:latin typeface="+mn-lt"/>
                        </a:rPr>
                        <a:t> </a:t>
                      </a:r>
                      <a:r>
                        <a:rPr kumimoji="0" lang="en-US" sz="850" b="1" strike="noStrike">
                          <a:solidFill>
                            <a:schemeClr val="tx1"/>
                          </a:solidFill>
                          <a:latin typeface="+mn-lt"/>
                        </a:rPr>
                        <a:t> - Aug 19</a:t>
                      </a:r>
                      <a:r>
                        <a:rPr kumimoji="0" lang="en-US" sz="850" b="1" strike="noStrike" baseline="30000">
                          <a:solidFill>
                            <a:schemeClr val="tx1"/>
                          </a:solidFill>
                          <a:latin typeface="+mn-lt"/>
                        </a:rPr>
                        <a:t>th</a:t>
                      </a:r>
                      <a:r>
                        <a:rPr kumimoji="0" lang="en-US" sz="850" b="1" strike="noStrike">
                          <a:solidFill>
                            <a:schemeClr val="tx1"/>
                          </a:solidFill>
                          <a:latin typeface="+mn-lt"/>
                        </a:rPr>
                        <a:t> </a:t>
                      </a:r>
                      <a:endParaRPr kumimoji="0" lang="en-US" sz="850" b="1" i="1" strike="noStrike">
                        <a:solidFill>
                          <a:schemeClr val="tx1"/>
                        </a:solidFill>
                        <a:latin typeface="+mn-lt"/>
                      </a:endParaRPr>
                    </a:p>
                  </a:txBody>
                  <a:tcPr marL="0" marR="0"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27" name="Table 26">
            <a:extLst>
              <a:ext uri="{FF2B5EF4-FFF2-40B4-BE49-F238E27FC236}">
                <a16:creationId xmlns:a16="http://schemas.microsoft.com/office/drawing/2014/main" id="{2C57617B-5240-4A92-8E6E-E8AC2E98E524}"/>
              </a:ext>
            </a:extLst>
          </p:cNvPr>
          <p:cNvGraphicFramePr>
            <a:graphicFrameLocks noGrp="1"/>
          </p:cNvGraphicFramePr>
          <p:nvPr>
            <p:extLst>
              <p:ext uri="{D42A27DB-BD31-4B8C-83A1-F6EECF244321}">
                <p14:modId xmlns:p14="http://schemas.microsoft.com/office/powerpoint/2010/main" val="2380309208"/>
              </p:ext>
            </p:extLst>
          </p:nvPr>
        </p:nvGraphicFramePr>
        <p:xfrm>
          <a:off x="4854084" y="1651450"/>
          <a:ext cx="7269726" cy="2458228"/>
        </p:xfrm>
        <a:graphic>
          <a:graphicData uri="http://schemas.openxmlformats.org/drawingml/2006/table">
            <a:tbl>
              <a:tblPr>
                <a:tableStyleId>{5C22544A-7EE6-4342-B048-85BDC9FD1C3A}</a:tableStyleId>
              </a:tblPr>
              <a:tblGrid>
                <a:gridCol w="3183492">
                  <a:extLst>
                    <a:ext uri="{9D8B030D-6E8A-4147-A177-3AD203B41FA5}">
                      <a16:colId xmlns:a16="http://schemas.microsoft.com/office/drawing/2014/main" val="2456552316"/>
                    </a:ext>
                  </a:extLst>
                </a:gridCol>
                <a:gridCol w="420624">
                  <a:extLst>
                    <a:ext uri="{9D8B030D-6E8A-4147-A177-3AD203B41FA5}">
                      <a16:colId xmlns:a16="http://schemas.microsoft.com/office/drawing/2014/main" val="1100051595"/>
                    </a:ext>
                  </a:extLst>
                </a:gridCol>
                <a:gridCol w="557784">
                  <a:extLst>
                    <a:ext uri="{9D8B030D-6E8A-4147-A177-3AD203B41FA5}">
                      <a16:colId xmlns:a16="http://schemas.microsoft.com/office/drawing/2014/main" val="2042261034"/>
                    </a:ext>
                  </a:extLst>
                </a:gridCol>
                <a:gridCol w="3107826">
                  <a:extLst>
                    <a:ext uri="{9D8B030D-6E8A-4147-A177-3AD203B41FA5}">
                      <a16:colId xmlns:a16="http://schemas.microsoft.com/office/drawing/2014/main" val="2815874248"/>
                    </a:ext>
                  </a:extLst>
                </a:gridCol>
              </a:tblGrid>
              <a:tr h="304528">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Milestone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Status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Due Date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Notes</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225904">
                <a:tc>
                  <a:txBody>
                    <a:bodyPr/>
                    <a:lstStyle/>
                    <a:p>
                      <a:pPr marL="114300" marR="0" lvl="0" indent="0" algn="l" rtl="0" eaLnBrk="1" fontAlgn="ctr" latinLnBrk="0" hangingPunct="1">
                        <a:lnSpc>
                          <a:spcPct val="95000"/>
                        </a:lnSpc>
                        <a:spcBef>
                          <a:spcPct val="0"/>
                        </a:spcBef>
                        <a:spcAft>
                          <a:spcPct val="50000"/>
                        </a:spcAft>
                        <a:buClrTx/>
                        <a:buSzTx/>
                        <a:buFontTx/>
                        <a:buNone/>
                      </a:pPr>
                      <a:r>
                        <a:rPr lang="en-US" sz="850" b="0" kern="1200">
                          <a:solidFill>
                            <a:schemeClr val="tx1"/>
                          </a:solidFill>
                          <a:effectLst/>
                          <a:latin typeface="+mn-lt"/>
                          <a:ea typeface="+mn-ea"/>
                          <a:cs typeface="+mn-cs"/>
                        </a:rPr>
                        <a:t>Validate and Lock business requirements</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r>
                        <a:rPr lang="en-US" sz="850" b="0" kern="1200">
                          <a:solidFill>
                            <a:schemeClr val="tx1"/>
                          </a:solidFill>
                          <a:effectLst/>
                          <a:latin typeface="+mn-lt"/>
                          <a:ea typeface="+mn-ea"/>
                          <a:cs typeface="+mn-cs"/>
                        </a:rPr>
                        <a:t>C</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r>
                        <a:rPr lang="en-US" sz="850" b="0" strike="noStrike" kern="1200">
                          <a:solidFill>
                            <a:schemeClr val="tx1"/>
                          </a:solidFill>
                          <a:effectLst/>
                          <a:latin typeface="+mn-lt"/>
                          <a:ea typeface="+mn-ea"/>
                          <a:cs typeface="+mn-cs"/>
                        </a:rPr>
                        <a:t>4/2</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0" hangingPunct="1">
                        <a:lnSpc>
                          <a:spcPts val="600"/>
                        </a:lnSpc>
                        <a:spcBef>
                          <a:spcPts val="300"/>
                        </a:spcBef>
                        <a:spcAft>
                          <a:spcPts val="0"/>
                        </a:spcAft>
                        <a:buClrTx/>
                        <a:buSzTx/>
                        <a:buFontTx/>
                        <a:buNone/>
                        <a:tabLst/>
                        <a:defRPr/>
                      </a:pPr>
                      <a:endParaRPr lang="en-US" sz="850" b="0" i="0">
                        <a:solidFill>
                          <a:srgbClr val="000000"/>
                        </a:solidFill>
                        <a:effectLst/>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748893264"/>
                  </a:ext>
                </a:extLst>
              </a:tr>
              <a:tr h="213379">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50">
                          <a:latin typeface="+mn-lt"/>
                        </a:rPr>
                        <a:t>Obtain approval from BDE</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0" hangingPunct="1">
                        <a:lnSpc>
                          <a:spcPct val="95000"/>
                        </a:lnSpc>
                        <a:spcBef>
                          <a:spcPct val="0"/>
                        </a:spcBef>
                        <a:spcAft>
                          <a:spcPct val="50000"/>
                        </a:spcAft>
                        <a:buClrTx/>
                        <a:buSzTx/>
                        <a:buFontTx/>
                        <a:buNone/>
                        <a:tabLst/>
                        <a:defRPr/>
                      </a:pPr>
                      <a:r>
                        <a:rPr lang="en-US" sz="850" b="0" kern="1200">
                          <a:solidFill>
                            <a:schemeClr val="tx1"/>
                          </a:solidFill>
                          <a:effectLst/>
                          <a:latin typeface="+mn-lt"/>
                          <a:ea typeface="+mn-ea"/>
                          <a:cs typeface="+mn-cs"/>
                        </a:rPr>
                        <a:t>C</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0" hangingPunct="1">
                        <a:lnSpc>
                          <a:spcPct val="95000"/>
                        </a:lnSpc>
                        <a:spcBef>
                          <a:spcPct val="0"/>
                        </a:spcBef>
                        <a:spcAft>
                          <a:spcPct val="50000"/>
                        </a:spcAft>
                        <a:buClrTx/>
                        <a:buSzTx/>
                        <a:buFontTx/>
                        <a:buNone/>
                        <a:tabLst/>
                        <a:defRPr/>
                      </a:pPr>
                      <a:r>
                        <a:rPr lang="en-US" sz="850" b="0" strike="noStrike" kern="1200">
                          <a:solidFill>
                            <a:schemeClr val="tx1"/>
                          </a:solidFill>
                          <a:effectLst/>
                          <a:latin typeface="+mn-lt"/>
                          <a:ea typeface="+mn-ea"/>
                          <a:cs typeface="+mn-cs"/>
                        </a:rPr>
                        <a:t>4/2</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algn="l">
                        <a:lnSpc>
                          <a:spcPct val="114999"/>
                        </a:lnSpc>
                        <a:spcAft>
                          <a:spcPts val="800"/>
                        </a:spcAft>
                        <a:buNone/>
                      </a:pPr>
                      <a:r>
                        <a:rPr lang="en-US" sz="850" b="0" i="0" u="none" strike="noStrike" kern="100" noProof="0">
                          <a:solidFill>
                            <a:schemeClr val="dk1"/>
                          </a:solidFill>
                          <a:effectLst/>
                          <a:latin typeface="+mn-lt"/>
                        </a:rPr>
                        <a:t>I</a:t>
                      </a:r>
                      <a:r>
                        <a:rPr lang="en-US" sz="850" b="0" i="0" u="none" strike="noStrike" kern="100" noProof="0">
                          <a:solidFill>
                            <a:schemeClr val="dk1"/>
                          </a:solidFill>
                          <a:effectLst/>
                          <a:latin typeface="+mn-lt"/>
                          <a:ea typeface="+mn-ea"/>
                          <a:cs typeface="+mn-cs"/>
                        </a:rPr>
                        <a:t>ncorporated BDE feedback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805706767"/>
                  </a:ext>
                </a:extLst>
              </a:tr>
              <a:tr h="236175">
                <a:tc>
                  <a:txBody>
                    <a:bodyPr/>
                    <a:lstStyle/>
                    <a:p>
                      <a:pPr marL="114300" marR="0" lvl="0" indent="0" algn="l" rtl="0" eaLnBrk="1" fontAlgn="auto" latinLnBrk="0" hangingPunct="1">
                        <a:lnSpc>
                          <a:spcPct val="95000"/>
                        </a:lnSpc>
                        <a:spcBef>
                          <a:spcPct val="0"/>
                        </a:spcBef>
                        <a:spcAft>
                          <a:spcPct val="50000"/>
                        </a:spcAft>
                        <a:buClrTx/>
                        <a:buSzTx/>
                        <a:buFontTx/>
                        <a:buNone/>
                      </a:pPr>
                      <a:r>
                        <a:rPr lang="en-US" sz="850" kern="1200">
                          <a:solidFill>
                            <a:schemeClr val="dk1"/>
                          </a:solidFill>
                          <a:latin typeface="+mn-lt"/>
                          <a:ea typeface="+mn-ea"/>
                          <a:cs typeface="+mn-cs"/>
                        </a:rPr>
                        <a:t>DDIT – Epic Winner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850">
                          <a:latin typeface="+mn-lt"/>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850">
                          <a:latin typeface="+mn-lt"/>
                        </a:rPr>
                        <a:t>6/24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lvl="0"/>
                      <a:r>
                        <a:rPr lang="en-US" sz="850" kern="1200">
                          <a:solidFill>
                            <a:schemeClr val="dk1"/>
                          </a:solidFill>
                          <a:effectLst/>
                          <a:latin typeface="+mn-lt"/>
                          <a:ea typeface="+mn-ea"/>
                          <a:cs typeface="+mn-cs"/>
                        </a:rPr>
                        <a:t>Epic winners still in DDIT and requested additional </a:t>
                      </a:r>
                      <a:r>
                        <a:rPr lang="en-US" sz="850" kern="1200" err="1">
                          <a:solidFill>
                            <a:schemeClr val="dk1"/>
                          </a:solidFill>
                          <a:effectLst/>
                          <a:latin typeface="+mn-lt"/>
                          <a:ea typeface="+mn-ea"/>
                          <a:cs typeface="+mn-cs"/>
                        </a:rPr>
                        <a:t>hrs</a:t>
                      </a:r>
                      <a:r>
                        <a:rPr lang="en-US" sz="850" kern="1200">
                          <a:solidFill>
                            <a:schemeClr val="dk1"/>
                          </a:solidFill>
                          <a:effectLst/>
                          <a:latin typeface="+mn-lt"/>
                          <a:ea typeface="+mn-ea"/>
                          <a:cs typeface="+mn-cs"/>
                        </a:rPr>
                        <a:t> for DDIT effort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162506059"/>
                  </a:ext>
                </a:extLst>
              </a:tr>
              <a:tr h="236174">
                <a:tc>
                  <a:txBody>
                    <a:bodyPr/>
                    <a:lstStyle/>
                    <a:p>
                      <a:pPr marL="114300" lvl="0" indent="0" algn="l">
                        <a:lnSpc>
                          <a:spcPct val="95000"/>
                        </a:lnSpc>
                        <a:spcBef>
                          <a:spcPct val="0"/>
                        </a:spcBef>
                        <a:spcAft>
                          <a:spcPct val="50000"/>
                        </a:spcAft>
                        <a:buNone/>
                      </a:pPr>
                      <a:r>
                        <a:rPr lang="en-US" sz="850" kern="1200">
                          <a:solidFill>
                            <a:schemeClr val="dk1"/>
                          </a:solidFill>
                          <a:latin typeface="+mn-lt"/>
                          <a:ea typeface="+mn-ea"/>
                          <a:cs typeface="+mn-cs"/>
                        </a:rPr>
                        <a:t>DDIT – Analysis This</a:t>
                      </a:r>
                    </a:p>
                  </a:txBody>
                  <a:tcPr marL="9524" marR="9524" marT="9524" marB="0" anchor="ctr">
                    <a:lnL w="12700">
                      <a:solidFill>
                        <a:schemeClr val="tx1"/>
                      </a:solidFill>
                    </a:lnL>
                    <a:lnR w="12700">
                      <a:solidFill>
                        <a:schemeClr val="tx1"/>
                      </a:solidFill>
                    </a:lnR>
                    <a:lnT w="12700">
                      <a:solidFill>
                        <a:schemeClr val="tx1"/>
                      </a:solidFill>
                    </a:lnT>
                    <a:lnB w="12700">
                      <a:solidFill>
                        <a:schemeClr val="tx1"/>
                      </a:solidFill>
                    </a:lnB>
                    <a:lnTlToBr w="0">
                      <a:noFill/>
                    </a:lnTlToBr>
                    <a:lnBlToTr w="0">
                      <a:noFill/>
                    </a:lnBlToTr>
                    <a:solidFill>
                      <a:schemeClr val="bg1">
                        <a:lumMod val="85000"/>
                      </a:schemeClr>
                    </a:solidFill>
                  </a:tcPr>
                </a:tc>
                <a:tc>
                  <a:txBody>
                    <a:bodyPr/>
                    <a:lstStyle/>
                    <a:p>
                      <a:pPr lvl="0" algn="ctr">
                        <a:buNone/>
                      </a:pPr>
                      <a:r>
                        <a:rPr lang="en-US" sz="850">
                          <a:latin typeface="+mn-lt"/>
                        </a:rPr>
                        <a:t>C</a:t>
                      </a:r>
                    </a:p>
                  </a:txBody>
                  <a:tcPr marL="9524" marR="9524" marT="9524" marB="0" anchor="ctr">
                    <a:lnL w="12700">
                      <a:solidFill>
                        <a:schemeClr val="tx1"/>
                      </a:solidFill>
                    </a:lnL>
                    <a:lnR w="12700">
                      <a:solidFill>
                        <a:schemeClr val="tx1"/>
                      </a:solidFill>
                    </a:lnR>
                    <a:lnT w="12700">
                      <a:solidFill>
                        <a:schemeClr val="tx1"/>
                      </a:solidFill>
                    </a:lnT>
                    <a:lnB w="12700">
                      <a:solidFill>
                        <a:schemeClr val="tx1"/>
                      </a:solidFill>
                    </a:lnB>
                    <a:lnTlToBr w="0">
                      <a:noFill/>
                    </a:lnTlToBr>
                    <a:lnBlToTr w="0">
                      <a:noFill/>
                    </a:lnBlToTr>
                    <a:solidFill>
                      <a:schemeClr val="bg1">
                        <a:lumMod val="85000"/>
                      </a:schemeClr>
                    </a:solidFill>
                  </a:tcPr>
                </a:tc>
                <a:tc>
                  <a:txBody>
                    <a:bodyPr/>
                    <a:lstStyle/>
                    <a:p>
                      <a:pPr lvl="0" algn="ctr">
                        <a:buNone/>
                      </a:pPr>
                      <a:r>
                        <a:rPr lang="en-US" sz="850">
                          <a:latin typeface="+mn-lt"/>
                        </a:rPr>
                        <a:t>7/28</a:t>
                      </a:r>
                    </a:p>
                  </a:txBody>
                  <a:tcPr marL="9524" marR="9524" marT="9524" marB="0" anchor="ctr">
                    <a:lnL w="12700">
                      <a:solidFill>
                        <a:schemeClr val="tx1"/>
                      </a:solidFill>
                    </a:lnL>
                    <a:lnR w="12700">
                      <a:solidFill>
                        <a:schemeClr val="tx1"/>
                      </a:solidFill>
                    </a:lnR>
                    <a:lnT w="12700">
                      <a:solidFill>
                        <a:schemeClr val="tx1"/>
                      </a:solidFill>
                    </a:lnT>
                    <a:lnB w="12700">
                      <a:solidFill>
                        <a:schemeClr val="tx1"/>
                      </a:solidFill>
                    </a:lnB>
                    <a:lnTlToBr w="0">
                      <a:noFill/>
                    </a:lnTlToBr>
                    <a:lnBlToTr w="0">
                      <a:noFill/>
                    </a:lnBlToTr>
                    <a:solidFill>
                      <a:schemeClr val="bg1">
                        <a:lumMod val="85000"/>
                      </a:schemeClr>
                    </a:solidFill>
                  </a:tcPr>
                </a:tc>
                <a:tc>
                  <a:txBody>
                    <a:bodyPr/>
                    <a:lstStyle/>
                    <a:p>
                      <a:pPr lvl="0">
                        <a:buNone/>
                      </a:pPr>
                      <a:endParaRPr lang="en-US" sz="850" kern="1200">
                        <a:solidFill>
                          <a:schemeClr val="dk1"/>
                        </a:solidFill>
                        <a:effectLst/>
                        <a:latin typeface="+mn-lt"/>
                        <a:ea typeface="+mn-ea"/>
                        <a:cs typeface="+mn-cs"/>
                      </a:endParaRPr>
                    </a:p>
                  </a:txBody>
                  <a:tcPr marL="9524" marR="9524" marT="9524" marB="0" anchor="ctr">
                    <a:lnL w="12700">
                      <a:solidFill>
                        <a:schemeClr val="tx1"/>
                      </a:solidFill>
                    </a:lnL>
                    <a:lnR w="12700">
                      <a:solidFill>
                        <a:schemeClr val="tx1"/>
                      </a:solidFill>
                    </a:lnR>
                    <a:lnT w="12700">
                      <a:solidFill>
                        <a:schemeClr val="tx1"/>
                      </a:solidFill>
                    </a:lnT>
                    <a:lnB w="12700">
                      <a:solidFill>
                        <a:schemeClr val="tx1"/>
                      </a:solidFill>
                    </a:lnB>
                    <a:lnTlToBr w="0">
                      <a:noFill/>
                    </a:lnTlToBr>
                    <a:lnBlToTr w="0">
                      <a:noFill/>
                    </a:lnBlToTr>
                    <a:solidFill>
                      <a:schemeClr val="bg1">
                        <a:lumMod val="85000"/>
                      </a:schemeClr>
                    </a:solidFill>
                  </a:tcPr>
                </a:tc>
                <a:extLst>
                  <a:ext uri="{0D108BD9-81ED-4DB2-BD59-A6C34878D82A}">
                    <a16:rowId xmlns:a16="http://schemas.microsoft.com/office/drawing/2014/main" val="4043492510"/>
                  </a:ext>
                </a:extLst>
              </a:tr>
              <a:tr h="236175">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50" kern="1200">
                          <a:solidFill>
                            <a:schemeClr val="dk1"/>
                          </a:solidFill>
                          <a:latin typeface="+mn-lt"/>
                          <a:ea typeface="+mn-ea"/>
                          <a:cs typeface="+mn-cs"/>
                        </a:rPr>
                        <a:t>Testing</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850">
                          <a:latin typeface="+mn-lt"/>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850">
                          <a:latin typeface="+mn-lt"/>
                        </a:rPr>
                        <a:t>7/30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lvl="0"/>
                      <a:endParaRPr lang="en-US" sz="850" kern="1200">
                        <a:solidFill>
                          <a:schemeClr val="dk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520125674"/>
                  </a:ext>
                </a:extLst>
              </a:tr>
              <a:tr h="236175">
                <a:tc>
                  <a:txBody>
                    <a:bodyPr/>
                    <a:lstStyle/>
                    <a:p>
                      <a:pPr marL="114300" marR="0" lvl="0" indent="0" algn="l">
                        <a:lnSpc>
                          <a:spcPct val="95000"/>
                        </a:lnSpc>
                        <a:spcBef>
                          <a:spcPct val="0"/>
                        </a:spcBef>
                        <a:spcAft>
                          <a:spcPct val="50000"/>
                        </a:spcAft>
                        <a:buNone/>
                      </a:pPr>
                      <a:r>
                        <a:rPr lang="en-US" sz="850" kern="1200">
                          <a:solidFill>
                            <a:schemeClr val="dk1"/>
                          </a:solidFill>
                          <a:latin typeface="+mn-lt"/>
                          <a:ea typeface="+mn-ea"/>
                          <a:cs typeface="+mn-cs"/>
                        </a:rPr>
                        <a:t>E2E testing</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850">
                          <a:latin typeface="+mn-lt"/>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850">
                          <a:latin typeface="+mn-lt"/>
                        </a:rPr>
                        <a:t>8/5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lvl="0"/>
                      <a:endParaRPr lang="en-US" sz="850" kern="1200">
                        <a:solidFill>
                          <a:schemeClr val="dk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953880179"/>
                  </a:ext>
                </a:extLst>
              </a:tr>
              <a:tr h="236175">
                <a:tc>
                  <a:txBody>
                    <a:bodyPr/>
                    <a:lstStyle/>
                    <a:p>
                      <a:pPr marL="114300" marR="0" lvl="0" indent="0" algn="l">
                        <a:lnSpc>
                          <a:spcPct val="95000"/>
                        </a:lnSpc>
                        <a:spcBef>
                          <a:spcPct val="0"/>
                        </a:spcBef>
                        <a:spcAft>
                          <a:spcPct val="50000"/>
                        </a:spcAft>
                        <a:buNone/>
                      </a:pPr>
                      <a:r>
                        <a:rPr lang="en-US" sz="850" kern="1200">
                          <a:solidFill>
                            <a:schemeClr val="dk1"/>
                          </a:solidFill>
                          <a:latin typeface="+mn-lt"/>
                          <a:ea typeface="+mn-ea"/>
                          <a:cs typeface="+mn-cs"/>
                        </a:rPr>
                        <a:t>Vendor Integration testing</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850">
                          <a:latin typeface="+mn-lt"/>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lvl="0" algn="ctr">
                        <a:buNone/>
                      </a:pPr>
                      <a:r>
                        <a:rPr lang="en-US" sz="850">
                          <a:latin typeface="+mn-lt"/>
                        </a:rPr>
                        <a:t>8/18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lvl="0"/>
                      <a:r>
                        <a:rPr lang="en-US" sz="850" kern="1200">
                          <a:solidFill>
                            <a:schemeClr val="dk1"/>
                          </a:solidFill>
                          <a:effectLst/>
                          <a:latin typeface="+mn-lt"/>
                          <a:ea typeface="+mn-ea"/>
                          <a:cs typeface="+mn-cs"/>
                        </a:rPr>
                        <a:t>Had session with vendor to discuss the integration testing Plan</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2564433576"/>
                  </a:ext>
                </a:extLst>
              </a:tr>
              <a:tr h="236174">
                <a:tc>
                  <a:txBody>
                    <a:bodyPr/>
                    <a:lstStyle/>
                    <a:p>
                      <a:pPr marL="114300" lvl="0" indent="0" algn="l">
                        <a:lnSpc>
                          <a:spcPct val="95000"/>
                        </a:lnSpc>
                        <a:spcBef>
                          <a:spcPct val="0"/>
                        </a:spcBef>
                        <a:spcAft>
                          <a:spcPct val="50000"/>
                        </a:spcAft>
                        <a:buNone/>
                      </a:pPr>
                      <a:r>
                        <a:rPr lang="en-US" sz="850" kern="1200">
                          <a:solidFill>
                            <a:schemeClr val="dk1"/>
                          </a:solidFill>
                          <a:latin typeface="+mn-lt"/>
                          <a:ea typeface="+mn-ea"/>
                          <a:cs typeface="+mn-cs"/>
                        </a:rPr>
                        <a:t>Production</a:t>
                      </a:r>
                    </a:p>
                  </a:txBody>
                  <a:tcPr marL="9524" marR="9524" marT="9524" marB="0"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lnTlToBr w="0">
                      <a:noFill/>
                    </a:lnTlToBr>
                    <a:lnBlToTr w="0">
                      <a:noFill/>
                    </a:lnBlToTr>
                    <a:solidFill>
                      <a:schemeClr val="bg1">
                        <a:lumMod val="85000"/>
                      </a:schemeClr>
                    </a:solidFill>
                  </a:tcPr>
                </a:tc>
                <a:tc>
                  <a:txBody>
                    <a:bodyPr/>
                    <a:lstStyle/>
                    <a:p>
                      <a:pPr lvl="0" algn="ctr">
                        <a:buNone/>
                      </a:pPr>
                      <a:r>
                        <a:rPr lang="en-US" sz="850">
                          <a:latin typeface="+mn-lt"/>
                        </a:rPr>
                        <a:t>C</a:t>
                      </a:r>
                    </a:p>
                  </a:txBody>
                  <a:tcPr marL="9524" marR="9524" marT="9524" marB="0"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lnTlToBr w="0">
                      <a:noFill/>
                    </a:lnTlToBr>
                    <a:lnBlToTr w="0">
                      <a:noFill/>
                    </a:lnBlToTr>
                    <a:solidFill>
                      <a:schemeClr val="bg1">
                        <a:lumMod val="85000"/>
                      </a:schemeClr>
                    </a:solidFill>
                  </a:tcPr>
                </a:tc>
                <a:tc>
                  <a:txBody>
                    <a:bodyPr/>
                    <a:lstStyle/>
                    <a:p>
                      <a:pPr lvl="0" algn="ctr">
                        <a:buNone/>
                      </a:pPr>
                      <a:r>
                        <a:rPr lang="en-US" sz="850">
                          <a:latin typeface="+mn-lt"/>
                        </a:rPr>
                        <a:t>8/19</a:t>
                      </a:r>
                    </a:p>
                  </a:txBody>
                  <a:tcPr marL="9524" marR="9524" marT="9524" marB="0"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lnTlToBr w="0">
                      <a:noFill/>
                    </a:lnTlToBr>
                    <a:lnBlToTr w="0">
                      <a:noFill/>
                    </a:lnBlToTr>
                    <a:solidFill>
                      <a:schemeClr val="bg1">
                        <a:lumMod val="85000"/>
                      </a:schemeClr>
                    </a:solidFill>
                  </a:tcPr>
                </a:tc>
                <a:tc>
                  <a:txBody>
                    <a:bodyPr/>
                    <a:lstStyle/>
                    <a:p>
                      <a:pPr lvl="0">
                        <a:buNone/>
                      </a:pPr>
                      <a:endParaRPr lang="en-US" sz="850" kern="1200">
                        <a:solidFill>
                          <a:schemeClr val="dk1"/>
                        </a:solidFill>
                        <a:effectLst/>
                        <a:latin typeface="+mn-lt"/>
                        <a:ea typeface="+mn-ea"/>
                        <a:cs typeface="+mn-cs"/>
                      </a:endParaRPr>
                    </a:p>
                  </a:txBody>
                  <a:tcPr marL="9524" marR="9524" marT="9524" marB="0"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lnTlToBr w="0">
                      <a:noFill/>
                    </a:lnTlToBr>
                    <a:lnBlToTr w="0">
                      <a:noFill/>
                    </a:lnBlToTr>
                    <a:solidFill>
                      <a:schemeClr val="bg1">
                        <a:lumMod val="85000"/>
                      </a:schemeClr>
                    </a:solidFill>
                  </a:tcPr>
                </a:tc>
                <a:extLst>
                  <a:ext uri="{0D108BD9-81ED-4DB2-BD59-A6C34878D82A}">
                    <a16:rowId xmlns:a16="http://schemas.microsoft.com/office/drawing/2014/main" val="944897433"/>
                  </a:ext>
                </a:extLst>
              </a:tr>
              <a:tr h="236174">
                <a:tc>
                  <a:txBody>
                    <a:bodyPr/>
                    <a:lstStyle/>
                    <a:p>
                      <a:pPr marL="114300" lvl="0" indent="0" algn="l">
                        <a:lnSpc>
                          <a:spcPct val="95000"/>
                        </a:lnSpc>
                        <a:spcBef>
                          <a:spcPct val="0"/>
                        </a:spcBef>
                        <a:spcAft>
                          <a:spcPct val="50000"/>
                        </a:spcAft>
                        <a:buNone/>
                      </a:pPr>
                      <a:r>
                        <a:rPr lang="en-US" sz="850" kern="1200">
                          <a:solidFill>
                            <a:schemeClr val="dk1"/>
                          </a:solidFill>
                          <a:latin typeface="+mn-lt"/>
                          <a:ea typeface="+mn-ea"/>
                          <a:cs typeface="+mn-cs"/>
                        </a:rPr>
                        <a:t>Transfer file to ImageRight Location</a:t>
                      </a:r>
                    </a:p>
                  </a:txBody>
                  <a:tcPr marL="9524" marR="9524" marT="9524" marB="0"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lnTlToBr w="0">
                      <a:noFill/>
                    </a:lnTlToBr>
                    <a:lnBlToTr w="0">
                      <a:noFill/>
                    </a:lnBlToTr>
                    <a:solidFill>
                      <a:schemeClr val="bg1"/>
                    </a:solidFill>
                  </a:tcPr>
                </a:tc>
                <a:tc>
                  <a:txBody>
                    <a:bodyPr/>
                    <a:lstStyle/>
                    <a:p>
                      <a:pPr lvl="0" algn="ctr">
                        <a:buNone/>
                      </a:pPr>
                      <a:endParaRPr lang="en-US" sz="850">
                        <a:latin typeface="+mn-lt"/>
                      </a:endParaRPr>
                    </a:p>
                  </a:txBody>
                  <a:tcPr marL="9524" marR="9524" marT="952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lnTlToBr w="0">
                      <a:noFill/>
                    </a:lnTlToBr>
                    <a:lnBlToTr w="0">
                      <a:noFill/>
                    </a:lnBlToTr>
                    <a:solidFill>
                      <a:schemeClr val="bg1"/>
                    </a:solidFill>
                  </a:tcPr>
                </a:tc>
                <a:tc>
                  <a:txBody>
                    <a:bodyPr/>
                    <a:lstStyle/>
                    <a:p>
                      <a:pPr lvl="0" algn="ctr">
                        <a:buNone/>
                      </a:pPr>
                      <a:r>
                        <a:rPr lang="en-US" sz="850">
                          <a:latin typeface="+mn-lt"/>
                        </a:rPr>
                        <a:t>9/14</a:t>
                      </a:r>
                    </a:p>
                  </a:txBody>
                  <a:tcPr marL="9524" marR="9524" marT="952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lnTlToBr w="0">
                      <a:noFill/>
                    </a:lnTlToBr>
                    <a:lnBlToTr w="0">
                      <a:noFill/>
                    </a:lnBlToTr>
                    <a:solidFill>
                      <a:schemeClr val="bg1"/>
                    </a:solidFill>
                  </a:tcPr>
                </a:tc>
                <a:tc>
                  <a:txBody>
                    <a:bodyPr/>
                    <a:lstStyle/>
                    <a:p>
                      <a:pPr lvl="0">
                        <a:buNone/>
                      </a:pPr>
                      <a:endParaRPr lang="en-US" sz="850" kern="1200">
                        <a:solidFill>
                          <a:schemeClr val="dk1"/>
                        </a:solidFill>
                        <a:effectLst/>
                        <a:latin typeface="+mn-lt"/>
                        <a:ea typeface="+mn-ea"/>
                        <a:cs typeface="+mn-cs"/>
                      </a:endParaRPr>
                    </a:p>
                  </a:txBody>
                  <a:tcPr marL="9524" marR="9524" marT="9524" marB="0" anchor="ctr">
                    <a:lnL w="12700" cap="flat" cmpd="sng" algn="ctr">
                      <a:solidFill>
                        <a:schemeClr val="tx1"/>
                      </a:solidFill>
                      <a:prstDash val="solid"/>
                      <a:round/>
                      <a:headEnd type="none" w="med" len="med"/>
                      <a:tailEnd type="none" w="med" len="med"/>
                    </a:lnL>
                    <a:lnR w="12700">
                      <a:solidFill>
                        <a:schemeClr val="tx1"/>
                      </a:solidFill>
                    </a:lnR>
                    <a:lnT w="12700">
                      <a:solidFill>
                        <a:schemeClr val="tx1"/>
                      </a:solidFill>
                    </a:lnT>
                    <a:lnB w="12700">
                      <a:solidFill>
                        <a:schemeClr val="tx1"/>
                      </a:solidFill>
                    </a:lnB>
                    <a:lnTlToBr w="0">
                      <a:noFill/>
                    </a:lnTlToBr>
                    <a:lnBlToTr w="0">
                      <a:noFill/>
                    </a:lnBlToTr>
                    <a:solidFill>
                      <a:schemeClr val="bg1"/>
                    </a:solidFill>
                  </a:tcPr>
                </a:tc>
                <a:extLst>
                  <a:ext uri="{0D108BD9-81ED-4DB2-BD59-A6C34878D82A}">
                    <a16:rowId xmlns:a16="http://schemas.microsoft.com/office/drawing/2014/main" val="141283379"/>
                  </a:ext>
                </a:extLst>
              </a:tr>
            </a:tbl>
          </a:graphicData>
        </a:graphic>
      </p:graphicFrame>
      <p:graphicFrame>
        <p:nvGraphicFramePr>
          <p:cNvPr id="29" name="Table 28">
            <a:extLst>
              <a:ext uri="{FF2B5EF4-FFF2-40B4-BE49-F238E27FC236}">
                <a16:creationId xmlns:a16="http://schemas.microsoft.com/office/drawing/2014/main" id="{65ECEA24-33AC-8F63-937D-BAEA60CE9D03}"/>
              </a:ext>
            </a:extLst>
          </p:cNvPr>
          <p:cNvGraphicFramePr>
            <a:graphicFrameLocks noGrp="1"/>
          </p:cNvGraphicFramePr>
          <p:nvPr>
            <p:extLst>
              <p:ext uri="{D42A27DB-BD31-4B8C-83A1-F6EECF244321}">
                <p14:modId xmlns:p14="http://schemas.microsoft.com/office/powerpoint/2010/main" val="3442449076"/>
              </p:ext>
            </p:extLst>
          </p:nvPr>
        </p:nvGraphicFramePr>
        <p:xfrm>
          <a:off x="4854085" y="4121217"/>
          <a:ext cx="7269726" cy="2370401"/>
        </p:xfrm>
        <a:graphic>
          <a:graphicData uri="http://schemas.openxmlformats.org/drawingml/2006/table">
            <a:tbl>
              <a:tblPr>
                <a:tableStyleId>{5C22544A-7EE6-4342-B048-85BDC9FD1C3A}</a:tableStyleId>
              </a:tblPr>
              <a:tblGrid>
                <a:gridCol w="3200255">
                  <a:extLst>
                    <a:ext uri="{9D8B030D-6E8A-4147-A177-3AD203B41FA5}">
                      <a16:colId xmlns:a16="http://schemas.microsoft.com/office/drawing/2014/main" val="2456552316"/>
                    </a:ext>
                  </a:extLst>
                </a:gridCol>
                <a:gridCol w="426720">
                  <a:extLst>
                    <a:ext uri="{9D8B030D-6E8A-4147-A177-3AD203B41FA5}">
                      <a16:colId xmlns:a16="http://schemas.microsoft.com/office/drawing/2014/main" val="1100051595"/>
                    </a:ext>
                  </a:extLst>
                </a:gridCol>
                <a:gridCol w="503938">
                  <a:extLst>
                    <a:ext uri="{9D8B030D-6E8A-4147-A177-3AD203B41FA5}">
                      <a16:colId xmlns:a16="http://schemas.microsoft.com/office/drawing/2014/main" val="2042261034"/>
                    </a:ext>
                  </a:extLst>
                </a:gridCol>
                <a:gridCol w="3138813">
                  <a:extLst>
                    <a:ext uri="{9D8B030D-6E8A-4147-A177-3AD203B41FA5}">
                      <a16:colId xmlns:a16="http://schemas.microsoft.com/office/drawing/2014/main" val="2815874248"/>
                    </a:ext>
                  </a:extLst>
                </a:gridCol>
              </a:tblGrid>
              <a:tr h="258561">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Critical Risks/Issues</a:t>
                      </a:r>
                      <a:endParaRPr kumimoji="0" lang="en-US" sz="1050" b="1" i="0" u="none" strike="noStrike" kern="1200" cap="none" normalizeH="0" baseline="0">
                        <a:ln>
                          <a:noFill/>
                        </a:ln>
                        <a:solidFill>
                          <a:schemeClr val="bg1"/>
                        </a:solidFill>
                        <a:effectLst/>
                        <a:latin typeface="Arial" charset="0"/>
                        <a:ea typeface="+mn-ea"/>
                        <a:cs typeface="+mn-cs"/>
                      </a:endParaRP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Status</a:t>
                      </a:r>
                    </a:p>
                  </a:txBody>
                  <a:tcPr marL="9525" marR="9525" marT="9525" marB="0" anchor="ct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Target Date</a:t>
                      </a:r>
                    </a:p>
                  </a:txBody>
                  <a:tcPr marL="9525" marR="9525" marT="9525" marB="0" anchor="ctr">
                    <a:lnL w="12700">
                      <a:solidFill>
                        <a:schemeClr val="tx1"/>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Resolution / Mitigation</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213252">
                <a:tc>
                  <a:txBody>
                    <a:bodyPr/>
                    <a:lstStyle/>
                    <a:p>
                      <a:pPr marL="0" marR="0" lvl="0" indent="0" algn="l" rtl="0" eaLnBrk="1" fontAlgn="auto" latinLnBrk="0" hangingPunct="1">
                        <a:lnSpc>
                          <a:spcPct val="115000"/>
                        </a:lnSpc>
                        <a:spcBef>
                          <a:spcPts val="0"/>
                        </a:spcBef>
                        <a:spcAft>
                          <a:spcPts val="800"/>
                        </a:spcAft>
                        <a:buClrTx/>
                        <a:buSzTx/>
                        <a:buFontTx/>
                        <a:buNone/>
                      </a:pPr>
                      <a:r>
                        <a:rPr lang="en-US" sz="850">
                          <a:latin typeface="Aptos" panose="020B0004020202020204" pitchFamily="34" charset="0"/>
                        </a:rPr>
                        <a:t>End to end testing and Integration should be planned ahead with the Firstvet vendor</a:t>
                      </a: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r>
                        <a:rPr lang="en-US" sz="850" b="0" kern="1200">
                          <a:solidFill>
                            <a:schemeClr val="tx1"/>
                          </a:solidFill>
                          <a:effectLst/>
                          <a:latin typeface="Aptos" panose="020B0004020202020204" pitchFamily="34" charset="0"/>
                          <a:ea typeface="+mn-ea"/>
                          <a:cs typeface="+mn-cs"/>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r>
                        <a:rPr lang="en-US" sz="850" b="0" strike="noStrike" kern="1200">
                          <a:solidFill>
                            <a:schemeClr val="tx1"/>
                          </a:solidFill>
                          <a:effectLst/>
                          <a:latin typeface="Aptos" panose="020B0004020202020204" pitchFamily="34" charset="0"/>
                          <a:ea typeface="+mn-ea"/>
                          <a:cs typeface="+mn-cs"/>
                        </a:rPr>
                        <a:t>8/6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rtl="0" eaLnBrk="1" fontAlgn="base" latinLnBrk="0" hangingPunct="1">
                        <a:lnSpc>
                          <a:spcPct val="100000"/>
                        </a:lnSpc>
                        <a:spcBef>
                          <a:spcPts val="200"/>
                        </a:spcBef>
                        <a:spcAft>
                          <a:spcPts val="0"/>
                        </a:spcAft>
                        <a:buClrTx/>
                        <a:buSzTx/>
                        <a:buFont typeface="Arial" panose="020B0604020202020204" pitchFamily="34" charset="0"/>
                        <a:buNone/>
                      </a:pPr>
                      <a:r>
                        <a:rPr lang="en-US" sz="850" b="0" strike="noStrike" kern="1200">
                          <a:solidFill>
                            <a:schemeClr val="tx1"/>
                          </a:solidFill>
                          <a:effectLst/>
                          <a:latin typeface="Aptos" panose="020B0004020202020204" pitchFamily="34" charset="0"/>
                          <a:ea typeface="+mn-ea"/>
                          <a:cs typeface="+mn-cs"/>
                        </a:rPr>
                        <a:t>Schedule meeting with vendor to communicate the plan for E2E testing and system integration steps</a:t>
                      </a: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018983321"/>
                  </a:ext>
                </a:extLst>
              </a:tr>
              <a:tr h="278583">
                <a:tc>
                  <a:txBody>
                    <a:bodyPr/>
                    <a:lstStyle/>
                    <a:p>
                      <a:pPr marL="0" marR="0" lvl="0" indent="0" algn="l" defTabSz="914400" rtl="0" eaLnBrk="1" fontAlgn="auto" latinLnBrk="0" hangingPunct="1">
                        <a:lnSpc>
                          <a:spcPct val="115000"/>
                        </a:lnSpc>
                        <a:spcBef>
                          <a:spcPts val="0"/>
                        </a:spcBef>
                        <a:spcAft>
                          <a:spcPts val="800"/>
                        </a:spcAft>
                        <a:buClrTx/>
                        <a:buSzTx/>
                        <a:buFontTx/>
                        <a:buNone/>
                        <a:tabLst/>
                        <a:defRPr/>
                      </a:pPr>
                      <a:r>
                        <a:rPr lang="en-US" sz="850" kern="1200">
                          <a:solidFill>
                            <a:schemeClr val="dk1"/>
                          </a:solidFill>
                          <a:latin typeface="Aptos" panose="020B0004020202020204" pitchFamily="34" charset="0"/>
                          <a:ea typeface="+mn-ea"/>
                          <a:cs typeface="+mn-cs"/>
                        </a:rPr>
                        <a:t>Vendor Connectivity Readiness: Vendor-side setup and connectivity validation remain in progress.</a:t>
                      </a: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r>
                        <a:rPr lang="en-US" sz="850" kern="1200">
                          <a:solidFill>
                            <a:schemeClr val="dk1"/>
                          </a:solidFill>
                          <a:latin typeface="Aptos" panose="020B0004020202020204" pitchFamily="34" charset="0"/>
                          <a:ea typeface="+mn-ea"/>
                          <a:cs typeface="+mn-cs"/>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r>
                        <a:rPr lang="en-US" sz="850" kern="1200">
                          <a:solidFill>
                            <a:schemeClr val="dk1"/>
                          </a:solidFill>
                          <a:latin typeface="Aptos" panose="020B0004020202020204" pitchFamily="34" charset="0"/>
                          <a:ea typeface="+mn-ea"/>
                          <a:cs typeface="+mn-cs"/>
                        </a:rPr>
                        <a:t>8/18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rtl="0" eaLnBrk="1" fontAlgn="base" latinLnBrk="0" hangingPunct="1">
                        <a:lnSpc>
                          <a:spcPct val="100000"/>
                        </a:lnSpc>
                        <a:spcBef>
                          <a:spcPts val="200"/>
                        </a:spcBef>
                        <a:spcAft>
                          <a:spcPts val="0"/>
                        </a:spcAft>
                        <a:buClrTx/>
                        <a:buSzTx/>
                        <a:buFont typeface="Arial" panose="020B0604020202020204" pitchFamily="34" charset="0"/>
                        <a:buNone/>
                      </a:pPr>
                      <a:r>
                        <a:rPr lang="en-US" sz="850" kern="1200">
                          <a:solidFill>
                            <a:schemeClr val="dk1"/>
                          </a:solidFill>
                          <a:latin typeface="Aptos" panose="020B0004020202020204" pitchFamily="34" charset="0"/>
                          <a:ea typeface="+mn-ea"/>
                          <a:cs typeface="+mn-cs"/>
                        </a:rPr>
                        <a:t>Vendor is working to ensure all required configurations are established before final testing. Completion of end-to-end vendor validation is required prior to production execution.</a:t>
                      </a: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01786673"/>
                  </a:ext>
                </a:extLst>
              </a:tr>
              <a:tr h="313508">
                <a:tc>
                  <a:txBody>
                    <a:bodyPr/>
                    <a:lstStyle/>
                    <a:p>
                      <a:pPr marL="0" marR="0" lvl="0" indent="0" algn="l" defTabSz="914400" rtl="0" eaLnBrk="1" fontAlgn="auto" latinLnBrk="0" hangingPunct="1">
                        <a:lnSpc>
                          <a:spcPct val="115000"/>
                        </a:lnSpc>
                        <a:spcBef>
                          <a:spcPts val="0"/>
                        </a:spcBef>
                        <a:spcAft>
                          <a:spcPts val="800"/>
                        </a:spcAft>
                        <a:buClrTx/>
                        <a:buSzTx/>
                        <a:buFontTx/>
                        <a:buNone/>
                        <a:tabLst/>
                        <a:defRPr/>
                      </a:pPr>
                      <a:r>
                        <a:rPr lang="en-US" sz="850" kern="1200">
                          <a:solidFill>
                            <a:schemeClr val="dk1"/>
                          </a:solidFill>
                          <a:latin typeface="Aptos" panose="020B0004020202020204" pitchFamily="34" charset="0"/>
                          <a:ea typeface="+mn-ea"/>
                          <a:cs typeface="+mn-cs"/>
                        </a:rPr>
                        <a:t>Code push to stagging environment is blocked due to access restriction</a:t>
                      </a: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r>
                        <a:rPr lang="en-US" sz="850" kern="1200">
                          <a:solidFill>
                            <a:schemeClr val="dk1"/>
                          </a:solidFill>
                          <a:latin typeface="Aptos" panose="020B0004020202020204" pitchFamily="34" charset="0"/>
                          <a:ea typeface="+mn-ea"/>
                          <a:cs typeface="+mn-cs"/>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r>
                        <a:rPr lang="en-US" sz="850" kern="1200">
                          <a:solidFill>
                            <a:schemeClr val="dk1"/>
                          </a:solidFill>
                          <a:latin typeface="Aptos" panose="020B0004020202020204" pitchFamily="34" charset="0"/>
                          <a:ea typeface="+mn-ea"/>
                          <a:cs typeface="+mn-cs"/>
                        </a:rPr>
                        <a:t>8/17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rtl="0" eaLnBrk="1" fontAlgn="base" latinLnBrk="0" hangingPunct="1">
                        <a:lnSpc>
                          <a:spcPct val="100000"/>
                        </a:lnSpc>
                        <a:spcBef>
                          <a:spcPts val="200"/>
                        </a:spcBef>
                        <a:spcAft>
                          <a:spcPts val="0"/>
                        </a:spcAft>
                        <a:buClrTx/>
                        <a:buSzTx/>
                        <a:buFont typeface="Arial" panose="020B0604020202020204" pitchFamily="34" charset="0"/>
                        <a:buNone/>
                      </a:pPr>
                      <a:r>
                        <a:rPr lang="en-US" sz="850" kern="1200">
                          <a:solidFill>
                            <a:schemeClr val="dk1"/>
                          </a:solidFill>
                          <a:latin typeface="Aptos" panose="020B0004020202020204" pitchFamily="34" charset="0"/>
                          <a:ea typeface="+mn-ea"/>
                          <a:cs typeface="+mn-cs"/>
                        </a:rPr>
                        <a:t>Working with secondary owner to resolve the access issue</a:t>
                      </a: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289244004"/>
                  </a:ext>
                </a:extLst>
              </a:tr>
              <a:tr h="313508">
                <a:tc>
                  <a:txBody>
                    <a:bodyPr/>
                    <a:lstStyle/>
                    <a:p>
                      <a:pPr marL="0" marR="0" lvl="0" indent="0" algn="l" defTabSz="914400" rtl="0" eaLnBrk="1" fontAlgn="auto" latinLnBrk="0" hangingPunct="1">
                        <a:lnSpc>
                          <a:spcPct val="115000"/>
                        </a:lnSpc>
                        <a:spcBef>
                          <a:spcPts val="0"/>
                        </a:spcBef>
                        <a:spcAft>
                          <a:spcPts val="800"/>
                        </a:spcAft>
                        <a:buClrTx/>
                        <a:buSzTx/>
                        <a:buFontTx/>
                        <a:buNone/>
                        <a:tabLst/>
                        <a:defRPr/>
                      </a:pPr>
                      <a:r>
                        <a:rPr lang="en-US" sz="850" kern="1200">
                          <a:solidFill>
                            <a:schemeClr val="dk1"/>
                          </a:solidFill>
                          <a:latin typeface="Aptos" panose="020B0004020202020204" pitchFamily="34" charset="0"/>
                          <a:ea typeface="+mn-ea"/>
                          <a:cs typeface="+mn-cs"/>
                        </a:rPr>
                        <a:t>The ImageRight integration Change Request required for consultation file processing is awaiting prioritization and a committed delivery date from MIM team.  Also awaiting funding approval confirmation. Delays in prioritization or implementation may impact production readiness, end-to-end testing, claims support functionality, and the September 21, 2026 telemedicine launch timeline.</a:t>
                      </a: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850" kern="1200">
                        <a:solidFill>
                          <a:schemeClr val="dk1"/>
                        </a:solidFill>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r>
                        <a:rPr lang="en-US" sz="850" kern="1200">
                          <a:solidFill>
                            <a:schemeClr val="dk1"/>
                          </a:solidFill>
                          <a:latin typeface="Aptos" panose="020B0004020202020204" pitchFamily="34" charset="0"/>
                          <a:ea typeface="+mn-ea"/>
                          <a:cs typeface="+mn-cs"/>
                        </a:rPr>
                        <a:t>9/14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rtl="0" eaLnBrk="1" fontAlgn="base" latinLnBrk="0" hangingPunct="1">
                        <a:lnSpc>
                          <a:spcPct val="100000"/>
                        </a:lnSpc>
                        <a:spcBef>
                          <a:spcPts val="200"/>
                        </a:spcBef>
                        <a:spcAft>
                          <a:spcPts val="0"/>
                        </a:spcAft>
                        <a:buClrTx/>
                        <a:buSzTx/>
                        <a:buFont typeface="Arial" panose="020B0604020202020204" pitchFamily="34" charset="0"/>
                        <a:buNone/>
                      </a:pPr>
                      <a:r>
                        <a:rPr lang="en-US" sz="850" kern="1200">
                          <a:solidFill>
                            <a:schemeClr val="dk1"/>
                          </a:solidFill>
                          <a:latin typeface="Aptos" panose="020B0004020202020204" pitchFamily="34" charset="0"/>
                          <a:ea typeface="+mn-ea"/>
                          <a:cs typeface="+mn-cs"/>
                        </a:rPr>
                        <a:t>Actively engage MIM stakeholders to secure prioritization and delivery commitments, escalate through program governance as needed, and monitor progress daily while evaluating interim workaround options.</a:t>
                      </a: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82771776"/>
                  </a:ext>
                </a:extLst>
              </a:tr>
            </a:tbl>
          </a:graphicData>
        </a:graphic>
      </p:graphicFrame>
      <p:sp>
        <p:nvSpPr>
          <p:cNvPr id="33" name="Flowchart: Connector 32">
            <a:extLst>
              <a:ext uri="{FF2B5EF4-FFF2-40B4-BE49-F238E27FC236}">
                <a16:creationId xmlns:a16="http://schemas.microsoft.com/office/drawing/2014/main" id="{08568F34-A50A-5D03-A2D2-B9BA35ABCB1E}"/>
              </a:ext>
            </a:extLst>
          </p:cNvPr>
          <p:cNvSpPr/>
          <p:nvPr/>
        </p:nvSpPr>
        <p:spPr>
          <a:xfrm>
            <a:off x="6640300" y="6537899"/>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4" name="Flowchart: Connector 33">
            <a:extLst>
              <a:ext uri="{FF2B5EF4-FFF2-40B4-BE49-F238E27FC236}">
                <a16:creationId xmlns:a16="http://schemas.microsoft.com/office/drawing/2014/main" id="{A71F111C-94D6-313C-5D70-837B15C6EE06}"/>
              </a:ext>
            </a:extLst>
          </p:cNvPr>
          <p:cNvSpPr/>
          <p:nvPr/>
        </p:nvSpPr>
        <p:spPr>
          <a:xfrm>
            <a:off x="7729184" y="6556439"/>
            <a:ext cx="163286" cy="164592"/>
          </a:xfrm>
          <a:prstGeom prst="flowChartConnector">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6" name="Flowchart: Connector 35">
            <a:extLst>
              <a:ext uri="{FF2B5EF4-FFF2-40B4-BE49-F238E27FC236}">
                <a16:creationId xmlns:a16="http://schemas.microsoft.com/office/drawing/2014/main" id="{34112F25-8B8A-67D1-EF8E-CBAB1EE7B7C0}"/>
              </a:ext>
            </a:extLst>
          </p:cNvPr>
          <p:cNvSpPr/>
          <p:nvPr/>
        </p:nvSpPr>
        <p:spPr>
          <a:xfrm>
            <a:off x="8674327" y="6556439"/>
            <a:ext cx="163285" cy="164592"/>
          </a:xfrm>
          <a:prstGeom prst="flowChartConnector">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3" name="Flowchart: Connector 42">
            <a:extLst>
              <a:ext uri="{FF2B5EF4-FFF2-40B4-BE49-F238E27FC236}">
                <a16:creationId xmlns:a16="http://schemas.microsoft.com/office/drawing/2014/main" id="{BC884FAF-F2A9-FDE9-3D99-2115A892EF26}"/>
              </a:ext>
            </a:extLst>
          </p:cNvPr>
          <p:cNvSpPr/>
          <p:nvPr/>
        </p:nvSpPr>
        <p:spPr>
          <a:xfrm>
            <a:off x="3303638" y="1403331"/>
            <a:ext cx="163285" cy="164592"/>
          </a:xfrm>
          <a:prstGeom prst="flowChartConnector">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6" name="Flowchart: Connector 45">
            <a:extLst>
              <a:ext uri="{FF2B5EF4-FFF2-40B4-BE49-F238E27FC236}">
                <a16:creationId xmlns:a16="http://schemas.microsoft.com/office/drawing/2014/main" id="{1602140D-FBE1-C7A9-59E7-641631AB3055}"/>
              </a:ext>
            </a:extLst>
          </p:cNvPr>
          <p:cNvSpPr/>
          <p:nvPr/>
        </p:nvSpPr>
        <p:spPr>
          <a:xfrm>
            <a:off x="5143033" y="1403331"/>
            <a:ext cx="163285" cy="164592"/>
          </a:xfrm>
          <a:prstGeom prst="flowChartConnector">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7" name="Flowchart: Connector 46">
            <a:extLst>
              <a:ext uri="{FF2B5EF4-FFF2-40B4-BE49-F238E27FC236}">
                <a16:creationId xmlns:a16="http://schemas.microsoft.com/office/drawing/2014/main" id="{19A15766-A0F6-F1FF-8916-2BFA832DB860}"/>
              </a:ext>
            </a:extLst>
          </p:cNvPr>
          <p:cNvSpPr/>
          <p:nvPr/>
        </p:nvSpPr>
        <p:spPr>
          <a:xfrm>
            <a:off x="6078524" y="1403331"/>
            <a:ext cx="163285" cy="164592"/>
          </a:xfrm>
          <a:prstGeom prst="flowChartConnector">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 name="TextBox 4">
            <a:extLst>
              <a:ext uri="{FF2B5EF4-FFF2-40B4-BE49-F238E27FC236}">
                <a16:creationId xmlns:a16="http://schemas.microsoft.com/office/drawing/2014/main" id="{9CF267F8-A813-2A8A-80BA-D57979259D65}"/>
              </a:ext>
            </a:extLst>
          </p:cNvPr>
          <p:cNvSpPr txBox="1"/>
          <p:nvPr/>
        </p:nvSpPr>
        <p:spPr>
          <a:xfrm>
            <a:off x="67505" y="1917358"/>
            <a:ext cx="4743293" cy="4743606"/>
          </a:xfrm>
          <a:prstGeom prst="rect">
            <a:avLst/>
          </a:prstGeom>
          <a:noFill/>
        </p:spPr>
        <p:txBody>
          <a:bodyPr wrap="square" lIns="91440" tIns="45720" rIns="91440" bIns="4572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50" b="1">
                <a:solidFill>
                  <a:prstClr val="black"/>
                </a:solidFill>
                <a:latin typeface="Aptos" panose="020B0004020202020204" pitchFamily="34" charset="0"/>
              </a:rPr>
              <a:t>Status: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850" b="1">
                <a:solidFill>
                  <a:prstClr val="black"/>
                </a:solidFill>
                <a:latin typeface="Aptos" panose="020B0004020202020204" pitchFamily="34" charset="0"/>
              </a:rPr>
              <a:t>Overall Status </a:t>
            </a:r>
            <a:r>
              <a:rPr lang="en-US" sz="850" b="1">
                <a:solidFill>
                  <a:prstClr val="black"/>
                </a:solidFill>
                <a:highlight>
                  <a:srgbClr val="FFFF00"/>
                </a:highlight>
                <a:latin typeface="Aptos" panose="020B0004020202020204" pitchFamily="34" charset="0"/>
              </a:rPr>
              <a:t>YELLOW</a:t>
            </a:r>
          </a:p>
          <a:p>
            <a:pPr lvl="0">
              <a:defRPr/>
            </a:pPr>
            <a:r>
              <a:rPr lang="en-US" sz="850">
                <a:solidFill>
                  <a:prstClr val="black"/>
                </a:solidFill>
                <a:latin typeface="Aptos" panose="020B0004020202020204" pitchFamily="34" charset="0"/>
              </a:rPr>
              <a:t>The </a:t>
            </a:r>
            <a:r>
              <a:rPr lang="en-US" sz="850" err="1">
                <a:solidFill>
                  <a:prstClr val="black"/>
                </a:solidFill>
                <a:latin typeface="Aptos" panose="020B0004020202020204" pitchFamily="34" charset="0"/>
              </a:rPr>
              <a:t>FirstVet</a:t>
            </a:r>
            <a:r>
              <a:rPr lang="en-US" sz="850">
                <a:solidFill>
                  <a:prstClr val="black"/>
                </a:solidFill>
                <a:latin typeface="Aptos" panose="020B0004020202020204" pitchFamily="34" charset="0"/>
              </a:rPr>
              <a:t> Consultation API project has advanced to Yellow status following the successful deployment of the </a:t>
            </a:r>
            <a:r>
              <a:rPr lang="en-US" sz="850" err="1">
                <a:solidFill>
                  <a:prstClr val="black"/>
                </a:solidFill>
                <a:latin typeface="Aptos" panose="020B0004020202020204" pitchFamily="34" charset="0"/>
              </a:rPr>
              <a:t>FirstVet</a:t>
            </a:r>
            <a:r>
              <a:rPr lang="en-US" sz="850">
                <a:solidFill>
                  <a:prstClr val="black"/>
                </a:solidFill>
                <a:latin typeface="Aptos" panose="020B0004020202020204" pitchFamily="34" charset="0"/>
              </a:rPr>
              <a:t> Consultation API file release and resolution of the Stage deployment access issue. Functional testing has been completed successfully with no outstanding application defects, and core deployment objectives have been achieved. Vendor integration verification activities are underway as planned. </a:t>
            </a:r>
          </a:p>
          <a:p>
            <a:pPr lvl="0">
              <a:defRPr/>
            </a:pPr>
            <a:endParaRPr lang="en-US" sz="850">
              <a:solidFill>
                <a:prstClr val="black"/>
              </a:solidFill>
              <a:latin typeface="Aptos" panose="020B0004020202020204" pitchFamily="34" charset="0"/>
            </a:endParaRPr>
          </a:p>
          <a:p>
            <a:pPr lvl="0">
              <a:defRPr/>
            </a:pPr>
            <a:r>
              <a:rPr lang="en-US" sz="850">
                <a:solidFill>
                  <a:prstClr val="black"/>
                </a:solidFill>
                <a:latin typeface="Aptos" panose="020B0004020202020204" pitchFamily="34" charset="0"/>
              </a:rPr>
              <a:t>New Change Request: A change request was required to fund and implement a previously unidentified </a:t>
            </a:r>
            <a:r>
              <a:rPr lang="en-US" sz="850" err="1">
                <a:solidFill>
                  <a:prstClr val="black"/>
                </a:solidFill>
                <a:latin typeface="Aptos" panose="020B0004020202020204" pitchFamily="34" charset="0"/>
              </a:rPr>
              <a:t>ImageRight</a:t>
            </a:r>
            <a:r>
              <a:rPr lang="en-US" sz="850">
                <a:solidFill>
                  <a:prstClr val="black"/>
                </a:solidFill>
                <a:latin typeface="Aptos" panose="020B0004020202020204" pitchFamily="34" charset="0"/>
              </a:rPr>
              <a:t> integration dependency that is essential for end-to-end Vet Consultation processing, claims support, and readiness for the September 21, 2026 telemedicine launch.</a:t>
            </a:r>
          </a:p>
          <a:p>
            <a:pPr lvl="0">
              <a:defRPr/>
            </a:pPr>
            <a:endParaRPr lang="en-US" sz="850">
              <a:solidFill>
                <a:prstClr val="black"/>
              </a:solidFill>
              <a:latin typeface="Aptos" panose="020B0004020202020204" pitchFamily="34" charset="0"/>
            </a:endParaRPr>
          </a:p>
          <a:p>
            <a:pPr lvl="0">
              <a:defRPr/>
            </a:pPr>
            <a:r>
              <a:rPr lang="en-US" sz="850" b="1">
                <a:solidFill>
                  <a:prstClr val="black"/>
                </a:solidFill>
                <a:latin typeface="Aptos" panose="020B0004020202020204" pitchFamily="34" charset="0"/>
              </a:rPr>
              <a:t>Path To Green:</a:t>
            </a:r>
          </a:p>
          <a:p>
            <a:pPr lvl="0">
              <a:defRPr/>
            </a:pPr>
            <a:endParaRPr lang="en-US" sz="850">
              <a:solidFill>
                <a:prstClr val="black"/>
              </a:solidFill>
              <a:latin typeface="Aptos" panose="020B0004020202020204" pitchFamily="34" charset="0"/>
            </a:endParaRPr>
          </a:p>
          <a:p>
            <a:pPr marL="171450" lvl="0" indent="-171450">
              <a:buFont typeface="Arial" panose="020B0604020202020204" pitchFamily="34" charset="0"/>
              <a:buChar char="•"/>
              <a:defRPr/>
            </a:pPr>
            <a:r>
              <a:rPr lang="en-US" sz="850">
                <a:solidFill>
                  <a:prstClr val="black"/>
                </a:solidFill>
                <a:latin typeface="Aptos" panose="020B0004020202020204" pitchFamily="34" charset="0"/>
              </a:rPr>
              <a:t>Complete MIM </a:t>
            </a:r>
            <a:r>
              <a:rPr lang="en-US" sz="850" err="1">
                <a:solidFill>
                  <a:prstClr val="black"/>
                </a:solidFill>
                <a:latin typeface="Aptos" panose="020B0004020202020204" pitchFamily="34" charset="0"/>
              </a:rPr>
              <a:t>ImageRight</a:t>
            </a:r>
            <a:r>
              <a:rPr lang="en-US" sz="850">
                <a:solidFill>
                  <a:prstClr val="black"/>
                </a:solidFill>
                <a:latin typeface="Aptos" panose="020B0004020202020204" pitchFamily="34" charset="0"/>
              </a:rPr>
              <a:t> import development, testing, and New Relic monitoring implementation. </a:t>
            </a:r>
          </a:p>
          <a:p>
            <a:pPr marL="171450" lvl="0" indent="-171450">
              <a:buFont typeface="Arial" panose="020B0604020202020204" pitchFamily="34" charset="0"/>
              <a:buChar char="•"/>
              <a:defRPr/>
            </a:pPr>
            <a:r>
              <a:rPr lang="en-US" sz="850">
                <a:solidFill>
                  <a:prstClr val="black"/>
                </a:solidFill>
                <a:latin typeface="Aptos" panose="020B0004020202020204" pitchFamily="34" charset="0"/>
              </a:rPr>
              <a:t>Validate consultation record availability in </a:t>
            </a:r>
            <a:r>
              <a:rPr lang="en-US" sz="850" err="1">
                <a:solidFill>
                  <a:prstClr val="black"/>
                </a:solidFill>
                <a:latin typeface="Aptos" panose="020B0004020202020204" pitchFamily="34" charset="0"/>
              </a:rPr>
              <a:t>ImageRight</a:t>
            </a:r>
            <a:r>
              <a:rPr lang="en-US" sz="850">
                <a:solidFill>
                  <a:prstClr val="black"/>
                </a:solidFill>
                <a:latin typeface="Aptos" panose="020B0004020202020204" pitchFamily="34" charset="0"/>
              </a:rPr>
              <a:t>.</a:t>
            </a:r>
          </a:p>
          <a:p>
            <a:pPr marL="171450" lvl="0" indent="-171450">
              <a:buFont typeface="Arial" panose="020B0604020202020204" pitchFamily="34" charset="0"/>
              <a:buChar char="•"/>
              <a:defRPr/>
            </a:pPr>
            <a:r>
              <a:rPr lang="en-US" sz="850">
                <a:solidFill>
                  <a:prstClr val="black"/>
                </a:solidFill>
                <a:latin typeface="Aptos" panose="020B0004020202020204" pitchFamily="34" charset="0"/>
              </a:rPr>
              <a:t>Complete production readiness activities and launch support preparations.</a:t>
            </a:r>
          </a:p>
          <a:p>
            <a:pPr lvl="0">
              <a:defRPr/>
            </a:pPr>
            <a:endParaRPr lang="en-US" sz="850">
              <a:solidFill>
                <a:prstClr val="black"/>
              </a:solidFill>
              <a:latin typeface="Aptos" panose="020B0004020202020204" pitchFamily="34" charset="0"/>
            </a:endParaRPr>
          </a:p>
          <a:p>
            <a:r>
              <a:rPr lang="en-US" sz="850" b="1">
                <a:solidFill>
                  <a:prstClr val="black"/>
                </a:solidFill>
                <a:latin typeface="Aptos" panose="020B0004020202020204" pitchFamily="34" charset="0"/>
              </a:rPr>
              <a:t>Accomplishments :</a:t>
            </a:r>
          </a:p>
          <a:p>
            <a:pPr marL="171450" indent="-171450">
              <a:lnSpc>
                <a:spcPct val="114999"/>
              </a:lnSpc>
              <a:buSzPts val="1000"/>
              <a:buFont typeface="Arial" panose="020B0604020202020204" pitchFamily="34" charset="0"/>
              <a:buChar char="•"/>
              <a:tabLst>
                <a:tab pos="457200" algn="l"/>
              </a:tabLst>
              <a:defRPr/>
            </a:pPr>
            <a:r>
              <a:rPr lang="en-US" sz="850">
                <a:solidFill>
                  <a:prstClr val="black"/>
                </a:solidFill>
                <a:latin typeface="Aptos" panose="020B0004020202020204" pitchFamily="34" charset="0"/>
              </a:rPr>
              <a:t>MIM </a:t>
            </a:r>
            <a:r>
              <a:rPr lang="en-US" sz="850" err="1">
                <a:solidFill>
                  <a:prstClr val="black"/>
                </a:solidFill>
                <a:latin typeface="Aptos" panose="020B0004020202020204" pitchFamily="34" charset="0"/>
              </a:rPr>
              <a:t>ImageRight</a:t>
            </a:r>
            <a:r>
              <a:rPr lang="en-US" sz="850">
                <a:solidFill>
                  <a:prstClr val="black"/>
                </a:solidFill>
                <a:latin typeface="Aptos" panose="020B0004020202020204" pitchFamily="34" charset="0"/>
              </a:rPr>
              <a:t> import development completed</a:t>
            </a:r>
          </a:p>
          <a:p>
            <a:pPr marL="171450" indent="-171450">
              <a:lnSpc>
                <a:spcPct val="114999"/>
              </a:lnSpc>
              <a:buSzPts val="1000"/>
              <a:buFont typeface="Arial" panose="020B0604020202020204" pitchFamily="34" charset="0"/>
              <a:buChar char="•"/>
              <a:tabLst>
                <a:tab pos="457200" algn="l"/>
              </a:tabLst>
              <a:defRPr/>
            </a:pPr>
            <a:r>
              <a:rPr lang="en-US" sz="850">
                <a:solidFill>
                  <a:prstClr val="black"/>
                </a:solidFill>
                <a:latin typeface="Aptos" panose="020B0004020202020204" pitchFamily="34" charset="0"/>
              </a:rPr>
              <a:t>Resolved the generic ID/password authentication issue that previously blocked deployment activities.</a:t>
            </a:r>
          </a:p>
          <a:p>
            <a:pPr marL="171450" indent="-171450">
              <a:lnSpc>
                <a:spcPct val="114999"/>
              </a:lnSpc>
              <a:buSzPts val="1000"/>
              <a:buFont typeface="Arial" panose="020B0604020202020204" pitchFamily="34" charset="0"/>
              <a:buChar char="•"/>
              <a:tabLst>
                <a:tab pos="457200" algn="l"/>
              </a:tabLst>
              <a:defRPr/>
            </a:pPr>
            <a:r>
              <a:rPr lang="en-US" sz="850">
                <a:solidFill>
                  <a:prstClr val="black"/>
                </a:solidFill>
                <a:latin typeface="Aptos" panose="020B0004020202020204" pitchFamily="34" charset="0"/>
              </a:rPr>
              <a:t> Successfully deployed the </a:t>
            </a:r>
            <a:r>
              <a:rPr lang="en-US" sz="850" err="1">
                <a:solidFill>
                  <a:prstClr val="black"/>
                </a:solidFill>
                <a:latin typeface="Aptos" panose="020B0004020202020204" pitchFamily="34" charset="0"/>
              </a:rPr>
              <a:t>FirstVet</a:t>
            </a:r>
            <a:r>
              <a:rPr lang="en-US" sz="850">
                <a:solidFill>
                  <a:prstClr val="black"/>
                </a:solidFill>
                <a:latin typeface="Aptos" panose="020B0004020202020204" pitchFamily="34" charset="0"/>
              </a:rPr>
              <a:t> Consultation API file release.</a:t>
            </a:r>
          </a:p>
          <a:p>
            <a:pPr marL="171450" indent="-171450">
              <a:lnSpc>
                <a:spcPct val="114999"/>
              </a:lnSpc>
              <a:buSzPts val="1000"/>
              <a:buFont typeface="Arial" panose="020B0604020202020204" pitchFamily="34" charset="0"/>
              <a:buChar char="•"/>
              <a:tabLst>
                <a:tab pos="457200" algn="l"/>
              </a:tabLst>
              <a:defRPr/>
            </a:pPr>
            <a:r>
              <a:rPr lang="en-US" sz="850">
                <a:solidFill>
                  <a:prstClr val="black"/>
                </a:solidFill>
                <a:latin typeface="Aptos" panose="020B0004020202020204" pitchFamily="34" charset="0"/>
              </a:rPr>
              <a:t>Completed functional testing and retesting with no outstanding functional defects.</a:t>
            </a:r>
          </a:p>
          <a:p>
            <a:pPr marL="171450" indent="-171450">
              <a:lnSpc>
                <a:spcPct val="114999"/>
              </a:lnSpc>
              <a:buSzPts val="1000"/>
              <a:buFont typeface="Arial" panose="020B0604020202020204" pitchFamily="34" charset="0"/>
              <a:buChar char="•"/>
              <a:tabLst>
                <a:tab pos="457200" algn="l"/>
              </a:tabLst>
              <a:defRPr/>
            </a:pPr>
            <a:r>
              <a:rPr lang="en-US" sz="850">
                <a:solidFill>
                  <a:prstClr val="black"/>
                </a:solidFill>
                <a:latin typeface="Aptos" panose="020B0004020202020204" pitchFamily="34" charset="0"/>
              </a:rPr>
              <a:t>Identified and documented the </a:t>
            </a:r>
            <a:r>
              <a:rPr lang="en-US" sz="850" err="1">
                <a:solidFill>
                  <a:prstClr val="black"/>
                </a:solidFill>
                <a:latin typeface="Aptos" panose="020B0004020202020204" pitchFamily="34" charset="0"/>
              </a:rPr>
              <a:t>ImageRight</a:t>
            </a:r>
            <a:r>
              <a:rPr lang="en-US" sz="850">
                <a:solidFill>
                  <a:prstClr val="black"/>
                </a:solidFill>
                <a:latin typeface="Aptos" panose="020B0004020202020204" pitchFamily="34" charset="0"/>
              </a:rPr>
              <a:t> import and monitoring dependency required for end-to-end processing.</a:t>
            </a:r>
          </a:p>
          <a:p>
            <a:pPr marL="171450" indent="-171450">
              <a:lnSpc>
                <a:spcPct val="114999"/>
              </a:lnSpc>
              <a:buSzPts val="1000"/>
              <a:buFont typeface="Arial" panose="020B0604020202020204" pitchFamily="34" charset="0"/>
              <a:buChar char="•"/>
              <a:tabLst>
                <a:tab pos="457200" algn="l"/>
              </a:tabLst>
              <a:defRPr/>
            </a:pPr>
            <a:r>
              <a:rPr lang="en-US" sz="850">
                <a:solidFill>
                  <a:prstClr val="black"/>
                </a:solidFill>
                <a:latin typeface="Aptos" panose="020B0004020202020204" pitchFamily="34" charset="0"/>
              </a:rPr>
              <a:t>Established cross-functional alignment among Engineering, Operations, Data Analytics, MIM, QE, and Vendor teams to support launch readiness.</a:t>
            </a:r>
          </a:p>
          <a:p>
            <a:pPr>
              <a:lnSpc>
                <a:spcPct val="114999"/>
              </a:lnSpc>
              <a:buSzPts val="1000"/>
              <a:tabLst>
                <a:tab pos="457200" algn="l"/>
              </a:tabLst>
              <a:defRPr/>
            </a:pPr>
            <a:r>
              <a:rPr lang="en-US" sz="850" b="1" kern="100">
                <a:solidFill>
                  <a:prstClr val="black"/>
                </a:solidFill>
                <a:latin typeface="Aptos" panose="020B0004020202020204" pitchFamily="34" charset="0"/>
                <a:cs typeface="Times New Roman"/>
              </a:rPr>
              <a:t>Next Steps:</a:t>
            </a:r>
          </a:p>
          <a:p>
            <a:pPr marL="171450" indent="-171450">
              <a:buFont typeface="Arial" panose="020B0604020202020204" pitchFamily="34" charset="0"/>
              <a:buChar char="•"/>
            </a:pPr>
            <a:r>
              <a:rPr lang="en-US" sz="850">
                <a:solidFill>
                  <a:prstClr val="black"/>
                </a:solidFill>
                <a:latin typeface="Aptos" panose="020B0004020202020204" pitchFamily="34" charset="0"/>
              </a:rPr>
              <a:t>Complete postproduction deployment activities.</a:t>
            </a:r>
          </a:p>
          <a:p>
            <a:pPr marL="171450" indent="-171450">
              <a:buFont typeface="Arial" panose="020B0604020202020204" pitchFamily="34" charset="0"/>
              <a:buChar char="•"/>
            </a:pPr>
            <a:r>
              <a:rPr lang="en-US" sz="850">
                <a:solidFill>
                  <a:prstClr val="black"/>
                </a:solidFill>
                <a:latin typeface="Aptos" panose="020B0004020202020204" pitchFamily="34" charset="0"/>
              </a:rPr>
              <a:t>Monitor initial production execution and validate weekly ETL scheduling requirements.</a:t>
            </a:r>
          </a:p>
          <a:p>
            <a:pPr marL="171450" indent="-171450">
              <a:buFont typeface="Arial" panose="020B0604020202020204" pitchFamily="34" charset="0"/>
              <a:buChar char="•"/>
            </a:pPr>
            <a:r>
              <a:rPr lang="en-US" sz="900"/>
              <a:t>complete the import work within </a:t>
            </a:r>
            <a:r>
              <a:rPr lang="en-US" sz="900" err="1"/>
              <a:t>ImageRight</a:t>
            </a:r>
            <a:r>
              <a:rPr lang="en-US" sz="900"/>
              <a:t> before testing can begin</a:t>
            </a:r>
          </a:p>
          <a:p>
            <a:pPr marL="171450" indent="-171450">
              <a:buFont typeface="Arial" panose="020B0604020202020204" pitchFamily="34" charset="0"/>
              <a:buChar char="•"/>
            </a:pPr>
            <a:r>
              <a:rPr lang="en-US" sz="900">
                <a:solidFill>
                  <a:prstClr val="black"/>
                </a:solidFill>
                <a:latin typeface="Aptos" panose="020B0004020202020204" pitchFamily="34" charset="0"/>
              </a:rPr>
              <a:t>Resolve QA environment issue to import the work</a:t>
            </a:r>
            <a:endParaRPr lang="en-US" sz="850">
              <a:solidFill>
                <a:prstClr val="black"/>
              </a:solidFill>
              <a:latin typeface="Aptos" panose="020B0004020202020204" pitchFamily="34" charset="0"/>
            </a:endParaRPr>
          </a:p>
        </p:txBody>
      </p:sp>
      <p:sp>
        <p:nvSpPr>
          <p:cNvPr id="3" name="TextBox 2">
            <a:extLst>
              <a:ext uri="{FF2B5EF4-FFF2-40B4-BE49-F238E27FC236}">
                <a16:creationId xmlns:a16="http://schemas.microsoft.com/office/drawing/2014/main" id="{C8088A4C-078B-2D2E-C3BE-42C70EAD5010}"/>
              </a:ext>
            </a:extLst>
          </p:cNvPr>
          <p:cNvSpPr txBox="1"/>
          <p:nvPr/>
        </p:nvSpPr>
        <p:spPr>
          <a:xfrm>
            <a:off x="9447629" y="55514"/>
            <a:ext cx="2676180" cy="517320"/>
          </a:xfrm>
          <a:prstGeom prst="rect">
            <a:avLst/>
          </a:prstGeom>
          <a:noFill/>
        </p:spPr>
        <p:txBody>
          <a:bodyPr wrap="none" lIns="0" tIns="0" rIns="0" bIns="0" rtlCol="0" anchor="t">
            <a:noAutofit/>
          </a:bodyPr>
          <a:lstStyle>
            <a:defPPr>
              <a:defRPr lang="en-US"/>
            </a:defPPr>
            <a:lvl1pPr>
              <a:lnSpc>
                <a:spcPct val="112000"/>
              </a:lnSpc>
              <a:defRPr sz="1200">
                <a:solidFill>
                  <a:prstClr val="black"/>
                </a:solidFill>
                <a:latin typeface="Aptos" panose="02110004020202020204"/>
              </a:defRPr>
            </a:lvl1pPr>
          </a:lstStyle>
          <a:p>
            <a:r>
              <a:rPr lang="en-US"/>
              <a:t>Project Manager :  Rekha Kothandaraman</a:t>
            </a:r>
          </a:p>
          <a:p>
            <a:r>
              <a:rPr lang="en-US" err="1"/>
              <a:t>OpEx</a:t>
            </a:r>
            <a:r>
              <a:rPr lang="en-US"/>
              <a:t> Business Lead: Kelly Heitmann</a:t>
            </a:r>
          </a:p>
        </p:txBody>
      </p:sp>
      <p:sp>
        <p:nvSpPr>
          <p:cNvPr id="6" name="Flowchart: Connector 5">
            <a:extLst>
              <a:ext uri="{FF2B5EF4-FFF2-40B4-BE49-F238E27FC236}">
                <a16:creationId xmlns:a16="http://schemas.microsoft.com/office/drawing/2014/main" id="{BBA500FD-531B-9B80-9A1A-15B4A2AABA25}"/>
              </a:ext>
            </a:extLst>
          </p:cNvPr>
          <p:cNvSpPr/>
          <p:nvPr/>
        </p:nvSpPr>
        <p:spPr>
          <a:xfrm>
            <a:off x="4250024" y="1406342"/>
            <a:ext cx="163285" cy="164592"/>
          </a:xfrm>
          <a:prstGeom prst="flowChartConnector">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7" name="Flowchart: Connector 6">
            <a:extLst>
              <a:ext uri="{FF2B5EF4-FFF2-40B4-BE49-F238E27FC236}">
                <a16:creationId xmlns:a16="http://schemas.microsoft.com/office/drawing/2014/main" id="{3AA18EFD-CC71-4BBD-17C9-0175E2E31F4C}"/>
              </a:ext>
            </a:extLst>
          </p:cNvPr>
          <p:cNvSpPr/>
          <p:nvPr/>
        </p:nvSpPr>
        <p:spPr>
          <a:xfrm>
            <a:off x="8171062" y="5857913"/>
            <a:ext cx="163285" cy="164592"/>
          </a:xfrm>
          <a:prstGeom prst="flowChartConnector">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8" name="Flowchart: Connector 7">
            <a:extLst>
              <a:ext uri="{FF2B5EF4-FFF2-40B4-BE49-F238E27FC236}">
                <a16:creationId xmlns:a16="http://schemas.microsoft.com/office/drawing/2014/main" id="{319BD5A3-A2BD-6693-9F1F-9701AE1F1CE5}"/>
              </a:ext>
            </a:extLst>
          </p:cNvPr>
          <p:cNvSpPr/>
          <p:nvPr/>
        </p:nvSpPr>
        <p:spPr>
          <a:xfrm>
            <a:off x="8171062" y="3910344"/>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19510272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958B58-DA95-A71F-3F80-0F2017FEBDD3}"/>
            </a:ext>
          </a:extLst>
        </p:cNvPr>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F62C715F-0609-568A-1865-171DB2C047EA}"/>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8" imgH="408" progId="TCLayout.ActiveDocument.1">
                  <p:embed/>
                </p:oleObj>
              </mc:Choice>
              <mc:Fallback>
                <p:oleObj name="think-cell Slide" r:id="rId4" imgW="408" imgH="408" progId="TCLayout.ActiveDocument.1">
                  <p:embed/>
                  <p:pic>
                    <p:nvPicPr>
                      <p:cNvPr id="9" name="think-cell data - do not delete" hidden="1">
                        <a:extLst>
                          <a:ext uri="{FF2B5EF4-FFF2-40B4-BE49-F238E27FC236}">
                            <a16:creationId xmlns:a16="http://schemas.microsoft.com/office/drawing/2014/main" id="{F62C715F-0609-568A-1865-171DB2C047E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graphicFrame>
        <p:nvGraphicFramePr>
          <p:cNvPr id="32" name="Group 614">
            <a:extLst>
              <a:ext uri="{FF2B5EF4-FFF2-40B4-BE49-F238E27FC236}">
                <a16:creationId xmlns:a16="http://schemas.microsoft.com/office/drawing/2014/main" id="{A81AC48D-12C0-C933-87C7-3DAB5A4A3A5E}"/>
              </a:ext>
            </a:extLst>
          </p:cNvPr>
          <p:cNvGraphicFramePr>
            <a:graphicFrameLocks noGrp="1"/>
          </p:cNvGraphicFramePr>
          <p:nvPr>
            <p:extLst>
              <p:ext uri="{D42A27DB-BD31-4B8C-83A1-F6EECF244321}">
                <p14:modId xmlns:p14="http://schemas.microsoft.com/office/powerpoint/2010/main" val="3611071386"/>
              </p:ext>
            </p:extLst>
          </p:nvPr>
        </p:nvGraphicFramePr>
        <p:xfrm>
          <a:off x="4987636" y="6449616"/>
          <a:ext cx="7136859" cy="386554"/>
        </p:xfrm>
        <a:graphic>
          <a:graphicData uri="http://schemas.openxmlformats.org/drawingml/2006/table">
            <a:tbl>
              <a:tblPr/>
              <a:tblGrid>
                <a:gridCol w="606425">
                  <a:extLst>
                    <a:ext uri="{9D8B030D-6E8A-4147-A177-3AD203B41FA5}">
                      <a16:colId xmlns:a16="http://schemas.microsoft.com/office/drawing/2014/main" val="20000"/>
                    </a:ext>
                  </a:extLst>
                </a:gridCol>
                <a:gridCol w="307361">
                  <a:extLst>
                    <a:ext uri="{9D8B030D-6E8A-4147-A177-3AD203B41FA5}">
                      <a16:colId xmlns:a16="http://schemas.microsoft.com/office/drawing/2014/main" val="20001"/>
                    </a:ext>
                  </a:extLst>
                </a:gridCol>
                <a:gridCol w="757584">
                  <a:extLst>
                    <a:ext uri="{9D8B030D-6E8A-4147-A177-3AD203B41FA5}">
                      <a16:colId xmlns:a16="http://schemas.microsoft.com/office/drawing/2014/main" val="20002"/>
                    </a:ext>
                  </a:extLst>
                </a:gridCol>
                <a:gridCol w="302812">
                  <a:extLst>
                    <a:ext uri="{9D8B030D-6E8A-4147-A177-3AD203B41FA5}">
                      <a16:colId xmlns:a16="http://schemas.microsoft.com/office/drawing/2014/main" val="20003"/>
                    </a:ext>
                  </a:extLst>
                </a:gridCol>
                <a:gridCol w="665317">
                  <a:extLst>
                    <a:ext uri="{9D8B030D-6E8A-4147-A177-3AD203B41FA5}">
                      <a16:colId xmlns:a16="http://schemas.microsoft.com/office/drawing/2014/main" val="20004"/>
                    </a:ext>
                  </a:extLst>
                </a:gridCol>
                <a:gridCol w="518025">
                  <a:extLst>
                    <a:ext uri="{9D8B030D-6E8A-4147-A177-3AD203B41FA5}">
                      <a16:colId xmlns:a16="http://schemas.microsoft.com/office/drawing/2014/main" val="20005"/>
                    </a:ext>
                  </a:extLst>
                </a:gridCol>
                <a:gridCol w="568469">
                  <a:extLst>
                    <a:ext uri="{9D8B030D-6E8A-4147-A177-3AD203B41FA5}">
                      <a16:colId xmlns:a16="http://schemas.microsoft.com/office/drawing/2014/main" val="20006"/>
                    </a:ext>
                  </a:extLst>
                </a:gridCol>
                <a:gridCol w="368983">
                  <a:extLst>
                    <a:ext uri="{9D8B030D-6E8A-4147-A177-3AD203B41FA5}">
                      <a16:colId xmlns:a16="http://schemas.microsoft.com/office/drawing/2014/main" val="20007"/>
                    </a:ext>
                  </a:extLst>
                </a:gridCol>
                <a:gridCol w="1372005">
                  <a:extLst>
                    <a:ext uri="{9D8B030D-6E8A-4147-A177-3AD203B41FA5}">
                      <a16:colId xmlns:a16="http://schemas.microsoft.com/office/drawing/2014/main" val="20008"/>
                    </a:ext>
                  </a:extLst>
                </a:gridCol>
                <a:gridCol w="378212">
                  <a:extLst>
                    <a:ext uri="{9D8B030D-6E8A-4147-A177-3AD203B41FA5}">
                      <a16:colId xmlns:a16="http://schemas.microsoft.com/office/drawing/2014/main" val="20009"/>
                    </a:ext>
                  </a:extLst>
                </a:gridCol>
                <a:gridCol w="1291666">
                  <a:extLst>
                    <a:ext uri="{9D8B030D-6E8A-4147-A177-3AD203B41FA5}">
                      <a16:colId xmlns:a16="http://schemas.microsoft.com/office/drawing/2014/main" val="20010"/>
                    </a:ext>
                  </a:extLst>
                </a:gridCol>
              </a:tblGrid>
              <a:tr h="386554">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Arial" charset="0"/>
                          <a:cs typeface="Arial" charset="0"/>
                        </a:rPr>
                        <a:t>Status Key</a:t>
                      </a:r>
                      <a:endParaRPr kumimoji="0" lang="en-GB" sz="1600" b="0" i="0" u="none" strike="noStrike" cap="none" normalizeH="0" baseline="0">
                        <a:ln>
                          <a:noFill/>
                        </a:ln>
                        <a:solidFill>
                          <a:srgbClr val="002060"/>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mj-lt"/>
                        </a:rPr>
                        <a:t>C</a:t>
                      </a: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Arial" charset="0"/>
                          <a:cs typeface="Arial" charset="0"/>
                        </a:rPr>
                        <a:t>Completed</a:t>
                      </a:r>
                      <a:endParaRPr kumimoji="0" lang="en-GB" sz="1600" b="0" i="0" u="none" strike="noStrike" cap="none" normalizeH="0" baseline="0">
                        <a:ln>
                          <a:noFill/>
                        </a:ln>
                        <a:solidFill>
                          <a:srgbClr val="002060"/>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On-Schedule</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Major Issues</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Some Issues</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NS</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Not Started</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2" name="Title 1">
            <a:extLst>
              <a:ext uri="{FF2B5EF4-FFF2-40B4-BE49-F238E27FC236}">
                <a16:creationId xmlns:a16="http://schemas.microsoft.com/office/drawing/2014/main" id="{8035528F-7765-D25D-988B-C89817D79875}"/>
              </a:ext>
            </a:extLst>
          </p:cNvPr>
          <p:cNvSpPr>
            <a:spLocks noGrp="1"/>
          </p:cNvSpPr>
          <p:nvPr>
            <p:ph type="title"/>
          </p:nvPr>
        </p:nvSpPr>
        <p:spPr>
          <a:xfrm>
            <a:off x="269945" y="288346"/>
            <a:ext cx="11652110" cy="517320"/>
          </a:xfrm>
        </p:spPr>
        <p:txBody>
          <a:bodyPr vert="horz">
            <a:normAutofit fontScale="90000"/>
          </a:bodyPr>
          <a:lstStyle/>
          <a:p>
            <a:r>
              <a:rPr lang="en-US" sz="2700" b="1">
                <a:solidFill>
                  <a:srgbClr val="29389F"/>
                </a:solidFill>
                <a:latin typeface="Arial" panose="020B0604020202020204" pitchFamily="34" charset="0"/>
                <a:cs typeface="Arial" panose="020B0604020202020204" pitchFamily="34" charset="0"/>
              </a:rPr>
              <a:t>Portal Stabilization</a:t>
            </a:r>
            <a:br>
              <a:rPr lang="en-US" sz="2400" b="1">
                <a:solidFill>
                  <a:srgbClr val="29389F"/>
                </a:solidFill>
                <a:latin typeface="Arial" pitchFamily="34" charset="0"/>
                <a:cs typeface="Arial" pitchFamily="34" charset="0"/>
              </a:rPr>
            </a:br>
            <a:endParaRPr lang="en-US" sz="2400" b="1">
              <a:solidFill>
                <a:srgbClr val="29389F"/>
              </a:solidFill>
              <a:latin typeface="Arial" pitchFamily="34" charset="0"/>
              <a:cs typeface="Arial" pitchFamily="34" charset="0"/>
            </a:endParaRPr>
          </a:p>
        </p:txBody>
      </p:sp>
      <p:graphicFrame>
        <p:nvGraphicFramePr>
          <p:cNvPr id="11" name="Group 513">
            <a:extLst>
              <a:ext uri="{FF2B5EF4-FFF2-40B4-BE49-F238E27FC236}">
                <a16:creationId xmlns:a16="http://schemas.microsoft.com/office/drawing/2014/main" id="{74EA47A9-D9EB-628C-0365-3568F9D882C3}"/>
              </a:ext>
            </a:extLst>
          </p:cNvPr>
          <p:cNvGraphicFramePr>
            <a:graphicFrameLocks noGrp="1"/>
          </p:cNvGraphicFramePr>
          <p:nvPr>
            <p:extLst>
              <p:ext uri="{D42A27DB-BD31-4B8C-83A1-F6EECF244321}">
                <p14:modId xmlns:p14="http://schemas.microsoft.com/office/powerpoint/2010/main" val="4080431784"/>
              </p:ext>
            </p:extLst>
          </p:nvPr>
        </p:nvGraphicFramePr>
        <p:xfrm>
          <a:off x="234455" y="927650"/>
          <a:ext cx="2638218" cy="344301"/>
        </p:xfrm>
        <a:graphic>
          <a:graphicData uri="http://schemas.openxmlformats.org/drawingml/2006/table">
            <a:tbl>
              <a:tblPr/>
              <a:tblGrid>
                <a:gridCol w="984745">
                  <a:extLst>
                    <a:ext uri="{9D8B030D-6E8A-4147-A177-3AD203B41FA5}">
                      <a16:colId xmlns:a16="http://schemas.microsoft.com/office/drawing/2014/main" val="20000"/>
                    </a:ext>
                  </a:extLst>
                </a:gridCol>
                <a:gridCol w="1653473">
                  <a:extLst>
                    <a:ext uri="{9D8B030D-6E8A-4147-A177-3AD203B41FA5}">
                      <a16:colId xmlns:a16="http://schemas.microsoft.com/office/drawing/2014/main" val="20001"/>
                    </a:ext>
                  </a:extLst>
                </a:gridCol>
              </a:tblGrid>
              <a:tr h="344301">
                <a:tc>
                  <a:txBody>
                    <a:bodyPr/>
                    <a:lstStyle/>
                    <a:p>
                      <a:pPr marL="0" marR="0" lvl="0" indent="0" algn="l" defTabSz="914400" rtl="0" eaLnBrk="0" fontAlgn="base" latinLnBrk="0" hangingPunct="0">
                        <a:lnSpc>
                          <a:spcPct val="95000"/>
                        </a:lnSpc>
                        <a:spcBef>
                          <a:spcPct val="0"/>
                        </a:spcBef>
                        <a:spcAft>
                          <a:spcPct val="50000"/>
                        </a:spcAft>
                        <a:buClrTx/>
                        <a:buSzTx/>
                        <a:buFontTx/>
                        <a:buNone/>
                        <a:tabLst/>
                      </a:pPr>
                      <a:r>
                        <a:rPr kumimoji="0" lang="en-GB" sz="1050" b="1" i="0" u="none" strike="noStrike" kern="1200" cap="none" normalizeH="0" baseline="0">
                          <a:ln>
                            <a:noFill/>
                          </a:ln>
                          <a:solidFill>
                            <a:schemeClr val="bg1"/>
                          </a:solidFill>
                          <a:effectLst/>
                          <a:latin typeface="Arial"/>
                          <a:ea typeface="+mn-ea"/>
                          <a:cs typeface="+mn-cs"/>
                        </a:rPr>
                        <a:t>Status Date:</a:t>
                      </a:r>
                    </a:p>
                  </a:txBody>
                  <a:tcPr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lang="en-GB" sz="850" b="1" i="0" u="none" strike="noStrike" kern="1200" cap="none" normalizeH="0" baseline="0">
                          <a:ln>
                            <a:noFill/>
                          </a:ln>
                          <a:solidFill>
                            <a:schemeClr val="tx1"/>
                          </a:solidFill>
                          <a:effectLst/>
                          <a:latin typeface="Aptos"/>
                          <a:ea typeface="+mn-ea"/>
                          <a:cs typeface="+mn-cs"/>
                        </a:rPr>
                        <a:t>8/28/2026</a:t>
                      </a:r>
                      <a:endParaRPr kumimoji="0" lang="en-GB" sz="850" b="1" i="0" u="none" strike="noStrike" kern="1200" cap="none" normalizeH="0" baseline="0">
                        <a:ln>
                          <a:noFill/>
                        </a:ln>
                        <a:solidFill>
                          <a:schemeClr val="tx1"/>
                        </a:solidFill>
                        <a:effectLst/>
                        <a:latin typeface="Aptos" panose="020B0004020202020204" pitchFamily="34" charset="0"/>
                        <a:ea typeface="+mn-ea"/>
                        <a:cs typeface="+mn-cs"/>
                      </a:endParaRPr>
                    </a:p>
                  </a:txBody>
                  <a:tcPr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14" name="Table 13">
            <a:extLst>
              <a:ext uri="{FF2B5EF4-FFF2-40B4-BE49-F238E27FC236}">
                <a16:creationId xmlns:a16="http://schemas.microsoft.com/office/drawing/2014/main" id="{E4FF31DD-BBC6-A3BC-E842-2B577B56848F}"/>
              </a:ext>
            </a:extLst>
          </p:cNvPr>
          <p:cNvGraphicFramePr>
            <a:graphicFrameLocks noGrp="1"/>
          </p:cNvGraphicFramePr>
          <p:nvPr>
            <p:extLst>
              <p:ext uri="{D42A27DB-BD31-4B8C-83A1-F6EECF244321}">
                <p14:modId xmlns:p14="http://schemas.microsoft.com/office/powerpoint/2010/main" val="2321084134"/>
              </p:ext>
            </p:extLst>
          </p:nvPr>
        </p:nvGraphicFramePr>
        <p:xfrm>
          <a:off x="6640300" y="920667"/>
          <a:ext cx="5468997" cy="749848"/>
        </p:xfrm>
        <a:graphic>
          <a:graphicData uri="http://schemas.openxmlformats.org/drawingml/2006/table">
            <a:tbl>
              <a:tblPr>
                <a:tableStyleId>{5C22544A-7EE6-4342-B048-85BDC9FD1C3A}</a:tableStyleId>
              </a:tblPr>
              <a:tblGrid>
                <a:gridCol w="1288073">
                  <a:extLst>
                    <a:ext uri="{9D8B030D-6E8A-4147-A177-3AD203B41FA5}">
                      <a16:colId xmlns:a16="http://schemas.microsoft.com/office/drawing/2014/main" val="2456552316"/>
                    </a:ext>
                  </a:extLst>
                </a:gridCol>
                <a:gridCol w="1141655">
                  <a:extLst>
                    <a:ext uri="{9D8B030D-6E8A-4147-A177-3AD203B41FA5}">
                      <a16:colId xmlns:a16="http://schemas.microsoft.com/office/drawing/2014/main" val="2327174630"/>
                    </a:ext>
                  </a:extLst>
                </a:gridCol>
                <a:gridCol w="1866759">
                  <a:extLst>
                    <a:ext uri="{9D8B030D-6E8A-4147-A177-3AD203B41FA5}">
                      <a16:colId xmlns:a16="http://schemas.microsoft.com/office/drawing/2014/main" val="1100051595"/>
                    </a:ext>
                  </a:extLst>
                </a:gridCol>
                <a:gridCol w="1172510">
                  <a:extLst>
                    <a:ext uri="{9D8B030D-6E8A-4147-A177-3AD203B41FA5}">
                      <a16:colId xmlns:a16="http://schemas.microsoft.com/office/drawing/2014/main" val="2815874248"/>
                    </a:ext>
                  </a:extLst>
                </a:gridCol>
              </a:tblGrid>
              <a:tr h="366567">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2026 Budget</a:t>
                      </a:r>
                      <a:r>
                        <a:rPr lang="en-US" sz="1050" b="1" i="0" u="none" strike="noStrike" kern="1200" cap="none" normalizeH="0" baseline="0">
                          <a:ln>
                            <a:noFill/>
                          </a:ln>
                          <a:solidFill>
                            <a:schemeClr val="bg1"/>
                          </a:solidFill>
                          <a:effectLst/>
                          <a:latin typeface="Arial"/>
                          <a:ea typeface="+mn-ea"/>
                          <a:cs typeface="+mn-cs"/>
                        </a:rPr>
                        <a:t> </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YTD Actuals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Remaining 2026 Forecast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Total Budget</a:t>
                      </a:r>
                      <a:r>
                        <a:rPr lang="en-US" sz="1050" b="1" i="0" u="none" strike="noStrike" kern="1200" cap="none" normalizeH="0" baseline="0">
                          <a:ln>
                            <a:noFill/>
                          </a:ln>
                          <a:solidFill>
                            <a:schemeClr val="bg1"/>
                          </a:solidFill>
                          <a:effectLst/>
                          <a:latin typeface="Arial"/>
                          <a:ea typeface="+mn-ea"/>
                          <a:cs typeface="+mn-cs"/>
                        </a:rPr>
                        <a:t> </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383281">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$75,000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$32,221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defRPr/>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$78,142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$112,056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7499024"/>
                  </a:ext>
                </a:extLst>
              </a:tr>
            </a:tbl>
          </a:graphicData>
        </a:graphic>
      </p:graphicFrame>
      <p:graphicFrame>
        <p:nvGraphicFramePr>
          <p:cNvPr id="25" name="Table 24">
            <a:extLst>
              <a:ext uri="{FF2B5EF4-FFF2-40B4-BE49-F238E27FC236}">
                <a16:creationId xmlns:a16="http://schemas.microsoft.com/office/drawing/2014/main" id="{B1E03227-5352-7EEB-9BAD-33768F80495F}"/>
              </a:ext>
            </a:extLst>
          </p:cNvPr>
          <p:cNvGraphicFramePr>
            <a:graphicFrameLocks noGrp="1"/>
          </p:cNvGraphicFramePr>
          <p:nvPr/>
        </p:nvGraphicFramePr>
        <p:xfrm>
          <a:off x="2811025" y="920667"/>
          <a:ext cx="3829275" cy="749848"/>
        </p:xfrm>
        <a:graphic>
          <a:graphicData uri="http://schemas.openxmlformats.org/drawingml/2006/table">
            <a:tbl>
              <a:tblPr>
                <a:tableStyleId>{5C22544A-7EE6-4342-B048-85BDC9FD1C3A}</a:tableStyleId>
              </a:tblPr>
              <a:tblGrid>
                <a:gridCol w="1042158">
                  <a:extLst>
                    <a:ext uri="{9D8B030D-6E8A-4147-A177-3AD203B41FA5}">
                      <a16:colId xmlns:a16="http://schemas.microsoft.com/office/drawing/2014/main" val="2456552316"/>
                    </a:ext>
                  </a:extLst>
                </a:gridCol>
                <a:gridCol w="961214">
                  <a:extLst>
                    <a:ext uri="{9D8B030D-6E8A-4147-A177-3AD203B41FA5}">
                      <a16:colId xmlns:a16="http://schemas.microsoft.com/office/drawing/2014/main" val="1100051595"/>
                    </a:ext>
                  </a:extLst>
                </a:gridCol>
                <a:gridCol w="920742">
                  <a:extLst>
                    <a:ext uri="{9D8B030D-6E8A-4147-A177-3AD203B41FA5}">
                      <a16:colId xmlns:a16="http://schemas.microsoft.com/office/drawing/2014/main" val="2042261034"/>
                    </a:ext>
                  </a:extLst>
                </a:gridCol>
                <a:gridCol w="905161">
                  <a:extLst>
                    <a:ext uri="{9D8B030D-6E8A-4147-A177-3AD203B41FA5}">
                      <a16:colId xmlns:a16="http://schemas.microsoft.com/office/drawing/2014/main" val="2815874248"/>
                    </a:ext>
                  </a:extLst>
                </a:gridCol>
              </a:tblGrid>
              <a:tr h="409508">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Overall</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Scope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Schedule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Financials</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340340">
                <a:tc>
                  <a:txBody>
                    <a:bodyPr/>
                    <a:lstStyle/>
                    <a:p>
                      <a:pPr marL="0" marR="0" lvl="0" indent="0" algn="ctr" rtl="0" eaLnBrk="1" fontAlgn="ctr" latinLnBrk="0" hangingPunct="1">
                        <a:lnSpc>
                          <a:spcPct val="95000"/>
                        </a:lnSpc>
                        <a:spcBef>
                          <a:spcPct val="0"/>
                        </a:spcBef>
                        <a:spcAft>
                          <a:spcPct val="50000"/>
                        </a:spcAft>
                        <a:buClrTx/>
                        <a:buSzTx/>
                        <a:buFontTx/>
                        <a:buNone/>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rtl="0" eaLnBrk="1" fontAlgn="ctr" latinLnBrk="0" hangingPunct="1">
                        <a:lnSpc>
                          <a:spcPct val="95000"/>
                        </a:lnSpc>
                        <a:spcBef>
                          <a:spcPct val="0"/>
                        </a:spcBef>
                        <a:spcAft>
                          <a:spcPct val="50000"/>
                        </a:spcAft>
                        <a:buClrTx/>
                        <a:buSzTx/>
                        <a:buFontTx/>
                        <a:buNone/>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7499024"/>
                  </a:ext>
                </a:extLst>
              </a:tr>
            </a:tbl>
          </a:graphicData>
        </a:graphic>
      </p:graphicFrame>
      <p:graphicFrame>
        <p:nvGraphicFramePr>
          <p:cNvPr id="26" name="Group 513">
            <a:extLst>
              <a:ext uri="{FF2B5EF4-FFF2-40B4-BE49-F238E27FC236}">
                <a16:creationId xmlns:a16="http://schemas.microsoft.com/office/drawing/2014/main" id="{3A1B17F0-A7A6-57ED-550E-70F1350DA695}"/>
              </a:ext>
            </a:extLst>
          </p:cNvPr>
          <p:cNvGraphicFramePr>
            <a:graphicFrameLocks noGrp="1"/>
          </p:cNvGraphicFramePr>
          <p:nvPr>
            <p:extLst>
              <p:ext uri="{D42A27DB-BD31-4B8C-83A1-F6EECF244321}">
                <p14:modId xmlns:p14="http://schemas.microsoft.com/office/powerpoint/2010/main" val="1044627334"/>
              </p:ext>
            </p:extLst>
          </p:nvPr>
        </p:nvGraphicFramePr>
        <p:xfrm>
          <a:off x="231953" y="1271951"/>
          <a:ext cx="2581575" cy="395688"/>
        </p:xfrm>
        <a:graphic>
          <a:graphicData uri="http://schemas.openxmlformats.org/drawingml/2006/table">
            <a:tbl>
              <a:tblPr/>
              <a:tblGrid>
                <a:gridCol w="998602">
                  <a:extLst>
                    <a:ext uri="{9D8B030D-6E8A-4147-A177-3AD203B41FA5}">
                      <a16:colId xmlns:a16="http://schemas.microsoft.com/office/drawing/2014/main" val="20000"/>
                    </a:ext>
                  </a:extLst>
                </a:gridCol>
                <a:gridCol w="1582973">
                  <a:extLst>
                    <a:ext uri="{9D8B030D-6E8A-4147-A177-3AD203B41FA5}">
                      <a16:colId xmlns:a16="http://schemas.microsoft.com/office/drawing/2014/main" val="20001"/>
                    </a:ext>
                  </a:extLst>
                </a:gridCol>
              </a:tblGrid>
              <a:tr h="344301">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GB" sz="1050" b="1" i="0" u="none" strike="noStrike" kern="1200" cap="none" normalizeH="0" baseline="0">
                          <a:ln>
                            <a:noFill/>
                          </a:ln>
                          <a:solidFill>
                            <a:schemeClr val="bg1"/>
                          </a:solidFill>
                          <a:effectLst/>
                          <a:latin typeface="Arial"/>
                          <a:ea typeface="+mn-ea"/>
                          <a:cs typeface="+mn-cs"/>
                        </a:rPr>
                        <a:t>Target Delivery:</a:t>
                      </a:r>
                    </a:p>
                  </a:txBody>
                  <a:tcPr marL="0" marR="0"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850" b="1" i="0" u="none" strike="noStrike" kern="1200" cap="none" normalizeH="0" baseline="0">
                          <a:ln>
                            <a:noFill/>
                          </a:ln>
                          <a:solidFill>
                            <a:srgbClr val="FF0000"/>
                          </a:solidFill>
                          <a:effectLst/>
                          <a:latin typeface="Aptos" panose="020B0004020202020204" pitchFamily="34" charset="0"/>
                          <a:ea typeface="+mn-ea"/>
                          <a:cs typeface="+mn-cs"/>
                        </a:rPr>
                        <a:t>TBD</a:t>
                      </a:r>
                    </a:p>
                  </a:txBody>
                  <a:tcPr marL="0" marR="0"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27" name="Table 26">
            <a:extLst>
              <a:ext uri="{FF2B5EF4-FFF2-40B4-BE49-F238E27FC236}">
                <a16:creationId xmlns:a16="http://schemas.microsoft.com/office/drawing/2014/main" id="{5DB03BEF-E3C2-2918-E851-2343DF4A9520}"/>
              </a:ext>
            </a:extLst>
          </p:cNvPr>
          <p:cNvGraphicFramePr>
            <a:graphicFrameLocks noGrp="1"/>
          </p:cNvGraphicFramePr>
          <p:nvPr>
            <p:extLst>
              <p:ext uri="{D42A27DB-BD31-4B8C-83A1-F6EECF244321}">
                <p14:modId xmlns:p14="http://schemas.microsoft.com/office/powerpoint/2010/main" val="3762203249"/>
              </p:ext>
            </p:extLst>
          </p:nvPr>
        </p:nvGraphicFramePr>
        <p:xfrm>
          <a:off x="4972437" y="1791349"/>
          <a:ext cx="7152058" cy="3766838"/>
        </p:xfrm>
        <a:graphic>
          <a:graphicData uri="http://schemas.openxmlformats.org/drawingml/2006/table">
            <a:tbl>
              <a:tblPr>
                <a:tableStyleId>{5C22544A-7EE6-4342-B048-85BDC9FD1C3A}</a:tableStyleId>
              </a:tblPr>
              <a:tblGrid>
                <a:gridCol w="2617796">
                  <a:extLst>
                    <a:ext uri="{9D8B030D-6E8A-4147-A177-3AD203B41FA5}">
                      <a16:colId xmlns:a16="http://schemas.microsoft.com/office/drawing/2014/main" val="2456552316"/>
                    </a:ext>
                  </a:extLst>
                </a:gridCol>
                <a:gridCol w="541753">
                  <a:extLst>
                    <a:ext uri="{9D8B030D-6E8A-4147-A177-3AD203B41FA5}">
                      <a16:colId xmlns:a16="http://schemas.microsoft.com/office/drawing/2014/main" val="1100051595"/>
                    </a:ext>
                  </a:extLst>
                </a:gridCol>
                <a:gridCol w="553469">
                  <a:extLst>
                    <a:ext uri="{9D8B030D-6E8A-4147-A177-3AD203B41FA5}">
                      <a16:colId xmlns:a16="http://schemas.microsoft.com/office/drawing/2014/main" val="2042261034"/>
                    </a:ext>
                  </a:extLst>
                </a:gridCol>
                <a:gridCol w="3439040">
                  <a:extLst>
                    <a:ext uri="{9D8B030D-6E8A-4147-A177-3AD203B41FA5}">
                      <a16:colId xmlns:a16="http://schemas.microsoft.com/office/drawing/2014/main" val="2815874248"/>
                    </a:ext>
                  </a:extLst>
                </a:gridCol>
              </a:tblGrid>
              <a:tr h="310680">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900" b="1" i="0" u="none" strike="noStrike" kern="1200" cap="none" normalizeH="0" baseline="0">
                          <a:ln>
                            <a:noFill/>
                          </a:ln>
                          <a:solidFill>
                            <a:schemeClr val="bg1"/>
                          </a:solidFill>
                          <a:effectLst/>
                          <a:latin typeface="Arial" panose="020B0604020202020204" pitchFamily="34" charset="0"/>
                          <a:ea typeface="+mn-ea"/>
                          <a:cs typeface="Arial" panose="020B0604020202020204" pitchFamily="34" charset="0"/>
                        </a:rPr>
                        <a:t>Milestone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900" b="1" i="0" u="none" strike="noStrike" kern="1200" cap="none" normalizeH="0" baseline="0">
                          <a:ln>
                            <a:noFill/>
                          </a:ln>
                          <a:solidFill>
                            <a:schemeClr val="bg1"/>
                          </a:solidFill>
                          <a:effectLst/>
                          <a:latin typeface="Arial" panose="020B0604020202020204" pitchFamily="34" charset="0"/>
                          <a:ea typeface="+mn-ea"/>
                          <a:cs typeface="Arial" panose="020B0604020202020204" pitchFamily="34" charset="0"/>
                        </a:rPr>
                        <a:t>Status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900" b="1" i="0" u="none" strike="noStrike" kern="1200" cap="none" normalizeH="0" baseline="0">
                          <a:ln>
                            <a:noFill/>
                          </a:ln>
                          <a:solidFill>
                            <a:schemeClr val="bg1"/>
                          </a:solidFill>
                          <a:effectLst/>
                          <a:latin typeface="Arial" panose="020B0604020202020204" pitchFamily="34" charset="0"/>
                          <a:ea typeface="+mn-ea"/>
                          <a:cs typeface="Arial" panose="020B0604020202020204" pitchFamily="34" charset="0"/>
                        </a:rPr>
                        <a:t>Due Date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900" b="1" i="0" u="none" strike="noStrike" kern="1200" cap="none" normalizeH="0" baseline="0">
                          <a:ln>
                            <a:noFill/>
                          </a:ln>
                          <a:solidFill>
                            <a:schemeClr val="bg1"/>
                          </a:solidFill>
                          <a:effectLst/>
                          <a:latin typeface="Arial" panose="020B0604020202020204" pitchFamily="34" charset="0"/>
                          <a:ea typeface="+mn-ea"/>
                          <a:cs typeface="Arial" panose="020B0604020202020204" pitchFamily="34" charset="0"/>
                        </a:rPr>
                        <a:t> </a:t>
                      </a:r>
                      <a:r>
                        <a:rPr kumimoji="0" lang="en-US" sz="900" b="1" i="0" u="none" strike="noStrike" kern="1200" cap="none" normalizeH="0" baseline="0">
                          <a:ln>
                            <a:noFill/>
                          </a:ln>
                          <a:solidFill>
                            <a:schemeClr val="bg1"/>
                          </a:solidFill>
                          <a:effectLst/>
                          <a:latin typeface="Arial" panose="020B0604020202020204" pitchFamily="34" charset="0"/>
                          <a:ea typeface="+mn-ea"/>
                          <a:cs typeface="Arial" panose="020B0604020202020204" pitchFamily="34" charset="0"/>
                        </a:rPr>
                        <a:t>Notes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471913">
                <a:tc>
                  <a:txBody>
                    <a:bodyPr/>
                    <a:lstStyle/>
                    <a:p>
                      <a:pPr marL="114300" marR="0" lvl="0" indent="0" algn="l" rtl="0" eaLnBrk="1" fontAlgn="ctr" latinLnBrk="0" hangingPunct="1">
                        <a:lnSpc>
                          <a:spcPct val="95000"/>
                        </a:lnSpc>
                        <a:spcBef>
                          <a:spcPct val="0"/>
                        </a:spcBef>
                        <a:spcAft>
                          <a:spcPct val="50000"/>
                        </a:spcAft>
                        <a:buClrTx/>
                        <a:buSzTx/>
                        <a:buFontTx/>
                        <a:buNone/>
                      </a:pPr>
                      <a:r>
                        <a:rPr lang="en-US" sz="850" b="0" kern="1200">
                          <a:solidFill>
                            <a:schemeClr val="tx1"/>
                          </a:solidFill>
                          <a:effectLst/>
                          <a:latin typeface="Aptos" panose="020B0004020202020204" pitchFamily="34" charset="0"/>
                          <a:ea typeface="+mn-ea"/>
                          <a:cs typeface="Arial" panose="020B0604020202020204" pitchFamily="34" charset="0"/>
                        </a:rPr>
                        <a:t>Breakdown Portal Stability Scope into tasks, scope, sequencing, outcomes, metrics, target go live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r>
                        <a:rPr lang="en-US" sz="850" b="0" kern="1200">
                          <a:solidFill>
                            <a:schemeClr val="tx1"/>
                          </a:solidFill>
                          <a:effectLst/>
                          <a:latin typeface="Aptos" panose="020B0004020202020204" pitchFamily="34" charset="0"/>
                          <a:ea typeface="+mn-ea"/>
                          <a:cs typeface="Arial" panose="020B0604020202020204" pitchFamily="34" charset="0"/>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r>
                        <a:rPr lang="en-US" sz="850" b="0" strike="noStrike" kern="1200">
                          <a:solidFill>
                            <a:schemeClr val="tx1"/>
                          </a:solidFill>
                          <a:effectLst/>
                          <a:latin typeface="Aptos" panose="020B0004020202020204" pitchFamily="34" charset="0"/>
                          <a:ea typeface="+mn-ea"/>
                          <a:cs typeface="Arial" panose="020B0604020202020204" pitchFamily="34" charset="0"/>
                        </a:rPr>
                        <a:t>7/24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0" hangingPunct="1">
                        <a:lnSpc>
                          <a:spcPts val="600"/>
                        </a:lnSpc>
                        <a:spcBef>
                          <a:spcPts val="300"/>
                        </a:spcBef>
                        <a:spcAft>
                          <a:spcPts val="0"/>
                        </a:spcAft>
                        <a:buClrTx/>
                        <a:buSzTx/>
                        <a:buFontTx/>
                        <a:buNone/>
                        <a:tabLst/>
                        <a:defRPr/>
                      </a:pPr>
                      <a:r>
                        <a:rPr lang="en-US" sz="850" b="0" i="0">
                          <a:solidFill>
                            <a:srgbClr val="000000"/>
                          </a:solidFill>
                          <a:effectLst/>
                          <a:latin typeface="Aptos" panose="020B0004020202020204" pitchFamily="34" charset="0"/>
                          <a:cs typeface="Arial" panose="020B0604020202020204" pitchFamily="34" charset="0"/>
                        </a:rPr>
                        <a:t>Workbook has been created and 2026 scope identified. Need to</a:t>
                      </a:r>
                    </a:p>
                    <a:p>
                      <a:pPr marL="0" marR="0" lvl="0" indent="0" algn="l" defTabSz="914400" rtl="0" eaLnBrk="1" fontAlgn="auto" latinLnBrk="0" hangingPunct="1">
                        <a:lnSpc>
                          <a:spcPts val="600"/>
                        </a:lnSpc>
                        <a:spcBef>
                          <a:spcPts val="300"/>
                        </a:spcBef>
                        <a:spcAft>
                          <a:spcPts val="0"/>
                        </a:spcAft>
                        <a:buClrTx/>
                        <a:buSzTx/>
                        <a:buFontTx/>
                        <a:buNone/>
                        <a:tabLst/>
                        <a:defRPr/>
                      </a:pPr>
                      <a:r>
                        <a:rPr lang="en-US" sz="850" b="0" i="0">
                          <a:solidFill>
                            <a:srgbClr val="000000"/>
                          </a:solidFill>
                          <a:effectLst/>
                          <a:latin typeface="Aptos" panose="020B0004020202020204" pitchFamily="34" charset="0"/>
                          <a:cs typeface="Arial" panose="020B0604020202020204" pitchFamily="34" charset="0"/>
                        </a:rPr>
                        <a:t> rebaseline current state.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748893264"/>
                  </a:ext>
                </a:extLst>
              </a:tr>
              <a:tr h="310638">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50" u="none" strike="noStrike">
                          <a:effectLst/>
                          <a:latin typeface="Aptos" panose="020B0004020202020204" pitchFamily="34" charset="0"/>
                          <a:cs typeface="Arial" panose="020B0604020202020204" pitchFamily="34" charset="0"/>
                        </a:rPr>
                        <a:t>Widget / security / version upgrades</a:t>
                      </a:r>
                      <a:endParaRPr lang="en-US" sz="850">
                        <a:latin typeface="Aptos" panose="020B0004020202020204" pitchFamily="34" charset="0"/>
                        <a:cs typeface="Arial" panose="020B06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a:lnSpc>
                          <a:spcPct val="95000"/>
                        </a:lnSpc>
                        <a:spcBef>
                          <a:spcPct val="0"/>
                        </a:spcBef>
                        <a:spcAft>
                          <a:spcPct val="50000"/>
                        </a:spcAft>
                        <a:buClrTx/>
                        <a:buSzTx/>
                        <a:buFontTx/>
                        <a:buNone/>
                        <a:tabLst/>
                      </a:pPr>
                      <a:endParaRPr lang="en-US" sz="850" b="0" kern="1200">
                        <a:solidFill>
                          <a:schemeClr val="tx1"/>
                        </a:solidFill>
                        <a:effectLst/>
                        <a:latin typeface="Aptos" panose="020B0004020202020204" pitchFamily="34" charset="0"/>
                        <a:ea typeface="+mn-ea"/>
                        <a:cs typeface="Arial" panose="020B06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95000"/>
                        </a:lnSpc>
                        <a:spcBef>
                          <a:spcPct val="0"/>
                        </a:spcBef>
                        <a:spcAft>
                          <a:spcPct val="50000"/>
                        </a:spcAft>
                        <a:buClrTx/>
                        <a:buSzTx/>
                        <a:buFontTx/>
                        <a:buNone/>
                        <a:tabLst/>
                        <a:defRPr/>
                      </a:pPr>
                      <a:r>
                        <a:rPr lang="en-US" sz="850" b="0" strike="sngStrike" kern="1200">
                          <a:solidFill>
                            <a:schemeClr val="tx1"/>
                          </a:solidFill>
                          <a:effectLst/>
                          <a:latin typeface="Aptos" panose="020B0004020202020204" pitchFamily="34" charset="0"/>
                          <a:ea typeface="+mn-ea"/>
                          <a:cs typeface="Arial" panose="020B0604020202020204" pitchFamily="34" charset="0"/>
                        </a:rPr>
                        <a:t>08/19</a:t>
                      </a:r>
                    </a:p>
                    <a:p>
                      <a:pPr marL="0" marR="0" lvl="0" indent="0" algn="ctr" defTabSz="914400" rtl="0" eaLnBrk="1" fontAlgn="auto" latinLnBrk="0" hangingPunct="1">
                        <a:lnSpc>
                          <a:spcPct val="95000"/>
                        </a:lnSpc>
                        <a:spcBef>
                          <a:spcPct val="0"/>
                        </a:spcBef>
                        <a:spcAft>
                          <a:spcPct val="50000"/>
                        </a:spcAft>
                        <a:buClrTx/>
                        <a:buSzTx/>
                        <a:buFontTx/>
                        <a:buNone/>
                        <a:tabLst/>
                        <a:defRPr/>
                      </a:pPr>
                      <a:r>
                        <a:rPr lang="en-US" sz="850" b="0" strike="sngStrike" kern="1200">
                          <a:solidFill>
                            <a:schemeClr val="tx1"/>
                          </a:solidFill>
                          <a:effectLst/>
                          <a:latin typeface="Aptos" panose="020B0004020202020204" pitchFamily="34" charset="0"/>
                          <a:ea typeface="+mn-ea"/>
                          <a:cs typeface="Arial" panose="020B0604020202020204" pitchFamily="34" charset="0"/>
                        </a:rPr>
                        <a:t>08/26</a:t>
                      </a:r>
                    </a:p>
                    <a:p>
                      <a:pPr marL="0" marR="0" lvl="0" indent="0" algn="ctr" defTabSz="914400" rtl="0" eaLnBrk="1" fontAlgn="auto" latinLnBrk="0" hangingPunct="1">
                        <a:lnSpc>
                          <a:spcPct val="95000"/>
                        </a:lnSpc>
                        <a:spcBef>
                          <a:spcPct val="0"/>
                        </a:spcBef>
                        <a:spcAft>
                          <a:spcPct val="50000"/>
                        </a:spcAft>
                        <a:buClrTx/>
                        <a:buSzTx/>
                        <a:buFontTx/>
                        <a:buNone/>
                        <a:tabLst/>
                        <a:defRPr/>
                      </a:pPr>
                      <a:r>
                        <a:rPr lang="en-US" sz="850" b="0" strike="noStrike" kern="1200">
                          <a:solidFill>
                            <a:schemeClr val="tx1"/>
                          </a:solidFill>
                          <a:effectLst/>
                          <a:latin typeface="Aptos" panose="020B0004020202020204" pitchFamily="34" charset="0"/>
                          <a:ea typeface="+mn-ea"/>
                          <a:cs typeface="Arial" panose="020B0604020202020204" pitchFamily="34" charset="0"/>
                        </a:rPr>
                        <a:t>09/09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marR="0" lvl="0" indent="-171450">
                        <a:lnSpc>
                          <a:spcPct val="100000"/>
                        </a:lnSpc>
                        <a:spcAft>
                          <a:spcPts val="0"/>
                        </a:spcAft>
                        <a:buFont typeface="Arial" panose="020B0604020202020204" pitchFamily="34" charset="0"/>
                        <a:buChar char="•"/>
                      </a:pPr>
                      <a:r>
                        <a:rPr lang="en-US" sz="850" b="0" i="0" u="none" strike="noStrike" kern="100" noProof="0">
                          <a:solidFill>
                            <a:schemeClr val="dk1"/>
                          </a:solidFill>
                          <a:effectLst/>
                          <a:latin typeface="Aptos" panose="020B0004020202020204" pitchFamily="34" charset="0"/>
                          <a:cs typeface="Arial" panose="020B0604020202020204" pitchFamily="34" charset="0"/>
                        </a:rPr>
                        <a:t>08/14 - Angular Upgrade is moved to 08/26 due to the issues with the Add-A-Pet project changes.</a:t>
                      </a:r>
                    </a:p>
                    <a:p>
                      <a:pPr marL="171450" marR="0" lvl="0" indent="-171450">
                        <a:lnSpc>
                          <a:spcPct val="100000"/>
                        </a:lnSpc>
                        <a:spcAft>
                          <a:spcPts val="0"/>
                        </a:spcAft>
                        <a:buFont typeface="Arial" panose="020B0604020202020204" pitchFamily="34" charset="0"/>
                        <a:buChar char="•"/>
                      </a:pPr>
                      <a:r>
                        <a:rPr lang="en-US" sz="850" b="0" i="0" u="none" strike="noStrike" kern="100" noProof="0">
                          <a:solidFill>
                            <a:schemeClr val="dk1"/>
                          </a:solidFill>
                          <a:effectLst/>
                          <a:latin typeface="Aptos" panose="020B0004020202020204" pitchFamily="34" charset="0"/>
                          <a:cs typeface="Arial" panose="020B0604020202020204" pitchFamily="34" charset="0"/>
                        </a:rPr>
                        <a:t>08/21 - Angular Upgrade is moved to 09/09 due to the issues with the Add-A-Pet project changes.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05706767"/>
                  </a:ext>
                </a:extLst>
              </a:tr>
              <a:tr h="282234">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50">
                          <a:latin typeface="Aptos" panose="020B0004020202020204" pitchFamily="34" charset="0"/>
                          <a:cs typeface="Arial" panose="020B0604020202020204" pitchFamily="34" charset="0"/>
                        </a:rPr>
                        <a:t>Login/Access/Registration Reliability</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a:lnSpc>
                          <a:spcPct val="95000"/>
                        </a:lnSpc>
                        <a:spcBef>
                          <a:spcPct val="0"/>
                        </a:spcBef>
                        <a:spcAft>
                          <a:spcPct val="50000"/>
                        </a:spcAft>
                        <a:buClrTx/>
                        <a:buSzTx/>
                        <a:buFontTx/>
                        <a:buNone/>
                        <a:tabLst/>
                      </a:pPr>
                      <a:r>
                        <a:rPr lang="en-US" sz="850" b="0" kern="1200">
                          <a:solidFill>
                            <a:schemeClr val="tx1"/>
                          </a:solidFill>
                          <a:effectLst/>
                          <a:latin typeface="Aptos" panose="020B0004020202020204" pitchFamily="34" charset="0"/>
                          <a:ea typeface="+mn-ea"/>
                          <a:cs typeface="Arial" panose="020B0604020202020204" pitchFamily="34" charset="0"/>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0" hangingPunct="1">
                        <a:lnSpc>
                          <a:spcPct val="95000"/>
                        </a:lnSpc>
                        <a:spcBef>
                          <a:spcPct val="0"/>
                        </a:spcBef>
                        <a:spcAft>
                          <a:spcPct val="50000"/>
                        </a:spcAft>
                        <a:buClrTx/>
                        <a:buSzTx/>
                        <a:buFontTx/>
                        <a:buNone/>
                        <a:tabLst/>
                        <a:defRPr/>
                      </a:pPr>
                      <a:r>
                        <a:rPr lang="en-US" sz="850" b="0" strike="sngStrike" kern="1200">
                          <a:solidFill>
                            <a:schemeClr val="tx1"/>
                          </a:solidFill>
                          <a:effectLst/>
                          <a:latin typeface="Aptos" panose="020B0004020202020204" pitchFamily="34" charset="0"/>
                          <a:ea typeface="+mn-ea"/>
                          <a:cs typeface="Arial" panose="020B0604020202020204" pitchFamily="34" charset="0"/>
                        </a:rPr>
                        <a:t>08/13</a:t>
                      </a:r>
                    </a:p>
                    <a:p>
                      <a:pPr marL="0" marR="0" lvl="0" indent="0" algn="ctr" defTabSz="914400" rtl="0" eaLnBrk="1" fontAlgn="auto" latinLnBrk="0" hangingPunct="1">
                        <a:lnSpc>
                          <a:spcPct val="95000"/>
                        </a:lnSpc>
                        <a:spcBef>
                          <a:spcPct val="0"/>
                        </a:spcBef>
                        <a:spcAft>
                          <a:spcPct val="50000"/>
                        </a:spcAft>
                        <a:buClrTx/>
                        <a:buSzTx/>
                        <a:buFontTx/>
                        <a:buNone/>
                        <a:tabLst/>
                        <a:defRPr/>
                      </a:pPr>
                      <a:r>
                        <a:rPr lang="en-US" sz="850" b="0" strike="noStrike" kern="1200">
                          <a:solidFill>
                            <a:schemeClr val="tx1"/>
                          </a:solidFill>
                          <a:effectLst/>
                          <a:latin typeface="Aptos" panose="020B0004020202020204" pitchFamily="34" charset="0"/>
                          <a:ea typeface="+mn-ea"/>
                          <a:cs typeface="Arial" panose="020B0604020202020204" pitchFamily="34" charset="0"/>
                        </a:rPr>
                        <a:t>08/17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latinLnBrk="0" hangingPunct="1">
                        <a:lnSpc>
                          <a:spcPct val="100000"/>
                        </a:lnSpc>
                        <a:spcAft>
                          <a:spcPts val="0"/>
                        </a:spcAft>
                        <a:buFont typeface="Arial" panose="020B0604020202020204" pitchFamily="34" charset="0"/>
                        <a:buNone/>
                      </a:pPr>
                      <a:r>
                        <a:rPr lang="en-US" sz="900"/>
                        <a:t>Deployed in prod -</a:t>
                      </a:r>
                    </a:p>
                    <a:p>
                      <a:pPr marL="171450" marR="0" lvl="0" indent="-171450" algn="l" defTabSz="914400" rtl="0" eaLnBrk="1" latinLnBrk="0" hangingPunct="1">
                        <a:lnSpc>
                          <a:spcPct val="100000"/>
                        </a:lnSpc>
                        <a:spcAft>
                          <a:spcPts val="0"/>
                        </a:spcAft>
                        <a:buFont typeface="Arial" panose="020B0604020202020204" pitchFamily="34" charset="0"/>
                        <a:buChar char="•"/>
                      </a:pPr>
                      <a:r>
                        <a:rPr lang="en-US" sz="900"/>
                        <a:t>Missing policy documents now load for members with migrated policies (passes multiple insured codes).</a:t>
                      </a:r>
                    </a:p>
                    <a:p>
                      <a:pPr marL="171450" marR="0" lvl="0" indent="-171450" algn="l" defTabSz="914400" rtl="0" eaLnBrk="1" latinLnBrk="0" hangingPunct="1">
                        <a:lnSpc>
                          <a:spcPct val="100000"/>
                        </a:lnSpc>
                        <a:spcAft>
                          <a:spcPts val="0"/>
                        </a:spcAft>
                        <a:buFont typeface="Arial" panose="020B0604020202020204" pitchFamily="34" charset="0"/>
                        <a:buChar char="•"/>
                      </a:pPr>
                      <a:r>
                        <a:rPr lang="en-US" sz="900"/>
                        <a:t>Pivot document links now open on iPad (pop-up blocker fix).</a:t>
                      </a:r>
                    </a:p>
                    <a:p>
                      <a:pPr marL="171450" marR="0" lvl="0" indent="-171450" algn="l" defTabSz="914400" rtl="0" eaLnBrk="1" latinLnBrk="0" hangingPunct="1">
                        <a:lnSpc>
                          <a:spcPct val="100000"/>
                        </a:lnSpc>
                        <a:spcAft>
                          <a:spcPts val="0"/>
                        </a:spcAft>
                        <a:buFont typeface="Arial" panose="020B0604020202020204" pitchFamily="34" charset="0"/>
                        <a:buChar char="•"/>
                      </a:pPr>
                      <a:r>
                        <a:rPr lang="en-US" sz="900"/>
                        <a:t>Deductible tracker now displays the applied / remaining deductible.</a:t>
                      </a:r>
                      <a:endParaRPr lang="en-US" sz="850" b="0" i="0" u="none" strike="noStrike" kern="100">
                        <a:solidFill>
                          <a:schemeClr val="dk1"/>
                        </a:solidFill>
                        <a:effectLst/>
                        <a:latin typeface="Aptos" panose="020B0004020202020204" pitchFamily="34" charset="0"/>
                        <a:ea typeface="+mn-ea"/>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943924009"/>
                  </a:ext>
                </a:extLst>
              </a:tr>
              <a:tr h="415638">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50" u="none" strike="noStrike">
                          <a:effectLst/>
                          <a:latin typeface="Aptos" panose="020B0004020202020204" pitchFamily="34" charset="0"/>
                        </a:rPr>
                        <a:t>Payments / enrollment / billing reliability</a:t>
                      </a:r>
                      <a:endParaRPr lang="en-US" sz="850" kern="1200">
                        <a:solidFill>
                          <a:schemeClr val="dk1"/>
                        </a:solidFill>
                        <a:latin typeface="Aptos" panose="020B0004020202020204" pitchFamily="34" charset="0"/>
                        <a:ea typeface="+mn-ea"/>
                        <a:cs typeface="Arial" panose="020B06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850" b="0" kern="1200">
                        <a:solidFill>
                          <a:schemeClr val="tx1"/>
                        </a:solidFill>
                        <a:effectLst/>
                        <a:latin typeface="Aptos" panose="020B0004020202020204" pitchFamily="34" charset="0"/>
                        <a:ea typeface="+mn-ea"/>
                        <a:cs typeface="Arial" panose="020B06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r>
                        <a:rPr lang="en-US" sz="850" b="0" strike="noStrike" kern="1200">
                          <a:solidFill>
                            <a:schemeClr val="tx1"/>
                          </a:solidFill>
                          <a:effectLst/>
                          <a:latin typeface="Aptos" panose="020B0004020202020204" pitchFamily="34" charset="0"/>
                          <a:ea typeface="+mn-ea"/>
                          <a:cs typeface="Arial" panose="020B0604020202020204" pitchFamily="34" charset="0"/>
                        </a:rPr>
                        <a:t>10/31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ts val="600"/>
                        </a:lnSpc>
                        <a:spcBef>
                          <a:spcPts val="300"/>
                        </a:spcBef>
                        <a:spcAft>
                          <a:spcPts val="0"/>
                        </a:spcAft>
                        <a:buClrTx/>
                        <a:buSzTx/>
                        <a:buFontTx/>
                        <a:buNone/>
                        <a:tabLst/>
                        <a:defRPr/>
                      </a:pPr>
                      <a:r>
                        <a:rPr lang="en-US" sz="850" b="0" i="0" u="none" strike="noStrike" kern="100" noProof="0">
                          <a:solidFill>
                            <a:schemeClr val="dk1"/>
                          </a:solidFill>
                          <a:effectLst/>
                          <a:latin typeface="Aptos" panose="020B0004020202020204" pitchFamily="34" charset="0"/>
                          <a:cs typeface="Arial" panose="020B0604020202020204" pitchFamily="34" charset="0"/>
                        </a:rPr>
                        <a:t> Analysis and Development work is in progress for the Prod</a:t>
                      </a:r>
                    </a:p>
                    <a:p>
                      <a:pPr marL="0" marR="0" lvl="0" indent="0" algn="l" defTabSz="914400" rtl="0" eaLnBrk="1" fontAlgn="base" latinLnBrk="0" hangingPunct="1">
                        <a:lnSpc>
                          <a:spcPts val="600"/>
                        </a:lnSpc>
                        <a:spcBef>
                          <a:spcPts val="300"/>
                        </a:spcBef>
                        <a:spcAft>
                          <a:spcPts val="0"/>
                        </a:spcAft>
                        <a:buClrTx/>
                        <a:buSzTx/>
                        <a:buFontTx/>
                        <a:buNone/>
                        <a:tabLst/>
                        <a:defRPr/>
                      </a:pPr>
                      <a:r>
                        <a:rPr lang="en-US" sz="850" b="0" i="0" u="none" strike="noStrike" kern="100" noProof="0">
                          <a:solidFill>
                            <a:schemeClr val="dk1"/>
                          </a:solidFill>
                          <a:effectLst/>
                          <a:latin typeface="Aptos" panose="020B0004020202020204" pitchFamily="34" charset="0"/>
                          <a:cs typeface="Arial" panose="020B0604020202020204" pitchFamily="34" charset="0"/>
                        </a:rPr>
                        <a:t> </a:t>
                      </a:r>
                      <a:r>
                        <a:rPr lang="en-US" sz="850" b="0" i="0" u="none" strike="noStrike" kern="100" noProof="0">
                          <a:solidFill>
                            <a:schemeClr val="dk1"/>
                          </a:solidFill>
                          <a:effectLst/>
                          <a:latin typeface="Aptos" panose="020B0004020202020204" pitchFamily="34" charset="0"/>
                          <a:ea typeface="+mn-ea"/>
                          <a:cs typeface="Arial" panose="020B0604020202020204" pitchFamily="34" charset="0"/>
                        </a:rPr>
                        <a:t>issues identified till 06/30 for this scope item. Backlog is being</a:t>
                      </a:r>
                    </a:p>
                    <a:p>
                      <a:pPr marL="0" marR="0" lvl="0" indent="0" algn="l" defTabSz="914400" rtl="0" eaLnBrk="1" fontAlgn="base" latinLnBrk="0" hangingPunct="1">
                        <a:lnSpc>
                          <a:spcPts val="600"/>
                        </a:lnSpc>
                        <a:spcBef>
                          <a:spcPts val="300"/>
                        </a:spcBef>
                        <a:spcAft>
                          <a:spcPts val="0"/>
                        </a:spcAft>
                        <a:buClrTx/>
                        <a:buSzTx/>
                        <a:buFontTx/>
                        <a:buNone/>
                        <a:tabLst/>
                        <a:defRPr/>
                      </a:pPr>
                      <a:r>
                        <a:rPr lang="en-US" sz="850" b="0" i="0" u="none" strike="noStrike" kern="100" noProof="0">
                          <a:solidFill>
                            <a:schemeClr val="dk1"/>
                          </a:solidFill>
                          <a:effectLst/>
                          <a:latin typeface="Aptos" panose="020B0004020202020204" pitchFamily="34" charset="0"/>
                          <a:ea typeface="+mn-ea"/>
                          <a:cs typeface="Arial" panose="020B0604020202020204" pitchFamily="34" charset="0"/>
                        </a:rPr>
                        <a:t> created for the issues identified later 06/30. </a:t>
                      </a:r>
                    </a:p>
                    <a:p>
                      <a:pPr marL="0" marR="0" lvl="0" indent="0" algn="l" defTabSz="914400" rtl="0" eaLnBrk="1" fontAlgn="base" latinLnBrk="0" hangingPunct="1">
                        <a:lnSpc>
                          <a:spcPts val="600"/>
                        </a:lnSpc>
                        <a:spcBef>
                          <a:spcPts val="300"/>
                        </a:spcBef>
                        <a:spcAft>
                          <a:spcPts val="0"/>
                        </a:spcAft>
                        <a:buClrTx/>
                        <a:buSzTx/>
                        <a:buFontTx/>
                        <a:buNone/>
                        <a:tabLst/>
                        <a:defRPr/>
                      </a:pPr>
                      <a:endParaRPr lang="en-US" sz="850" b="0" i="0">
                        <a:solidFill>
                          <a:srgbClr val="000000"/>
                        </a:solidFill>
                        <a:effectLst/>
                        <a:latin typeface="Aptos" panose="020B00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73210692"/>
                  </a:ext>
                </a:extLst>
              </a:tr>
              <a:tr h="296868">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50" kern="1200">
                          <a:solidFill>
                            <a:schemeClr val="dk1"/>
                          </a:solidFill>
                          <a:latin typeface="Aptos" panose="020B0004020202020204" pitchFamily="34" charset="0"/>
                          <a:ea typeface="+mn-ea"/>
                          <a:cs typeface="Arial" panose="020B0604020202020204" pitchFamily="34" charset="0"/>
                        </a:rPr>
                        <a:t>Remove chatty / redundant API calls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50">
                        <a:latin typeface="Aptos" panose="020B0004020202020204" pitchFamily="34" charset="0"/>
                        <a:cs typeface="Arial" panose="020B06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50" b="0" strike="noStrike" kern="1200">
                          <a:solidFill>
                            <a:schemeClr val="tx1"/>
                          </a:solidFill>
                          <a:effectLst/>
                          <a:latin typeface="Aptos" panose="020B0004020202020204" pitchFamily="34" charset="0"/>
                          <a:ea typeface="+mn-ea"/>
                          <a:cs typeface="Arial" panose="020B0604020202020204" pitchFamily="34" charset="0"/>
                        </a:rPr>
                        <a:t>09/16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ts val="200"/>
                        </a:spcBef>
                        <a:spcAft>
                          <a:spcPts val="0"/>
                        </a:spcAft>
                        <a:buClrTx/>
                        <a:buSzTx/>
                        <a:buFontTx/>
                        <a:buNone/>
                        <a:tabLst/>
                        <a:defRPr/>
                      </a:pPr>
                      <a:r>
                        <a:rPr lang="en-US" sz="850" kern="100">
                          <a:solidFill>
                            <a:schemeClr val="dk1"/>
                          </a:solidFill>
                          <a:latin typeface="Aptos" panose="020B0004020202020204" pitchFamily="34" charset="0"/>
                          <a:cs typeface="Arial" panose="020B0604020202020204" pitchFamily="34" charset="0"/>
                        </a:rPr>
                        <a:t>Development is completed. Release planned for 09/16.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87139067"/>
                  </a:ext>
                </a:extLst>
              </a:tr>
              <a:tr h="321557">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50" kern="1200">
                          <a:solidFill>
                            <a:schemeClr val="dk1"/>
                          </a:solidFill>
                          <a:latin typeface="Aptos" panose="020B0004020202020204" pitchFamily="34" charset="0"/>
                          <a:ea typeface="+mn-ea"/>
                          <a:cs typeface="Arial" panose="020B0604020202020204" pitchFamily="34" charset="0"/>
                        </a:rPr>
                        <a:t>Apigee / API alignment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50">
                        <a:latin typeface="Aptos" panose="020B0004020202020204" pitchFamily="34" charset="0"/>
                        <a:cs typeface="Arial" panose="020B06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50" strike="noStrike">
                          <a:latin typeface="Aptos" panose="020B0004020202020204" pitchFamily="34" charset="0"/>
                          <a:cs typeface="Arial" panose="020B0604020202020204" pitchFamily="34" charset="0"/>
                        </a:rPr>
                        <a:t>09/16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ts val="200"/>
                        </a:spcBef>
                        <a:spcAft>
                          <a:spcPts val="0"/>
                        </a:spcAft>
                        <a:buClrTx/>
                        <a:buSzTx/>
                        <a:buFontTx/>
                        <a:buNone/>
                        <a:tabLst/>
                        <a:defRPr/>
                      </a:pPr>
                      <a:r>
                        <a:rPr lang="en-US" sz="850" b="0" i="0">
                          <a:solidFill>
                            <a:srgbClr val="000000"/>
                          </a:solidFill>
                          <a:effectLst/>
                          <a:latin typeface="Aptos" panose="020B0004020202020204" pitchFamily="34" charset="0"/>
                          <a:cs typeface="Arial" panose="020B0604020202020204" pitchFamily="34" charset="0"/>
                        </a:rPr>
                        <a:t>Development is completed.  Release planned for 09/16.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75249404"/>
                  </a:ext>
                </a:extLst>
              </a:tr>
              <a:tr h="267703">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endParaRPr lang="en-US" sz="850" kern="1200">
                        <a:solidFill>
                          <a:schemeClr val="dk1"/>
                        </a:solidFill>
                        <a:latin typeface="Aptos" panose="020B0004020202020204" pitchFamily="34" charset="0"/>
                        <a:ea typeface="+mn-ea"/>
                        <a:cs typeface="Arial" panose="020B0604020202020204" pitchFamily="34" charset="0"/>
                      </a:endParaRPr>
                    </a:p>
                    <a:p>
                      <a:pPr marL="114300" marR="0" lvl="0" indent="0" algn="l" defTabSz="914400" rtl="0" eaLnBrk="1" fontAlgn="auto" latinLnBrk="0" hangingPunct="1">
                        <a:lnSpc>
                          <a:spcPct val="95000"/>
                        </a:lnSpc>
                        <a:spcBef>
                          <a:spcPct val="0"/>
                        </a:spcBef>
                        <a:spcAft>
                          <a:spcPct val="50000"/>
                        </a:spcAft>
                        <a:buClrTx/>
                        <a:buSzTx/>
                        <a:buFontTx/>
                        <a:buNone/>
                        <a:tabLst/>
                        <a:defRPr/>
                      </a:pPr>
                      <a:endParaRPr lang="en-US" sz="850" kern="1200">
                        <a:solidFill>
                          <a:schemeClr val="dk1"/>
                        </a:solidFill>
                        <a:latin typeface="Aptos" panose="020B0004020202020204" pitchFamily="34" charset="0"/>
                        <a:ea typeface="+mn-ea"/>
                        <a:cs typeface="Arial" panose="020B06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50">
                        <a:latin typeface="Aptos" panose="020B0004020202020204" pitchFamily="34" charset="0"/>
                        <a:cs typeface="Arial" panose="020B06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50" strike="noStrike">
                        <a:latin typeface="Aptos" panose="020B0004020202020204" pitchFamily="34" charset="0"/>
                        <a:cs typeface="Arial" panose="020B06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eaLnBrk="1" fontAlgn="ctr" latinLnBrk="0" hangingPunct="1">
                        <a:lnSpc>
                          <a:spcPct val="95000"/>
                        </a:lnSpc>
                        <a:spcBef>
                          <a:spcPct val="0"/>
                        </a:spcBef>
                        <a:spcAft>
                          <a:spcPct val="50000"/>
                        </a:spcAft>
                        <a:buClrTx/>
                        <a:buSzTx/>
                        <a:buFontTx/>
                        <a:buNone/>
                      </a:pPr>
                      <a:endParaRPr lang="en-US" sz="850" b="0" strike="noStrike" kern="1200">
                        <a:solidFill>
                          <a:schemeClr val="tx1"/>
                        </a:solidFill>
                        <a:effectLst/>
                        <a:latin typeface="Aptos" panose="020B0004020202020204" pitchFamily="34" charset="0"/>
                        <a:ea typeface="+mn-ea"/>
                        <a:cs typeface="Arial" panose="020B06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76961585"/>
                  </a:ext>
                </a:extLst>
              </a:tr>
            </a:tbl>
          </a:graphicData>
        </a:graphic>
      </p:graphicFrame>
      <p:graphicFrame>
        <p:nvGraphicFramePr>
          <p:cNvPr id="29" name="Table 28">
            <a:extLst>
              <a:ext uri="{FF2B5EF4-FFF2-40B4-BE49-F238E27FC236}">
                <a16:creationId xmlns:a16="http://schemas.microsoft.com/office/drawing/2014/main" id="{62D7E36D-8964-12CA-6DF7-38CCCDF27BA3}"/>
              </a:ext>
            </a:extLst>
          </p:cNvPr>
          <p:cNvGraphicFramePr>
            <a:graphicFrameLocks noGrp="1"/>
          </p:cNvGraphicFramePr>
          <p:nvPr>
            <p:extLst>
              <p:ext uri="{D42A27DB-BD31-4B8C-83A1-F6EECF244321}">
                <p14:modId xmlns:p14="http://schemas.microsoft.com/office/powerpoint/2010/main" val="2147226723"/>
              </p:ext>
            </p:extLst>
          </p:nvPr>
        </p:nvGraphicFramePr>
        <p:xfrm>
          <a:off x="4972437" y="5564120"/>
          <a:ext cx="7136859" cy="866648"/>
        </p:xfrm>
        <a:graphic>
          <a:graphicData uri="http://schemas.openxmlformats.org/drawingml/2006/table">
            <a:tbl>
              <a:tblPr>
                <a:tableStyleId>{5C22544A-7EE6-4342-B048-85BDC9FD1C3A}</a:tableStyleId>
              </a:tblPr>
              <a:tblGrid>
                <a:gridCol w="2633399">
                  <a:extLst>
                    <a:ext uri="{9D8B030D-6E8A-4147-A177-3AD203B41FA5}">
                      <a16:colId xmlns:a16="http://schemas.microsoft.com/office/drawing/2014/main" val="2456552316"/>
                    </a:ext>
                  </a:extLst>
                </a:gridCol>
                <a:gridCol w="517124">
                  <a:extLst>
                    <a:ext uri="{9D8B030D-6E8A-4147-A177-3AD203B41FA5}">
                      <a16:colId xmlns:a16="http://schemas.microsoft.com/office/drawing/2014/main" val="1100051595"/>
                    </a:ext>
                  </a:extLst>
                </a:gridCol>
                <a:gridCol w="574337">
                  <a:extLst>
                    <a:ext uri="{9D8B030D-6E8A-4147-A177-3AD203B41FA5}">
                      <a16:colId xmlns:a16="http://schemas.microsoft.com/office/drawing/2014/main" val="2042261034"/>
                    </a:ext>
                  </a:extLst>
                </a:gridCol>
                <a:gridCol w="3411999">
                  <a:extLst>
                    <a:ext uri="{9D8B030D-6E8A-4147-A177-3AD203B41FA5}">
                      <a16:colId xmlns:a16="http://schemas.microsoft.com/office/drawing/2014/main" val="2815874248"/>
                    </a:ext>
                  </a:extLst>
                </a:gridCol>
              </a:tblGrid>
              <a:tr h="293000">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Critical Risks/Issues</a:t>
                      </a:r>
                      <a:endParaRPr kumimoji="0" lang="en-US" sz="1050" b="1" i="0" u="none" strike="noStrike" kern="1200" cap="none" normalizeH="0" baseline="0">
                        <a:ln>
                          <a:noFill/>
                        </a:ln>
                        <a:solidFill>
                          <a:schemeClr val="bg1"/>
                        </a:solidFill>
                        <a:effectLst/>
                        <a:latin typeface="Arial" charset="0"/>
                        <a:ea typeface="+mn-ea"/>
                        <a:cs typeface="+mn-cs"/>
                      </a:endParaRP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Status</a:t>
                      </a:r>
                    </a:p>
                  </a:txBody>
                  <a:tcPr marL="9525" marR="9525" marT="9525" marB="0" anchor="ct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Target Date</a:t>
                      </a:r>
                    </a:p>
                  </a:txBody>
                  <a:tcPr marL="9525" marR="9525" marT="9525" marB="0" anchor="ctr">
                    <a:lnL w="12700">
                      <a:solidFill>
                        <a:schemeClr val="tx1"/>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Resolution / Mitigation</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367293">
                <a:tc>
                  <a:txBody>
                    <a:bodyPr/>
                    <a:lstStyle/>
                    <a:p>
                      <a:pPr marL="0" marR="0" lvl="0" indent="0" algn="l" defTabSz="914400" rtl="0" eaLnBrk="1" fontAlgn="auto" latinLnBrk="0" hangingPunct="1">
                        <a:lnSpc>
                          <a:spcPct val="115000"/>
                        </a:lnSpc>
                        <a:spcBef>
                          <a:spcPts val="0"/>
                        </a:spcBef>
                        <a:spcAft>
                          <a:spcPts val="800"/>
                        </a:spcAft>
                        <a:buClrTx/>
                        <a:buSzTx/>
                        <a:buFontTx/>
                        <a:buNone/>
                        <a:tabLst/>
                        <a:defRPr/>
                      </a:pPr>
                      <a:r>
                        <a:rPr lang="en-US" sz="850">
                          <a:latin typeface="Aptos" panose="020B0004020202020204" pitchFamily="34" charset="0"/>
                        </a:rPr>
                        <a:t>Project remains yellow due to the budget overage beyond September activities</a:t>
                      </a: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850" b="0" kern="1200">
                        <a:solidFill>
                          <a:schemeClr val="tx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r>
                        <a:rPr lang="en-US" sz="850" b="0" strike="sngStrike" kern="1200">
                          <a:solidFill>
                            <a:schemeClr val="tx1"/>
                          </a:solidFill>
                          <a:effectLst/>
                          <a:latin typeface="Aptos" panose="020B0004020202020204" pitchFamily="34" charset="0"/>
                          <a:ea typeface="+mn-ea"/>
                          <a:cs typeface="+mn-cs"/>
                        </a:rPr>
                        <a:t>08/31</a:t>
                      </a:r>
                    </a:p>
                    <a:p>
                      <a:pPr marL="0" marR="0" lvl="0" indent="0" algn="ctr" defTabSz="914400" rtl="0" eaLnBrk="1" fontAlgn="ctr" latinLnBrk="0" hangingPunct="1">
                        <a:lnSpc>
                          <a:spcPct val="95000"/>
                        </a:lnSpc>
                        <a:spcBef>
                          <a:spcPct val="0"/>
                        </a:spcBef>
                        <a:spcAft>
                          <a:spcPct val="50000"/>
                        </a:spcAft>
                        <a:buClrTx/>
                        <a:buSzTx/>
                        <a:buFontTx/>
                        <a:buNone/>
                        <a:tabLst/>
                      </a:pPr>
                      <a:r>
                        <a:rPr lang="en-US" sz="850" b="0" strike="noStrike" kern="1200">
                          <a:solidFill>
                            <a:schemeClr val="tx1"/>
                          </a:solidFill>
                          <a:effectLst/>
                          <a:latin typeface="Aptos" panose="020B0004020202020204" pitchFamily="34" charset="0"/>
                          <a:ea typeface="+mn-ea"/>
                          <a:cs typeface="+mn-cs"/>
                        </a:rPr>
                        <a:t>09/04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marR="0" lvl="0" indent="-171450" algn="l" defTabSz="914400" rtl="0" eaLnBrk="1" fontAlgn="base" latinLnBrk="0" hangingPunct="1">
                        <a:lnSpc>
                          <a:spcPct val="100000"/>
                        </a:lnSpc>
                        <a:spcBef>
                          <a:spcPts val="200"/>
                        </a:spcBef>
                        <a:spcAft>
                          <a:spcPts val="0"/>
                        </a:spcAft>
                        <a:buClrTx/>
                        <a:buSzTx/>
                        <a:buFont typeface="Arial" panose="020B0604020202020204" pitchFamily="34" charset="0"/>
                        <a:buChar char="•"/>
                        <a:tabLst/>
                        <a:defRPr/>
                      </a:pPr>
                      <a:r>
                        <a:rPr lang="en-US" sz="850" b="0" strike="noStrike" kern="1200">
                          <a:solidFill>
                            <a:schemeClr val="tx1"/>
                          </a:solidFill>
                          <a:effectLst/>
                          <a:latin typeface="Aptos" panose="020B0004020202020204" pitchFamily="34" charset="0"/>
                          <a:ea typeface="+mn-ea"/>
                          <a:cs typeface="+mn-cs"/>
                        </a:rPr>
                        <a:t>Resources are allocated till Sep with the current budget of 75K for Portal Stability. Need more funding for the work planned for Q4.</a:t>
                      </a:r>
                    </a:p>
                    <a:p>
                      <a:pPr marL="171450" marR="0" lvl="0" indent="-171450" algn="l" defTabSz="914400" rtl="0" eaLnBrk="1" fontAlgn="base" latinLnBrk="0" hangingPunct="1">
                        <a:lnSpc>
                          <a:spcPct val="100000"/>
                        </a:lnSpc>
                        <a:spcBef>
                          <a:spcPts val="200"/>
                        </a:spcBef>
                        <a:spcAft>
                          <a:spcPts val="0"/>
                        </a:spcAft>
                        <a:buClrTx/>
                        <a:buSzTx/>
                        <a:buFont typeface="Arial" panose="020B0604020202020204" pitchFamily="34" charset="0"/>
                        <a:buChar char="•"/>
                        <a:tabLst/>
                        <a:defRPr/>
                      </a:pPr>
                      <a:r>
                        <a:rPr lang="en-US" sz="850">
                          <a:latin typeface="Aptos" panose="020B0004020202020204" pitchFamily="34" charset="0"/>
                        </a:rPr>
                        <a:t>CR will be submitted once the additional scope is received for Q4 portal stability work</a:t>
                      </a:r>
                      <a:endParaRPr lang="en-US" sz="850" b="0" strike="noStrike" kern="1200">
                        <a:solidFill>
                          <a:schemeClr val="tx1"/>
                        </a:solidFill>
                        <a:effectLst/>
                        <a:latin typeface="Aptos" panose="020B0004020202020204" pitchFamily="34" charset="0"/>
                        <a:ea typeface="+mn-ea"/>
                        <a:cs typeface="+mn-cs"/>
                      </a:endParaRP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15345549"/>
                  </a:ext>
                </a:extLst>
              </a:tr>
            </a:tbl>
          </a:graphicData>
        </a:graphic>
      </p:graphicFrame>
      <p:sp>
        <p:nvSpPr>
          <p:cNvPr id="33" name="Flowchart: Connector 32">
            <a:extLst>
              <a:ext uri="{FF2B5EF4-FFF2-40B4-BE49-F238E27FC236}">
                <a16:creationId xmlns:a16="http://schemas.microsoft.com/office/drawing/2014/main" id="{796215AD-3D37-0D0E-0280-E1CE56486CA4}"/>
              </a:ext>
            </a:extLst>
          </p:cNvPr>
          <p:cNvSpPr/>
          <p:nvPr/>
        </p:nvSpPr>
        <p:spPr>
          <a:xfrm>
            <a:off x="6737486" y="6560562"/>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Flowchart: Connector 33">
            <a:extLst>
              <a:ext uri="{FF2B5EF4-FFF2-40B4-BE49-F238E27FC236}">
                <a16:creationId xmlns:a16="http://schemas.microsoft.com/office/drawing/2014/main" id="{47FE1F8C-B2D2-1575-CF7B-E005C480EB90}"/>
              </a:ext>
            </a:extLst>
          </p:cNvPr>
          <p:cNvSpPr/>
          <p:nvPr/>
        </p:nvSpPr>
        <p:spPr>
          <a:xfrm>
            <a:off x="7805364" y="6560838"/>
            <a:ext cx="163286" cy="164592"/>
          </a:xfrm>
          <a:prstGeom prst="flowChartConnector">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Flowchart: Connector 35">
            <a:extLst>
              <a:ext uri="{FF2B5EF4-FFF2-40B4-BE49-F238E27FC236}">
                <a16:creationId xmlns:a16="http://schemas.microsoft.com/office/drawing/2014/main" id="{101CC0A5-3BEC-3A51-5642-3DDC3DB43D2C}"/>
              </a:ext>
            </a:extLst>
          </p:cNvPr>
          <p:cNvSpPr/>
          <p:nvPr/>
        </p:nvSpPr>
        <p:spPr>
          <a:xfrm>
            <a:off x="8815408" y="6548833"/>
            <a:ext cx="163285" cy="164592"/>
          </a:xfrm>
          <a:prstGeom prst="flowChartConnector">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Flowchart: Connector 45">
            <a:extLst>
              <a:ext uri="{FF2B5EF4-FFF2-40B4-BE49-F238E27FC236}">
                <a16:creationId xmlns:a16="http://schemas.microsoft.com/office/drawing/2014/main" id="{ECA0A3C2-3A8C-C504-3CF9-550CDF41D622}"/>
              </a:ext>
            </a:extLst>
          </p:cNvPr>
          <p:cNvSpPr/>
          <p:nvPr/>
        </p:nvSpPr>
        <p:spPr>
          <a:xfrm>
            <a:off x="5143033" y="1403331"/>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F40693A9-C57D-8C68-35A4-963010247DA2}"/>
              </a:ext>
            </a:extLst>
          </p:cNvPr>
          <p:cNvSpPr txBox="1"/>
          <p:nvPr/>
        </p:nvSpPr>
        <p:spPr>
          <a:xfrm>
            <a:off x="159545" y="1736087"/>
            <a:ext cx="4743293" cy="3016210"/>
          </a:xfrm>
          <a:prstGeom prst="rect">
            <a:avLst/>
          </a:prstGeom>
          <a:noFill/>
        </p:spPr>
        <p:txBody>
          <a:bodyPr wrap="square" lIns="91440" tIns="45720" rIns="91440" bIns="45720" anchor="t">
            <a:spAutoFit/>
          </a:bodyPr>
          <a:lstStyle/>
          <a:p>
            <a:r>
              <a:rPr lang="en-US" sz="850" b="1">
                <a:latin typeface="Aptos" panose="020B0004020202020204" pitchFamily="34" charset="0"/>
              </a:rPr>
              <a:t>Status: </a:t>
            </a:r>
          </a:p>
          <a:p>
            <a:r>
              <a:rPr lang="en-US" sz="850" kern="100">
                <a:latin typeface="Aptos" panose="020B0004020202020204" pitchFamily="34" charset="0"/>
                <a:cs typeface="Times New Roman"/>
              </a:rPr>
              <a:t>Overall Status: </a:t>
            </a:r>
            <a:r>
              <a:rPr lang="en-US" sz="850" kern="100">
                <a:highlight>
                  <a:srgbClr val="FFFF00"/>
                </a:highlight>
                <a:latin typeface="Aptos" panose="020B0004020202020204" pitchFamily="34" charset="0"/>
                <a:cs typeface="Times New Roman"/>
              </a:rPr>
              <a:t>Yellow </a:t>
            </a:r>
            <a:r>
              <a:rPr lang="en-US" sz="850" kern="100">
                <a:latin typeface="Aptos" panose="020B0004020202020204" pitchFamily="34" charset="0"/>
                <a:cs typeface="Times New Roman"/>
              </a:rPr>
              <a:t>–  Scope is identified and Resources</a:t>
            </a:r>
            <a:r>
              <a:rPr lang="en-US" sz="850">
                <a:latin typeface="Aptos" panose="020B0004020202020204" pitchFamily="34" charset="0"/>
              </a:rPr>
              <a:t> are allocated till Sep for the approved  budget of 75K for Portal Stability. Additional funding required for the work planned for Q4.</a:t>
            </a:r>
            <a:endParaRPr lang="en-US" sz="850">
              <a:highlight>
                <a:srgbClr val="FFFF00"/>
              </a:highlight>
              <a:latin typeface="Aptos" panose="020B0004020202020204" pitchFamily="34" charset="0"/>
            </a:endParaRPr>
          </a:p>
          <a:p>
            <a:r>
              <a:rPr lang="en-US" sz="850" b="1">
                <a:latin typeface="Aptos" panose="020B0004020202020204" pitchFamily="34" charset="0"/>
              </a:rPr>
              <a:t>Path to Green </a:t>
            </a:r>
            <a:r>
              <a:rPr lang="en-US" sz="850">
                <a:latin typeface="Aptos" panose="020B0004020202020204" pitchFamily="34" charset="0"/>
              </a:rPr>
              <a:t>– Requested teams to provide the scope clarity on Portal Stability and high-level effort estimates for Q4 work by 09/04 for CR submission. </a:t>
            </a:r>
            <a:endParaRPr lang="en-US" sz="850" kern="100">
              <a:highlight>
                <a:srgbClr val="FFFF00"/>
              </a:highlight>
              <a:latin typeface="Aptos" panose="020B0004020202020204" pitchFamily="34" charset="0"/>
              <a:cs typeface="Times New Roman"/>
            </a:endParaRPr>
          </a:p>
          <a:p>
            <a:r>
              <a:rPr lang="en-US" sz="850" b="1" kern="100">
                <a:latin typeface="Aptos" panose="020B0004020202020204" pitchFamily="34" charset="0"/>
                <a:cs typeface="Times New Roman"/>
              </a:rPr>
              <a:t>Portal stability</a:t>
            </a:r>
          </a:p>
          <a:p>
            <a:pPr marL="171450" indent="-171450">
              <a:buFont typeface="Arial" panose="020B0604020202020204" pitchFamily="34" charset="0"/>
              <a:buChar char="•"/>
            </a:pPr>
            <a:r>
              <a:rPr lang="en-US" sz="850">
                <a:latin typeface="Aptos" panose="020B0004020202020204" pitchFamily="34" charset="0"/>
              </a:rPr>
              <a:t>Team worked on the scope and the work is in progress for Aug and Sep release activities.</a:t>
            </a:r>
          </a:p>
          <a:p>
            <a:pPr marL="171450" indent="-171450">
              <a:buFont typeface="Arial" panose="020B0604020202020204" pitchFamily="34" charset="0"/>
              <a:buChar char="•"/>
            </a:pPr>
            <a:r>
              <a:rPr lang="en-US" sz="850">
                <a:latin typeface="Aptos" panose="020B0004020202020204" pitchFamily="34" charset="0"/>
              </a:rPr>
              <a:t>The scope is locked based on the window selection of the deployment date. Any new incidents identified after that date will be added to backlog and team will prioritize them accordingly.</a:t>
            </a:r>
          </a:p>
          <a:p>
            <a:pPr marL="171450" indent="-171450">
              <a:buFont typeface="Arial" panose="020B0604020202020204" pitchFamily="34" charset="0"/>
              <a:buChar char="•"/>
            </a:pPr>
            <a:r>
              <a:rPr lang="en-US" sz="850">
                <a:latin typeface="Aptos" panose="020B0004020202020204" pitchFamily="34" charset="0"/>
              </a:rPr>
              <a:t>Prod release for Angular upgrade is rescheduled for 09/09 from 08/26 due to issues identified with the Add-A-PET project changes</a:t>
            </a:r>
          </a:p>
          <a:p>
            <a:pPr marL="171450" indent="-171450">
              <a:buFont typeface="Arial" panose="020B0604020202020204" pitchFamily="34" charset="0"/>
              <a:buChar char="•"/>
            </a:pPr>
            <a:r>
              <a:rPr lang="en-US" sz="850">
                <a:latin typeface="Aptos" panose="020B0004020202020204" pitchFamily="34" charset="0"/>
              </a:rPr>
              <a:t>All issues identified as of 07/31 for the scope item Login / Access / Registration Reliability have been resolved. Any new incidents reported after 07/31 for this scope item will be added to the backlog.</a:t>
            </a:r>
          </a:p>
          <a:p>
            <a:endParaRPr lang="en-US" sz="850">
              <a:latin typeface="Aptos" panose="020B0004020202020204" pitchFamily="34" charset="0"/>
            </a:endParaRPr>
          </a:p>
          <a:p>
            <a:pPr marL="171450" indent="-171450">
              <a:buFont typeface="Arial" panose="020B0604020202020204" pitchFamily="34" charset="0"/>
              <a:buChar char="•"/>
            </a:pPr>
            <a:endParaRPr lang="en-US" sz="850">
              <a:latin typeface="Aptos" panose="020B0004020202020204" pitchFamily="34" charset="0"/>
            </a:endParaRPr>
          </a:p>
          <a:p>
            <a:pPr marL="628650" lvl="1" indent="-171450">
              <a:buFont typeface="Courier New" panose="02070309020205020404" pitchFamily="49" charset="0"/>
              <a:buChar char="o"/>
            </a:pPr>
            <a:endParaRPr lang="en-US" sz="900"/>
          </a:p>
          <a:p>
            <a:pPr lvl="1"/>
            <a:endParaRPr lang="en-US" sz="900"/>
          </a:p>
          <a:p>
            <a:pPr marL="628650" lvl="1" indent="-171450">
              <a:buFont typeface="Courier New" panose="02070309020205020404" pitchFamily="49" charset="0"/>
              <a:buChar char="o"/>
            </a:pPr>
            <a:endParaRPr lang="en-US" sz="900"/>
          </a:p>
          <a:p>
            <a:pPr marL="628650" lvl="1" indent="-171450">
              <a:buFont typeface="Courier New" panose="02070309020205020404" pitchFamily="49" charset="0"/>
              <a:buChar char="o"/>
            </a:pPr>
            <a:endParaRPr lang="en-US" sz="900"/>
          </a:p>
          <a:p>
            <a:pPr marL="628650" lvl="1" indent="-171450">
              <a:buFont typeface="Courier New" panose="02070309020205020404" pitchFamily="49" charset="0"/>
              <a:buChar char="o"/>
            </a:pPr>
            <a:endParaRPr lang="en-US" sz="900"/>
          </a:p>
          <a:p>
            <a:pPr lvl="0"/>
            <a:endParaRPr lang="en-US" sz="900" kern="100">
              <a:cs typeface="Times New Roman"/>
            </a:endParaRPr>
          </a:p>
        </p:txBody>
      </p:sp>
      <p:sp>
        <p:nvSpPr>
          <p:cNvPr id="3" name="TextBox 2">
            <a:extLst>
              <a:ext uri="{FF2B5EF4-FFF2-40B4-BE49-F238E27FC236}">
                <a16:creationId xmlns:a16="http://schemas.microsoft.com/office/drawing/2014/main" id="{A72C3C10-D181-C6A1-F070-47E9A8D04309}"/>
              </a:ext>
            </a:extLst>
          </p:cNvPr>
          <p:cNvSpPr txBox="1"/>
          <p:nvPr/>
        </p:nvSpPr>
        <p:spPr>
          <a:xfrm>
            <a:off x="9723593" y="154295"/>
            <a:ext cx="2275101" cy="517320"/>
          </a:xfrm>
          <a:prstGeom prst="rect">
            <a:avLst/>
          </a:prstGeom>
          <a:noFill/>
        </p:spPr>
        <p:txBody>
          <a:bodyPr wrap="none" lIns="0" tIns="0" rIns="0" bIns="0" rtlCol="0" anchor="t">
            <a:noAutofit/>
          </a:bodyPr>
          <a:lstStyle>
            <a:defPPr>
              <a:defRPr lang="en-US"/>
            </a:defPPr>
            <a:lvl1pPr>
              <a:lnSpc>
                <a:spcPct val="112000"/>
              </a:lnSpc>
              <a:defRPr sz="1200">
                <a:solidFill>
                  <a:prstClr val="black"/>
                </a:solidFill>
                <a:latin typeface="Aptos" panose="02110004020202020204"/>
              </a:defRPr>
            </a:lvl1pPr>
          </a:lstStyle>
          <a:p>
            <a:r>
              <a:rPr lang="en-US"/>
              <a:t>Project Manager :  Dinesh</a:t>
            </a:r>
          </a:p>
          <a:p>
            <a:r>
              <a:rPr lang="en-US" err="1"/>
              <a:t>OpEx</a:t>
            </a:r>
            <a:r>
              <a:rPr lang="en-US"/>
              <a:t> Business Lead: Nidia Gudino</a:t>
            </a:r>
          </a:p>
          <a:p>
            <a:r>
              <a:rPr lang="en-US"/>
              <a:t> </a:t>
            </a:r>
          </a:p>
        </p:txBody>
      </p:sp>
      <p:sp>
        <p:nvSpPr>
          <p:cNvPr id="4" name="Flowchart: Connector 3">
            <a:extLst>
              <a:ext uri="{FF2B5EF4-FFF2-40B4-BE49-F238E27FC236}">
                <a16:creationId xmlns:a16="http://schemas.microsoft.com/office/drawing/2014/main" id="{130D0056-51EE-DBD3-B29D-5081B795EDB3}"/>
              </a:ext>
            </a:extLst>
          </p:cNvPr>
          <p:cNvSpPr/>
          <p:nvPr/>
        </p:nvSpPr>
        <p:spPr>
          <a:xfrm>
            <a:off x="3303638" y="1403331"/>
            <a:ext cx="163285" cy="164592"/>
          </a:xfrm>
          <a:prstGeom prst="flowChartConnector">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aphicFrame>
        <p:nvGraphicFramePr>
          <p:cNvPr id="8" name="Table 7">
            <a:extLst>
              <a:ext uri="{FF2B5EF4-FFF2-40B4-BE49-F238E27FC236}">
                <a16:creationId xmlns:a16="http://schemas.microsoft.com/office/drawing/2014/main" id="{AEB2D384-F18E-F964-5969-4E068CB83A70}"/>
              </a:ext>
            </a:extLst>
          </p:cNvPr>
          <p:cNvGraphicFramePr>
            <a:graphicFrameLocks noGrp="1"/>
          </p:cNvGraphicFramePr>
          <p:nvPr>
            <p:extLst>
              <p:ext uri="{D42A27DB-BD31-4B8C-83A1-F6EECF244321}">
                <p14:modId xmlns:p14="http://schemas.microsoft.com/office/powerpoint/2010/main" val="70291183"/>
              </p:ext>
            </p:extLst>
          </p:nvPr>
        </p:nvGraphicFramePr>
        <p:xfrm>
          <a:off x="269326" y="3856179"/>
          <a:ext cx="4133088" cy="2774950"/>
        </p:xfrm>
        <a:graphic>
          <a:graphicData uri="http://schemas.openxmlformats.org/drawingml/2006/table">
            <a:tbl>
              <a:tblPr>
                <a:tableStyleId>{5C22544A-7EE6-4342-B048-85BDC9FD1C3A}</a:tableStyleId>
              </a:tblPr>
              <a:tblGrid>
                <a:gridCol w="2963727">
                  <a:extLst>
                    <a:ext uri="{9D8B030D-6E8A-4147-A177-3AD203B41FA5}">
                      <a16:colId xmlns:a16="http://schemas.microsoft.com/office/drawing/2014/main" val="3238305244"/>
                    </a:ext>
                  </a:extLst>
                </a:gridCol>
                <a:gridCol w="1169361">
                  <a:extLst>
                    <a:ext uri="{9D8B030D-6E8A-4147-A177-3AD203B41FA5}">
                      <a16:colId xmlns:a16="http://schemas.microsoft.com/office/drawing/2014/main" val="2658209495"/>
                    </a:ext>
                  </a:extLst>
                </a:gridCol>
              </a:tblGrid>
              <a:tr h="184150">
                <a:tc>
                  <a:txBody>
                    <a:bodyPr/>
                    <a:lstStyle/>
                    <a:p>
                      <a:pPr algn="ctr" fontAlgn="ctr">
                        <a:buNone/>
                      </a:pPr>
                      <a:r>
                        <a:rPr lang="en-US" sz="1000" b="1" u="none" strike="noStrike">
                          <a:effectLst/>
                        </a:rPr>
                        <a:t>Portal scope item</a:t>
                      </a:r>
                      <a:endParaRPr lang="en-US" sz="1000" b="1" i="0" u="none" strike="noStrike">
                        <a:solidFill>
                          <a:srgbClr val="FFFFFF"/>
                        </a:solidFill>
                        <a:effectLst/>
                        <a:latin typeface="Arial" panose="020B06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000" b="1" u="none" strike="noStrike">
                          <a:effectLst/>
                        </a:rPr>
                        <a:t>Release</a:t>
                      </a:r>
                      <a:endParaRPr lang="en-US" sz="1000" b="1" i="0" u="none" strike="noStrike">
                        <a:solidFill>
                          <a:srgbClr val="FFFFFF"/>
                        </a:solidFill>
                        <a:effectLst/>
                        <a:latin typeface="Arial" panose="020B06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14414797"/>
                  </a:ext>
                </a:extLst>
              </a:tr>
              <a:tr h="317500">
                <a:tc>
                  <a:txBody>
                    <a:bodyPr/>
                    <a:lstStyle/>
                    <a:p>
                      <a:pPr algn="ctr" fontAlgn="ctr">
                        <a:buNone/>
                      </a:pPr>
                      <a:r>
                        <a:rPr lang="en-US" sz="1000" u="none" strike="noStrike">
                          <a:effectLst/>
                        </a:rPr>
                        <a:t>Widget / security / version upgrades</a:t>
                      </a:r>
                      <a:endParaRPr lang="en-US" sz="1000" b="0" i="0" u="none" strike="noStrike">
                        <a:solidFill>
                          <a:srgbClr val="000000"/>
                        </a:solidFill>
                        <a:effectLst/>
                        <a:latin typeface="Arial" panose="020B06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100" u="none" strike="noStrike">
                          <a:effectLst/>
                        </a:rPr>
                        <a:t>Rel - 1 (Sep)</a:t>
                      </a:r>
                      <a:endParaRPr lang="en-US" sz="1100" b="0" i="0" u="none" strike="noStrike">
                        <a:solidFill>
                          <a:srgbClr val="000000"/>
                        </a:solidFill>
                        <a:effectLst/>
                        <a:latin typeface="Aptos Narrow" panose="020B00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86570267"/>
                  </a:ext>
                </a:extLst>
              </a:tr>
              <a:tr h="184150">
                <a:tc>
                  <a:txBody>
                    <a:bodyPr/>
                    <a:lstStyle/>
                    <a:p>
                      <a:pPr algn="ctr" fontAlgn="ctr">
                        <a:buNone/>
                      </a:pPr>
                      <a:r>
                        <a:rPr lang="en-US" sz="1100" u="none" strike="noStrike">
                          <a:effectLst/>
                        </a:rPr>
                        <a:t>CI/CD Modernization </a:t>
                      </a:r>
                      <a:endParaRPr lang="en-US" sz="1100" b="0" i="0" u="none" strike="noStrike">
                        <a:solidFill>
                          <a:srgbClr val="000000"/>
                        </a:solidFill>
                        <a:effectLst/>
                        <a:latin typeface="Aptos Narrow" panose="020B00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100" u="none" strike="noStrike">
                          <a:effectLst/>
                        </a:rPr>
                        <a:t>Rel-1 (Oct)</a:t>
                      </a:r>
                      <a:endParaRPr lang="en-US" sz="1100" b="0" i="0" u="none" strike="noStrike">
                        <a:solidFill>
                          <a:srgbClr val="000000"/>
                        </a:solidFill>
                        <a:effectLst/>
                        <a:latin typeface="Aptos Narrow" panose="020B00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45399516"/>
                  </a:ext>
                </a:extLst>
              </a:tr>
              <a:tr h="317500">
                <a:tc>
                  <a:txBody>
                    <a:bodyPr/>
                    <a:lstStyle/>
                    <a:p>
                      <a:pPr algn="ctr" fontAlgn="ctr">
                        <a:buNone/>
                      </a:pPr>
                      <a:r>
                        <a:rPr lang="en-US" sz="1000" u="none" strike="noStrike">
                          <a:effectLst/>
                        </a:rPr>
                        <a:t>Login / access / registration reliability</a:t>
                      </a:r>
                      <a:endParaRPr lang="en-US" sz="1000" b="0" i="0" u="none" strike="noStrike">
                        <a:solidFill>
                          <a:srgbClr val="000000"/>
                        </a:solidFill>
                        <a:effectLst/>
                        <a:latin typeface="Arial" panose="020B06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100" u="none" strike="noStrike">
                          <a:effectLst/>
                        </a:rPr>
                        <a:t>Rel - 1 (Aug)</a:t>
                      </a:r>
                      <a:endParaRPr lang="en-US" sz="1100" b="0" i="0" u="none" strike="noStrike">
                        <a:solidFill>
                          <a:srgbClr val="000000"/>
                        </a:solidFill>
                        <a:effectLst/>
                        <a:latin typeface="Aptos Narrow" panose="020B00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62604842"/>
                  </a:ext>
                </a:extLst>
              </a:tr>
              <a:tr h="317500">
                <a:tc>
                  <a:txBody>
                    <a:bodyPr/>
                    <a:lstStyle/>
                    <a:p>
                      <a:pPr algn="ctr" fontAlgn="ctr">
                        <a:buNone/>
                      </a:pPr>
                      <a:r>
                        <a:rPr lang="en-US" sz="1000" u="none" strike="noStrike">
                          <a:effectLst/>
                        </a:rPr>
                        <a:t>Code cleanup / memory leak / type safety </a:t>
                      </a:r>
                      <a:endParaRPr lang="en-US" sz="1000" b="0" i="0" u="none" strike="noStrike">
                        <a:solidFill>
                          <a:srgbClr val="000000"/>
                        </a:solidFill>
                        <a:effectLst/>
                        <a:latin typeface="Arial" panose="020B06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100" u="none" strike="noStrike">
                          <a:effectLst/>
                        </a:rPr>
                        <a:t>Rel - 1 (Sep)</a:t>
                      </a:r>
                      <a:endParaRPr lang="en-US" sz="1100" b="0" i="0" u="none" strike="noStrike">
                        <a:solidFill>
                          <a:srgbClr val="000000"/>
                        </a:solidFill>
                        <a:effectLst/>
                        <a:latin typeface="Aptos Narrow" panose="020B00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13586815"/>
                  </a:ext>
                </a:extLst>
              </a:tr>
              <a:tr h="317500">
                <a:tc>
                  <a:txBody>
                    <a:bodyPr/>
                    <a:lstStyle/>
                    <a:p>
                      <a:pPr algn="ctr" fontAlgn="ctr">
                        <a:buNone/>
                      </a:pPr>
                      <a:r>
                        <a:rPr lang="en-US" sz="1000" u="none" strike="noStrike">
                          <a:effectLst/>
                        </a:rPr>
                        <a:t>Apigee / API alignment </a:t>
                      </a:r>
                      <a:endParaRPr lang="en-US" sz="1000" b="0" i="0" u="none" strike="noStrike">
                        <a:solidFill>
                          <a:srgbClr val="000000"/>
                        </a:solidFill>
                        <a:effectLst/>
                        <a:latin typeface="Arial" panose="020B06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100" u="none" strike="noStrike">
                          <a:effectLst/>
                        </a:rPr>
                        <a:t>Rel - 1 (Sep)</a:t>
                      </a:r>
                      <a:endParaRPr lang="en-US" sz="1100" b="0" i="0" u="none" strike="noStrike">
                        <a:solidFill>
                          <a:srgbClr val="000000"/>
                        </a:solidFill>
                        <a:effectLst/>
                        <a:latin typeface="Aptos Narrow" panose="020B00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26127437"/>
                  </a:ext>
                </a:extLst>
              </a:tr>
              <a:tr h="317500">
                <a:tc>
                  <a:txBody>
                    <a:bodyPr/>
                    <a:lstStyle/>
                    <a:p>
                      <a:pPr algn="ctr" fontAlgn="ctr">
                        <a:buNone/>
                      </a:pPr>
                      <a:r>
                        <a:rPr lang="en-US" sz="1000" u="none" strike="noStrike">
                          <a:effectLst/>
                        </a:rPr>
                        <a:t>Remove chatty / redundant API calls </a:t>
                      </a:r>
                      <a:endParaRPr lang="en-US" sz="1000" b="0" i="0" u="none" strike="noStrike">
                        <a:solidFill>
                          <a:srgbClr val="000000"/>
                        </a:solidFill>
                        <a:effectLst/>
                        <a:latin typeface="Arial" panose="020B06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100" u="none" strike="noStrike">
                          <a:effectLst/>
                        </a:rPr>
                        <a:t>Rel - 1 (Sep)</a:t>
                      </a:r>
                      <a:endParaRPr lang="en-US" sz="1100" b="0" i="0" u="none" strike="noStrike">
                        <a:solidFill>
                          <a:srgbClr val="000000"/>
                        </a:solidFill>
                        <a:effectLst/>
                        <a:latin typeface="Aptos Narrow" panose="020B00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40438063"/>
                  </a:ext>
                </a:extLst>
              </a:tr>
              <a:tr h="184150">
                <a:tc>
                  <a:txBody>
                    <a:bodyPr/>
                    <a:lstStyle/>
                    <a:p>
                      <a:pPr algn="ctr" fontAlgn="ctr">
                        <a:buNone/>
                      </a:pPr>
                      <a:r>
                        <a:rPr lang="en-US" sz="1000" u="none" strike="noStrike">
                          <a:effectLst/>
                        </a:rPr>
                        <a:t>Claim submission reliability</a:t>
                      </a:r>
                      <a:endParaRPr lang="en-US" sz="1000" b="0" i="0" u="none" strike="noStrike">
                        <a:solidFill>
                          <a:srgbClr val="000000"/>
                        </a:solidFill>
                        <a:effectLst/>
                        <a:latin typeface="Arial" panose="020B06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100" u="none" strike="noStrike">
                          <a:effectLst/>
                        </a:rPr>
                        <a:t>Rel - 2 (Oct)</a:t>
                      </a:r>
                      <a:endParaRPr lang="en-US" sz="1100" b="0" i="0" u="none" strike="noStrike">
                        <a:solidFill>
                          <a:srgbClr val="000000"/>
                        </a:solidFill>
                        <a:effectLst/>
                        <a:latin typeface="Aptos Narrow" panose="020B00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46833903"/>
                  </a:ext>
                </a:extLst>
              </a:tr>
              <a:tr h="317500">
                <a:tc>
                  <a:txBody>
                    <a:bodyPr/>
                    <a:lstStyle/>
                    <a:p>
                      <a:pPr algn="ctr" fontAlgn="ctr">
                        <a:buNone/>
                      </a:pPr>
                      <a:r>
                        <a:rPr lang="en-US" sz="1000" u="none" strike="noStrike">
                          <a:effectLst/>
                        </a:rPr>
                        <a:t>Payments / enrollment / billing reliability</a:t>
                      </a:r>
                      <a:endParaRPr lang="en-US" sz="1000" b="0" i="0" u="none" strike="noStrike">
                        <a:solidFill>
                          <a:srgbClr val="000000"/>
                        </a:solidFill>
                        <a:effectLst/>
                        <a:latin typeface="Arial" panose="020B06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100" u="none" strike="noStrike">
                          <a:effectLst/>
                        </a:rPr>
                        <a:t>Rel - 2 (Oct)</a:t>
                      </a:r>
                      <a:endParaRPr lang="en-US" sz="1100" b="0" i="0" u="none" strike="noStrike">
                        <a:solidFill>
                          <a:srgbClr val="000000"/>
                        </a:solidFill>
                        <a:effectLst/>
                        <a:latin typeface="Aptos Narrow" panose="020B00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6627187"/>
                  </a:ext>
                </a:extLst>
              </a:tr>
              <a:tr h="317500">
                <a:tc>
                  <a:txBody>
                    <a:bodyPr/>
                    <a:lstStyle/>
                    <a:p>
                      <a:pPr algn="ctr" fontAlgn="ctr">
                        <a:buNone/>
                      </a:pPr>
                      <a:r>
                        <a:rPr lang="en-US" sz="1000" u="none" strike="noStrike">
                          <a:effectLst/>
                        </a:rPr>
                        <a:t>Config and performance optimization </a:t>
                      </a:r>
                      <a:endParaRPr lang="en-US" sz="1000" b="0" i="0" u="none" strike="noStrike">
                        <a:solidFill>
                          <a:srgbClr val="000000"/>
                        </a:solidFill>
                        <a:effectLst/>
                        <a:latin typeface="Arial" panose="020B06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100" u="none" strike="noStrike">
                          <a:effectLst/>
                        </a:rPr>
                        <a:t>Rel - 1 (Aug)</a:t>
                      </a:r>
                      <a:endParaRPr lang="en-US" sz="1100" b="0" i="0" u="none" strike="noStrike">
                        <a:solidFill>
                          <a:srgbClr val="000000"/>
                        </a:solidFill>
                        <a:effectLst/>
                        <a:latin typeface="Aptos Narrow" panose="020B00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55684449"/>
                  </a:ext>
                </a:extLst>
              </a:tr>
            </a:tbl>
          </a:graphicData>
        </a:graphic>
      </p:graphicFrame>
      <p:sp>
        <p:nvSpPr>
          <p:cNvPr id="22" name="Flowchart: Connector 21">
            <a:extLst>
              <a:ext uri="{FF2B5EF4-FFF2-40B4-BE49-F238E27FC236}">
                <a16:creationId xmlns:a16="http://schemas.microsoft.com/office/drawing/2014/main" id="{DCE2832C-4C63-628B-1EC6-175362C72DDD}"/>
              </a:ext>
            </a:extLst>
          </p:cNvPr>
          <p:cNvSpPr/>
          <p:nvPr/>
        </p:nvSpPr>
        <p:spPr>
          <a:xfrm>
            <a:off x="7788342" y="4229393"/>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lowchart: Connector 9">
            <a:extLst>
              <a:ext uri="{FF2B5EF4-FFF2-40B4-BE49-F238E27FC236}">
                <a16:creationId xmlns:a16="http://schemas.microsoft.com/office/drawing/2014/main" id="{32BF9468-8BB9-C371-9D25-43E97201597C}"/>
              </a:ext>
            </a:extLst>
          </p:cNvPr>
          <p:cNvSpPr/>
          <p:nvPr/>
        </p:nvSpPr>
        <p:spPr>
          <a:xfrm>
            <a:off x="4239129" y="1387499"/>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lowchart: Connector 14">
            <a:extLst>
              <a:ext uri="{FF2B5EF4-FFF2-40B4-BE49-F238E27FC236}">
                <a16:creationId xmlns:a16="http://schemas.microsoft.com/office/drawing/2014/main" id="{72304ADC-D361-FEB7-0E11-9D8BFD451EC0}"/>
              </a:ext>
            </a:extLst>
          </p:cNvPr>
          <p:cNvSpPr/>
          <p:nvPr/>
        </p:nvSpPr>
        <p:spPr>
          <a:xfrm>
            <a:off x="6096000" y="1403331"/>
            <a:ext cx="163285" cy="164592"/>
          </a:xfrm>
          <a:prstGeom prst="flowChartConnector">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 name="Flowchart: Connector 11">
            <a:extLst>
              <a:ext uri="{FF2B5EF4-FFF2-40B4-BE49-F238E27FC236}">
                <a16:creationId xmlns:a16="http://schemas.microsoft.com/office/drawing/2014/main" id="{61026C68-A630-016E-CDCF-0B683A00C2C9}"/>
              </a:ext>
            </a:extLst>
          </p:cNvPr>
          <p:cNvSpPr/>
          <p:nvPr/>
        </p:nvSpPr>
        <p:spPr>
          <a:xfrm>
            <a:off x="7776854" y="2760441"/>
            <a:ext cx="163285" cy="164592"/>
          </a:xfrm>
          <a:prstGeom prst="flowChartConnector">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Flowchart: Connector 27">
            <a:extLst>
              <a:ext uri="{FF2B5EF4-FFF2-40B4-BE49-F238E27FC236}">
                <a16:creationId xmlns:a16="http://schemas.microsoft.com/office/drawing/2014/main" id="{43C895D4-5A99-1887-11E8-B31F86C7D74C}"/>
              </a:ext>
            </a:extLst>
          </p:cNvPr>
          <p:cNvSpPr/>
          <p:nvPr/>
        </p:nvSpPr>
        <p:spPr>
          <a:xfrm>
            <a:off x="7776854" y="4670001"/>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lowchart: Connector 30">
            <a:extLst>
              <a:ext uri="{FF2B5EF4-FFF2-40B4-BE49-F238E27FC236}">
                <a16:creationId xmlns:a16="http://schemas.microsoft.com/office/drawing/2014/main" id="{61C5BE1A-1622-2ED0-A606-17938ABE25AE}"/>
              </a:ext>
            </a:extLst>
          </p:cNvPr>
          <p:cNvSpPr/>
          <p:nvPr/>
        </p:nvSpPr>
        <p:spPr>
          <a:xfrm>
            <a:off x="7758567" y="5975696"/>
            <a:ext cx="163285" cy="164592"/>
          </a:xfrm>
          <a:prstGeom prst="flowChartConnector">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Flowchart: Connector 6">
            <a:extLst>
              <a:ext uri="{FF2B5EF4-FFF2-40B4-BE49-F238E27FC236}">
                <a16:creationId xmlns:a16="http://schemas.microsoft.com/office/drawing/2014/main" id="{2D638063-A90B-8FA0-0563-FD608935F49F}"/>
              </a:ext>
            </a:extLst>
          </p:cNvPr>
          <p:cNvSpPr/>
          <p:nvPr/>
        </p:nvSpPr>
        <p:spPr>
          <a:xfrm>
            <a:off x="7776854" y="5030094"/>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128176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DAE190-6FAA-DDD5-C9F0-DB7429CEEFE6}"/>
            </a:ext>
          </a:extLst>
        </p:cNvPr>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879A2F30-BC8F-9CE9-C300-1989B74D23A7}"/>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8" imgH="408" progId="TCLayout.ActiveDocument.1">
                  <p:embed/>
                </p:oleObj>
              </mc:Choice>
              <mc:Fallback>
                <p:oleObj name="think-cell Slide" r:id="rId4" imgW="408" imgH="408" progId="TCLayout.ActiveDocument.1">
                  <p:embed/>
                  <p:pic>
                    <p:nvPicPr>
                      <p:cNvPr id="9" name="think-cell data - do not delete" hidden="1">
                        <a:extLst>
                          <a:ext uri="{FF2B5EF4-FFF2-40B4-BE49-F238E27FC236}">
                            <a16:creationId xmlns:a16="http://schemas.microsoft.com/office/drawing/2014/main" id="{879A2F30-BC8F-9CE9-C300-1989B74D23A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graphicFrame>
        <p:nvGraphicFramePr>
          <p:cNvPr id="32" name="Group 614">
            <a:extLst>
              <a:ext uri="{FF2B5EF4-FFF2-40B4-BE49-F238E27FC236}">
                <a16:creationId xmlns:a16="http://schemas.microsoft.com/office/drawing/2014/main" id="{E660F84A-0BB4-AA46-7EAC-DFC086AC6455}"/>
              </a:ext>
            </a:extLst>
          </p:cNvPr>
          <p:cNvGraphicFramePr>
            <a:graphicFrameLocks noGrp="1"/>
          </p:cNvGraphicFramePr>
          <p:nvPr>
            <p:extLst>
              <p:ext uri="{D42A27DB-BD31-4B8C-83A1-F6EECF244321}">
                <p14:modId xmlns:p14="http://schemas.microsoft.com/office/powerpoint/2010/main" val="2037562229"/>
              </p:ext>
            </p:extLst>
          </p:nvPr>
        </p:nvGraphicFramePr>
        <p:xfrm>
          <a:off x="4980035" y="6376377"/>
          <a:ext cx="7136859" cy="386554"/>
        </p:xfrm>
        <a:graphic>
          <a:graphicData uri="http://schemas.openxmlformats.org/drawingml/2006/table">
            <a:tbl>
              <a:tblPr/>
              <a:tblGrid>
                <a:gridCol w="606425">
                  <a:extLst>
                    <a:ext uri="{9D8B030D-6E8A-4147-A177-3AD203B41FA5}">
                      <a16:colId xmlns:a16="http://schemas.microsoft.com/office/drawing/2014/main" val="20000"/>
                    </a:ext>
                  </a:extLst>
                </a:gridCol>
                <a:gridCol w="307361">
                  <a:extLst>
                    <a:ext uri="{9D8B030D-6E8A-4147-A177-3AD203B41FA5}">
                      <a16:colId xmlns:a16="http://schemas.microsoft.com/office/drawing/2014/main" val="20001"/>
                    </a:ext>
                  </a:extLst>
                </a:gridCol>
                <a:gridCol w="757584">
                  <a:extLst>
                    <a:ext uri="{9D8B030D-6E8A-4147-A177-3AD203B41FA5}">
                      <a16:colId xmlns:a16="http://schemas.microsoft.com/office/drawing/2014/main" val="20002"/>
                    </a:ext>
                  </a:extLst>
                </a:gridCol>
                <a:gridCol w="302812">
                  <a:extLst>
                    <a:ext uri="{9D8B030D-6E8A-4147-A177-3AD203B41FA5}">
                      <a16:colId xmlns:a16="http://schemas.microsoft.com/office/drawing/2014/main" val="20003"/>
                    </a:ext>
                  </a:extLst>
                </a:gridCol>
                <a:gridCol w="665317">
                  <a:extLst>
                    <a:ext uri="{9D8B030D-6E8A-4147-A177-3AD203B41FA5}">
                      <a16:colId xmlns:a16="http://schemas.microsoft.com/office/drawing/2014/main" val="20004"/>
                    </a:ext>
                  </a:extLst>
                </a:gridCol>
                <a:gridCol w="518025">
                  <a:extLst>
                    <a:ext uri="{9D8B030D-6E8A-4147-A177-3AD203B41FA5}">
                      <a16:colId xmlns:a16="http://schemas.microsoft.com/office/drawing/2014/main" val="20005"/>
                    </a:ext>
                  </a:extLst>
                </a:gridCol>
                <a:gridCol w="568469">
                  <a:extLst>
                    <a:ext uri="{9D8B030D-6E8A-4147-A177-3AD203B41FA5}">
                      <a16:colId xmlns:a16="http://schemas.microsoft.com/office/drawing/2014/main" val="20006"/>
                    </a:ext>
                  </a:extLst>
                </a:gridCol>
                <a:gridCol w="368983">
                  <a:extLst>
                    <a:ext uri="{9D8B030D-6E8A-4147-A177-3AD203B41FA5}">
                      <a16:colId xmlns:a16="http://schemas.microsoft.com/office/drawing/2014/main" val="20007"/>
                    </a:ext>
                  </a:extLst>
                </a:gridCol>
                <a:gridCol w="1372005">
                  <a:extLst>
                    <a:ext uri="{9D8B030D-6E8A-4147-A177-3AD203B41FA5}">
                      <a16:colId xmlns:a16="http://schemas.microsoft.com/office/drawing/2014/main" val="20008"/>
                    </a:ext>
                  </a:extLst>
                </a:gridCol>
                <a:gridCol w="378212">
                  <a:extLst>
                    <a:ext uri="{9D8B030D-6E8A-4147-A177-3AD203B41FA5}">
                      <a16:colId xmlns:a16="http://schemas.microsoft.com/office/drawing/2014/main" val="20009"/>
                    </a:ext>
                  </a:extLst>
                </a:gridCol>
                <a:gridCol w="1291666">
                  <a:extLst>
                    <a:ext uri="{9D8B030D-6E8A-4147-A177-3AD203B41FA5}">
                      <a16:colId xmlns:a16="http://schemas.microsoft.com/office/drawing/2014/main" val="20010"/>
                    </a:ext>
                  </a:extLst>
                </a:gridCol>
              </a:tblGrid>
              <a:tr h="386554">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Arial" charset="0"/>
                          <a:cs typeface="Arial" charset="0"/>
                        </a:rPr>
                        <a:t>Status Key</a:t>
                      </a:r>
                      <a:endParaRPr kumimoji="0" lang="en-GB" sz="1600" b="0" i="0" u="none" strike="noStrike" cap="none" normalizeH="0" baseline="0">
                        <a:ln>
                          <a:noFill/>
                        </a:ln>
                        <a:solidFill>
                          <a:srgbClr val="002060"/>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mj-lt"/>
                        </a:rPr>
                        <a:t>C</a:t>
                      </a: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Arial" charset="0"/>
                          <a:cs typeface="Arial" charset="0"/>
                        </a:rPr>
                        <a:t>Completed</a:t>
                      </a:r>
                      <a:endParaRPr kumimoji="0" lang="en-GB" sz="1600" b="0" i="0" u="none" strike="noStrike" cap="none" normalizeH="0" baseline="0">
                        <a:ln>
                          <a:noFill/>
                        </a:ln>
                        <a:solidFill>
                          <a:srgbClr val="002060"/>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On-Schedule</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Major Issues</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Some Issues</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NS</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Not Started</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2" name="Title 1">
            <a:extLst>
              <a:ext uri="{FF2B5EF4-FFF2-40B4-BE49-F238E27FC236}">
                <a16:creationId xmlns:a16="http://schemas.microsoft.com/office/drawing/2014/main" id="{BC3CA7F3-B696-E88B-35F3-A81A38AAF467}"/>
              </a:ext>
            </a:extLst>
          </p:cNvPr>
          <p:cNvSpPr>
            <a:spLocks noGrp="1"/>
          </p:cNvSpPr>
          <p:nvPr>
            <p:ph type="title"/>
          </p:nvPr>
        </p:nvSpPr>
        <p:spPr>
          <a:xfrm>
            <a:off x="269945" y="288346"/>
            <a:ext cx="11652110" cy="517320"/>
          </a:xfrm>
        </p:spPr>
        <p:txBody>
          <a:bodyPr vert="horz">
            <a:normAutofit fontScale="90000"/>
          </a:bodyPr>
          <a:lstStyle/>
          <a:p>
            <a:r>
              <a:rPr lang="en-US" sz="2700" b="1">
                <a:solidFill>
                  <a:srgbClr val="29389F"/>
                </a:solidFill>
                <a:latin typeface="Arial" panose="020B0604020202020204" pitchFamily="34" charset="0"/>
                <a:cs typeface="Arial" panose="020B0604020202020204" pitchFamily="34" charset="0"/>
              </a:rPr>
              <a:t>GIN / Batch Stabilization</a:t>
            </a:r>
            <a:br>
              <a:rPr lang="en-US"/>
            </a:br>
            <a:endParaRPr sz="1800" b="0"/>
          </a:p>
        </p:txBody>
      </p:sp>
      <p:graphicFrame>
        <p:nvGraphicFramePr>
          <p:cNvPr id="11" name="Group 513">
            <a:extLst>
              <a:ext uri="{FF2B5EF4-FFF2-40B4-BE49-F238E27FC236}">
                <a16:creationId xmlns:a16="http://schemas.microsoft.com/office/drawing/2014/main" id="{1BDDA027-41B8-A277-632C-4FF24D80B817}"/>
              </a:ext>
            </a:extLst>
          </p:cNvPr>
          <p:cNvGraphicFramePr>
            <a:graphicFrameLocks noGrp="1"/>
          </p:cNvGraphicFramePr>
          <p:nvPr>
            <p:extLst>
              <p:ext uri="{D42A27DB-BD31-4B8C-83A1-F6EECF244321}">
                <p14:modId xmlns:p14="http://schemas.microsoft.com/office/powerpoint/2010/main" val="4005941608"/>
              </p:ext>
            </p:extLst>
          </p:nvPr>
        </p:nvGraphicFramePr>
        <p:xfrm>
          <a:off x="234455" y="927650"/>
          <a:ext cx="2638218" cy="344301"/>
        </p:xfrm>
        <a:graphic>
          <a:graphicData uri="http://schemas.openxmlformats.org/drawingml/2006/table">
            <a:tbl>
              <a:tblPr/>
              <a:tblGrid>
                <a:gridCol w="984745">
                  <a:extLst>
                    <a:ext uri="{9D8B030D-6E8A-4147-A177-3AD203B41FA5}">
                      <a16:colId xmlns:a16="http://schemas.microsoft.com/office/drawing/2014/main" val="20000"/>
                    </a:ext>
                  </a:extLst>
                </a:gridCol>
                <a:gridCol w="1653473">
                  <a:extLst>
                    <a:ext uri="{9D8B030D-6E8A-4147-A177-3AD203B41FA5}">
                      <a16:colId xmlns:a16="http://schemas.microsoft.com/office/drawing/2014/main" val="20001"/>
                    </a:ext>
                  </a:extLst>
                </a:gridCol>
              </a:tblGrid>
              <a:tr h="344301">
                <a:tc>
                  <a:txBody>
                    <a:bodyPr/>
                    <a:lstStyle/>
                    <a:p>
                      <a:pPr marL="0" marR="0" lvl="0" indent="0" algn="l" defTabSz="914400" rtl="0" eaLnBrk="0" fontAlgn="base" latinLnBrk="0" hangingPunct="0">
                        <a:lnSpc>
                          <a:spcPct val="95000"/>
                        </a:lnSpc>
                        <a:spcBef>
                          <a:spcPct val="0"/>
                        </a:spcBef>
                        <a:spcAft>
                          <a:spcPct val="50000"/>
                        </a:spcAft>
                        <a:buClrTx/>
                        <a:buSzTx/>
                        <a:buFontTx/>
                        <a:buNone/>
                        <a:tabLst/>
                      </a:pPr>
                      <a:r>
                        <a:rPr kumimoji="0" lang="en-GB" sz="1050" b="1" i="0" u="none" strike="noStrike" kern="1200" cap="none" normalizeH="0" baseline="0">
                          <a:ln>
                            <a:noFill/>
                          </a:ln>
                          <a:solidFill>
                            <a:schemeClr val="bg1"/>
                          </a:solidFill>
                          <a:effectLst/>
                          <a:latin typeface="Arial"/>
                          <a:ea typeface="+mn-ea"/>
                          <a:cs typeface="+mn-cs"/>
                        </a:rPr>
                        <a:t>Status Date:</a:t>
                      </a:r>
                    </a:p>
                  </a:txBody>
                  <a:tcPr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GB" sz="850" b="1" i="0" u="none" strike="noStrike" kern="1200" cap="none" normalizeH="0" baseline="0">
                          <a:ln>
                            <a:noFill/>
                          </a:ln>
                          <a:solidFill>
                            <a:schemeClr val="tx1"/>
                          </a:solidFill>
                          <a:effectLst/>
                          <a:latin typeface="Aptos" panose="020B0004020202020204" pitchFamily="34" charset="0"/>
                          <a:ea typeface="+mn-ea"/>
                          <a:cs typeface="+mn-cs"/>
                        </a:rPr>
                        <a:t>08/28/2026</a:t>
                      </a:r>
                    </a:p>
                  </a:txBody>
                  <a:tcPr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14" name="Table 13">
            <a:extLst>
              <a:ext uri="{FF2B5EF4-FFF2-40B4-BE49-F238E27FC236}">
                <a16:creationId xmlns:a16="http://schemas.microsoft.com/office/drawing/2014/main" id="{6D8265E6-4817-193A-F0C4-3A24A6F72856}"/>
              </a:ext>
            </a:extLst>
          </p:cNvPr>
          <p:cNvGraphicFramePr>
            <a:graphicFrameLocks noGrp="1"/>
          </p:cNvGraphicFramePr>
          <p:nvPr>
            <p:extLst>
              <p:ext uri="{D42A27DB-BD31-4B8C-83A1-F6EECF244321}">
                <p14:modId xmlns:p14="http://schemas.microsoft.com/office/powerpoint/2010/main" val="2157023518"/>
              </p:ext>
            </p:extLst>
          </p:nvPr>
        </p:nvGraphicFramePr>
        <p:xfrm>
          <a:off x="6640300" y="922493"/>
          <a:ext cx="5474160" cy="745146"/>
        </p:xfrm>
        <a:graphic>
          <a:graphicData uri="http://schemas.openxmlformats.org/drawingml/2006/table">
            <a:tbl>
              <a:tblPr>
                <a:tableStyleId>{5C22544A-7EE6-4342-B048-85BDC9FD1C3A}</a:tableStyleId>
              </a:tblPr>
              <a:tblGrid>
                <a:gridCol w="1289290">
                  <a:extLst>
                    <a:ext uri="{9D8B030D-6E8A-4147-A177-3AD203B41FA5}">
                      <a16:colId xmlns:a16="http://schemas.microsoft.com/office/drawing/2014/main" val="2456552316"/>
                    </a:ext>
                  </a:extLst>
                </a:gridCol>
                <a:gridCol w="1142732">
                  <a:extLst>
                    <a:ext uri="{9D8B030D-6E8A-4147-A177-3AD203B41FA5}">
                      <a16:colId xmlns:a16="http://schemas.microsoft.com/office/drawing/2014/main" val="2327174630"/>
                    </a:ext>
                  </a:extLst>
                </a:gridCol>
                <a:gridCol w="1868521">
                  <a:extLst>
                    <a:ext uri="{9D8B030D-6E8A-4147-A177-3AD203B41FA5}">
                      <a16:colId xmlns:a16="http://schemas.microsoft.com/office/drawing/2014/main" val="1100051595"/>
                    </a:ext>
                  </a:extLst>
                </a:gridCol>
                <a:gridCol w="1173617">
                  <a:extLst>
                    <a:ext uri="{9D8B030D-6E8A-4147-A177-3AD203B41FA5}">
                      <a16:colId xmlns:a16="http://schemas.microsoft.com/office/drawing/2014/main" val="2815874248"/>
                    </a:ext>
                  </a:extLst>
                </a:gridCol>
              </a:tblGrid>
              <a:tr h="389248">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2026 Budget</a:t>
                      </a:r>
                      <a:r>
                        <a:rPr lang="en-US" sz="1050" b="1" i="0" u="none" strike="noStrike" kern="1200" cap="none" normalizeH="0" baseline="0">
                          <a:ln>
                            <a:noFill/>
                          </a:ln>
                          <a:solidFill>
                            <a:schemeClr val="bg1"/>
                          </a:solidFill>
                          <a:effectLst/>
                          <a:latin typeface="Arial"/>
                          <a:ea typeface="+mn-ea"/>
                          <a:cs typeface="+mn-cs"/>
                        </a:rPr>
                        <a:t> </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YTD Actuals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Remaining 2026 Forecast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Total Budget</a:t>
                      </a:r>
                      <a:r>
                        <a:rPr lang="en-US" sz="1050" b="1" i="0" u="none" strike="noStrike" kern="1200" cap="none" normalizeH="0" baseline="0">
                          <a:ln>
                            <a:noFill/>
                          </a:ln>
                          <a:solidFill>
                            <a:schemeClr val="bg1"/>
                          </a:solidFill>
                          <a:effectLst/>
                          <a:latin typeface="Arial"/>
                          <a:ea typeface="+mn-ea"/>
                          <a:cs typeface="+mn-cs"/>
                        </a:rPr>
                        <a:t> </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355898">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$425,000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$243,318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defRPr/>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$386,168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$663,871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7499024"/>
                  </a:ext>
                </a:extLst>
              </a:tr>
            </a:tbl>
          </a:graphicData>
        </a:graphic>
      </p:graphicFrame>
      <p:graphicFrame>
        <p:nvGraphicFramePr>
          <p:cNvPr id="25" name="Table 24">
            <a:extLst>
              <a:ext uri="{FF2B5EF4-FFF2-40B4-BE49-F238E27FC236}">
                <a16:creationId xmlns:a16="http://schemas.microsoft.com/office/drawing/2014/main" id="{0B16CE86-785B-5D2E-E23C-55B960B47886}"/>
              </a:ext>
            </a:extLst>
          </p:cNvPr>
          <p:cNvGraphicFramePr>
            <a:graphicFrameLocks noGrp="1"/>
          </p:cNvGraphicFramePr>
          <p:nvPr/>
        </p:nvGraphicFramePr>
        <p:xfrm>
          <a:off x="2811025" y="920667"/>
          <a:ext cx="3829275" cy="749848"/>
        </p:xfrm>
        <a:graphic>
          <a:graphicData uri="http://schemas.openxmlformats.org/drawingml/2006/table">
            <a:tbl>
              <a:tblPr>
                <a:tableStyleId>{5C22544A-7EE6-4342-B048-85BDC9FD1C3A}</a:tableStyleId>
              </a:tblPr>
              <a:tblGrid>
                <a:gridCol w="1042158">
                  <a:extLst>
                    <a:ext uri="{9D8B030D-6E8A-4147-A177-3AD203B41FA5}">
                      <a16:colId xmlns:a16="http://schemas.microsoft.com/office/drawing/2014/main" val="2456552316"/>
                    </a:ext>
                  </a:extLst>
                </a:gridCol>
                <a:gridCol w="961214">
                  <a:extLst>
                    <a:ext uri="{9D8B030D-6E8A-4147-A177-3AD203B41FA5}">
                      <a16:colId xmlns:a16="http://schemas.microsoft.com/office/drawing/2014/main" val="1100051595"/>
                    </a:ext>
                  </a:extLst>
                </a:gridCol>
                <a:gridCol w="920742">
                  <a:extLst>
                    <a:ext uri="{9D8B030D-6E8A-4147-A177-3AD203B41FA5}">
                      <a16:colId xmlns:a16="http://schemas.microsoft.com/office/drawing/2014/main" val="2042261034"/>
                    </a:ext>
                  </a:extLst>
                </a:gridCol>
                <a:gridCol w="905161">
                  <a:extLst>
                    <a:ext uri="{9D8B030D-6E8A-4147-A177-3AD203B41FA5}">
                      <a16:colId xmlns:a16="http://schemas.microsoft.com/office/drawing/2014/main" val="2815874248"/>
                    </a:ext>
                  </a:extLst>
                </a:gridCol>
              </a:tblGrid>
              <a:tr h="409508">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Overall</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Scope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Schedule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Financials</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340340">
                <a:tc>
                  <a:txBody>
                    <a:bodyPr/>
                    <a:lstStyle/>
                    <a:p>
                      <a:pPr marL="0" marR="0" lvl="0" indent="0" algn="ctr" rtl="0" eaLnBrk="1" fontAlgn="ctr" latinLnBrk="0" hangingPunct="1">
                        <a:lnSpc>
                          <a:spcPct val="95000"/>
                        </a:lnSpc>
                        <a:spcBef>
                          <a:spcPct val="0"/>
                        </a:spcBef>
                        <a:spcAft>
                          <a:spcPct val="50000"/>
                        </a:spcAft>
                        <a:buClrTx/>
                        <a:buSzTx/>
                        <a:buFontTx/>
                        <a:buNone/>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rtl="0" eaLnBrk="1" fontAlgn="ctr" latinLnBrk="0" hangingPunct="1">
                        <a:lnSpc>
                          <a:spcPct val="95000"/>
                        </a:lnSpc>
                        <a:spcBef>
                          <a:spcPct val="0"/>
                        </a:spcBef>
                        <a:spcAft>
                          <a:spcPct val="50000"/>
                        </a:spcAft>
                        <a:buClrTx/>
                        <a:buSzTx/>
                        <a:buFontTx/>
                        <a:buNone/>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7499024"/>
                  </a:ext>
                </a:extLst>
              </a:tr>
            </a:tbl>
          </a:graphicData>
        </a:graphic>
      </p:graphicFrame>
      <p:graphicFrame>
        <p:nvGraphicFramePr>
          <p:cNvPr id="26" name="Group 513">
            <a:extLst>
              <a:ext uri="{FF2B5EF4-FFF2-40B4-BE49-F238E27FC236}">
                <a16:creationId xmlns:a16="http://schemas.microsoft.com/office/drawing/2014/main" id="{E63F0AD4-0A37-1C5D-68BE-D9BEC0BD6A22}"/>
              </a:ext>
            </a:extLst>
          </p:cNvPr>
          <p:cNvGraphicFramePr>
            <a:graphicFrameLocks noGrp="1"/>
          </p:cNvGraphicFramePr>
          <p:nvPr>
            <p:extLst>
              <p:ext uri="{D42A27DB-BD31-4B8C-83A1-F6EECF244321}">
                <p14:modId xmlns:p14="http://schemas.microsoft.com/office/powerpoint/2010/main" val="208315357"/>
              </p:ext>
            </p:extLst>
          </p:nvPr>
        </p:nvGraphicFramePr>
        <p:xfrm>
          <a:off x="231953" y="1271951"/>
          <a:ext cx="2581575" cy="395688"/>
        </p:xfrm>
        <a:graphic>
          <a:graphicData uri="http://schemas.openxmlformats.org/drawingml/2006/table">
            <a:tbl>
              <a:tblPr/>
              <a:tblGrid>
                <a:gridCol w="998602">
                  <a:extLst>
                    <a:ext uri="{9D8B030D-6E8A-4147-A177-3AD203B41FA5}">
                      <a16:colId xmlns:a16="http://schemas.microsoft.com/office/drawing/2014/main" val="20000"/>
                    </a:ext>
                  </a:extLst>
                </a:gridCol>
                <a:gridCol w="1582973">
                  <a:extLst>
                    <a:ext uri="{9D8B030D-6E8A-4147-A177-3AD203B41FA5}">
                      <a16:colId xmlns:a16="http://schemas.microsoft.com/office/drawing/2014/main" val="20001"/>
                    </a:ext>
                  </a:extLst>
                </a:gridCol>
              </a:tblGrid>
              <a:tr h="344301">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GB" sz="1050" b="1" i="0" u="none" strike="noStrike" kern="1200" cap="none" normalizeH="0" baseline="0">
                          <a:ln>
                            <a:noFill/>
                          </a:ln>
                          <a:solidFill>
                            <a:schemeClr val="bg1"/>
                          </a:solidFill>
                          <a:effectLst/>
                          <a:latin typeface="Arial"/>
                          <a:ea typeface="+mn-ea"/>
                          <a:cs typeface="+mn-cs"/>
                        </a:rPr>
                        <a:t>Target Delivery:</a:t>
                      </a:r>
                    </a:p>
                  </a:txBody>
                  <a:tcPr marL="0" marR="0"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850" b="1" i="0" u="none" strike="noStrike" kern="1200" cap="none" normalizeH="0" baseline="0">
                          <a:ln>
                            <a:noFill/>
                          </a:ln>
                          <a:solidFill>
                            <a:srgbClr val="FF0000"/>
                          </a:solidFill>
                          <a:effectLst/>
                          <a:latin typeface="Aptos" panose="020B0004020202020204" pitchFamily="34" charset="0"/>
                          <a:ea typeface="+mn-ea"/>
                          <a:cs typeface="+mn-cs"/>
                        </a:rPr>
                        <a:t>Monthly releases</a:t>
                      </a:r>
                    </a:p>
                  </a:txBody>
                  <a:tcPr marL="0" marR="0"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27" name="Table 26">
            <a:extLst>
              <a:ext uri="{FF2B5EF4-FFF2-40B4-BE49-F238E27FC236}">
                <a16:creationId xmlns:a16="http://schemas.microsoft.com/office/drawing/2014/main" id="{1B4D048B-8EB6-A2B7-7F5D-76B7F6186060}"/>
              </a:ext>
            </a:extLst>
          </p:cNvPr>
          <p:cNvGraphicFramePr>
            <a:graphicFrameLocks noGrp="1"/>
          </p:cNvGraphicFramePr>
          <p:nvPr>
            <p:extLst>
              <p:ext uri="{D42A27DB-BD31-4B8C-83A1-F6EECF244321}">
                <p14:modId xmlns:p14="http://schemas.microsoft.com/office/powerpoint/2010/main" val="3594825091"/>
              </p:ext>
            </p:extLst>
          </p:nvPr>
        </p:nvGraphicFramePr>
        <p:xfrm>
          <a:off x="4980036" y="1702817"/>
          <a:ext cx="7152058" cy="3509499"/>
        </p:xfrm>
        <a:graphic>
          <a:graphicData uri="http://schemas.openxmlformats.org/drawingml/2006/table">
            <a:tbl>
              <a:tblPr>
                <a:tableStyleId>{5C22544A-7EE6-4342-B048-85BDC9FD1C3A}</a:tableStyleId>
              </a:tblPr>
              <a:tblGrid>
                <a:gridCol w="2617796">
                  <a:extLst>
                    <a:ext uri="{9D8B030D-6E8A-4147-A177-3AD203B41FA5}">
                      <a16:colId xmlns:a16="http://schemas.microsoft.com/office/drawing/2014/main" val="2456552316"/>
                    </a:ext>
                  </a:extLst>
                </a:gridCol>
                <a:gridCol w="541753">
                  <a:extLst>
                    <a:ext uri="{9D8B030D-6E8A-4147-A177-3AD203B41FA5}">
                      <a16:colId xmlns:a16="http://schemas.microsoft.com/office/drawing/2014/main" val="1100051595"/>
                    </a:ext>
                  </a:extLst>
                </a:gridCol>
                <a:gridCol w="572336">
                  <a:extLst>
                    <a:ext uri="{9D8B030D-6E8A-4147-A177-3AD203B41FA5}">
                      <a16:colId xmlns:a16="http://schemas.microsoft.com/office/drawing/2014/main" val="2042261034"/>
                    </a:ext>
                  </a:extLst>
                </a:gridCol>
                <a:gridCol w="3420173">
                  <a:extLst>
                    <a:ext uri="{9D8B030D-6E8A-4147-A177-3AD203B41FA5}">
                      <a16:colId xmlns:a16="http://schemas.microsoft.com/office/drawing/2014/main" val="2815874248"/>
                    </a:ext>
                  </a:extLst>
                </a:gridCol>
              </a:tblGrid>
              <a:tr h="310680">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Milestone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Status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Due Date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Notes</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471913">
                <a:tc>
                  <a:txBody>
                    <a:bodyPr/>
                    <a:lstStyle/>
                    <a:p>
                      <a:pPr marL="114300" marR="0" lvl="0" indent="0" algn="l" defTabSz="914400" rtl="0" eaLnBrk="1" fontAlgn="ctr" latinLnBrk="0" hangingPunct="1">
                        <a:lnSpc>
                          <a:spcPct val="95000"/>
                        </a:lnSpc>
                        <a:spcBef>
                          <a:spcPct val="0"/>
                        </a:spcBef>
                        <a:spcAft>
                          <a:spcPct val="50000"/>
                        </a:spcAft>
                        <a:buClrTx/>
                        <a:buSzTx/>
                        <a:buFontTx/>
                        <a:buNone/>
                        <a:tabLst/>
                        <a:defRPr/>
                      </a:pPr>
                      <a:r>
                        <a:rPr lang="en-US" sz="850" kern="100">
                          <a:latin typeface="Aptos" panose="020B0004020202020204" pitchFamily="34" charset="0"/>
                          <a:cs typeface="Times New Roman"/>
                        </a:rPr>
                        <a:t>Capacity / scalability to 1-2M policies – Discovery</a:t>
                      </a:r>
                      <a:r>
                        <a:rPr lang="en-US" sz="850" b="0" kern="1200">
                          <a:solidFill>
                            <a:schemeClr val="tx1"/>
                          </a:solidFill>
                          <a:effectLst/>
                          <a:latin typeface="Aptos" panose="020B0004020202020204" pitchFamily="34" charset="0"/>
                          <a:ea typeface="+mn-ea"/>
                          <a:cs typeface="+mn-cs"/>
                        </a:rPr>
                        <a:t> Phase</a:t>
                      </a:r>
                      <a:endParaRPr lang="en-US" sz="850" kern="100">
                        <a:latin typeface="Aptos" panose="020B0004020202020204" pitchFamily="34" charset="0"/>
                        <a:cs typeface="Times New Roman"/>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r>
                        <a:rPr lang="en-US" sz="850" b="0" kern="1200">
                          <a:solidFill>
                            <a:schemeClr val="tx1"/>
                          </a:solidFill>
                          <a:effectLst/>
                          <a:latin typeface="Aptos" panose="020B0004020202020204" pitchFamily="34" charset="0"/>
                          <a:ea typeface="+mn-ea"/>
                          <a:cs typeface="+mn-cs"/>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r>
                        <a:rPr lang="en-US" sz="850" b="0" strike="noStrike" kern="1200">
                          <a:solidFill>
                            <a:schemeClr val="tx1"/>
                          </a:solidFill>
                          <a:effectLst/>
                          <a:latin typeface="Aptos" panose="020B0004020202020204" pitchFamily="34" charset="0"/>
                          <a:ea typeface="+mn-ea"/>
                          <a:cs typeface="+mn-cs"/>
                        </a:rPr>
                        <a:t>07/31/26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0" hangingPunct="1">
                        <a:lnSpc>
                          <a:spcPct val="114999"/>
                        </a:lnSpc>
                        <a:spcBef>
                          <a:spcPts val="300"/>
                        </a:spcBef>
                        <a:spcAft>
                          <a:spcPts val="800"/>
                        </a:spcAft>
                        <a:buClrTx/>
                        <a:buSzTx/>
                        <a:buFontTx/>
                        <a:buNone/>
                        <a:tabLst/>
                        <a:defRPr/>
                      </a:pPr>
                      <a:r>
                        <a:rPr lang="en-US" sz="850" b="0" i="0" u="none" strike="noStrike" kern="100">
                          <a:solidFill>
                            <a:schemeClr val="dk1"/>
                          </a:solidFill>
                          <a:effectLst/>
                          <a:latin typeface="Aptos" panose="020B0004020202020204" pitchFamily="34" charset="0"/>
                          <a:ea typeface="+mn-ea"/>
                          <a:cs typeface="+mn-cs"/>
                        </a:rPr>
                        <a:t>Completed the discovery. Started the new initiative for solutioning and implementation work and tracked as a separate project.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748893264"/>
                  </a:ext>
                </a:extLst>
              </a:tr>
              <a:tr h="282234">
                <a:tc>
                  <a:txBody>
                    <a:bodyPr/>
                    <a:lstStyle/>
                    <a:p>
                      <a:pPr marL="114300" marR="0" lvl="0" indent="0" algn="l" defTabSz="914400" rtl="0" eaLnBrk="1" fontAlgn="ctr" latinLnBrk="0" hangingPunct="1">
                        <a:lnSpc>
                          <a:spcPct val="95000"/>
                        </a:lnSpc>
                        <a:spcBef>
                          <a:spcPct val="0"/>
                        </a:spcBef>
                        <a:spcAft>
                          <a:spcPct val="50000"/>
                        </a:spcAft>
                        <a:buClrTx/>
                        <a:buSzTx/>
                        <a:buFontTx/>
                        <a:buNone/>
                        <a:tabLst/>
                        <a:defRPr/>
                      </a:pPr>
                      <a:r>
                        <a:rPr lang="en-US" sz="850" kern="100">
                          <a:solidFill>
                            <a:schemeClr val="dk1"/>
                          </a:solidFill>
                          <a:latin typeface="Aptos" panose="020B0004020202020204" pitchFamily="34" charset="0"/>
                          <a:ea typeface="+mn-ea"/>
                          <a:cs typeface="Times New Roman"/>
                        </a:rPr>
                        <a:t>RRD Failures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a:lnSpc>
                          <a:spcPct val="95000"/>
                        </a:lnSpc>
                        <a:spcBef>
                          <a:spcPct val="0"/>
                        </a:spcBef>
                        <a:spcAft>
                          <a:spcPct val="50000"/>
                        </a:spcAft>
                        <a:buClrTx/>
                        <a:buSzTx/>
                        <a:buFontTx/>
                        <a:buNone/>
                        <a:tabLst/>
                      </a:pPr>
                      <a:r>
                        <a:rPr lang="en-US" sz="850" b="0" kern="1200">
                          <a:solidFill>
                            <a:schemeClr val="tx1"/>
                          </a:solidFill>
                          <a:effectLst/>
                          <a:latin typeface="Aptos" panose="020B0004020202020204" pitchFamily="34" charset="0"/>
                          <a:ea typeface="+mn-ea"/>
                          <a:cs typeface="+mn-cs"/>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0" hangingPunct="1">
                        <a:lnSpc>
                          <a:spcPct val="95000"/>
                        </a:lnSpc>
                        <a:spcBef>
                          <a:spcPct val="0"/>
                        </a:spcBef>
                        <a:spcAft>
                          <a:spcPct val="50000"/>
                        </a:spcAft>
                        <a:buClrTx/>
                        <a:buSzTx/>
                        <a:buFontTx/>
                        <a:buNone/>
                        <a:tabLst/>
                        <a:defRPr/>
                      </a:pPr>
                      <a:r>
                        <a:rPr lang="en-US" sz="850" b="0" strike="noStrike" kern="1200">
                          <a:solidFill>
                            <a:schemeClr val="tx1"/>
                          </a:solidFill>
                          <a:effectLst/>
                          <a:latin typeface="Aptos" panose="020B0004020202020204" pitchFamily="34" charset="0"/>
                          <a:ea typeface="+mn-ea"/>
                          <a:cs typeface="+mn-cs"/>
                        </a:rPr>
                        <a:t>07/31/2026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a:lnSpc>
                          <a:spcPct val="114999"/>
                        </a:lnSpc>
                        <a:spcAft>
                          <a:spcPts val="800"/>
                        </a:spcAft>
                        <a:buNone/>
                      </a:pPr>
                      <a:r>
                        <a:rPr lang="en-US" sz="850" b="0" i="0" u="none" strike="noStrike" kern="100" noProof="0">
                          <a:solidFill>
                            <a:schemeClr val="dk1"/>
                          </a:solidFill>
                          <a:effectLst/>
                          <a:latin typeface="Aptos" panose="020B0004020202020204" pitchFamily="34" charset="0"/>
                        </a:rPr>
                        <a:t>Completed. RRD Ananlysis completed and redesign will be taken after the Python Conversion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943924009"/>
                  </a:ext>
                </a:extLst>
              </a:tr>
              <a:tr h="332289">
                <a:tc>
                  <a:txBody>
                    <a:bodyPr/>
                    <a:lstStyle/>
                    <a:p>
                      <a:pPr marL="114300" marR="0" lvl="0" indent="0" algn="l" rtl="0" eaLnBrk="1" fontAlgn="ctr" latinLnBrk="0" hangingPunct="1">
                        <a:lnSpc>
                          <a:spcPct val="95000"/>
                        </a:lnSpc>
                        <a:spcBef>
                          <a:spcPct val="0"/>
                        </a:spcBef>
                        <a:spcAft>
                          <a:spcPct val="50000"/>
                        </a:spcAft>
                        <a:buClrTx/>
                        <a:buSzTx/>
                        <a:buFontTx/>
                        <a:buNone/>
                      </a:pPr>
                      <a:r>
                        <a:rPr lang="en-US" sz="850" b="0" kern="1200">
                          <a:solidFill>
                            <a:schemeClr val="tx1"/>
                          </a:solidFill>
                          <a:effectLst/>
                          <a:latin typeface="Aptos" panose="020B0004020202020204" pitchFamily="34" charset="0"/>
                          <a:ea typeface="+mn-ea"/>
                          <a:cs typeface="+mn-cs"/>
                        </a:rPr>
                        <a:t>Concurrency Error – Customer Update – Permanent Fix</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r>
                        <a:rPr lang="en-US" sz="850" b="0" kern="1200">
                          <a:solidFill>
                            <a:schemeClr val="tx1"/>
                          </a:solidFill>
                          <a:effectLst/>
                          <a:latin typeface="Aptos" panose="020B0004020202020204" pitchFamily="34" charset="0"/>
                          <a:ea typeface="+mn-ea"/>
                          <a:cs typeface="+mn-cs"/>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r>
                        <a:rPr lang="en-US" sz="850" b="0" strike="noStrike" kern="1200">
                          <a:solidFill>
                            <a:schemeClr val="tx1"/>
                          </a:solidFill>
                          <a:effectLst/>
                          <a:latin typeface="Aptos" panose="020B0004020202020204" pitchFamily="34" charset="0"/>
                          <a:ea typeface="+mn-ea"/>
                          <a:cs typeface="+mn-cs"/>
                        </a:rPr>
                        <a:t>07/15/2026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0" hangingPunct="1">
                        <a:lnSpc>
                          <a:spcPts val="600"/>
                        </a:lnSpc>
                        <a:spcBef>
                          <a:spcPts val="300"/>
                        </a:spcBef>
                        <a:spcAft>
                          <a:spcPts val="0"/>
                        </a:spcAft>
                        <a:buClrTx/>
                        <a:buSzTx/>
                        <a:buFontTx/>
                        <a:buNone/>
                        <a:tabLst/>
                        <a:defRPr/>
                      </a:pPr>
                      <a:r>
                        <a:rPr lang="en-US" sz="850" b="0" i="0">
                          <a:solidFill>
                            <a:srgbClr val="000000"/>
                          </a:solidFill>
                          <a:effectLst/>
                          <a:latin typeface="Aptos" panose="020B0004020202020204" pitchFamily="34" charset="0"/>
                        </a:rPr>
                        <a:t>Deployed to Production. 30+ incidents reported  for last 12 months.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073210692"/>
                  </a:ext>
                </a:extLst>
              </a:tr>
              <a:tr h="296868">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50">
                          <a:latin typeface="Aptos" panose="020B0004020202020204" pitchFamily="34" charset="0"/>
                        </a:rPr>
                        <a:t>ECIF Call related Changes for Conversion Policies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a:lnSpc>
                          <a:spcPct val="95000"/>
                        </a:lnSpc>
                        <a:spcBef>
                          <a:spcPct val="0"/>
                        </a:spcBef>
                        <a:spcAft>
                          <a:spcPct val="50000"/>
                        </a:spcAft>
                        <a:buClrTx/>
                        <a:buSzTx/>
                        <a:buFontTx/>
                        <a:buNone/>
                        <a:tabLst/>
                      </a:pPr>
                      <a:r>
                        <a:rPr lang="en-US" sz="850" b="0" kern="1200">
                          <a:solidFill>
                            <a:schemeClr val="tx1"/>
                          </a:solidFill>
                          <a:effectLst/>
                          <a:latin typeface="Aptos" panose="020B0004020202020204" pitchFamily="34" charset="0"/>
                          <a:ea typeface="+mn-ea"/>
                          <a:cs typeface="+mn-cs"/>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0" hangingPunct="1">
                        <a:lnSpc>
                          <a:spcPct val="95000"/>
                        </a:lnSpc>
                        <a:spcBef>
                          <a:spcPct val="0"/>
                        </a:spcBef>
                        <a:spcAft>
                          <a:spcPct val="50000"/>
                        </a:spcAft>
                        <a:buClrTx/>
                        <a:buSzTx/>
                        <a:buFontTx/>
                        <a:buNone/>
                        <a:tabLst/>
                        <a:defRPr/>
                      </a:pPr>
                      <a:r>
                        <a:rPr lang="en-US" sz="850" b="0" strike="noStrike" kern="1200">
                          <a:solidFill>
                            <a:schemeClr val="tx1"/>
                          </a:solidFill>
                          <a:effectLst/>
                          <a:latin typeface="Aptos" panose="020B0004020202020204" pitchFamily="34" charset="0"/>
                          <a:ea typeface="+mn-ea"/>
                          <a:cs typeface="+mn-cs"/>
                        </a:rPr>
                        <a:t>08/12/2026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a:lnSpc>
                          <a:spcPct val="114999"/>
                        </a:lnSpc>
                        <a:spcAft>
                          <a:spcPts val="800"/>
                        </a:spcAft>
                        <a:buNone/>
                      </a:pPr>
                      <a:r>
                        <a:rPr lang="en-US" sz="850" b="0" i="0" u="none" strike="noStrike" kern="100" noProof="0">
                          <a:solidFill>
                            <a:schemeClr val="dk1"/>
                          </a:solidFill>
                          <a:effectLst/>
                          <a:latin typeface="Aptos" panose="020B0004020202020204" pitchFamily="34" charset="0"/>
                        </a:rPr>
                        <a:t>Planned for August Release. 50+ incidents reported for last 12 months related to ECIF for Converted Policies.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387139067"/>
                  </a:ext>
                </a:extLst>
              </a:tr>
              <a:tr h="321557">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50">
                          <a:latin typeface="Aptos" panose="020B0004020202020204" pitchFamily="34" charset="0"/>
                        </a:rPr>
                        <a:t>ECN Missing for NB Issuance for Payroll Policies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a:lnSpc>
                          <a:spcPct val="95000"/>
                        </a:lnSpc>
                        <a:spcBef>
                          <a:spcPct val="0"/>
                        </a:spcBef>
                        <a:spcAft>
                          <a:spcPct val="50000"/>
                        </a:spcAft>
                        <a:buClrTx/>
                        <a:buSzTx/>
                        <a:buFontTx/>
                        <a:buNone/>
                        <a:tabLst/>
                      </a:pPr>
                      <a:r>
                        <a:rPr lang="en-US" sz="850" b="0" kern="1200">
                          <a:solidFill>
                            <a:schemeClr val="tx1"/>
                          </a:solidFill>
                          <a:effectLst/>
                          <a:latin typeface="Aptos" panose="020B0004020202020204" pitchFamily="34" charset="0"/>
                          <a:ea typeface="+mn-ea"/>
                          <a:cs typeface="+mn-cs"/>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0" hangingPunct="1">
                        <a:lnSpc>
                          <a:spcPct val="95000"/>
                        </a:lnSpc>
                        <a:spcBef>
                          <a:spcPct val="0"/>
                        </a:spcBef>
                        <a:spcAft>
                          <a:spcPct val="50000"/>
                        </a:spcAft>
                        <a:buClrTx/>
                        <a:buSzTx/>
                        <a:buFontTx/>
                        <a:buNone/>
                        <a:tabLst/>
                        <a:defRPr/>
                      </a:pPr>
                      <a:r>
                        <a:rPr lang="en-US" sz="850" b="0" strike="noStrike" kern="1200">
                          <a:solidFill>
                            <a:schemeClr val="tx1"/>
                          </a:solidFill>
                          <a:effectLst/>
                          <a:latin typeface="Aptos" panose="020B0004020202020204" pitchFamily="34" charset="0"/>
                          <a:ea typeface="+mn-ea"/>
                          <a:cs typeface="+mn-cs"/>
                        </a:rPr>
                        <a:t>08/12/2026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0" hangingPunct="1">
                        <a:lnSpc>
                          <a:spcPct val="114999"/>
                        </a:lnSpc>
                        <a:spcBef>
                          <a:spcPts val="0"/>
                        </a:spcBef>
                        <a:spcAft>
                          <a:spcPts val="800"/>
                        </a:spcAft>
                        <a:buClrTx/>
                        <a:buSzTx/>
                        <a:buFontTx/>
                        <a:buNone/>
                        <a:tabLst/>
                        <a:defRPr/>
                      </a:pPr>
                      <a:r>
                        <a:rPr lang="en-US" sz="850" b="0" i="0" u="none" strike="noStrike" kern="100" noProof="0">
                          <a:solidFill>
                            <a:schemeClr val="dk1"/>
                          </a:solidFill>
                          <a:effectLst/>
                          <a:latin typeface="Aptos" panose="020B0004020202020204" pitchFamily="34" charset="0"/>
                        </a:rPr>
                        <a:t>Planned for August Release. This will fix 80+ incidents reported for last 12 months related to missing ECN for Payroll policies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775249404"/>
                  </a:ext>
                </a:extLst>
              </a:tr>
              <a:tr h="267703">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50" kern="1200">
                          <a:solidFill>
                            <a:schemeClr val="dk1"/>
                          </a:solidFill>
                          <a:latin typeface="Aptos" panose="020B0004020202020204" pitchFamily="34" charset="0"/>
                          <a:ea typeface="+mn-ea"/>
                          <a:cs typeface="+mn-cs"/>
                        </a:rPr>
                        <a:t>Line Estimations on the Solution Approach for Data Integrity</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850">
                          <a:latin typeface="Aptos" panose="020B0004020202020204" pitchFamily="34" charset="0"/>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850" strike="sngStrike">
                          <a:latin typeface="Aptos" panose="020B0004020202020204" pitchFamily="34" charset="0"/>
                        </a:rPr>
                        <a:t>07/31/2026</a:t>
                      </a:r>
                      <a:r>
                        <a:rPr lang="en-US" sz="850" strike="noStrike">
                          <a:latin typeface="Aptos" panose="020B0004020202020204" pitchFamily="34" charset="0"/>
                        </a:rPr>
                        <a:t> 08/21/2026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rtl="0" eaLnBrk="1" fontAlgn="ctr" latinLnBrk="0" hangingPunct="1">
                        <a:lnSpc>
                          <a:spcPct val="95000"/>
                        </a:lnSpc>
                        <a:spcBef>
                          <a:spcPct val="0"/>
                        </a:spcBef>
                        <a:spcAft>
                          <a:spcPct val="50000"/>
                        </a:spcAft>
                        <a:buClrTx/>
                        <a:buSzTx/>
                        <a:buNone/>
                      </a:pPr>
                      <a:r>
                        <a:rPr lang="en-US" sz="850" b="0" strike="noStrike" kern="1200">
                          <a:solidFill>
                            <a:schemeClr val="tx1"/>
                          </a:solidFill>
                          <a:effectLst/>
                          <a:latin typeface="Aptos" panose="020B0004020202020204" pitchFamily="34" charset="0"/>
                          <a:ea typeface="+mn-ea"/>
                          <a:cs typeface="+mn-cs"/>
                        </a:rPr>
                        <a:t> Solution Approach reviewed and requested lines MIM &amp; SS teams for Line estimations.  MiM and SS teams provided the estimates and work has been kicked off.</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676961585"/>
                  </a:ext>
                </a:extLst>
              </a:tr>
              <a:tr h="407230">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50" kern="1200">
                          <a:solidFill>
                            <a:schemeClr val="dk1"/>
                          </a:solidFill>
                          <a:latin typeface="Aptos" panose="020B0004020202020204" pitchFamily="34" charset="0"/>
                          <a:ea typeface="+mn-ea"/>
                          <a:cs typeface="+mn-cs"/>
                        </a:rPr>
                        <a:t>Task System clean up/ Error reduction</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50">
                        <a:latin typeface="Aptos"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50">
                          <a:latin typeface="Aptos" panose="020B0004020202020204" pitchFamily="34" charset="0"/>
                        </a:rPr>
                        <a:t>09/15/2026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eaLnBrk="1" fontAlgn="ctr" latinLnBrk="0" hangingPunct="1">
                        <a:lnSpc>
                          <a:spcPct val="95000"/>
                        </a:lnSpc>
                        <a:spcBef>
                          <a:spcPct val="0"/>
                        </a:spcBef>
                        <a:spcAft>
                          <a:spcPct val="50000"/>
                        </a:spcAft>
                        <a:buClrTx/>
                        <a:buSzTx/>
                        <a:buFontTx/>
                        <a:buNone/>
                      </a:pPr>
                      <a:r>
                        <a:rPr lang="en-US" sz="850" b="0" kern="1200">
                          <a:solidFill>
                            <a:schemeClr val="tx1"/>
                          </a:solidFill>
                          <a:effectLst/>
                          <a:latin typeface="Aptos" panose="020B0004020202020204" pitchFamily="34" charset="0"/>
                          <a:ea typeface="+mn-ea"/>
                          <a:cs typeface="+mn-cs"/>
                        </a:rPr>
                        <a:t>Team is working on  Task errors identified till the date. 2 task errors 2038 and 2005 are planned for 09/15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62506059"/>
                  </a:ext>
                </a:extLst>
              </a:tr>
              <a:tr h="407230">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50" kern="1200">
                          <a:solidFill>
                            <a:schemeClr val="dk1"/>
                          </a:solidFill>
                          <a:latin typeface="Aptos" panose="020B0004020202020204" pitchFamily="34" charset="0"/>
                          <a:ea typeface="+mn-ea"/>
                          <a:cs typeface="+mn-cs"/>
                        </a:rPr>
                        <a:t>ECIF Data Integrity – </a:t>
                      </a:r>
                    </a:p>
                    <a:p>
                      <a:pPr marL="285750" marR="0" lvl="0" indent="-171450" algn="l" defTabSz="914400" rtl="0" eaLnBrk="1" fontAlgn="auto" latinLnBrk="0" hangingPunct="1">
                        <a:lnSpc>
                          <a:spcPct val="95000"/>
                        </a:lnSpc>
                        <a:spcBef>
                          <a:spcPct val="0"/>
                        </a:spcBef>
                        <a:spcAft>
                          <a:spcPct val="50000"/>
                        </a:spcAft>
                        <a:buClrTx/>
                        <a:buSzTx/>
                        <a:buFont typeface="Arial" panose="020B0604020202020204" pitchFamily="34" charset="0"/>
                        <a:buChar char="•"/>
                        <a:tabLst/>
                        <a:defRPr/>
                      </a:pPr>
                      <a:r>
                        <a:rPr lang="en-US" sz="900">
                          <a:latin typeface="Aptos" panose="020B0004020202020204" pitchFamily="34" charset="0"/>
                        </a:rPr>
                        <a:t>Convert CEM to Java Golden Path – Analysis &amp; DDII </a:t>
                      </a:r>
                      <a:endParaRPr lang="en-US" sz="900" kern="1200">
                        <a:solidFill>
                          <a:schemeClr val="dk1"/>
                        </a:solidFill>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50">
                        <a:latin typeface="Aptos"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50">
                          <a:latin typeface="Aptos" panose="020B0004020202020204" pitchFamily="34" charset="0"/>
                        </a:rPr>
                        <a:t>10/14/2026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marR="0" lvl="0" indent="-171450" algn="l" rtl="0" eaLnBrk="1" fontAlgn="ctr" latinLnBrk="0" hangingPunct="1">
                        <a:lnSpc>
                          <a:spcPct val="95000"/>
                        </a:lnSpc>
                        <a:spcBef>
                          <a:spcPct val="0"/>
                        </a:spcBef>
                        <a:spcAft>
                          <a:spcPct val="50000"/>
                        </a:spcAft>
                        <a:buClrTx/>
                        <a:buSzTx/>
                        <a:buFont typeface="Arial" panose="020B0604020202020204" pitchFamily="34" charset="0"/>
                        <a:buChar char="•"/>
                      </a:pPr>
                      <a:r>
                        <a:rPr lang="en-US" sz="850" b="0" kern="1200">
                          <a:solidFill>
                            <a:schemeClr val="tx1"/>
                          </a:solidFill>
                          <a:effectLst/>
                          <a:latin typeface="Aptos" panose="020B0004020202020204" pitchFamily="34" charset="0"/>
                          <a:ea typeface="+mn-ea"/>
                          <a:cs typeface="+mn-cs"/>
                        </a:rPr>
                        <a:t>Analysis is in progress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50751613"/>
                  </a:ext>
                </a:extLst>
              </a:tr>
            </a:tbl>
          </a:graphicData>
        </a:graphic>
      </p:graphicFrame>
      <p:graphicFrame>
        <p:nvGraphicFramePr>
          <p:cNvPr id="29" name="Table 28">
            <a:extLst>
              <a:ext uri="{FF2B5EF4-FFF2-40B4-BE49-F238E27FC236}">
                <a16:creationId xmlns:a16="http://schemas.microsoft.com/office/drawing/2014/main" id="{3CAB6735-FCE3-FA60-EBEA-D0119FC54394}"/>
              </a:ext>
            </a:extLst>
          </p:cNvPr>
          <p:cNvGraphicFramePr>
            <a:graphicFrameLocks noGrp="1"/>
          </p:cNvGraphicFramePr>
          <p:nvPr>
            <p:extLst>
              <p:ext uri="{D42A27DB-BD31-4B8C-83A1-F6EECF244321}">
                <p14:modId xmlns:p14="http://schemas.microsoft.com/office/powerpoint/2010/main" val="765938573"/>
              </p:ext>
            </p:extLst>
          </p:nvPr>
        </p:nvGraphicFramePr>
        <p:xfrm>
          <a:off x="5001280" y="5211792"/>
          <a:ext cx="7144459" cy="1177350"/>
        </p:xfrm>
        <a:graphic>
          <a:graphicData uri="http://schemas.openxmlformats.org/drawingml/2006/table">
            <a:tbl>
              <a:tblPr>
                <a:tableStyleId>{5C22544A-7EE6-4342-B048-85BDC9FD1C3A}</a:tableStyleId>
              </a:tblPr>
              <a:tblGrid>
                <a:gridCol w="2636203">
                  <a:extLst>
                    <a:ext uri="{9D8B030D-6E8A-4147-A177-3AD203B41FA5}">
                      <a16:colId xmlns:a16="http://schemas.microsoft.com/office/drawing/2014/main" val="2456552316"/>
                    </a:ext>
                  </a:extLst>
                </a:gridCol>
                <a:gridCol w="517675">
                  <a:extLst>
                    <a:ext uri="{9D8B030D-6E8A-4147-A177-3AD203B41FA5}">
                      <a16:colId xmlns:a16="http://schemas.microsoft.com/office/drawing/2014/main" val="1100051595"/>
                    </a:ext>
                  </a:extLst>
                </a:gridCol>
                <a:gridCol w="574949">
                  <a:extLst>
                    <a:ext uri="{9D8B030D-6E8A-4147-A177-3AD203B41FA5}">
                      <a16:colId xmlns:a16="http://schemas.microsoft.com/office/drawing/2014/main" val="2042261034"/>
                    </a:ext>
                  </a:extLst>
                </a:gridCol>
                <a:gridCol w="3415632">
                  <a:extLst>
                    <a:ext uri="{9D8B030D-6E8A-4147-A177-3AD203B41FA5}">
                      <a16:colId xmlns:a16="http://schemas.microsoft.com/office/drawing/2014/main" val="2815874248"/>
                    </a:ext>
                  </a:extLst>
                </a:gridCol>
              </a:tblGrid>
              <a:tr h="287618">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kumimoji="0" lang="en-US" sz="1050" b="1" i="0" u="none" strike="noStrike" kern="1200" cap="none" normalizeH="0" baseline="0">
                          <a:ln>
                            <a:noFill/>
                          </a:ln>
                          <a:solidFill>
                            <a:schemeClr val="bg1"/>
                          </a:solidFill>
                          <a:effectLst/>
                          <a:latin typeface="Arial"/>
                          <a:ea typeface="+mn-ea"/>
                          <a:cs typeface="+mn-cs"/>
                        </a:rPr>
                        <a:t>Critical Risks/Issues</a:t>
                      </a: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Status</a:t>
                      </a:r>
                    </a:p>
                  </a:txBody>
                  <a:tcPr marL="9525" marR="9525" marT="9525" marB="0" anchor="ct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Target Date</a:t>
                      </a:r>
                    </a:p>
                  </a:txBody>
                  <a:tcPr marL="9525" marR="9525" marT="9525" marB="0" anchor="ctr">
                    <a:lnL w="12700">
                      <a:solidFill>
                        <a:schemeClr val="tx1"/>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Resolution / Mitigation</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863787">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50" kern="1200">
                          <a:solidFill>
                            <a:schemeClr val="dk1"/>
                          </a:solidFill>
                          <a:latin typeface="Aptos" panose="020B0004020202020204" pitchFamily="34" charset="0"/>
                          <a:ea typeface="+mn-ea"/>
                          <a:cs typeface="+mn-cs"/>
                        </a:rPr>
                        <a:t>Project remains yellow on the budget overage</a:t>
                      </a: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850" b="0" kern="1200">
                        <a:solidFill>
                          <a:schemeClr val="tx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r>
                        <a:rPr lang="en-US" sz="850" b="0" strike="noStrike" kern="1200">
                          <a:solidFill>
                            <a:schemeClr val="tx1"/>
                          </a:solidFill>
                          <a:effectLst/>
                          <a:latin typeface="Aptos" panose="020B0004020202020204" pitchFamily="34" charset="0"/>
                          <a:ea typeface="+mn-ea"/>
                          <a:cs typeface="+mn-cs"/>
                        </a:rPr>
                        <a:t>09/04/2026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marR="0" lvl="0" indent="-171450" algn="l" defTabSz="914400" rtl="0" eaLnBrk="1" fontAlgn="base" latinLnBrk="0" hangingPunct="1">
                        <a:lnSpc>
                          <a:spcPct val="100000"/>
                        </a:lnSpc>
                        <a:spcBef>
                          <a:spcPts val="200"/>
                        </a:spcBef>
                        <a:spcAft>
                          <a:spcPts val="0"/>
                        </a:spcAft>
                        <a:buClrTx/>
                        <a:buSzTx/>
                        <a:buFontTx/>
                        <a:buChar char="-"/>
                        <a:tabLst/>
                        <a:defRPr/>
                      </a:pPr>
                      <a:r>
                        <a:rPr lang="en-US" sz="850" b="0" strike="noStrike" kern="1200">
                          <a:solidFill>
                            <a:schemeClr val="tx1"/>
                          </a:solidFill>
                          <a:effectLst/>
                          <a:latin typeface="Aptos" panose="020B0004020202020204" pitchFamily="34" charset="0"/>
                          <a:ea typeface="+mn-ea"/>
                          <a:cs typeface="+mn-cs"/>
                        </a:rPr>
                        <a:t>Data Integrity effort – Estimates are received from MiM and SS lines. Originally 200K was put aside for this effort but </a:t>
                      </a:r>
                      <a:r>
                        <a:rPr lang="en-US" sz="850">
                          <a:latin typeface="Aptos" panose="020B0004020202020204" pitchFamily="34" charset="0"/>
                        </a:rPr>
                        <a:t>GIN / batch hardening work consumed most of the budget till the date.</a:t>
                      </a:r>
                    </a:p>
                    <a:p>
                      <a:pPr marL="171450" marR="0" lvl="0" indent="-171450" algn="l" defTabSz="914400" rtl="0" eaLnBrk="1" fontAlgn="base" latinLnBrk="0" hangingPunct="1">
                        <a:lnSpc>
                          <a:spcPct val="100000"/>
                        </a:lnSpc>
                        <a:spcBef>
                          <a:spcPts val="200"/>
                        </a:spcBef>
                        <a:spcAft>
                          <a:spcPts val="0"/>
                        </a:spcAft>
                        <a:buClrTx/>
                        <a:buSzTx/>
                        <a:buFontTx/>
                        <a:buChar char="-"/>
                        <a:tabLst/>
                        <a:defRPr/>
                      </a:pPr>
                      <a:r>
                        <a:rPr lang="en-US" sz="850">
                          <a:latin typeface="Aptos" panose="020B0004020202020204" pitchFamily="34" charset="0"/>
                        </a:rPr>
                        <a:t>CR will be submitted once the additional scope is received for GIN stability work. The CR will include the effort estimate for ECIF Data integrity work</a:t>
                      </a: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35531996"/>
                  </a:ext>
                </a:extLst>
              </a:tr>
            </a:tbl>
          </a:graphicData>
        </a:graphic>
      </p:graphicFrame>
      <p:sp>
        <p:nvSpPr>
          <p:cNvPr id="33" name="Flowchart: Connector 32">
            <a:extLst>
              <a:ext uri="{FF2B5EF4-FFF2-40B4-BE49-F238E27FC236}">
                <a16:creationId xmlns:a16="http://schemas.microsoft.com/office/drawing/2014/main" id="{BAFFCF7F-A135-CFB7-AA73-F679A319354B}"/>
              </a:ext>
            </a:extLst>
          </p:cNvPr>
          <p:cNvSpPr/>
          <p:nvPr/>
        </p:nvSpPr>
        <p:spPr>
          <a:xfrm>
            <a:off x="6730636" y="6487358"/>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Flowchart: Connector 33">
            <a:extLst>
              <a:ext uri="{FF2B5EF4-FFF2-40B4-BE49-F238E27FC236}">
                <a16:creationId xmlns:a16="http://schemas.microsoft.com/office/drawing/2014/main" id="{E13FEC6D-9628-F984-DA15-8EE7F3E7B147}"/>
              </a:ext>
            </a:extLst>
          </p:cNvPr>
          <p:cNvSpPr/>
          <p:nvPr/>
        </p:nvSpPr>
        <p:spPr>
          <a:xfrm>
            <a:off x="7796014" y="6487358"/>
            <a:ext cx="163286" cy="164592"/>
          </a:xfrm>
          <a:prstGeom prst="flowChartConnector">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Flowchart: Connector 35">
            <a:extLst>
              <a:ext uri="{FF2B5EF4-FFF2-40B4-BE49-F238E27FC236}">
                <a16:creationId xmlns:a16="http://schemas.microsoft.com/office/drawing/2014/main" id="{500FAF55-7EFF-3112-8E42-CF129A4E5B34}"/>
              </a:ext>
            </a:extLst>
          </p:cNvPr>
          <p:cNvSpPr/>
          <p:nvPr/>
        </p:nvSpPr>
        <p:spPr>
          <a:xfrm>
            <a:off x="8809432" y="6500123"/>
            <a:ext cx="163285" cy="164592"/>
          </a:xfrm>
          <a:prstGeom prst="flowChartConnector">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Flowchart: Connector 45">
            <a:extLst>
              <a:ext uri="{FF2B5EF4-FFF2-40B4-BE49-F238E27FC236}">
                <a16:creationId xmlns:a16="http://schemas.microsoft.com/office/drawing/2014/main" id="{78D336B2-287F-B0A5-0DA4-6EE75AA673E2}"/>
              </a:ext>
            </a:extLst>
          </p:cNvPr>
          <p:cNvSpPr/>
          <p:nvPr/>
        </p:nvSpPr>
        <p:spPr>
          <a:xfrm>
            <a:off x="5143033" y="1403331"/>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46D265A6-898B-5B29-8291-73D3FF383985}"/>
              </a:ext>
            </a:extLst>
          </p:cNvPr>
          <p:cNvSpPr txBox="1"/>
          <p:nvPr/>
        </p:nvSpPr>
        <p:spPr>
          <a:xfrm>
            <a:off x="105049" y="1668274"/>
            <a:ext cx="4743293" cy="5301451"/>
          </a:xfrm>
          <a:prstGeom prst="rect">
            <a:avLst/>
          </a:prstGeom>
          <a:noFill/>
        </p:spPr>
        <p:txBody>
          <a:bodyPr wrap="square" lIns="91440" tIns="45720" rIns="91440" bIns="45720" anchor="t">
            <a:spAutoFit/>
          </a:bodyPr>
          <a:lstStyle/>
          <a:p>
            <a:r>
              <a:rPr lang="en-US" sz="850" kern="100">
                <a:latin typeface="Aptos" panose="020B0004020202020204" pitchFamily="34" charset="0"/>
                <a:cs typeface="Times New Roman"/>
              </a:rPr>
              <a:t>Overall Status: </a:t>
            </a:r>
            <a:r>
              <a:rPr lang="en-US" sz="850" kern="100">
                <a:highlight>
                  <a:srgbClr val="FFFF00"/>
                </a:highlight>
                <a:latin typeface="Aptos" panose="020B0004020202020204" pitchFamily="34" charset="0"/>
                <a:cs typeface="Times New Roman"/>
              </a:rPr>
              <a:t>Yellow – </a:t>
            </a:r>
            <a:r>
              <a:rPr lang="en-US" sz="850" kern="100">
                <a:latin typeface="Aptos" panose="020B0004020202020204" pitchFamily="34" charset="0"/>
                <a:cs typeface="Times New Roman"/>
              </a:rPr>
              <a:t>Additional funding is required for ECIF Data Integrity work as </a:t>
            </a:r>
            <a:r>
              <a:rPr lang="en-US" sz="850">
                <a:latin typeface="Aptos" panose="020B0004020202020204" pitchFamily="34" charset="0"/>
              </a:rPr>
              <a:t>GIN / batch hardening consumed most of the budget for the remediation activities and discovery effort for Scalability to 1-2M policies effort.</a:t>
            </a:r>
          </a:p>
          <a:p>
            <a:r>
              <a:rPr lang="en-US" sz="850">
                <a:latin typeface="Aptos" panose="020B0004020202020204" pitchFamily="34" charset="0"/>
              </a:rPr>
              <a:t>08/18– Discussed on 08/18 and decision made that none of the GIN stability  effort should stop.</a:t>
            </a:r>
            <a:endParaRPr lang="en-US" sz="850" kern="100">
              <a:highlight>
                <a:srgbClr val="FFFF00"/>
              </a:highlight>
              <a:latin typeface="Aptos" panose="020B0004020202020204" pitchFamily="34" charset="0"/>
              <a:cs typeface="Times New Roman"/>
            </a:endParaRPr>
          </a:p>
          <a:p>
            <a:r>
              <a:rPr lang="en-US" sz="850" b="1" kern="100">
                <a:latin typeface="Aptos" panose="020B0004020202020204" pitchFamily="34" charset="0"/>
                <a:cs typeface="Times New Roman"/>
              </a:rPr>
              <a:t>Path to Green  </a:t>
            </a:r>
            <a:r>
              <a:rPr lang="en-US" sz="850" kern="100">
                <a:latin typeface="Aptos" panose="020B0004020202020204" pitchFamily="34" charset="0"/>
                <a:cs typeface="Times New Roman"/>
              </a:rPr>
              <a:t>– </a:t>
            </a:r>
          </a:p>
          <a:p>
            <a:pPr marL="171450" indent="-171450">
              <a:buFont typeface="Arial" panose="020B0604020202020204" pitchFamily="34" charset="0"/>
              <a:buChar char="•"/>
            </a:pPr>
            <a:r>
              <a:rPr lang="en-US" sz="850">
                <a:latin typeface="Aptos" panose="020B0004020202020204" pitchFamily="34" charset="0"/>
              </a:rPr>
              <a:t>Requested teams to provide the scope clarity on GIN Stability and high-level effort estimates by 09/04 for CR submission. CR will include the already estimated effort for ECIF Data Integrity work as well.</a:t>
            </a:r>
            <a:endParaRPr lang="en-US" sz="850" b="1" kern="100">
              <a:latin typeface="Aptos" panose="020B0004020202020204" pitchFamily="34" charset="0"/>
              <a:cs typeface="Times New Roman"/>
            </a:endParaRPr>
          </a:p>
          <a:p>
            <a:r>
              <a:rPr lang="en-US" sz="850" b="1" kern="100">
                <a:latin typeface="Aptos" panose="020B0004020202020204" pitchFamily="34" charset="0"/>
                <a:cs typeface="Times New Roman"/>
              </a:rPr>
              <a:t>GIN Stability</a:t>
            </a:r>
          </a:p>
          <a:p>
            <a:r>
              <a:rPr lang="en-US" sz="850" b="1" kern="100">
                <a:latin typeface="Aptos" panose="020B0004020202020204" pitchFamily="34" charset="0"/>
                <a:cs typeface="Times New Roman"/>
              </a:rPr>
              <a:t>Task-system cleanup / error reduction – </a:t>
            </a:r>
          </a:p>
          <a:p>
            <a:pPr marL="171450" indent="-171450">
              <a:buFont typeface="Arial" panose="020B0604020202020204" pitchFamily="34" charset="0"/>
              <a:buChar char="•"/>
            </a:pPr>
            <a:r>
              <a:rPr lang="en-US" sz="850">
                <a:latin typeface="Aptos" panose="020B0004020202020204" pitchFamily="34" charset="0"/>
              </a:rPr>
              <a:t>Working on most frequently failing Task error   – Analysis and development efforts are  in progress for the 6 task errors  identified as of 07/31 and planning to deploy for 09/16 release</a:t>
            </a:r>
            <a:endParaRPr lang="en-US" sz="850" kern="100">
              <a:latin typeface="Aptos" panose="020B0004020202020204" pitchFamily="34" charset="0"/>
              <a:cs typeface="Times New Roman"/>
            </a:endParaRPr>
          </a:p>
          <a:p>
            <a:r>
              <a:rPr lang="en-US" sz="850" b="1" kern="100">
                <a:latin typeface="Aptos" panose="020B0004020202020204" pitchFamily="34" charset="0"/>
                <a:cs typeface="Times New Roman"/>
              </a:rPr>
              <a:t>Observability &amp; Monitoring – </a:t>
            </a:r>
          </a:p>
          <a:p>
            <a:pPr marL="171450" indent="-171450">
              <a:buFont typeface="Arial" panose="020B0604020202020204" pitchFamily="34" charset="0"/>
              <a:buChar char="•"/>
            </a:pPr>
            <a:r>
              <a:rPr lang="en-US" sz="850" kern="100">
                <a:latin typeface="Aptos" panose="020B0004020202020204" pitchFamily="34" charset="0"/>
                <a:cs typeface="Times New Roman"/>
              </a:rPr>
              <a:t>Team has identified 43 batch flows as of 07/31 for which monitoring and observability needs to be setup. </a:t>
            </a:r>
          </a:p>
          <a:p>
            <a:pPr marL="171450" indent="-171450">
              <a:buFont typeface="Arial" panose="020B0604020202020204" pitchFamily="34" charset="0"/>
              <a:buChar char="•"/>
            </a:pPr>
            <a:r>
              <a:rPr lang="en-US" sz="850" kern="100">
                <a:latin typeface="Aptos" panose="020B0004020202020204" pitchFamily="34" charset="0"/>
                <a:cs typeface="Times New Roman"/>
              </a:rPr>
              <a:t>Completed long running monitoring enablement, Retry logic fix for19 workflows. Work is in progress for remaining workflows.</a:t>
            </a:r>
          </a:p>
          <a:p>
            <a:pPr marL="0" lvl="1"/>
            <a:r>
              <a:rPr lang="en-US" sz="850" b="1" kern="100">
                <a:latin typeface="Aptos" panose="020B0004020202020204" pitchFamily="34" charset="0"/>
                <a:cs typeface="Times New Roman"/>
              </a:rPr>
              <a:t>RRD Redesign –</a:t>
            </a:r>
          </a:p>
          <a:p>
            <a:pPr marL="171450" lvl="0" indent="-171450">
              <a:buFont typeface="Arial" panose="020B0604020202020204" pitchFamily="34" charset="0"/>
              <a:buChar char="•"/>
            </a:pPr>
            <a:r>
              <a:rPr lang="en-US" sz="850" kern="100">
                <a:latin typeface="Aptos" panose="020B0004020202020204" pitchFamily="34" charset="0"/>
                <a:cs typeface="Times New Roman"/>
              </a:rPr>
              <a:t>Development effort is in progress. Planning for Sep release</a:t>
            </a:r>
          </a:p>
          <a:p>
            <a:r>
              <a:rPr lang="en-US" sz="850" b="1" kern="100">
                <a:latin typeface="Aptos" panose="020B0004020202020204" pitchFamily="34" charset="0"/>
                <a:cs typeface="Times New Roman"/>
              </a:rPr>
              <a:t>GIN / REN / ECIF data integrity – </a:t>
            </a:r>
          </a:p>
          <a:p>
            <a:pPr marL="171450" indent="-171450">
              <a:buFont typeface="Arial" panose="020B0604020202020204" pitchFamily="34" charset="0"/>
              <a:buChar char="•"/>
            </a:pPr>
            <a:r>
              <a:rPr lang="en-US" sz="850">
                <a:latin typeface="Aptos" panose="020B0004020202020204" pitchFamily="34" charset="0"/>
              </a:rPr>
              <a:t>Solution Approach completed by Ronda.</a:t>
            </a:r>
          </a:p>
          <a:p>
            <a:pPr marL="171450" indent="-171450">
              <a:buFont typeface="Arial" panose="020B0604020202020204" pitchFamily="34" charset="0"/>
              <a:buChar char="•"/>
            </a:pPr>
            <a:r>
              <a:rPr lang="en-US" sz="850">
                <a:latin typeface="Aptos" panose="020B0004020202020204" pitchFamily="34" charset="0"/>
              </a:rPr>
              <a:t>Solution Approach review completed and requested line level estimations for the effort</a:t>
            </a:r>
          </a:p>
          <a:p>
            <a:pPr marL="171450" indent="-171450">
              <a:buFont typeface="Arial" panose="020B0604020202020204" pitchFamily="34" charset="0"/>
              <a:buChar char="•"/>
            </a:pPr>
            <a:r>
              <a:rPr lang="en-US" sz="850">
                <a:latin typeface="Aptos" panose="020B0004020202020204" pitchFamily="34" charset="0"/>
              </a:rPr>
              <a:t>Submitted Intake for ECIF consultation</a:t>
            </a:r>
          </a:p>
          <a:p>
            <a:pPr marL="171450" indent="-171450">
              <a:buFont typeface="Arial" panose="020B0604020202020204" pitchFamily="34" charset="0"/>
              <a:buChar char="•"/>
            </a:pPr>
            <a:r>
              <a:rPr lang="en-US" sz="850">
                <a:latin typeface="Aptos" panose="020B0004020202020204" pitchFamily="34" charset="0"/>
              </a:rPr>
              <a:t>Line level estimates received from </a:t>
            </a:r>
            <a:r>
              <a:rPr lang="en-US" sz="850" err="1">
                <a:latin typeface="Aptos" panose="020B0004020202020204" pitchFamily="34" charset="0"/>
              </a:rPr>
              <a:t>MiM</a:t>
            </a:r>
            <a:r>
              <a:rPr lang="en-US" sz="850">
                <a:latin typeface="Aptos" panose="020B0004020202020204" pitchFamily="34" charset="0"/>
              </a:rPr>
              <a:t> and SS. Work has been kicked off for </a:t>
            </a:r>
            <a:r>
              <a:rPr lang="en-US" sz="850" err="1">
                <a:latin typeface="Aptos" panose="020B0004020202020204" pitchFamily="34" charset="0"/>
              </a:rPr>
              <a:t>MiM</a:t>
            </a:r>
            <a:r>
              <a:rPr lang="en-US" sz="850">
                <a:latin typeface="Aptos" panose="020B0004020202020204" pitchFamily="34" charset="0"/>
              </a:rPr>
              <a:t>.  </a:t>
            </a:r>
          </a:p>
          <a:p>
            <a:pPr marL="171450" indent="-171450">
              <a:buFont typeface="Arial" panose="020B0604020202020204" pitchFamily="34" charset="0"/>
              <a:buChar char="•"/>
            </a:pPr>
            <a:r>
              <a:rPr lang="en-US" sz="900" kern="100">
                <a:latin typeface="Aptos" panose="020B0004020202020204" pitchFamily="34" charset="0"/>
                <a:cs typeface="Times New Roman"/>
              </a:rPr>
              <a:t>Worked on phased delivery proposal  approach rather than waiting to deploy the entire solution in December due to the implementation risks associated with a year-end deployment, including release freeze periods and limited resource availability during the holiday season. Lines are reviewing the below proposal.</a:t>
            </a:r>
          </a:p>
          <a:p>
            <a:pPr marL="742950" lvl="1" indent="-285750">
              <a:buFont typeface="Arial" panose="020B0604020202020204" pitchFamily="34" charset="0"/>
              <a:buChar char="•"/>
            </a:pPr>
            <a:r>
              <a:rPr lang="en-US" sz="900">
                <a:latin typeface="Aptos" panose="020B0004020202020204" pitchFamily="34" charset="0"/>
              </a:rPr>
              <a:t>Convert CEM to Java Golden Path – </a:t>
            </a:r>
            <a:r>
              <a:rPr lang="en-US" sz="900" b="1" err="1">
                <a:latin typeface="Aptos" panose="020B0004020202020204" pitchFamily="34" charset="0"/>
              </a:rPr>
              <a:t>MiM</a:t>
            </a:r>
            <a:r>
              <a:rPr lang="en-US" sz="900" b="1">
                <a:latin typeface="Aptos" panose="020B0004020202020204" pitchFamily="34" charset="0"/>
              </a:rPr>
              <a:t> – October Release</a:t>
            </a:r>
            <a:endParaRPr lang="en-US" sz="900">
              <a:latin typeface="Aptos" panose="020B0004020202020204" pitchFamily="34" charset="0"/>
            </a:endParaRPr>
          </a:p>
          <a:p>
            <a:pPr marL="742950" lvl="1" indent="-285750">
              <a:buFont typeface="Arial" panose="020B0604020202020204" pitchFamily="34" charset="0"/>
              <a:buChar char="•"/>
            </a:pPr>
            <a:r>
              <a:rPr lang="en-US" sz="900">
                <a:latin typeface="Aptos" panose="020B0004020202020204" pitchFamily="34" charset="0"/>
              </a:rPr>
              <a:t>Migrate MQ to Kafka event streams for Agreement notifications - no new functionality – </a:t>
            </a:r>
            <a:r>
              <a:rPr lang="en-US" sz="900" b="1" err="1">
                <a:latin typeface="Aptos" panose="020B0004020202020204" pitchFamily="34" charset="0"/>
              </a:rPr>
              <a:t>MiM</a:t>
            </a:r>
            <a:r>
              <a:rPr lang="en-US" sz="900" b="1">
                <a:latin typeface="Aptos" panose="020B0004020202020204" pitchFamily="34" charset="0"/>
              </a:rPr>
              <a:t> – </a:t>
            </a:r>
            <a:r>
              <a:rPr lang="en-US" sz="900" b="1" err="1">
                <a:latin typeface="Aptos" panose="020B0004020202020204" pitchFamily="34" charset="0"/>
              </a:rPr>
              <a:t>Novemeber</a:t>
            </a:r>
            <a:r>
              <a:rPr lang="en-US" sz="900" b="1">
                <a:latin typeface="Aptos" panose="020B0004020202020204" pitchFamily="34" charset="0"/>
              </a:rPr>
              <a:t> release</a:t>
            </a:r>
            <a:endParaRPr lang="en-US" sz="900">
              <a:latin typeface="Aptos" panose="020B0004020202020204" pitchFamily="34" charset="0"/>
            </a:endParaRPr>
          </a:p>
          <a:p>
            <a:pPr marL="742950" lvl="1" indent="-285750">
              <a:buFont typeface="Arial" panose="020B0604020202020204" pitchFamily="34" charset="0"/>
              <a:buChar char="•"/>
            </a:pPr>
            <a:r>
              <a:rPr lang="en-US" sz="900">
                <a:latin typeface="Aptos" panose="020B0004020202020204" pitchFamily="34" charset="0"/>
              </a:rPr>
              <a:t>Migrate MQ to Kafka event streams for Party notifications – no new functionality – </a:t>
            </a:r>
            <a:r>
              <a:rPr lang="en-US" sz="900" b="1" err="1">
                <a:latin typeface="Aptos" panose="020B0004020202020204" pitchFamily="34" charset="0"/>
              </a:rPr>
              <a:t>MiM</a:t>
            </a:r>
            <a:r>
              <a:rPr lang="en-US" sz="900" b="1">
                <a:latin typeface="Aptos" panose="020B0004020202020204" pitchFamily="34" charset="0"/>
              </a:rPr>
              <a:t> - November/December release</a:t>
            </a:r>
            <a:endParaRPr lang="en-US" sz="900">
              <a:latin typeface="Aptos" panose="020B0004020202020204" pitchFamily="34" charset="0"/>
            </a:endParaRPr>
          </a:p>
          <a:p>
            <a:pPr marL="742950" lvl="1" indent="-285750">
              <a:buFont typeface="Arial" panose="020B0604020202020204" pitchFamily="34" charset="0"/>
              <a:buChar char="•"/>
            </a:pPr>
            <a:r>
              <a:rPr lang="en-US" sz="900">
                <a:latin typeface="Aptos" panose="020B0004020202020204" pitchFamily="34" charset="0"/>
              </a:rPr>
              <a:t>Add Party notification event stream – consume ECN changes &amp; registration email (January) – </a:t>
            </a:r>
            <a:r>
              <a:rPr lang="en-US" sz="900" b="1" err="1">
                <a:latin typeface="Aptos" panose="020B0004020202020204" pitchFamily="34" charset="0"/>
              </a:rPr>
              <a:t>MiM</a:t>
            </a:r>
            <a:r>
              <a:rPr lang="en-US" sz="900" b="1">
                <a:latin typeface="Aptos" panose="020B0004020202020204" pitchFamily="34" charset="0"/>
              </a:rPr>
              <a:t> – January release</a:t>
            </a:r>
            <a:endParaRPr lang="en-US" sz="900">
              <a:latin typeface="Aptos" panose="020B0004020202020204" pitchFamily="34" charset="0"/>
            </a:endParaRPr>
          </a:p>
          <a:p>
            <a:pPr marL="742950" lvl="1" indent="-285750">
              <a:buFont typeface="Arial" panose="020B0604020202020204" pitchFamily="34" charset="0"/>
              <a:buChar char="•"/>
            </a:pPr>
            <a:r>
              <a:rPr lang="en-US" sz="900">
                <a:latin typeface="Aptos" panose="020B0004020202020204" pitchFamily="34" charset="0"/>
              </a:rPr>
              <a:t>Modify GIN Resource APIs to enable ECN update (January) (dependent on V2 to V5) – </a:t>
            </a:r>
            <a:r>
              <a:rPr lang="en-US" sz="900" b="1">
                <a:latin typeface="Aptos" panose="020B0004020202020204" pitchFamily="34" charset="0"/>
              </a:rPr>
              <a:t>SS – January release</a:t>
            </a:r>
            <a:endParaRPr lang="en-US" sz="900">
              <a:latin typeface="Aptos" panose="020B0004020202020204" pitchFamily="34" charset="0"/>
            </a:endParaRPr>
          </a:p>
          <a:p>
            <a:pPr marL="171450" lvl="0" indent="-171450">
              <a:buFont typeface="Arial" panose="020B0604020202020204" pitchFamily="34" charset="0"/>
              <a:buChar char="•"/>
            </a:pPr>
            <a:r>
              <a:rPr lang="en-US" sz="900" kern="100">
                <a:latin typeface="Aptos" panose="020B0004020202020204" pitchFamily="34" charset="0"/>
                <a:cs typeface="Times New Roman"/>
              </a:rPr>
              <a:t>Analysis is in progress by </a:t>
            </a:r>
            <a:r>
              <a:rPr lang="en-US" sz="900" kern="100" err="1">
                <a:latin typeface="Aptos" panose="020B0004020202020204" pitchFamily="34" charset="0"/>
                <a:cs typeface="Times New Roman"/>
              </a:rPr>
              <a:t>MiM</a:t>
            </a:r>
            <a:r>
              <a:rPr lang="en-US" sz="900" kern="100">
                <a:latin typeface="Aptos" panose="020B0004020202020204" pitchFamily="34" charset="0"/>
                <a:cs typeface="Times New Roman"/>
              </a:rPr>
              <a:t> team </a:t>
            </a:r>
          </a:p>
          <a:p>
            <a:pPr lvl="0"/>
            <a:endParaRPr lang="en-US" sz="900" kern="100">
              <a:cs typeface="Times New Roman"/>
            </a:endParaRPr>
          </a:p>
        </p:txBody>
      </p:sp>
      <p:sp>
        <p:nvSpPr>
          <p:cNvPr id="3" name="TextBox 2">
            <a:extLst>
              <a:ext uri="{FF2B5EF4-FFF2-40B4-BE49-F238E27FC236}">
                <a16:creationId xmlns:a16="http://schemas.microsoft.com/office/drawing/2014/main" id="{66F4CFBF-286F-3582-1184-708E9D63E1E7}"/>
              </a:ext>
            </a:extLst>
          </p:cNvPr>
          <p:cNvSpPr txBox="1"/>
          <p:nvPr/>
        </p:nvSpPr>
        <p:spPr>
          <a:xfrm>
            <a:off x="9839358" y="173345"/>
            <a:ext cx="2275101" cy="517320"/>
          </a:xfrm>
          <a:prstGeom prst="rect">
            <a:avLst/>
          </a:prstGeom>
          <a:noFill/>
        </p:spPr>
        <p:txBody>
          <a:bodyPr wrap="none" lIns="0" tIns="0" rIns="0" bIns="0" rtlCol="0" anchor="t">
            <a:noAutofit/>
          </a:bodyPr>
          <a:lstStyle>
            <a:defPPr>
              <a:defRPr lang="en-US"/>
            </a:defPPr>
            <a:lvl1pPr>
              <a:lnSpc>
                <a:spcPct val="112000"/>
              </a:lnSpc>
              <a:defRPr sz="1200">
                <a:solidFill>
                  <a:prstClr val="black"/>
                </a:solidFill>
                <a:latin typeface="Aptos" panose="02110004020202020204"/>
              </a:defRPr>
            </a:lvl1pPr>
          </a:lstStyle>
          <a:p>
            <a:r>
              <a:rPr lang="en-US"/>
              <a:t>Project Manager :  Dinesh</a:t>
            </a:r>
          </a:p>
          <a:p>
            <a:r>
              <a:rPr lang="en-US" err="1"/>
              <a:t>OpEx</a:t>
            </a:r>
            <a:r>
              <a:rPr lang="en-US"/>
              <a:t> Business Lead: Gary Wilson</a:t>
            </a:r>
          </a:p>
          <a:p>
            <a:r>
              <a:rPr lang="en-US"/>
              <a:t> </a:t>
            </a:r>
          </a:p>
        </p:txBody>
      </p:sp>
      <p:sp>
        <p:nvSpPr>
          <p:cNvPr id="4" name="Flowchart: Connector 3">
            <a:extLst>
              <a:ext uri="{FF2B5EF4-FFF2-40B4-BE49-F238E27FC236}">
                <a16:creationId xmlns:a16="http://schemas.microsoft.com/office/drawing/2014/main" id="{6E9404D7-CC30-6E3A-A6FA-86DE7242AFED}"/>
              </a:ext>
            </a:extLst>
          </p:cNvPr>
          <p:cNvSpPr/>
          <p:nvPr/>
        </p:nvSpPr>
        <p:spPr>
          <a:xfrm>
            <a:off x="3303638" y="1403331"/>
            <a:ext cx="163285" cy="164592"/>
          </a:xfrm>
          <a:prstGeom prst="flowChartConnector">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0" name="Flowchart: Connector 19">
            <a:extLst>
              <a:ext uri="{FF2B5EF4-FFF2-40B4-BE49-F238E27FC236}">
                <a16:creationId xmlns:a16="http://schemas.microsoft.com/office/drawing/2014/main" id="{7405812A-7D8D-2AEC-BB29-B67153335B3B}"/>
              </a:ext>
            </a:extLst>
          </p:cNvPr>
          <p:cNvSpPr/>
          <p:nvPr/>
        </p:nvSpPr>
        <p:spPr>
          <a:xfrm>
            <a:off x="6014357" y="1403331"/>
            <a:ext cx="163285" cy="164592"/>
          </a:xfrm>
          <a:prstGeom prst="flowChartConnector">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4" name="Flowchart: Connector 23">
            <a:extLst>
              <a:ext uri="{FF2B5EF4-FFF2-40B4-BE49-F238E27FC236}">
                <a16:creationId xmlns:a16="http://schemas.microsoft.com/office/drawing/2014/main" id="{928BE9E8-C9B2-0534-5DEE-AB2280063234}"/>
              </a:ext>
            </a:extLst>
          </p:cNvPr>
          <p:cNvSpPr/>
          <p:nvPr/>
        </p:nvSpPr>
        <p:spPr>
          <a:xfrm>
            <a:off x="7796015" y="5836643"/>
            <a:ext cx="163285" cy="164592"/>
          </a:xfrm>
          <a:prstGeom prst="flowChartConnector">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Flowchart: Connector 34">
            <a:extLst>
              <a:ext uri="{FF2B5EF4-FFF2-40B4-BE49-F238E27FC236}">
                <a16:creationId xmlns:a16="http://schemas.microsoft.com/office/drawing/2014/main" id="{55559357-1774-4FF3-912B-3D754AE848DD}"/>
              </a:ext>
            </a:extLst>
          </p:cNvPr>
          <p:cNvSpPr/>
          <p:nvPr/>
        </p:nvSpPr>
        <p:spPr>
          <a:xfrm>
            <a:off x="7780439" y="4477396"/>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Flowchart: Connector 39">
            <a:extLst>
              <a:ext uri="{FF2B5EF4-FFF2-40B4-BE49-F238E27FC236}">
                <a16:creationId xmlns:a16="http://schemas.microsoft.com/office/drawing/2014/main" id="{28B47C5E-1F2B-BB71-6E00-3E1D82291E79}"/>
              </a:ext>
            </a:extLst>
          </p:cNvPr>
          <p:cNvSpPr/>
          <p:nvPr/>
        </p:nvSpPr>
        <p:spPr>
          <a:xfrm>
            <a:off x="4223335" y="1403331"/>
            <a:ext cx="163285" cy="164592"/>
          </a:xfrm>
          <a:prstGeom prst="flowChartConnector">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7" name="Flowchart: Connector 6">
            <a:extLst>
              <a:ext uri="{FF2B5EF4-FFF2-40B4-BE49-F238E27FC236}">
                <a16:creationId xmlns:a16="http://schemas.microsoft.com/office/drawing/2014/main" id="{3E26C1F3-8205-4688-0674-5DBB6D977C15}"/>
              </a:ext>
            </a:extLst>
          </p:cNvPr>
          <p:cNvSpPr/>
          <p:nvPr/>
        </p:nvSpPr>
        <p:spPr>
          <a:xfrm>
            <a:off x="7780439" y="4871855"/>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551875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600636-0EF5-E8EB-58C1-D9F4A42CA67D}"/>
            </a:ext>
          </a:extLst>
        </p:cNvPr>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929F7E99-943E-2739-543F-B6BDC74753AB}"/>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8" imgH="408" progId="TCLayout.ActiveDocument.1">
                  <p:embed/>
                </p:oleObj>
              </mc:Choice>
              <mc:Fallback>
                <p:oleObj name="think-cell Slide" r:id="rId4" imgW="408" imgH="408" progId="TCLayout.ActiveDocument.1">
                  <p:embed/>
                  <p:pic>
                    <p:nvPicPr>
                      <p:cNvPr id="9" name="think-cell data - do not delete" hidden="1">
                        <a:extLst>
                          <a:ext uri="{FF2B5EF4-FFF2-40B4-BE49-F238E27FC236}">
                            <a16:creationId xmlns:a16="http://schemas.microsoft.com/office/drawing/2014/main" id="{929F7E99-943E-2739-543F-B6BDC74753AB}"/>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graphicFrame>
        <p:nvGraphicFramePr>
          <p:cNvPr id="32" name="Group 614">
            <a:extLst>
              <a:ext uri="{FF2B5EF4-FFF2-40B4-BE49-F238E27FC236}">
                <a16:creationId xmlns:a16="http://schemas.microsoft.com/office/drawing/2014/main" id="{3677BB71-7FF6-D9D5-5A73-AEE25D4C08B2}"/>
              </a:ext>
            </a:extLst>
          </p:cNvPr>
          <p:cNvGraphicFramePr>
            <a:graphicFrameLocks noGrp="1"/>
          </p:cNvGraphicFramePr>
          <p:nvPr/>
        </p:nvGraphicFramePr>
        <p:xfrm>
          <a:off x="4980036" y="6305845"/>
          <a:ext cx="7136859" cy="386554"/>
        </p:xfrm>
        <a:graphic>
          <a:graphicData uri="http://schemas.openxmlformats.org/drawingml/2006/table">
            <a:tbl>
              <a:tblPr/>
              <a:tblGrid>
                <a:gridCol w="606425">
                  <a:extLst>
                    <a:ext uri="{9D8B030D-6E8A-4147-A177-3AD203B41FA5}">
                      <a16:colId xmlns:a16="http://schemas.microsoft.com/office/drawing/2014/main" val="20000"/>
                    </a:ext>
                  </a:extLst>
                </a:gridCol>
                <a:gridCol w="307361">
                  <a:extLst>
                    <a:ext uri="{9D8B030D-6E8A-4147-A177-3AD203B41FA5}">
                      <a16:colId xmlns:a16="http://schemas.microsoft.com/office/drawing/2014/main" val="20001"/>
                    </a:ext>
                  </a:extLst>
                </a:gridCol>
                <a:gridCol w="757584">
                  <a:extLst>
                    <a:ext uri="{9D8B030D-6E8A-4147-A177-3AD203B41FA5}">
                      <a16:colId xmlns:a16="http://schemas.microsoft.com/office/drawing/2014/main" val="20002"/>
                    </a:ext>
                  </a:extLst>
                </a:gridCol>
                <a:gridCol w="302812">
                  <a:extLst>
                    <a:ext uri="{9D8B030D-6E8A-4147-A177-3AD203B41FA5}">
                      <a16:colId xmlns:a16="http://schemas.microsoft.com/office/drawing/2014/main" val="20003"/>
                    </a:ext>
                  </a:extLst>
                </a:gridCol>
                <a:gridCol w="665317">
                  <a:extLst>
                    <a:ext uri="{9D8B030D-6E8A-4147-A177-3AD203B41FA5}">
                      <a16:colId xmlns:a16="http://schemas.microsoft.com/office/drawing/2014/main" val="20004"/>
                    </a:ext>
                  </a:extLst>
                </a:gridCol>
                <a:gridCol w="518025">
                  <a:extLst>
                    <a:ext uri="{9D8B030D-6E8A-4147-A177-3AD203B41FA5}">
                      <a16:colId xmlns:a16="http://schemas.microsoft.com/office/drawing/2014/main" val="20005"/>
                    </a:ext>
                  </a:extLst>
                </a:gridCol>
                <a:gridCol w="568469">
                  <a:extLst>
                    <a:ext uri="{9D8B030D-6E8A-4147-A177-3AD203B41FA5}">
                      <a16:colId xmlns:a16="http://schemas.microsoft.com/office/drawing/2014/main" val="20006"/>
                    </a:ext>
                  </a:extLst>
                </a:gridCol>
                <a:gridCol w="368983">
                  <a:extLst>
                    <a:ext uri="{9D8B030D-6E8A-4147-A177-3AD203B41FA5}">
                      <a16:colId xmlns:a16="http://schemas.microsoft.com/office/drawing/2014/main" val="20007"/>
                    </a:ext>
                  </a:extLst>
                </a:gridCol>
                <a:gridCol w="1372005">
                  <a:extLst>
                    <a:ext uri="{9D8B030D-6E8A-4147-A177-3AD203B41FA5}">
                      <a16:colId xmlns:a16="http://schemas.microsoft.com/office/drawing/2014/main" val="20008"/>
                    </a:ext>
                  </a:extLst>
                </a:gridCol>
                <a:gridCol w="378212">
                  <a:extLst>
                    <a:ext uri="{9D8B030D-6E8A-4147-A177-3AD203B41FA5}">
                      <a16:colId xmlns:a16="http://schemas.microsoft.com/office/drawing/2014/main" val="20009"/>
                    </a:ext>
                  </a:extLst>
                </a:gridCol>
                <a:gridCol w="1291666">
                  <a:extLst>
                    <a:ext uri="{9D8B030D-6E8A-4147-A177-3AD203B41FA5}">
                      <a16:colId xmlns:a16="http://schemas.microsoft.com/office/drawing/2014/main" val="20010"/>
                    </a:ext>
                  </a:extLst>
                </a:gridCol>
              </a:tblGrid>
              <a:tr h="386554">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Arial" charset="0"/>
                          <a:cs typeface="Arial" charset="0"/>
                        </a:rPr>
                        <a:t>Status Key</a:t>
                      </a:r>
                      <a:endParaRPr kumimoji="0" lang="en-GB" sz="1600" b="0" i="0" u="none" strike="noStrike" cap="none" normalizeH="0" baseline="0">
                        <a:ln>
                          <a:noFill/>
                        </a:ln>
                        <a:solidFill>
                          <a:srgbClr val="002060"/>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mj-lt"/>
                        </a:rPr>
                        <a:t>C</a:t>
                      </a: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Arial" charset="0"/>
                          <a:cs typeface="Arial" charset="0"/>
                        </a:rPr>
                        <a:t>Completed</a:t>
                      </a:r>
                      <a:endParaRPr kumimoji="0" lang="en-GB" sz="1600" b="0" i="0" u="none" strike="noStrike" cap="none" normalizeH="0" baseline="0">
                        <a:ln>
                          <a:noFill/>
                        </a:ln>
                        <a:solidFill>
                          <a:srgbClr val="002060"/>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On-Schedule</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Major Issues</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Some Issues</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NS</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Not Started</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2" name="Title 1">
            <a:extLst>
              <a:ext uri="{FF2B5EF4-FFF2-40B4-BE49-F238E27FC236}">
                <a16:creationId xmlns:a16="http://schemas.microsoft.com/office/drawing/2014/main" id="{8F77E20E-4890-1D0A-C79A-0042080C41D7}"/>
              </a:ext>
            </a:extLst>
          </p:cNvPr>
          <p:cNvSpPr>
            <a:spLocks noGrp="1"/>
          </p:cNvSpPr>
          <p:nvPr>
            <p:ph type="title"/>
          </p:nvPr>
        </p:nvSpPr>
        <p:spPr>
          <a:xfrm>
            <a:off x="269945" y="288346"/>
            <a:ext cx="11652110" cy="517320"/>
          </a:xfrm>
        </p:spPr>
        <p:txBody>
          <a:bodyPr vert="horz">
            <a:normAutofit fontScale="90000"/>
          </a:bodyPr>
          <a:lstStyle/>
          <a:p>
            <a:r>
              <a:rPr lang="en-US" sz="2700" b="1">
                <a:solidFill>
                  <a:srgbClr val="29389F"/>
                </a:solidFill>
                <a:latin typeface="Arial" panose="020B0604020202020204" pitchFamily="34" charset="0"/>
                <a:cs typeface="Arial" panose="020B0604020202020204" pitchFamily="34" charset="0"/>
              </a:rPr>
              <a:t>GIN Long Term Stability – Scalability to 1.5-2M policies</a:t>
            </a:r>
            <a:br>
              <a:rPr lang="en-US"/>
            </a:br>
            <a:endParaRPr sz="1800" b="0"/>
          </a:p>
        </p:txBody>
      </p:sp>
      <p:graphicFrame>
        <p:nvGraphicFramePr>
          <p:cNvPr id="11" name="Group 513">
            <a:extLst>
              <a:ext uri="{FF2B5EF4-FFF2-40B4-BE49-F238E27FC236}">
                <a16:creationId xmlns:a16="http://schemas.microsoft.com/office/drawing/2014/main" id="{D3C3A19E-988F-11EC-E82B-4267BA8D6F8E}"/>
              </a:ext>
            </a:extLst>
          </p:cNvPr>
          <p:cNvGraphicFramePr>
            <a:graphicFrameLocks noGrp="1"/>
          </p:cNvGraphicFramePr>
          <p:nvPr>
            <p:extLst>
              <p:ext uri="{D42A27DB-BD31-4B8C-83A1-F6EECF244321}">
                <p14:modId xmlns:p14="http://schemas.microsoft.com/office/powerpoint/2010/main" val="3982885729"/>
              </p:ext>
            </p:extLst>
          </p:nvPr>
        </p:nvGraphicFramePr>
        <p:xfrm>
          <a:off x="234455" y="927650"/>
          <a:ext cx="2638218" cy="344301"/>
        </p:xfrm>
        <a:graphic>
          <a:graphicData uri="http://schemas.openxmlformats.org/drawingml/2006/table">
            <a:tbl>
              <a:tblPr/>
              <a:tblGrid>
                <a:gridCol w="984745">
                  <a:extLst>
                    <a:ext uri="{9D8B030D-6E8A-4147-A177-3AD203B41FA5}">
                      <a16:colId xmlns:a16="http://schemas.microsoft.com/office/drawing/2014/main" val="20000"/>
                    </a:ext>
                  </a:extLst>
                </a:gridCol>
                <a:gridCol w="1653473">
                  <a:extLst>
                    <a:ext uri="{9D8B030D-6E8A-4147-A177-3AD203B41FA5}">
                      <a16:colId xmlns:a16="http://schemas.microsoft.com/office/drawing/2014/main" val="20001"/>
                    </a:ext>
                  </a:extLst>
                </a:gridCol>
              </a:tblGrid>
              <a:tr h="344301">
                <a:tc>
                  <a:txBody>
                    <a:bodyPr/>
                    <a:lstStyle/>
                    <a:p>
                      <a:pPr marL="0" marR="0" lvl="0" indent="0" algn="l" defTabSz="914400" rtl="0" eaLnBrk="0" fontAlgn="base" latinLnBrk="0" hangingPunct="0">
                        <a:lnSpc>
                          <a:spcPct val="95000"/>
                        </a:lnSpc>
                        <a:spcBef>
                          <a:spcPct val="0"/>
                        </a:spcBef>
                        <a:spcAft>
                          <a:spcPct val="50000"/>
                        </a:spcAft>
                        <a:buClrTx/>
                        <a:buSzTx/>
                        <a:buFontTx/>
                        <a:buNone/>
                        <a:tabLst/>
                      </a:pPr>
                      <a:r>
                        <a:rPr kumimoji="0" lang="en-GB" sz="1050" b="1" i="0" u="none" strike="noStrike" kern="1200" cap="none" normalizeH="0" baseline="0">
                          <a:ln>
                            <a:noFill/>
                          </a:ln>
                          <a:solidFill>
                            <a:schemeClr val="bg1"/>
                          </a:solidFill>
                          <a:effectLst/>
                          <a:latin typeface="Arial"/>
                          <a:ea typeface="+mn-ea"/>
                          <a:cs typeface="+mn-cs"/>
                        </a:rPr>
                        <a:t>Status Date:</a:t>
                      </a:r>
                    </a:p>
                  </a:txBody>
                  <a:tcPr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GB" sz="850" b="1" i="0" u="none" strike="noStrike" kern="1200" cap="none" normalizeH="0" baseline="0">
                          <a:ln>
                            <a:noFill/>
                          </a:ln>
                          <a:solidFill>
                            <a:schemeClr val="tx1"/>
                          </a:solidFill>
                          <a:effectLst/>
                          <a:latin typeface="Aptos" panose="020B0004020202020204" pitchFamily="34" charset="0"/>
                          <a:ea typeface="+mn-ea"/>
                          <a:cs typeface="+mn-cs"/>
                        </a:rPr>
                        <a:t>8/28/2026</a:t>
                      </a:r>
                    </a:p>
                  </a:txBody>
                  <a:tcPr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14" name="Table 13">
            <a:extLst>
              <a:ext uri="{FF2B5EF4-FFF2-40B4-BE49-F238E27FC236}">
                <a16:creationId xmlns:a16="http://schemas.microsoft.com/office/drawing/2014/main" id="{0E4B867B-F5F4-BD4F-8231-1B55AACB274E}"/>
              </a:ext>
            </a:extLst>
          </p:cNvPr>
          <p:cNvGraphicFramePr>
            <a:graphicFrameLocks noGrp="1"/>
          </p:cNvGraphicFramePr>
          <p:nvPr>
            <p:extLst>
              <p:ext uri="{D42A27DB-BD31-4B8C-83A1-F6EECF244321}">
                <p14:modId xmlns:p14="http://schemas.microsoft.com/office/powerpoint/2010/main" val="367634058"/>
              </p:ext>
            </p:extLst>
          </p:nvPr>
        </p:nvGraphicFramePr>
        <p:xfrm>
          <a:off x="6640300" y="920667"/>
          <a:ext cx="5352360" cy="749848"/>
        </p:xfrm>
        <a:graphic>
          <a:graphicData uri="http://schemas.openxmlformats.org/drawingml/2006/table">
            <a:tbl>
              <a:tblPr>
                <a:tableStyleId>{5C22544A-7EE6-4342-B048-85BDC9FD1C3A}</a:tableStyleId>
              </a:tblPr>
              <a:tblGrid>
                <a:gridCol w="1045337">
                  <a:extLst>
                    <a:ext uri="{9D8B030D-6E8A-4147-A177-3AD203B41FA5}">
                      <a16:colId xmlns:a16="http://schemas.microsoft.com/office/drawing/2014/main" val="2456552316"/>
                    </a:ext>
                  </a:extLst>
                </a:gridCol>
                <a:gridCol w="926511">
                  <a:extLst>
                    <a:ext uri="{9D8B030D-6E8A-4147-A177-3AD203B41FA5}">
                      <a16:colId xmlns:a16="http://schemas.microsoft.com/office/drawing/2014/main" val="2327174630"/>
                    </a:ext>
                  </a:extLst>
                </a:gridCol>
                <a:gridCol w="1514970">
                  <a:extLst>
                    <a:ext uri="{9D8B030D-6E8A-4147-A177-3AD203B41FA5}">
                      <a16:colId xmlns:a16="http://schemas.microsoft.com/office/drawing/2014/main" val="1100051595"/>
                    </a:ext>
                  </a:extLst>
                </a:gridCol>
                <a:gridCol w="913991">
                  <a:extLst>
                    <a:ext uri="{9D8B030D-6E8A-4147-A177-3AD203B41FA5}">
                      <a16:colId xmlns:a16="http://schemas.microsoft.com/office/drawing/2014/main" val="2042261034"/>
                    </a:ext>
                  </a:extLst>
                </a:gridCol>
                <a:gridCol w="951551">
                  <a:extLst>
                    <a:ext uri="{9D8B030D-6E8A-4147-A177-3AD203B41FA5}">
                      <a16:colId xmlns:a16="http://schemas.microsoft.com/office/drawing/2014/main" val="2815874248"/>
                    </a:ext>
                  </a:extLst>
                </a:gridCol>
              </a:tblGrid>
              <a:tr h="366567">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2026 Budget</a:t>
                      </a:r>
                      <a:r>
                        <a:rPr lang="en-US" sz="1050" b="1" i="0" u="none" strike="noStrike" kern="1200" cap="none" normalizeH="0" baseline="0">
                          <a:ln>
                            <a:noFill/>
                          </a:ln>
                          <a:solidFill>
                            <a:schemeClr val="bg1"/>
                          </a:solidFill>
                          <a:effectLst/>
                          <a:latin typeface="Arial"/>
                          <a:ea typeface="+mn-ea"/>
                          <a:cs typeface="+mn-cs"/>
                        </a:rPr>
                        <a:t> </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YTD Actuals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Remaining 2026 Forecast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Current YE Forecast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Total Budget</a:t>
                      </a:r>
                      <a:r>
                        <a:rPr lang="en-US" sz="1050" b="1" i="0" u="none" strike="noStrike" kern="1200" cap="none" normalizeH="0" baseline="0">
                          <a:ln>
                            <a:noFill/>
                          </a:ln>
                          <a:solidFill>
                            <a:schemeClr val="bg1"/>
                          </a:solidFill>
                          <a:effectLst/>
                          <a:latin typeface="Arial"/>
                          <a:ea typeface="+mn-ea"/>
                          <a:cs typeface="+mn-cs"/>
                        </a:rPr>
                        <a:t> </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383281">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$463,000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defRPr/>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$463,000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$463,000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$463,000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7499024"/>
                  </a:ext>
                </a:extLst>
              </a:tr>
            </a:tbl>
          </a:graphicData>
        </a:graphic>
      </p:graphicFrame>
      <p:graphicFrame>
        <p:nvGraphicFramePr>
          <p:cNvPr id="25" name="Table 24">
            <a:extLst>
              <a:ext uri="{FF2B5EF4-FFF2-40B4-BE49-F238E27FC236}">
                <a16:creationId xmlns:a16="http://schemas.microsoft.com/office/drawing/2014/main" id="{EF6A726B-EDD0-D830-8E13-DC6A02F671CE}"/>
              </a:ext>
            </a:extLst>
          </p:cNvPr>
          <p:cNvGraphicFramePr>
            <a:graphicFrameLocks noGrp="1"/>
          </p:cNvGraphicFramePr>
          <p:nvPr/>
        </p:nvGraphicFramePr>
        <p:xfrm>
          <a:off x="2811025" y="920667"/>
          <a:ext cx="3829275" cy="749848"/>
        </p:xfrm>
        <a:graphic>
          <a:graphicData uri="http://schemas.openxmlformats.org/drawingml/2006/table">
            <a:tbl>
              <a:tblPr>
                <a:tableStyleId>{5C22544A-7EE6-4342-B048-85BDC9FD1C3A}</a:tableStyleId>
              </a:tblPr>
              <a:tblGrid>
                <a:gridCol w="1042158">
                  <a:extLst>
                    <a:ext uri="{9D8B030D-6E8A-4147-A177-3AD203B41FA5}">
                      <a16:colId xmlns:a16="http://schemas.microsoft.com/office/drawing/2014/main" val="2456552316"/>
                    </a:ext>
                  </a:extLst>
                </a:gridCol>
                <a:gridCol w="961214">
                  <a:extLst>
                    <a:ext uri="{9D8B030D-6E8A-4147-A177-3AD203B41FA5}">
                      <a16:colId xmlns:a16="http://schemas.microsoft.com/office/drawing/2014/main" val="1100051595"/>
                    </a:ext>
                  </a:extLst>
                </a:gridCol>
                <a:gridCol w="920742">
                  <a:extLst>
                    <a:ext uri="{9D8B030D-6E8A-4147-A177-3AD203B41FA5}">
                      <a16:colId xmlns:a16="http://schemas.microsoft.com/office/drawing/2014/main" val="2042261034"/>
                    </a:ext>
                  </a:extLst>
                </a:gridCol>
                <a:gridCol w="905161">
                  <a:extLst>
                    <a:ext uri="{9D8B030D-6E8A-4147-A177-3AD203B41FA5}">
                      <a16:colId xmlns:a16="http://schemas.microsoft.com/office/drawing/2014/main" val="2815874248"/>
                    </a:ext>
                  </a:extLst>
                </a:gridCol>
              </a:tblGrid>
              <a:tr h="409508">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Overall</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Scope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Schedule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Financials</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340340">
                <a:tc>
                  <a:txBody>
                    <a:bodyPr/>
                    <a:lstStyle/>
                    <a:p>
                      <a:pPr marL="0" marR="0" lvl="0" indent="0" algn="ctr" rtl="0" eaLnBrk="1" fontAlgn="ctr" latinLnBrk="0" hangingPunct="1">
                        <a:lnSpc>
                          <a:spcPct val="95000"/>
                        </a:lnSpc>
                        <a:spcBef>
                          <a:spcPct val="0"/>
                        </a:spcBef>
                        <a:spcAft>
                          <a:spcPct val="50000"/>
                        </a:spcAft>
                        <a:buClrTx/>
                        <a:buSzTx/>
                        <a:buFontTx/>
                        <a:buNone/>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rtl="0" eaLnBrk="1" fontAlgn="ctr" latinLnBrk="0" hangingPunct="1">
                        <a:lnSpc>
                          <a:spcPct val="95000"/>
                        </a:lnSpc>
                        <a:spcBef>
                          <a:spcPct val="0"/>
                        </a:spcBef>
                        <a:spcAft>
                          <a:spcPct val="50000"/>
                        </a:spcAft>
                        <a:buClrTx/>
                        <a:buSzTx/>
                        <a:buFontTx/>
                        <a:buNone/>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7499024"/>
                  </a:ext>
                </a:extLst>
              </a:tr>
            </a:tbl>
          </a:graphicData>
        </a:graphic>
      </p:graphicFrame>
      <p:graphicFrame>
        <p:nvGraphicFramePr>
          <p:cNvPr id="26" name="Group 513">
            <a:extLst>
              <a:ext uri="{FF2B5EF4-FFF2-40B4-BE49-F238E27FC236}">
                <a16:creationId xmlns:a16="http://schemas.microsoft.com/office/drawing/2014/main" id="{3A74EAAB-3FA7-0DB4-EE30-18CD7559EA49}"/>
              </a:ext>
            </a:extLst>
          </p:cNvPr>
          <p:cNvGraphicFramePr>
            <a:graphicFrameLocks noGrp="1"/>
          </p:cNvGraphicFramePr>
          <p:nvPr>
            <p:extLst>
              <p:ext uri="{D42A27DB-BD31-4B8C-83A1-F6EECF244321}">
                <p14:modId xmlns:p14="http://schemas.microsoft.com/office/powerpoint/2010/main" val="167175863"/>
              </p:ext>
            </p:extLst>
          </p:nvPr>
        </p:nvGraphicFramePr>
        <p:xfrm>
          <a:off x="231953" y="1271951"/>
          <a:ext cx="2581575" cy="395688"/>
        </p:xfrm>
        <a:graphic>
          <a:graphicData uri="http://schemas.openxmlformats.org/drawingml/2006/table">
            <a:tbl>
              <a:tblPr/>
              <a:tblGrid>
                <a:gridCol w="998602">
                  <a:extLst>
                    <a:ext uri="{9D8B030D-6E8A-4147-A177-3AD203B41FA5}">
                      <a16:colId xmlns:a16="http://schemas.microsoft.com/office/drawing/2014/main" val="20000"/>
                    </a:ext>
                  </a:extLst>
                </a:gridCol>
                <a:gridCol w="1582973">
                  <a:extLst>
                    <a:ext uri="{9D8B030D-6E8A-4147-A177-3AD203B41FA5}">
                      <a16:colId xmlns:a16="http://schemas.microsoft.com/office/drawing/2014/main" val="20001"/>
                    </a:ext>
                  </a:extLst>
                </a:gridCol>
              </a:tblGrid>
              <a:tr h="344301">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GB" sz="1050" b="1" i="0" u="none" strike="noStrike" kern="1200" cap="none" normalizeH="0" baseline="0">
                          <a:ln>
                            <a:noFill/>
                          </a:ln>
                          <a:solidFill>
                            <a:schemeClr val="bg1"/>
                          </a:solidFill>
                          <a:effectLst/>
                          <a:latin typeface="Arial"/>
                          <a:ea typeface="+mn-ea"/>
                          <a:cs typeface="+mn-cs"/>
                        </a:rPr>
                        <a:t>Target Delivery:</a:t>
                      </a:r>
                    </a:p>
                  </a:txBody>
                  <a:tcPr marL="0" marR="0"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850" b="1" i="0" u="none" strike="noStrike" kern="1200" cap="none" normalizeH="0" baseline="0">
                          <a:ln>
                            <a:noFill/>
                          </a:ln>
                          <a:solidFill>
                            <a:srgbClr val="FF0000"/>
                          </a:solidFill>
                          <a:effectLst/>
                          <a:latin typeface="Aptos" panose="020B0004020202020204" pitchFamily="34" charset="0"/>
                          <a:ea typeface="+mn-ea"/>
                          <a:cs typeface="+mn-cs"/>
                        </a:rPr>
                        <a:t>TBD</a:t>
                      </a:r>
                    </a:p>
                  </a:txBody>
                  <a:tcPr marL="0" marR="0"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27" name="Table 26">
            <a:extLst>
              <a:ext uri="{FF2B5EF4-FFF2-40B4-BE49-F238E27FC236}">
                <a16:creationId xmlns:a16="http://schemas.microsoft.com/office/drawing/2014/main" id="{8524ED42-1B04-FD87-7CE2-6F9837B24058}"/>
              </a:ext>
            </a:extLst>
          </p:cNvPr>
          <p:cNvGraphicFramePr>
            <a:graphicFrameLocks noGrp="1"/>
          </p:cNvGraphicFramePr>
          <p:nvPr>
            <p:extLst>
              <p:ext uri="{D42A27DB-BD31-4B8C-83A1-F6EECF244321}">
                <p14:modId xmlns:p14="http://schemas.microsoft.com/office/powerpoint/2010/main" val="3727721518"/>
              </p:ext>
            </p:extLst>
          </p:nvPr>
        </p:nvGraphicFramePr>
        <p:xfrm>
          <a:off x="4964837" y="1768716"/>
          <a:ext cx="7152058" cy="3217451"/>
        </p:xfrm>
        <a:graphic>
          <a:graphicData uri="http://schemas.openxmlformats.org/drawingml/2006/table">
            <a:tbl>
              <a:tblPr>
                <a:tableStyleId>{5C22544A-7EE6-4342-B048-85BDC9FD1C3A}</a:tableStyleId>
              </a:tblPr>
              <a:tblGrid>
                <a:gridCol w="2617796">
                  <a:extLst>
                    <a:ext uri="{9D8B030D-6E8A-4147-A177-3AD203B41FA5}">
                      <a16:colId xmlns:a16="http://schemas.microsoft.com/office/drawing/2014/main" val="2456552316"/>
                    </a:ext>
                  </a:extLst>
                </a:gridCol>
                <a:gridCol w="541753">
                  <a:extLst>
                    <a:ext uri="{9D8B030D-6E8A-4147-A177-3AD203B41FA5}">
                      <a16:colId xmlns:a16="http://schemas.microsoft.com/office/drawing/2014/main" val="1100051595"/>
                    </a:ext>
                  </a:extLst>
                </a:gridCol>
                <a:gridCol w="557390">
                  <a:extLst>
                    <a:ext uri="{9D8B030D-6E8A-4147-A177-3AD203B41FA5}">
                      <a16:colId xmlns:a16="http://schemas.microsoft.com/office/drawing/2014/main" val="2042261034"/>
                    </a:ext>
                  </a:extLst>
                </a:gridCol>
                <a:gridCol w="3435119">
                  <a:extLst>
                    <a:ext uri="{9D8B030D-6E8A-4147-A177-3AD203B41FA5}">
                      <a16:colId xmlns:a16="http://schemas.microsoft.com/office/drawing/2014/main" val="2815874248"/>
                    </a:ext>
                  </a:extLst>
                </a:gridCol>
              </a:tblGrid>
              <a:tr h="310680">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Milestone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Status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Due Date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Notes</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471913">
                <a:tc>
                  <a:txBody>
                    <a:bodyPr/>
                    <a:lstStyle/>
                    <a:p>
                      <a:pPr marL="114300" marR="0" lvl="0" indent="0" algn="l" defTabSz="914400" rtl="0" eaLnBrk="1" fontAlgn="ctr" latinLnBrk="0" hangingPunct="1">
                        <a:lnSpc>
                          <a:spcPct val="95000"/>
                        </a:lnSpc>
                        <a:spcBef>
                          <a:spcPct val="0"/>
                        </a:spcBef>
                        <a:spcAft>
                          <a:spcPct val="50000"/>
                        </a:spcAft>
                        <a:buClrTx/>
                        <a:buSzTx/>
                        <a:buFontTx/>
                        <a:buNone/>
                        <a:tabLst/>
                        <a:defRPr/>
                      </a:pPr>
                      <a:r>
                        <a:rPr lang="en-US" sz="900" kern="100">
                          <a:latin typeface="Aptos" panose="020B0004020202020204" pitchFamily="34" charset="0"/>
                          <a:cs typeface="Times New Roman"/>
                        </a:rPr>
                        <a:t>Capacity / scalability to 1-2M policies – Discovery</a:t>
                      </a:r>
                      <a:r>
                        <a:rPr lang="en-US" sz="900" b="0" kern="1200">
                          <a:solidFill>
                            <a:schemeClr val="tx1"/>
                          </a:solidFill>
                          <a:effectLst/>
                          <a:latin typeface="Aptos" panose="020B0004020202020204" pitchFamily="34" charset="0"/>
                          <a:ea typeface="+mn-ea"/>
                          <a:cs typeface="+mn-cs"/>
                        </a:rPr>
                        <a:t> Phase</a:t>
                      </a:r>
                      <a:endParaRPr lang="en-US" sz="900" kern="100">
                        <a:latin typeface="Aptos" panose="020B0004020202020204" pitchFamily="34" charset="0"/>
                        <a:cs typeface="Times New Roman"/>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r>
                        <a:rPr lang="en-US" sz="900" b="0" kern="1200">
                          <a:solidFill>
                            <a:schemeClr val="tx1"/>
                          </a:solidFill>
                          <a:effectLst/>
                          <a:latin typeface="Aptos" panose="020B0004020202020204" pitchFamily="34" charset="0"/>
                          <a:ea typeface="+mn-ea"/>
                          <a:cs typeface="+mn-cs"/>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r>
                        <a:rPr lang="en-US" sz="900" b="0" strike="noStrike" kern="1200">
                          <a:solidFill>
                            <a:schemeClr val="tx1"/>
                          </a:solidFill>
                          <a:effectLst/>
                          <a:latin typeface="Aptos" panose="020B0004020202020204" pitchFamily="34" charset="0"/>
                          <a:ea typeface="+mn-ea"/>
                          <a:cs typeface="+mn-cs"/>
                        </a:rPr>
                        <a:t>07/31/26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0" hangingPunct="1">
                        <a:lnSpc>
                          <a:spcPts val="600"/>
                        </a:lnSpc>
                        <a:spcBef>
                          <a:spcPts val="300"/>
                        </a:spcBef>
                        <a:spcAft>
                          <a:spcPts val="0"/>
                        </a:spcAft>
                        <a:buClrTx/>
                        <a:buSzTx/>
                        <a:buFontTx/>
                        <a:buNone/>
                        <a:tabLst/>
                        <a:defRPr/>
                      </a:pPr>
                      <a:r>
                        <a:rPr lang="en-US" sz="900" b="0" i="0">
                          <a:solidFill>
                            <a:srgbClr val="000000"/>
                          </a:solidFill>
                          <a:effectLst/>
                          <a:latin typeface="Aptos" panose="020B0004020202020204" pitchFamily="34" charset="0"/>
                        </a:rPr>
                        <a:t>Exavalu team completed Discovery Phase.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748893264"/>
                  </a:ext>
                </a:extLst>
              </a:tr>
              <a:tr h="282234">
                <a:tc>
                  <a:txBody>
                    <a:bodyPr/>
                    <a:lstStyle/>
                    <a:p>
                      <a:pPr marL="114300" marR="0" lvl="0" indent="0" algn="l" defTabSz="914400" rtl="0" eaLnBrk="1" fontAlgn="ctr" latinLnBrk="0" hangingPunct="1">
                        <a:lnSpc>
                          <a:spcPct val="95000"/>
                        </a:lnSpc>
                        <a:spcBef>
                          <a:spcPct val="0"/>
                        </a:spcBef>
                        <a:spcAft>
                          <a:spcPct val="50000"/>
                        </a:spcAft>
                        <a:buClrTx/>
                        <a:buSzTx/>
                        <a:buFontTx/>
                        <a:buNone/>
                        <a:tabLst/>
                        <a:defRPr/>
                      </a:pPr>
                      <a:r>
                        <a:rPr lang="en-US" sz="900" kern="100">
                          <a:solidFill>
                            <a:schemeClr val="dk1"/>
                          </a:solidFill>
                          <a:latin typeface="Aptos" panose="020B0004020202020204" pitchFamily="34" charset="0"/>
                          <a:ea typeface="+mn-ea"/>
                          <a:cs typeface="Times New Roman"/>
                        </a:rPr>
                        <a:t>Detailed Project plan and Solution Approach document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a:lnSpc>
                          <a:spcPct val="95000"/>
                        </a:lnSpc>
                        <a:spcBef>
                          <a:spcPct val="0"/>
                        </a:spcBef>
                        <a:spcAft>
                          <a:spcPct val="50000"/>
                        </a:spcAft>
                        <a:buClrTx/>
                        <a:buSzTx/>
                        <a:buFontTx/>
                        <a:buNone/>
                        <a:tabLst/>
                      </a:pPr>
                      <a:r>
                        <a:rPr lang="en-US" sz="900" b="0" kern="1200">
                          <a:solidFill>
                            <a:schemeClr val="tx1"/>
                          </a:solidFill>
                          <a:effectLst/>
                          <a:latin typeface="Aptos" panose="020B0004020202020204" pitchFamily="34" charset="0"/>
                          <a:ea typeface="+mn-ea"/>
                          <a:cs typeface="+mn-cs"/>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95000"/>
                        </a:lnSpc>
                        <a:spcBef>
                          <a:spcPct val="0"/>
                        </a:spcBef>
                        <a:spcAft>
                          <a:spcPct val="50000"/>
                        </a:spcAft>
                        <a:buClrTx/>
                        <a:buSzTx/>
                        <a:buFontTx/>
                        <a:buNone/>
                        <a:tabLst/>
                        <a:defRPr/>
                      </a:pPr>
                      <a:r>
                        <a:rPr lang="en-US" sz="900" b="0" strike="noStrike" kern="1200">
                          <a:solidFill>
                            <a:schemeClr val="tx1"/>
                          </a:solidFill>
                          <a:effectLst/>
                          <a:latin typeface="Aptos" panose="020B0004020202020204" pitchFamily="34" charset="0"/>
                          <a:ea typeface="+mn-ea"/>
                          <a:cs typeface="+mn-cs"/>
                        </a:rPr>
                        <a:t>08/31/26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a:lnSpc>
                          <a:spcPct val="114999"/>
                        </a:lnSpc>
                        <a:spcAft>
                          <a:spcPts val="800"/>
                        </a:spcAft>
                        <a:buNone/>
                      </a:pPr>
                      <a:r>
                        <a:rPr lang="en-US" sz="900" b="0" i="0" u="none" strike="noStrike" kern="100" noProof="0">
                          <a:solidFill>
                            <a:schemeClr val="dk1"/>
                          </a:solidFill>
                          <a:effectLst/>
                          <a:latin typeface="Aptos" panose="020B0004020202020204" pitchFamily="34" charset="0"/>
                        </a:rPr>
                        <a:t>Internal team review is completed.  Will review with Sastry and Ronda this week.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43924009"/>
                  </a:ext>
                </a:extLst>
              </a:tr>
              <a:tr h="332289">
                <a:tc>
                  <a:txBody>
                    <a:bodyPr/>
                    <a:lstStyle/>
                    <a:p>
                      <a:pPr marL="114300" marR="0" lvl="0" indent="0" algn="l" rtl="0" eaLnBrk="1" fontAlgn="ctr" latinLnBrk="0" hangingPunct="1">
                        <a:lnSpc>
                          <a:spcPct val="95000"/>
                        </a:lnSpc>
                        <a:spcBef>
                          <a:spcPct val="0"/>
                        </a:spcBef>
                        <a:spcAft>
                          <a:spcPct val="50000"/>
                        </a:spcAft>
                        <a:buClrTx/>
                        <a:buSzTx/>
                        <a:buFontTx/>
                        <a:buNone/>
                      </a:pPr>
                      <a:r>
                        <a:rPr lang="en-US" sz="900" b="0" kern="1200">
                          <a:solidFill>
                            <a:schemeClr val="tx1"/>
                          </a:solidFill>
                          <a:effectLst/>
                          <a:latin typeface="Aptos" panose="020B0004020202020204" pitchFamily="34" charset="0"/>
                          <a:ea typeface="+mn-ea"/>
                          <a:cs typeface="+mn-cs"/>
                        </a:rPr>
                        <a:t>Review of Solution Approach and project Plan</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900" b="0" kern="1200">
                        <a:solidFill>
                          <a:schemeClr val="tx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r>
                        <a:rPr lang="en-US" sz="900" b="0" strike="noStrike" kern="1200">
                          <a:solidFill>
                            <a:schemeClr val="tx1"/>
                          </a:solidFill>
                          <a:effectLst/>
                          <a:latin typeface="Aptos" panose="020B0004020202020204" pitchFamily="34" charset="0"/>
                          <a:ea typeface="+mn-ea"/>
                          <a:cs typeface="+mn-cs"/>
                        </a:rPr>
                        <a:t>08/31/26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ts val="600"/>
                        </a:lnSpc>
                        <a:spcBef>
                          <a:spcPts val="300"/>
                        </a:spcBef>
                        <a:spcAft>
                          <a:spcPts val="0"/>
                        </a:spcAft>
                        <a:buClrTx/>
                        <a:buSzTx/>
                        <a:buFontTx/>
                        <a:buNone/>
                        <a:tabLst/>
                        <a:defRPr/>
                      </a:pPr>
                      <a:r>
                        <a:rPr lang="en-US" sz="900" b="0" i="0">
                          <a:solidFill>
                            <a:srgbClr val="000000"/>
                          </a:solidFill>
                          <a:effectLst/>
                          <a:latin typeface="Aptos" panose="020B0004020202020204" pitchFamily="34" charset="0"/>
                        </a:rPr>
                        <a:t>Reviewed with Sastry and Ronda. Working on the feedback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73210692"/>
                  </a:ext>
                </a:extLst>
              </a:tr>
              <a:tr h="296868">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1000" b="0" kern="1200">
                          <a:solidFill>
                            <a:schemeClr val="tx1"/>
                          </a:solidFill>
                          <a:latin typeface="Aptos" panose="020B0004020202020204" pitchFamily="34" charset="0"/>
                          <a:ea typeface="+mn-ea"/>
                          <a:cs typeface="+mn-cs"/>
                        </a:rPr>
                        <a:t>Snowflake Infra Upgrade- KPI  Queries</a:t>
                      </a:r>
                      <a:endParaRPr lang="en-US" sz="900">
                        <a:latin typeface="Aptos"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a:lnSpc>
                          <a:spcPct val="95000"/>
                        </a:lnSpc>
                        <a:spcBef>
                          <a:spcPct val="0"/>
                        </a:spcBef>
                        <a:spcAft>
                          <a:spcPct val="50000"/>
                        </a:spcAft>
                        <a:buClrTx/>
                        <a:buSzTx/>
                        <a:buFontTx/>
                        <a:buNone/>
                        <a:tabLst/>
                      </a:pPr>
                      <a:r>
                        <a:rPr lang="en-US" sz="900" b="0" kern="1200">
                          <a:solidFill>
                            <a:schemeClr val="tx1"/>
                          </a:solidFill>
                          <a:effectLst/>
                          <a:latin typeface="Aptos" panose="020B0004020202020204" pitchFamily="34" charset="0"/>
                          <a:ea typeface="+mn-ea"/>
                          <a:cs typeface="+mn-cs"/>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95000"/>
                        </a:lnSpc>
                        <a:spcBef>
                          <a:spcPct val="0"/>
                        </a:spcBef>
                        <a:spcAft>
                          <a:spcPct val="50000"/>
                        </a:spcAft>
                        <a:buClrTx/>
                        <a:buSzTx/>
                        <a:buFontTx/>
                        <a:buNone/>
                        <a:tabLst/>
                        <a:defRPr/>
                      </a:pPr>
                      <a:r>
                        <a:rPr lang="en-US" sz="900" b="0" strike="noStrike" kern="1200">
                          <a:solidFill>
                            <a:schemeClr val="tx1"/>
                          </a:solidFill>
                          <a:effectLst/>
                          <a:latin typeface="Aptos" panose="020B0004020202020204" pitchFamily="34" charset="0"/>
                          <a:ea typeface="+mn-ea"/>
                          <a:cs typeface="+mn-cs"/>
                        </a:rPr>
                        <a:t>08/24/26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a:lnSpc>
                          <a:spcPct val="114999"/>
                        </a:lnSpc>
                        <a:spcAft>
                          <a:spcPts val="800"/>
                        </a:spcAft>
                        <a:buNone/>
                      </a:pPr>
                      <a:endParaRPr lang="en-US" sz="900" b="0" i="0" u="none" strike="noStrike" kern="100" noProof="0">
                        <a:solidFill>
                          <a:schemeClr val="dk1"/>
                        </a:solidFill>
                        <a:effectLst/>
                        <a:latin typeface="Aptos" panose="020B00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87139067"/>
                  </a:ext>
                </a:extLst>
              </a:tr>
              <a:tr h="321557">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1000" b="0" kern="1200">
                          <a:solidFill>
                            <a:schemeClr val="tx1"/>
                          </a:solidFill>
                          <a:latin typeface="Aptos" panose="020B0004020202020204" pitchFamily="34" charset="0"/>
                          <a:ea typeface="+mn-ea"/>
                          <a:cs typeface="+mn-cs"/>
                        </a:rPr>
                        <a:t>RS2SNF-Architecture and LLD</a:t>
                      </a:r>
                      <a:endParaRPr lang="en-US" sz="900">
                        <a:latin typeface="Aptos"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a:lnSpc>
                          <a:spcPct val="95000"/>
                        </a:lnSpc>
                        <a:spcBef>
                          <a:spcPct val="0"/>
                        </a:spcBef>
                        <a:spcAft>
                          <a:spcPct val="50000"/>
                        </a:spcAft>
                        <a:buClrTx/>
                        <a:buSzTx/>
                        <a:buFontTx/>
                        <a:buNone/>
                        <a:tabLst/>
                      </a:pPr>
                      <a:endParaRPr lang="en-US" sz="900" b="0" kern="1200">
                        <a:solidFill>
                          <a:schemeClr val="tx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95000"/>
                        </a:lnSpc>
                        <a:spcBef>
                          <a:spcPct val="0"/>
                        </a:spcBef>
                        <a:spcAft>
                          <a:spcPct val="50000"/>
                        </a:spcAft>
                        <a:buClrTx/>
                        <a:buSzTx/>
                        <a:buFontTx/>
                        <a:buNone/>
                        <a:tabLst/>
                        <a:defRPr/>
                      </a:pPr>
                      <a:r>
                        <a:rPr lang="en-US" sz="900" b="0" strike="noStrike" kern="1200">
                          <a:solidFill>
                            <a:schemeClr val="tx1"/>
                          </a:solidFill>
                          <a:effectLst/>
                          <a:latin typeface="Aptos" panose="020B0004020202020204" pitchFamily="34" charset="0"/>
                          <a:ea typeface="+mn-ea"/>
                          <a:cs typeface="+mn-cs"/>
                        </a:rPr>
                        <a:t>09/02/26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14999"/>
                        </a:lnSpc>
                        <a:spcBef>
                          <a:spcPts val="0"/>
                        </a:spcBef>
                        <a:spcAft>
                          <a:spcPts val="800"/>
                        </a:spcAft>
                        <a:buClrTx/>
                        <a:buSzTx/>
                        <a:buFontTx/>
                        <a:buNone/>
                        <a:tabLst/>
                        <a:defRPr/>
                      </a:pPr>
                      <a:r>
                        <a:rPr lang="en-US" sz="900" b="0" i="0" u="none" strike="noStrike" kern="100" noProof="0">
                          <a:solidFill>
                            <a:schemeClr val="dk1"/>
                          </a:solidFill>
                          <a:effectLst/>
                          <a:latin typeface="Aptos" panose="020B0004020202020204" pitchFamily="34" charset="0"/>
                        </a:rPr>
                        <a:t>Work is in progress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75249404"/>
                  </a:ext>
                </a:extLst>
              </a:tr>
              <a:tr h="267703">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1000" b="0" kern="1200">
                          <a:solidFill>
                            <a:schemeClr val="tx1"/>
                          </a:solidFill>
                          <a:latin typeface="Aptos" panose="020B0004020202020204" pitchFamily="34" charset="0"/>
                          <a:ea typeface="+mn-ea"/>
                          <a:cs typeface="+mn-cs"/>
                        </a:rPr>
                        <a:t>GIN - Phase 1 solutions</a:t>
                      </a:r>
                      <a:endParaRPr lang="en-US" sz="900" kern="1200">
                        <a:solidFill>
                          <a:schemeClr val="dk1"/>
                        </a:solidFill>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900">
                        <a:latin typeface="Aptos"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900" strike="noStrike">
                          <a:latin typeface="Aptos" panose="020B0004020202020204" pitchFamily="34" charset="0"/>
                        </a:rPr>
                        <a:t>08/31/26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14999"/>
                        </a:lnSpc>
                        <a:spcBef>
                          <a:spcPts val="0"/>
                        </a:spcBef>
                        <a:spcAft>
                          <a:spcPts val="800"/>
                        </a:spcAft>
                        <a:buClrTx/>
                        <a:buSzTx/>
                        <a:buFontTx/>
                        <a:buNone/>
                        <a:tabLst/>
                        <a:defRPr/>
                      </a:pPr>
                      <a:r>
                        <a:rPr lang="en-US" sz="900" b="0" i="0" u="none" strike="noStrike" kern="100">
                          <a:solidFill>
                            <a:schemeClr val="dk1"/>
                          </a:solidFill>
                          <a:effectLst/>
                          <a:latin typeface="Aptos" panose="020B0004020202020204" pitchFamily="34" charset="0"/>
                          <a:ea typeface="+mn-ea"/>
                          <a:cs typeface="+mn-cs"/>
                        </a:rPr>
                        <a:t>    Work is in progress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76961585"/>
                  </a:ext>
                </a:extLst>
              </a:tr>
              <a:tr h="407230">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1000" b="0" kern="1200">
                          <a:solidFill>
                            <a:schemeClr val="tx1"/>
                          </a:solidFill>
                          <a:latin typeface="Aptos" panose="020B0004020202020204" pitchFamily="34" charset="0"/>
                          <a:ea typeface="+mn-ea"/>
                          <a:cs typeface="+mn-cs"/>
                        </a:rPr>
                        <a:t>GIN - Phase 2  Long Term Solutions identification</a:t>
                      </a:r>
                      <a:endParaRPr lang="en-US" sz="900" kern="1200">
                        <a:solidFill>
                          <a:schemeClr val="dk1"/>
                        </a:solidFill>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900">
                        <a:latin typeface="Aptos"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900">
                          <a:latin typeface="Aptos" panose="020B0004020202020204" pitchFamily="34" charset="0"/>
                        </a:rPr>
                        <a:t>10/31/26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eaLnBrk="1" fontAlgn="ctr" latinLnBrk="0" hangingPunct="1">
                        <a:lnSpc>
                          <a:spcPct val="95000"/>
                        </a:lnSpc>
                        <a:spcBef>
                          <a:spcPct val="0"/>
                        </a:spcBef>
                        <a:spcAft>
                          <a:spcPct val="50000"/>
                        </a:spcAft>
                        <a:buClrTx/>
                        <a:buSzTx/>
                        <a:buFontTx/>
                        <a:buNone/>
                      </a:pPr>
                      <a:r>
                        <a:rPr lang="en-US" sz="900" b="0" kern="1200">
                          <a:solidFill>
                            <a:schemeClr val="tx1"/>
                          </a:solidFill>
                          <a:effectLst/>
                          <a:latin typeface="Aptos" panose="020B0004020202020204" pitchFamily="34" charset="0"/>
                          <a:ea typeface="+mn-ea"/>
                          <a:cs typeface="+mn-cs"/>
                        </a:rPr>
                        <a:t>Work is in progress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62506059"/>
                  </a:ext>
                </a:extLst>
              </a:tr>
              <a:tr h="407230">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1000" b="0" kern="1200">
                          <a:solidFill>
                            <a:schemeClr val="tx1"/>
                          </a:solidFill>
                          <a:latin typeface="Aptos" panose="020B0004020202020204" pitchFamily="34" charset="0"/>
                          <a:ea typeface="+mn-ea"/>
                          <a:cs typeface="+mn-cs"/>
                        </a:rPr>
                        <a:t>Implementation Planned for finalized use cases </a:t>
                      </a:r>
                      <a:endParaRPr lang="en-US" sz="900" kern="1200">
                        <a:solidFill>
                          <a:schemeClr val="dk1"/>
                        </a:solidFill>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900">
                          <a:latin typeface="Aptos" panose="020B0004020202020204" pitchFamily="34" charset="0"/>
                        </a:rPr>
                        <a:t>NS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900">
                          <a:latin typeface="Aptos" panose="020B0004020202020204" pitchFamily="34" charset="0"/>
                        </a:rPr>
                        <a:t>11/30/26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eaLnBrk="1" fontAlgn="ctr" latinLnBrk="0" hangingPunct="1">
                        <a:lnSpc>
                          <a:spcPct val="95000"/>
                        </a:lnSpc>
                        <a:spcBef>
                          <a:spcPct val="0"/>
                        </a:spcBef>
                        <a:spcAft>
                          <a:spcPct val="50000"/>
                        </a:spcAft>
                        <a:buClrTx/>
                        <a:buSzTx/>
                        <a:buFontTx/>
                        <a:buNone/>
                      </a:pPr>
                      <a:endParaRPr lang="en-US" sz="900" b="0" kern="1200">
                        <a:solidFill>
                          <a:schemeClr val="tx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90473828"/>
                  </a:ext>
                </a:extLst>
              </a:tr>
            </a:tbl>
          </a:graphicData>
        </a:graphic>
      </p:graphicFrame>
      <p:graphicFrame>
        <p:nvGraphicFramePr>
          <p:cNvPr id="29" name="Table 28">
            <a:extLst>
              <a:ext uri="{FF2B5EF4-FFF2-40B4-BE49-F238E27FC236}">
                <a16:creationId xmlns:a16="http://schemas.microsoft.com/office/drawing/2014/main" id="{834A5C42-524C-1A36-F1D6-A89E382ED2A8}"/>
              </a:ext>
            </a:extLst>
          </p:cNvPr>
          <p:cNvGraphicFramePr>
            <a:graphicFrameLocks noGrp="1"/>
          </p:cNvGraphicFramePr>
          <p:nvPr>
            <p:extLst>
              <p:ext uri="{D42A27DB-BD31-4B8C-83A1-F6EECF244321}">
                <p14:modId xmlns:p14="http://schemas.microsoft.com/office/powerpoint/2010/main" val="2143409333"/>
              </p:ext>
            </p:extLst>
          </p:nvPr>
        </p:nvGraphicFramePr>
        <p:xfrm>
          <a:off x="4964837" y="5188589"/>
          <a:ext cx="7144459" cy="780288"/>
        </p:xfrm>
        <a:graphic>
          <a:graphicData uri="http://schemas.openxmlformats.org/drawingml/2006/table">
            <a:tbl>
              <a:tblPr>
                <a:tableStyleId>{5C22544A-7EE6-4342-B048-85BDC9FD1C3A}</a:tableStyleId>
              </a:tblPr>
              <a:tblGrid>
                <a:gridCol w="2636203">
                  <a:extLst>
                    <a:ext uri="{9D8B030D-6E8A-4147-A177-3AD203B41FA5}">
                      <a16:colId xmlns:a16="http://schemas.microsoft.com/office/drawing/2014/main" val="2456552316"/>
                    </a:ext>
                  </a:extLst>
                </a:gridCol>
                <a:gridCol w="517675">
                  <a:extLst>
                    <a:ext uri="{9D8B030D-6E8A-4147-A177-3AD203B41FA5}">
                      <a16:colId xmlns:a16="http://schemas.microsoft.com/office/drawing/2014/main" val="1100051595"/>
                    </a:ext>
                  </a:extLst>
                </a:gridCol>
                <a:gridCol w="574949">
                  <a:extLst>
                    <a:ext uri="{9D8B030D-6E8A-4147-A177-3AD203B41FA5}">
                      <a16:colId xmlns:a16="http://schemas.microsoft.com/office/drawing/2014/main" val="2042261034"/>
                    </a:ext>
                  </a:extLst>
                </a:gridCol>
                <a:gridCol w="3415632">
                  <a:extLst>
                    <a:ext uri="{9D8B030D-6E8A-4147-A177-3AD203B41FA5}">
                      <a16:colId xmlns:a16="http://schemas.microsoft.com/office/drawing/2014/main" val="2815874248"/>
                    </a:ext>
                  </a:extLst>
                </a:gridCol>
              </a:tblGrid>
              <a:tr h="293000">
                <a:tc>
                  <a:txBody>
                    <a:bodyPr/>
                    <a:lstStyle/>
                    <a:p>
                      <a:pPr marL="0" marR="0" lvl="0" indent="0" algn="ctr" defTabSz="914400" rtl="0" eaLnBrk="0" fontAlgn="base" latinLnBrk="0" hangingPunct="0">
                        <a:lnSpc>
                          <a:spcPct val="95000"/>
                        </a:lnSpc>
                        <a:spcBef>
                          <a:spcPct val="0"/>
                        </a:spcBef>
                        <a:spcAft>
                          <a:spcPct val="50000"/>
                        </a:spcAft>
                        <a:buClrTx/>
                        <a:buSzTx/>
                        <a:buFontTx/>
                        <a:buNone/>
                        <a:tabLst/>
                        <a:defRPr/>
                      </a:pPr>
                      <a:r>
                        <a:rPr kumimoji="0" lang="en-US" sz="1050" b="1" i="0" u="none" strike="noStrike" kern="1200" cap="none" normalizeH="0" baseline="0">
                          <a:ln>
                            <a:noFill/>
                          </a:ln>
                          <a:solidFill>
                            <a:schemeClr val="bg1"/>
                          </a:solidFill>
                          <a:effectLst/>
                          <a:latin typeface="Arial"/>
                          <a:ea typeface="+mn-ea"/>
                          <a:cs typeface="+mn-cs"/>
                        </a:rPr>
                        <a:t>Critical Risks/Issues</a:t>
                      </a: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Status</a:t>
                      </a:r>
                    </a:p>
                  </a:txBody>
                  <a:tcPr marL="9525" marR="9525" marT="9525" marB="0" anchor="ct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Target Date</a:t>
                      </a:r>
                    </a:p>
                  </a:txBody>
                  <a:tcPr marL="9525" marR="9525" marT="9525" marB="0" anchor="ctr">
                    <a:lnL w="12700">
                      <a:solidFill>
                        <a:schemeClr val="tx1"/>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Resolution / Mitigation</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435181">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1000" kern="1200">
                          <a:solidFill>
                            <a:schemeClr val="dk1"/>
                          </a:solidFill>
                          <a:latin typeface="Aptos" panose="020B0004020202020204" pitchFamily="34" charset="0"/>
                          <a:ea typeface="+mn-ea"/>
                          <a:cs typeface="+mn-cs"/>
                        </a:rPr>
                        <a:t>Lack of overall project QE lead</a:t>
                      </a: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900" b="0" kern="1200">
                        <a:solidFill>
                          <a:schemeClr val="tx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900" b="0" strike="noStrike" kern="1200">
                        <a:solidFill>
                          <a:schemeClr val="tx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ts val="200"/>
                        </a:spcBef>
                        <a:spcAft>
                          <a:spcPts val="0"/>
                        </a:spcAft>
                        <a:buClrTx/>
                        <a:buSzTx/>
                        <a:buFont typeface="Arial" panose="020B0604020202020204" pitchFamily="34" charset="0"/>
                        <a:buNone/>
                        <a:tabLst/>
                        <a:defRPr/>
                      </a:pPr>
                      <a:r>
                        <a:rPr lang="en-US" sz="1000" b="0" strike="noStrike" kern="1200">
                          <a:solidFill>
                            <a:schemeClr val="tx1"/>
                          </a:solidFill>
                          <a:effectLst/>
                          <a:latin typeface="Aptos" panose="020B0004020202020204" pitchFamily="34" charset="0"/>
                          <a:ea typeface="+mn-ea"/>
                          <a:cs typeface="+mn-cs"/>
                        </a:rPr>
                        <a:t>Requested Amy for QE lead who will work on to create the master test strategy which is very critical to success of this project</a:t>
                      </a: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35531996"/>
                  </a:ext>
                </a:extLst>
              </a:tr>
            </a:tbl>
          </a:graphicData>
        </a:graphic>
      </p:graphicFrame>
      <p:sp>
        <p:nvSpPr>
          <p:cNvPr id="33" name="Flowchart: Connector 32">
            <a:extLst>
              <a:ext uri="{FF2B5EF4-FFF2-40B4-BE49-F238E27FC236}">
                <a16:creationId xmlns:a16="http://schemas.microsoft.com/office/drawing/2014/main" id="{76BD5F50-9E1D-8D09-804F-0478CE349933}"/>
              </a:ext>
            </a:extLst>
          </p:cNvPr>
          <p:cNvSpPr/>
          <p:nvPr/>
        </p:nvSpPr>
        <p:spPr>
          <a:xfrm>
            <a:off x="6729886" y="6416791"/>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Flowchart: Connector 33">
            <a:extLst>
              <a:ext uri="{FF2B5EF4-FFF2-40B4-BE49-F238E27FC236}">
                <a16:creationId xmlns:a16="http://schemas.microsoft.com/office/drawing/2014/main" id="{E37FAC63-BF14-56A8-4C9B-FCC5E9A3751A}"/>
              </a:ext>
            </a:extLst>
          </p:cNvPr>
          <p:cNvSpPr/>
          <p:nvPr/>
        </p:nvSpPr>
        <p:spPr>
          <a:xfrm>
            <a:off x="7797764" y="6417067"/>
            <a:ext cx="163286" cy="164592"/>
          </a:xfrm>
          <a:prstGeom prst="flowChartConnector">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Flowchart: Connector 35">
            <a:extLst>
              <a:ext uri="{FF2B5EF4-FFF2-40B4-BE49-F238E27FC236}">
                <a16:creationId xmlns:a16="http://schemas.microsoft.com/office/drawing/2014/main" id="{1F9CA744-7FEC-AE93-7B98-511321688F09}"/>
              </a:ext>
            </a:extLst>
          </p:cNvPr>
          <p:cNvSpPr/>
          <p:nvPr/>
        </p:nvSpPr>
        <p:spPr>
          <a:xfrm>
            <a:off x="8807808" y="6405062"/>
            <a:ext cx="163285" cy="164592"/>
          </a:xfrm>
          <a:prstGeom prst="flowChartConnector">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Flowchart: Connector 45">
            <a:extLst>
              <a:ext uri="{FF2B5EF4-FFF2-40B4-BE49-F238E27FC236}">
                <a16:creationId xmlns:a16="http://schemas.microsoft.com/office/drawing/2014/main" id="{E0590FA4-E345-8902-5974-9B3AB6270E46}"/>
              </a:ext>
            </a:extLst>
          </p:cNvPr>
          <p:cNvSpPr/>
          <p:nvPr/>
        </p:nvSpPr>
        <p:spPr>
          <a:xfrm>
            <a:off x="5143033" y="1403331"/>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18AAE5A-AC62-0488-871A-5961BB25E92A}"/>
              </a:ext>
            </a:extLst>
          </p:cNvPr>
          <p:cNvSpPr txBox="1"/>
          <p:nvPr/>
        </p:nvSpPr>
        <p:spPr>
          <a:xfrm>
            <a:off x="67505" y="2011940"/>
            <a:ext cx="4743293" cy="4070345"/>
          </a:xfrm>
          <a:prstGeom prst="rect">
            <a:avLst/>
          </a:prstGeom>
          <a:noFill/>
        </p:spPr>
        <p:txBody>
          <a:bodyPr wrap="square" lIns="91440" tIns="45720" rIns="91440" bIns="45720" anchor="t">
            <a:spAutoFit/>
          </a:bodyPr>
          <a:lstStyle/>
          <a:p>
            <a:r>
              <a:rPr lang="en-US" sz="900" b="1">
                <a:latin typeface="Aptos" panose="020B0004020202020204" pitchFamily="34" charset="0"/>
              </a:rPr>
              <a:t>Status: </a:t>
            </a:r>
          </a:p>
          <a:p>
            <a:r>
              <a:rPr lang="en-US" sz="900" kern="100">
                <a:latin typeface="Aptos" panose="020B0004020202020204" pitchFamily="34" charset="0"/>
                <a:cs typeface="Times New Roman"/>
              </a:rPr>
              <a:t>Overall Status: The Discovery work is completed and Now the 463K funding is approved, the team is working on scoping the solution approach and detailing tasks for development and testing</a:t>
            </a:r>
          </a:p>
          <a:p>
            <a:endParaRPr lang="en-US" sz="900" kern="100">
              <a:latin typeface="Aptos" panose="020B0004020202020204" pitchFamily="34" charset="0"/>
              <a:cs typeface="Times New Roman"/>
            </a:endParaRPr>
          </a:p>
          <a:p>
            <a:r>
              <a:rPr lang="en-US" sz="1050" b="1" kern="100">
                <a:latin typeface="Aptos" panose="020B0004020202020204" pitchFamily="34" charset="0"/>
                <a:cs typeface="Times New Roman"/>
              </a:rPr>
              <a:t>Work in progress activities - </a:t>
            </a:r>
          </a:p>
          <a:p>
            <a:endParaRPr lang="en-US" sz="900" kern="100">
              <a:latin typeface="Aptos" panose="020B0004020202020204" pitchFamily="34" charset="0"/>
              <a:cs typeface="Times New Roman"/>
            </a:endParaRPr>
          </a:p>
          <a:p>
            <a:r>
              <a:rPr lang="en-US" sz="1050" b="1" kern="100">
                <a:latin typeface="Aptos" panose="020B0004020202020204" pitchFamily="34" charset="0"/>
                <a:cs typeface="Times New Roman"/>
              </a:rPr>
              <a:t>GIN - </a:t>
            </a:r>
          </a:p>
          <a:p>
            <a:pPr marL="342900" indent="-342900">
              <a:buFont typeface="Arial" panose="020B0604020202020204" pitchFamily="34" charset="0"/>
              <a:buChar char="•"/>
            </a:pPr>
            <a:r>
              <a:rPr lang="en-US" sz="1000">
                <a:latin typeface="Aptos" panose="020B0004020202020204" pitchFamily="34" charset="0"/>
              </a:rPr>
              <a:t>Deploy Phase 1 Quick Fix changes in train2 and perform dry run test.</a:t>
            </a:r>
          </a:p>
          <a:p>
            <a:pPr marL="342900" indent="-342900">
              <a:buFont typeface="Arial" panose="020B0604020202020204" pitchFamily="34" charset="0"/>
              <a:buChar char="•"/>
            </a:pPr>
            <a:r>
              <a:rPr lang="en-US" sz="1000">
                <a:latin typeface="Aptos" panose="020B0004020202020204" pitchFamily="34" charset="0"/>
              </a:rPr>
              <a:t>Deploy changes with sunset jobs removal in train2 and validate data after daily cycle run.</a:t>
            </a:r>
          </a:p>
          <a:p>
            <a:pPr marL="342900" indent="-342900">
              <a:buFont typeface="Arial" panose="020B0604020202020204" pitchFamily="34" charset="0"/>
              <a:buChar char="•"/>
            </a:pPr>
            <a:r>
              <a:rPr lang="en-US" sz="1000">
                <a:latin typeface="Aptos" panose="020B0004020202020204" pitchFamily="34" charset="0"/>
              </a:rPr>
              <a:t>Proceed with planned Phase 2 activity</a:t>
            </a:r>
          </a:p>
          <a:p>
            <a:pPr marL="800100" lvl="1" indent="-342900">
              <a:buFont typeface="Courier New" panose="02070309020205020404" pitchFamily="49" charset="0"/>
              <a:buChar char="o"/>
            </a:pPr>
            <a:r>
              <a:rPr lang="en-US" sz="1000">
                <a:latin typeface="Aptos" panose="020B0004020202020204" pitchFamily="34" charset="0"/>
              </a:rPr>
              <a:t>Policy Summary Stats Action - determine long running queries.</a:t>
            </a:r>
          </a:p>
          <a:p>
            <a:pPr marL="800100" lvl="1" indent="-342900">
              <a:buFont typeface="Courier New" panose="02070309020205020404" pitchFamily="49" charset="0"/>
              <a:buChar char="o"/>
            </a:pPr>
            <a:r>
              <a:rPr lang="en-US" sz="1000">
                <a:latin typeface="Aptos" panose="020B0004020202020204" pitchFamily="34" charset="0"/>
              </a:rPr>
              <a:t>Orange Job - ECIF Report VHL Cancellations and Failed Policies - Analyze on Multi-threading feasibility.</a:t>
            </a:r>
          </a:p>
          <a:p>
            <a:endParaRPr lang="en-US" sz="900" b="1">
              <a:latin typeface="Aptos" panose="020B0004020202020204" pitchFamily="34" charset="0"/>
            </a:endParaRPr>
          </a:p>
          <a:p>
            <a:r>
              <a:rPr lang="en-US" sz="1050" b="1" kern="100">
                <a:latin typeface="Aptos" panose="020B0004020202020204" pitchFamily="34" charset="0"/>
                <a:cs typeface="Times New Roman"/>
              </a:rPr>
              <a:t>Snowflake DW </a:t>
            </a:r>
          </a:p>
          <a:p>
            <a:pPr marL="285750" indent="-285750">
              <a:buFont typeface="Arial" panose="020B0604020202020204" pitchFamily="34" charset="0"/>
              <a:buChar char="•"/>
            </a:pPr>
            <a:r>
              <a:rPr lang="en-US" sz="1000">
                <a:latin typeface="Aptos" panose="020B0004020202020204" pitchFamily="34" charset="0"/>
              </a:rPr>
              <a:t>Complete the LLD and solutioning document for Redshift to Snowflake. Review with Amit/Visali.</a:t>
            </a:r>
          </a:p>
          <a:p>
            <a:pPr marL="285750" indent="-285750">
              <a:buFont typeface="Arial" panose="020B0604020202020204" pitchFamily="34" charset="0"/>
              <a:buChar char="•"/>
            </a:pPr>
            <a:r>
              <a:rPr lang="en-US" sz="1000">
                <a:latin typeface="Aptos" panose="020B0004020202020204" pitchFamily="34" charset="0"/>
              </a:rPr>
              <a:t>Create python scripts to test for few sample tables to validate the incremental flows with test scenarios.</a:t>
            </a:r>
          </a:p>
          <a:p>
            <a:endParaRPr lang="en-US" sz="900" kern="100">
              <a:cs typeface="Times New Roman"/>
            </a:endParaRPr>
          </a:p>
          <a:p>
            <a:endParaRPr lang="en-US" sz="900" kern="100">
              <a:highlight>
                <a:srgbClr val="FFFF00"/>
              </a:highlight>
              <a:cs typeface="Times New Roman"/>
            </a:endParaRPr>
          </a:p>
          <a:p>
            <a:pPr marL="171450" indent="-171450">
              <a:buFont typeface="Arial" panose="020B0604020202020204" pitchFamily="34" charset="0"/>
              <a:buChar char="•"/>
            </a:pPr>
            <a:endParaRPr lang="en-US" sz="900" b="1" kern="100">
              <a:cs typeface="Times New Roman"/>
            </a:endParaRPr>
          </a:p>
          <a:p>
            <a:pPr marL="171450" lvl="0" indent="-171450">
              <a:buFont typeface="Arial" panose="020B0604020202020204" pitchFamily="34" charset="0"/>
              <a:buChar char="•"/>
            </a:pPr>
            <a:endParaRPr lang="en-US" sz="900" kern="100">
              <a:cs typeface="Times New Roman"/>
            </a:endParaRPr>
          </a:p>
          <a:p>
            <a:pPr marL="171450" indent="-171450">
              <a:buFont typeface="Arial" panose="020B0604020202020204" pitchFamily="34" charset="0"/>
              <a:buChar char="•"/>
            </a:pPr>
            <a:endParaRPr lang="en-US" sz="900" kern="100">
              <a:cs typeface="Times New Roman"/>
            </a:endParaRPr>
          </a:p>
          <a:p>
            <a:pPr lvl="0"/>
            <a:endParaRPr lang="en-US" sz="900" kern="100">
              <a:cs typeface="Times New Roman"/>
            </a:endParaRPr>
          </a:p>
        </p:txBody>
      </p:sp>
      <p:sp>
        <p:nvSpPr>
          <p:cNvPr id="3" name="TextBox 2">
            <a:extLst>
              <a:ext uri="{FF2B5EF4-FFF2-40B4-BE49-F238E27FC236}">
                <a16:creationId xmlns:a16="http://schemas.microsoft.com/office/drawing/2014/main" id="{41375A5A-3A3F-9D66-4EBD-49EA9AFA649B}"/>
              </a:ext>
            </a:extLst>
          </p:cNvPr>
          <p:cNvSpPr txBox="1"/>
          <p:nvPr/>
        </p:nvSpPr>
        <p:spPr>
          <a:xfrm>
            <a:off x="9854419" y="165601"/>
            <a:ext cx="2275101" cy="517320"/>
          </a:xfrm>
          <a:prstGeom prst="rect">
            <a:avLst/>
          </a:prstGeom>
          <a:noFill/>
        </p:spPr>
        <p:txBody>
          <a:bodyPr wrap="none" lIns="0" tIns="0" rIns="0" bIns="0" rtlCol="0" anchor="t">
            <a:noAutofit/>
          </a:bodyPr>
          <a:lstStyle>
            <a:defPPr>
              <a:defRPr lang="en-US"/>
            </a:defPPr>
            <a:lvl1pPr>
              <a:lnSpc>
                <a:spcPct val="112000"/>
              </a:lnSpc>
              <a:defRPr sz="1200">
                <a:solidFill>
                  <a:prstClr val="black"/>
                </a:solidFill>
                <a:latin typeface="Aptos" panose="02110004020202020204"/>
              </a:defRPr>
            </a:lvl1pPr>
          </a:lstStyle>
          <a:p>
            <a:r>
              <a:rPr lang="en-US"/>
              <a:t>Project Manager : Dinesh</a:t>
            </a:r>
          </a:p>
          <a:p>
            <a:r>
              <a:rPr lang="en-US" err="1"/>
              <a:t>OpEx</a:t>
            </a:r>
            <a:r>
              <a:rPr lang="en-US"/>
              <a:t> Business Lead: Gary Wilson</a:t>
            </a:r>
          </a:p>
          <a:p>
            <a:r>
              <a:rPr lang="en-US"/>
              <a:t> </a:t>
            </a:r>
          </a:p>
        </p:txBody>
      </p:sp>
      <p:sp>
        <p:nvSpPr>
          <p:cNvPr id="7" name="Flowchart: Connector 6">
            <a:extLst>
              <a:ext uri="{FF2B5EF4-FFF2-40B4-BE49-F238E27FC236}">
                <a16:creationId xmlns:a16="http://schemas.microsoft.com/office/drawing/2014/main" id="{381F7123-0CD9-5A39-57D6-237481329299}"/>
              </a:ext>
            </a:extLst>
          </p:cNvPr>
          <p:cNvSpPr/>
          <p:nvPr/>
        </p:nvSpPr>
        <p:spPr>
          <a:xfrm>
            <a:off x="6096000" y="1411765"/>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lowchart: Connector 12">
            <a:extLst>
              <a:ext uri="{FF2B5EF4-FFF2-40B4-BE49-F238E27FC236}">
                <a16:creationId xmlns:a16="http://schemas.microsoft.com/office/drawing/2014/main" id="{C9F7F857-8C08-C839-F87F-5A476F8B9C81}"/>
              </a:ext>
            </a:extLst>
          </p:cNvPr>
          <p:cNvSpPr/>
          <p:nvPr/>
        </p:nvSpPr>
        <p:spPr>
          <a:xfrm>
            <a:off x="4256605" y="1387499"/>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lowchart: Connector 15">
            <a:extLst>
              <a:ext uri="{FF2B5EF4-FFF2-40B4-BE49-F238E27FC236}">
                <a16:creationId xmlns:a16="http://schemas.microsoft.com/office/drawing/2014/main" id="{42F5BC78-1CA5-F465-25BE-AFEF6941152D}"/>
              </a:ext>
            </a:extLst>
          </p:cNvPr>
          <p:cNvSpPr/>
          <p:nvPr/>
        </p:nvSpPr>
        <p:spPr>
          <a:xfrm>
            <a:off x="3227390" y="1403331"/>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lowchart: Connector 5">
            <a:extLst>
              <a:ext uri="{FF2B5EF4-FFF2-40B4-BE49-F238E27FC236}">
                <a16:creationId xmlns:a16="http://schemas.microsoft.com/office/drawing/2014/main" id="{C687DDD6-10C8-0D07-1359-A65C4BB6670D}"/>
              </a:ext>
            </a:extLst>
          </p:cNvPr>
          <p:cNvSpPr/>
          <p:nvPr/>
        </p:nvSpPr>
        <p:spPr>
          <a:xfrm>
            <a:off x="7797764" y="3000725"/>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lowchart: Connector 9">
            <a:extLst>
              <a:ext uri="{FF2B5EF4-FFF2-40B4-BE49-F238E27FC236}">
                <a16:creationId xmlns:a16="http://schemas.microsoft.com/office/drawing/2014/main" id="{94CD76AC-24F6-A1E7-F433-E8E53F5DC95D}"/>
              </a:ext>
            </a:extLst>
          </p:cNvPr>
          <p:cNvSpPr/>
          <p:nvPr/>
        </p:nvSpPr>
        <p:spPr>
          <a:xfrm>
            <a:off x="7797763" y="3616730"/>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lowchart: Connector 18">
            <a:extLst>
              <a:ext uri="{FF2B5EF4-FFF2-40B4-BE49-F238E27FC236}">
                <a16:creationId xmlns:a16="http://schemas.microsoft.com/office/drawing/2014/main" id="{990834C8-D32F-DEB3-439A-518F8828D803}"/>
              </a:ext>
            </a:extLst>
          </p:cNvPr>
          <p:cNvSpPr/>
          <p:nvPr/>
        </p:nvSpPr>
        <p:spPr>
          <a:xfrm>
            <a:off x="7797763" y="4269199"/>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Flowchart: Connector 22">
            <a:extLst>
              <a:ext uri="{FF2B5EF4-FFF2-40B4-BE49-F238E27FC236}">
                <a16:creationId xmlns:a16="http://schemas.microsoft.com/office/drawing/2014/main" id="{9E94B236-C4EC-EA8B-8F86-BB9C2F40F832}"/>
              </a:ext>
            </a:extLst>
          </p:cNvPr>
          <p:cNvSpPr/>
          <p:nvPr/>
        </p:nvSpPr>
        <p:spPr>
          <a:xfrm>
            <a:off x="7716119" y="5617771"/>
            <a:ext cx="163285" cy="164592"/>
          </a:xfrm>
          <a:prstGeom prst="flowChartConnector">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Flowchart: Connector 27">
            <a:extLst>
              <a:ext uri="{FF2B5EF4-FFF2-40B4-BE49-F238E27FC236}">
                <a16:creationId xmlns:a16="http://schemas.microsoft.com/office/drawing/2014/main" id="{1BAE5C5A-1D27-3764-51C3-683D99D8C5F2}"/>
              </a:ext>
            </a:extLst>
          </p:cNvPr>
          <p:cNvSpPr/>
          <p:nvPr/>
        </p:nvSpPr>
        <p:spPr>
          <a:xfrm>
            <a:off x="7797763" y="3902641"/>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054926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AE865E-2030-F91B-2195-4B93929A9E9E}"/>
            </a:ext>
          </a:extLst>
        </p:cNvPr>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956AF3D0-96DB-6DFF-4EAE-7CD69054A2EE}"/>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8" imgH="408" progId="TCLayout.ActiveDocument.1">
                  <p:embed/>
                </p:oleObj>
              </mc:Choice>
              <mc:Fallback>
                <p:oleObj name="think-cell Slide" r:id="rId4" imgW="408" imgH="408" progId="TCLayout.ActiveDocument.1">
                  <p:embed/>
                  <p:pic>
                    <p:nvPicPr>
                      <p:cNvPr id="9" name="think-cell data - do not delete" hidden="1">
                        <a:extLst>
                          <a:ext uri="{FF2B5EF4-FFF2-40B4-BE49-F238E27FC236}">
                            <a16:creationId xmlns:a16="http://schemas.microsoft.com/office/drawing/2014/main" id="{956AF3D0-96DB-6DFF-4EAE-7CD69054A2EE}"/>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graphicFrame>
        <p:nvGraphicFramePr>
          <p:cNvPr id="32" name="Group 614">
            <a:extLst>
              <a:ext uri="{FF2B5EF4-FFF2-40B4-BE49-F238E27FC236}">
                <a16:creationId xmlns:a16="http://schemas.microsoft.com/office/drawing/2014/main" id="{C74864F9-50CB-BEC1-E277-CFFBF35650E3}"/>
              </a:ext>
            </a:extLst>
          </p:cNvPr>
          <p:cNvGraphicFramePr>
            <a:graphicFrameLocks noGrp="1"/>
          </p:cNvGraphicFramePr>
          <p:nvPr>
            <p:extLst>
              <p:ext uri="{D42A27DB-BD31-4B8C-83A1-F6EECF244321}">
                <p14:modId xmlns:p14="http://schemas.microsoft.com/office/powerpoint/2010/main" val="3737610600"/>
              </p:ext>
            </p:extLst>
          </p:nvPr>
        </p:nvGraphicFramePr>
        <p:xfrm>
          <a:off x="4992661" y="6434364"/>
          <a:ext cx="7136859" cy="386554"/>
        </p:xfrm>
        <a:graphic>
          <a:graphicData uri="http://schemas.openxmlformats.org/drawingml/2006/table">
            <a:tbl>
              <a:tblPr/>
              <a:tblGrid>
                <a:gridCol w="606425">
                  <a:extLst>
                    <a:ext uri="{9D8B030D-6E8A-4147-A177-3AD203B41FA5}">
                      <a16:colId xmlns:a16="http://schemas.microsoft.com/office/drawing/2014/main" val="20000"/>
                    </a:ext>
                  </a:extLst>
                </a:gridCol>
                <a:gridCol w="307361">
                  <a:extLst>
                    <a:ext uri="{9D8B030D-6E8A-4147-A177-3AD203B41FA5}">
                      <a16:colId xmlns:a16="http://schemas.microsoft.com/office/drawing/2014/main" val="20001"/>
                    </a:ext>
                  </a:extLst>
                </a:gridCol>
                <a:gridCol w="757584">
                  <a:extLst>
                    <a:ext uri="{9D8B030D-6E8A-4147-A177-3AD203B41FA5}">
                      <a16:colId xmlns:a16="http://schemas.microsoft.com/office/drawing/2014/main" val="20002"/>
                    </a:ext>
                  </a:extLst>
                </a:gridCol>
                <a:gridCol w="302812">
                  <a:extLst>
                    <a:ext uri="{9D8B030D-6E8A-4147-A177-3AD203B41FA5}">
                      <a16:colId xmlns:a16="http://schemas.microsoft.com/office/drawing/2014/main" val="20003"/>
                    </a:ext>
                  </a:extLst>
                </a:gridCol>
                <a:gridCol w="665317">
                  <a:extLst>
                    <a:ext uri="{9D8B030D-6E8A-4147-A177-3AD203B41FA5}">
                      <a16:colId xmlns:a16="http://schemas.microsoft.com/office/drawing/2014/main" val="20004"/>
                    </a:ext>
                  </a:extLst>
                </a:gridCol>
                <a:gridCol w="518025">
                  <a:extLst>
                    <a:ext uri="{9D8B030D-6E8A-4147-A177-3AD203B41FA5}">
                      <a16:colId xmlns:a16="http://schemas.microsoft.com/office/drawing/2014/main" val="20005"/>
                    </a:ext>
                  </a:extLst>
                </a:gridCol>
                <a:gridCol w="568469">
                  <a:extLst>
                    <a:ext uri="{9D8B030D-6E8A-4147-A177-3AD203B41FA5}">
                      <a16:colId xmlns:a16="http://schemas.microsoft.com/office/drawing/2014/main" val="20006"/>
                    </a:ext>
                  </a:extLst>
                </a:gridCol>
                <a:gridCol w="368983">
                  <a:extLst>
                    <a:ext uri="{9D8B030D-6E8A-4147-A177-3AD203B41FA5}">
                      <a16:colId xmlns:a16="http://schemas.microsoft.com/office/drawing/2014/main" val="20007"/>
                    </a:ext>
                  </a:extLst>
                </a:gridCol>
                <a:gridCol w="1372005">
                  <a:extLst>
                    <a:ext uri="{9D8B030D-6E8A-4147-A177-3AD203B41FA5}">
                      <a16:colId xmlns:a16="http://schemas.microsoft.com/office/drawing/2014/main" val="20008"/>
                    </a:ext>
                  </a:extLst>
                </a:gridCol>
                <a:gridCol w="378212">
                  <a:extLst>
                    <a:ext uri="{9D8B030D-6E8A-4147-A177-3AD203B41FA5}">
                      <a16:colId xmlns:a16="http://schemas.microsoft.com/office/drawing/2014/main" val="20009"/>
                    </a:ext>
                  </a:extLst>
                </a:gridCol>
                <a:gridCol w="1291666">
                  <a:extLst>
                    <a:ext uri="{9D8B030D-6E8A-4147-A177-3AD203B41FA5}">
                      <a16:colId xmlns:a16="http://schemas.microsoft.com/office/drawing/2014/main" val="20010"/>
                    </a:ext>
                  </a:extLst>
                </a:gridCol>
              </a:tblGrid>
              <a:tr h="386554">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Arial" charset="0"/>
                          <a:cs typeface="Arial" charset="0"/>
                        </a:rPr>
                        <a:t>Status Key</a:t>
                      </a:r>
                      <a:endParaRPr kumimoji="0" lang="en-GB" sz="1600" b="0" i="0" u="none" strike="noStrike" cap="none" normalizeH="0" baseline="0">
                        <a:ln>
                          <a:noFill/>
                        </a:ln>
                        <a:solidFill>
                          <a:srgbClr val="002060"/>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mj-lt"/>
                        </a:rPr>
                        <a:t>C</a:t>
                      </a: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Arial" charset="0"/>
                          <a:cs typeface="Arial" charset="0"/>
                        </a:rPr>
                        <a:t>Completed</a:t>
                      </a:r>
                      <a:endParaRPr kumimoji="0" lang="en-GB" sz="1600" b="0" i="0" u="none" strike="noStrike" cap="none" normalizeH="0" baseline="0">
                        <a:ln>
                          <a:noFill/>
                        </a:ln>
                        <a:solidFill>
                          <a:srgbClr val="002060"/>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On-Schedule</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Major Issues</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Some Issues</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NS</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Not Started</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2" name="Title 1">
            <a:extLst>
              <a:ext uri="{FF2B5EF4-FFF2-40B4-BE49-F238E27FC236}">
                <a16:creationId xmlns:a16="http://schemas.microsoft.com/office/drawing/2014/main" id="{2019C1CF-69D8-B133-F11A-0631760E3D3F}"/>
              </a:ext>
            </a:extLst>
          </p:cNvPr>
          <p:cNvSpPr>
            <a:spLocks noGrp="1"/>
          </p:cNvSpPr>
          <p:nvPr>
            <p:ph type="title"/>
          </p:nvPr>
        </p:nvSpPr>
        <p:spPr>
          <a:xfrm>
            <a:off x="269945" y="288346"/>
            <a:ext cx="11652110" cy="517320"/>
          </a:xfrm>
        </p:spPr>
        <p:txBody>
          <a:bodyPr vert="horz">
            <a:normAutofit fontScale="90000"/>
          </a:bodyPr>
          <a:lstStyle/>
          <a:p>
            <a:r>
              <a:rPr lang="en-US" sz="2700" b="1">
                <a:solidFill>
                  <a:srgbClr val="29389F"/>
                </a:solidFill>
                <a:latin typeface="Arial" panose="020B0604020202020204" pitchFamily="34" charset="0"/>
                <a:cs typeface="Arial" panose="020B0604020202020204" pitchFamily="34" charset="0"/>
              </a:rPr>
              <a:t>GIN – API V2 to V5 upgrade</a:t>
            </a:r>
            <a:br>
              <a:rPr lang="en-US"/>
            </a:br>
            <a:endParaRPr sz="1800" b="0"/>
          </a:p>
        </p:txBody>
      </p:sp>
      <p:graphicFrame>
        <p:nvGraphicFramePr>
          <p:cNvPr id="11" name="Group 513">
            <a:extLst>
              <a:ext uri="{FF2B5EF4-FFF2-40B4-BE49-F238E27FC236}">
                <a16:creationId xmlns:a16="http://schemas.microsoft.com/office/drawing/2014/main" id="{00FF6017-D73E-73BA-7DAB-87BC385B2E54}"/>
              </a:ext>
            </a:extLst>
          </p:cNvPr>
          <p:cNvGraphicFramePr>
            <a:graphicFrameLocks noGrp="1"/>
          </p:cNvGraphicFramePr>
          <p:nvPr>
            <p:extLst>
              <p:ext uri="{D42A27DB-BD31-4B8C-83A1-F6EECF244321}">
                <p14:modId xmlns:p14="http://schemas.microsoft.com/office/powerpoint/2010/main" val="1234836003"/>
              </p:ext>
            </p:extLst>
          </p:nvPr>
        </p:nvGraphicFramePr>
        <p:xfrm>
          <a:off x="234455" y="927650"/>
          <a:ext cx="2638218" cy="344301"/>
        </p:xfrm>
        <a:graphic>
          <a:graphicData uri="http://schemas.openxmlformats.org/drawingml/2006/table">
            <a:tbl>
              <a:tblPr/>
              <a:tblGrid>
                <a:gridCol w="984745">
                  <a:extLst>
                    <a:ext uri="{9D8B030D-6E8A-4147-A177-3AD203B41FA5}">
                      <a16:colId xmlns:a16="http://schemas.microsoft.com/office/drawing/2014/main" val="20000"/>
                    </a:ext>
                  </a:extLst>
                </a:gridCol>
                <a:gridCol w="1653473">
                  <a:extLst>
                    <a:ext uri="{9D8B030D-6E8A-4147-A177-3AD203B41FA5}">
                      <a16:colId xmlns:a16="http://schemas.microsoft.com/office/drawing/2014/main" val="20001"/>
                    </a:ext>
                  </a:extLst>
                </a:gridCol>
              </a:tblGrid>
              <a:tr h="344301">
                <a:tc>
                  <a:txBody>
                    <a:bodyPr/>
                    <a:lstStyle/>
                    <a:p>
                      <a:pPr marL="0" marR="0" lvl="0" indent="0" algn="l" defTabSz="914400" rtl="0" eaLnBrk="0" fontAlgn="base" latinLnBrk="0" hangingPunct="0">
                        <a:lnSpc>
                          <a:spcPct val="95000"/>
                        </a:lnSpc>
                        <a:spcBef>
                          <a:spcPct val="0"/>
                        </a:spcBef>
                        <a:spcAft>
                          <a:spcPct val="50000"/>
                        </a:spcAft>
                        <a:buClrTx/>
                        <a:buSzTx/>
                        <a:buFontTx/>
                        <a:buNone/>
                        <a:tabLst/>
                      </a:pPr>
                      <a:r>
                        <a:rPr kumimoji="0" lang="en-GB" sz="1050" b="1" i="0" u="none" strike="noStrike" kern="1200" cap="none" normalizeH="0" baseline="0">
                          <a:ln>
                            <a:noFill/>
                          </a:ln>
                          <a:solidFill>
                            <a:schemeClr val="bg1"/>
                          </a:solidFill>
                          <a:effectLst/>
                          <a:latin typeface="Arial"/>
                          <a:ea typeface="+mn-ea"/>
                          <a:cs typeface="+mn-cs"/>
                        </a:rPr>
                        <a:t>Status Date:</a:t>
                      </a:r>
                    </a:p>
                  </a:txBody>
                  <a:tcPr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GB" sz="850" b="1" i="0" u="none" strike="noStrike" kern="1200" cap="none" normalizeH="0" baseline="0">
                          <a:ln>
                            <a:noFill/>
                          </a:ln>
                          <a:solidFill>
                            <a:schemeClr val="tx1"/>
                          </a:solidFill>
                          <a:effectLst/>
                          <a:latin typeface="Aptos" panose="020B0004020202020204" pitchFamily="34" charset="0"/>
                          <a:ea typeface="+mn-ea"/>
                          <a:cs typeface="+mn-cs"/>
                        </a:rPr>
                        <a:t>8/28/2026</a:t>
                      </a:r>
                    </a:p>
                  </a:txBody>
                  <a:tcPr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14" name="Table 13">
            <a:extLst>
              <a:ext uri="{FF2B5EF4-FFF2-40B4-BE49-F238E27FC236}">
                <a16:creationId xmlns:a16="http://schemas.microsoft.com/office/drawing/2014/main" id="{F6B05419-204D-7201-3D13-59E6E449DF96}"/>
              </a:ext>
            </a:extLst>
          </p:cNvPr>
          <p:cNvGraphicFramePr>
            <a:graphicFrameLocks noGrp="1"/>
          </p:cNvGraphicFramePr>
          <p:nvPr>
            <p:extLst>
              <p:ext uri="{D42A27DB-BD31-4B8C-83A1-F6EECF244321}">
                <p14:modId xmlns:p14="http://schemas.microsoft.com/office/powerpoint/2010/main" val="369801431"/>
              </p:ext>
            </p:extLst>
          </p:nvPr>
        </p:nvGraphicFramePr>
        <p:xfrm>
          <a:off x="6640300" y="920667"/>
          <a:ext cx="5352360" cy="743950"/>
        </p:xfrm>
        <a:graphic>
          <a:graphicData uri="http://schemas.openxmlformats.org/drawingml/2006/table">
            <a:tbl>
              <a:tblPr>
                <a:tableStyleId>{5C22544A-7EE6-4342-B048-85BDC9FD1C3A}</a:tableStyleId>
              </a:tblPr>
              <a:tblGrid>
                <a:gridCol w="1045337">
                  <a:extLst>
                    <a:ext uri="{9D8B030D-6E8A-4147-A177-3AD203B41FA5}">
                      <a16:colId xmlns:a16="http://schemas.microsoft.com/office/drawing/2014/main" val="2456552316"/>
                    </a:ext>
                  </a:extLst>
                </a:gridCol>
                <a:gridCol w="926511">
                  <a:extLst>
                    <a:ext uri="{9D8B030D-6E8A-4147-A177-3AD203B41FA5}">
                      <a16:colId xmlns:a16="http://schemas.microsoft.com/office/drawing/2014/main" val="2327174630"/>
                    </a:ext>
                  </a:extLst>
                </a:gridCol>
                <a:gridCol w="1514970">
                  <a:extLst>
                    <a:ext uri="{9D8B030D-6E8A-4147-A177-3AD203B41FA5}">
                      <a16:colId xmlns:a16="http://schemas.microsoft.com/office/drawing/2014/main" val="1100051595"/>
                    </a:ext>
                  </a:extLst>
                </a:gridCol>
                <a:gridCol w="913991">
                  <a:extLst>
                    <a:ext uri="{9D8B030D-6E8A-4147-A177-3AD203B41FA5}">
                      <a16:colId xmlns:a16="http://schemas.microsoft.com/office/drawing/2014/main" val="2042261034"/>
                    </a:ext>
                  </a:extLst>
                </a:gridCol>
                <a:gridCol w="951551">
                  <a:extLst>
                    <a:ext uri="{9D8B030D-6E8A-4147-A177-3AD203B41FA5}">
                      <a16:colId xmlns:a16="http://schemas.microsoft.com/office/drawing/2014/main" val="2815874248"/>
                    </a:ext>
                  </a:extLst>
                </a:gridCol>
              </a:tblGrid>
              <a:tr h="387861">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2026 Budget</a:t>
                      </a:r>
                      <a:r>
                        <a:rPr lang="en-US" sz="1050" b="1" i="0" u="none" strike="noStrike" kern="1200" cap="none" normalizeH="0" baseline="0">
                          <a:ln>
                            <a:noFill/>
                          </a:ln>
                          <a:solidFill>
                            <a:schemeClr val="bg1"/>
                          </a:solidFill>
                          <a:effectLst/>
                          <a:latin typeface="Arial"/>
                          <a:ea typeface="+mn-ea"/>
                          <a:cs typeface="+mn-cs"/>
                        </a:rPr>
                        <a:t> </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YTD Actuals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Remaining 2026 Forecast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Current YE Forecast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Total Budget</a:t>
                      </a:r>
                      <a:r>
                        <a:rPr lang="en-US" sz="1050" b="1" i="0" u="none" strike="noStrike" kern="1200" cap="none" normalizeH="0" baseline="0">
                          <a:ln>
                            <a:noFill/>
                          </a:ln>
                          <a:solidFill>
                            <a:schemeClr val="bg1"/>
                          </a:solidFill>
                          <a:effectLst/>
                          <a:latin typeface="Arial"/>
                          <a:ea typeface="+mn-ea"/>
                          <a:cs typeface="+mn-cs"/>
                        </a:rPr>
                        <a:t> </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356089">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$350,000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defRPr/>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$349,839.29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$349,839.29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$350,000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7499024"/>
                  </a:ext>
                </a:extLst>
              </a:tr>
            </a:tbl>
          </a:graphicData>
        </a:graphic>
      </p:graphicFrame>
      <p:graphicFrame>
        <p:nvGraphicFramePr>
          <p:cNvPr id="25" name="Table 24">
            <a:extLst>
              <a:ext uri="{FF2B5EF4-FFF2-40B4-BE49-F238E27FC236}">
                <a16:creationId xmlns:a16="http://schemas.microsoft.com/office/drawing/2014/main" id="{C8F04E56-64E4-FBF5-70E1-3FC82A8C1018}"/>
              </a:ext>
            </a:extLst>
          </p:cNvPr>
          <p:cNvGraphicFramePr>
            <a:graphicFrameLocks noGrp="1"/>
          </p:cNvGraphicFramePr>
          <p:nvPr/>
        </p:nvGraphicFramePr>
        <p:xfrm>
          <a:off x="2811025" y="920667"/>
          <a:ext cx="3829275" cy="749848"/>
        </p:xfrm>
        <a:graphic>
          <a:graphicData uri="http://schemas.openxmlformats.org/drawingml/2006/table">
            <a:tbl>
              <a:tblPr>
                <a:tableStyleId>{5C22544A-7EE6-4342-B048-85BDC9FD1C3A}</a:tableStyleId>
              </a:tblPr>
              <a:tblGrid>
                <a:gridCol w="1042158">
                  <a:extLst>
                    <a:ext uri="{9D8B030D-6E8A-4147-A177-3AD203B41FA5}">
                      <a16:colId xmlns:a16="http://schemas.microsoft.com/office/drawing/2014/main" val="2456552316"/>
                    </a:ext>
                  </a:extLst>
                </a:gridCol>
                <a:gridCol w="961214">
                  <a:extLst>
                    <a:ext uri="{9D8B030D-6E8A-4147-A177-3AD203B41FA5}">
                      <a16:colId xmlns:a16="http://schemas.microsoft.com/office/drawing/2014/main" val="1100051595"/>
                    </a:ext>
                  </a:extLst>
                </a:gridCol>
                <a:gridCol w="920742">
                  <a:extLst>
                    <a:ext uri="{9D8B030D-6E8A-4147-A177-3AD203B41FA5}">
                      <a16:colId xmlns:a16="http://schemas.microsoft.com/office/drawing/2014/main" val="2042261034"/>
                    </a:ext>
                  </a:extLst>
                </a:gridCol>
                <a:gridCol w="905161">
                  <a:extLst>
                    <a:ext uri="{9D8B030D-6E8A-4147-A177-3AD203B41FA5}">
                      <a16:colId xmlns:a16="http://schemas.microsoft.com/office/drawing/2014/main" val="2815874248"/>
                    </a:ext>
                  </a:extLst>
                </a:gridCol>
              </a:tblGrid>
              <a:tr h="409508">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Overall</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Scope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Schedule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Financials</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340340">
                <a:tc>
                  <a:txBody>
                    <a:bodyPr/>
                    <a:lstStyle/>
                    <a:p>
                      <a:pPr marL="0" marR="0" lvl="0" indent="0" algn="ctr" rtl="0" eaLnBrk="1" fontAlgn="ctr" latinLnBrk="0" hangingPunct="1">
                        <a:lnSpc>
                          <a:spcPct val="95000"/>
                        </a:lnSpc>
                        <a:spcBef>
                          <a:spcPct val="0"/>
                        </a:spcBef>
                        <a:spcAft>
                          <a:spcPct val="50000"/>
                        </a:spcAft>
                        <a:buClrTx/>
                        <a:buSzTx/>
                        <a:buFontTx/>
                        <a:buNone/>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rtl="0" eaLnBrk="1" fontAlgn="ctr" latinLnBrk="0" hangingPunct="1">
                        <a:lnSpc>
                          <a:spcPct val="95000"/>
                        </a:lnSpc>
                        <a:spcBef>
                          <a:spcPct val="0"/>
                        </a:spcBef>
                        <a:spcAft>
                          <a:spcPct val="50000"/>
                        </a:spcAft>
                        <a:buClrTx/>
                        <a:buSzTx/>
                        <a:buFontTx/>
                        <a:buNone/>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7499024"/>
                  </a:ext>
                </a:extLst>
              </a:tr>
            </a:tbl>
          </a:graphicData>
        </a:graphic>
      </p:graphicFrame>
      <p:graphicFrame>
        <p:nvGraphicFramePr>
          <p:cNvPr id="26" name="Group 513">
            <a:extLst>
              <a:ext uri="{FF2B5EF4-FFF2-40B4-BE49-F238E27FC236}">
                <a16:creationId xmlns:a16="http://schemas.microsoft.com/office/drawing/2014/main" id="{AC8A8701-E22C-6695-E04D-3C52949427F2}"/>
              </a:ext>
            </a:extLst>
          </p:cNvPr>
          <p:cNvGraphicFramePr>
            <a:graphicFrameLocks noGrp="1"/>
          </p:cNvGraphicFramePr>
          <p:nvPr/>
        </p:nvGraphicFramePr>
        <p:xfrm>
          <a:off x="231953" y="1271951"/>
          <a:ext cx="2581575" cy="395688"/>
        </p:xfrm>
        <a:graphic>
          <a:graphicData uri="http://schemas.openxmlformats.org/drawingml/2006/table">
            <a:tbl>
              <a:tblPr/>
              <a:tblGrid>
                <a:gridCol w="998602">
                  <a:extLst>
                    <a:ext uri="{9D8B030D-6E8A-4147-A177-3AD203B41FA5}">
                      <a16:colId xmlns:a16="http://schemas.microsoft.com/office/drawing/2014/main" val="20000"/>
                    </a:ext>
                  </a:extLst>
                </a:gridCol>
                <a:gridCol w="1582973">
                  <a:extLst>
                    <a:ext uri="{9D8B030D-6E8A-4147-A177-3AD203B41FA5}">
                      <a16:colId xmlns:a16="http://schemas.microsoft.com/office/drawing/2014/main" val="20001"/>
                    </a:ext>
                  </a:extLst>
                </a:gridCol>
              </a:tblGrid>
              <a:tr h="344301">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GB" sz="1050" b="1" i="0" u="none" strike="noStrike" kern="1200" cap="none" normalizeH="0" baseline="0">
                          <a:ln>
                            <a:noFill/>
                          </a:ln>
                          <a:solidFill>
                            <a:schemeClr val="bg1"/>
                          </a:solidFill>
                          <a:effectLst/>
                          <a:latin typeface="Arial"/>
                          <a:ea typeface="+mn-ea"/>
                          <a:cs typeface="+mn-cs"/>
                        </a:rPr>
                        <a:t>Target Delivery:</a:t>
                      </a:r>
                    </a:p>
                  </a:txBody>
                  <a:tcPr marL="0" marR="0"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850" b="1" i="0" u="none" strike="noStrike" kern="1200" cap="none" normalizeH="0" baseline="0">
                          <a:ln>
                            <a:noFill/>
                          </a:ln>
                          <a:solidFill>
                            <a:srgbClr val="FF0000"/>
                          </a:solidFill>
                          <a:effectLst/>
                          <a:latin typeface="Aptos" panose="020B0004020202020204" pitchFamily="34" charset="0"/>
                          <a:ea typeface="+mn-ea"/>
                          <a:cs typeface="+mn-cs"/>
                        </a:rPr>
                        <a:t>TBD</a:t>
                      </a:r>
                    </a:p>
                  </a:txBody>
                  <a:tcPr marL="0" marR="0"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27" name="Table 26">
            <a:extLst>
              <a:ext uri="{FF2B5EF4-FFF2-40B4-BE49-F238E27FC236}">
                <a16:creationId xmlns:a16="http://schemas.microsoft.com/office/drawing/2014/main" id="{866A5668-07FB-AA91-9A66-D5ED22CEB7C2}"/>
              </a:ext>
            </a:extLst>
          </p:cNvPr>
          <p:cNvGraphicFramePr>
            <a:graphicFrameLocks noGrp="1"/>
          </p:cNvGraphicFramePr>
          <p:nvPr>
            <p:extLst>
              <p:ext uri="{D42A27DB-BD31-4B8C-83A1-F6EECF244321}">
                <p14:modId xmlns:p14="http://schemas.microsoft.com/office/powerpoint/2010/main" val="2182113712"/>
              </p:ext>
            </p:extLst>
          </p:nvPr>
        </p:nvGraphicFramePr>
        <p:xfrm>
          <a:off x="4964837" y="1768716"/>
          <a:ext cx="7152058" cy="2346443"/>
        </p:xfrm>
        <a:graphic>
          <a:graphicData uri="http://schemas.openxmlformats.org/drawingml/2006/table">
            <a:tbl>
              <a:tblPr>
                <a:tableStyleId>{5C22544A-7EE6-4342-B048-85BDC9FD1C3A}</a:tableStyleId>
              </a:tblPr>
              <a:tblGrid>
                <a:gridCol w="2617796">
                  <a:extLst>
                    <a:ext uri="{9D8B030D-6E8A-4147-A177-3AD203B41FA5}">
                      <a16:colId xmlns:a16="http://schemas.microsoft.com/office/drawing/2014/main" val="2456552316"/>
                    </a:ext>
                  </a:extLst>
                </a:gridCol>
                <a:gridCol w="541753">
                  <a:extLst>
                    <a:ext uri="{9D8B030D-6E8A-4147-A177-3AD203B41FA5}">
                      <a16:colId xmlns:a16="http://schemas.microsoft.com/office/drawing/2014/main" val="1100051595"/>
                    </a:ext>
                  </a:extLst>
                </a:gridCol>
                <a:gridCol w="557390">
                  <a:extLst>
                    <a:ext uri="{9D8B030D-6E8A-4147-A177-3AD203B41FA5}">
                      <a16:colId xmlns:a16="http://schemas.microsoft.com/office/drawing/2014/main" val="2042261034"/>
                    </a:ext>
                  </a:extLst>
                </a:gridCol>
                <a:gridCol w="3435119">
                  <a:extLst>
                    <a:ext uri="{9D8B030D-6E8A-4147-A177-3AD203B41FA5}">
                      <a16:colId xmlns:a16="http://schemas.microsoft.com/office/drawing/2014/main" val="2815874248"/>
                    </a:ext>
                  </a:extLst>
                </a:gridCol>
              </a:tblGrid>
              <a:tr h="310680">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Milestone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Status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Due Date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Notes</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282234">
                <a:tc>
                  <a:txBody>
                    <a:bodyPr/>
                    <a:lstStyle/>
                    <a:p>
                      <a:pPr marL="114300" marR="0" lvl="0" indent="0" algn="l" defTabSz="914400" rtl="0" eaLnBrk="1" fontAlgn="ctr" latinLnBrk="0" hangingPunct="1">
                        <a:lnSpc>
                          <a:spcPct val="95000"/>
                        </a:lnSpc>
                        <a:spcBef>
                          <a:spcPct val="0"/>
                        </a:spcBef>
                        <a:spcAft>
                          <a:spcPct val="50000"/>
                        </a:spcAft>
                        <a:buClrTx/>
                        <a:buSzTx/>
                        <a:buFontTx/>
                        <a:buNone/>
                        <a:tabLst/>
                        <a:defRPr/>
                      </a:pPr>
                      <a:r>
                        <a:rPr lang="en-US" sz="900" kern="100">
                          <a:solidFill>
                            <a:schemeClr val="dk1"/>
                          </a:solidFill>
                          <a:latin typeface="Aptos" panose="020B0004020202020204" pitchFamily="34" charset="0"/>
                          <a:ea typeface="+mn-ea"/>
                          <a:cs typeface="Times New Roman"/>
                        </a:rPr>
                        <a:t>Detailed Project plan</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a:lnSpc>
                          <a:spcPct val="95000"/>
                        </a:lnSpc>
                        <a:spcBef>
                          <a:spcPct val="0"/>
                        </a:spcBef>
                        <a:spcAft>
                          <a:spcPct val="50000"/>
                        </a:spcAft>
                        <a:buClrTx/>
                        <a:buSzTx/>
                        <a:buFontTx/>
                        <a:buNone/>
                        <a:tabLst/>
                      </a:pPr>
                      <a:endParaRPr lang="en-US" sz="900" b="0" kern="1200">
                        <a:solidFill>
                          <a:schemeClr val="tx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95000"/>
                        </a:lnSpc>
                        <a:spcBef>
                          <a:spcPct val="0"/>
                        </a:spcBef>
                        <a:spcAft>
                          <a:spcPct val="50000"/>
                        </a:spcAft>
                        <a:buClrTx/>
                        <a:buSzTx/>
                        <a:buFontTx/>
                        <a:buNone/>
                        <a:tabLst/>
                        <a:defRPr/>
                      </a:pPr>
                      <a:r>
                        <a:rPr lang="en-US" sz="900" b="0" strike="noStrike" kern="1200">
                          <a:solidFill>
                            <a:schemeClr val="tx1"/>
                          </a:solidFill>
                          <a:effectLst/>
                          <a:latin typeface="Aptos" panose="020B0004020202020204" pitchFamily="34" charset="0"/>
                          <a:ea typeface="+mn-ea"/>
                          <a:cs typeface="+mn-cs"/>
                        </a:rPr>
                        <a:t>08/31/26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a:lnSpc>
                          <a:spcPct val="114999"/>
                        </a:lnSpc>
                        <a:spcAft>
                          <a:spcPts val="800"/>
                        </a:spcAft>
                        <a:buNone/>
                      </a:pPr>
                      <a:r>
                        <a:rPr lang="en-US" sz="900" b="0" i="0" u="none" strike="noStrike" kern="100" noProof="0">
                          <a:solidFill>
                            <a:schemeClr val="dk1"/>
                          </a:solidFill>
                          <a:effectLst/>
                          <a:latin typeface="Aptos" panose="020B0004020202020204" pitchFamily="34" charset="0"/>
                        </a:rPr>
                        <a:t>Work is in progress. Team is evaluating the options for Phased delivery approach to enable monthly releases.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43924009"/>
                  </a:ext>
                </a:extLst>
              </a:tr>
              <a:tr h="332289">
                <a:tc>
                  <a:txBody>
                    <a:bodyPr/>
                    <a:lstStyle/>
                    <a:p>
                      <a:pPr marL="114300" marR="0" lvl="0" indent="0" algn="l" rtl="0" eaLnBrk="1" fontAlgn="ctr" latinLnBrk="0" hangingPunct="1">
                        <a:lnSpc>
                          <a:spcPct val="95000"/>
                        </a:lnSpc>
                        <a:spcBef>
                          <a:spcPct val="0"/>
                        </a:spcBef>
                        <a:spcAft>
                          <a:spcPct val="50000"/>
                        </a:spcAft>
                        <a:buClrTx/>
                        <a:buSzTx/>
                        <a:buFontTx/>
                        <a:buNone/>
                      </a:pPr>
                      <a:r>
                        <a:rPr lang="en-US" sz="900" b="0" kern="1200">
                          <a:solidFill>
                            <a:schemeClr val="tx1"/>
                          </a:solidFill>
                          <a:effectLst/>
                          <a:latin typeface="Aptos" panose="020B0004020202020204" pitchFamily="34" charset="0"/>
                          <a:ea typeface="+mn-ea"/>
                          <a:cs typeface="+mn-cs"/>
                        </a:rPr>
                        <a:t>Review of Solution Approach and project plan</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900" b="0" kern="1200">
                        <a:solidFill>
                          <a:schemeClr val="tx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r>
                        <a:rPr lang="en-US" sz="900" b="0" strike="sngStrike" kern="1200">
                          <a:solidFill>
                            <a:schemeClr val="tx1"/>
                          </a:solidFill>
                          <a:effectLst/>
                          <a:latin typeface="Aptos" panose="020B0004020202020204" pitchFamily="34" charset="0"/>
                          <a:ea typeface="+mn-ea"/>
                          <a:cs typeface="+mn-cs"/>
                        </a:rPr>
                        <a:t>08/31/26</a:t>
                      </a:r>
                    </a:p>
                    <a:p>
                      <a:pPr marL="0" marR="0" lvl="0" indent="0" algn="ctr" defTabSz="914400" rtl="0" eaLnBrk="1" fontAlgn="ctr" latinLnBrk="0" hangingPunct="1">
                        <a:lnSpc>
                          <a:spcPct val="95000"/>
                        </a:lnSpc>
                        <a:spcBef>
                          <a:spcPct val="0"/>
                        </a:spcBef>
                        <a:spcAft>
                          <a:spcPct val="50000"/>
                        </a:spcAft>
                        <a:buClrTx/>
                        <a:buSzTx/>
                        <a:buFontTx/>
                        <a:buNone/>
                        <a:tabLst/>
                      </a:pPr>
                      <a:r>
                        <a:rPr lang="en-US" sz="900" b="0" strike="noStrike" kern="1200">
                          <a:solidFill>
                            <a:schemeClr val="tx1"/>
                          </a:solidFill>
                          <a:effectLst/>
                          <a:latin typeface="Aptos" panose="020B0004020202020204" pitchFamily="34" charset="0"/>
                          <a:ea typeface="+mn-ea"/>
                          <a:cs typeface="+mn-cs"/>
                        </a:rPr>
                        <a:t>09/04/26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ts val="600"/>
                        </a:lnSpc>
                        <a:spcBef>
                          <a:spcPts val="300"/>
                        </a:spcBef>
                        <a:spcAft>
                          <a:spcPts val="0"/>
                        </a:spcAft>
                        <a:buClrTx/>
                        <a:buSzTx/>
                        <a:buFontTx/>
                        <a:buNone/>
                        <a:tabLst/>
                        <a:defRPr/>
                      </a:pPr>
                      <a:r>
                        <a:rPr lang="en-US" sz="900" b="0" i="0">
                          <a:solidFill>
                            <a:srgbClr val="000000"/>
                          </a:solidFill>
                          <a:effectLst/>
                          <a:latin typeface="Aptos" panose="020B0004020202020204" pitchFamily="34" charset="0"/>
                        </a:rPr>
                        <a:t>Not started.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73210692"/>
                  </a:ext>
                </a:extLst>
              </a:tr>
              <a:tr h="296868">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endParaRPr lang="en-US" sz="850">
                        <a:latin typeface="Aptos"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a:lnSpc>
                          <a:spcPct val="95000"/>
                        </a:lnSpc>
                        <a:spcBef>
                          <a:spcPct val="0"/>
                        </a:spcBef>
                        <a:spcAft>
                          <a:spcPct val="50000"/>
                        </a:spcAft>
                        <a:buClrTx/>
                        <a:buSzTx/>
                        <a:buFontTx/>
                        <a:buNone/>
                        <a:tabLst/>
                      </a:pPr>
                      <a:endParaRPr lang="en-US" sz="850" b="0" kern="1200">
                        <a:solidFill>
                          <a:schemeClr val="tx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95000"/>
                        </a:lnSpc>
                        <a:spcBef>
                          <a:spcPct val="0"/>
                        </a:spcBef>
                        <a:spcAft>
                          <a:spcPct val="50000"/>
                        </a:spcAft>
                        <a:buClrTx/>
                        <a:buSzTx/>
                        <a:buFontTx/>
                        <a:buNone/>
                        <a:tabLst/>
                        <a:defRPr/>
                      </a:pPr>
                      <a:endParaRPr lang="en-US" sz="850" b="0" strike="noStrike" kern="1200">
                        <a:solidFill>
                          <a:schemeClr val="tx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a:lnSpc>
                          <a:spcPct val="114999"/>
                        </a:lnSpc>
                        <a:spcAft>
                          <a:spcPts val="800"/>
                        </a:spcAft>
                        <a:buNone/>
                      </a:pPr>
                      <a:endParaRPr lang="en-US" sz="850" b="0" i="0" u="none" strike="noStrike" kern="100" noProof="0">
                        <a:solidFill>
                          <a:schemeClr val="dk1"/>
                        </a:solidFill>
                        <a:effectLst/>
                        <a:latin typeface="Aptos" panose="020B00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87139067"/>
                  </a:ext>
                </a:extLst>
              </a:tr>
              <a:tr h="321557">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endParaRPr lang="en-US" sz="850">
                        <a:latin typeface="Aptos"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a:lnSpc>
                          <a:spcPct val="95000"/>
                        </a:lnSpc>
                        <a:spcBef>
                          <a:spcPct val="0"/>
                        </a:spcBef>
                        <a:spcAft>
                          <a:spcPct val="50000"/>
                        </a:spcAft>
                        <a:buClrTx/>
                        <a:buSzTx/>
                        <a:buFontTx/>
                        <a:buNone/>
                        <a:tabLst/>
                      </a:pPr>
                      <a:endParaRPr lang="en-US" sz="850" b="0" kern="1200">
                        <a:solidFill>
                          <a:schemeClr val="tx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95000"/>
                        </a:lnSpc>
                        <a:spcBef>
                          <a:spcPct val="0"/>
                        </a:spcBef>
                        <a:spcAft>
                          <a:spcPct val="50000"/>
                        </a:spcAft>
                        <a:buClrTx/>
                        <a:buSzTx/>
                        <a:buFontTx/>
                        <a:buNone/>
                        <a:tabLst/>
                        <a:defRPr/>
                      </a:pPr>
                      <a:endParaRPr lang="en-US" sz="850" b="0" strike="noStrike" kern="1200">
                        <a:solidFill>
                          <a:schemeClr val="tx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14999"/>
                        </a:lnSpc>
                        <a:spcBef>
                          <a:spcPts val="0"/>
                        </a:spcBef>
                        <a:spcAft>
                          <a:spcPts val="800"/>
                        </a:spcAft>
                        <a:buClrTx/>
                        <a:buSzTx/>
                        <a:buFontTx/>
                        <a:buNone/>
                        <a:tabLst/>
                        <a:defRPr/>
                      </a:pPr>
                      <a:endParaRPr lang="en-US" sz="850" b="0" i="0" u="none" strike="noStrike" kern="100" noProof="0">
                        <a:solidFill>
                          <a:schemeClr val="dk1"/>
                        </a:solidFill>
                        <a:effectLst/>
                        <a:latin typeface="Aptos" panose="020B00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75249404"/>
                  </a:ext>
                </a:extLst>
              </a:tr>
              <a:tr h="267703">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endParaRPr lang="en-US" sz="850" kern="1200">
                        <a:solidFill>
                          <a:schemeClr val="dk1"/>
                        </a:solidFill>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50">
                        <a:latin typeface="Aptos"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50" strike="noStrike">
                        <a:latin typeface="Aptos"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eaLnBrk="1" fontAlgn="ctr" latinLnBrk="0" hangingPunct="1">
                        <a:lnSpc>
                          <a:spcPct val="95000"/>
                        </a:lnSpc>
                        <a:spcBef>
                          <a:spcPct val="0"/>
                        </a:spcBef>
                        <a:spcAft>
                          <a:spcPct val="50000"/>
                        </a:spcAft>
                        <a:buClrTx/>
                        <a:buSzTx/>
                        <a:buNone/>
                      </a:pPr>
                      <a:endParaRPr lang="en-US" sz="850" b="0" strike="noStrike" kern="1200">
                        <a:solidFill>
                          <a:schemeClr val="tx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76961585"/>
                  </a:ext>
                </a:extLst>
              </a:tr>
              <a:tr h="407230">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endParaRPr lang="en-US" sz="850" kern="1200">
                        <a:solidFill>
                          <a:schemeClr val="dk1"/>
                        </a:solidFill>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50">
                        <a:latin typeface="Aptos"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50">
                        <a:latin typeface="Aptos"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eaLnBrk="1" fontAlgn="ctr" latinLnBrk="0" hangingPunct="1">
                        <a:lnSpc>
                          <a:spcPct val="95000"/>
                        </a:lnSpc>
                        <a:spcBef>
                          <a:spcPct val="0"/>
                        </a:spcBef>
                        <a:spcAft>
                          <a:spcPct val="50000"/>
                        </a:spcAft>
                        <a:buClrTx/>
                        <a:buSzTx/>
                        <a:buFontTx/>
                        <a:buNone/>
                      </a:pPr>
                      <a:endParaRPr lang="en-US" sz="850" b="0" kern="1200">
                        <a:solidFill>
                          <a:schemeClr val="tx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62506059"/>
                  </a:ext>
                </a:extLst>
              </a:tr>
            </a:tbl>
          </a:graphicData>
        </a:graphic>
      </p:graphicFrame>
      <p:graphicFrame>
        <p:nvGraphicFramePr>
          <p:cNvPr id="29" name="Table 28">
            <a:extLst>
              <a:ext uri="{FF2B5EF4-FFF2-40B4-BE49-F238E27FC236}">
                <a16:creationId xmlns:a16="http://schemas.microsoft.com/office/drawing/2014/main" id="{3407F6B5-2E45-B584-ACEB-75C928454B4F}"/>
              </a:ext>
            </a:extLst>
          </p:cNvPr>
          <p:cNvGraphicFramePr>
            <a:graphicFrameLocks noGrp="1"/>
          </p:cNvGraphicFramePr>
          <p:nvPr>
            <p:extLst>
              <p:ext uri="{D42A27DB-BD31-4B8C-83A1-F6EECF244321}">
                <p14:modId xmlns:p14="http://schemas.microsoft.com/office/powerpoint/2010/main" val="1061505801"/>
              </p:ext>
            </p:extLst>
          </p:nvPr>
        </p:nvGraphicFramePr>
        <p:xfrm>
          <a:off x="4957531" y="4096056"/>
          <a:ext cx="7144459" cy="2111883"/>
        </p:xfrm>
        <a:graphic>
          <a:graphicData uri="http://schemas.openxmlformats.org/drawingml/2006/table">
            <a:tbl>
              <a:tblPr>
                <a:tableStyleId>{5C22544A-7EE6-4342-B048-85BDC9FD1C3A}</a:tableStyleId>
              </a:tblPr>
              <a:tblGrid>
                <a:gridCol w="2636203">
                  <a:extLst>
                    <a:ext uri="{9D8B030D-6E8A-4147-A177-3AD203B41FA5}">
                      <a16:colId xmlns:a16="http://schemas.microsoft.com/office/drawing/2014/main" val="2456552316"/>
                    </a:ext>
                  </a:extLst>
                </a:gridCol>
                <a:gridCol w="517675">
                  <a:extLst>
                    <a:ext uri="{9D8B030D-6E8A-4147-A177-3AD203B41FA5}">
                      <a16:colId xmlns:a16="http://schemas.microsoft.com/office/drawing/2014/main" val="1100051595"/>
                    </a:ext>
                  </a:extLst>
                </a:gridCol>
                <a:gridCol w="574949">
                  <a:extLst>
                    <a:ext uri="{9D8B030D-6E8A-4147-A177-3AD203B41FA5}">
                      <a16:colId xmlns:a16="http://schemas.microsoft.com/office/drawing/2014/main" val="2042261034"/>
                    </a:ext>
                  </a:extLst>
                </a:gridCol>
                <a:gridCol w="3415632">
                  <a:extLst>
                    <a:ext uri="{9D8B030D-6E8A-4147-A177-3AD203B41FA5}">
                      <a16:colId xmlns:a16="http://schemas.microsoft.com/office/drawing/2014/main" val="2815874248"/>
                    </a:ext>
                  </a:extLst>
                </a:gridCol>
              </a:tblGrid>
              <a:tr h="293000">
                <a:tc>
                  <a:txBody>
                    <a:bodyPr/>
                    <a:lstStyle/>
                    <a:p>
                      <a:pPr marL="0" marR="0" lvl="0" indent="0" algn="ctr" defTabSz="914400" rtl="0" eaLnBrk="0" fontAlgn="base" latinLnBrk="0" hangingPunct="0">
                        <a:lnSpc>
                          <a:spcPct val="95000"/>
                        </a:lnSpc>
                        <a:spcBef>
                          <a:spcPct val="0"/>
                        </a:spcBef>
                        <a:spcAft>
                          <a:spcPct val="50000"/>
                        </a:spcAft>
                        <a:buClrTx/>
                        <a:buSzTx/>
                        <a:buFontTx/>
                        <a:buNone/>
                        <a:tabLst/>
                        <a:defRPr/>
                      </a:pPr>
                      <a:r>
                        <a:rPr kumimoji="0" lang="en-US" sz="1050" b="1" i="0" u="none" strike="noStrike" kern="1200" cap="none" normalizeH="0" baseline="0">
                          <a:ln>
                            <a:noFill/>
                          </a:ln>
                          <a:solidFill>
                            <a:schemeClr val="bg1"/>
                          </a:solidFill>
                          <a:effectLst/>
                          <a:latin typeface="Arial"/>
                          <a:ea typeface="+mn-ea"/>
                          <a:cs typeface="+mn-cs"/>
                        </a:rPr>
                        <a:t>Critical Risks/Issues</a:t>
                      </a: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Status</a:t>
                      </a:r>
                    </a:p>
                  </a:txBody>
                  <a:tcPr marL="9525" marR="9525" marT="9525" marB="0" anchor="ct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Target Date</a:t>
                      </a:r>
                    </a:p>
                  </a:txBody>
                  <a:tcPr marL="9525" marR="9525" marT="9525" marB="0" anchor="ctr">
                    <a:lnL w="12700">
                      <a:solidFill>
                        <a:schemeClr val="tx1"/>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Resolution / Mitigation</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435181">
                <a:tc>
                  <a:txBody>
                    <a:bodyPr/>
                    <a:lstStyle/>
                    <a:p>
                      <a:pPr fontAlgn="t">
                        <a:lnSpc>
                          <a:spcPts val="1500"/>
                        </a:lnSpc>
                        <a:buNone/>
                      </a:pPr>
                      <a:r>
                        <a:rPr lang="en-US" sz="900" b="0" i="0">
                          <a:effectLst/>
                          <a:latin typeface="Aptos" panose="020B0004020202020204" pitchFamily="34" charset="0"/>
                        </a:rPr>
                        <a:t>Single December deployment carries high implementation risk</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900" b="0" kern="1200">
                        <a:solidFill>
                          <a:schemeClr val="tx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r>
                        <a:rPr lang="en-US" sz="900" b="0" strike="noStrike" kern="1200">
                          <a:solidFill>
                            <a:schemeClr val="tx1"/>
                          </a:solidFill>
                          <a:effectLst/>
                          <a:latin typeface="Aptos" panose="020B0004020202020204" pitchFamily="34" charset="0"/>
                          <a:ea typeface="+mn-ea"/>
                          <a:cs typeface="+mn-cs"/>
                        </a:rPr>
                        <a:t>09/04/26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lnSpc>
                          <a:spcPts val="1500"/>
                        </a:lnSpc>
                        <a:buNone/>
                      </a:pPr>
                      <a:r>
                        <a:rPr lang="en-US" sz="900" b="0" i="0">
                          <a:effectLst/>
                          <a:latin typeface="Aptos" panose="020B0004020202020204" pitchFamily="34" charset="0"/>
                        </a:rPr>
                        <a:t>Evaluate and implement a phased delivery approach with monthly releases.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35531996"/>
                  </a:ext>
                </a:extLst>
              </a:tr>
              <a:tr h="0">
                <a:tc>
                  <a:txBody>
                    <a:bodyPr/>
                    <a:lstStyle/>
                    <a:p>
                      <a:pPr fontAlgn="t">
                        <a:lnSpc>
                          <a:spcPts val="1500"/>
                        </a:lnSpc>
                        <a:buNone/>
                      </a:pPr>
                      <a:r>
                        <a:rPr lang="en-US" sz="900" b="0" i="0">
                          <a:effectLst/>
                          <a:latin typeface="Aptos" panose="020B0004020202020204" pitchFamily="34" charset="0"/>
                        </a:rPr>
                        <a:t>End-to-end testing coordination challenges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900" b="0" kern="1200">
                        <a:solidFill>
                          <a:schemeClr val="tx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r>
                        <a:rPr lang="en-US" sz="900" b="0" strike="noStrike" kern="1200">
                          <a:solidFill>
                            <a:schemeClr val="tx1"/>
                          </a:solidFill>
                          <a:effectLst/>
                          <a:latin typeface="Aptos" panose="020B0004020202020204" pitchFamily="34" charset="0"/>
                          <a:ea typeface="+mn-ea"/>
                          <a:cs typeface="+mn-cs"/>
                        </a:rPr>
                        <a:t>09/04/26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just" fontAlgn="t">
                        <a:lnSpc>
                          <a:spcPts val="1500"/>
                        </a:lnSpc>
                        <a:buNone/>
                      </a:pPr>
                      <a:r>
                        <a:rPr lang="en-US" sz="900" b="0" i="0">
                          <a:effectLst/>
                          <a:latin typeface="Aptos" panose="020B0004020202020204" pitchFamily="34" charset="0"/>
                        </a:rPr>
                        <a:t>Develop an integrated E2E testing plan covering all impacted systems. Begin integration testing as components become available rather than waiting for complete development.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2829427"/>
                  </a:ext>
                </a:extLst>
              </a:tr>
              <a:tr h="0">
                <a:tc>
                  <a:txBody>
                    <a:bodyPr/>
                    <a:lstStyle/>
                    <a:p>
                      <a:pPr marL="0" marR="0" lvl="0" indent="0" algn="l" defTabSz="914400" rtl="0" eaLnBrk="1" fontAlgn="t" latinLnBrk="0" hangingPunct="1">
                        <a:lnSpc>
                          <a:spcPts val="1500"/>
                        </a:lnSpc>
                        <a:spcBef>
                          <a:spcPts val="0"/>
                        </a:spcBef>
                        <a:spcAft>
                          <a:spcPts val="0"/>
                        </a:spcAft>
                        <a:buClrTx/>
                        <a:buSzTx/>
                        <a:buFontTx/>
                        <a:buNone/>
                        <a:tabLst/>
                        <a:defRPr/>
                      </a:pPr>
                      <a:r>
                        <a:rPr lang="en-US" sz="900" b="0" i="0" kern="1200">
                          <a:solidFill>
                            <a:schemeClr val="dk1"/>
                          </a:solidFill>
                          <a:effectLst/>
                          <a:latin typeface="Aptos" panose="020B0004020202020204" pitchFamily="34" charset="0"/>
                          <a:ea typeface="+mn-ea"/>
                          <a:cs typeface="+mn-cs"/>
                        </a:rPr>
                        <a:t>Resource constraints during critical delivery phases due to holiday season</a:t>
                      </a:r>
                    </a:p>
                    <a:p>
                      <a:pPr fontAlgn="t">
                        <a:lnSpc>
                          <a:spcPts val="1500"/>
                        </a:lnSpc>
                        <a:buNone/>
                      </a:pPr>
                      <a:endParaRPr lang="en-US" sz="900" b="0" i="0">
                        <a:effectLst/>
                        <a:latin typeface="Aptos" panose="020B00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900" b="0" kern="1200">
                        <a:solidFill>
                          <a:schemeClr val="tx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r>
                        <a:rPr lang="en-US" sz="900" b="0" strike="noStrike" kern="1200">
                          <a:solidFill>
                            <a:schemeClr val="tx1"/>
                          </a:solidFill>
                          <a:effectLst/>
                          <a:latin typeface="Aptos" panose="020B0004020202020204" pitchFamily="34" charset="0"/>
                          <a:ea typeface="+mn-ea"/>
                          <a:cs typeface="+mn-cs"/>
                        </a:rPr>
                        <a:t>09/04/26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lnSpc>
                          <a:spcPts val="1500"/>
                        </a:lnSpc>
                        <a:buNone/>
                      </a:pPr>
                      <a:r>
                        <a:rPr lang="en-US" sz="900" b="0" i="0">
                          <a:effectLst/>
                          <a:latin typeface="Aptos" panose="020B0004020202020204" pitchFamily="34" charset="0"/>
                        </a:rPr>
                        <a:t>Validate resource plans for development and testing phases. Identify backup resources and establish contingency coverage for critical roles.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62711184"/>
                  </a:ext>
                </a:extLst>
              </a:tr>
            </a:tbl>
          </a:graphicData>
        </a:graphic>
      </p:graphicFrame>
      <p:sp>
        <p:nvSpPr>
          <p:cNvPr id="33" name="Flowchart: Connector 32">
            <a:extLst>
              <a:ext uri="{FF2B5EF4-FFF2-40B4-BE49-F238E27FC236}">
                <a16:creationId xmlns:a16="http://schemas.microsoft.com/office/drawing/2014/main" id="{A6FBE70B-FE35-9295-2584-76D4771EE6E9}"/>
              </a:ext>
            </a:extLst>
          </p:cNvPr>
          <p:cNvSpPr/>
          <p:nvPr/>
        </p:nvSpPr>
        <p:spPr>
          <a:xfrm>
            <a:off x="6729134" y="6532565"/>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Flowchart: Connector 33">
            <a:extLst>
              <a:ext uri="{FF2B5EF4-FFF2-40B4-BE49-F238E27FC236}">
                <a16:creationId xmlns:a16="http://schemas.microsoft.com/office/drawing/2014/main" id="{516C3DA0-B7C9-033F-94D5-FABEE860AC94}"/>
              </a:ext>
            </a:extLst>
          </p:cNvPr>
          <p:cNvSpPr/>
          <p:nvPr/>
        </p:nvSpPr>
        <p:spPr>
          <a:xfrm>
            <a:off x="7817028" y="6532565"/>
            <a:ext cx="163286" cy="164592"/>
          </a:xfrm>
          <a:prstGeom prst="flowChartConnector">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Flowchart: Connector 35">
            <a:extLst>
              <a:ext uri="{FF2B5EF4-FFF2-40B4-BE49-F238E27FC236}">
                <a16:creationId xmlns:a16="http://schemas.microsoft.com/office/drawing/2014/main" id="{6D663F1B-2296-287F-A437-7F7B27620B4B}"/>
              </a:ext>
            </a:extLst>
          </p:cNvPr>
          <p:cNvSpPr/>
          <p:nvPr/>
        </p:nvSpPr>
        <p:spPr>
          <a:xfrm>
            <a:off x="8812881" y="6552227"/>
            <a:ext cx="163285" cy="164592"/>
          </a:xfrm>
          <a:prstGeom prst="flowChartConnector">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F155568F-99E4-BDDE-4737-21815437582B}"/>
              </a:ext>
            </a:extLst>
          </p:cNvPr>
          <p:cNvSpPr txBox="1"/>
          <p:nvPr/>
        </p:nvSpPr>
        <p:spPr>
          <a:xfrm>
            <a:off x="71956" y="1712819"/>
            <a:ext cx="4743293" cy="5270674"/>
          </a:xfrm>
          <a:prstGeom prst="rect">
            <a:avLst/>
          </a:prstGeom>
          <a:noFill/>
        </p:spPr>
        <p:txBody>
          <a:bodyPr wrap="square" lIns="91440" tIns="45720" rIns="91440" bIns="45720" anchor="t">
            <a:spAutoFit/>
          </a:bodyPr>
          <a:lstStyle/>
          <a:p>
            <a:pPr>
              <a:spcBef>
                <a:spcPts val="100"/>
              </a:spcBef>
              <a:spcAft>
                <a:spcPts val="100"/>
              </a:spcAft>
            </a:pPr>
            <a:r>
              <a:rPr lang="en-US" sz="900" kern="100">
                <a:latin typeface="Aptos" panose="020B0004020202020204" pitchFamily="34" charset="0"/>
                <a:cs typeface="Times New Roman"/>
              </a:rPr>
              <a:t>This project GIN API V5 Upgrade is to migrate the last customer-facing GIN APIs – Accounts, Claims, Members from V2 (SOAP/RPC) to V5 (REST).</a:t>
            </a:r>
            <a:endParaRPr lang="en-US" sz="900" b="1">
              <a:latin typeface="Aptos" panose="020B0004020202020204" pitchFamily="34" charset="0"/>
              <a:cs typeface="Arial"/>
            </a:endParaRPr>
          </a:p>
          <a:p>
            <a:pPr>
              <a:spcBef>
                <a:spcPts val="100"/>
              </a:spcBef>
              <a:spcAft>
                <a:spcPts val="100"/>
              </a:spcAft>
            </a:pPr>
            <a:r>
              <a:rPr lang="en-US" sz="900" b="1">
                <a:latin typeface="Aptos" panose="020B0004020202020204" pitchFamily="34" charset="0"/>
                <a:cs typeface="Arial"/>
              </a:rPr>
              <a:t>Overall Project Status: </a:t>
            </a:r>
            <a:r>
              <a:rPr lang="en-US" sz="900" b="1">
                <a:highlight>
                  <a:srgbClr val="FFFF99"/>
                </a:highlight>
                <a:latin typeface="Aptos" panose="020B0004020202020204" pitchFamily="34" charset="0"/>
                <a:cs typeface="Arial"/>
              </a:rPr>
              <a:t>Yellow</a:t>
            </a:r>
          </a:p>
          <a:p>
            <a:pPr marL="171450" indent="-171450">
              <a:buFont typeface="Arial" panose="020B0604020202020204" pitchFamily="34" charset="0"/>
              <a:buChar char="•"/>
            </a:pPr>
            <a:r>
              <a:rPr lang="en-US" sz="900">
                <a:latin typeface="Aptos" panose="020B0004020202020204" pitchFamily="34" charset="0"/>
                <a:cs typeface="Arial"/>
              </a:rPr>
              <a:t>The project remains in Yellow status because of timeline uncertainty. Immediate onboarding of API development resources to the SS workstream is required to initiate DDIT and mitigate schedule risks. </a:t>
            </a:r>
          </a:p>
          <a:p>
            <a:pPr marL="171450" indent="-171450">
              <a:buFont typeface="Arial" panose="020B0604020202020204" pitchFamily="34" charset="0"/>
              <a:buChar char="•"/>
            </a:pPr>
            <a:r>
              <a:rPr lang="en-US" sz="900" kern="100">
                <a:latin typeface="Aptos" panose="020B0004020202020204" pitchFamily="34" charset="0"/>
                <a:cs typeface="Times New Roman"/>
              </a:rPr>
              <a:t>Requested team to evaluate the options for a phased delivery approach rather than waiting to deploy the entire solution in December due to the implementation risks associated with a year-end deployment, including release freeze periods and limited resource availability during the holiday season</a:t>
            </a:r>
          </a:p>
          <a:p>
            <a:r>
              <a:rPr lang="en-US" sz="900" b="1" kern="100">
                <a:latin typeface="Aptos" panose="020B0004020202020204" pitchFamily="34" charset="0"/>
                <a:cs typeface="Times New Roman"/>
              </a:rPr>
              <a:t>Path to Green  </a:t>
            </a:r>
            <a:r>
              <a:rPr lang="en-US" sz="900" kern="100">
                <a:latin typeface="Aptos" panose="020B0004020202020204" pitchFamily="34" charset="0"/>
                <a:cs typeface="Times New Roman"/>
              </a:rPr>
              <a:t>– </a:t>
            </a:r>
          </a:p>
          <a:p>
            <a:r>
              <a:rPr lang="en-US" sz="900" kern="100">
                <a:latin typeface="Aptos" panose="020B0004020202020204" pitchFamily="34" charset="0"/>
                <a:cs typeface="Times New Roman"/>
              </a:rPr>
              <a:t>The project can be moved to Green when:</a:t>
            </a:r>
          </a:p>
          <a:p>
            <a:pPr marL="171450" indent="-171450">
              <a:buFont typeface="Arial" panose="020B0604020202020204" pitchFamily="34" charset="0"/>
              <a:buChar char="•"/>
            </a:pPr>
            <a:r>
              <a:rPr lang="en-US" sz="900" kern="100">
                <a:latin typeface="Aptos" panose="020B0004020202020204" pitchFamily="34" charset="0"/>
                <a:cs typeface="Times New Roman"/>
              </a:rPr>
              <a:t>API resources are onboarded and DDIT is underway.</a:t>
            </a:r>
          </a:p>
          <a:p>
            <a:pPr marL="171450" indent="-171450">
              <a:buFont typeface="Arial" panose="020B0604020202020204" pitchFamily="34" charset="0"/>
              <a:buChar char="•"/>
            </a:pPr>
            <a:r>
              <a:rPr lang="en-US" sz="900" kern="100">
                <a:latin typeface="Aptos" panose="020B0004020202020204" pitchFamily="34" charset="0"/>
                <a:cs typeface="Times New Roman"/>
              </a:rPr>
              <a:t>A phased delivery plan is approved and baselined.</a:t>
            </a:r>
          </a:p>
          <a:p>
            <a:pPr marL="171450" indent="-171450">
              <a:buFont typeface="Arial" panose="020B0604020202020204" pitchFamily="34" charset="0"/>
              <a:buChar char="•"/>
            </a:pPr>
            <a:r>
              <a:rPr lang="en-US" sz="900" kern="100">
                <a:latin typeface="Aptos" panose="020B0004020202020204" pitchFamily="34" charset="0"/>
                <a:cs typeface="Times New Roman"/>
              </a:rPr>
              <a:t>Cross-system dependencies are committed and tracked.</a:t>
            </a:r>
          </a:p>
          <a:p>
            <a:pPr marL="171450" indent="-171450">
              <a:buFont typeface="Arial" panose="020B0604020202020204" pitchFamily="34" charset="0"/>
              <a:buChar char="•"/>
            </a:pPr>
            <a:r>
              <a:rPr lang="en-US" sz="900" kern="100">
                <a:latin typeface="Aptos" panose="020B0004020202020204" pitchFamily="34" charset="0"/>
                <a:cs typeface="Times New Roman"/>
              </a:rPr>
              <a:t>End-to-end testing dates are confirmed across Portal, QEC, P.E.T, SF, and IR.</a:t>
            </a:r>
          </a:p>
          <a:p>
            <a:pPr marL="171450" indent="-171450">
              <a:buFont typeface="Arial" panose="020B0604020202020204" pitchFamily="34" charset="0"/>
              <a:buChar char="•"/>
            </a:pPr>
            <a:r>
              <a:rPr lang="en-US" sz="900" kern="100">
                <a:latin typeface="Aptos" panose="020B0004020202020204" pitchFamily="34" charset="0"/>
                <a:cs typeface="Times New Roman"/>
              </a:rPr>
              <a:t>Delivery milestones have high confidence with no critical unresolved risks.</a:t>
            </a:r>
          </a:p>
          <a:p>
            <a:pPr algn="just"/>
            <a:r>
              <a:rPr lang="en-US" sz="900" b="1" kern="100">
                <a:latin typeface="Aptos" panose="020B0004020202020204" pitchFamily="34" charset="0"/>
                <a:cs typeface="Times New Roman"/>
              </a:rPr>
              <a:t>Work in progress activities - </a:t>
            </a:r>
            <a:endParaRPr lang="en-US" sz="900" kern="100">
              <a:latin typeface="Aptos" panose="020B0004020202020204" pitchFamily="34" charset="0"/>
              <a:cs typeface="Times New Roman"/>
            </a:endParaRPr>
          </a:p>
          <a:p>
            <a:pPr marL="171450" indent="-171450" algn="just">
              <a:buFont typeface="Arial" panose="020B0604020202020204" pitchFamily="34" charset="0"/>
              <a:buChar char="•"/>
            </a:pPr>
            <a:r>
              <a:rPr lang="en-US" sz="900">
                <a:latin typeface="Aptos" panose="020B0004020202020204" pitchFamily="34" charset="0"/>
              </a:rPr>
              <a:t>Creation of the Project plan is in progress</a:t>
            </a:r>
          </a:p>
          <a:p>
            <a:pPr marL="171450" indent="-171450" algn="just">
              <a:buFont typeface="Arial" panose="020B0604020202020204" pitchFamily="34" charset="0"/>
              <a:buChar char="•"/>
            </a:pPr>
            <a:r>
              <a:rPr lang="en-US" sz="900">
                <a:latin typeface="Aptos" panose="020B0004020202020204" pitchFamily="34" charset="0"/>
              </a:rPr>
              <a:t>Resources are being identified and will be allocated this week – </a:t>
            </a:r>
          </a:p>
          <a:p>
            <a:pPr marL="628650" lvl="1" indent="-171450" algn="just">
              <a:buFont typeface="Arial" panose="020B0604020202020204" pitchFamily="34" charset="0"/>
              <a:buChar char="•"/>
            </a:pPr>
            <a:r>
              <a:rPr lang="en-US" sz="900">
                <a:latin typeface="Aptos" panose="020B0004020202020204" pitchFamily="34" charset="0"/>
              </a:rPr>
              <a:t>Core  resources are identified.</a:t>
            </a:r>
          </a:p>
          <a:p>
            <a:pPr marL="628650" lvl="1" indent="-171450" algn="just">
              <a:buFont typeface="Arial" panose="020B0604020202020204" pitchFamily="34" charset="0"/>
              <a:buChar char="•"/>
            </a:pPr>
            <a:r>
              <a:rPr lang="en-US" sz="900">
                <a:latin typeface="Aptos" panose="020B0004020202020204" pitchFamily="34" charset="0"/>
              </a:rPr>
              <a:t>2 NW offshore QE onboarding is in progress for SS line</a:t>
            </a:r>
          </a:p>
          <a:p>
            <a:pPr marL="628650" lvl="1" indent="-171450" algn="just">
              <a:buFont typeface="Arial" panose="020B0604020202020204" pitchFamily="34" charset="0"/>
              <a:buChar char="•"/>
            </a:pPr>
            <a:r>
              <a:rPr lang="en-US" sz="900">
                <a:latin typeface="Aptos" panose="020B0004020202020204" pitchFamily="34" charset="0"/>
              </a:rPr>
              <a:t>1 </a:t>
            </a:r>
            <a:r>
              <a:rPr lang="en-US" sz="900" err="1">
                <a:latin typeface="Aptos" panose="020B0004020202020204" pitchFamily="34" charset="0"/>
              </a:rPr>
              <a:t>Exavalu</a:t>
            </a:r>
            <a:r>
              <a:rPr lang="en-US" sz="900">
                <a:latin typeface="Aptos" panose="020B0004020202020204" pitchFamily="34" charset="0"/>
              </a:rPr>
              <a:t> Offshore dev onboarding is in progress</a:t>
            </a:r>
          </a:p>
          <a:p>
            <a:pPr marL="628650" lvl="1" indent="-171450" algn="just">
              <a:buFont typeface="Arial" panose="020B0604020202020204" pitchFamily="34" charset="0"/>
              <a:buChar char="•"/>
            </a:pPr>
            <a:r>
              <a:rPr lang="en-US" sz="900">
                <a:latin typeface="Aptos" panose="020B0004020202020204" pitchFamily="34" charset="0"/>
              </a:rPr>
              <a:t>Jagan is looking internally for 1 API Dev</a:t>
            </a:r>
          </a:p>
          <a:p>
            <a:pPr marL="171450" indent="-171450" algn="just">
              <a:buFont typeface="Arial" panose="020B0604020202020204" pitchFamily="34" charset="0"/>
              <a:buChar char="•"/>
            </a:pPr>
            <a:r>
              <a:rPr lang="en-US" sz="900">
                <a:latin typeface="Aptos" panose="020B0004020202020204" pitchFamily="34" charset="0"/>
              </a:rPr>
              <a:t>SS Changes – </a:t>
            </a:r>
          </a:p>
          <a:p>
            <a:pPr marL="628650" lvl="1" indent="-171450" algn="just">
              <a:buFont typeface="Arial" panose="020B0604020202020204" pitchFamily="34" charset="0"/>
              <a:buChar char="•"/>
            </a:pPr>
            <a:r>
              <a:rPr lang="en-US" sz="900">
                <a:latin typeface="Aptos" panose="020B0004020202020204" pitchFamily="34" charset="0"/>
              </a:rPr>
              <a:t>Analysis on Claims resource APIs </a:t>
            </a:r>
          </a:p>
          <a:p>
            <a:pPr marL="1085850" lvl="2" indent="-171450" algn="just">
              <a:buFont typeface="Arial" panose="020B0604020202020204" pitchFamily="34" charset="0"/>
              <a:buChar char="•"/>
            </a:pPr>
            <a:r>
              <a:rPr lang="en-US" sz="900">
                <a:latin typeface="Aptos" panose="020B0004020202020204" pitchFamily="34" charset="0"/>
              </a:rPr>
              <a:t>Get Claims Details By </a:t>
            </a:r>
            <a:r>
              <a:rPr lang="en-US" sz="900" err="1">
                <a:latin typeface="Aptos" panose="020B0004020202020204" pitchFamily="34" charset="0"/>
              </a:rPr>
              <a:t>PolicyNumber</a:t>
            </a:r>
            <a:r>
              <a:rPr lang="en-US" sz="900">
                <a:latin typeface="Aptos" panose="020B0004020202020204" pitchFamily="34" charset="0"/>
              </a:rPr>
              <a:t> -  In progress</a:t>
            </a:r>
          </a:p>
          <a:p>
            <a:pPr marL="1085850" lvl="2" indent="-171450" algn="just">
              <a:buFont typeface="Arial" panose="020B0604020202020204" pitchFamily="34" charset="0"/>
              <a:buChar char="•"/>
            </a:pPr>
            <a:r>
              <a:rPr lang="en-US" sz="900">
                <a:latin typeface="Aptos" panose="020B0004020202020204" pitchFamily="34" charset="0"/>
              </a:rPr>
              <a:t>Get Claim By Id   - Not Started</a:t>
            </a:r>
          </a:p>
          <a:p>
            <a:pPr marL="1085850" lvl="2" indent="-171450" algn="just">
              <a:buFont typeface="Arial" panose="020B0604020202020204" pitchFamily="34" charset="0"/>
              <a:buChar char="•"/>
            </a:pPr>
            <a:r>
              <a:rPr lang="en-US" sz="900">
                <a:latin typeface="Aptos" panose="020B0004020202020204" pitchFamily="34" charset="0"/>
              </a:rPr>
              <a:t>Get Claims By </a:t>
            </a:r>
            <a:r>
              <a:rPr lang="en-US" sz="900" err="1">
                <a:latin typeface="Aptos" panose="020B0004020202020204" pitchFamily="34" charset="0"/>
              </a:rPr>
              <a:t>PolicyNumber</a:t>
            </a:r>
            <a:r>
              <a:rPr lang="en-US" sz="900">
                <a:latin typeface="Aptos" panose="020B0004020202020204" pitchFamily="34" charset="0"/>
              </a:rPr>
              <a:t> – Not Started</a:t>
            </a:r>
          </a:p>
          <a:p>
            <a:pPr marL="1085850" lvl="2" indent="-171450" algn="just">
              <a:buFont typeface="Arial" panose="020B0604020202020204" pitchFamily="34" charset="0"/>
              <a:buChar char="•"/>
            </a:pPr>
            <a:r>
              <a:rPr lang="en-US" sz="900" err="1">
                <a:latin typeface="Aptos" panose="020B0004020202020204" pitchFamily="34" charset="0"/>
              </a:rPr>
              <a:t>LossNotices</a:t>
            </a:r>
            <a:r>
              <a:rPr lang="en-US" sz="900">
                <a:latin typeface="Aptos" panose="020B0004020202020204" pitchFamily="34" charset="0"/>
              </a:rPr>
              <a:t> – DDIT is in progress</a:t>
            </a:r>
          </a:p>
          <a:p>
            <a:pPr marL="171450" indent="-171450" algn="just">
              <a:buFont typeface="Arial" panose="020B0604020202020204" pitchFamily="34" charset="0"/>
              <a:buChar char="•"/>
            </a:pPr>
            <a:r>
              <a:rPr lang="en-US" sz="900">
                <a:latin typeface="Aptos" panose="020B0004020202020204" pitchFamily="34" charset="0"/>
              </a:rPr>
              <a:t>MM Changes – </a:t>
            </a:r>
          </a:p>
          <a:p>
            <a:pPr marL="628650" lvl="1" indent="-171450" algn="just">
              <a:buFont typeface="Arial" panose="020B0604020202020204" pitchFamily="34" charset="0"/>
              <a:buChar char="•"/>
            </a:pPr>
            <a:r>
              <a:rPr lang="en-US" sz="1000" kern="100">
                <a:latin typeface="Aptos" panose="020B0004020202020204" pitchFamily="34" charset="0"/>
                <a:cs typeface="Times New Roman"/>
              </a:rPr>
              <a:t>Analysis in is progress on Claims Resource APIs</a:t>
            </a:r>
            <a:endParaRPr lang="en-US" sz="1000" kern="100">
              <a:cs typeface="Times New Roman"/>
            </a:endParaRPr>
          </a:p>
          <a:p>
            <a:pPr marL="628650" lvl="1" indent="-171450">
              <a:buFont typeface="Arial" panose="020B0604020202020204" pitchFamily="34" charset="0"/>
              <a:buChar char="•"/>
            </a:pPr>
            <a:endParaRPr lang="en-US" sz="900" kern="100">
              <a:highlight>
                <a:srgbClr val="FFFF00"/>
              </a:highlight>
              <a:cs typeface="Times New Roman"/>
            </a:endParaRPr>
          </a:p>
          <a:p>
            <a:pPr marL="171450" indent="-171450">
              <a:buFont typeface="Arial" panose="020B0604020202020204" pitchFamily="34" charset="0"/>
              <a:buChar char="•"/>
            </a:pPr>
            <a:endParaRPr lang="en-US" sz="900" b="1" kern="100">
              <a:cs typeface="Times New Roman"/>
            </a:endParaRPr>
          </a:p>
          <a:p>
            <a:pPr marL="171450" lvl="0" indent="-171450">
              <a:buFont typeface="Arial" panose="020B0604020202020204" pitchFamily="34" charset="0"/>
              <a:buChar char="•"/>
            </a:pPr>
            <a:endParaRPr lang="en-US" sz="900" kern="100">
              <a:cs typeface="Times New Roman"/>
            </a:endParaRPr>
          </a:p>
          <a:p>
            <a:pPr marL="171450" indent="-171450">
              <a:buFont typeface="Arial" panose="020B0604020202020204" pitchFamily="34" charset="0"/>
              <a:buChar char="•"/>
            </a:pPr>
            <a:endParaRPr lang="en-US" sz="900" kern="100">
              <a:cs typeface="Times New Roman"/>
            </a:endParaRPr>
          </a:p>
          <a:p>
            <a:pPr lvl="0"/>
            <a:endParaRPr lang="en-US" sz="900" kern="100">
              <a:cs typeface="Times New Roman"/>
            </a:endParaRPr>
          </a:p>
        </p:txBody>
      </p:sp>
      <p:sp>
        <p:nvSpPr>
          <p:cNvPr id="3" name="TextBox 2">
            <a:extLst>
              <a:ext uri="{FF2B5EF4-FFF2-40B4-BE49-F238E27FC236}">
                <a16:creationId xmlns:a16="http://schemas.microsoft.com/office/drawing/2014/main" id="{DDE36371-A178-1231-45F9-301EC83A6AAB}"/>
              </a:ext>
            </a:extLst>
          </p:cNvPr>
          <p:cNvSpPr txBox="1"/>
          <p:nvPr/>
        </p:nvSpPr>
        <p:spPr>
          <a:xfrm>
            <a:off x="9854419" y="165601"/>
            <a:ext cx="2275101" cy="517320"/>
          </a:xfrm>
          <a:prstGeom prst="rect">
            <a:avLst/>
          </a:prstGeom>
          <a:noFill/>
        </p:spPr>
        <p:txBody>
          <a:bodyPr wrap="none" lIns="0" tIns="0" rIns="0" bIns="0" rtlCol="0" anchor="t">
            <a:noAutofit/>
          </a:bodyPr>
          <a:lstStyle>
            <a:defPPr>
              <a:defRPr lang="en-US"/>
            </a:defPPr>
            <a:lvl1pPr>
              <a:lnSpc>
                <a:spcPct val="112000"/>
              </a:lnSpc>
              <a:defRPr sz="1200">
                <a:solidFill>
                  <a:prstClr val="black"/>
                </a:solidFill>
                <a:latin typeface="Aptos" panose="02110004020202020204"/>
              </a:defRPr>
            </a:lvl1pPr>
          </a:lstStyle>
          <a:p>
            <a:r>
              <a:rPr lang="en-US"/>
              <a:t>Project Manager : Dinesh</a:t>
            </a:r>
          </a:p>
          <a:p>
            <a:r>
              <a:rPr lang="en-US" err="1"/>
              <a:t>OpEx</a:t>
            </a:r>
            <a:r>
              <a:rPr lang="en-US"/>
              <a:t> Business Lead: Gary Wilson</a:t>
            </a:r>
          </a:p>
          <a:p>
            <a:r>
              <a:rPr lang="en-US"/>
              <a:t> </a:t>
            </a:r>
          </a:p>
        </p:txBody>
      </p:sp>
      <p:sp>
        <p:nvSpPr>
          <p:cNvPr id="7" name="Flowchart: Connector 6">
            <a:extLst>
              <a:ext uri="{FF2B5EF4-FFF2-40B4-BE49-F238E27FC236}">
                <a16:creationId xmlns:a16="http://schemas.microsoft.com/office/drawing/2014/main" id="{2BF15985-4480-9F45-CF91-CB7DD8FBA176}"/>
              </a:ext>
            </a:extLst>
          </p:cNvPr>
          <p:cNvSpPr/>
          <p:nvPr/>
        </p:nvSpPr>
        <p:spPr>
          <a:xfrm>
            <a:off x="6096000" y="1411765"/>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lowchart: Connector 12">
            <a:extLst>
              <a:ext uri="{FF2B5EF4-FFF2-40B4-BE49-F238E27FC236}">
                <a16:creationId xmlns:a16="http://schemas.microsoft.com/office/drawing/2014/main" id="{17E5BE9F-BF22-772E-1794-9C7F0D2DF979}"/>
              </a:ext>
            </a:extLst>
          </p:cNvPr>
          <p:cNvSpPr/>
          <p:nvPr/>
        </p:nvSpPr>
        <p:spPr>
          <a:xfrm>
            <a:off x="4256605" y="1387499"/>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lowchart: Connector 15">
            <a:extLst>
              <a:ext uri="{FF2B5EF4-FFF2-40B4-BE49-F238E27FC236}">
                <a16:creationId xmlns:a16="http://schemas.microsoft.com/office/drawing/2014/main" id="{65B85E82-B180-079A-A547-A2133322CCFD}"/>
              </a:ext>
            </a:extLst>
          </p:cNvPr>
          <p:cNvSpPr/>
          <p:nvPr/>
        </p:nvSpPr>
        <p:spPr>
          <a:xfrm>
            <a:off x="3227390" y="1403331"/>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lowchart: Connector 7">
            <a:extLst>
              <a:ext uri="{FF2B5EF4-FFF2-40B4-BE49-F238E27FC236}">
                <a16:creationId xmlns:a16="http://schemas.microsoft.com/office/drawing/2014/main" id="{40FA62E3-56CA-30C9-BEE2-14EC45F6BED0}"/>
              </a:ext>
            </a:extLst>
          </p:cNvPr>
          <p:cNvSpPr/>
          <p:nvPr/>
        </p:nvSpPr>
        <p:spPr>
          <a:xfrm>
            <a:off x="5163634" y="1383324"/>
            <a:ext cx="163285" cy="164592"/>
          </a:xfrm>
          <a:prstGeom prst="flowChartConnector">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lowchart: Connector 11">
            <a:extLst>
              <a:ext uri="{FF2B5EF4-FFF2-40B4-BE49-F238E27FC236}">
                <a16:creationId xmlns:a16="http://schemas.microsoft.com/office/drawing/2014/main" id="{5E115968-EB6E-D599-C6F4-9C5F9626FA18}"/>
              </a:ext>
            </a:extLst>
          </p:cNvPr>
          <p:cNvSpPr/>
          <p:nvPr/>
        </p:nvSpPr>
        <p:spPr>
          <a:xfrm>
            <a:off x="7795042" y="2180975"/>
            <a:ext cx="163285" cy="164592"/>
          </a:xfrm>
          <a:prstGeom prst="flowChartConnector">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lowchart: Connector 16">
            <a:extLst>
              <a:ext uri="{FF2B5EF4-FFF2-40B4-BE49-F238E27FC236}">
                <a16:creationId xmlns:a16="http://schemas.microsoft.com/office/drawing/2014/main" id="{759DF5D2-7481-FB1A-F8FA-F510034FC851}"/>
              </a:ext>
            </a:extLst>
          </p:cNvPr>
          <p:cNvSpPr/>
          <p:nvPr/>
        </p:nvSpPr>
        <p:spPr>
          <a:xfrm>
            <a:off x="7797764" y="2531546"/>
            <a:ext cx="163285" cy="164592"/>
          </a:xfrm>
          <a:prstGeom prst="flowChartConnector">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lowchart: Connector 20">
            <a:extLst>
              <a:ext uri="{FF2B5EF4-FFF2-40B4-BE49-F238E27FC236}">
                <a16:creationId xmlns:a16="http://schemas.microsoft.com/office/drawing/2014/main" id="{FFD3EEB4-B292-2F9B-C7BE-A3E759CD97F1}"/>
              </a:ext>
            </a:extLst>
          </p:cNvPr>
          <p:cNvSpPr/>
          <p:nvPr/>
        </p:nvSpPr>
        <p:spPr>
          <a:xfrm>
            <a:off x="7795042" y="4540052"/>
            <a:ext cx="163285" cy="164592"/>
          </a:xfrm>
          <a:prstGeom prst="flowChartConnector">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Flowchart: Connector 22">
            <a:extLst>
              <a:ext uri="{FF2B5EF4-FFF2-40B4-BE49-F238E27FC236}">
                <a16:creationId xmlns:a16="http://schemas.microsoft.com/office/drawing/2014/main" id="{980737C2-D1D7-EFBB-9354-B13717EE5FF4}"/>
              </a:ext>
            </a:extLst>
          </p:cNvPr>
          <p:cNvSpPr/>
          <p:nvPr/>
        </p:nvSpPr>
        <p:spPr>
          <a:xfrm>
            <a:off x="7795041" y="5155174"/>
            <a:ext cx="163285" cy="164592"/>
          </a:xfrm>
          <a:prstGeom prst="flowChartConnector">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Flowchart: Connector 27">
            <a:extLst>
              <a:ext uri="{FF2B5EF4-FFF2-40B4-BE49-F238E27FC236}">
                <a16:creationId xmlns:a16="http://schemas.microsoft.com/office/drawing/2014/main" id="{33EC8507-5CB6-30CE-687D-03FAAC74E8B3}"/>
              </a:ext>
            </a:extLst>
          </p:cNvPr>
          <p:cNvSpPr/>
          <p:nvPr/>
        </p:nvSpPr>
        <p:spPr>
          <a:xfrm>
            <a:off x="7795040" y="5809751"/>
            <a:ext cx="163285" cy="164592"/>
          </a:xfrm>
          <a:prstGeom prst="flowChartConnector">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714835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7F6317-2A85-8756-7E3D-A0D39F5AA5B6}"/>
            </a:ext>
          </a:extLst>
        </p:cNvPr>
        <p:cNvGrpSpPr/>
        <p:nvPr/>
      </p:nvGrpSpPr>
      <p:grpSpPr>
        <a:xfrm>
          <a:off x="0" y="0"/>
          <a:ext cx="0" cy="0"/>
          <a:chOff x="0" y="0"/>
          <a:chExt cx="0" cy="0"/>
        </a:xfrm>
      </p:grpSpPr>
      <p:graphicFrame>
        <p:nvGraphicFramePr>
          <p:cNvPr id="27" name="Table 26">
            <a:extLst>
              <a:ext uri="{FF2B5EF4-FFF2-40B4-BE49-F238E27FC236}">
                <a16:creationId xmlns:a16="http://schemas.microsoft.com/office/drawing/2014/main" id="{8AFCCF80-BEAF-DD04-B95A-D15CFA8CC9A4}"/>
              </a:ext>
            </a:extLst>
          </p:cNvPr>
          <p:cNvGraphicFramePr>
            <a:graphicFrameLocks noGrp="1"/>
          </p:cNvGraphicFramePr>
          <p:nvPr>
            <p:extLst>
              <p:ext uri="{D42A27DB-BD31-4B8C-83A1-F6EECF244321}">
                <p14:modId xmlns:p14="http://schemas.microsoft.com/office/powerpoint/2010/main" val="1624528082"/>
              </p:ext>
            </p:extLst>
          </p:nvPr>
        </p:nvGraphicFramePr>
        <p:xfrm>
          <a:off x="6216793" y="1278487"/>
          <a:ext cx="5858485" cy="2551619"/>
        </p:xfrm>
        <a:graphic>
          <a:graphicData uri="http://schemas.openxmlformats.org/drawingml/2006/table">
            <a:tbl>
              <a:tblPr>
                <a:tableStyleId>{5C22544A-7EE6-4342-B048-85BDC9FD1C3A}</a:tableStyleId>
              </a:tblPr>
              <a:tblGrid>
                <a:gridCol w="2489101">
                  <a:extLst>
                    <a:ext uri="{9D8B030D-6E8A-4147-A177-3AD203B41FA5}">
                      <a16:colId xmlns:a16="http://schemas.microsoft.com/office/drawing/2014/main" val="2456552316"/>
                    </a:ext>
                  </a:extLst>
                </a:gridCol>
                <a:gridCol w="596711">
                  <a:extLst>
                    <a:ext uri="{9D8B030D-6E8A-4147-A177-3AD203B41FA5}">
                      <a16:colId xmlns:a16="http://schemas.microsoft.com/office/drawing/2014/main" val="1100051595"/>
                    </a:ext>
                  </a:extLst>
                </a:gridCol>
                <a:gridCol w="603901">
                  <a:extLst>
                    <a:ext uri="{9D8B030D-6E8A-4147-A177-3AD203B41FA5}">
                      <a16:colId xmlns:a16="http://schemas.microsoft.com/office/drawing/2014/main" val="2042261034"/>
                    </a:ext>
                  </a:extLst>
                </a:gridCol>
                <a:gridCol w="2168772">
                  <a:extLst>
                    <a:ext uri="{9D8B030D-6E8A-4147-A177-3AD203B41FA5}">
                      <a16:colId xmlns:a16="http://schemas.microsoft.com/office/drawing/2014/main" val="2815874248"/>
                    </a:ext>
                  </a:extLst>
                </a:gridCol>
              </a:tblGrid>
              <a:tr h="334286">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00" b="1" i="0" u="none" strike="noStrike" kern="1200" cap="none" normalizeH="0" baseline="0">
                          <a:ln>
                            <a:noFill/>
                          </a:ln>
                          <a:solidFill>
                            <a:schemeClr val="bg1"/>
                          </a:solidFill>
                          <a:effectLst/>
                          <a:latin typeface="Arial"/>
                          <a:ea typeface="+mn-ea"/>
                          <a:cs typeface="+mn-cs"/>
                        </a:rPr>
                        <a:t>Upcoming Milestone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00" b="1" i="0" u="none" strike="noStrike" kern="1200" cap="none" normalizeH="0" baseline="0">
                          <a:ln>
                            <a:noFill/>
                          </a:ln>
                          <a:solidFill>
                            <a:schemeClr val="bg1"/>
                          </a:solidFill>
                          <a:effectLst/>
                          <a:latin typeface="Arial"/>
                          <a:ea typeface="+mn-ea"/>
                          <a:cs typeface="+mn-cs"/>
                        </a:rPr>
                        <a:t>Status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00" b="1" i="0" u="none" strike="noStrike" kern="1200" cap="none" normalizeH="0" baseline="0">
                          <a:ln>
                            <a:noFill/>
                          </a:ln>
                          <a:solidFill>
                            <a:schemeClr val="bg1"/>
                          </a:solidFill>
                          <a:effectLst/>
                          <a:latin typeface="Arial"/>
                          <a:ea typeface="+mn-ea"/>
                          <a:cs typeface="+mn-cs"/>
                        </a:rPr>
                        <a:t>Due Date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00" b="1" i="0" u="none" strike="noStrike" kern="1200" cap="none" normalizeH="0" baseline="0">
                          <a:ln>
                            <a:noFill/>
                          </a:ln>
                          <a:solidFill>
                            <a:schemeClr val="bg1"/>
                          </a:solidFill>
                          <a:effectLst/>
                          <a:latin typeface="Arial"/>
                          <a:ea typeface="+mn-ea"/>
                          <a:cs typeface="+mn-cs"/>
                        </a:rPr>
                        <a:t> </a:t>
                      </a:r>
                      <a:r>
                        <a:rPr kumimoji="0" lang="en-US" sz="1000" b="1" i="0" u="none" strike="noStrike" kern="1200" cap="none" normalizeH="0" baseline="0">
                          <a:ln>
                            <a:noFill/>
                          </a:ln>
                          <a:solidFill>
                            <a:schemeClr val="bg1"/>
                          </a:solidFill>
                          <a:effectLst/>
                          <a:latin typeface="Arial"/>
                          <a:ea typeface="+mn-ea"/>
                          <a:cs typeface="+mn-cs"/>
                        </a:rPr>
                        <a:t>Notes</a:t>
                      </a:r>
                      <a:endParaRPr kumimoji="0" lang="en-US" sz="100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40806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Aptos" panose="020B0004020202020204" pitchFamily="34" charset="0"/>
                          <a:ea typeface="Calibri" panose="020F0502020204030204"/>
                          <a:cs typeface="Calibri" panose="020F0502020204030204"/>
                        </a:rPr>
                        <a:t>Email Ingestion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95000"/>
                        </a:lnSpc>
                        <a:spcBef>
                          <a:spcPct val="0"/>
                        </a:spcBef>
                        <a:spcAft>
                          <a:spcPct val="50000"/>
                        </a:spcAft>
                        <a:buClrTx/>
                        <a:buSzTx/>
                        <a:buFontTx/>
                        <a:buNone/>
                        <a:tabLst/>
                        <a:defRPr/>
                      </a:pPr>
                      <a:endParaRPr lang="en-US" sz="800" b="0"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95000"/>
                        </a:lnSpc>
                        <a:spcBef>
                          <a:spcPct val="0"/>
                        </a:spcBef>
                        <a:spcAft>
                          <a:spcPct val="50000"/>
                        </a:spcAft>
                        <a:buClrTx/>
                        <a:buSzTx/>
                        <a:buFontTx/>
                        <a:buNone/>
                        <a:tabLst/>
                        <a:defRPr/>
                      </a:pPr>
                      <a:r>
                        <a:rPr lang="en-US" sz="900" b="0" strike="noStrike" kern="1200">
                          <a:solidFill>
                            <a:schemeClr val="tx1"/>
                          </a:solidFill>
                          <a:effectLst/>
                          <a:latin typeface="Aptos" panose="020B0004020202020204" pitchFamily="34" charset="0"/>
                          <a:ea typeface="+mn-ea"/>
                          <a:cs typeface="+mn-cs"/>
                        </a:rPr>
                        <a:t>9/17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58" rtl="0" eaLnBrk="1" fontAlgn="auto" latinLnBrk="0" hangingPunct="1">
                        <a:lnSpc>
                          <a:spcPct val="114999"/>
                        </a:lnSpc>
                        <a:spcBef>
                          <a:spcPts val="0"/>
                        </a:spcBef>
                        <a:spcAft>
                          <a:spcPts val="800"/>
                        </a:spcAft>
                        <a:buClrTx/>
                        <a:buSzTx/>
                        <a:buFontTx/>
                        <a:buNone/>
                        <a:tabLst/>
                        <a:defRPr/>
                      </a:pPr>
                      <a:r>
                        <a:rPr lang="en-US" sz="900" b="0" i="0" u="none" strike="noStrike" kern="100" noProof="0">
                          <a:solidFill>
                            <a:schemeClr val="dk1"/>
                          </a:solidFill>
                          <a:effectLst/>
                          <a:latin typeface="Aptos" panose="020B0004020202020204" pitchFamily="34" charset="0"/>
                        </a:rPr>
                        <a:t>Specs development complete. DDIT moving into Sept 9/10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58870591"/>
                  </a:ext>
                </a:extLst>
              </a:tr>
              <a:tr h="521608">
                <a:tc>
                  <a:txBody>
                    <a:bodyPr/>
                    <a:lstStyle/>
                    <a:p>
                      <a:pPr marL="0" marR="0" lvl="0" indent="0" algn="l" rtl="0" eaLnBrk="1" fontAlgn="auto" latinLnBrk="0" hangingPunct="1">
                        <a:lnSpc>
                          <a:spcPct val="100000"/>
                        </a:lnSpc>
                        <a:spcBef>
                          <a:spcPts val="0"/>
                        </a:spcBef>
                        <a:spcAft>
                          <a:spcPts val="0"/>
                        </a:spcAft>
                        <a:buClrTx/>
                        <a:buSzTx/>
                        <a:buFontTx/>
                        <a:buNone/>
                      </a:pPr>
                      <a:r>
                        <a:rPr lang="en-US" sz="900" b="0" i="0" u="none" strike="noStrike" kern="1200" cap="none" spc="0" normalizeH="0" baseline="0" noProof="0">
                          <a:ln>
                            <a:noFill/>
                          </a:ln>
                          <a:solidFill>
                            <a:prstClr val="black"/>
                          </a:solidFill>
                          <a:effectLst/>
                          <a:uLnTx/>
                          <a:uFillTx/>
                          <a:latin typeface="Aptos" panose="020B0004020202020204" pitchFamily="34" charset="0"/>
                          <a:ea typeface="Calibri"/>
                          <a:cs typeface="Calibri"/>
                        </a:rPr>
                        <a:t>Document Submission Service</a:t>
                      </a:r>
                      <a:endParaRPr kumimoji="0" lang="en-US" sz="900" b="0" i="0" u="none" strike="noStrike" kern="1200" cap="none" spc="0" normalizeH="0" baseline="0" noProof="0">
                        <a:ln>
                          <a:noFill/>
                        </a:ln>
                        <a:solidFill>
                          <a:prstClr val="black"/>
                        </a:solidFill>
                        <a:effectLst/>
                        <a:uLnTx/>
                        <a:uFillTx/>
                        <a:latin typeface="Aptos" panose="020B0004020202020204" pitchFamily="34" charset="0"/>
                        <a:ea typeface="Calibri"/>
                        <a:cs typeface="Calibri"/>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a:lnSpc>
                          <a:spcPct val="95000"/>
                        </a:lnSpc>
                        <a:spcBef>
                          <a:spcPct val="0"/>
                        </a:spcBef>
                        <a:spcAft>
                          <a:spcPct val="50000"/>
                        </a:spcAft>
                        <a:buClrTx/>
                        <a:buSzTx/>
                        <a:buFontTx/>
                        <a:buNone/>
                        <a:tabLst/>
                      </a:pPr>
                      <a:endParaRPr lang="en-US" sz="800" b="0"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95000"/>
                        </a:lnSpc>
                        <a:spcBef>
                          <a:spcPct val="0"/>
                        </a:spcBef>
                        <a:spcAft>
                          <a:spcPct val="50000"/>
                        </a:spcAft>
                        <a:buClrTx/>
                        <a:buSzTx/>
                        <a:buFontTx/>
                        <a:buNone/>
                        <a:tabLst/>
                        <a:defRPr/>
                      </a:pPr>
                      <a:r>
                        <a:rPr lang="en-US" sz="900" b="0" strike="noStrike" kern="1200">
                          <a:solidFill>
                            <a:schemeClr val="tx1"/>
                          </a:solidFill>
                          <a:effectLst/>
                          <a:latin typeface="Aptos" panose="020B0004020202020204" pitchFamily="34" charset="0"/>
                          <a:ea typeface="+mn-ea"/>
                          <a:cs typeface="+mn-cs"/>
                        </a:rPr>
                        <a:t>8/31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58" rtl="0" eaLnBrk="1" fontAlgn="auto" latinLnBrk="0" hangingPunct="1">
                        <a:lnSpc>
                          <a:spcPct val="100000"/>
                        </a:lnSpc>
                        <a:spcBef>
                          <a:spcPts val="0"/>
                        </a:spcBef>
                        <a:spcAft>
                          <a:spcPts val="0"/>
                        </a:spcAft>
                        <a:buClrTx/>
                        <a:buSzTx/>
                        <a:buFontTx/>
                        <a:buNone/>
                        <a:tabLst/>
                        <a:defRPr/>
                      </a:pPr>
                      <a:r>
                        <a:rPr lang="en-US" sz="900" b="0" i="0" u="none" strike="noStrike" kern="100" noProof="0">
                          <a:solidFill>
                            <a:schemeClr val="dk1"/>
                          </a:solidFill>
                          <a:effectLst/>
                          <a:latin typeface="Aptos" panose="020B0004020202020204" pitchFamily="34" charset="0"/>
                        </a:rPr>
                        <a:t>Targeting Dark Launch 8/28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73538561"/>
                  </a:ext>
                </a:extLst>
              </a:tr>
              <a:tr h="409644">
                <a:tc>
                  <a:txBody>
                    <a:bodyPr/>
                    <a:lstStyle/>
                    <a:p>
                      <a:pPr marL="0" marR="0" lvl="0" indent="0" algn="l" defTabSz="685858" rtl="0" eaLnBrk="1" fontAlgn="auto" latinLnBrk="0" hangingPunct="1">
                        <a:lnSpc>
                          <a:spcPct val="100000"/>
                        </a:lnSpc>
                        <a:spcBef>
                          <a:spcPts val="0"/>
                        </a:spcBef>
                        <a:spcAft>
                          <a:spcPts val="0"/>
                        </a:spcAft>
                        <a:buClrTx/>
                        <a:buSzTx/>
                        <a:buFontTx/>
                        <a:buNone/>
                        <a:tabLst/>
                        <a:defRPr/>
                      </a:pPr>
                      <a:r>
                        <a:rPr lang="en-US" sz="900" b="0" i="0" u="none" strike="noStrike" kern="1200" cap="none" spc="0" normalizeH="0" baseline="0" noProof="0">
                          <a:ln>
                            <a:noFill/>
                          </a:ln>
                          <a:solidFill>
                            <a:prstClr val="black"/>
                          </a:solidFill>
                          <a:effectLst/>
                          <a:uLnTx/>
                          <a:uFillTx/>
                          <a:latin typeface="Aptos" panose="020B0004020202020204" pitchFamily="34" charset="0"/>
                          <a:ea typeface="Calibri"/>
                          <a:cs typeface="Calibri"/>
                        </a:rPr>
                        <a:t>(Tailwind Agent)-Lookup Tool, Extraction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0" hangingPunct="1">
                        <a:lnSpc>
                          <a:spcPct val="95000"/>
                        </a:lnSpc>
                        <a:spcBef>
                          <a:spcPct val="0"/>
                        </a:spcBef>
                        <a:spcAft>
                          <a:spcPct val="50000"/>
                        </a:spcAft>
                        <a:buClrTx/>
                        <a:buSzTx/>
                        <a:buFontTx/>
                        <a:buNone/>
                        <a:tabLst/>
                        <a:defRPr/>
                      </a:pPr>
                      <a:endParaRPr lang="en-US" sz="800" b="0" strike="noStrike" kern="1200">
                        <a:solidFill>
                          <a:schemeClr val="tx1"/>
                        </a:solidFill>
                        <a:effectLst/>
                        <a:latin typeface="Aptos" panose="020B0004020202020204" pitchFamily="34" charset="0"/>
                        <a:ea typeface="+mn-ea"/>
                        <a:cs typeface="+mn-cs"/>
                      </a:endParaRPr>
                    </a:p>
                    <a:p>
                      <a:pPr marL="0" marR="0" lvl="0" indent="0" algn="ctr" defTabSz="914400" rtl="0" eaLnBrk="1" fontAlgn="auto" latinLnBrk="0" hangingPunct="1">
                        <a:lnSpc>
                          <a:spcPct val="95000"/>
                        </a:lnSpc>
                        <a:spcBef>
                          <a:spcPct val="0"/>
                        </a:spcBef>
                        <a:spcAft>
                          <a:spcPct val="50000"/>
                        </a:spcAft>
                        <a:buClrTx/>
                        <a:buSzTx/>
                        <a:buFontTx/>
                        <a:buNone/>
                        <a:tabLst/>
                        <a:defRPr/>
                      </a:pPr>
                      <a:r>
                        <a:rPr lang="en-US" sz="800" b="0" strike="noStrike" kern="1200">
                          <a:solidFill>
                            <a:schemeClr val="tx1"/>
                          </a:solidFill>
                          <a:effectLst/>
                          <a:latin typeface="Aptos" panose="020B0004020202020204" pitchFamily="34" charset="0"/>
                          <a:ea typeface="+mn-ea"/>
                          <a:cs typeface="+mn-cs"/>
                        </a:rPr>
                        <a:t>C</a:t>
                      </a:r>
                    </a:p>
                    <a:p>
                      <a:pPr marL="0" marR="0" lvl="0" indent="0" algn="ctr" defTabSz="914400" rtl="0">
                        <a:lnSpc>
                          <a:spcPct val="95000"/>
                        </a:lnSpc>
                        <a:spcBef>
                          <a:spcPct val="0"/>
                        </a:spcBef>
                        <a:spcAft>
                          <a:spcPct val="50000"/>
                        </a:spcAft>
                        <a:buClrTx/>
                        <a:buSzTx/>
                        <a:buFontTx/>
                        <a:buNone/>
                        <a:tabLst/>
                      </a:pPr>
                      <a:endParaRPr lang="en-US" sz="800" b="0"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0" hangingPunct="1">
                        <a:lnSpc>
                          <a:spcPct val="95000"/>
                        </a:lnSpc>
                        <a:spcBef>
                          <a:spcPct val="0"/>
                        </a:spcBef>
                        <a:spcAft>
                          <a:spcPct val="50000"/>
                        </a:spcAft>
                        <a:buClrTx/>
                        <a:buSzTx/>
                        <a:buFontTx/>
                        <a:buNone/>
                        <a:tabLst/>
                        <a:defRPr/>
                      </a:pPr>
                      <a:r>
                        <a:rPr lang="en-US" sz="900" b="0" strike="noStrike" kern="1200">
                          <a:solidFill>
                            <a:schemeClr val="tx1"/>
                          </a:solidFill>
                          <a:effectLst/>
                          <a:latin typeface="Aptos" panose="020B0004020202020204" pitchFamily="34" charset="0"/>
                          <a:ea typeface="+mn-ea"/>
                          <a:cs typeface="+mn-cs"/>
                        </a:rPr>
                        <a:t>8/31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a:lnSpc>
                          <a:spcPct val="114999"/>
                        </a:lnSpc>
                        <a:spcAft>
                          <a:spcPts val="800"/>
                        </a:spcAft>
                        <a:buNone/>
                      </a:pPr>
                      <a:r>
                        <a:rPr lang="en-US" sz="900" b="0" i="0" u="none" strike="noStrike" kern="100" noProof="0">
                          <a:solidFill>
                            <a:schemeClr val="dk1"/>
                          </a:solidFill>
                          <a:effectLst/>
                          <a:latin typeface="Aptos" panose="020B0004020202020204" pitchFamily="34" charset="0"/>
                        </a:rPr>
                        <a:t>Completed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442273377"/>
                  </a:ext>
                </a:extLst>
              </a:tr>
              <a:tr h="346198">
                <a:tc>
                  <a:txBody>
                    <a:bodyPr/>
                    <a:lstStyle/>
                    <a:p>
                      <a:pPr marL="0" marR="0" lvl="0" indent="0" algn="l" rtl="0" eaLnBrk="1" fontAlgn="auto" latinLnBrk="0" hangingPunct="1">
                        <a:lnSpc>
                          <a:spcPct val="100000"/>
                        </a:lnSpc>
                        <a:spcBef>
                          <a:spcPts val="0"/>
                        </a:spcBef>
                        <a:spcAft>
                          <a:spcPts val="0"/>
                        </a:spcAft>
                        <a:buClrTx/>
                        <a:buSzTx/>
                        <a:buFontTx/>
                        <a:buNone/>
                      </a:pPr>
                      <a:r>
                        <a:rPr lang="en-US" sz="900" b="0" i="0" u="none" strike="noStrike" kern="1200" cap="none" spc="0" normalizeH="0" baseline="0" noProof="0">
                          <a:ln>
                            <a:noFill/>
                          </a:ln>
                          <a:solidFill>
                            <a:prstClr val="black"/>
                          </a:solidFill>
                          <a:effectLst/>
                          <a:uLnTx/>
                          <a:uFillTx/>
                          <a:latin typeface="Aptos" panose="020B0004020202020204" pitchFamily="34" charset="0"/>
                          <a:ea typeface="Calibri"/>
                          <a:cs typeface="Calibri"/>
                        </a:rPr>
                        <a:t>Testing (End to End) kick-off</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a:lnSpc>
                          <a:spcPct val="95000"/>
                        </a:lnSpc>
                        <a:spcBef>
                          <a:spcPct val="0"/>
                        </a:spcBef>
                        <a:spcAft>
                          <a:spcPct val="50000"/>
                        </a:spcAft>
                        <a:buClrTx/>
                        <a:buSzTx/>
                        <a:buFontTx/>
                        <a:buNone/>
                        <a:tabLst/>
                      </a:pPr>
                      <a:endParaRPr lang="en-US" sz="800" b="0"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95000"/>
                        </a:lnSpc>
                        <a:spcBef>
                          <a:spcPct val="0"/>
                        </a:spcBef>
                        <a:spcAft>
                          <a:spcPct val="50000"/>
                        </a:spcAft>
                        <a:buClrTx/>
                        <a:buSzTx/>
                        <a:buFontTx/>
                        <a:buNone/>
                        <a:tabLst/>
                        <a:defRPr/>
                      </a:pPr>
                      <a:r>
                        <a:rPr lang="en-US" sz="900" b="0" strike="noStrike" kern="1200">
                          <a:solidFill>
                            <a:schemeClr val="tx1"/>
                          </a:solidFill>
                          <a:effectLst/>
                          <a:latin typeface="Aptos" panose="020B0004020202020204" pitchFamily="34" charset="0"/>
                          <a:ea typeface="+mn-ea"/>
                          <a:cs typeface="+mn-cs"/>
                        </a:rPr>
                        <a:t>10/1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a:lnSpc>
                          <a:spcPct val="114999"/>
                        </a:lnSpc>
                        <a:spcAft>
                          <a:spcPts val="800"/>
                        </a:spcAft>
                        <a:buNone/>
                      </a:pPr>
                      <a:r>
                        <a:rPr lang="en-US" sz="900" b="0" i="0" u="none" strike="noStrike" kern="100" noProof="0">
                          <a:solidFill>
                            <a:schemeClr val="dk1"/>
                          </a:solidFill>
                          <a:effectLst/>
                          <a:latin typeface="Aptos" panose="020B0004020202020204" pitchFamily="34" charset="0"/>
                        </a:rPr>
                        <a:t>Dependent on all teams' code availability (refined on 8/27)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66446900"/>
                  </a:ext>
                </a:extLst>
              </a:tr>
              <a:tr h="409644">
                <a:tc>
                  <a:txBody>
                    <a:bodyPr/>
                    <a:lstStyle/>
                    <a:p>
                      <a:pPr marL="0" marR="0" lvl="0" indent="0" algn="l" rtl="0" eaLnBrk="1" fontAlgn="auto" latinLnBrk="0" hangingPunct="1">
                        <a:lnSpc>
                          <a:spcPct val="100000"/>
                        </a:lnSpc>
                        <a:spcBef>
                          <a:spcPts val="0"/>
                        </a:spcBef>
                        <a:spcAft>
                          <a:spcPts val="0"/>
                        </a:spcAft>
                        <a:buClrTx/>
                        <a:buSzTx/>
                        <a:buFontTx/>
                        <a:buNone/>
                      </a:pPr>
                      <a:r>
                        <a:rPr lang="en-US" sz="900" b="0" i="0" u="none" strike="noStrike" kern="1200" cap="none" spc="0" normalizeH="0" baseline="0" noProof="0">
                          <a:ln>
                            <a:noFill/>
                          </a:ln>
                          <a:solidFill>
                            <a:prstClr val="black"/>
                          </a:solidFill>
                          <a:effectLst/>
                          <a:uLnTx/>
                          <a:uFillTx/>
                          <a:latin typeface="Aptos" panose="020B0004020202020204" pitchFamily="34" charset="0"/>
                          <a:ea typeface="Calibri"/>
                          <a:cs typeface="Calibri"/>
                        </a:rPr>
                        <a:t>Go-Live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a:lnSpc>
                          <a:spcPct val="95000"/>
                        </a:lnSpc>
                        <a:spcBef>
                          <a:spcPct val="0"/>
                        </a:spcBef>
                        <a:spcAft>
                          <a:spcPct val="50000"/>
                        </a:spcAft>
                        <a:buClrTx/>
                        <a:buSzTx/>
                        <a:buFontTx/>
                        <a:buNone/>
                        <a:tabLst/>
                      </a:pPr>
                      <a:endParaRPr lang="en-US" sz="800" b="0"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95000"/>
                        </a:lnSpc>
                        <a:spcBef>
                          <a:spcPct val="0"/>
                        </a:spcBef>
                        <a:spcAft>
                          <a:spcPct val="50000"/>
                        </a:spcAft>
                        <a:buClrTx/>
                        <a:buSzTx/>
                        <a:buFontTx/>
                        <a:buNone/>
                        <a:tabLst/>
                        <a:defRPr/>
                      </a:pPr>
                      <a:r>
                        <a:rPr lang="en-US" sz="900" b="0" strike="noStrike" kern="1200">
                          <a:solidFill>
                            <a:schemeClr val="tx1"/>
                          </a:solidFill>
                          <a:effectLst/>
                          <a:latin typeface="Aptos" panose="020B0004020202020204" pitchFamily="34" charset="0"/>
                          <a:ea typeface="+mn-ea"/>
                          <a:cs typeface="+mn-cs"/>
                        </a:rPr>
                        <a:t>11/11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a:lnSpc>
                          <a:spcPct val="114999"/>
                        </a:lnSpc>
                        <a:spcAft>
                          <a:spcPts val="800"/>
                        </a:spcAft>
                        <a:buNone/>
                      </a:pPr>
                      <a:endParaRPr lang="en-US" sz="900" b="0" i="0" u="none" strike="noStrike" kern="100" noProof="0">
                        <a:solidFill>
                          <a:schemeClr val="dk1"/>
                        </a:solidFill>
                        <a:effectLst/>
                        <a:latin typeface="Aptos" panose="020B00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26037779"/>
                  </a:ext>
                </a:extLst>
              </a:tr>
            </a:tbl>
          </a:graphicData>
        </a:graphic>
      </p:graphicFrame>
      <p:graphicFrame>
        <p:nvGraphicFramePr>
          <p:cNvPr id="9" name="think-cell data - do not delete" hidden="1">
            <a:extLst>
              <a:ext uri="{FF2B5EF4-FFF2-40B4-BE49-F238E27FC236}">
                <a16:creationId xmlns:a16="http://schemas.microsoft.com/office/drawing/2014/main" id="{34047FDE-D7A6-926C-2701-835464082774}"/>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8" imgH="408" progId="TCLayout.ActiveDocument.1">
                  <p:embed/>
                </p:oleObj>
              </mc:Choice>
              <mc:Fallback>
                <p:oleObj name="think-cell Slide" r:id="rId4" imgW="408" imgH="408" progId="TCLayout.ActiveDocument.1">
                  <p:embed/>
                  <p:pic>
                    <p:nvPicPr>
                      <p:cNvPr id="9" name="think-cell data - do not delete" hidden="1">
                        <a:extLst>
                          <a:ext uri="{FF2B5EF4-FFF2-40B4-BE49-F238E27FC236}">
                            <a16:creationId xmlns:a16="http://schemas.microsoft.com/office/drawing/2014/main" id="{34047FDE-D7A6-926C-2701-835464082774}"/>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145F2431-42FF-3B35-C6BF-B0C9BB594229}"/>
              </a:ext>
            </a:extLst>
          </p:cNvPr>
          <p:cNvSpPr>
            <a:spLocks noGrp="1"/>
          </p:cNvSpPr>
          <p:nvPr>
            <p:ph type="title"/>
          </p:nvPr>
        </p:nvSpPr>
        <p:spPr>
          <a:xfrm>
            <a:off x="229452" y="159501"/>
            <a:ext cx="5723531" cy="285871"/>
          </a:xfrm>
        </p:spPr>
        <p:txBody>
          <a:bodyPr vert="horz">
            <a:noAutofit/>
          </a:bodyPr>
          <a:lstStyle/>
          <a:p>
            <a:r>
              <a:rPr lang="en-US" sz="2400" b="1" err="1">
                <a:solidFill>
                  <a:srgbClr val="29389F"/>
                </a:solidFill>
                <a:latin typeface="Arial" panose="020B0604020202020204" pitchFamily="34" charset="0"/>
                <a:cs typeface="Arial" panose="020B0604020202020204" pitchFamily="34" charset="0"/>
              </a:rPr>
              <a:t>TaiLWIND</a:t>
            </a:r>
            <a:r>
              <a:rPr lang="en-US" sz="2400" b="1">
                <a:solidFill>
                  <a:srgbClr val="29389F"/>
                </a:solidFill>
                <a:latin typeface="Arial" panose="020B0604020202020204" pitchFamily="34" charset="0"/>
                <a:cs typeface="Arial" panose="020B0604020202020204" pitchFamily="34" charset="0"/>
              </a:rPr>
              <a:t> Flagship AI </a:t>
            </a:r>
          </a:p>
        </p:txBody>
      </p:sp>
      <p:graphicFrame>
        <p:nvGraphicFramePr>
          <p:cNvPr id="11" name="Group 513">
            <a:extLst>
              <a:ext uri="{FF2B5EF4-FFF2-40B4-BE49-F238E27FC236}">
                <a16:creationId xmlns:a16="http://schemas.microsoft.com/office/drawing/2014/main" id="{9387D0AE-E292-77B5-7B99-D15393AED2FF}"/>
              </a:ext>
            </a:extLst>
          </p:cNvPr>
          <p:cNvGraphicFramePr>
            <a:graphicFrameLocks noGrp="1"/>
          </p:cNvGraphicFramePr>
          <p:nvPr/>
        </p:nvGraphicFramePr>
        <p:xfrm>
          <a:off x="229452" y="505245"/>
          <a:ext cx="2638218" cy="316744"/>
        </p:xfrm>
        <a:graphic>
          <a:graphicData uri="http://schemas.openxmlformats.org/drawingml/2006/table">
            <a:tbl>
              <a:tblPr/>
              <a:tblGrid>
                <a:gridCol w="984745">
                  <a:extLst>
                    <a:ext uri="{9D8B030D-6E8A-4147-A177-3AD203B41FA5}">
                      <a16:colId xmlns:a16="http://schemas.microsoft.com/office/drawing/2014/main" val="20000"/>
                    </a:ext>
                  </a:extLst>
                </a:gridCol>
                <a:gridCol w="1653473">
                  <a:extLst>
                    <a:ext uri="{9D8B030D-6E8A-4147-A177-3AD203B41FA5}">
                      <a16:colId xmlns:a16="http://schemas.microsoft.com/office/drawing/2014/main" val="20001"/>
                    </a:ext>
                  </a:extLst>
                </a:gridCol>
              </a:tblGrid>
              <a:tr h="316744">
                <a:tc>
                  <a:txBody>
                    <a:bodyPr/>
                    <a:lstStyle/>
                    <a:p>
                      <a:pPr marL="0" marR="0" lvl="0" indent="0" algn="l" defTabSz="914400" rtl="0" eaLnBrk="0" fontAlgn="base" latinLnBrk="0" hangingPunct="0">
                        <a:lnSpc>
                          <a:spcPct val="95000"/>
                        </a:lnSpc>
                        <a:spcBef>
                          <a:spcPct val="0"/>
                        </a:spcBef>
                        <a:spcAft>
                          <a:spcPct val="50000"/>
                        </a:spcAft>
                        <a:buClrTx/>
                        <a:buSzTx/>
                        <a:buFontTx/>
                        <a:buNone/>
                        <a:tabLst/>
                      </a:pPr>
                      <a:r>
                        <a:rPr kumimoji="0" lang="en-GB" sz="1050" b="1" i="0" u="none" strike="noStrike" kern="1200" cap="none" normalizeH="0" baseline="0">
                          <a:ln>
                            <a:noFill/>
                          </a:ln>
                          <a:solidFill>
                            <a:schemeClr val="bg1"/>
                          </a:solidFill>
                          <a:effectLst/>
                          <a:latin typeface="Arial"/>
                          <a:ea typeface="+mn-ea"/>
                          <a:cs typeface="+mn-cs"/>
                        </a:rPr>
                        <a:t>Status Date:</a:t>
                      </a:r>
                    </a:p>
                  </a:txBody>
                  <a:tcPr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lang="en-GB" sz="850" b="1" i="0" u="none" strike="noStrike" cap="none" normalizeH="0" baseline="0">
                          <a:ln>
                            <a:noFill/>
                          </a:ln>
                          <a:solidFill>
                            <a:schemeClr val="tx1"/>
                          </a:solidFill>
                          <a:effectLst/>
                          <a:latin typeface="Aptos" panose="020B0004020202020204" pitchFamily="34" charset="0"/>
                        </a:rPr>
                        <a:t>8/28/2026</a:t>
                      </a:r>
                      <a:endParaRPr kumimoji="0" lang="en-GB" sz="850" b="1" i="0" u="none" strike="noStrike" cap="none" normalizeH="0" baseline="0">
                        <a:ln>
                          <a:noFill/>
                        </a:ln>
                        <a:solidFill>
                          <a:schemeClr val="tx1"/>
                        </a:solidFill>
                        <a:effectLst/>
                        <a:latin typeface="Aptos" panose="020B0004020202020204" pitchFamily="34" charset="0"/>
                      </a:endParaRPr>
                    </a:p>
                  </a:txBody>
                  <a:tcPr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25" name="Table 24">
            <a:extLst>
              <a:ext uri="{FF2B5EF4-FFF2-40B4-BE49-F238E27FC236}">
                <a16:creationId xmlns:a16="http://schemas.microsoft.com/office/drawing/2014/main" id="{691D9C98-8DBD-30C4-2A0E-9AA3AEC79AD8}"/>
              </a:ext>
            </a:extLst>
          </p:cNvPr>
          <p:cNvGraphicFramePr>
            <a:graphicFrameLocks noGrp="1"/>
          </p:cNvGraphicFramePr>
          <p:nvPr/>
        </p:nvGraphicFramePr>
        <p:xfrm>
          <a:off x="2811025" y="515477"/>
          <a:ext cx="3829275" cy="695564"/>
        </p:xfrm>
        <a:graphic>
          <a:graphicData uri="http://schemas.openxmlformats.org/drawingml/2006/table">
            <a:tbl>
              <a:tblPr>
                <a:tableStyleId>{5C22544A-7EE6-4342-B048-85BDC9FD1C3A}</a:tableStyleId>
              </a:tblPr>
              <a:tblGrid>
                <a:gridCol w="1042158">
                  <a:extLst>
                    <a:ext uri="{9D8B030D-6E8A-4147-A177-3AD203B41FA5}">
                      <a16:colId xmlns:a16="http://schemas.microsoft.com/office/drawing/2014/main" val="2456552316"/>
                    </a:ext>
                  </a:extLst>
                </a:gridCol>
                <a:gridCol w="961214">
                  <a:extLst>
                    <a:ext uri="{9D8B030D-6E8A-4147-A177-3AD203B41FA5}">
                      <a16:colId xmlns:a16="http://schemas.microsoft.com/office/drawing/2014/main" val="1100051595"/>
                    </a:ext>
                  </a:extLst>
                </a:gridCol>
                <a:gridCol w="920742">
                  <a:extLst>
                    <a:ext uri="{9D8B030D-6E8A-4147-A177-3AD203B41FA5}">
                      <a16:colId xmlns:a16="http://schemas.microsoft.com/office/drawing/2014/main" val="2042261034"/>
                    </a:ext>
                  </a:extLst>
                </a:gridCol>
                <a:gridCol w="905161">
                  <a:extLst>
                    <a:ext uri="{9D8B030D-6E8A-4147-A177-3AD203B41FA5}">
                      <a16:colId xmlns:a16="http://schemas.microsoft.com/office/drawing/2014/main" val="2815874248"/>
                    </a:ext>
                  </a:extLst>
                </a:gridCol>
              </a:tblGrid>
              <a:tr h="379862">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Overall</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Scope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Schedule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Financials</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315702">
                <a:tc>
                  <a:txBody>
                    <a:bodyPr/>
                    <a:lstStyle/>
                    <a:p>
                      <a:pPr marL="0" marR="0" lvl="0" indent="0" algn="ctr" rtl="0" eaLnBrk="1" fontAlgn="ctr" latinLnBrk="0" hangingPunct="1">
                        <a:lnSpc>
                          <a:spcPct val="95000"/>
                        </a:lnSpc>
                        <a:spcBef>
                          <a:spcPct val="0"/>
                        </a:spcBef>
                        <a:spcAft>
                          <a:spcPct val="50000"/>
                        </a:spcAft>
                        <a:buClrTx/>
                        <a:buSzTx/>
                        <a:buFontTx/>
                        <a:buNone/>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rtl="0" eaLnBrk="1" fontAlgn="ctr" latinLnBrk="0" hangingPunct="1">
                        <a:lnSpc>
                          <a:spcPct val="95000"/>
                        </a:lnSpc>
                        <a:spcBef>
                          <a:spcPct val="0"/>
                        </a:spcBef>
                        <a:spcAft>
                          <a:spcPct val="50000"/>
                        </a:spcAft>
                        <a:buClrTx/>
                        <a:buSzTx/>
                        <a:buFontTx/>
                        <a:buNone/>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7499024"/>
                  </a:ext>
                </a:extLst>
              </a:tr>
            </a:tbl>
          </a:graphicData>
        </a:graphic>
      </p:graphicFrame>
      <p:graphicFrame>
        <p:nvGraphicFramePr>
          <p:cNvPr id="26" name="Group 513">
            <a:extLst>
              <a:ext uri="{FF2B5EF4-FFF2-40B4-BE49-F238E27FC236}">
                <a16:creationId xmlns:a16="http://schemas.microsoft.com/office/drawing/2014/main" id="{84BA0D2A-AB07-A86B-FFA4-55A4C9452EEE}"/>
              </a:ext>
            </a:extLst>
          </p:cNvPr>
          <p:cNvGraphicFramePr>
            <a:graphicFrameLocks noGrp="1"/>
          </p:cNvGraphicFramePr>
          <p:nvPr/>
        </p:nvGraphicFramePr>
        <p:xfrm>
          <a:off x="229452" y="821989"/>
          <a:ext cx="2581573" cy="395688"/>
        </p:xfrm>
        <a:graphic>
          <a:graphicData uri="http://schemas.openxmlformats.org/drawingml/2006/table">
            <a:tbl>
              <a:tblPr/>
              <a:tblGrid>
                <a:gridCol w="998601">
                  <a:extLst>
                    <a:ext uri="{9D8B030D-6E8A-4147-A177-3AD203B41FA5}">
                      <a16:colId xmlns:a16="http://schemas.microsoft.com/office/drawing/2014/main" val="20000"/>
                    </a:ext>
                  </a:extLst>
                </a:gridCol>
                <a:gridCol w="1582972">
                  <a:extLst>
                    <a:ext uri="{9D8B030D-6E8A-4147-A177-3AD203B41FA5}">
                      <a16:colId xmlns:a16="http://schemas.microsoft.com/office/drawing/2014/main" val="20001"/>
                    </a:ext>
                  </a:extLst>
                </a:gridCol>
              </a:tblGrid>
              <a:tr h="344301">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GB" sz="1050" b="1" i="0" u="none" strike="noStrike" kern="1200" cap="none" normalizeH="0" baseline="0">
                          <a:ln>
                            <a:noFill/>
                          </a:ln>
                          <a:solidFill>
                            <a:schemeClr val="bg1"/>
                          </a:solidFill>
                          <a:effectLst/>
                          <a:latin typeface="Arial"/>
                          <a:ea typeface="+mn-ea"/>
                          <a:cs typeface="+mn-cs"/>
                        </a:rPr>
                        <a:t>Target Delivery:</a:t>
                      </a:r>
                    </a:p>
                  </a:txBody>
                  <a:tcPr marL="0" marR="0"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lang="en-US" sz="850" b="1" i="0" u="none" strike="noStrike" kern="1200" cap="none" normalizeH="0" baseline="0">
                          <a:ln>
                            <a:noFill/>
                          </a:ln>
                          <a:solidFill>
                            <a:schemeClr val="tx1"/>
                          </a:solidFill>
                          <a:effectLst/>
                          <a:latin typeface="Aptos" panose="020B0004020202020204" pitchFamily="34" charset="0"/>
                          <a:ea typeface="+mn-ea"/>
                          <a:cs typeface="+mn-cs"/>
                        </a:rPr>
                        <a:t>11/11/2026</a:t>
                      </a:r>
                    </a:p>
                  </a:txBody>
                  <a:tcPr marL="0" marR="0" marT="45825" marB="45825" anchor="ctr">
                    <a:lnL w="12700">
                      <a:solidFill>
                        <a:schemeClr val="tx1"/>
                      </a:solidFill>
                    </a:lnL>
                    <a:lnR w="12700">
                      <a:solidFill>
                        <a:schemeClr val="tx1"/>
                      </a:solidFill>
                    </a:lnR>
                    <a:lnT w="12700">
                      <a:solidFill>
                        <a:schemeClr val="tx1"/>
                      </a:solidFill>
                    </a:lnT>
                    <a:lnB w="12700">
                      <a:solidFill>
                        <a:schemeClr val="tx1"/>
                      </a:solidFill>
                    </a:lnB>
                    <a:lnTlToBr w="0">
                      <a:noFill/>
                    </a:lnTlToBr>
                    <a:lnBlToTr w="0">
                      <a:noFill/>
                    </a:lnBlToTr>
                    <a:noFill/>
                  </a:tcPr>
                </a:tc>
                <a:extLst>
                  <a:ext uri="{0D108BD9-81ED-4DB2-BD59-A6C34878D82A}">
                    <a16:rowId xmlns:a16="http://schemas.microsoft.com/office/drawing/2014/main" val="10000"/>
                  </a:ext>
                </a:extLst>
              </a:tr>
            </a:tbl>
          </a:graphicData>
        </a:graphic>
      </p:graphicFrame>
      <p:graphicFrame>
        <p:nvGraphicFramePr>
          <p:cNvPr id="29" name="Table 28">
            <a:extLst>
              <a:ext uri="{FF2B5EF4-FFF2-40B4-BE49-F238E27FC236}">
                <a16:creationId xmlns:a16="http://schemas.microsoft.com/office/drawing/2014/main" id="{D870955A-3AE4-ED0D-AD65-B23FE058A079}"/>
              </a:ext>
            </a:extLst>
          </p:cNvPr>
          <p:cNvGraphicFramePr>
            <a:graphicFrameLocks noGrp="1"/>
          </p:cNvGraphicFramePr>
          <p:nvPr>
            <p:extLst>
              <p:ext uri="{D42A27DB-BD31-4B8C-83A1-F6EECF244321}">
                <p14:modId xmlns:p14="http://schemas.microsoft.com/office/powerpoint/2010/main" val="722493155"/>
              </p:ext>
            </p:extLst>
          </p:nvPr>
        </p:nvGraphicFramePr>
        <p:xfrm>
          <a:off x="6216793" y="3850527"/>
          <a:ext cx="5858483" cy="2590669"/>
        </p:xfrm>
        <a:graphic>
          <a:graphicData uri="http://schemas.openxmlformats.org/drawingml/2006/table">
            <a:tbl>
              <a:tblPr>
                <a:tableStyleId>{5C22544A-7EE6-4342-B048-85BDC9FD1C3A}</a:tableStyleId>
              </a:tblPr>
              <a:tblGrid>
                <a:gridCol w="2497439">
                  <a:extLst>
                    <a:ext uri="{9D8B030D-6E8A-4147-A177-3AD203B41FA5}">
                      <a16:colId xmlns:a16="http://schemas.microsoft.com/office/drawing/2014/main" val="2456552316"/>
                    </a:ext>
                  </a:extLst>
                </a:gridCol>
                <a:gridCol w="557784">
                  <a:extLst>
                    <a:ext uri="{9D8B030D-6E8A-4147-A177-3AD203B41FA5}">
                      <a16:colId xmlns:a16="http://schemas.microsoft.com/office/drawing/2014/main" val="1100051595"/>
                    </a:ext>
                  </a:extLst>
                </a:gridCol>
                <a:gridCol w="640080">
                  <a:extLst>
                    <a:ext uri="{9D8B030D-6E8A-4147-A177-3AD203B41FA5}">
                      <a16:colId xmlns:a16="http://schemas.microsoft.com/office/drawing/2014/main" val="1028049931"/>
                    </a:ext>
                  </a:extLst>
                </a:gridCol>
                <a:gridCol w="2163180">
                  <a:extLst>
                    <a:ext uri="{9D8B030D-6E8A-4147-A177-3AD203B41FA5}">
                      <a16:colId xmlns:a16="http://schemas.microsoft.com/office/drawing/2014/main" val="2815874248"/>
                    </a:ext>
                  </a:extLst>
                </a:gridCol>
              </a:tblGrid>
              <a:tr h="535569">
                <a:tc>
                  <a:txBody>
                    <a:bodyPr/>
                    <a:lstStyle/>
                    <a:p>
                      <a:pPr algn="ctr"/>
                      <a:r>
                        <a:rPr kumimoji="0" lang="en-US" sz="1050" b="1" i="0" u="none" strike="noStrike" kern="1200" cap="none" normalizeH="0" baseline="0">
                          <a:ln>
                            <a:noFill/>
                          </a:ln>
                          <a:solidFill>
                            <a:schemeClr val="bg1"/>
                          </a:solidFill>
                          <a:effectLst/>
                          <a:latin typeface="Arial"/>
                          <a:ea typeface="+mn-ea"/>
                          <a:cs typeface="+mn-cs"/>
                        </a:rPr>
                        <a:t>Risks, Issues, &amp; Dependencies</a:t>
                      </a: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Status</a:t>
                      </a:r>
                    </a:p>
                  </a:txBody>
                  <a:tcPr marL="9525" marR="9525" marT="9525" marB="0" anchor="ct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defRPr/>
                      </a:pPr>
                      <a:r>
                        <a:rPr kumimoji="0" lang="en-US" sz="1050" b="1" i="0" u="none" strike="noStrike" kern="1200" cap="none" normalizeH="0" baseline="0">
                          <a:ln>
                            <a:noFill/>
                          </a:ln>
                          <a:solidFill>
                            <a:schemeClr val="bg1"/>
                          </a:solidFill>
                          <a:effectLst/>
                          <a:latin typeface="Arial"/>
                          <a:ea typeface="+mn-ea"/>
                          <a:cs typeface="+mn-cs"/>
                        </a:rPr>
                        <a:t>Target Date</a:t>
                      </a:r>
                    </a:p>
                    <a:p>
                      <a:pPr marL="0" marR="0" lvl="0" indent="0" algn="ctr" rtl="0" eaLnBrk="0" fontAlgn="base" latinLnBrk="0" hangingPunct="0">
                        <a:lnSpc>
                          <a:spcPct val="95000"/>
                        </a:lnSpc>
                        <a:spcBef>
                          <a:spcPct val="0"/>
                        </a:spcBef>
                        <a:spcAft>
                          <a:spcPct val="50000"/>
                        </a:spcAft>
                        <a:buClrTx/>
                        <a:buSzTx/>
                        <a:buFontTx/>
                        <a:buNone/>
                      </a:pPr>
                      <a:endParaRPr kumimoji="0" lang="en-US" sz="1050" b="1" i="0" u="none" strike="noStrike" kern="1200" cap="none" normalizeH="0" baseline="0">
                        <a:ln>
                          <a:noFill/>
                        </a:ln>
                        <a:solidFill>
                          <a:schemeClr val="bg1"/>
                        </a:solidFill>
                        <a:effectLst/>
                        <a:latin typeface="Arial"/>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Resolution / Mitigation Owner</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463761">
                <a:tc>
                  <a:txBody>
                    <a:bodyPr/>
                    <a:lstStyle/>
                    <a:p>
                      <a:pPr fontAlgn="t">
                        <a:lnSpc>
                          <a:spcPts val="1500"/>
                        </a:lnSpc>
                        <a:buNone/>
                      </a:pPr>
                      <a:r>
                        <a:rPr lang="en-US" sz="900" kern="1200">
                          <a:solidFill>
                            <a:schemeClr val="tx1"/>
                          </a:solidFill>
                          <a:latin typeface="Aptos" panose="020B0004020202020204" pitchFamily="34" charset="0"/>
                          <a:ea typeface="+mn-ea"/>
                          <a:cs typeface="+mn-cs"/>
                        </a:rPr>
                        <a:t>R: SS, AT, eCIF, DMX, and MiM team capacity in achieving November release commitments.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800" b="0" kern="1200">
                        <a:solidFill>
                          <a:schemeClr val="tx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r>
                        <a:rPr lang="en-US" sz="800" b="0" kern="1200">
                          <a:solidFill>
                            <a:schemeClr val="tx1"/>
                          </a:solidFill>
                          <a:effectLst/>
                          <a:latin typeface="Aptos" panose="020B0004020202020204" pitchFamily="34" charset="0"/>
                          <a:ea typeface="+mn-ea"/>
                          <a:cs typeface="+mn-cs"/>
                        </a:rPr>
                        <a:t>10/1</a:t>
                      </a:r>
                    </a:p>
                  </a:txBody>
                  <a:tcPr marL="9525" marR="9525" marT="9525" marB="0" anchor="ct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ts val="200"/>
                        </a:spcBef>
                        <a:spcAft>
                          <a:spcPts val="0"/>
                        </a:spcAft>
                        <a:buClrTx/>
                        <a:buSzTx/>
                        <a:buFont typeface="Arial" panose="020B0604020202020204" pitchFamily="34" charset="0"/>
                        <a:buNone/>
                        <a:tabLst/>
                        <a:defRPr/>
                      </a:pPr>
                      <a:r>
                        <a:rPr lang="en-US" sz="900" b="0" strike="noStrike" kern="1200">
                          <a:solidFill>
                            <a:schemeClr val="tx1"/>
                          </a:solidFill>
                          <a:effectLst/>
                          <a:latin typeface="Aptos" panose="020B0004020202020204" pitchFamily="34" charset="0"/>
                          <a:ea typeface="+mn-ea"/>
                          <a:cs typeface="+mn-cs"/>
                        </a:rPr>
                        <a:t>Owner: Dan/Amy</a:t>
                      </a:r>
                    </a:p>
                    <a:p>
                      <a:pPr marL="0" marR="0" lvl="0" indent="0" algn="l" defTabSz="914400" rtl="0" eaLnBrk="1" fontAlgn="base" latinLnBrk="0" hangingPunct="1">
                        <a:lnSpc>
                          <a:spcPct val="100000"/>
                        </a:lnSpc>
                        <a:spcBef>
                          <a:spcPts val="200"/>
                        </a:spcBef>
                        <a:spcAft>
                          <a:spcPts val="0"/>
                        </a:spcAft>
                        <a:buClrTx/>
                        <a:buSzTx/>
                        <a:buFont typeface="Arial" panose="020B0604020202020204" pitchFamily="34" charset="0"/>
                        <a:buNone/>
                        <a:tabLst/>
                        <a:defRPr/>
                      </a:pPr>
                      <a:r>
                        <a:rPr lang="en-US" sz="900" b="0" strike="noStrike" kern="1200">
                          <a:solidFill>
                            <a:schemeClr val="tx1"/>
                          </a:solidFill>
                          <a:effectLst/>
                          <a:latin typeface="Aptos" panose="020B0004020202020204" pitchFamily="34" charset="0"/>
                          <a:ea typeface="+mn-ea"/>
                          <a:cs typeface="+mn-cs"/>
                        </a:rPr>
                        <a:t>Mitigation Plan –  Work with POs to prioritize.</a:t>
                      </a: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7499024"/>
                  </a:ext>
                </a:extLst>
              </a:tr>
              <a:tr h="621029">
                <a:tc>
                  <a:txBody>
                    <a:bodyPr/>
                    <a:lstStyle/>
                    <a:p>
                      <a:pPr marL="0" marR="0" lvl="0" indent="0" algn="l" defTabSz="914400" rtl="0" eaLnBrk="1" fontAlgn="auto" latinLnBrk="0" hangingPunct="1">
                        <a:lnSpc>
                          <a:spcPct val="115000"/>
                        </a:lnSpc>
                        <a:spcBef>
                          <a:spcPts val="0"/>
                        </a:spcBef>
                        <a:spcAft>
                          <a:spcPts val="800"/>
                        </a:spcAft>
                        <a:buClrTx/>
                        <a:buSzTx/>
                        <a:buFontTx/>
                        <a:buNone/>
                        <a:tabLst/>
                        <a:defRPr/>
                      </a:pPr>
                      <a:r>
                        <a:rPr lang="en-US" sz="900">
                          <a:latin typeface="Aptos" panose="020B0004020202020204" pitchFamily="34" charset="0"/>
                        </a:rPr>
                        <a:t>Full staffing pending – </a:t>
                      </a:r>
                      <a:r>
                        <a:rPr lang="en-US" sz="900" b="0" strike="noStrike" kern="1200">
                          <a:solidFill>
                            <a:schemeClr val="tx1"/>
                          </a:solidFill>
                          <a:effectLst/>
                          <a:latin typeface="Aptos" panose="020B0004020202020204" pitchFamily="34" charset="0"/>
                          <a:ea typeface="+mn-ea"/>
                          <a:cs typeface="+mn-cs"/>
                        </a:rPr>
                        <a:t>Requisition made for new PO for AT line owned by AVP OpEx. Working to acquire 1 Software Engineers to enable future work.</a:t>
                      </a:r>
                      <a:endParaRPr lang="en-US" sz="900">
                        <a:latin typeface="Aptos" panose="020B0004020202020204" pitchFamily="34" charset="0"/>
                      </a:endParaRPr>
                    </a:p>
                  </a:txBody>
                  <a:tcPr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800" b="0" kern="1200">
                        <a:solidFill>
                          <a:schemeClr val="tx1"/>
                        </a:solidFill>
                        <a:effectLst/>
                        <a:latin typeface="Aptos" panose="020B0004020202020204" pitchFamily="34" charset="0"/>
                        <a:ea typeface="+mn-ea"/>
                        <a:cs typeface="+mn-cs"/>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800" b="0" kern="1200">
                        <a:solidFill>
                          <a:schemeClr val="tx1"/>
                        </a:solidFill>
                        <a:effectLst/>
                        <a:latin typeface="Aptos" panose="020B0004020202020204" pitchFamily="34" charset="0"/>
                        <a:ea typeface="+mn-ea"/>
                        <a:cs typeface="+mn-cs"/>
                      </a:endParaRPr>
                    </a:p>
                    <a:p>
                      <a:pPr marL="0" marR="0" lvl="0" indent="0" algn="ctr" defTabSz="914400" rtl="0" eaLnBrk="1" fontAlgn="ctr" latinLnBrk="0" hangingPunct="1">
                        <a:lnSpc>
                          <a:spcPct val="95000"/>
                        </a:lnSpc>
                        <a:spcBef>
                          <a:spcPct val="0"/>
                        </a:spcBef>
                        <a:spcAft>
                          <a:spcPct val="50000"/>
                        </a:spcAft>
                        <a:buClrTx/>
                        <a:buSzTx/>
                        <a:buFontTx/>
                        <a:buNone/>
                        <a:tabLst/>
                      </a:pPr>
                      <a:r>
                        <a:rPr lang="en-US" sz="800" b="0" kern="1200">
                          <a:solidFill>
                            <a:schemeClr val="tx1"/>
                          </a:solidFill>
                          <a:effectLst/>
                          <a:latin typeface="Aptos" panose="020B0004020202020204" pitchFamily="34" charset="0"/>
                          <a:ea typeface="+mn-ea"/>
                          <a:cs typeface="+mn-cs"/>
                        </a:rPr>
                        <a:t>NA</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ts val="200"/>
                        </a:spcBef>
                        <a:spcAft>
                          <a:spcPts val="0"/>
                        </a:spcAft>
                        <a:buClrTx/>
                        <a:buSzTx/>
                        <a:buFont typeface="Arial" panose="020B0604020202020204" pitchFamily="34" charset="0"/>
                        <a:buNone/>
                        <a:tabLst/>
                        <a:defRPr/>
                      </a:pPr>
                      <a:r>
                        <a:rPr lang="en-US" sz="900" b="0" strike="noStrike" kern="1200">
                          <a:solidFill>
                            <a:schemeClr val="tx1"/>
                          </a:solidFill>
                          <a:effectLst/>
                          <a:latin typeface="Aptos" panose="020B0004020202020204" pitchFamily="34" charset="0"/>
                          <a:ea typeface="+mn-ea"/>
                          <a:cs typeface="+mn-cs"/>
                        </a:rPr>
                        <a:t>Resolution: Leslie (PO) </a:t>
                      </a:r>
                    </a:p>
                    <a:p>
                      <a:pPr marL="0" marR="0" lvl="0" indent="0" algn="l" defTabSz="914400" rtl="0" eaLnBrk="1" fontAlgn="base" latinLnBrk="0" hangingPunct="1">
                        <a:lnSpc>
                          <a:spcPct val="100000"/>
                        </a:lnSpc>
                        <a:spcBef>
                          <a:spcPts val="200"/>
                        </a:spcBef>
                        <a:spcAft>
                          <a:spcPts val="0"/>
                        </a:spcAft>
                        <a:buClrTx/>
                        <a:buSzTx/>
                        <a:buFont typeface="Arial" panose="020B0604020202020204" pitchFamily="34" charset="0"/>
                        <a:buNone/>
                        <a:tabLst/>
                        <a:defRPr/>
                      </a:pPr>
                      <a:r>
                        <a:rPr lang="en-US" sz="900" b="0" strike="noStrike" kern="1200">
                          <a:solidFill>
                            <a:schemeClr val="tx1"/>
                          </a:solidFill>
                          <a:effectLst/>
                          <a:latin typeface="Aptos" panose="020B0004020202020204" pitchFamily="34" charset="0"/>
                          <a:ea typeface="+mn-ea"/>
                          <a:cs typeface="+mn-cs"/>
                        </a:rPr>
                        <a:t>Action - REQ has been opened for this.</a:t>
                      </a: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44434724"/>
                  </a:ext>
                </a:extLst>
              </a:tr>
              <a:tr h="466192">
                <a:tc>
                  <a:txBody>
                    <a:bodyPr/>
                    <a:lstStyle/>
                    <a:p>
                      <a:pPr marL="0" marR="0" lvl="0" indent="0" algn="l" defTabSz="914400" rtl="0" eaLnBrk="1" fontAlgn="auto" latinLnBrk="0" hangingPunct="1">
                        <a:lnSpc>
                          <a:spcPct val="115000"/>
                        </a:lnSpc>
                        <a:spcBef>
                          <a:spcPts val="0"/>
                        </a:spcBef>
                        <a:spcAft>
                          <a:spcPts val="800"/>
                        </a:spcAft>
                        <a:buClrTx/>
                        <a:buSzTx/>
                        <a:buFontTx/>
                        <a:buNone/>
                        <a:tabLst/>
                        <a:defRPr/>
                      </a:pPr>
                      <a:r>
                        <a:rPr lang="en-US" sz="900">
                          <a:latin typeface="Aptos" panose="020B0004020202020204" pitchFamily="34" charset="0"/>
                        </a:rPr>
                        <a:t>iText solution approach needs licenses/contract this is being finalized. Timeline for resolution undefined at this point.</a:t>
                      </a:r>
                    </a:p>
                  </a:txBody>
                  <a:tcPr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800" b="0" kern="1200">
                        <a:solidFill>
                          <a:schemeClr val="tx1"/>
                        </a:solidFill>
                        <a:effectLst/>
                        <a:latin typeface="Aptos" panose="020B0004020202020204" pitchFamily="34" charset="0"/>
                        <a:ea typeface="+mn-ea"/>
                        <a:cs typeface="+mn-cs"/>
                      </a:endParaRPr>
                    </a:p>
                    <a:p>
                      <a:pPr marL="0" marR="0" lvl="0" indent="0" algn="ctr" defTabSz="914400" rtl="0" eaLnBrk="1" fontAlgn="ctr" latinLnBrk="0" hangingPunct="1">
                        <a:lnSpc>
                          <a:spcPct val="95000"/>
                        </a:lnSpc>
                        <a:spcBef>
                          <a:spcPct val="0"/>
                        </a:spcBef>
                        <a:spcAft>
                          <a:spcPct val="50000"/>
                        </a:spcAft>
                        <a:buClrTx/>
                        <a:buSzTx/>
                        <a:buFontTx/>
                        <a:buNone/>
                        <a:tabLst/>
                      </a:pPr>
                      <a:r>
                        <a:rPr lang="en-US" sz="800" b="0" kern="1200">
                          <a:solidFill>
                            <a:schemeClr val="tx1"/>
                          </a:solidFill>
                          <a:effectLst/>
                          <a:latin typeface="Aptos" panose="020B0004020202020204" pitchFamily="34" charset="0"/>
                          <a:ea typeface="+mn-ea"/>
                          <a:cs typeface="+mn-cs"/>
                        </a:rPr>
                        <a:t>C</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800" b="0" kern="1200">
                        <a:solidFill>
                          <a:schemeClr val="tx1"/>
                        </a:solidFill>
                        <a:effectLst/>
                        <a:latin typeface="Aptos" panose="020B0004020202020204" pitchFamily="34" charset="0"/>
                        <a:ea typeface="+mn-ea"/>
                        <a:cs typeface="+mn-cs"/>
                      </a:endParaRPr>
                    </a:p>
                    <a:p>
                      <a:pPr marL="0" marR="0" lvl="0" indent="0" algn="ctr" defTabSz="914400" rtl="0" eaLnBrk="1" fontAlgn="ctr" latinLnBrk="0" hangingPunct="1">
                        <a:lnSpc>
                          <a:spcPct val="95000"/>
                        </a:lnSpc>
                        <a:spcBef>
                          <a:spcPct val="0"/>
                        </a:spcBef>
                        <a:spcAft>
                          <a:spcPct val="50000"/>
                        </a:spcAft>
                        <a:buClrTx/>
                        <a:buSzTx/>
                        <a:buFontTx/>
                        <a:buNone/>
                        <a:tabLst/>
                      </a:pPr>
                      <a:r>
                        <a:rPr lang="en-US" sz="800" b="0" kern="1200">
                          <a:solidFill>
                            <a:schemeClr val="tx1"/>
                          </a:solidFill>
                          <a:effectLst/>
                          <a:latin typeface="Aptos" panose="020B0004020202020204" pitchFamily="34" charset="0"/>
                          <a:ea typeface="+mn-ea"/>
                          <a:cs typeface="+mn-cs"/>
                        </a:rPr>
                        <a:t>8/31</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ts val="200"/>
                        </a:spcBef>
                        <a:spcAft>
                          <a:spcPts val="0"/>
                        </a:spcAft>
                        <a:buClrTx/>
                        <a:buSzTx/>
                        <a:buFont typeface="Arial" panose="020B0604020202020204" pitchFamily="34" charset="0"/>
                        <a:buNone/>
                        <a:tabLst/>
                        <a:defRPr/>
                      </a:pPr>
                      <a:r>
                        <a:rPr lang="en-US" sz="900" b="0" strike="noStrike" kern="1200">
                          <a:solidFill>
                            <a:schemeClr val="tx1"/>
                          </a:solidFill>
                          <a:effectLst/>
                          <a:latin typeface="Aptos" panose="020B0004020202020204" pitchFamily="34" charset="0"/>
                          <a:ea typeface="+mn-ea"/>
                          <a:cs typeface="+mn-cs"/>
                        </a:rPr>
                        <a:t>Owner: Natalie/Anurag</a:t>
                      </a:r>
                    </a:p>
                    <a:p>
                      <a:pPr marL="0" marR="0" lvl="0" indent="0" algn="l" defTabSz="914400" rtl="0" eaLnBrk="1" fontAlgn="base" latinLnBrk="0" hangingPunct="1">
                        <a:lnSpc>
                          <a:spcPct val="100000"/>
                        </a:lnSpc>
                        <a:spcBef>
                          <a:spcPts val="200"/>
                        </a:spcBef>
                        <a:spcAft>
                          <a:spcPts val="0"/>
                        </a:spcAft>
                        <a:buClrTx/>
                        <a:buSzTx/>
                        <a:buFont typeface="Arial" panose="020B0604020202020204" pitchFamily="34" charset="0"/>
                        <a:buNone/>
                        <a:tabLst/>
                        <a:defRPr/>
                      </a:pPr>
                      <a:r>
                        <a:rPr lang="en-US" sz="900" b="0" strike="noStrike" kern="1200">
                          <a:solidFill>
                            <a:schemeClr val="tx1"/>
                          </a:solidFill>
                          <a:effectLst/>
                          <a:latin typeface="Aptos" panose="020B0004020202020204" pitchFamily="34" charset="0"/>
                          <a:ea typeface="+mn-ea"/>
                          <a:cs typeface="+mn-cs"/>
                        </a:rPr>
                        <a:t>Action – Replaced with </a:t>
                      </a:r>
                      <a:r>
                        <a:rPr lang="en-US" sz="900" b="1" strike="noStrike" kern="1200">
                          <a:solidFill>
                            <a:schemeClr val="tx1"/>
                          </a:solidFill>
                          <a:effectLst/>
                          <a:latin typeface="Aptos" panose="020B0004020202020204" pitchFamily="34" charset="0"/>
                          <a:ea typeface="+mn-ea"/>
                          <a:cs typeface="+mn-cs"/>
                        </a:rPr>
                        <a:t>PDF Box – Completed</a:t>
                      </a: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77376522"/>
                  </a:ext>
                </a:extLst>
              </a:tr>
              <a:tr h="465069">
                <a:tc>
                  <a:txBody>
                    <a:bodyPr/>
                    <a:lstStyle/>
                    <a:p>
                      <a:pPr marL="0" marR="0" lvl="0" indent="0" algn="l" defTabSz="914400" rtl="0" eaLnBrk="1" fontAlgn="auto" latinLnBrk="0" hangingPunct="1">
                        <a:lnSpc>
                          <a:spcPct val="115000"/>
                        </a:lnSpc>
                        <a:spcBef>
                          <a:spcPts val="0"/>
                        </a:spcBef>
                        <a:spcAft>
                          <a:spcPts val="800"/>
                        </a:spcAft>
                        <a:buClrTx/>
                        <a:buSzTx/>
                        <a:buFontTx/>
                        <a:buNone/>
                        <a:tabLst/>
                        <a:defRPr/>
                      </a:pPr>
                      <a:r>
                        <a:rPr lang="en-US" sz="900">
                          <a:latin typeface="Aptos" panose="020B0004020202020204" pitchFamily="34" charset="0"/>
                        </a:rPr>
                        <a:t>Operational Metrics – Leadership, Model, Operational</a:t>
                      </a:r>
                    </a:p>
                  </a:txBody>
                  <a:tcPr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800" b="0" kern="1200">
                        <a:solidFill>
                          <a:schemeClr val="tx1"/>
                        </a:solidFill>
                        <a:effectLst/>
                        <a:latin typeface="Aptos" panose="020B0004020202020204" pitchFamily="34" charset="0"/>
                        <a:ea typeface="+mn-ea"/>
                        <a:cs typeface="+mn-cs"/>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800" b="0" kern="1200">
                        <a:solidFill>
                          <a:schemeClr val="tx1"/>
                        </a:solidFill>
                        <a:effectLst/>
                        <a:latin typeface="Aptos" panose="020B0004020202020204" pitchFamily="34" charset="0"/>
                        <a:ea typeface="+mn-ea"/>
                        <a:cs typeface="+mn-cs"/>
                      </a:endParaRPr>
                    </a:p>
                    <a:p>
                      <a:pPr marL="0" marR="0" lvl="0" indent="0" algn="ctr" defTabSz="914400" rtl="0" eaLnBrk="1" fontAlgn="ctr" latinLnBrk="0" hangingPunct="1">
                        <a:lnSpc>
                          <a:spcPct val="95000"/>
                        </a:lnSpc>
                        <a:spcBef>
                          <a:spcPct val="0"/>
                        </a:spcBef>
                        <a:spcAft>
                          <a:spcPct val="50000"/>
                        </a:spcAft>
                        <a:buClrTx/>
                        <a:buSzTx/>
                        <a:buFontTx/>
                        <a:buNone/>
                        <a:tabLst/>
                      </a:pPr>
                      <a:r>
                        <a:rPr lang="en-US" sz="800" b="0" kern="1200">
                          <a:solidFill>
                            <a:schemeClr val="tx1"/>
                          </a:solidFill>
                          <a:effectLst/>
                          <a:latin typeface="Aptos" panose="020B0004020202020204" pitchFamily="34" charset="0"/>
                          <a:ea typeface="+mn-ea"/>
                          <a:cs typeface="+mn-cs"/>
                        </a:rPr>
                        <a:t>9/30</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ts val="200"/>
                        </a:spcBef>
                        <a:spcAft>
                          <a:spcPts val="0"/>
                        </a:spcAft>
                        <a:buClrTx/>
                        <a:buSzTx/>
                        <a:buFont typeface="Arial" panose="020B0604020202020204" pitchFamily="34" charset="0"/>
                        <a:buNone/>
                        <a:tabLst/>
                        <a:defRPr/>
                      </a:pPr>
                      <a:r>
                        <a:rPr lang="en-US" sz="900" b="0" strike="noStrike" kern="1200">
                          <a:solidFill>
                            <a:schemeClr val="tx1"/>
                          </a:solidFill>
                          <a:effectLst/>
                          <a:latin typeface="Aptos" panose="020B0004020202020204" pitchFamily="34" charset="0"/>
                          <a:ea typeface="+mn-ea"/>
                          <a:cs typeface="+mn-cs"/>
                        </a:rPr>
                        <a:t>Owner: Dan/Natalie/Melissa/Ying</a:t>
                      </a:r>
                    </a:p>
                    <a:p>
                      <a:pPr marL="0" marR="0" lvl="0" indent="0" algn="l" defTabSz="914400" rtl="0" eaLnBrk="1" fontAlgn="base" latinLnBrk="0" hangingPunct="1">
                        <a:lnSpc>
                          <a:spcPct val="100000"/>
                        </a:lnSpc>
                        <a:spcBef>
                          <a:spcPts val="200"/>
                        </a:spcBef>
                        <a:spcAft>
                          <a:spcPts val="0"/>
                        </a:spcAft>
                        <a:buClrTx/>
                        <a:buSzTx/>
                        <a:buFont typeface="Arial" panose="020B0604020202020204" pitchFamily="34" charset="0"/>
                        <a:buNone/>
                        <a:tabLst/>
                        <a:defRPr/>
                      </a:pPr>
                      <a:r>
                        <a:rPr lang="en-US" sz="900" b="0" strike="noStrike" kern="1200">
                          <a:solidFill>
                            <a:schemeClr val="tx1"/>
                          </a:solidFill>
                          <a:effectLst/>
                          <a:latin typeface="Aptos" panose="020B0004020202020204" pitchFamily="34" charset="0"/>
                          <a:ea typeface="+mn-ea"/>
                          <a:cs typeface="+mn-cs"/>
                        </a:rPr>
                        <a:t>Action – Team to define needs</a:t>
                      </a: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75606685"/>
                  </a:ext>
                </a:extLst>
              </a:tr>
            </a:tbl>
          </a:graphicData>
        </a:graphic>
      </p:graphicFrame>
      <p:sp>
        <p:nvSpPr>
          <p:cNvPr id="43" name="Flowchart: Connector 42">
            <a:extLst>
              <a:ext uri="{FF2B5EF4-FFF2-40B4-BE49-F238E27FC236}">
                <a16:creationId xmlns:a16="http://schemas.microsoft.com/office/drawing/2014/main" id="{183A7F51-76F1-81CC-8BF8-4E585F437212}"/>
              </a:ext>
            </a:extLst>
          </p:cNvPr>
          <p:cNvSpPr/>
          <p:nvPr/>
        </p:nvSpPr>
        <p:spPr>
          <a:xfrm>
            <a:off x="3282823" y="952827"/>
            <a:ext cx="163285" cy="164592"/>
          </a:xfrm>
          <a:prstGeom prst="flowChartConnector">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highlight>
                <a:srgbClr val="00FF00"/>
              </a:highlight>
              <a:uLnTx/>
              <a:uFillTx/>
              <a:latin typeface="Arial"/>
              <a:ea typeface="+mn-ea"/>
              <a:cs typeface="+mn-cs"/>
            </a:endParaRPr>
          </a:p>
        </p:txBody>
      </p:sp>
      <p:sp>
        <p:nvSpPr>
          <p:cNvPr id="45" name="Flowchart: Connector 44">
            <a:extLst>
              <a:ext uri="{FF2B5EF4-FFF2-40B4-BE49-F238E27FC236}">
                <a16:creationId xmlns:a16="http://schemas.microsoft.com/office/drawing/2014/main" id="{E91511CB-A8B3-E941-500E-4AFF9D470FA1}"/>
              </a:ext>
            </a:extLst>
          </p:cNvPr>
          <p:cNvSpPr/>
          <p:nvPr/>
        </p:nvSpPr>
        <p:spPr>
          <a:xfrm>
            <a:off x="4215681" y="967471"/>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46" name="Flowchart: Connector 45">
            <a:extLst>
              <a:ext uri="{FF2B5EF4-FFF2-40B4-BE49-F238E27FC236}">
                <a16:creationId xmlns:a16="http://schemas.microsoft.com/office/drawing/2014/main" id="{80C086E4-5E5B-2CC5-131C-C50F1F602BAD}"/>
              </a:ext>
            </a:extLst>
          </p:cNvPr>
          <p:cNvSpPr/>
          <p:nvPr/>
        </p:nvSpPr>
        <p:spPr>
          <a:xfrm>
            <a:off x="5148539" y="958776"/>
            <a:ext cx="163285" cy="164592"/>
          </a:xfrm>
          <a:prstGeom prst="flowChartConnector">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47" name="Flowchart: Connector 46">
            <a:extLst>
              <a:ext uri="{FF2B5EF4-FFF2-40B4-BE49-F238E27FC236}">
                <a16:creationId xmlns:a16="http://schemas.microsoft.com/office/drawing/2014/main" id="{76A761B8-8BE0-D9ED-4740-B1BF125A4703}"/>
              </a:ext>
            </a:extLst>
          </p:cNvPr>
          <p:cNvSpPr/>
          <p:nvPr/>
        </p:nvSpPr>
        <p:spPr>
          <a:xfrm>
            <a:off x="6104382" y="952827"/>
            <a:ext cx="163285" cy="164592"/>
          </a:xfrm>
          <a:prstGeom prst="flowChartConnector">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5" name="TextBox 4">
            <a:extLst>
              <a:ext uri="{FF2B5EF4-FFF2-40B4-BE49-F238E27FC236}">
                <a16:creationId xmlns:a16="http://schemas.microsoft.com/office/drawing/2014/main" id="{729CD419-3755-BE29-6B42-ADBCB334D373}"/>
              </a:ext>
            </a:extLst>
          </p:cNvPr>
          <p:cNvSpPr txBox="1"/>
          <p:nvPr/>
        </p:nvSpPr>
        <p:spPr>
          <a:xfrm>
            <a:off x="84196" y="2430862"/>
            <a:ext cx="6079728" cy="1469633"/>
          </a:xfrm>
          <a:prstGeom prst="rect">
            <a:avLst/>
          </a:prstGeom>
          <a:noFill/>
          <a:ln>
            <a:solidFill>
              <a:schemeClr val="tx1"/>
            </a:solidFill>
          </a:ln>
        </p:spPr>
        <p:txBody>
          <a:bodyPr wrap="square" lIns="91440" tIns="45720" rIns="91440" bIns="45720" anchor="t">
            <a:spAutoFit/>
          </a:bodyPr>
          <a:lstStyle/>
          <a:p>
            <a:r>
              <a:rPr lang="en-US" sz="850" b="1">
                <a:latin typeface="Aptos" panose="020B0004020202020204" pitchFamily="34" charset="0"/>
              </a:rPr>
              <a:t>This Week – Accomplishments/Value Delivered:</a:t>
            </a:r>
          </a:p>
          <a:p>
            <a:pPr marL="171450" indent="-171450">
              <a:buFont typeface="Arial" panose="020B0604020202020204" pitchFamily="34" charset="0"/>
              <a:buChar char="•"/>
            </a:pPr>
            <a:r>
              <a:rPr lang="en-US" sz="900">
                <a:latin typeface="Aptos" panose="020B0004020202020204" pitchFamily="34" charset="0"/>
              </a:rPr>
              <a:t>The Document Submission CI pipeline release 1 underway (Multiple releases expected – build/test cycle)</a:t>
            </a:r>
          </a:p>
          <a:p>
            <a:pPr marL="171450" indent="-171450">
              <a:buFont typeface="Arial" panose="020B0604020202020204" pitchFamily="34" charset="0"/>
              <a:buChar char="•"/>
            </a:pPr>
            <a:r>
              <a:rPr lang="en-US" sz="900">
                <a:latin typeface="Aptos" panose="020B0004020202020204" pitchFamily="34" charset="0"/>
              </a:rPr>
              <a:t>Development on Email Ingestion 70% completed development</a:t>
            </a:r>
          </a:p>
          <a:p>
            <a:pPr marL="171450" indent="-171450">
              <a:buFont typeface="Arial" panose="020B0604020202020204" pitchFamily="34" charset="0"/>
              <a:buChar char="•"/>
            </a:pPr>
            <a:r>
              <a:rPr lang="en-US" sz="900">
                <a:latin typeface="Aptos" panose="020B0004020202020204" pitchFamily="34" charset="0"/>
              </a:rPr>
              <a:t>The Document Transformation Service design specification completed. Development underway.</a:t>
            </a:r>
          </a:p>
          <a:p>
            <a:pPr marL="171450" indent="-171450">
              <a:buFont typeface="Arial" panose="020B0604020202020204" pitchFamily="34" charset="0"/>
              <a:buChar char="•"/>
            </a:pPr>
            <a:r>
              <a:rPr lang="en-US" sz="900">
                <a:latin typeface="Aptos" panose="020B0004020202020204" pitchFamily="34" charset="0"/>
              </a:rPr>
              <a:t>TaiLWIND is validated as the top priority across dependencies.</a:t>
            </a:r>
          </a:p>
          <a:p>
            <a:pPr marL="171450" marR="0" lvl="0" indent="-171450" fontAlgn="base">
              <a:lnSpc>
                <a:spcPct val="100000"/>
              </a:lnSpc>
              <a:spcBef>
                <a:spcPts val="0"/>
              </a:spcBef>
              <a:spcAft>
                <a:spcPts val="0"/>
              </a:spcAft>
              <a:buClrTx/>
              <a:buSzTx/>
              <a:buFont typeface="Arial" panose="020B0604020202020204" pitchFamily="34" charset="0"/>
              <a:buChar char="•"/>
              <a:tabLst/>
              <a:defRPr/>
            </a:pPr>
            <a:r>
              <a:rPr lang="en-US" sz="900">
                <a:latin typeface="Aptos" panose="020B0004020202020204" pitchFamily="34" charset="0"/>
              </a:rPr>
              <a:t>EAO completed focused knowledge sharing on page-level extraction, JSON normalization, line-item treatment, confidence scoring, and manual-review considerations, including identification of a duplicate-page classification defect.​</a:t>
            </a:r>
          </a:p>
          <a:p>
            <a:pPr marL="171450" marR="0" lvl="0" indent="-171450" fontAlgn="base">
              <a:lnSpc>
                <a:spcPct val="100000"/>
              </a:lnSpc>
              <a:spcBef>
                <a:spcPts val="0"/>
              </a:spcBef>
              <a:spcAft>
                <a:spcPts val="0"/>
              </a:spcAft>
              <a:buClrTx/>
              <a:buSzTx/>
              <a:buFont typeface="Arial" panose="020B0604020202020204" pitchFamily="34" charset="0"/>
              <a:buChar char="•"/>
              <a:tabLst/>
              <a:defRPr/>
            </a:pPr>
            <a:r>
              <a:rPr lang="en-US" sz="900">
                <a:latin typeface="Aptos" panose="020B0004020202020204" pitchFamily="34" charset="0"/>
              </a:rPr>
              <a:t>EAO advanced alignment with NF Pet and Tailwind on the ground-truth workflow, cross-channel comparison, and production ownership, while reinforcing the value of EAO’s capability for future internal use cases.​</a:t>
            </a:r>
          </a:p>
        </p:txBody>
      </p:sp>
      <p:sp>
        <p:nvSpPr>
          <p:cNvPr id="21" name="Flowchart: Connector 20">
            <a:extLst>
              <a:ext uri="{FF2B5EF4-FFF2-40B4-BE49-F238E27FC236}">
                <a16:creationId xmlns:a16="http://schemas.microsoft.com/office/drawing/2014/main" id="{608E6B8B-5F65-1841-3BCD-0071BD9BCEC9}"/>
              </a:ext>
            </a:extLst>
          </p:cNvPr>
          <p:cNvSpPr/>
          <p:nvPr/>
        </p:nvSpPr>
        <p:spPr>
          <a:xfrm>
            <a:off x="8866998" y="4528937"/>
            <a:ext cx="161885" cy="164592"/>
          </a:xfrm>
          <a:prstGeom prst="flowChartConnector">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7" name="TextBox 6">
            <a:extLst>
              <a:ext uri="{FF2B5EF4-FFF2-40B4-BE49-F238E27FC236}">
                <a16:creationId xmlns:a16="http://schemas.microsoft.com/office/drawing/2014/main" id="{1B90C054-9B7E-E4B8-BB7F-8B8F730A1D94}"/>
              </a:ext>
            </a:extLst>
          </p:cNvPr>
          <p:cNvSpPr txBox="1"/>
          <p:nvPr/>
        </p:nvSpPr>
        <p:spPr>
          <a:xfrm>
            <a:off x="84195" y="1279017"/>
            <a:ext cx="6079731" cy="1140697"/>
          </a:xfrm>
          <a:prstGeom prst="rect">
            <a:avLst/>
          </a:prstGeom>
          <a:noFill/>
          <a:ln>
            <a:solidFill>
              <a:schemeClr val="tx1"/>
            </a:solidFill>
          </a:ln>
        </p:spPr>
        <p:txBody>
          <a:bodyPr wrap="square" lIns="91440" tIns="45720" rIns="91440" bIns="45720" anchor="t">
            <a:spAutoFit/>
          </a:bodyPr>
          <a:lstStyle/>
          <a:p>
            <a:pPr eaLnBrk="0" fontAlgn="base" hangingPunct="0">
              <a:lnSpc>
                <a:spcPct val="95000"/>
              </a:lnSpc>
              <a:spcBef>
                <a:spcPct val="0"/>
              </a:spcBef>
              <a:spcAft>
                <a:spcPct val="50000"/>
              </a:spcAft>
            </a:pPr>
            <a:r>
              <a:rPr lang="en-US" sz="850" b="1">
                <a:latin typeface="Aptos" panose="020B0004020202020204" pitchFamily="34" charset="0"/>
              </a:rPr>
              <a:t>Overall Status: Yellow</a:t>
            </a:r>
          </a:p>
          <a:p>
            <a:pPr eaLnBrk="0" fontAlgn="base" hangingPunct="0">
              <a:lnSpc>
                <a:spcPct val="95000"/>
              </a:lnSpc>
              <a:spcBef>
                <a:spcPct val="0"/>
              </a:spcBef>
              <a:spcAft>
                <a:spcPct val="50000"/>
              </a:spcAft>
            </a:pPr>
            <a:r>
              <a:rPr lang="en-US" sz="900">
                <a:latin typeface="Aptos" panose="020B0004020202020204" pitchFamily="34" charset="0"/>
              </a:rPr>
              <a:t>Engagement with the REN, GIN, MiM, and Portal teams continued to advance integration planning. The status remains Yellow due to potential risks associated with securing timely alignment and support for Phase1 delivery.  Integration scope has been handed off to Scrum Sharks, GOP, AT, and MIM all have provided initial estimates. Significant progress has been made on prioritization, finalized scope, revised estimates, and timelines is nearing completion. </a:t>
            </a:r>
          </a:p>
          <a:p>
            <a:pPr eaLnBrk="0" fontAlgn="base" hangingPunct="0">
              <a:lnSpc>
                <a:spcPct val="95000"/>
              </a:lnSpc>
              <a:spcBef>
                <a:spcPct val="0"/>
              </a:spcBef>
              <a:spcAft>
                <a:spcPct val="50000"/>
              </a:spcAft>
            </a:pPr>
            <a:r>
              <a:rPr lang="en-US" sz="900">
                <a:latin typeface="Aptos" panose="020B0004020202020204" pitchFamily="34" charset="0"/>
              </a:rPr>
              <a:t>EAO is building on the 8/7 benchmark and moving toward a more consistent, production-relevant evaluation by aligning partner outputs, validating ground truth and matching logic, and advancing fax/mail analysis​</a:t>
            </a:r>
          </a:p>
        </p:txBody>
      </p:sp>
      <p:sp>
        <p:nvSpPr>
          <p:cNvPr id="3" name="Flowchart: Connector 2">
            <a:extLst>
              <a:ext uri="{FF2B5EF4-FFF2-40B4-BE49-F238E27FC236}">
                <a16:creationId xmlns:a16="http://schemas.microsoft.com/office/drawing/2014/main" id="{F91BFB50-2162-2207-6447-1F9F02AD2082}"/>
              </a:ext>
            </a:extLst>
          </p:cNvPr>
          <p:cNvSpPr/>
          <p:nvPr/>
        </p:nvSpPr>
        <p:spPr>
          <a:xfrm>
            <a:off x="8885286" y="5047453"/>
            <a:ext cx="161885" cy="164592"/>
          </a:xfrm>
          <a:prstGeom prst="flowChartConnector">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graphicFrame>
        <p:nvGraphicFramePr>
          <p:cNvPr id="33" name="Table 32">
            <a:extLst>
              <a:ext uri="{FF2B5EF4-FFF2-40B4-BE49-F238E27FC236}">
                <a16:creationId xmlns:a16="http://schemas.microsoft.com/office/drawing/2014/main" id="{681E522C-17A4-EAC5-89C4-312D53C20B33}"/>
              </a:ext>
            </a:extLst>
          </p:cNvPr>
          <p:cNvGraphicFramePr>
            <a:graphicFrameLocks noGrp="1"/>
          </p:cNvGraphicFramePr>
          <p:nvPr>
            <p:extLst>
              <p:ext uri="{D42A27DB-BD31-4B8C-83A1-F6EECF244321}">
                <p14:modId xmlns:p14="http://schemas.microsoft.com/office/powerpoint/2010/main" val="1942167299"/>
              </p:ext>
            </p:extLst>
          </p:nvPr>
        </p:nvGraphicFramePr>
        <p:xfrm>
          <a:off x="6640300" y="511167"/>
          <a:ext cx="5407636" cy="699090"/>
        </p:xfrm>
        <a:graphic>
          <a:graphicData uri="http://schemas.openxmlformats.org/drawingml/2006/table">
            <a:tbl>
              <a:tblPr>
                <a:tableStyleId>{5C22544A-7EE6-4342-B048-85BDC9FD1C3A}</a:tableStyleId>
              </a:tblPr>
              <a:tblGrid>
                <a:gridCol w="1190927">
                  <a:extLst>
                    <a:ext uri="{9D8B030D-6E8A-4147-A177-3AD203B41FA5}">
                      <a16:colId xmlns:a16="http://schemas.microsoft.com/office/drawing/2014/main" val="2456552316"/>
                    </a:ext>
                  </a:extLst>
                </a:gridCol>
                <a:gridCol w="1255221">
                  <a:extLst>
                    <a:ext uri="{9D8B030D-6E8A-4147-A177-3AD203B41FA5}">
                      <a16:colId xmlns:a16="http://schemas.microsoft.com/office/drawing/2014/main" val="2327174630"/>
                    </a:ext>
                  </a:extLst>
                </a:gridCol>
                <a:gridCol w="1662546">
                  <a:extLst>
                    <a:ext uri="{9D8B030D-6E8A-4147-A177-3AD203B41FA5}">
                      <a16:colId xmlns:a16="http://schemas.microsoft.com/office/drawing/2014/main" val="1100051595"/>
                    </a:ext>
                  </a:extLst>
                </a:gridCol>
                <a:gridCol w="1298942">
                  <a:extLst>
                    <a:ext uri="{9D8B030D-6E8A-4147-A177-3AD203B41FA5}">
                      <a16:colId xmlns:a16="http://schemas.microsoft.com/office/drawing/2014/main" val="2042261034"/>
                    </a:ext>
                  </a:extLst>
                </a:gridCol>
              </a:tblGrid>
              <a:tr h="341425">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2026 Budget</a:t>
                      </a:r>
                      <a:r>
                        <a:rPr lang="en-US" sz="1050" b="1" i="0" u="none" strike="noStrike" kern="1200" cap="none" normalizeH="0" baseline="0">
                          <a:ln>
                            <a:noFill/>
                          </a:ln>
                          <a:solidFill>
                            <a:schemeClr val="bg1"/>
                          </a:solidFill>
                          <a:effectLst/>
                          <a:latin typeface="Arial"/>
                          <a:ea typeface="+mn-ea"/>
                          <a:cs typeface="+mn-cs"/>
                        </a:rPr>
                        <a:t> </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YTD </a:t>
                      </a:r>
                      <a:r>
                        <a:rPr kumimoji="0" lang="en-US" sz="1050" b="1" i="0" u="none" strike="noStrike" kern="1200" cap="none" normalizeH="0" baseline="0">
                          <a:ln>
                            <a:noFill/>
                          </a:ln>
                          <a:solidFill>
                            <a:schemeClr val="bg1"/>
                          </a:solidFill>
                          <a:effectLst/>
                          <a:latin typeface="Arial"/>
                          <a:ea typeface="+mn-ea"/>
                          <a:cs typeface="+mn-cs"/>
                        </a:rPr>
                        <a:t>Actuals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Remaining 2026 Forecast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Total </a:t>
                      </a:r>
                    </a:p>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Actuals +Fcst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305517">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lang="en-US" sz="850" b="1" i="0" u="none" strike="noStrike" kern="1200" cap="none" normalizeH="0" baseline="0">
                          <a:ln>
                            <a:noFill/>
                          </a:ln>
                          <a:solidFill>
                            <a:schemeClr val="tx1"/>
                          </a:solidFill>
                          <a:effectLst/>
                          <a:latin typeface="Aptos" panose="020B0004020202020204" pitchFamily="34" charset="0"/>
                          <a:ea typeface="+mn-ea"/>
                          <a:cs typeface="+mn-cs"/>
                        </a:rPr>
                        <a:t>$1,500,000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lang="en-US" sz="850" b="1" i="0" u="none" strike="noStrike" kern="1200" cap="none" normalizeH="0" baseline="0">
                          <a:ln>
                            <a:noFill/>
                          </a:ln>
                          <a:solidFill>
                            <a:schemeClr val="tx1"/>
                          </a:solidFill>
                          <a:effectLst/>
                          <a:latin typeface="Aptos" panose="020B0004020202020204" pitchFamily="34" charset="0"/>
                          <a:ea typeface="+mn-ea"/>
                          <a:cs typeface="+mn-cs"/>
                        </a:rPr>
                        <a:t>$666,489</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defRPr/>
                      </a:pPr>
                      <a:r>
                        <a:rPr lang="en-US" sz="850" b="1" i="0" u="none" strike="noStrike" kern="1200" cap="none" normalizeH="0" baseline="0">
                          <a:ln>
                            <a:noFill/>
                          </a:ln>
                          <a:solidFill>
                            <a:schemeClr val="tx1"/>
                          </a:solidFill>
                          <a:effectLst/>
                          <a:latin typeface="Aptos" panose="020B0004020202020204" pitchFamily="34" charset="0"/>
                          <a:ea typeface="+mn-ea"/>
                          <a:cs typeface="+mn-cs"/>
                        </a:rPr>
                        <a:t>$859,818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defRPr/>
                      </a:pPr>
                      <a:r>
                        <a:rPr lang="en-US" sz="850" b="1" i="0" u="none" strike="noStrike" kern="1200" cap="none" normalizeH="0" baseline="0">
                          <a:ln>
                            <a:noFill/>
                          </a:ln>
                          <a:solidFill>
                            <a:schemeClr val="tx1"/>
                          </a:solidFill>
                          <a:effectLst/>
                          <a:latin typeface="Aptos" panose="020B0004020202020204" pitchFamily="34" charset="0"/>
                          <a:ea typeface="+mn-ea"/>
                          <a:cs typeface="+mn-cs"/>
                        </a:rPr>
                        <a:t>$1,526,307</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7499024"/>
                  </a:ext>
                </a:extLst>
              </a:tr>
            </a:tbl>
          </a:graphicData>
        </a:graphic>
      </p:graphicFrame>
      <p:sp>
        <p:nvSpPr>
          <p:cNvPr id="10" name="Flowchart: Connector 9">
            <a:extLst>
              <a:ext uri="{FF2B5EF4-FFF2-40B4-BE49-F238E27FC236}">
                <a16:creationId xmlns:a16="http://schemas.microsoft.com/office/drawing/2014/main" id="{F8FF7D31-B2DB-3DDE-0467-F269AD18E63F}"/>
              </a:ext>
            </a:extLst>
          </p:cNvPr>
          <p:cNvSpPr/>
          <p:nvPr/>
        </p:nvSpPr>
        <p:spPr>
          <a:xfrm>
            <a:off x="8914714" y="2228625"/>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0000"/>
              </a:solidFill>
              <a:effectLst/>
              <a:highlight>
                <a:srgbClr val="FFFF00"/>
              </a:highlight>
              <a:uLnTx/>
              <a:uFillTx/>
              <a:latin typeface="Arial"/>
              <a:ea typeface="+mn-ea"/>
              <a:cs typeface="+mn-cs"/>
            </a:endParaRPr>
          </a:p>
        </p:txBody>
      </p:sp>
      <p:sp>
        <p:nvSpPr>
          <p:cNvPr id="14" name="Flowchart: Connector 13">
            <a:extLst>
              <a:ext uri="{FF2B5EF4-FFF2-40B4-BE49-F238E27FC236}">
                <a16:creationId xmlns:a16="http://schemas.microsoft.com/office/drawing/2014/main" id="{864F70E2-9F6B-944F-E6D2-7A2EDCF1D974}"/>
              </a:ext>
            </a:extLst>
          </p:cNvPr>
          <p:cNvSpPr/>
          <p:nvPr/>
        </p:nvSpPr>
        <p:spPr>
          <a:xfrm>
            <a:off x="8911139" y="3143844"/>
            <a:ext cx="163285" cy="164592"/>
          </a:xfrm>
          <a:prstGeom prst="flowChartConnector">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0000"/>
              </a:solidFill>
              <a:effectLst/>
              <a:highlight>
                <a:srgbClr val="FFFF00"/>
              </a:highlight>
              <a:uLnTx/>
              <a:uFillTx/>
              <a:latin typeface="Arial"/>
              <a:ea typeface="+mn-ea"/>
              <a:cs typeface="+mn-cs"/>
            </a:endParaRPr>
          </a:p>
        </p:txBody>
      </p:sp>
      <p:sp>
        <p:nvSpPr>
          <p:cNvPr id="16" name="Flowchart: Connector 15">
            <a:extLst>
              <a:ext uri="{FF2B5EF4-FFF2-40B4-BE49-F238E27FC236}">
                <a16:creationId xmlns:a16="http://schemas.microsoft.com/office/drawing/2014/main" id="{C2816A46-D22A-67CC-BE87-C483DB4E1D77}"/>
              </a:ext>
            </a:extLst>
          </p:cNvPr>
          <p:cNvSpPr/>
          <p:nvPr/>
        </p:nvSpPr>
        <p:spPr>
          <a:xfrm>
            <a:off x="8911138" y="1734183"/>
            <a:ext cx="163285" cy="164592"/>
          </a:xfrm>
          <a:prstGeom prst="flowChartConnector">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0000"/>
              </a:solidFill>
              <a:effectLst/>
              <a:highlight>
                <a:srgbClr val="FFFF00"/>
              </a:highlight>
              <a:uLnTx/>
              <a:uFillTx/>
              <a:latin typeface="Arial"/>
              <a:ea typeface="+mn-ea"/>
              <a:cs typeface="+mn-cs"/>
            </a:endParaRPr>
          </a:p>
        </p:txBody>
      </p:sp>
      <p:sp>
        <p:nvSpPr>
          <p:cNvPr id="17" name="TextBox 16">
            <a:extLst>
              <a:ext uri="{FF2B5EF4-FFF2-40B4-BE49-F238E27FC236}">
                <a16:creationId xmlns:a16="http://schemas.microsoft.com/office/drawing/2014/main" id="{740F244E-D1BD-29DA-81FC-287C5F22D91D}"/>
              </a:ext>
            </a:extLst>
          </p:cNvPr>
          <p:cNvSpPr txBox="1"/>
          <p:nvPr/>
        </p:nvSpPr>
        <p:spPr>
          <a:xfrm>
            <a:off x="66045" y="5773136"/>
            <a:ext cx="6079728" cy="1138773"/>
          </a:xfrm>
          <a:prstGeom prst="rect">
            <a:avLst/>
          </a:prstGeom>
          <a:noFill/>
          <a:ln>
            <a:solidFill>
              <a:schemeClr val="tx1"/>
            </a:solidFill>
          </a:ln>
        </p:spPr>
        <p:txBody>
          <a:bodyPr wrap="square" lIns="91440" tIns="45720" rIns="91440" bIns="45720" anchor="t">
            <a:spAutoFit/>
          </a:bodyPr>
          <a:lstStyle/>
          <a:p>
            <a:r>
              <a:rPr lang="en-US" sz="850" b="1">
                <a:latin typeface="Aptos" panose="020B0004020202020204" pitchFamily="34" charset="0"/>
              </a:rPr>
              <a:t>Next 1–2 Weeks Deliverables:</a:t>
            </a:r>
          </a:p>
          <a:p>
            <a:pPr marL="171450" indent="-171450">
              <a:buFont typeface="Arial" panose="020B0604020202020204" pitchFamily="34" charset="0"/>
              <a:buChar char="•"/>
            </a:pPr>
            <a:r>
              <a:rPr lang="en-US" sz="850">
                <a:latin typeface="Aptos" panose="020B0004020202020204" pitchFamily="34" charset="0"/>
                <a:ea typeface="+mn-lt"/>
                <a:cs typeface="+mn-lt"/>
              </a:rPr>
              <a:t>Continue progress on Email ingestion build, Document submission service, and infrastructure build for existing work.</a:t>
            </a:r>
          </a:p>
          <a:p>
            <a:pPr marL="171450" indent="-171450">
              <a:buFont typeface="Arial" panose="020B0604020202020204" pitchFamily="34" charset="0"/>
              <a:buChar char="•"/>
            </a:pPr>
            <a:r>
              <a:rPr lang="en-US" sz="850">
                <a:latin typeface="Aptos" panose="020B0004020202020204" pitchFamily="34" charset="0"/>
                <a:cs typeface="Arial"/>
              </a:rPr>
              <a:t>Support of work transferred to GIN/REN/MIM/AT/ECIF – Beginning build, Validating need for </a:t>
            </a:r>
            <a:r>
              <a:rPr lang="en-US" sz="850" err="1">
                <a:latin typeface="Aptos" panose="020B0004020202020204" pitchFamily="34" charset="0"/>
                <a:cs typeface="Arial"/>
              </a:rPr>
              <a:t>Tailblazers</a:t>
            </a:r>
            <a:r>
              <a:rPr lang="en-US" sz="850">
                <a:latin typeface="Aptos" panose="020B0004020202020204" pitchFamily="34" charset="0"/>
                <a:cs typeface="Arial"/>
              </a:rPr>
              <a:t> support.</a:t>
            </a:r>
          </a:p>
          <a:p>
            <a:pPr marL="171450" indent="-171450">
              <a:buFont typeface="Arial" panose="020B0604020202020204" pitchFamily="34" charset="0"/>
              <a:buChar char="•"/>
            </a:pPr>
            <a:r>
              <a:rPr lang="en-US" sz="850">
                <a:latin typeface="Aptos" panose="020B0004020202020204" pitchFamily="34" charset="0"/>
                <a:cs typeface="Arial"/>
              </a:rPr>
              <a:t>Finalize initial KPIs for Phase 1.</a:t>
            </a:r>
          </a:p>
          <a:p>
            <a:pPr marL="171450" marR="0" lvl="0" indent="-171450" fontAlgn="base">
              <a:buFont typeface="Arial" panose="020B0604020202020204" pitchFamily="34" charset="0"/>
              <a:buChar char="•"/>
            </a:pPr>
            <a:r>
              <a:rPr lang="en-US" sz="850">
                <a:latin typeface="Aptos" panose="020B0004020202020204" pitchFamily="34" charset="0"/>
                <a:ea typeface="+mn-lt"/>
                <a:cs typeface="+mn-lt"/>
              </a:rPr>
              <a:t>Apply the agreed normalization rules, correct the duplicate-page classification, and complete the remaining multi-page comparison work for the shared benchmark.​</a:t>
            </a:r>
          </a:p>
          <a:p>
            <a:pPr marL="171450" marR="0" lvl="0" indent="-171450" fontAlgn="base">
              <a:buFont typeface="Arial" panose="020B0604020202020204" pitchFamily="34" charset="0"/>
              <a:buChar char="•"/>
            </a:pPr>
            <a:r>
              <a:rPr lang="en-US" sz="850">
                <a:latin typeface="Aptos" panose="020B0004020202020204" pitchFamily="34" charset="0"/>
                <a:ea typeface="+mn-lt"/>
                <a:cs typeface="+mn-lt"/>
              </a:rPr>
              <a:t>Continue fax/mail analysis, align partner JSON and ground-truth inputs, and prepare the next channel comparison and leadership show-and-tell​</a:t>
            </a:r>
            <a:endParaRPr lang="en-US" sz="800">
              <a:cs typeface="Arial"/>
            </a:endParaRPr>
          </a:p>
        </p:txBody>
      </p:sp>
      <p:sp>
        <p:nvSpPr>
          <p:cNvPr id="19" name="Flowchart: Connector 18">
            <a:extLst>
              <a:ext uri="{FF2B5EF4-FFF2-40B4-BE49-F238E27FC236}">
                <a16:creationId xmlns:a16="http://schemas.microsoft.com/office/drawing/2014/main" id="{84B0B41C-E494-6F60-A061-87BA9BA763B1}"/>
              </a:ext>
            </a:extLst>
          </p:cNvPr>
          <p:cNvSpPr/>
          <p:nvPr/>
        </p:nvSpPr>
        <p:spPr>
          <a:xfrm rot="21447289">
            <a:off x="8914713" y="3543633"/>
            <a:ext cx="163285" cy="164592"/>
          </a:xfrm>
          <a:prstGeom prst="flowChartConnector">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0000"/>
              </a:solidFill>
              <a:effectLst/>
              <a:highlight>
                <a:srgbClr val="FFFF00"/>
              </a:highlight>
              <a:uLnTx/>
              <a:uFillTx/>
              <a:latin typeface="Arial"/>
              <a:ea typeface="+mn-ea"/>
              <a:cs typeface="+mn-cs"/>
            </a:endParaRPr>
          </a:p>
        </p:txBody>
      </p:sp>
      <p:graphicFrame>
        <p:nvGraphicFramePr>
          <p:cNvPr id="23" name="Group 614">
            <a:extLst>
              <a:ext uri="{FF2B5EF4-FFF2-40B4-BE49-F238E27FC236}">
                <a16:creationId xmlns:a16="http://schemas.microsoft.com/office/drawing/2014/main" id="{91DC8B63-FC4B-9DAF-137D-3F2AA9135C18}"/>
              </a:ext>
            </a:extLst>
          </p:cNvPr>
          <p:cNvGraphicFramePr>
            <a:graphicFrameLocks noGrp="1"/>
          </p:cNvGraphicFramePr>
          <p:nvPr/>
        </p:nvGraphicFramePr>
        <p:xfrm>
          <a:off x="6216793" y="6420378"/>
          <a:ext cx="5909162" cy="386554"/>
        </p:xfrm>
        <a:graphic>
          <a:graphicData uri="http://schemas.openxmlformats.org/drawingml/2006/table">
            <a:tbl>
              <a:tblPr/>
              <a:tblGrid>
                <a:gridCol w="502108">
                  <a:extLst>
                    <a:ext uri="{9D8B030D-6E8A-4147-A177-3AD203B41FA5}">
                      <a16:colId xmlns:a16="http://schemas.microsoft.com/office/drawing/2014/main" val="20000"/>
                    </a:ext>
                  </a:extLst>
                </a:gridCol>
                <a:gridCol w="254489">
                  <a:extLst>
                    <a:ext uri="{9D8B030D-6E8A-4147-A177-3AD203B41FA5}">
                      <a16:colId xmlns:a16="http://schemas.microsoft.com/office/drawing/2014/main" val="20001"/>
                    </a:ext>
                  </a:extLst>
                </a:gridCol>
                <a:gridCol w="609399">
                  <a:extLst>
                    <a:ext uri="{9D8B030D-6E8A-4147-A177-3AD203B41FA5}">
                      <a16:colId xmlns:a16="http://schemas.microsoft.com/office/drawing/2014/main" val="20002"/>
                    </a:ext>
                  </a:extLst>
                </a:gridCol>
                <a:gridCol w="268586">
                  <a:extLst>
                    <a:ext uri="{9D8B030D-6E8A-4147-A177-3AD203B41FA5}">
                      <a16:colId xmlns:a16="http://schemas.microsoft.com/office/drawing/2014/main" val="20003"/>
                    </a:ext>
                  </a:extLst>
                </a:gridCol>
                <a:gridCol w="571940">
                  <a:extLst>
                    <a:ext uri="{9D8B030D-6E8A-4147-A177-3AD203B41FA5}">
                      <a16:colId xmlns:a16="http://schemas.microsoft.com/office/drawing/2014/main" val="20004"/>
                    </a:ext>
                  </a:extLst>
                </a:gridCol>
                <a:gridCol w="402633">
                  <a:extLst>
                    <a:ext uri="{9D8B030D-6E8A-4147-A177-3AD203B41FA5}">
                      <a16:colId xmlns:a16="http://schemas.microsoft.com/office/drawing/2014/main" val="20005"/>
                    </a:ext>
                  </a:extLst>
                </a:gridCol>
                <a:gridCol w="475884">
                  <a:extLst>
                    <a:ext uri="{9D8B030D-6E8A-4147-A177-3AD203B41FA5}">
                      <a16:colId xmlns:a16="http://schemas.microsoft.com/office/drawing/2014/main" val="20006"/>
                    </a:ext>
                  </a:extLst>
                </a:gridCol>
                <a:gridCol w="305508">
                  <a:extLst>
                    <a:ext uri="{9D8B030D-6E8A-4147-A177-3AD203B41FA5}">
                      <a16:colId xmlns:a16="http://schemas.microsoft.com/office/drawing/2014/main" val="20007"/>
                    </a:ext>
                  </a:extLst>
                </a:gridCol>
                <a:gridCol w="1135992">
                  <a:extLst>
                    <a:ext uri="{9D8B030D-6E8A-4147-A177-3AD203B41FA5}">
                      <a16:colId xmlns:a16="http://schemas.microsoft.com/office/drawing/2014/main" val="20008"/>
                    </a:ext>
                  </a:extLst>
                </a:gridCol>
                <a:gridCol w="313151">
                  <a:extLst>
                    <a:ext uri="{9D8B030D-6E8A-4147-A177-3AD203B41FA5}">
                      <a16:colId xmlns:a16="http://schemas.microsoft.com/office/drawing/2014/main" val="20009"/>
                    </a:ext>
                  </a:extLst>
                </a:gridCol>
                <a:gridCol w="1069472">
                  <a:extLst>
                    <a:ext uri="{9D8B030D-6E8A-4147-A177-3AD203B41FA5}">
                      <a16:colId xmlns:a16="http://schemas.microsoft.com/office/drawing/2014/main" val="20010"/>
                    </a:ext>
                  </a:extLst>
                </a:gridCol>
              </a:tblGrid>
              <a:tr h="386554">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Arial" charset="0"/>
                          <a:cs typeface="Arial" charset="0"/>
                        </a:rPr>
                        <a:t>Status Key</a:t>
                      </a:r>
                      <a:endParaRPr kumimoji="0" lang="en-GB" sz="1600" b="0" i="0" u="none" strike="noStrike" cap="none" normalizeH="0" baseline="0">
                        <a:ln>
                          <a:noFill/>
                        </a:ln>
                        <a:solidFill>
                          <a:srgbClr val="002060"/>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mj-lt"/>
                        </a:rPr>
                        <a:t>C</a:t>
                      </a: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Arial" charset="0"/>
                          <a:cs typeface="Arial" charset="0"/>
                        </a:rPr>
                        <a:t>Completed</a:t>
                      </a:r>
                      <a:endParaRPr kumimoji="0" lang="en-GB" sz="1600" b="0" i="0" u="none" strike="noStrike" cap="none" normalizeH="0" baseline="0">
                        <a:ln>
                          <a:noFill/>
                        </a:ln>
                        <a:solidFill>
                          <a:srgbClr val="002060"/>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On-Schedule</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Major Issues</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Some Issues</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NS</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Not Started</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30" name="Flowchart: Connector 29">
            <a:extLst>
              <a:ext uri="{FF2B5EF4-FFF2-40B4-BE49-F238E27FC236}">
                <a16:creationId xmlns:a16="http://schemas.microsoft.com/office/drawing/2014/main" id="{321AF85D-31A9-EE73-EE8E-C73E2F2AAF2F}"/>
              </a:ext>
            </a:extLst>
          </p:cNvPr>
          <p:cNvSpPr/>
          <p:nvPr/>
        </p:nvSpPr>
        <p:spPr>
          <a:xfrm>
            <a:off x="7631164" y="6540684"/>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lowchart: Connector 31">
            <a:extLst>
              <a:ext uri="{FF2B5EF4-FFF2-40B4-BE49-F238E27FC236}">
                <a16:creationId xmlns:a16="http://schemas.microsoft.com/office/drawing/2014/main" id="{E1761AA0-03E6-46CA-6A24-CFCE1AD186C9}"/>
              </a:ext>
            </a:extLst>
          </p:cNvPr>
          <p:cNvSpPr/>
          <p:nvPr/>
        </p:nvSpPr>
        <p:spPr>
          <a:xfrm>
            <a:off x="8538335" y="6531359"/>
            <a:ext cx="163286" cy="164592"/>
          </a:xfrm>
          <a:prstGeom prst="flowChartConnector">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Flowchart: Connector 34">
            <a:extLst>
              <a:ext uri="{FF2B5EF4-FFF2-40B4-BE49-F238E27FC236}">
                <a16:creationId xmlns:a16="http://schemas.microsoft.com/office/drawing/2014/main" id="{2CB5919D-39B4-452B-9180-5076F5B5F05D}"/>
              </a:ext>
            </a:extLst>
          </p:cNvPr>
          <p:cNvSpPr/>
          <p:nvPr/>
        </p:nvSpPr>
        <p:spPr>
          <a:xfrm>
            <a:off x="9365075" y="6540684"/>
            <a:ext cx="163285" cy="164592"/>
          </a:xfrm>
          <a:prstGeom prst="flowChartConnector">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3A3229E4-2DD9-3FA0-76D7-B7C7D7614558}"/>
              </a:ext>
            </a:extLst>
          </p:cNvPr>
          <p:cNvSpPr txBox="1"/>
          <p:nvPr/>
        </p:nvSpPr>
        <p:spPr>
          <a:xfrm>
            <a:off x="84195" y="3918975"/>
            <a:ext cx="6079729" cy="1792798"/>
          </a:xfrm>
          <a:prstGeom prst="rect">
            <a:avLst/>
          </a:prstGeom>
          <a:noFill/>
          <a:ln>
            <a:solidFill>
              <a:schemeClr val="tx1"/>
            </a:solidFill>
          </a:ln>
        </p:spPr>
        <p:txBody>
          <a:bodyPr wrap="square" lIns="91440" tIns="45720" rIns="91440" bIns="45720" anchor="t">
            <a:spAutoFit/>
          </a:bodyPr>
          <a:lstStyle/>
          <a:p>
            <a:r>
              <a:rPr lang="en-US" sz="850" b="1">
                <a:latin typeface="Aptos" panose="020B0004020202020204" pitchFamily="34" charset="0"/>
              </a:rPr>
              <a:t>Key Learnings/Insights:</a:t>
            </a:r>
            <a:endParaRPr lang="en-US" sz="850">
              <a:latin typeface="Aptos" panose="020B0004020202020204" pitchFamily="34" charset="0"/>
            </a:endParaRPr>
          </a:p>
          <a:p>
            <a:pPr marL="171450" indent="-171450">
              <a:buFont typeface="Arial" panose="020B0604020202020204" pitchFamily="34" charset="0"/>
              <a:buChar char="•"/>
            </a:pPr>
            <a:r>
              <a:rPr lang="en-US" sz="850">
                <a:latin typeface="Aptos" panose="020B0004020202020204" pitchFamily="34" charset="0"/>
              </a:rPr>
              <a:t>Need continued monitoring of DDIT token usage for Doodle Poodle line.</a:t>
            </a:r>
          </a:p>
          <a:p>
            <a:pPr marL="171450" indent="-171450">
              <a:buFont typeface="Arial" panose="020B0604020202020204" pitchFamily="34" charset="0"/>
              <a:buChar char="•"/>
            </a:pPr>
            <a:r>
              <a:rPr lang="en-US" sz="850">
                <a:latin typeface="Aptos" panose="020B0004020202020204" pitchFamily="34" charset="0"/>
              </a:rPr>
              <a:t>AWS (Claude) remains the fastest phase-1 path, while open-source options still matter for longer-term cost and flexibility.</a:t>
            </a:r>
          </a:p>
          <a:p>
            <a:pPr marL="171450" indent="-171450">
              <a:buFont typeface="Arial" panose="020B0604020202020204" pitchFamily="34" charset="0"/>
              <a:buChar char="•"/>
            </a:pPr>
            <a:r>
              <a:rPr lang="en-US" sz="850">
                <a:latin typeface="Aptos" panose="020B0004020202020204" pitchFamily="34" charset="0"/>
                <a:ea typeface="+mn-lt"/>
                <a:cs typeface="+mn-lt"/>
              </a:rPr>
              <a:t>Architecture Solution should be highly flexible to accommodate everchanging agentic solution.</a:t>
            </a:r>
          </a:p>
          <a:p>
            <a:pPr marL="171450" indent="-171450">
              <a:buFont typeface="Arial" panose="020B0604020202020204" pitchFamily="34" charset="0"/>
              <a:buChar char="•"/>
            </a:pPr>
            <a:r>
              <a:rPr lang="en-US" sz="850">
                <a:latin typeface="Aptos" panose="020B0004020202020204" pitchFamily="34" charset="0"/>
                <a:ea typeface="+mn-lt"/>
                <a:cs typeface="+mn-lt"/>
              </a:rPr>
              <a:t>Maturing understanding of metrics and KPIs for build and operations.</a:t>
            </a:r>
          </a:p>
          <a:p>
            <a:pPr marL="171450" indent="-171450">
              <a:buFont typeface="Arial" panose="020B0604020202020204" pitchFamily="34" charset="0"/>
              <a:buChar char="•"/>
            </a:pPr>
            <a:r>
              <a:rPr lang="en-US" sz="850">
                <a:latin typeface="Aptos" panose="020B0004020202020204" pitchFamily="34" charset="0"/>
                <a:ea typeface="+mn-lt"/>
                <a:cs typeface="+mn-lt"/>
              </a:rPr>
              <a:t>Success now depends less on extraction execution and more on aligning business scoring rules and field definitions to ensure meaningful benchmark outcomes.</a:t>
            </a:r>
          </a:p>
          <a:p>
            <a:pPr marL="171450" indent="-171450">
              <a:buFont typeface="Arial" panose="020B0604020202020204" pitchFamily="34" charset="0"/>
              <a:buChar char="•"/>
            </a:pPr>
            <a:r>
              <a:rPr lang="en-US" sz="850">
                <a:latin typeface="Aptos" panose="020B0004020202020204" pitchFamily="34" charset="0"/>
                <a:ea typeface="+mn-lt"/>
                <a:cs typeface="+mn-lt"/>
              </a:rPr>
              <a:t>Infrastructure challenges – Frequent progress depends on access and remediation owned by other teams impacting throughput.</a:t>
            </a:r>
          </a:p>
          <a:p>
            <a:pPr marL="171450" marR="0" lvl="0" indent="-171450" fontAlgn="base">
              <a:buFont typeface="Arial" panose="020B0604020202020204" pitchFamily="34" charset="0"/>
              <a:buChar char="•"/>
            </a:pPr>
            <a:r>
              <a:rPr lang="en-US" sz="850">
                <a:latin typeface="Aptos" panose="020B0004020202020204" pitchFamily="34" charset="0"/>
                <a:ea typeface="+mn-lt"/>
                <a:cs typeface="+mn-lt"/>
              </a:rPr>
              <a:t>Tailwind intentionally preserves page-level and low-confidence extracts; downstream agents reconcile duplicate or conflicting records later in the workflow.​</a:t>
            </a:r>
          </a:p>
          <a:p>
            <a:pPr marL="171450" marR="0" lvl="0" indent="-171450" fontAlgn="base">
              <a:buFont typeface="Arial" panose="020B0604020202020204" pitchFamily="34" charset="0"/>
              <a:buChar char="•"/>
            </a:pPr>
            <a:r>
              <a:rPr lang="en-US" sz="850">
                <a:latin typeface="Aptos" panose="020B0004020202020204" pitchFamily="34" charset="0"/>
                <a:ea typeface="+mn-lt"/>
                <a:cs typeface="+mn-lt"/>
              </a:rPr>
              <a:t>Apples-to-apples comparison requires explicit normalization across pages, line items, entities, fees, duplicates, and confidence levels, with conservative invoice-to-claim matching for ambiguous cases.​</a:t>
            </a:r>
          </a:p>
        </p:txBody>
      </p:sp>
      <p:sp>
        <p:nvSpPr>
          <p:cNvPr id="6" name="Flowchart: Connector 5">
            <a:extLst>
              <a:ext uri="{FF2B5EF4-FFF2-40B4-BE49-F238E27FC236}">
                <a16:creationId xmlns:a16="http://schemas.microsoft.com/office/drawing/2014/main" id="{D19F35D6-97DA-25F7-CDA3-14FD2F9A6F7B}"/>
              </a:ext>
            </a:extLst>
          </p:cNvPr>
          <p:cNvSpPr/>
          <p:nvPr/>
        </p:nvSpPr>
        <p:spPr>
          <a:xfrm>
            <a:off x="8874446" y="6117032"/>
            <a:ext cx="161885" cy="164592"/>
          </a:xfrm>
          <a:prstGeom prst="flowChartConnector">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8" name="TextBox 7">
            <a:extLst>
              <a:ext uri="{FF2B5EF4-FFF2-40B4-BE49-F238E27FC236}">
                <a16:creationId xmlns:a16="http://schemas.microsoft.com/office/drawing/2014/main" id="{F5481087-C2CE-E240-1629-4E5CE0C6510D}"/>
              </a:ext>
            </a:extLst>
          </p:cNvPr>
          <p:cNvSpPr txBox="1"/>
          <p:nvPr/>
        </p:nvSpPr>
        <p:spPr>
          <a:xfrm>
            <a:off x="9850854" y="62336"/>
            <a:ext cx="2275101" cy="517320"/>
          </a:xfrm>
          <a:prstGeom prst="rect">
            <a:avLst/>
          </a:prstGeom>
          <a:noFill/>
        </p:spPr>
        <p:txBody>
          <a:bodyPr wrap="none" lIns="0" tIns="0" rIns="0" bIns="0" rtlCol="0" anchor="t">
            <a:noAutofit/>
          </a:bodyPr>
          <a:lstStyle>
            <a:defPPr>
              <a:defRPr lang="en-US"/>
            </a:defPPr>
            <a:lvl1pPr>
              <a:lnSpc>
                <a:spcPct val="112000"/>
              </a:lnSpc>
              <a:defRPr sz="1200">
                <a:solidFill>
                  <a:prstClr val="black"/>
                </a:solidFill>
                <a:latin typeface="Aptos" panose="02110004020202020204"/>
              </a:defRPr>
            </a:lvl1pPr>
          </a:lstStyle>
          <a:p>
            <a:r>
              <a:rPr lang="en-US"/>
              <a:t>Project Manager : Shilpa K</a:t>
            </a:r>
          </a:p>
          <a:p>
            <a:r>
              <a:rPr lang="en-US" err="1"/>
              <a:t>OpEx</a:t>
            </a:r>
            <a:r>
              <a:rPr lang="en-US"/>
              <a:t> Business Lead:  Dan Clausing</a:t>
            </a:r>
          </a:p>
          <a:p>
            <a:r>
              <a:rPr lang="en-US"/>
              <a:t> </a:t>
            </a:r>
          </a:p>
        </p:txBody>
      </p:sp>
    </p:spTree>
    <p:extLst>
      <p:ext uri="{BB962C8B-B14F-4D97-AF65-F5344CB8AC3E}">
        <p14:creationId xmlns:p14="http://schemas.microsoft.com/office/powerpoint/2010/main" val="10620815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1364EB-72A6-1CE5-A821-28BA3567B8EF}"/>
              </a:ext>
            </a:extLst>
          </p:cNvPr>
          <p:cNvSpPr>
            <a:spLocks noGrp="1"/>
          </p:cNvSpPr>
          <p:nvPr>
            <p:ph type="title"/>
          </p:nvPr>
        </p:nvSpPr>
        <p:spPr/>
        <p:txBody>
          <a:bodyPr/>
          <a:lstStyle/>
          <a:p>
            <a:r>
              <a:rPr lang="en-US"/>
              <a:t>Green Projects</a:t>
            </a:r>
          </a:p>
        </p:txBody>
      </p:sp>
    </p:spTree>
    <p:extLst>
      <p:ext uri="{BB962C8B-B14F-4D97-AF65-F5344CB8AC3E}">
        <p14:creationId xmlns:p14="http://schemas.microsoft.com/office/powerpoint/2010/main" val="19650646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DCD610-4879-B3F0-C877-C25B99B9E718}"/>
            </a:ext>
          </a:extLst>
        </p:cNvPr>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586A8B60-543B-F3A8-8F2E-DF3E230C7D31}"/>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8" imgH="408" progId="TCLayout.ActiveDocument.1">
                  <p:embed/>
                </p:oleObj>
              </mc:Choice>
              <mc:Fallback>
                <p:oleObj name="think-cell Slide" r:id="rId4" imgW="408" imgH="408" progId="TCLayout.ActiveDocument.1">
                  <p:embed/>
                  <p:pic>
                    <p:nvPicPr>
                      <p:cNvPr id="9" name="think-cell data - do not delete" hidden="1">
                        <a:extLst>
                          <a:ext uri="{FF2B5EF4-FFF2-40B4-BE49-F238E27FC236}">
                            <a16:creationId xmlns:a16="http://schemas.microsoft.com/office/drawing/2014/main" id="{586A8B60-543B-F3A8-8F2E-DF3E230C7D31}"/>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graphicFrame>
        <p:nvGraphicFramePr>
          <p:cNvPr id="32" name="Group 614">
            <a:extLst>
              <a:ext uri="{FF2B5EF4-FFF2-40B4-BE49-F238E27FC236}">
                <a16:creationId xmlns:a16="http://schemas.microsoft.com/office/drawing/2014/main" id="{EB976461-3F7B-A6CC-DFB3-748DCE1EE8B1}"/>
              </a:ext>
            </a:extLst>
          </p:cNvPr>
          <p:cNvGraphicFramePr>
            <a:graphicFrameLocks noGrp="1"/>
          </p:cNvGraphicFramePr>
          <p:nvPr/>
        </p:nvGraphicFramePr>
        <p:xfrm>
          <a:off x="5769030" y="6413123"/>
          <a:ext cx="6385451" cy="386554"/>
        </p:xfrm>
        <a:graphic>
          <a:graphicData uri="http://schemas.openxmlformats.org/drawingml/2006/table">
            <a:tbl>
              <a:tblPr/>
              <a:tblGrid>
                <a:gridCol w="542578">
                  <a:extLst>
                    <a:ext uri="{9D8B030D-6E8A-4147-A177-3AD203B41FA5}">
                      <a16:colId xmlns:a16="http://schemas.microsoft.com/office/drawing/2014/main" val="20000"/>
                    </a:ext>
                  </a:extLst>
                </a:gridCol>
                <a:gridCol w="275000">
                  <a:extLst>
                    <a:ext uri="{9D8B030D-6E8A-4147-A177-3AD203B41FA5}">
                      <a16:colId xmlns:a16="http://schemas.microsoft.com/office/drawing/2014/main" val="20001"/>
                    </a:ext>
                  </a:extLst>
                </a:gridCol>
                <a:gridCol w="677821">
                  <a:extLst>
                    <a:ext uri="{9D8B030D-6E8A-4147-A177-3AD203B41FA5}">
                      <a16:colId xmlns:a16="http://schemas.microsoft.com/office/drawing/2014/main" val="20002"/>
                    </a:ext>
                  </a:extLst>
                </a:gridCol>
                <a:gridCol w="270931">
                  <a:extLst>
                    <a:ext uri="{9D8B030D-6E8A-4147-A177-3AD203B41FA5}">
                      <a16:colId xmlns:a16="http://schemas.microsoft.com/office/drawing/2014/main" val="20003"/>
                    </a:ext>
                  </a:extLst>
                </a:gridCol>
                <a:gridCol w="618040">
                  <a:extLst>
                    <a:ext uri="{9D8B030D-6E8A-4147-A177-3AD203B41FA5}">
                      <a16:colId xmlns:a16="http://schemas.microsoft.com/office/drawing/2014/main" val="20004"/>
                    </a:ext>
                  </a:extLst>
                </a:gridCol>
                <a:gridCol w="495300">
                  <a:extLst>
                    <a:ext uri="{9D8B030D-6E8A-4147-A177-3AD203B41FA5}">
                      <a16:colId xmlns:a16="http://schemas.microsoft.com/office/drawing/2014/main" val="20005"/>
                    </a:ext>
                  </a:extLst>
                </a:gridCol>
                <a:gridCol w="454027">
                  <a:extLst>
                    <a:ext uri="{9D8B030D-6E8A-4147-A177-3AD203B41FA5}">
                      <a16:colId xmlns:a16="http://schemas.microsoft.com/office/drawing/2014/main" val="20006"/>
                    </a:ext>
                  </a:extLst>
                </a:gridCol>
                <a:gridCol w="330133">
                  <a:extLst>
                    <a:ext uri="{9D8B030D-6E8A-4147-A177-3AD203B41FA5}">
                      <a16:colId xmlns:a16="http://schemas.microsoft.com/office/drawing/2014/main" val="20007"/>
                    </a:ext>
                  </a:extLst>
                </a:gridCol>
                <a:gridCol w="1227555">
                  <a:extLst>
                    <a:ext uri="{9D8B030D-6E8A-4147-A177-3AD203B41FA5}">
                      <a16:colId xmlns:a16="http://schemas.microsoft.com/office/drawing/2014/main" val="20008"/>
                    </a:ext>
                  </a:extLst>
                </a:gridCol>
                <a:gridCol w="338392">
                  <a:extLst>
                    <a:ext uri="{9D8B030D-6E8A-4147-A177-3AD203B41FA5}">
                      <a16:colId xmlns:a16="http://schemas.microsoft.com/office/drawing/2014/main" val="20009"/>
                    </a:ext>
                  </a:extLst>
                </a:gridCol>
                <a:gridCol w="1155674">
                  <a:extLst>
                    <a:ext uri="{9D8B030D-6E8A-4147-A177-3AD203B41FA5}">
                      <a16:colId xmlns:a16="http://schemas.microsoft.com/office/drawing/2014/main" val="20010"/>
                    </a:ext>
                  </a:extLst>
                </a:gridCol>
              </a:tblGrid>
              <a:tr h="386554">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Arial" charset="0"/>
                          <a:cs typeface="Arial" charset="0"/>
                        </a:rPr>
                        <a:t>Status Key</a:t>
                      </a:r>
                      <a:endParaRPr kumimoji="0" lang="en-GB" sz="1600" b="0" i="0" u="none" strike="noStrike" cap="none" normalizeH="0" baseline="0">
                        <a:ln>
                          <a:noFill/>
                        </a:ln>
                        <a:solidFill>
                          <a:srgbClr val="002060"/>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mj-lt"/>
                        </a:rPr>
                        <a:t>C</a:t>
                      </a: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Arial" charset="0"/>
                          <a:cs typeface="Arial" charset="0"/>
                        </a:rPr>
                        <a:t>Completed</a:t>
                      </a:r>
                      <a:endParaRPr kumimoji="0" lang="en-GB" sz="1600" b="0" i="0" u="none" strike="noStrike" cap="none" normalizeH="0" baseline="0">
                        <a:ln>
                          <a:noFill/>
                        </a:ln>
                        <a:solidFill>
                          <a:srgbClr val="002060"/>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On-Schedule</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Major Issues</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Some Issues</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NS</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Not Started</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2" name="Title 1">
            <a:extLst>
              <a:ext uri="{FF2B5EF4-FFF2-40B4-BE49-F238E27FC236}">
                <a16:creationId xmlns:a16="http://schemas.microsoft.com/office/drawing/2014/main" id="{CCA2534B-42DB-308F-67A5-259B7D481165}"/>
              </a:ext>
            </a:extLst>
          </p:cNvPr>
          <p:cNvSpPr>
            <a:spLocks noGrp="1"/>
          </p:cNvSpPr>
          <p:nvPr>
            <p:ph type="title"/>
          </p:nvPr>
        </p:nvSpPr>
        <p:spPr>
          <a:xfrm>
            <a:off x="269945" y="58323"/>
            <a:ext cx="11652110" cy="517320"/>
          </a:xfrm>
        </p:spPr>
        <p:txBody>
          <a:bodyPr vert="horz">
            <a:normAutofit/>
          </a:bodyPr>
          <a:lstStyle/>
          <a:p>
            <a:r>
              <a:rPr lang="en-US" sz="2400" b="1">
                <a:solidFill>
                  <a:srgbClr val="29389F"/>
                </a:solidFill>
                <a:latin typeface="Arial" panose="020B0604020202020204" pitchFamily="34" charset="0"/>
                <a:cs typeface="Arial" panose="020B0604020202020204" pitchFamily="34" charset="0"/>
              </a:rPr>
              <a:t>PPT: Pet REN2GIN Policy Migration</a:t>
            </a:r>
          </a:p>
        </p:txBody>
      </p:sp>
      <p:graphicFrame>
        <p:nvGraphicFramePr>
          <p:cNvPr id="11" name="Group 513">
            <a:extLst>
              <a:ext uri="{FF2B5EF4-FFF2-40B4-BE49-F238E27FC236}">
                <a16:creationId xmlns:a16="http://schemas.microsoft.com/office/drawing/2014/main" id="{2B686D89-6C93-C803-3900-DD08FBD7BB43}"/>
              </a:ext>
            </a:extLst>
          </p:cNvPr>
          <p:cNvGraphicFramePr>
            <a:graphicFrameLocks noGrp="1"/>
          </p:cNvGraphicFramePr>
          <p:nvPr>
            <p:extLst>
              <p:ext uri="{D42A27DB-BD31-4B8C-83A1-F6EECF244321}">
                <p14:modId xmlns:p14="http://schemas.microsoft.com/office/powerpoint/2010/main" val="888592227"/>
              </p:ext>
            </p:extLst>
          </p:nvPr>
        </p:nvGraphicFramePr>
        <p:xfrm>
          <a:off x="269945" y="855236"/>
          <a:ext cx="2742128" cy="350605"/>
        </p:xfrm>
        <a:graphic>
          <a:graphicData uri="http://schemas.openxmlformats.org/drawingml/2006/table">
            <a:tbl>
              <a:tblPr/>
              <a:tblGrid>
                <a:gridCol w="1019602">
                  <a:extLst>
                    <a:ext uri="{9D8B030D-6E8A-4147-A177-3AD203B41FA5}">
                      <a16:colId xmlns:a16="http://schemas.microsoft.com/office/drawing/2014/main" val="20000"/>
                    </a:ext>
                  </a:extLst>
                </a:gridCol>
                <a:gridCol w="1722526">
                  <a:extLst>
                    <a:ext uri="{9D8B030D-6E8A-4147-A177-3AD203B41FA5}">
                      <a16:colId xmlns:a16="http://schemas.microsoft.com/office/drawing/2014/main" val="20001"/>
                    </a:ext>
                  </a:extLst>
                </a:gridCol>
              </a:tblGrid>
              <a:tr h="350605">
                <a:tc>
                  <a:txBody>
                    <a:bodyPr/>
                    <a:lstStyle/>
                    <a:p>
                      <a:pPr marL="0" marR="0" lvl="0" indent="0" algn="l" defTabSz="914400" rtl="0" eaLnBrk="0" fontAlgn="base" latinLnBrk="0" hangingPunct="0">
                        <a:lnSpc>
                          <a:spcPct val="95000"/>
                        </a:lnSpc>
                        <a:spcBef>
                          <a:spcPct val="0"/>
                        </a:spcBef>
                        <a:spcAft>
                          <a:spcPct val="50000"/>
                        </a:spcAft>
                        <a:buClrTx/>
                        <a:buSzTx/>
                        <a:buFontTx/>
                        <a:buNone/>
                        <a:tabLst/>
                      </a:pPr>
                      <a:r>
                        <a:rPr kumimoji="0" lang="en-GB" sz="1050" b="1" i="0" u="none" strike="noStrike" kern="1200" cap="none" normalizeH="0" baseline="0">
                          <a:ln>
                            <a:noFill/>
                          </a:ln>
                          <a:solidFill>
                            <a:schemeClr val="bg1"/>
                          </a:solidFill>
                          <a:effectLst/>
                          <a:latin typeface="Arial"/>
                          <a:ea typeface="+mn-ea"/>
                          <a:cs typeface="+mn-cs"/>
                        </a:rPr>
                        <a:t>Status Date:</a:t>
                      </a:r>
                    </a:p>
                  </a:txBody>
                  <a:tcPr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GB" sz="850" b="1" i="0" u="none" strike="noStrike" kern="1200" cap="none" normalizeH="0" baseline="0">
                          <a:ln>
                            <a:noFill/>
                          </a:ln>
                          <a:solidFill>
                            <a:schemeClr val="tx1"/>
                          </a:solidFill>
                          <a:effectLst/>
                          <a:latin typeface="Aptos" panose="020B0004020202020204" pitchFamily="34" charset="0"/>
                          <a:ea typeface="+mn-ea"/>
                          <a:cs typeface="+mn-cs"/>
                        </a:rPr>
                        <a:t>8/28/2026</a:t>
                      </a:r>
                    </a:p>
                  </a:txBody>
                  <a:tcPr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14" name="Table 13">
            <a:extLst>
              <a:ext uri="{FF2B5EF4-FFF2-40B4-BE49-F238E27FC236}">
                <a16:creationId xmlns:a16="http://schemas.microsoft.com/office/drawing/2014/main" id="{E1A12F7C-7410-0E83-63DD-08372EC5BD28}"/>
              </a:ext>
            </a:extLst>
          </p:cNvPr>
          <p:cNvGraphicFramePr>
            <a:graphicFrameLocks noGrp="1"/>
          </p:cNvGraphicFramePr>
          <p:nvPr>
            <p:extLst>
              <p:ext uri="{D42A27DB-BD31-4B8C-83A1-F6EECF244321}">
                <p14:modId xmlns:p14="http://schemas.microsoft.com/office/powerpoint/2010/main" val="2951277091"/>
              </p:ext>
            </p:extLst>
          </p:nvPr>
        </p:nvGraphicFramePr>
        <p:xfrm>
          <a:off x="6767548" y="855236"/>
          <a:ext cx="5272952" cy="744124"/>
        </p:xfrm>
        <a:graphic>
          <a:graphicData uri="http://schemas.openxmlformats.org/drawingml/2006/table">
            <a:tbl>
              <a:tblPr>
                <a:tableStyleId>{5C22544A-7EE6-4342-B048-85BDC9FD1C3A}</a:tableStyleId>
              </a:tblPr>
              <a:tblGrid>
                <a:gridCol w="1029828">
                  <a:extLst>
                    <a:ext uri="{9D8B030D-6E8A-4147-A177-3AD203B41FA5}">
                      <a16:colId xmlns:a16="http://schemas.microsoft.com/office/drawing/2014/main" val="2456552316"/>
                    </a:ext>
                  </a:extLst>
                </a:gridCol>
                <a:gridCol w="912765">
                  <a:extLst>
                    <a:ext uri="{9D8B030D-6E8A-4147-A177-3AD203B41FA5}">
                      <a16:colId xmlns:a16="http://schemas.microsoft.com/office/drawing/2014/main" val="2327174630"/>
                    </a:ext>
                  </a:extLst>
                </a:gridCol>
                <a:gridCol w="1492494">
                  <a:extLst>
                    <a:ext uri="{9D8B030D-6E8A-4147-A177-3AD203B41FA5}">
                      <a16:colId xmlns:a16="http://schemas.microsoft.com/office/drawing/2014/main" val="1100051595"/>
                    </a:ext>
                  </a:extLst>
                </a:gridCol>
                <a:gridCol w="900431">
                  <a:extLst>
                    <a:ext uri="{9D8B030D-6E8A-4147-A177-3AD203B41FA5}">
                      <a16:colId xmlns:a16="http://schemas.microsoft.com/office/drawing/2014/main" val="2042261034"/>
                    </a:ext>
                  </a:extLst>
                </a:gridCol>
                <a:gridCol w="937434">
                  <a:extLst>
                    <a:ext uri="{9D8B030D-6E8A-4147-A177-3AD203B41FA5}">
                      <a16:colId xmlns:a16="http://schemas.microsoft.com/office/drawing/2014/main" val="2815874248"/>
                    </a:ext>
                  </a:extLst>
                </a:gridCol>
              </a:tblGrid>
              <a:tr h="309028">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2026 Budget</a:t>
                      </a:r>
                      <a:r>
                        <a:rPr lang="en-US" sz="1050" b="1" i="0" u="none" strike="noStrike" kern="1200" cap="none" normalizeH="0" baseline="0">
                          <a:ln>
                            <a:noFill/>
                          </a:ln>
                          <a:solidFill>
                            <a:schemeClr val="bg1"/>
                          </a:solidFill>
                          <a:effectLst/>
                          <a:latin typeface="Arial"/>
                          <a:ea typeface="+mn-ea"/>
                          <a:cs typeface="+mn-cs"/>
                        </a:rPr>
                        <a:t> </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YTD </a:t>
                      </a:r>
                      <a:r>
                        <a:rPr kumimoji="0" lang="en-US" sz="1050" b="1" i="0" u="none" strike="noStrike" kern="1200" cap="none" normalizeH="0" baseline="0">
                          <a:ln>
                            <a:noFill/>
                          </a:ln>
                          <a:solidFill>
                            <a:schemeClr val="bg1"/>
                          </a:solidFill>
                          <a:effectLst/>
                          <a:latin typeface="Arial"/>
                          <a:ea typeface="+mn-ea"/>
                          <a:cs typeface="+mn-cs"/>
                        </a:rPr>
                        <a:t>Actuals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Remaining 2026 Forecast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Total </a:t>
                      </a:r>
                    </a:p>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Actuals +Fcst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Total </a:t>
                      </a:r>
                    </a:p>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Budget</a:t>
                      </a:r>
                      <a:r>
                        <a:rPr lang="en-US" sz="1050" b="1" i="0" u="none" strike="noStrike" kern="1200" cap="none" normalizeH="0" baseline="0">
                          <a:ln>
                            <a:noFill/>
                          </a:ln>
                          <a:solidFill>
                            <a:schemeClr val="bg1"/>
                          </a:solidFill>
                          <a:effectLst/>
                          <a:latin typeface="Arial"/>
                          <a:ea typeface="+mn-ea"/>
                          <a:cs typeface="+mn-cs"/>
                        </a:rPr>
                        <a:t> </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350551">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$800,000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$436,842</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defRPr/>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$407,037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$843,880</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defRPr/>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$800,000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7499024"/>
                  </a:ext>
                </a:extLst>
              </a:tr>
            </a:tbl>
          </a:graphicData>
        </a:graphic>
      </p:graphicFrame>
      <p:graphicFrame>
        <p:nvGraphicFramePr>
          <p:cNvPr id="25" name="Table 24">
            <a:extLst>
              <a:ext uri="{FF2B5EF4-FFF2-40B4-BE49-F238E27FC236}">
                <a16:creationId xmlns:a16="http://schemas.microsoft.com/office/drawing/2014/main" id="{FF2BC6A0-20BB-4B9F-83E1-192BE81EFB50}"/>
              </a:ext>
            </a:extLst>
          </p:cNvPr>
          <p:cNvGraphicFramePr>
            <a:graphicFrameLocks noGrp="1"/>
          </p:cNvGraphicFramePr>
          <p:nvPr/>
        </p:nvGraphicFramePr>
        <p:xfrm>
          <a:off x="2922347" y="847279"/>
          <a:ext cx="3829275" cy="749848"/>
        </p:xfrm>
        <a:graphic>
          <a:graphicData uri="http://schemas.openxmlformats.org/drawingml/2006/table">
            <a:tbl>
              <a:tblPr>
                <a:tableStyleId>{5C22544A-7EE6-4342-B048-85BDC9FD1C3A}</a:tableStyleId>
              </a:tblPr>
              <a:tblGrid>
                <a:gridCol w="1042158">
                  <a:extLst>
                    <a:ext uri="{9D8B030D-6E8A-4147-A177-3AD203B41FA5}">
                      <a16:colId xmlns:a16="http://schemas.microsoft.com/office/drawing/2014/main" val="2456552316"/>
                    </a:ext>
                  </a:extLst>
                </a:gridCol>
                <a:gridCol w="961214">
                  <a:extLst>
                    <a:ext uri="{9D8B030D-6E8A-4147-A177-3AD203B41FA5}">
                      <a16:colId xmlns:a16="http://schemas.microsoft.com/office/drawing/2014/main" val="1100051595"/>
                    </a:ext>
                  </a:extLst>
                </a:gridCol>
                <a:gridCol w="920742">
                  <a:extLst>
                    <a:ext uri="{9D8B030D-6E8A-4147-A177-3AD203B41FA5}">
                      <a16:colId xmlns:a16="http://schemas.microsoft.com/office/drawing/2014/main" val="2042261034"/>
                    </a:ext>
                  </a:extLst>
                </a:gridCol>
                <a:gridCol w="905161">
                  <a:extLst>
                    <a:ext uri="{9D8B030D-6E8A-4147-A177-3AD203B41FA5}">
                      <a16:colId xmlns:a16="http://schemas.microsoft.com/office/drawing/2014/main" val="2815874248"/>
                    </a:ext>
                  </a:extLst>
                </a:gridCol>
              </a:tblGrid>
              <a:tr h="409508">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Overall</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Scope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Schedule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Financials</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340340">
                <a:tc>
                  <a:txBody>
                    <a:bodyPr/>
                    <a:lstStyle/>
                    <a:p>
                      <a:pPr marL="0" marR="0" lvl="0" indent="0" algn="ctr" rtl="0" eaLnBrk="1" fontAlgn="ctr" latinLnBrk="0" hangingPunct="1">
                        <a:lnSpc>
                          <a:spcPct val="95000"/>
                        </a:lnSpc>
                        <a:spcBef>
                          <a:spcPct val="0"/>
                        </a:spcBef>
                        <a:spcAft>
                          <a:spcPct val="50000"/>
                        </a:spcAft>
                        <a:buClrTx/>
                        <a:buSzTx/>
                        <a:buFontTx/>
                        <a:buNone/>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rtl="0" eaLnBrk="1" fontAlgn="ctr" latinLnBrk="0" hangingPunct="1">
                        <a:lnSpc>
                          <a:spcPct val="95000"/>
                        </a:lnSpc>
                        <a:spcBef>
                          <a:spcPct val="0"/>
                        </a:spcBef>
                        <a:spcAft>
                          <a:spcPct val="50000"/>
                        </a:spcAft>
                        <a:buClrTx/>
                        <a:buSzTx/>
                        <a:buFontTx/>
                        <a:buNone/>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7499024"/>
                  </a:ext>
                </a:extLst>
              </a:tr>
            </a:tbl>
          </a:graphicData>
        </a:graphic>
      </p:graphicFrame>
      <p:graphicFrame>
        <p:nvGraphicFramePr>
          <p:cNvPr id="26" name="Group 513">
            <a:extLst>
              <a:ext uri="{FF2B5EF4-FFF2-40B4-BE49-F238E27FC236}">
                <a16:creationId xmlns:a16="http://schemas.microsoft.com/office/drawing/2014/main" id="{611930DE-3B05-D706-B09B-54795AB3776A}"/>
              </a:ext>
            </a:extLst>
          </p:cNvPr>
          <p:cNvGraphicFramePr>
            <a:graphicFrameLocks noGrp="1"/>
          </p:cNvGraphicFramePr>
          <p:nvPr>
            <p:extLst>
              <p:ext uri="{D42A27DB-BD31-4B8C-83A1-F6EECF244321}">
                <p14:modId xmlns:p14="http://schemas.microsoft.com/office/powerpoint/2010/main" val="2148697846"/>
              </p:ext>
            </p:extLst>
          </p:nvPr>
        </p:nvGraphicFramePr>
        <p:xfrm>
          <a:off x="269945" y="1202460"/>
          <a:ext cx="2642192" cy="401742"/>
        </p:xfrm>
        <a:graphic>
          <a:graphicData uri="http://schemas.openxmlformats.org/drawingml/2006/table">
            <a:tbl>
              <a:tblPr/>
              <a:tblGrid>
                <a:gridCol w="1022049">
                  <a:extLst>
                    <a:ext uri="{9D8B030D-6E8A-4147-A177-3AD203B41FA5}">
                      <a16:colId xmlns:a16="http://schemas.microsoft.com/office/drawing/2014/main" val="20000"/>
                    </a:ext>
                  </a:extLst>
                </a:gridCol>
                <a:gridCol w="1620143">
                  <a:extLst>
                    <a:ext uri="{9D8B030D-6E8A-4147-A177-3AD203B41FA5}">
                      <a16:colId xmlns:a16="http://schemas.microsoft.com/office/drawing/2014/main" val="20001"/>
                    </a:ext>
                  </a:extLst>
                </a:gridCol>
              </a:tblGrid>
              <a:tr h="401742">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GB" sz="1050" b="1" i="0" u="none" strike="noStrike" kern="1200" cap="none" normalizeH="0" baseline="0">
                          <a:ln>
                            <a:noFill/>
                          </a:ln>
                          <a:solidFill>
                            <a:schemeClr val="bg1"/>
                          </a:solidFill>
                          <a:effectLst/>
                          <a:latin typeface="Arial"/>
                          <a:ea typeface="+mn-ea"/>
                          <a:cs typeface="+mn-cs"/>
                        </a:rPr>
                        <a:t>Target Delivery:</a:t>
                      </a:r>
                    </a:p>
                  </a:txBody>
                  <a:tcPr marL="0" marR="0"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Manual Migration – TBD</a:t>
                      </a:r>
                    </a:p>
                  </a:txBody>
                  <a:tcPr marL="0" marR="0"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27" name="Table 26">
            <a:extLst>
              <a:ext uri="{FF2B5EF4-FFF2-40B4-BE49-F238E27FC236}">
                <a16:creationId xmlns:a16="http://schemas.microsoft.com/office/drawing/2014/main" id="{50D303B1-4685-BE6D-5075-97DA9E0010EB}"/>
              </a:ext>
            </a:extLst>
          </p:cNvPr>
          <p:cNvGraphicFramePr>
            <a:graphicFrameLocks noGrp="1"/>
          </p:cNvGraphicFramePr>
          <p:nvPr>
            <p:extLst>
              <p:ext uri="{D42A27DB-BD31-4B8C-83A1-F6EECF244321}">
                <p14:modId xmlns:p14="http://schemas.microsoft.com/office/powerpoint/2010/main" val="1185222935"/>
              </p:ext>
            </p:extLst>
          </p:nvPr>
        </p:nvGraphicFramePr>
        <p:xfrm>
          <a:off x="5670417" y="1766232"/>
          <a:ext cx="6385452" cy="3027437"/>
        </p:xfrm>
        <a:graphic>
          <a:graphicData uri="http://schemas.openxmlformats.org/drawingml/2006/table">
            <a:tbl>
              <a:tblPr>
                <a:tableStyleId>{5C22544A-7EE6-4342-B048-85BDC9FD1C3A}</a:tableStyleId>
              </a:tblPr>
              <a:tblGrid>
                <a:gridCol w="2564128">
                  <a:extLst>
                    <a:ext uri="{9D8B030D-6E8A-4147-A177-3AD203B41FA5}">
                      <a16:colId xmlns:a16="http://schemas.microsoft.com/office/drawing/2014/main" val="2456552316"/>
                    </a:ext>
                  </a:extLst>
                </a:gridCol>
                <a:gridCol w="539881">
                  <a:extLst>
                    <a:ext uri="{9D8B030D-6E8A-4147-A177-3AD203B41FA5}">
                      <a16:colId xmlns:a16="http://schemas.microsoft.com/office/drawing/2014/main" val="1100051595"/>
                    </a:ext>
                  </a:extLst>
                </a:gridCol>
                <a:gridCol w="531180">
                  <a:extLst>
                    <a:ext uri="{9D8B030D-6E8A-4147-A177-3AD203B41FA5}">
                      <a16:colId xmlns:a16="http://schemas.microsoft.com/office/drawing/2014/main" val="2042261034"/>
                    </a:ext>
                  </a:extLst>
                </a:gridCol>
                <a:gridCol w="2750263">
                  <a:extLst>
                    <a:ext uri="{9D8B030D-6E8A-4147-A177-3AD203B41FA5}">
                      <a16:colId xmlns:a16="http://schemas.microsoft.com/office/drawing/2014/main" val="2815874248"/>
                    </a:ext>
                  </a:extLst>
                </a:gridCol>
              </a:tblGrid>
              <a:tr h="410601">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Milestone</a:t>
                      </a:r>
                    </a:p>
                    <a:p>
                      <a:pPr marL="0" marR="0" lvl="0" indent="0" algn="ctr" rtl="0" eaLnBrk="0" fontAlgn="base" latinLnBrk="0" hangingPunct="0">
                        <a:lnSpc>
                          <a:spcPct val="95000"/>
                        </a:lnSpc>
                        <a:spcBef>
                          <a:spcPct val="0"/>
                        </a:spcBef>
                        <a:spcAft>
                          <a:spcPct val="50000"/>
                        </a:spcAft>
                        <a:buClrTx/>
                        <a:buSzTx/>
                        <a:buFontTx/>
                        <a:buNone/>
                      </a:pPr>
                      <a:endParaRPr kumimoji="0" lang="en-US" sz="1050" b="1" i="0" u="none" strike="noStrike" kern="1200" cap="none" normalizeH="0" baseline="0">
                        <a:ln>
                          <a:noFill/>
                        </a:ln>
                        <a:solidFill>
                          <a:schemeClr val="bg1"/>
                        </a:solidFill>
                        <a:effectLst/>
                        <a:latin typeface="Arial"/>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Status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Due Date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Notes</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365685">
                <a:tc>
                  <a:txBody>
                    <a:bodyPr/>
                    <a:lstStyle/>
                    <a:p>
                      <a:pPr marL="0" marR="0" lvl="0" indent="0" algn="l" defTabSz="685858" rtl="0" eaLnBrk="1" fontAlgn="auto" latinLnBrk="0" hangingPunct="1">
                        <a:lnSpc>
                          <a:spcPct val="100000"/>
                        </a:lnSpc>
                        <a:spcBef>
                          <a:spcPts val="0"/>
                        </a:spcBef>
                        <a:spcAft>
                          <a:spcPts val="0"/>
                        </a:spcAft>
                        <a:buClrTx/>
                        <a:buSzTx/>
                        <a:buFontTx/>
                        <a:buNone/>
                        <a:tabLst/>
                        <a:defRPr/>
                      </a:pPr>
                      <a:r>
                        <a:rPr lang="en-US" sz="850" b="0" kern="1200">
                          <a:solidFill>
                            <a:schemeClr val="tx1"/>
                          </a:solidFill>
                          <a:latin typeface="+mn-lt"/>
                          <a:ea typeface="+mn-ea"/>
                          <a:cs typeface="+mn-cs"/>
                        </a:rPr>
                        <a:t>WP to MPI Migration Wave 14</a:t>
                      </a:r>
                    </a:p>
                    <a:p>
                      <a:pPr marL="0" marR="0" lvl="0" indent="0" algn="l" defTabSz="685858" rtl="0" eaLnBrk="1" fontAlgn="auto" latinLnBrk="0" hangingPunct="1">
                        <a:lnSpc>
                          <a:spcPct val="100000"/>
                        </a:lnSpc>
                        <a:spcBef>
                          <a:spcPts val="0"/>
                        </a:spcBef>
                        <a:spcAft>
                          <a:spcPts val="0"/>
                        </a:spcAft>
                        <a:buClrTx/>
                        <a:buSzTx/>
                        <a:buFontTx/>
                        <a:buNone/>
                        <a:tabLst/>
                        <a:defRPr/>
                      </a:pPr>
                      <a:r>
                        <a:rPr lang="en-US" sz="850" b="0" kern="1200">
                          <a:solidFill>
                            <a:schemeClr val="tx1"/>
                          </a:solidFill>
                          <a:latin typeface="+mn-lt"/>
                          <a:ea typeface="+mn-ea"/>
                          <a:cs typeface="+mn-cs"/>
                        </a:rPr>
                        <a:t>(PA)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850" b="0" kern="1200">
                          <a:solidFill>
                            <a:schemeClr val="tx1"/>
                          </a:solidFill>
                          <a:effectLst/>
                          <a:latin typeface="+mn-lt"/>
                          <a:ea typeface="+mn-ea"/>
                          <a:cs typeface="+mn-cs"/>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lvl="0" algn="ctr" defTabSz="914400">
                        <a:buNone/>
                        <a:tabLst/>
                        <a:defRPr/>
                      </a:pPr>
                      <a:r>
                        <a:rPr lang="en-US" sz="850" b="0" strike="noStrike" kern="1200">
                          <a:solidFill>
                            <a:schemeClr val="tx1"/>
                          </a:solidFill>
                          <a:effectLst/>
                          <a:latin typeface="+mn-lt"/>
                          <a:ea typeface="+mn-ea"/>
                          <a:cs typeface="+mn-cs"/>
                        </a:rPr>
                        <a:t>8/12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rtl="0" eaLnBrk="1" fontAlgn="ctr" latinLnBrk="0" hangingPunct="1">
                        <a:lnSpc>
                          <a:spcPct val="95000"/>
                        </a:lnSpc>
                        <a:spcBef>
                          <a:spcPct val="0"/>
                        </a:spcBef>
                        <a:spcAft>
                          <a:spcPct val="50000"/>
                        </a:spcAft>
                        <a:buClrTx/>
                        <a:buSzTx/>
                        <a:buFontTx/>
                        <a:buNone/>
                      </a:pPr>
                      <a:r>
                        <a:rPr lang="en-US" sz="850" b="0" kern="1200">
                          <a:solidFill>
                            <a:schemeClr val="tx1"/>
                          </a:solidFill>
                          <a:effectLst/>
                          <a:latin typeface="+mn-lt"/>
                          <a:ea typeface="+mn-ea"/>
                          <a:cs typeface="+mn-cs"/>
                        </a:rPr>
                        <a:t> 8/12 – Production Deployment Completed successfully.</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2612996819"/>
                  </a:ext>
                </a:extLst>
              </a:tr>
              <a:tr h="288524">
                <a:tc>
                  <a:txBody>
                    <a:bodyPr/>
                    <a:lstStyle/>
                    <a:p>
                      <a:pPr marL="0" marR="0" lvl="0" indent="0" algn="l" defTabSz="685858" rtl="0" eaLnBrk="1" fontAlgn="auto" latinLnBrk="0" hangingPunct="1">
                        <a:lnSpc>
                          <a:spcPct val="100000"/>
                        </a:lnSpc>
                        <a:spcBef>
                          <a:spcPts val="0"/>
                        </a:spcBef>
                        <a:spcAft>
                          <a:spcPts val="0"/>
                        </a:spcAft>
                        <a:buClrTx/>
                        <a:buSzTx/>
                        <a:buFontTx/>
                        <a:buNone/>
                        <a:tabLst/>
                        <a:defRPr/>
                      </a:pPr>
                      <a:r>
                        <a:rPr lang="en-US" sz="850" b="0" strike="noStrike" kern="1200">
                          <a:solidFill>
                            <a:schemeClr val="tx1"/>
                          </a:solidFill>
                          <a:latin typeface="+mn-lt"/>
                          <a:ea typeface="+mn-ea"/>
                          <a:cs typeface="+mn-cs"/>
                        </a:rPr>
                        <a:t>MPP to MPP Choice Wave 15 (MD) Migration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50" b="0" kern="1200">
                          <a:solidFill>
                            <a:schemeClr val="tx1"/>
                          </a:solidFill>
                          <a:effectLst/>
                          <a:latin typeface="+mn-lt"/>
                          <a:ea typeface="+mn-ea"/>
                          <a:cs typeface="+mn-cs"/>
                        </a:rPr>
                        <a:t>C</a:t>
                      </a:r>
                    </a:p>
                    <a:p>
                      <a:pPr algn="ctr"/>
                      <a:endParaRPr lang="en-US" sz="850" b="0"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lvl="0" algn="ctr" defTabSz="914400">
                        <a:buNone/>
                        <a:tabLst/>
                        <a:defRPr/>
                      </a:pPr>
                      <a:r>
                        <a:rPr lang="en-US" sz="850" b="0" kern="1200">
                          <a:solidFill>
                            <a:schemeClr val="tx1"/>
                          </a:solidFill>
                          <a:effectLst/>
                          <a:latin typeface="+mn-lt"/>
                          <a:ea typeface="+mn-ea"/>
                          <a:cs typeface="+mn-cs"/>
                        </a:rPr>
                        <a:t>8/12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rtl="0" eaLnBrk="1" fontAlgn="ctr" latinLnBrk="0" hangingPunct="1">
                        <a:lnSpc>
                          <a:spcPct val="95000"/>
                        </a:lnSpc>
                        <a:spcBef>
                          <a:spcPct val="0"/>
                        </a:spcBef>
                        <a:spcAft>
                          <a:spcPct val="50000"/>
                        </a:spcAft>
                        <a:buClrTx/>
                        <a:buSzTx/>
                        <a:buFontTx/>
                        <a:buNone/>
                      </a:pPr>
                      <a:r>
                        <a:rPr lang="en-US" sz="850" b="0" kern="1200">
                          <a:solidFill>
                            <a:schemeClr val="tx1"/>
                          </a:solidFill>
                          <a:effectLst/>
                          <a:latin typeface="+mn-lt"/>
                          <a:ea typeface="+mn-ea"/>
                          <a:cs typeface="+mn-cs"/>
                        </a:rPr>
                        <a:t>8/12 – Production Deployment Completed successfully.</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890476154"/>
                  </a:ext>
                </a:extLst>
              </a:tr>
              <a:tr h="36568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50" b="0" kern="1200">
                          <a:solidFill>
                            <a:schemeClr val="tx1"/>
                          </a:solidFill>
                          <a:latin typeface="+mn-lt"/>
                          <a:ea typeface="+mn-ea"/>
                          <a:cs typeface="+mn-cs"/>
                        </a:rPr>
                        <a:t>Manual Migration SOW  execution </a:t>
                      </a:r>
                    </a:p>
                    <a:p>
                      <a:pPr marL="0" marR="0" lvl="0" indent="0" algn="l" rtl="0" eaLnBrk="1" fontAlgn="auto" latinLnBrk="0" hangingPunct="1">
                        <a:lnSpc>
                          <a:spcPct val="100000"/>
                        </a:lnSpc>
                        <a:spcBef>
                          <a:spcPts val="0"/>
                        </a:spcBef>
                        <a:spcAft>
                          <a:spcPts val="0"/>
                        </a:spcAft>
                        <a:buClrTx/>
                        <a:buSzTx/>
                        <a:buFontTx/>
                        <a:buNone/>
                      </a:pPr>
                      <a:endParaRPr lang="en-US" sz="850" b="0" kern="120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50" b="0"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defTabSz="914400">
                        <a:buNone/>
                        <a:tabLst/>
                        <a:defRPr/>
                      </a:pPr>
                      <a:r>
                        <a:rPr lang="en-US" sz="850" b="0" strike="sngStrike" kern="1200">
                          <a:solidFill>
                            <a:schemeClr val="tx1"/>
                          </a:solidFill>
                          <a:effectLst/>
                          <a:latin typeface="+mn-lt"/>
                          <a:ea typeface="+mn-ea"/>
                          <a:cs typeface="+mn-cs"/>
                        </a:rPr>
                        <a:t>8/28</a:t>
                      </a:r>
                    </a:p>
                    <a:p>
                      <a:pPr lvl="0" algn="ctr" defTabSz="914400">
                        <a:buNone/>
                        <a:tabLst/>
                        <a:defRPr/>
                      </a:pPr>
                      <a:r>
                        <a:rPr lang="en-US" sz="850" b="0" strike="noStrike" kern="1200">
                          <a:solidFill>
                            <a:schemeClr val="tx1"/>
                          </a:solidFill>
                          <a:effectLst/>
                          <a:latin typeface="+mn-lt"/>
                          <a:ea typeface="+mn-ea"/>
                          <a:cs typeface="+mn-cs"/>
                        </a:rPr>
                        <a:t>9/4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eaLnBrk="1" fontAlgn="ctr" latinLnBrk="0" hangingPunct="1">
                        <a:lnSpc>
                          <a:spcPct val="95000"/>
                        </a:lnSpc>
                        <a:spcBef>
                          <a:spcPct val="0"/>
                        </a:spcBef>
                        <a:spcAft>
                          <a:spcPct val="50000"/>
                        </a:spcAft>
                        <a:buClrTx/>
                        <a:buSzTx/>
                        <a:buFontTx/>
                        <a:buNone/>
                      </a:pPr>
                      <a:r>
                        <a:rPr lang="en-US" sz="850" b="0" kern="1200">
                          <a:solidFill>
                            <a:schemeClr val="tx1"/>
                          </a:solidFill>
                          <a:effectLst/>
                          <a:latin typeface="+mn-lt"/>
                          <a:ea typeface="+mn-ea"/>
                          <a:cs typeface="+mn-cs"/>
                        </a:rPr>
                        <a:t>  SOW is finalized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8890037"/>
                  </a:ext>
                </a:extLst>
              </a:tr>
              <a:tr h="36568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50" b="0" kern="1200">
                          <a:solidFill>
                            <a:schemeClr val="tx1"/>
                          </a:solidFill>
                          <a:latin typeface="+mn-lt"/>
                          <a:ea typeface="+mn-ea"/>
                          <a:cs typeface="+mn-cs"/>
                        </a:rPr>
                        <a:t>Manual Migration DDIT completion</a:t>
                      </a:r>
                    </a:p>
                    <a:p>
                      <a:pPr marL="0" marR="0" lvl="0" indent="0" algn="l" rtl="0" eaLnBrk="1" fontAlgn="auto" latinLnBrk="0" hangingPunct="1">
                        <a:lnSpc>
                          <a:spcPct val="100000"/>
                        </a:lnSpc>
                        <a:spcBef>
                          <a:spcPts val="0"/>
                        </a:spcBef>
                        <a:spcAft>
                          <a:spcPts val="0"/>
                        </a:spcAft>
                        <a:buClrTx/>
                        <a:buSzTx/>
                        <a:buFontTx/>
                        <a:buNone/>
                      </a:pPr>
                      <a:endParaRPr lang="en-US" sz="850" b="0" kern="120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50" b="0" kern="1200">
                          <a:solidFill>
                            <a:schemeClr val="tx1"/>
                          </a:solidFill>
                          <a:effectLst/>
                          <a:latin typeface="+mn-lt"/>
                          <a:ea typeface="+mn-ea"/>
                          <a:cs typeface="+mn-cs"/>
                        </a:rPr>
                        <a:t>NS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defTabSz="914400">
                        <a:buNone/>
                        <a:tabLst/>
                        <a:defRPr/>
                      </a:pPr>
                      <a:r>
                        <a:rPr lang="en-US" sz="850" b="0" strike="noStrike" kern="1200">
                          <a:solidFill>
                            <a:schemeClr val="tx1"/>
                          </a:solidFill>
                          <a:effectLst/>
                          <a:latin typeface="+mn-lt"/>
                          <a:ea typeface="+mn-ea"/>
                          <a:cs typeface="+mn-cs"/>
                        </a:rPr>
                        <a:t>11/30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eaLnBrk="1" fontAlgn="ctr" latinLnBrk="0" hangingPunct="1">
                        <a:lnSpc>
                          <a:spcPct val="95000"/>
                        </a:lnSpc>
                        <a:spcBef>
                          <a:spcPct val="0"/>
                        </a:spcBef>
                        <a:spcAft>
                          <a:spcPct val="50000"/>
                        </a:spcAft>
                        <a:buClrTx/>
                        <a:buSzTx/>
                        <a:buFontTx/>
                        <a:buNone/>
                      </a:pPr>
                      <a:endParaRPr lang="en-US" sz="850" b="0"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93302069"/>
                  </a:ext>
                </a:extLst>
              </a:tr>
              <a:tr h="36568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50" b="0" kern="1200">
                          <a:solidFill>
                            <a:schemeClr val="tx1"/>
                          </a:solidFill>
                          <a:latin typeface="+mn-lt"/>
                          <a:ea typeface="+mn-ea"/>
                          <a:cs typeface="+mn-cs"/>
                        </a:rPr>
                        <a:t>Manual Migration – Stabilization/E2E</a:t>
                      </a:r>
                    </a:p>
                    <a:p>
                      <a:pPr marL="0" marR="0" lvl="0" indent="0" algn="l" rtl="0" eaLnBrk="1" fontAlgn="auto" latinLnBrk="0" hangingPunct="1">
                        <a:lnSpc>
                          <a:spcPct val="100000"/>
                        </a:lnSpc>
                        <a:spcBef>
                          <a:spcPts val="0"/>
                        </a:spcBef>
                        <a:spcAft>
                          <a:spcPts val="0"/>
                        </a:spcAft>
                        <a:buClrTx/>
                        <a:buSzTx/>
                        <a:buFontTx/>
                        <a:buNone/>
                      </a:pPr>
                      <a:endParaRPr lang="en-US" sz="850" b="0" kern="120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50" b="0" kern="1200">
                          <a:solidFill>
                            <a:schemeClr val="tx1"/>
                          </a:solidFill>
                          <a:effectLst/>
                          <a:latin typeface="+mn-lt"/>
                          <a:ea typeface="+mn-ea"/>
                          <a:cs typeface="+mn-cs"/>
                        </a:rPr>
                        <a:t>NS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defTabSz="914400">
                        <a:buNone/>
                        <a:tabLst/>
                        <a:defRPr/>
                      </a:pPr>
                      <a:r>
                        <a:rPr lang="en-US" sz="850" b="0" strike="noStrike" kern="1200">
                          <a:solidFill>
                            <a:schemeClr val="tx1"/>
                          </a:solidFill>
                          <a:effectLst/>
                          <a:latin typeface="+mn-lt"/>
                          <a:ea typeface="+mn-ea"/>
                          <a:cs typeface="+mn-cs"/>
                        </a:rPr>
                        <a:t>12/30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eaLnBrk="1" fontAlgn="ctr" latinLnBrk="0" hangingPunct="1">
                        <a:lnSpc>
                          <a:spcPct val="95000"/>
                        </a:lnSpc>
                        <a:spcBef>
                          <a:spcPct val="0"/>
                        </a:spcBef>
                        <a:spcAft>
                          <a:spcPct val="50000"/>
                        </a:spcAft>
                        <a:buClrTx/>
                        <a:buSzTx/>
                        <a:buFontTx/>
                        <a:buNone/>
                      </a:pPr>
                      <a:endParaRPr lang="en-US" sz="850" b="0"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55773899"/>
                  </a:ext>
                </a:extLst>
              </a:tr>
              <a:tr h="288524">
                <a:tc>
                  <a:txBody>
                    <a:bodyPr/>
                    <a:lstStyle/>
                    <a:p>
                      <a:pPr marL="0" marR="0" lvl="0" indent="0" algn="l" rtl="0" eaLnBrk="1" fontAlgn="auto" latinLnBrk="0" hangingPunct="1">
                        <a:lnSpc>
                          <a:spcPct val="100000"/>
                        </a:lnSpc>
                        <a:spcBef>
                          <a:spcPts val="0"/>
                        </a:spcBef>
                        <a:spcAft>
                          <a:spcPts val="0"/>
                        </a:spcAft>
                        <a:buClrTx/>
                        <a:buSzTx/>
                        <a:buFontTx/>
                        <a:buNone/>
                      </a:pPr>
                      <a:r>
                        <a:rPr lang="en-US" sz="850" b="0" kern="1200">
                          <a:solidFill>
                            <a:schemeClr val="tx1"/>
                          </a:solidFill>
                          <a:latin typeface="+mn-lt"/>
                          <a:ea typeface="+mn-ea"/>
                          <a:cs typeface="+mn-cs"/>
                        </a:rPr>
                        <a:t>UAT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50" b="0" kern="1200">
                          <a:solidFill>
                            <a:schemeClr val="tx1"/>
                          </a:solidFill>
                          <a:effectLst/>
                          <a:latin typeface="+mn-lt"/>
                          <a:ea typeface="+mn-ea"/>
                          <a:cs typeface="+mn-cs"/>
                        </a:rPr>
                        <a:t>NS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defTabSz="914400">
                        <a:buNone/>
                        <a:tabLst/>
                        <a:defRPr/>
                      </a:pPr>
                      <a:r>
                        <a:rPr lang="en-US" sz="850" b="0" strike="noStrike" kern="1200">
                          <a:solidFill>
                            <a:schemeClr val="tx1"/>
                          </a:solidFill>
                          <a:effectLst/>
                          <a:latin typeface="+mn-lt"/>
                          <a:ea typeface="+mn-ea"/>
                          <a:cs typeface="+mn-cs"/>
                        </a:rPr>
                        <a:t>1/31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eaLnBrk="1" fontAlgn="ctr" latinLnBrk="0" hangingPunct="1">
                        <a:lnSpc>
                          <a:spcPct val="95000"/>
                        </a:lnSpc>
                        <a:spcBef>
                          <a:spcPct val="0"/>
                        </a:spcBef>
                        <a:spcAft>
                          <a:spcPct val="50000"/>
                        </a:spcAft>
                        <a:buClrTx/>
                        <a:buSzTx/>
                        <a:buFontTx/>
                        <a:buNone/>
                      </a:pPr>
                      <a:endParaRPr lang="en-US" sz="850" b="0"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10936454"/>
                  </a:ext>
                </a:extLst>
              </a:tr>
              <a:tr h="288524">
                <a:tc>
                  <a:txBody>
                    <a:bodyPr/>
                    <a:lstStyle/>
                    <a:p>
                      <a:pPr marL="0" marR="0" lvl="0" indent="0" algn="l" rtl="0" eaLnBrk="1" fontAlgn="auto" latinLnBrk="0" hangingPunct="1">
                        <a:lnSpc>
                          <a:spcPct val="100000"/>
                        </a:lnSpc>
                        <a:spcBef>
                          <a:spcPts val="0"/>
                        </a:spcBef>
                        <a:spcAft>
                          <a:spcPts val="0"/>
                        </a:spcAft>
                        <a:buClrTx/>
                        <a:buSzTx/>
                        <a:buFontTx/>
                        <a:buNone/>
                      </a:pPr>
                      <a:r>
                        <a:rPr lang="en-US" sz="850" b="0" kern="1200">
                          <a:solidFill>
                            <a:schemeClr val="tx1"/>
                          </a:solidFill>
                          <a:latin typeface="+mn-lt"/>
                          <a:ea typeface="+mn-ea"/>
                          <a:cs typeface="+mn-cs"/>
                        </a:rPr>
                        <a:t>Go-Live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50" b="0" kern="1200">
                          <a:solidFill>
                            <a:schemeClr val="tx1"/>
                          </a:solidFill>
                          <a:effectLst/>
                          <a:latin typeface="+mn-lt"/>
                          <a:ea typeface="+mn-ea"/>
                          <a:cs typeface="+mn-cs"/>
                        </a:rPr>
                        <a:t>NS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defTabSz="914400">
                        <a:buNone/>
                        <a:tabLst/>
                        <a:defRPr/>
                      </a:pPr>
                      <a:r>
                        <a:rPr lang="en-US" sz="850" b="0" strike="noStrike" kern="1200">
                          <a:solidFill>
                            <a:schemeClr val="tx1"/>
                          </a:solidFill>
                          <a:effectLst/>
                          <a:latin typeface="+mn-lt"/>
                          <a:ea typeface="+mn-ea"/>
                          <a:cs typeface="+mn-cs"/>
                        </a:rPr>
                        <a:t>2/10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eaLnBrk="1" fontAlgn="ctr" latinLnBrk="0" hangingPunct="1">
                        <a:lnSpc>
                          <a:spcPct val="95000"/>
                        </a:lnSpc>
                        <a:spcBef>
                          <a:spcPct val="0"/>
                        </a:spcBef>
                        <a:spcAft>
                          <a:spcPct val="50000"/>
                        </a:spcAft>
                        <a:buClrTx/>
                        <a:buSzTx/>
                        <a:buFontTx/>
                        <a:buNone/>
                      </a:pPr>
                      <a:endParaRPr lang="en-US" sz="850" b="0"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49452897"/>
                  </a:ext>
                </a:extLst>
              </a:tr>
              <a:tr h="288524">
                <a:tc>
                  <a:txBody>
                    <a:bodyPr/>
                    <a:lstStyle/>
                    <a:p>
                      <a:pPr marL="0" marR="0" lvl="0" indent="0" algn="l" rtl="0" eaLnBrk="1" fontAlgn="auto" latinLnBrk="0" hangingPunct="1">
                        <a:lnSpc>
                          <a:spcPct val="100000"/>
                        </a:lnSpc>
                        <a:spcBef>
                          <a:spcPts val="0"/>
                        </a:spcBef>
                        <a:spcAft>
                          <a:spcPts val="0"/>
                        </a:spcAft>
                        <a:buClrTx/>
                        <a:buSzTx/>
                        <a:buFontTx/>
                        <a:buNone/>
                      </a:pPr>
                      <a:r>
                        <a:rPr lang="en-US" sz="850" b="0" kern="1200">
                          <a:solidFill>
                            <a:schemeClr val="tx1"/>
                          </a:solidFill>
                          <a:latin typeface="+mn-lt"/>
                          <a:ea typeface="+mn-ea"/>
                          <a:cs typeface="+mn-cs"/>
                        </a:rPr>
                        <a:t>Warranty Support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50" b="0" kern="1200">
                          <a:solidFill>
                            <a:schemeClr val="tx1"/>
                          </a:solidFill>
                          <a:effectLst/>
                          <a:latin typeface="+mn-lt"/>
                          <a:ea typeface="+mn-ea"/>
                          <a:cs typeface="+mn-cs"/>
                        </a:rPr>
                        <a:t>NS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defTabSz="914400">
                        <a:buNone/>
                        <a:tabLst/>
                        <a:defRPr/>
                      </a:pPr>
                      <a:r>
                        <a:rPr lang="en-US" sz="850" b="0" strike="noStrike" kern="1200">
                          <a:solidFill>
                            <a:schemeClr val="tx1"/>
                          </a:solidFill>
                          <a:effectLst/>
                          <a:latin typeface="+mn-lt"/>
                          <a:ea typeface="+mn-ea"/>
                          <a:cs typeface="+mn-cs"/>
                        </a:rPr>
                        <a:t>3/10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eaLnBrk="1" fontAlgn="ctr" latinLnBrk="0" hangingPunct="1">
                        <a:lnSpc>
                          <a:spcPct val="95000"/>
                        </a:lnSpc>
                        <a:spcBef>
                          <a:spcPct val="0"/>
                        </a:spcBef>
                        <a:spcAft>
                          <a:spcPct val="50000"/>
                        </a:spcAft>
                        <a:buClrTx/>
                        <a:buSzTx/>
                        <a:buFontTx/>
                        <a:buNone/>
                      </a:pPr>
                      <a:endParaRPr lang="en-US" sz="850" b="0"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94300901"/>
                  </a:ext>
                </a:extLst>
              </a:tr>
            </a:tbl>
          </a:graphicData>
        </a:graphic>
      </p:graphicFrame>
      <p:graphicFrame>
        <p:nvGraphicFramePr>
          <p:cNvPr id="29" name="Table 28">
            <a:extLst>
              <a:ext uri="{FF2B5EF4-FFF2-40B4-BE49-F238E27FC236}">
                <a16:creationId xmlns:a16="http://schemas.microsoft.com/office/drawing/2014/main" id="{468E60D2-724C-D6AE-76B6-9F9029EB0EEE}"/>
              </a:ext>
            </a:extLst>
          </p:cNvPr>
          <p:cNvGraphicFramePr>
            <a:graphicFrameLocks noGrp="1"/>
          </p:cNvGraphicFramePr>
          <p:nvPr>
            <p:extLst>
              <p:ext uri="{D42A27DB-BD31-4B8C-83A1-F6EECF244321}">
                <p14:modId xmlns:p14="http://schemas.microsoft.com/office/powerpoint/2010/main" val="1033300858"/>
              </p:ext>
            </p:extLst>
          </p:nvPr>
        </p:nvGraphicFramePr>
        <p:xfrm>
          <a:off x="5790976" y="5436005"/>
          <a:ext cx="6363505" cy="918194"/>
        </p:xfrm>
        <a:graphic>
          <a:graphicData uri="http://schemas.openxmlformats.org/drawingml/2006/table">
            <a:tbl>
              <a:tblPr>
                <a:tableStyleId>{5C22544A-7EE6-4342-B048-85BDC9FD1C3A}</a:tableStyleId>
              </a:tblPr>
              <a:tblGrid>
                <a:gridCol w="2376175">
                  <a:extLst>
                    <a:ext uri="{9D8B030D-6E8A-4147-A177-3AD203B41FA5}">
                      <a16:colId xmlns:a16="http://schemas.microsoft.com/office/drawing/2014/main" val="2456552316"/>
                    </a:ext>
                  </a:extLst>
                </a:gridCol>
                <a:gridCol w="499761">
                  <a:extLst>
                    <a:ext uri="{9D8B030D-6E8A-4147-A177-3AD203B41FA5}">
                      <a16:colId xmlns:a16="http://schemas.microsoft.com/office/drawing/2014/main" val="1100051595"/>
                    </a:ext>
                  </a:extLst>
                </a:gridCol>
                <a:gridCol w="465007">
                  <a:extLst>
                    <a:ext uri="{9D8B030D-6E8A-4147-A177-3AD203B41FA5}">
                      <a16:colId xmlns:a16="http://schemas.microsoft.com/office/drawing/2014/main" val="2042261034"/>
                    </a:ext>
                  </a:extLst>
                </a:gridCol>
                <a:gridCol w="3022562">
                  <a:extLst>
                    <a:ext uri="{9D8B030D-6E8A-4147-A177-3AD203B41FA5}">
                      <a16:colId xmlns:a16="http://schemas.microsoft.com/office/drawing/2014/main" val="2815874248"/>
                    </a:ext>
                  </a:extLst>
                </a:gridCol>
              </a:tblGrid>
              <a:tr h="354862">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Critical Risks/Issues</a:t>
                      </a: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Status</a:t>
                      </a:r>
                    </a:p>
                  </a:txBody>
                  <a:tcPr marL="9525" marR="9525" marT="9525" marB="0" anchor="ct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Target Date</a:t>
                      </a:r>
                    </a:p>
                  </a:txBody>
                  <a:tcPr marL="9525" marR="9525" marT="9525" marB="0" anchor="ctr">
                    <a:lnL w="12700">
                      <a:solidFill>
                        <a:schemeClr val="tx1"/>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Resolution / Mitigation</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563332">
                <a:tc>
                  <a:txBody>
                    <a:bodyPr/>
                    <a:lstStyle/>
                    <a:p>
                      <a:pPr marL="0" lvl="0" indent="0" algn="l">
                        <a:lnSpc>
                          <a:spcPct val="100000"/>
                        </a:lnSpc>
                        <a:buNone/>
                      </a:pPr>
                      <a:endParaRPr lang="en-US" sz="850" kern="100">
                        <a:solidFill>
                          <a:schemeClr val="tx1"/>
                        </a:solidFill>
                        <a:latin typeface="Aptos" panose="020B0004020202020204" pitchFamily="34" charset="0"/>
                        <a:ea typeface="+mn-ea"/>
                        <a:cs typeface="Arial"/>
                      </a:endParaRP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850" b="0" kern="1200">
                        <a:solidFill>
                          <a:schemeClr val="tx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buNone/>
                      </a:pPr>
                      <a:endParaRPr lang="en-US" sz="850" kern="1200">
                        <a:solidFill>
                          <a:schemeClr val="tx1"/>
                        </a:solidFill>
                        <a:latin typeface="Aptos" panose="020B0004020202020204" pitchFamily="34" charset="0"/>
                        <a:ea typeface="+mn-ea"/>
                        <a:cs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l">
                        <a:lnSpc>
                          <a:spcPct val="100000"/>
                        </a:lnSpc>
                        <a:spcBef>
                          <a:spcPts val="0"/>
                        </a:spcBef>
                        <a:spcAft>
                          <a:spcPts val="0"/>
                        </a:spcAft>
                        <a:buNone/>
                      </a:pPr>
                      <a:endParaRPr lang="en-US" sz="850" b="0" i="0" u="none" strike="noStrike" kern="1200" noProof="0">
                        <a:solidFill>
                          <a:srgbClr val="000000"/>
                        </a:solidFill>
                        <a:effectLst/>
                        <a:latin typeface="Aptos" panose="020B0004020202020204" pitchFamily="34" charset="0"/>
                      </a:endParaRP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14552194"/>
                  </a:ext>
                </a:extLst>
              </a:tr>
            </a:tbl>
          </a:graphicData>
        </a:graphic>
      </p:graphicFrame>
      <p:sp>
        <p:nvSpPr>
          <p:cNvPr id="33" name="Flowchart: Connector 32">
            <a:extLst>
              <a:ext uri="{FF2B5EF4-FFF2-40B4-BE49-F238E27FC236}">
                <a16:creationId xmlns:a16="http://schemas.microsoft.com/office/drawing/2014/main" id="{BFDC4A97-E186-8140-E7F8-4319119ABDB0}"/>
              </a:ext>
            </a:extLst>
          </p:cNvPr>
          <p:cNvSpPr/>
          <p:nvPr/>
        </p:nvSpPr>
        <p:spPr>
          <a:xfrm>
            <a:off x="7311524" y="6524104"/>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Flowchart: Connector 33">
            <a:extLst>
              <a:ext uri="{FF2B5EF4-FFF2-40B4-BE49-F238E27FC236}">
                <a16:creationId xmlns:a16="http://schemas.microsoft.com/office/drawing/2014/main" id="{AA1A590E-4223-D1C2-EBEA-F8F923823736}"/>
              </a:ext>
            </a:extLst>
          </p:cNvPr>
          <p:cNvSpPr/>
          <p:nvPr/>
        </p:nvSpPr>
        <p:spPr>
          <a:xfrm>
            <a:off x="8291059" y="6512837"/>
            <a:ext cx="163286" cy="164592"/>
          </a:xfrm>
          <a:prstGeom prst="flowChartConnector">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Flowchart: Connector 35">
            <a:extLst>
              <a:ext uri="{FF2B5EF4-FFF2-40B4-BE49-F238E27FC236}">
                <a16:creationId xmlns:a16="http://schemas.microsoft.com/office/drawing/2014/main" id="{1083ECDA-603E-138B-5ED0-21E5BF13731F}"/>
              </a:ext>
            </a:extLst>
          </p:cNvPr>
          <p:cNvSpPr/>
          <p:nvPr/>
        </p:nvSpPr>
        <p:spPr>
          <a:xfrm>
            <a:off x="9156933" y="6512837"/>
            <a:ext cx="163285" cy="164592"/>
          </a:xfrm>
          <a:prstGeom prst="flowChartConnector">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Flowchart: Connector 42">
            <a:extLst>
              <a:ext uri="{FF2B5EF4-FFF2-40B4-BE49-F238E27FC236}">
                <a16:creationId xmlns:a16="http://schemas.microsoft.com/office/drawing/2014/main" id="{98848253-A834-A0DA-B7AB-9189A18713BE}"/>
              </a:ext>
            </a:extLst>
          </p:cNvPr>
          <p:cNvSpPr/>
          <p:nvPr/>
        </p:nvSpPr>
        <p:spPr>
          <a:xfrm>
            <a:off x="3328610" y="1329659"/>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highlight>
                <a:srgbClr val="FF0000"/>
              </a:highlight>
            </a:endParaRPr>
          </a:p>
        </p:txBody>
      </p:sp>
      <p:sp>
        <p:nvSpPr>
          <p:cNvPr id="45" name="Flowchart: Connector 44">
            <a:extLst>
              <a:ext uri="{FF2B5EF4-FFF2-40B4-BE49-F238E27FC236}">
                <a16:creationId xmlns:a16="http://schemas.microsoft.com/office/drawing/2014/main" id="{826F7B89-84CD-2D6D-CB16-DF128E45F449}"/>
              </a:ext>
            </a:extLst>
          </p:cNvPr>
          <p:cNvSpPr/>
          <p:nvPr/>
        </p:nvSpPr>
        <p:spPr>
          <a:xfrm>
            <a:off x="4283155" y="1329659"/>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Flowchart: Connector 45">
            <a:extLst>
              <a:ext uri="{FF2B5EF4-FFF2-40B4-BE49-F238E27FC236}">
                <a16:creationId xmlns:a16="http://schemas.microsoft.com/office/drawing/2014/main" id="{2429000E-1D30-8A2E-AD3D-3B2550CEB554}"/>
              </a:ext>
            </a:extLst>
          </p:cNvPr>
          <p:cNvSpPr/>
          <p:nvPr/>
        </p:nvSpPr>
        <p:spPr>
          <a:xfrm>
            <a:off x="5219896" y="1350223"/>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Flowchart: Connector 46">
            <a:extLst>
              <a:ext uri="{FF2B5EF4-FFF2-40B4-BE49-F238E27FC236}">
                <a16:creationId xmlns:a16="http://schemas.microsoft.com/office/drawing/2014/main" id="{2312B1EC-FC7E-09BC-2690-CC638DD45A18}"/>
              </a:ext>
            </a:extLst>
          </p:cNvPr>
          <p:cNvSpPr/>
          <p:nvPr/>
        </p:nvSpPr>
        <p:spPr>
          <a:xfrm>
            <a:off x="6096000" y="1350223"/>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FB12DBC5-FE50-D649-59F3-F5DFE1A04FC0}"/>
              </a:ext>
            </a:extLst>
          </p:cNvPr>
          <p:cNvSpPr txBox="1"/>
          <p:nvPr/>
        </p:nvSpPr>
        <p:spPr>
          <a:xfrm>
            <a:off x="119511" y="1676415"/>
            <a:ext cx="5583020" cy="2824491"/>
          </a:xfrm>
          <a:prstGeom prst="rect">
            <a:avLst/>
          </a:prstGeom>
          <a:noFill/>
        </p:spPr>
        <p:txBody>
          <a:bodyPr wrap="square" lIns="91440" tIns="45720" rIns="91440" bIns="45720" anchor="t">
            <a:spAutoFit/>
          </a:bodyPr>
          <a:lstStyle/>
          <a:p>
            <a:pPr>
              <a:spcBef>
                <a:spcPts val="100"/>
              </a:spcBef>
              <a:spcAft>
                <a:spcPts val="100"/>
              </a:spcAft>
            </a:pPr>
            <a:r>
              <a:rPr lang="en-US" sz="850" b="1">
                <a:latin typeface="Aptos" panose="020B0004020202020204" pitchFamily="34" charset="0"/>
                <a:cs typeface="Arial"/>
              </a:rPr>
              <a:t>Overall Project Status: </a:t>
            </a:r>
            <a:r>
              <a:rPr lang="en-US" sz="850" b="1">
                <a:highlight>
                  <a:srgbClr val="00FF00"/>
                </a:highlight>
                <a:latin typeface="Aptos" panose="020B0004020202020204" pitchFamily="34" charset="0"/>
                <a:cs typeface="Arial"/>
              </a:rPr>
              <a:t>Green</a:t>
            </a:r>
          </a:p>
          <a:p>
            <a:r>
              <a:rPr lang="en-US" sz="850">
                <a:latin typeface="Aptos" panose="020B0004020202020204" pitchFamily="34" charset="0"/>
                <a:cs typeface="Arial"/>
              </a:rPr>
              <a:t>Project status is  upgraded to Green  as the team has finalized SOW and  timeline is finalized for Manual Migration.</a:t>
            </a:r>
          </a:p>
          <a:p>
            <a:endParaRPr lang="en-US" sz="850">
              <a:latin typeface="Aptos" panose="020B0004020202020204" pitchFamily="34" charset="0"/>
              <a:cs typeface="Arial"/>
            </a:endParaRPr>
          </a:p>
          <a:p>
            <a:r>
              <a:rPr lang="en-US" sz="850" b="1">
                <a:latin typeface="Aptos" panose="020B0004020202020204" pitchFamily="34" charset="0"/>
              </a:rPr>
              <a:t>Highlights:</a:t>
            </a:r>
          </a:p>
          <a:p>
            <a:endParaRPr lang="en-US" sz="850" b="1">
              <a:latin typeface="Aptos" panose="020B0004020202020204" pitchFamily="34" charset="0"/>
            </a:endParaRPr>
          </a:p>
          <a:p>
            <a:pPr lvl="1"/>
            <a:r>
              <a:rPr lang="en-US" sz="850" b="1">
                <a:latin typeface="Aptos" panose="020B0004020202020204" pitchFamily="34" charset="0"/>
              </a:rPr>
              <a:t>Manual Migration –</a:t>
            </a:r>
          </a:p>
          <a:p>
            <a:pPr marL="628650" lvl="1" indent="-171450">
              <a:buFont typeface="Arial" panose="020B0604020202020204" pitchFamily="34" charset="0"/>
              <a:buChar char="•"/>
            </a:pPr>
            <a:r>
              <a:rPr lang="en-US" sz="850">
                <a:latin typeface="Aptos" panose="020B0004020202020204" pitchFamily="34" charset="0"/>
              </a:rPr>
              <a:t>The SOW is revised based on the inputs provided and is finalized</a:t>
            </a:r>
          </a:p>
          <a:p>
            <a:pPr lvl="1"/>
            <a:endParaRPr lang="en-US" sz="850" b="1">
              <a:latin typeface="Aptos" panose="020B0004020202020204" pitchFamily="34" charset="0"/>
            </a:endParaRPr>
          </a:p>
          <a:p>
            <a:pPr lvl="1"/>
            <a:r>
              <a:rPr lang="en-US" sz="850" b="1">
                <a:latin typeface="Aptos" panose="020B0004020202020204" pitchFamily="34" charset="0"/>
              </a:rPr>
              <a:t>	</a:t>
            </a:r>
          </a:p>
          <a:p>
            <a:pPr>
              <a:lnSpc>
                <a:spcPct val="114999"/>
              </a:lnSpc>
              <a:spcBef>
                <a:spcPts val="200"/>
              </a:spcBef>
              <a:buSzPts val="1000"/>
              <a:tabLst>
                <a:tab pos="457200" algn="l"/>
              </a:tabLst>
            </a:pPr>
            <a:r>
              <a:rPr lang="en-US" sz="850" b="1" kern="100">
                <a:latin typeface="Aptos" panose="020B0004020202020204" pitchFamily="34" charset="0"/>
                <a:cs typeface="Arial"/>
              </a:rPr>
              <a:t>Next Steps:</a:t>
            </a:r>
          </a:p>
          <a:p>
            <a:pPr marL="171450" indent="-171450">
              <a:lnSpc>
                <a:spcPct val="114999"/>
              </a:lnSpc>
              <a:spcBef>
                <a:spcPts val="200"/>
              </a:spcBef>
              <a:buSzPts val="1000"/>
              <a:buFont typeface="Arial" panose="020B0604020202020204" pitchFamily="34" charset="0"/>
              <a:buChar char="•"/>
              <a:tabLst>
                <a:tab pos="457200" algn="l"/>
              </a:tabLst>
            </a:pPr>
            <a:r>
              <a:rPr lang="en-US" sz="850" kern="100">
                <a:latin typeface="Aptos" panose="020B0004020202020204" pitchFamily="34" charset="0"/>
                <a:cs typeface="Arial"/>
              </a:rPr>
              <a:t>SOW finalization 8/28 – Complete</a:t>
            </a:r>
          </a:p>
          <a:p>
            <a:pPr marL="171450" indent="-171450">
              <a:buFont typeface="Arial" panose="020B0604020202020204" pitchFamily="34" charset="0"/>
              <a:buChar char="•"/>
            </a:pPr>
            <a:r>
              <a:rPr lang="en-US" sz="850">
                <a:latin typeface="Aptos" panose="020B0004020202020204" pitchFamily="34" charset="0"/>
                <a:cs typeface="Arial"/>
              </a:rPr>
              <a:t>Schedule/Cost alignment for Manual Migration 9/30</a:t>
            </a:r>
          </a:p>
          <a:p>
            <a:endParaRPr lang="en-US" sz="850">
              <a:latin typeface="Aptos" panose="020B0004020202020204" pitchFamily="34" charset="0"/>
              <a:cs typeface="Arial"/>
            </a:endParaRPr>
          </a:p>
          <a:p>
            <a:r>
              <a:rPr lang="en-US" sz="850" b="1" kern="100">
                <a:latin typeface="Aptos" panose="020B0004020202020204" pitchFamily="34" charset="0"/>
                <a:cs typeface="Arial"/>
              </a:rPr>
              <a:t>Policy Migration:</a:t>
            </a:r>
          </a:p>
          <a:p>
            <a:endParaRPr lang="en-US" sz="850">
              <a:latin typeface="Aptos" panose="020B0004020202020204" pitchFamily="34" charset="0"/>
              <a:cs typeface="Arial"/>
            </a:endParaRPr>
          </a:p>
          <a:p>
            <a:pPr>
              <a:lnSpc>
                <a:spcPct val="114999"/>
              </a:lnSpc>
              <a:spcBef>
                <a:spcPts val="200"/>
              </a:spcBef>
              <a:buSzPts val="1000"/>
              <a:tabLst>
                <a:tab pos="457200" algn="l"/>
              </a:tabLst>
            </a:pPr>
            <a:endParaRPr lang="en-US" sz="850" b="1" kern="100">
              <a:latin typeface="Aptos" panose="020B0004020202020204" pitchFamily="34" charset="0"/>
              <a:cs typeface="Arial"/>
            </a:endParaRPr>
          </a:p>
          <a:p>
            <a:pPr>
              <a:lnSpc>
                <a:spcPct val="114999"/>
              </a:lnSpc>
              <a:spcBef>
                <a:spcPts val="200"/>
              </a:spcBef>
              <a:buSzPts val="1000"/>
              <a:tabLst>
                <a:tab pos="457200" algn="l"/>
              </a:tabLst>
            </a:pPr>
            <a:endParaRPr lang="en-US" sz="850" b="1" kern="100">
              <a:latin typeface="Aptos" panose="020B0004020202020204" pitchFamily="34" charset="0"/>
              <a:cs typeface="Arial"/>
            </a:endParaRPr>
          </a:p>
          <a:p>
            <a:pPr>
              <a:lnSpc>
                <a:spcPct val="114999"/>
              </a:lnSpc>
              <a:spcBef>
                <a:spcPts val="200"/>
              </a:spcBef>
              <a:buSzPts val="1000"/>
              <a:tabLst>
                <a:tab pos="457200" algn="l"/>
              </a:tabLst>
            </a:pPr>
            <a:endParaRPr lang="en-US" sz="850" b="1" kern="100">
              <a:latin typeface="Aptos" panose="020B0004020202020204" pitchFamily="34" charset="0"/>
              <a:cs typeface="Arial"/>
            </a:endParaRPr>
          </a:p>
          <a:p>
            <a:pPr marL="171450" indent="-171450">
              <a:buFont typeface="Arial" panose="020B0604020202020204" pitchFamily="34" charset="0"/>
              <a:buChar char="•"/>
            </a:pPr>
            <a:endParaRPr lang="en-US" sz="900" kern="100">
              <a:latin typeface="+mj-lt"/>
              <a:cs typeface="Arial"/>
            </a:endParaRPr>
          </a:p>
        </p:txBody>
      </p:sp>
      <p:sp>
        <p:nvSpPr>
          <p:cNvPr id="4" name="TextBox 2">
            <a:extLst>
              <a:ext uri="{FF2B5EF4-FFF2-40B4-BE49-F238E27FC236}">
                <a16:creationId xmlns:a16="http://schemas.microsoft.com/office/drawing/2014/main" id="{15680B60-9CDA-9824-877C-8B7D8C5E496E}"/>
              </a:ext>
            </a:extLst>
          </p:cNvPr>
          <p:cNvSpPr txBox="1"/>
          <p:nvPr/>
        </p:nvSpPr>
        <p:spPr>
          <a:xfrm>
            <a:off x="9725429" y="143497"/>
            <a:ext cx="3708400" cy="703782"/>
          </a:xfrm>
          <a:prstGeom prst="rect">
            <a:avLst/>
          </a:prstGeom>
          <a:noFill/>
        </p:spPr>
        <p:txBody>
          <a:bodyPr wrap="none" lIns="0" tIns="0" rIns="0" bIns="0" rtlCol="0" anchor="t">
            <a:noAutofit/>
          </a:bodyPr>
          <a:lstStyle>
            <a:defPPr>
              <a:defRPr lang="en-US"/>
            </a:defPPr>
            <a:lvl1pPr>
              <a:lnSpc>
                <a:spcPct val="112000"/>
              </a:lnSpc>
              <a:defRPr sz="1200">
                <a:solidFill>
                  <a:prstClr val="black"/>
                </a:solidFill>
                <a:latin typeface="Aptos" panose="02110004020202020204"/>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Project Manager :  Shilpa K</a:t>
            </a:r>
          </a:p>
          <a:p>
            <a:r>
              <a:rPr lang="en-US" err="1"/>
              <a:t>OpEx</a:t>
            </a:r>
            <a:r>
              <a:rPr lang="en-US"/>
              <a:t> Business Lead: Gary W</a:t>
            </a:r>
          </a:p>
          <a:p>
            <a:endParaRPr lang="en-US"/>
          </a:p>
        </p:txBody>
      </p:sp>
      <p:sp>
        <p:nvSpPr>
          <p:cNvPr id="6" name="Flowchart: Connector 5">
            <a:extLst>
              <a:ext uri="{FF2B5EF4-FFF2-40B4-BE49-F238E27FC236}">
                <a16:creationId xmlns:a16="http://schemas.microsoft.com/office/drawing/2014/main" id="{908EA533-E832-FA35-07BE-08B5922DA8D3}"/>
              </a:ext>
            </a:extLst>
          </p:cNvPr>
          <p:cNvSpPr/>
          <p:nvPr/>
        </p:nvSpPr>
        <p:spPr>
          <a:xfrm>
            <a:off x="8420362" y="2898013"/>
            <a:ext cx="163285" cy="164592"/>
          </a:xfrm>
          <a:prstGeom prst="flowChartConnector">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2" name="Table 11">
            <a:extLst>
              <a:ext uri="{FF2B5EF4-FFF2-40B4-BE49-F238E27FC236}">
                <a16:creationId xmlns:a16="http://schemas.microsoft.com/office/drawing/2014/main" id="{E921FFFE-697F-3E97-8AFA-4360FF21BDFC}"/>
              </a:ext>
            </a:extLst>
          </p:cNvPr>
          <p:cNvGraphicFramePr>
            <a:graphicFrameLocks noGrp="1"/>
          </p:cNvGraphicFramePr>
          <p:nvPr>
            <p:extLst>
              <p:ext uri="{D42A27DB-BD31-4B8C-83A1-F6EECF244321}">
                <p14:modId xmlns:p14="http://schemas.microsoft.com/office/powerpoint/2010/main" val="1505732584"/>
              </p:ext>
            </p:extLst>
          </p:nvPr>
        </p:nvGraphicFramePr>
        <p:xfrm>
          <a:off x="136131" y="3814484"/>
          <a:ext cx="5280560" cy="1531419"/>
        </p:xfrm>
        <a:graphic>
          <a:graphicData uri="http://schemas.openxmlformats.org/drawingml/2006/table">
            <a:tbl>
              <a:tblPr firstRow="1" bandRow="1">
                <a:tableStyleId>{5C22544A-7EE6-4342-B048-85BDC9FD1C3A}</a:tableStyleId>
              </a:tblPr>
              <a:tblGrid>
                <a:gridCol w="1056112">
                  <a:extLst>
                    <a:ext uri="{9D8B030D-6E8A-4147-A177-3AD203B41FA5}">
                      <a16:colId xmlns:a16="http://schemas.microsoft.com/office/drawing/2014/main" val="3637917214"/>
                    </a:ext>
                  </a:extLst>
                </a:gridCol>
                <a:gridCol w="1056112">
                  <a:extLst>
                    <a:ext uri="{9D8B030D-6E8A-4147-A177-3AD203B41FA5}">
                      <a16:colId xmlns:a16="http://schemas.microsoft.com/office/drawing/2014/main" val="3032011922"/>
                    </a:ext>
                  </a:extLst>
                </a:gridCol>
                <a:gridCol w="1056112">
                  <a:extLst>
                    <a:ext uri="{9D8B030D-6E8A-4147-A177-3AD203B41FA5}">
                      <a16:colId xmlns:a16="http://schemas.microsoft.com/office/drawing/2014/main" val="418294940"/>
                    </a:ext>
                  </a:extLst>
                </a:gridCol>
                <a:gridCol w="1056112">
                  <a:extLst>
                    <a:ext uri="{9D8B030D-6E8A-4147-A177-3AD203B41FA5}">
                      <a16:colId xmlns:a16="http://schemas.microsoft.com/office/drawing/2014/main" val="3602347149"/>
                    </a:ext>
                  </a:extLst>
                </a:gridCol>
                <a:gridCol w="1056112">
                  <a:extLst>
                    <a:ext uri="{9D8B030D-6E8A-4147-A177-3AD203B41FA5}">
                      <a16:colId xmlns:a16="http://schemas.microsoft.com/office/drawing/2014/main" val="3105767796"/>
                    </a:ext>
                  </a:extLst>
                </a:gridCol>
              </a:tblGrid>
              <a:tr h="317433">
                <a:tc>
                  <a:txBody>
                    <a:bodyPr/>
                    <a:lstStyle/>
                    <a:p>
                      <a:pPr algn="ctr"/>
                      <a:r>
                        <a:rPr lang="en-US" sz="850"/>
                        <a:t>Product</a:t>
                      </a:r>
                    </a:p>
                  </a:txBody>
                  <a:tcPr>
                    <a:solidFill>
                      <a:srgbClr val="00206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50" b="1" kern="1200">
                          <a:solidFill>
                            <a:schemeClr val="lt1"/>
                          </a:solidFill>
                          <a:latin typeface="+mn-lt"/>
                          <a:ea typeface="+mn-ea"/>
                          <a:cs typeface="+mn-cs"/>
                        </a:rPr>
                        <a:t>States Deployed</a:t>
                      </a:r>
                    </a:p>
                    <a:p>
                      <a:pPr marL="0" algn="ctr" defTabSz="914400" rtl="0" eaLnBrk="1" latinLnBrk="0" hangingPunct="1"/>
                      <a:endParaRPr lang="en-US" sz="850" b="1" kern="1200">
                        <a:solidFill>
                          <a:schemeClr val="lt1"/>
                        </a:solidFill>
                        <a:latin typeface="+mn-lt"/>
                        <a:ea typeface="+mn-ea"/>
                        <a:cs typeface="+mn-cs"/>
                      </a:endParaRPr>
                    </a:p>
                  </a:txBody>
                  <a:tcPr>
                    <a:solidFill>
                      <a:srgbClr val="002060"/>
                    </a:solidFill>
                  </a:tcPr>
                </a:tc>
                <a:tc>
                  <a:txBody>
                    <a:bodyPr/>
                    <a:lstStyle/>
                    <a:p>
                      <a:pPr marL="0" algn="ctr" defTabSz="914400" rtl="0" eaLnBrk="1" latinLnBrk="0" hangingPunct="1"/>
                      <a:r>
                        <a:rPr lang="en-US" sz="850" b="1" kern="1200">
                          <a:solidFill>
                            <a:schemeClr val="lt1"/>
                          </a:solidFill>
                          <a:latin typeface="+mn-lt"/>
                          <a:ea typeface="+mn-ea"/>
                          <a:cs typeface="+mn-cs"/>
                        </a:rPr>
                        <a:t>Policies Migrated </a:t>
                      </a:r>
                    </a:p>
                  </a:txBody>
                  <a:tcPr>
                    <a:solidFill>
                      <a:srgbClr val="002060"/>
                    </a:solidFill>
                  </a:tcPr>
                </a:tc>
                <a:tc>
                  <a:txBody>
                    <a:bodyPr/>
                    <a:lstStyle/>
                    <a:p>
                      <a:pPr marL="0" algn="ctr" defTabSz="914400" rtl="0" eaLnBrk="1" latinLnBrk="0" hangingPunct="1"/>
                      <a:r>
                        <a:rPr lang="en-US" sz="850" b="1" kern="1200">
                          <a:solidFill>
                            <a:schemeClr val="lt1"/>
                          </a:solidFill>
                          <a:latin typeface="+mn-lt"/>
                          <a:ea typeface="+mn-ea"/>
                          <a:cs typeface="+mn-cs"/>
                        </a:rPr>
                        <a:t>Original Premium Migrated</a:t>
                      </a:r>
                    </a:p>
                  </a:txBody>
                  <a:tcPr>
                    <a:solidFill>
                      <a:srgbClr val="002060"/>
                    </a:solidFill>
                  </a:tcPr>
                </a:tc>
                <a:tc>
                  <a:txBody>
                    <a:bodyPr/>
                    <a:lstStyle/>
                    <a:p>
                      <a:pPr marL="0" algn="ctr" defTabSz="914400" rtl="0" eaLnBrk="1" latinLnBrk="0" hangingPunct="1"/>
                      <a:r>
                        <a:rPr lang="en-US" sz="850" b="1" kern="1200">
                          <a:solidFill>
                            <a:schemeClr val="lt1"/>
                          </a:solidFill>
                          <a:latin typeface="+mn-lt"/>
                          <a:ea typeface="+mn-ea"/>
                          <a:cs typeface="+mn-cs"/>
                        </a:rPr>
                        <a:t>% Complete</a:t>
                      </a:r>
                    </a:p>
                  </a:txBody>
                  <a:tcPr>
                    <a:solidFill>
                      <a:srgbClr val="002060"/>
                    </a:solidFill>
                  </a:tcPr>
                </a:tc>
                <a:extLst>
                  <a:ext uri="{0D108BD9-81ED-4DB2-BD59-A6C34878D82A}">
                    <a16:rowId xmlns:a16="http://schemas.microsoft.com/office/drawing/2014/main" val="2145207325"/>
                  </a:ext>
                </a:extLst>
              </a:tr>
              <a:tr h="0">
                <a:tc>
                  <a:txBody>
                    <a:bodyPr/>
                    <a:lstStyle/>
                    <a:p>
                      <a:pPr marL="0" algn="l" defTabSz="914400" rtl="0" eaLnBrk="1" latinLnBrk="0" hangingPunct="1"/>
                      <a:r>
                        <a:rPr lang="en-US" sz="850" b="1" kern="1200">
                          <a:solidFill>
                            <a:schemeClr val="dk1"/>
                          </a:solidFill>
                          <a:latin typeface="+mn-lt"/>
                          <a:ea typeface="+mn-ea"/>
                          <a:cs typeface="+mn-cs"/>
                        </a:rPr>
                        <a:t>MM to MPI</a:t>
                      </a:r>
                    </a:p>
                  </a:txBody>
                  <a:tcPr/>
                </a:tc>
                <a:tc>
                  <a:txBody>
                    <a:bodyPr/>
                    <a:lstStyle/>
                    <a:p>
                      <a:pPr marL="0" algn="l" defTabSz="914400" rtl="0" eaLnBrk="1" latinLnBrk="0" hangingPunct="1"/>
                      <a:r>
                        <a:rPr lang="en-US" sz="850" kern="1200">
                          <a:solidFill>
                            <a:schemeClr val="dk1"/>
                          </a:solidFill>
                          <a:latin typeface="+mn-lt"/>
                          <a:ea typeface="+mn-ea"/>
                          <a:cs typeface="+mn-cs"/>
                        </a:rPr>
                        <a:t>CA</a:t>
                      </a:r>
                    </a:p>
                  </a:txBody>
                  <a:tcPr/>
                </a:tc>
                <a:tc>
                  <a:txBody>
                    <a:bodyPr/>
                    <a:lstStyle/>
                    <a:p>
                      <a:pPr marL="0" algn="l" defTabSz="914400" rtl="0" eaLnBrk="1" latinLnBrk="0" hangingPunct="1"/>
                      <a:r>
                        <a:rPr lang="en-US" sz="900"/>
                        <a:t>66,564</a:t>
                      </a:r>
                      <a:endParaRPr lang="en-US" sz="850" kern="1200">
                        <a:solidFill>
                          <a:schemeClr val="dk1"/>
                        </a:solidFill>
                        <a:latin typeface="+mn-lt"/>
                        <a:ea typeface="+mn-ea"/>
                        <a:cs typeface="+mn-cs"/>
                      </a:endParaRPr>
                    </a:p>
                  </a:txBody>
                  <a:tcPr/>
                </a:tc>
                <a:tc>
                  <a:txBody>
                    <a:bodyPr/>
                    <a:lstStyle/>
                    <a:p>
                      <a:pPr marL="0" algn="l" defTabSz="914400" rtl="0" eaLnBrk="1" latinLnBrk="0" hangingPunct="1"/>
                      <a:r>
                        <a:rPr lang="en-US" sz="850" kern="1200">
                          <a:solidFill>
                            <a:schemeClr val="dk1"/>
                          </a:solidFill>
                          <a:latin typeface="+mn-lt"/>
                          <a:ea typeface="+mn-ea"/>
                          <a:cs typeface="+mn-cs"/>
                        </a:rPr>
                        <a:t>$58.65M</a:t>
                      </a:r>
                    </a:p>
                  </a:txBody>
                  <a:tcPr/>
                </a:tc>
                <a:tc>
                  <a:txBody>
                    <a:bodyPr/>
                    <a:lstStyle/>
                    <a:p>
                      <a:pPr marL="0" algn="l" defTabSz="914400" rtl="0" eaLnBrk="1" latinLnBrk="0" hangingPunct="1"/>
                      <a:r>
                        <a:rPr lang="en-US" sz="850" kern="1200">
                          <a:solidFill>
                            <a:schemeClr val="dk1"/>
                          </a:solidFill>
                          <a:latin typeface="+mn-lt"/>
                          <a:ea typeface="+mn-ea"/>
                          <a:cs typeface="+mn-cs"/>
                        </a:rPr>
                        <a:t>99.7%</a:t>
                      </a:r>
                    </a:p>
                  </a:txBody>
                  <a:tcPr/>
                </a:tc>
                <a:extLst>
                  <a:ext uri="{0D108BD9-81ED-4DB2-BD59-A6C34878D82A}">
                    <a16:rowId xmlns:a16="http://schemas.microsoft.com/office/drawing/2014/main" val="2539607601"/>
                  </a:ext>
                </a:extLst>
              </a:tr>
              <a:tr h="317433">
                <a:tc>
                  <a:txBody>
                    <a:bodyPr/>
                    <a:lstStyle/>
                    <a:p>
                      <a:pPr marL="0" algn="l" defTabSz="914400" rtl="0" eaLnBrk="1" latinLnBrk="0" hangingPunct="1"/>
                      <a:r>
                        <a:rPr lang="en-US" sz="900" b="1"/>
                        <a:t>MPP to MPPC</a:t>
                      </a:r>
                      <a:endParaRPr lang="en-US" sz="850" kern="1200">
                        <a:solidFill>
                          <a:schemeClr val="dk1"/>
                        </a:solidFill>
                        <a:latin typeface="+mn-lt"/>
                        <a:ea typeface="+mn-ea"/>
                        <a:cs typeface="+mn-cs"/>
                      </a:endParaRPr>
                    </a:p>
                  </a:txBody>
                  <a:tcPr/>
                </a:tc>
                <a:tc>
                  <a:txBody>
                    <a:bodyPr/>
                    <a:lstStyle/>
                    <a:p>
                      <a:pPr marL="0" algn="l" defTabSz="914400" rtl="0" eaLnBrk="1" latinLnBrk="0" hangingPunct="1"/>
                      <a:r>
                        <a:rPr lang="en-US" sz="850" kern="1200">
                          <a:solidFill>
                            <a:schemeClr val="dk1"/>
                          </a:solidFill>
                          <a:latin typeface="+mn-lt"/>
                          <a:ea typeface="+mn-ea"/>
                          <a:cs typeface="+mn-cs"/>
                        </a:rPr>
                        <a:t>49</a:t>
                      </a:r>
                    </a:p>
                  </a:txBody>
                  <a:tcPr/>
                </a:tc>
                <a:tc>
                  <a:txBody>
                    <a:bodyPr/>
                    <a:lstStyle/>
                    <a:p>
                      <a:pPr marL="0" algn="l" defTabSz="914400" rtl="0" eaLnBrk="1" latinLnBrk="0" hangingPunct="1"/>
                      <a:r>
                        <a:rPr lang="en-US" sz="900"/>
                        <a:t>535,678</a:t>
                      </a:r>
                      <a:endParaRPr lang="en-US" sz="850" kern="1200">
                        <a:solidFill>
                          <a:schemeClr val="dk1"/>
                        </a:solidFill>
                        <a:latin typeface="+mn-lt"/>
                        <a:ea typeface="+mn-ea"/>
                        <a:cs typeface="+mn-cs"/>
                      </a:endParaRPr>
                    </a:p>
                  </a:txBody>
                  <a:tcPr/>
                </a:tc>
                <a:tc>
                  <a:txBody>
                    <a:bodyPr/>
                    <a:lstStyle/>
                    <a:p>
                      <a:pPr marL="0" algn="l" defTabSz="914400" rtl="0" eaLnBrk="1" latinLnBrk="0" hangingPunct="1"/>
                      <a:r>
                        <a:rPr lang="en-US" sz="850" kern="1200">
                          <a:solidFill>
                            <a:schemeClr val="dk1"/>
                          </a:solidFill>
                          <a:latin typeface="+mn-lt"/>
                          <a:ea typeface="+mn-ea"/>
                          <a:cs typeface="+mn-cs"/>
                        </a:rPr>
                        <a:t>$427,923</a:t>
                      </a:r>
                    </a:p>
                  </a:txBody>
                  <a:tcPr/>
                </a:tc>
                <a:tc>
                  <a:txBody>
                    <a:bodyPr/>
                    <a:lstStyle/>
                    <a:p>
                      <a:pPr marL="0" algn="l" defTabSz="914400" rtl="0" eaLnBrk="1" latinLnBrk="0" hangingPunct="1"/>
                      <a:r>
                        <a:rPr lang="en-US" sz="850" kern="1200">
                          <a:solidFill>
                            <a:schemeClr val="dk1"/>
                          </a:solidFill>
                          <a:latin typeface="+mn-lt"/>
                          <a:ea typeface="+mn-ea"/>
                          <a:cs typeface="+mn-cs"/>
                        </a:rPr>
                        <a:t>87.2%</a:t>
                      </a:r>
                    </a:p>
                  </a:txBody>
                  <a:tcPr/>
                </a:tc>
                <a:extLst>
                  <a:ext uri="{0D108BD9-81ED-4DB2-BD59-A6C34878D82A}">
                    <a16:rowId xmlns:a16="http://schemas.microsoft.com/office/drawing/2014/main" val="2679004041"/>
                  </a:ext>
                </a:extLst>
              </a:tr>
              <a:tr h="317433">
                <a:tc>
                  <a:txBody>
                    <a:bodyPr/>
                    <a:lstStyle/>
                    <a:p>
                      <a:pPr marL="0" algn="l" defTabSz="914400" rtl="0" eaLnBrk="1" latinLnBrk="0" hangingPunct="1"/>
                      <a:r>
                        <a:rPr lang="en-US" sz="900" b="1"/>
                        <a:t>WP to MPI</a:t>
                      </a:r>
                      <a:endParaRPr lang="en-US" sz="850" kern="1200">
                        <a:solidFill>
                          <a:schemeClr val="dk1"/>
                        </a:solidFill>
                        <a:latin typeface="+mn-lt"/>
                        <a:ea typeface="+mn-ea"/>
                        <a:cs typeface="+mn-cs"/>
                      </a:endParaRPr>
                    </a:p>
                  </a:txBody>
                  <a:tcPr/>
                </a:tc>
                <a:tc>
                  <a:txBody>
                    <a:bodyPr/>
                    <a:lstStyle/>
                    <a:p>
                      <a:pPr marL="0" algn="l" defTabSz="914400" rtl="0" eaLnBrk="1" latinLnBrk="0" hangingPunct="1"/>
                      <a:r>
                        <a:rPr lang="en-US" sz="850" kern="1200">
                          <a:solidFill>
                            <a:schemeClr val="dk1"/>
                          </a:solidFill>
                          <a:latin typeface="+mn-lt"/>
                          <a:ea typeface="+mn-ea"/>
                          <a:cs typeface="+mn-cs"/>
                        </a:rPr>
                        <a:t>26</a:t>
                      </a:r>
                    </a:p>
                  </a:txBody>
                  <a:tcPr/>
                </a:tc>
                <a:tc>
                  <a:txBody>
                    <a:bodyPr/>
                    <a:lstStyle/>
                    <a:p>
                      <a:pPr>
                        <a:buNone/>
                      </a:pPr>
                      <a:r>
                        <a:rPr lang="en-US" sz="900" kern="1200">
                          <a:solidFill>
                            <a:schemeClr val="dk1"/>
                          </a:solidFill>
                          <a:latin typeface="+mn-lt"/>
                          <a:ea typeface="+mn-ea"/>
                          <a:cs typeface="+mn-cs"/>
                        </a:rPr>
                        <a:t>38,119</a:t>
                      </a:r>
                    </a:p>
                  </a:txBody>
                  <a:tcPr anchor="ctr"/>
                </a:tc>
                <a:tc>
                  <a:txBody>
                    <a:bodyPr/>
                    <a:lstStyle/>
                    <a:p>
                      <a:pPr marL="0" algn="l" defTabSz="914400" rtl="0" eaLnBrk="1" latinLnBrk="0" hangingPunct="1">
                        <a:buNone/>
                      </a:pPr>
                      <a:r>
                        <a:rPr lang="en-US" sz="850" kern="1200">
                          <a:solidFill>
                            <a:schemeClr val="dk1"/>
                          </a:solidFill>
                          <a:latin typeface="+mn-lt"/>
                          <a:ea typeface="+mn-ea"/>
                          <a:cs typeface="+mn-cs"/>
                        </a:rPr>
                        <a:t>$81M</a:t>
                      </a:r>
                    </a:p>
                  </a:txBody>
                  <a:tcPr anchor="ctr"/>
                </a:tc>
                <a:tc>
                  <a:txBody>
                    <a:bodyPr/>
                    <a:lstStyle/>
                    <a:p>
                      <a:pPr marL="0" algn="l" defTabSz="914400" rtl="0" eaLnBrk="1" latinLnBrk="0" hangingPunct="1"/>
                      <a:r>
                        <a:rPr lang="en-US" sz="850" kern="1200">
                          <a:solidFill>
                            <a:schemeClr val="dk1"/>
                          </a:solidFill>
                          <a:latin typeface="+mn-lt"/>
                          <a:ea typeface="+mn-ea"/>
                          <a:cs typeface="+mn-cs"/>
                        </a:rPr>
                        <a:t>72.4</a:t>
                      </a:r>
                    </a:p>
                  </a:txBody>
                  <a:tcPr/>
                </a:tc>
                <a:extLst>
                  <a:ext uri="{0D108BD9-81ED-4DB2-BD59-A6C34878D82A}">
                    <a16:rowId xmlns:a16="http://schemas.microsoft.com/office/drawing/2014/main" val="4009394994"/>
                  </a:ext>
                </a:extLst>
              </a:tr>
              <a:tr h="317433">
                <a:tc>
                  <a:txBody>
                    <a:bodyPr/>
                    <a:lstStyle/>
                    <a:p>
                      <a:pPr marL="0" algn="l" defTabSz="914400" rtl="0" eaLnBrk="1" latinLnBrk="0" hangingPunct="1"/>
                      <a:r>
                        <a:rPr lang="en-US" sz="850" b="1" kern="1200">
                          <a:solidFill>
                            <a:schemeClr val="dk1"/>
                          </a:solidFill>
                          <a:latin typeface="+mn-lt"/>
                          <a:ea typeface="+mn-ea"/>
                          <a:cs typeface="+mn-cs"/>
                        </a:rPr>
                        <a:t>Total</a:t>
                      </a:r>
                    </a:p>
                  </a:txBody>
                  <a:tcPr/>
                </a:tc>
                <a:tc>
                  <a:txBody>
                    <a:bodyPr/>
                    <a:lstStyle/>
                    <a:p>
                      <a:pPr marL="0" algn="l" defTabSz="914400" rtl="0" eaLnBrk="1" latinLnBrk="0" hangingPunct="1"/>
                      <a:endParaRPr lang="en-US" sz="850" kern="1200">
                        <a:solidFill>
                          <a:schemeClr val="dk1"/>
                        </a:solidFill>
                        <a:latin typeface="+mn-lt"/>
                        <a:ea typeface="+mn-ea"/>
                        <a:cs typeface="+mn-cs"/>
                      </a:endParaRPr>
                    </a:p>
                  </a:txBody>
                  <a:tcPr/>
                </a:tc>
                <a:tc>
                  <a:txBody>
                    <a:bodyPr/>
                    <a:lstStyle/>
                    <a:p>
                      <a:pPr marL="0" algn="l" defTabSz="914400" rtl="0" eaLnBrk="1" latinLnBrk="0" hangingPunct="1"/>
                      <a:r>
                        <a:rPr lang="en-US" sz="850" kern="1200">
                          <a:solidFill>
                            <a:schemeClr val="dk1"/>
                          </a:solidFill>
                          <a:latin typeface="+mn-lt"/>
                          <a:ea typeface="+mn-ea"/>
                          <a:cs typeface="+mn-cs"/>
                        </a:rPr>
                        <a:t>640,361</a:t>
                      </a:r>
                    </a:p>
                  </a:txBody>
                  <a:tcPr/>
                </a:tc>
                <a:tc>
                  <a:txBody>
                    <a:bodyPr/>
                    <a:lstStyle/>
                    <a:p>
                      <a:pPr marL="0" algn="l" defTabSz="914400" rtl="0" eaLnBrk="1" latinLnBrk="0" hangingPunct="1"/>
                      <a:r>
                        <a:rPr lang="en-US" sz="850" kern="1200">
                          <a:solidFill>
                            <a:schemeClr val="dk1"/>
                          </a:solidFill>
                          <a:latin typeface="+mn-lt"/>
                          <a:ea typeface="+mn-ea"/>
                          <a:cs typeface="+mn-cs"/>
                        </a:rPr>
                        <a:t>$568,164</a:t>
                      </a:r>
                    </a:p>
                  </a:txBody>
                  <a:tcPr/>
                </a:tc>
                <a:tc>
                  <a:txBody>
                    <a:bodyPr/>
                    <a:lstStyle/>
                    <a:p>
                      <a:pPr marL="0" algn="l" defTabSz="914400" rtl="0" eaLnBrk="1" latinLnBrk="0" hangingPunct="1"/>
                      <a:r>
                        <a:rPr lang="en-US" sz="850" kern="1200">
                          <a:solidFill>
                            <a:schemeClr val="dk1"/>
                          </a:solidFill>
                          <a:latin typeface="+mn-lt"/>
                          <a:ea typeface="+mn-ea"/>
                          <a:cs typeface="+mn-cs"/>
                        </a:rPr>
                        <a:t>87.3</a:t>
                      </a:r>
                    </a:p>
                  </a:txBody>
                  <a:tcPr/>
                </a:tc>
                <a:extLst>
                  <a:ext uri="{0D108BD9-81ED-4DB2-BD59-A6C34878D82A}">
                    <a16:rowId xmlns:a16="http://schemas.microsoft.com/office/drawing/2014/main" val="2182164871"/>
                  </a:ext>
                </a:extLst>
              </a:tr>
            </a:tbl>
          </a:graphicData>
        </a:graphic>
      </p:graphicFrame>
    </p:spTree>
    <p:extLst>
      <p:ext uri="{BB962C8B-B14F-4D97-AF65-F5344CB8AC3E}">
        <p14:creationId xmlns:p14="http://schemas.microsoft.com/office/powerpoint/2010/main" val="41836446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B26A8F-9551-C729-7997-4A297DD8E771}"/>
            </a:ext>
          </a:extLst>
        </p:cNvPr>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1003E7C2-6E37-E0D7-B8A6-5B9E52813F81}"/>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8" imgH="408" progId="TCLayout.ActiveDocument.1">
                  <p:embed/>
                </p:oleObj>
              </mc:Choice>
              <mc:Fallback>
                <p:oleObj name="think-cell Slide" r:id="rId4" imgW="408" imgH="408" progId="TCLayout.ActiveDocument.1">
                  <p:embed/>
                  <p:pic>
                    <p:nvPicPr>
                      <p:cNvPr id="9" name="think-cell data - do not delete" hidden="1">
                        <a:extLst>
                          <a:ext uri="{FF2B5EF4-FFF2-40B4-BE49-F238E27FC236}">
                            <a16:creationId xmlns:a16="http://schemas.microsoft.com/office/drawing/2014/main" id="{1003E7C2-6E37-E0D7-B8A6-5B9E52813F81}"/>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graphicFrame>
        <p:nvGraphicFramePr>
          <p:cNvPr id="32" name="Group 614">
            <a:extLst>
              <a:ext uri="{FF2B5EF4-FFF2-40B4-BE49-F238E27FC236}">
                <a16:creationId xmlns:a16="http://schemas.microsoft.com/office/drawing/2014/main" id="{7DC42FA8-53EB-9AB6-DAA3-A60C55E1667A}"/>
              </a:ext>
            </a:extLst>
          </p:cNvPr>
          <p:cNvGraphicFramePr>
            <a:graphicFrameLocks noGrp="1"/>
          </p:cNvGraphicFramePr>
          <p:nvPr>
            <p:extLst>
              <p:ext uri="{D42A27DB-BD31-4B8C-83A1-F6EECF244321}">
                <p14:modId xmlns:p14="http://schemas.microsoft.com/office/powerpoint/2010/main" val="527587140"/>
              </p:ext>
            </p:extLst>
          </p:nvPr>
        </p:nvGraphicFramePr>
        <p:xfrm>
          <a:off x="5769029" y="6453071"/>
          <a:ext cx="6385451" cy="386554"/>
        </p:xfrm>
        <a:graphic>
          <a:graphicData uri="http://schemas.openxmlformats.org/drawingml/2006/table">
            <a:tbl>
              <a:tblPr/>
              <a:tblGrid>
                <a:gridCol w="542578">
                  <a:extLst>
                    <a:ext uri="{9D8B030D-6E8A-4147-A177-3AD203B41FA5}">
                      <a16:colId xmlns:a16="http://schemas.microsoft.com/office/drawing/2014/main" val="20000"/>
                    </a:ext>
                  </a:extLst>
                </a:gridCol>
                <a:gridCol w="275000">
                  <a:extLst>
                    <a:ext uri="{9D8B030D-6E8A-4147-A177-3AD203B41FA5}">
                      <a16:colId xmlns:a16="http://schemas.microsoft.com/office/drawing/2014/main" val="20001"/>
                    </a:ext>
                  </a:extLst>
                </a:gridCol>
                <a:gridCol w="677821">
                  <a:extLst>
                    <a:ext uri="{9D8B030D-6E8A-4147-A177-3AD203B41FA5}">
                      <a16:colId xmlns:a16="http://schemas.microsoft.com/office/drawing/2014/main" val="20002"/>
                    </a:ext>
                  </a:extLst>
                </a:gridCol>
                <a:gridCol w="270931">
                  <a:extLst>
                    <a:ext uri="{9D8B030D-6E8A-4147-A177-3AD203B41FA5}">
                      <a16:colId xmlns:a16="http://schemas.microsoft.com/office/drawing/2014/main" val="20003"/>
                    </a:ext>
                  </a:extLst>
                </a:gridCol>
                <a:gridCol w="618040">
                  <a:extLst>
                    <a:ext uri="{9D8B030D-6E8A-4147-A177-3AD203B41FA5}">
                      <a16:colId xmlns:a16="http://schemas.microsoft.com/office/drawing/2014/main" val="20004"/>
                    </a:ext>
                  </a:extLst>
                </a:gridCol>
                <a:gridCol w="495300">
                  <a:extLst>
                    <a:ext uri="{9D8B030D-6E8A-4147-A177-3AD203B41FA5}">
                      <a16:colId xmlns:a16="http://schemas.microsoft.com/office/drawing/2014/main" val="20005"/>
                    </a:ext>
                  </a:extLst>
                </a:gridCol>
                <a:gridCol w="454027">
                  <a:extLst>
                    <a:ext uri="{9D8B030D-6E8A-4147-A177-3AD203B41FA5}">
                      <a16:colId xmlns:a16="http://schemas.microsoft.com/office/drawing/2014/main" val="20006"/>
                    </a:ext>
                  </a:extLst>
                </a:gridCol>
                <a:gridCol w="330133">
                  <a:extLst>
                    <a:ext uri="{9D8B030D-6E8A-4147-A177-3AD203B41FA5}">
                      <a16:colId xmlns:a16="http://schemas.microsoft.com/office/drawing/2014/main" val="20007"/>
                    </a:ext>
                  </a:extLst>
                </a:gridCol>
                <a:gridCol w="1227555">
                  <a:extLst>
                    <a:ext uri="{9D8B030D-6E8A-4147-A177-3AD203B41FA5}">
                      <a16:colId xmlns:a16="http://schemas.microsoft.com/office/drawing/2014/main" val="20008"/>
                    </a:ext>
                  </a:extLst>
                </a:gridCol>
                <a:gridCol w="338392">
                  <a:extLst>
                    <a:ext uri="{9D8B030D-6E8A-4147-A177-3AD203B41FA5}">
                      <a16:colId xmlns:a16="http://schemas.microsoft.com/office/drawing/2014/main" val="20009"/>
                    </a:ext>
                  </a:extLst>
                </a:gridCol>
                <a:gridCol w="1155674">
                  <a:extLst>
                    <a:ext uri="{9D8B030D-6E8A-4147-A177-3AD203B41FA5}">
                      <a16:colId xmlns:a16="http://schemas.microsoft.com/office/drawing/2014/main" val="20010"/>
                    </a:ext>
                  </a:extLst>
                </a:gridCol>
              </a:tblGrid>
              <a:tr h="386554">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Arial" charset="0"/>
                          <a:cs typeface="Arial" charset="0"/>
                        </a:rPr>
                        <a:t>Status Key</a:t>
                      </a:r>
                      <a:endParaRPr kumimoji="0" lang="en-GB" sz="1600" b="0" i="0" u="none" strike="noStrike" cap="none" normalizeH="0" baseline="0">
                        <a:ln>
                          <a:noFill/>
                        </a:ln>
                        <a:solidFill>
                          <a:srgbClr val="002060"/>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mj-lt"/>
                        </a:rPr>
                        <a:t>C</a:t>
                      </a: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Arial" charset="0"/>
                          <a:cs typeface="Arial" charset="0"/>
                        </a:rPr>
                        <a:t>Completed</a:t>
                      </a:r>
                      <a:endParaRPr kumimoji="0" lang="en-GB" sz="1600" b="0" i="0" u="none" strike="noStrike" cap="none" normalizeH="0" baseline="0">
                        <a:ln>
                          <a:noFill/>
                        </a:ln>
                        <a:solidFill>
                          <a:srgbClr val="002060"/>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On-Schedule</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Major Issues</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Some Issues</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NS</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Not Started</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2" name="Title 1">
            <a:extLst>
              <a:ext uri="{FF2B5EF4-FFF2-40B4-BE49-F238E27FC236}">
                <a16:creationId xmlns:a16="http://schemas.microsoft.com/office/drawing/2014/main" id="{FD088F97-8667-C406-96B2-092F3581BB45}"/>
              </a:ext>
            </a:extLst>
          </p:cNvPr>
          <p:cNvSpPr>
            <a:spLocks noGrp="1"/>
          </p:cNvSpPr>
          <p:nvPr>
            <p:ph type="title"/>
          </p:nvPr>
        </p:nvSpPr>
        <p:spPr>
          <a:xfrm>
            <a:off x="269945" y="58323"/>
            <a:ext cx="11652110" cy="517320"/>
          </a:xfrm>
        </p:spPr>
        <p:txBody>
          <a:bodyPr vert="horz">
            <a:normAutofit/>
          </a:bodyPr>
          <a:lstStyle/>
          <a:p>
            <a:r>
              <a:rPr lang="en-US" sz="2400" b="1">
                <a:solidFill>
                  <a:srgbClr val="29389F"/>
                </a:solidFill>
                <a:latin typeface="Arial" pitchFamily="34" charset="0"/>
                <a:cs typeface="Arial" pitchFamily="34" charset="0"/>
              </a:rPr>
              <a:t>PPT: Pet Major Medical On GIN</a:t>
            </a:r>
          </a:p>
        </p:txBody>
      </p:sp>
      <p:graphicFrame>
        <p:nvGraphicFramePr>
          <p:cNvPr id="11" name="Group 513">
            <a:extLst>
              <a:ext uri="{FF2B5EF4-FFF2-40B4-BE49-F238E27FC236}">
                <a16:creationId xmlns:a16="http://schemas.microsoft.com/office/drawing/2014/main" id="{58E1C563-1183-E01F-6A88-FE555CF4697A}"/>
              </a:ext>
            </a:extLst>
          </p:cNvPr>
          <p:cNvGraphicFramePr>
            <a:graphicFrameLocks noGrp="1"/>
          </p:cNvGraphicFramePr>
          <p:nvPr>
            <p:extLst>
              <p:ext uri="{D42A27DB-BD31-4B8C-83A1-F6EECF244321}">
                <p14:modId xmlns:p14="http://schemas.microsoft.com/office/powerpoint/2010/main" val="4075028820"/>
              </p:ext>
            </p:extLst>
          </p:nvPr>
        </p:nvGraphicFramePr>
        <p:xfrm>
          <a:off x="269945" y="855236"/>
          <a:ext cx="2742128" cy="350605"/>
        </p:xfrm>
        <a:graphic>
          <a:graphicData uri="http://schemas.openxmlformats.org/drawingml/2006/table">
            <a:tbl>
              <a:tblPr/>
              <a:tblGrid>
                <a:gridCol w="1019602">
                  <a:extLst>
                    <a:ext uri="{9D8B030D-6E8A-4147-A177-3AD203B41FA5}">
                      <a16:colId xmlns:a16="http://schemas.microsoft.com/office/drawing/2014/main" val="20000"/>
                    </a:ext>
                  </a:extLst>
                </a:gridCol>
                <a:gridCol w="1722526">
                  <a:extLst>
                    <a:ext uri="{9D8B030D-6E8A-4147-A177-3AD203B41FA5}">
                      <a16:colId xmlns:a16="http://schemas.microsoft.com/office/drawing/2014/main" val="20001"/>
                    </a:ext>
                  </a:extLst>
                </a:gridCol>
              </a:tblGrid>
              <a:tr h="350605">
                <a:tc>
                  <a:txBody>
                    <a:bodyPr/>
                    <a:lstStyle/>
                    <a:p>
                      <a:pPr marL="0" marR="0" lvl="0" indent="0" algn="l" defTabSz="914400" rtl="0" eaLnBrk="0" fontAlgn="base" latinLnBrk="0" hangingPunct="0">
                        <a:lnSpc>
                          <a:spcPct val="95000"/>
                        </a:lnSpc>
                        <a:spcBef>
                          <a:spcPct val="0"/>
                        </a:spcBef>
                        <a:spcAft>
                          <a:spcPct val="50000"/>
                        </a:spcAft>
                        <a:buClrTx/>
                        <a:buSzTx/>
                        <a:buFontTx/>
                        <a:buNone/>
                        <a:tabLst/>
                      </a:pPr>
                      <a:r>
                        <a:rPr kumimoji="0" lang="en-GB" sz="1050" b="1" i="0" u="none" strike="noStrike" kern="1200" cap="none" normalizeH="0" baseline="0">
                          <a:ln>
                            <a:noFill/>
                          </a:ln>
                          <a:solidFill>
                            <a:schemeClr val="bg1"/>
                          </a:solidFill>
                          <a:effectLst/>
                          <a:latin typeface="Arial"/>
                          <a:ea typeface="+mn-ea"/>
                          <a:cs typeface="+mn-cs"/>
                        </a:rPr>
                        <a:t>Status Date:</a:t>
                      </a:r>
                    </a:p>
                  </a:txBody>
                  <a:tcPr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GB" sz="850" b="1" i="0" u="none" strike="noStrike" kern="1200" cap="none" normalizeH="0" baseline="0">
                          <a:ln>
                            <a:noFill/>
                          </a:ln>
                          <a:solidFill>
                            <a:schemeClr val="tx1"/>
                          </a:solidFill>
                          <a:effectLst/>
                          <a:latin typeface="Aptos" panose="020B0004020202020204" pitchFamily="34" charset="0"/>
                          <a:ea typeface="+mn-ea"/>
                          <a:cs typeface="+mn-cs"/>
                        </a:rPr>
                        <a:t>8/28/2026</a:t>
                      </a:r>
                    </a:p>
                  </a:txBody>
                  <a:tcPr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14" name="Table 13">
            <a:extLst>
              <a:ext uri="{FF2B5EF4-FFF2-40B4-BE49-F238E27FC236}">
                <a16:creationId xmlns:a16="http://schemas.microsoft.com/office/drawing/2014/main" id="{51835D6A-73B5-8A7B-0858-290E7990DCAB}"/>
              </a:ext>
            </a:extLst>
          </p:cNvPr>
          <p:cNvGraphicFramePr>
            <a:graphicFrameLocks noGrp="1"/>
          </p:cNvGraphicFramePr>
          <p:nvPr/>
        </p:nvGraphicFramePr>
        <p:xfrm>
          <a:off x="6761832" y="845835"/>
          <a:ext cx="5332996" cy="752736"/>
        </p:xfrm>
        <a:graphic>
          <a:graphicData uri="http://schemas.openxmlformats.org/drawingml/2006/table">
            <a:tbl>
              <a:tblPr>
                <a:tableStyleId>{5C22544A-7EE6-4342-B048-85BDC9FD1C3A}</a:tableStyleId>
              </a:tblPr>
              <a:tblGrid>
                <a:gridCol w="1041555">
                  <a:extLst>
                    <a:ext uri="{9D8B030D-6E8A-4147-A177-3AD203B41FA5}">
                      <a16:colId xmlns:a16="http://schemas.microsoft.com/office/drawing/2014/main" val="2456552316"/>
                    </a:ext>
                  </a:extLst>
                </a:gridCol>
                <a:gridCol w="923159">
                  <a:extLst>
                    <a:ext uri="{9D8B030D-6E8A-4147-A177-3AD203B41FA5}">
                      <a16:colId xmlns:a16="http://schemas.microsoft.com/office/drawing/2014/main" val="2327174630"/>
                    </a:ext>
                  </a:extLst>
                </a:gridCol>
                <a:gridCol w="1509489">
                  <a:extLst>
                    <a:ext uri="{9D8B030D-6E8A-4147-A177-3AD203B41FA5}">
                      <a16:colId xmlns:a16="http://schemas.microsoft.com/office/drawing/2014/main" val="1100051595"/>
                    </a:ext>
                  </a:extLst>
                </a:gridCol>
                <a:gridCol w="910684">
                  <a:extLst>
                    <a:ext uri="{9D8B030D-6E8A-4147-A177-3AD203B41FA5}">
                      <a16:colId xmlns:a16="http://schemas.microsoft.com/office/drawing/2014/main" val="2042261034"/>
                    </a:ext>
                  </a:extLst>
                </a:gridCol>
                <a:gridCol w="948109">
                  <a:extLst>
                    <a:ext uri="{9D8B030D-6E8A-4147-A177-3AD203B41FA5}">
                      <a16:colId xmlns:a16="http://schemas.microsoft.com/office/drawing/2014/main" val="2815874248"/>
                    </a:ext>
                  </a:extLst>
                </a:gridCol>
              </a:tblGrid>
              <a:tr h="397258">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2026 Budget</a:t>
                      </a:r>
                      <a:r>
                        <a:rPr lang="en-US" sz="1050" b="1" i="0" u="none" strike="noStrike" kern="1200" cap="none" normalizeH="0" baseline="0">
                          <a:ln>
                            <a:noFill/>
                          </a:ln>
                          <a:solidFill>
                            <a:schemeClr val="bg1"/>
                          </a:solidFill>
                          <a:effectLst/>
                          <a:latin typeface="Arial"/>
                          <a:ea typeface="+mn-ea"/>
                          <a:cs typeface="+mn-cs"/>
                        </a:rPr>
                        <a:t> </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YTD </a:t>
                      </a:r>
                      <a:r>
                        <a:rPr kumimoji="0" lang="en-US" sz="1050" b="1" i="0" u="none" strike="noStrike" kern="1200" cap="none" normalizeH="0" baseline="0">
                          <a:ln>
                            <a:noFill/>
                          </a:ln>
                          <a:solidFill>
                            <a:schemeClr val="bg1"/>
                          </a:solidFill>
                          <a:effectLst/>
                          <a:latin typeface="Arial"/>
                          <a:ea typeface="+mn-ea"/>
                          <a:cs typeface="+mn-cs"/>
                        </a:rPr>
                        <a:t>Actuals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Remaining 2026 Forecast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Total </a:t>
                      </a:r>
                    </a:p>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Actuals +Fcst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Total </a:t>
                      </a:r>
                    </a:p>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Budget</a:t>
                      </a:r>
                      <a:r>
                        <a:rPr lang="en-US" sz="1050" b="1" i="0" u="none" strike="noStrike" kern="1200" cap="none" normalizeH="0" baseline="0">
                          <a:ln>
                            <a:noFill/>
                          </a:ln>
                          <a:solidFill>
                            <a:schemeClr val="bg1"/>
                          </a:solidFill>
                          <a:effectLst/>
                          <a:latin typeface="Arial"/>
                          <a:ea typeface="+mn-ea"/>
                          <a:cs typeface="+mn-cs"/>
                        </a:rPr>
                        <a:t> </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355478">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850" b="0" i="0" u="none" strike="noStrike" kern="1200" cap="none" normalizeH="0" baseline="0">
                          <a:ln>
                            <a:noFill/>
                          </a:ln>
                          <a:solidFill>
                            <a:schemeClr val="tx1"/>
                          </a:solidFill>
                          <a:effectLst/>
                          <a:latin typeface="Aptos" panose="020B0004020202020204" pitchFamily="34" charset="0"/>
                          <a:ea typeface="+mn-ea"/>
                          <a:cs typeface="+mn-cs"/>
                        </a:rPr>
                        <a:t>$840,000</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850" b="0" i="0" u="none" strike="noStrike" kern="1200" cap="none" normalizeH="0" baseline="0">
                          <a:ln>
                            <a:noFill/>
                          </a:ln>
                          <a:solidFill>
                            <a:schemeClr val="tx1"/>
                          </a:solidFill>
                          <a:effectLst/>
                          <a:latin typeface="Aptos" panose="020B0004020202020204" pitchFamily="34" charset="0"/>
                          <a:ea typeface="+mn-ea"/>
                          <a:cs typeface="+mn-cs"/>
                        </a:rPr>
                        <a:t>$117,650</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defRPr/>
                      </a:pPr>
                      <a:r>
                        <a:rPr kumimoji="0" lang="en-US" sz="850" b="0" i="0" u="none" strike="noStrike" kern="1200" cap="none" normalizeH="0" baseline="0">
                          <a:ln>
                            <a:noFill/>
                          </a:ln>
                          <a:solidFill>
                            <a:schemeClr val="tx1"/>
                          </a:solidFill>
                          <a:effectLst/>
                          <a:latin typeface="Aptos" panose="020B0004020202020204" pitchFamily="34" charset="0"/>
                          <a:ea typeface="+mn-ea"/>
                          <a:cs typeface="+mn-cs"/>
                        </a:rPr>
                        <a:t>$761,646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850" b="0" i="0" u="none" strike="noStrike" kern="1200" cap="none" normalizeH="0" baseline="0">
                          <a:ln>
                            <a:noFill/>
                          </a:ln>
                          <a:solidFill>
                            <a:schemeClr val="tx1"/>
                          </a:solidFill>
                          <a:effectLst/>
                          <a:latin typeface="Aptos" panose="020B0004020202020204" pitchFamily="34" charset="0"/>
                          <a:ea typeface="+mn-ea"/>
                          <a:cs typeface="+mn-cs"/>
                        </a:rPr>
                        <a:t>$879,296</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defRPr/>
                      </a:pPr>
                      <a:r>
                        <a:rPr kumimoji="0" lang="en-US" sz="850" b="0" i="0" u="none" strike="noStrike" kern="1200" cap="none" normalizeH="0" baseline="0">
                          <a:ln>
                            <a:noFill/>
                          </a:ln>
                          <a:solidFill>
                            <a:schemeClr val="tx1"/>
                          </a:solidFill>
                          <a:effectLst/>
                          <a:latin typeface="Aptos" panose="020B0004020202020204" pitchFamily="34" charset="0"/>
                          <a:ea typeface="+mn-ea"/>
                          <a:cs typeface="+mn-cs"/>
                        </a:rPr>
                        <a:t>$840,000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7499024"/>
                  </a:ext>
                </a:extLst>
              </a:tr>
            </a:tbl>
          </a:graphicData>
        </a:graphic>
      </p:graphicFrame>
      <p:graphicFrame>
        <p:nvGraphicFramePr>
          <p:cNvPr id="25" name="Table 24">
            <a:extLst>
              <a:ext uri="{FF2B5EF4-FFF2-40B4-BE49-F238E27FC236}">
                <a16:creationId xmlns:a16="http://schemas.microsoft.com/office/drawing/2014/main" id="{B4F178FA-20E6-34BE-1803-08DD254AE78D}"/>
              </a:ext>
            </a:extLst>
          </p:cNvPr>
          <p:cNvGraphicFramePr>
            <a:graphicFrameLocks noGrp="1"/>
          </p:cNvGraphicFramePr>
          <p:nvPr/>
        </p:nvGraphicFramePr>
        <p:xfrm>
          <a:off x="2922347" y="847279"/>
          <a:ext cx="3829275" cy="749848"/>
        </p:xfrm>
        <a:graphic>
          <a:graphicData uri="http://schemas.openxmlformats.org/drawingml/2006/table">
            <a:tbl>
              <a:tblPr>
                <a:tableStyleId>{5C22544A-7EE6-4342-B048-85BDC9FD1C3A}</a:tableStyleId>
              </a:tblPr>
              <a:tblGrid>
                <a:gridCol w="1042158">
                  <a:extLst>
                    <a:ext uri="{9D8B030D-6E8A-4147-A177-3AD203B41FA5}">
                      <a16:colId xmlns:a16="http://schemas.microsoft.com/office/drawing/2014/main" val="2456552316"/>
                    </a:ext>
                  </a:extLst>
                </a:gridCol>
                <a:gridCol w="961214">
                  <a:extLst>
                    <a:ext uri="{9D8B030D-6E8A-4147-A177-3AD203B41FA5}">
                      <a16:colId xmlns:a16="http://schemas.microsoft.com/office/drawing/2014/main" val="1100051595"/>
                    </a:ext>
                  </a:extLst>
                </a:gridCol>
                <a:gridCol w="920742">
                  <a:extLst>
                    <a:ext uri="{9D8B030D-6E8A-4147-A177-3AD203B41FA5}">
                      <a16:colId xmlns:a16="http://schemas.microsoft.com/office/drawing/2014/main" val="2042261034"/>
                    </a:ext>
                  </a:extLst>
                </a:gridCol>
                <a:gridCol w="905161">
                  <a:extLst>
                    <a:ext uri="{9D8B030D-6E8A-4147-A177-3AD203B41FA5}">
                      <a16:colId xmlns:a16="http://schemas.microsoft.com/office/drawing/2014/main" val="2815874248"/>
                    </a:ext>
                  </a:extLst>
                </a:gridCol>
              </a:tblGrid>
              <a:tr h="409508">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Overall</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Scope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Schedule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Financials</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340340">
                <a:tc>
                  <a:txBody>
                    <a:bodyPr/>
                    <a:lstStyle/>
                    <a:p>
                      <a:pPr marL="0" marR="0" lvl="0" indent="0" algn="ctr" rtl="0" eaLnBrk="1" fontAlgn="ctr" latinLnBrk="0" hangingPunct="1">
                        <a:lnSpc>
                          <a:spcPct val="95000"/>
                        </a:lnSpc>
                        <a:spcBef>
                          <a:spcPct val="0"/>
                        </a:spcBef>
                        <a:spcAft>
                          <a:spcPct val="50000"/>
                        </a:spcAft>
                        <a:buClrTx/>
                        <a:buSzTx/>
                        <a:buFontTx/>
                        <a:buNone/>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rtl="0" eaLnBrk="1" fontAlgn="ctr" latinLnBrk="0" hangingPunct="1">
                        <a:lnSpc>
                          <a:spcPct val="95000"/>
                        </a:lnSpc>
                        <a:spcBef>
                          <a:spcPct val="0"/>
                        </a:spcBef>
                        <a:spcAft>
                          <a:spcPct val="50000"/>
                        </a:spcAft>
                        <a:buClrTx/>
                        <a:buSzTx/>
                        <a:buFontTx/>
                        <a:buNone/>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7499024"/>
                  </a:ext>
                </a:extLst>
              </a:tr>
            </a:tbl>
          </a:graphicData>
        </a:graphic>
      </p:graphicFrame>
      <p:graphicFrame>
        <p:nvGraphicFramePr>
          <p:cNvPr id="26" name="Group 513">
            <a:extLst>
              <a:ext uri="{FF2B5EF4-FFF2-40B4-BE49-F238E27FC236}">
                <a16:creationId xmlns:a16="http://schemas.microsoft.com/office/drawing/2014/main" id="{A5187552-8DB6-6B9F-9D1E-C6AD33CA1F62}"/>
              </a:ext>
            </a:extLst>
          </p:cNvPr>
          <p:cNvGraphicFramePr>
            <a:graphicFrameLocks noGrp="1"/>
          </p:cNvGraphicFramePr>
          <p:nvPr/>
        </p:nvGraphicFramePr>
        <p:xfrm>
          <a:off x="269945" y="1202460"/>
          <a:ext cx="2642192" cy="401742"/>
        </p:xfrm>
        <a:graphic>
          <a:graphicData uri="http://schemas.openxmlformats.org/drawingml/2006/table">
            <a:tbl>
              <a:tblPr/>
              <a:tblGrid>
                <a:gridCol w="1022049">
                  <a:extLst>
                    <a:ext uri="{9D8B030D-6E8A-4147-A177-3AD203B41FA5}">
                      <a16:colId xmlns:a16="http://schemas.microsoft.com/office/drawing/2014/main" val="20000"/>
                    </a:ext>
                  </a:extLst>
                </a:gridCol>
                <a:gridCol w="1620143">
                  <a:extLst>
                    <a:ext uri="{9D8B030D-6E8A-4147-A177-3AD203B41FA5}">
                      <a16:colId xmlns:a16="http://schemas.microsoft.com/office/drawing/2014/main" val="20001"/>
                    </a:ext>
                  </a:extLst>
                </a:gridCol>
              </a:tblGrid>
              <a:tr h="401742">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GB" sz="1050" b="1" i="0" u="none" strike="noStrike" kern="1200" cap="none" normalizeH="0" baseline="0">
                          <a:ln>
                            <a:noFill/>
                          </a:ln>
                          <a:solidFill>
                            <a:schemeClr val="bg1"/>
                          </a:solidFill>
                          <a:effectLst/>
                          <a:latin typeface="Arial"/>
                          <a:ea typeface="+mn-ea"/>
                          <a:cs typeface="+mn-cs"/>
                        </a:rPr>
                        <a:t>Target Delivery:</a:t>
                      </a:r>
                    </a:p>
                  </a:txBody>
                  <a:tcPr marL="0" marR="0"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2/10/2027</a:t>
                      </a:r>
                    </a:p>
                  </a:txBody>
                  <a:tcPr marL="0" marR="0"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27" name="Table 26">
            <a:extLst>
              <a:ext uri="{FF2B5EF4-FFF2-40B4-BE49-F238E27FC236}">
                <a16:creationId xmlns:a16="http://schemas.microsoft.com/office/drawing/2014/main" id="{2DD87ECE-4493-C3F7-1113-A6E34028E3F2}"/>
              </a:ext>
            </a:extLst>
          </p:cNvPr>
          <p:cNvGraphicFramePr>
            <a:graphicFrameLocks noGrp="1"/>
          </p:cNvGraphicFramePr>
          <p:nvPr>
            <p:extLst>
              <p:ext uri="{D42A27DB-BD31-4B8C-83A1-F6EECF244321}">
                <p14:modId xmlns:p14="http://schemas.microsoft.com/office/powerpoint/2010/main" val="781065892"/>
              </p:ext>
            </p:extLst>
          </p:nvPr>
        </p:nvGraphicFramePr>
        <p:xfrm>
          <a:off x="5779268" y="1589900"/>
          <a:ext cx="6353266" cy="2784357"/>
        </p:xfrm>
        <a:graphic>
          <a:graphicData uri="http://schemas.openxmlformats.org/drawingml/2006/table">
            <a:tbl>
              <a:tblPr>
                <a:tableStyleId>{5C22544A-7EE6-4342-B048-85BDC9FD1C3A}</a:tableStyleId>
              </a:tblPr>
              <a:tblGrid>
                <a:gridCol w="2410139">
                  <a:extLst>
                    <a:ext uri="{9D8B030D-6E8A-4147-A177-3AD203B41FA5}">
                      <a16:colId xmlns:a16="http://schemas.microsoft.com/office/drawing/2014/main" val="2456552316"/>
                    </a:ext>
                  </a:extLst>
                </a:gridCol>
                <a:gridCol w="452175">
                  <a:extLst>
                    <a:ext uri="{9D8B030D-6E8A-4147-A177-3AD203B41FA5}">
                      <a16:colId xmlns:a16="http://schemas.microsoft.com/office/drawing/2014/main" val="1100051595"/>
                    </a:ext>
                  </a:extLst>
                </a:gridCol>
                <a:gridCol w="502418">
                  <a:extLst>
                    <a:ext uri="{9D8B030D-6E8A-4147-A177-3AD203B41FA5}">
                      <a16:colId xmlns:a16="http://schemas.microsoft.com/office/drawing/2014/main" val="2042261034"/>
                    </a:ext>
                  </a:extLst>
                </a:gridCol>
                <a:gridCol w="2988534">
                  <a:extLst>
                    <a:ext uri="{9D8B030D-6E8A-4147-A177-3AD203B41FA5}">
                      <a16:colId xmlns:a16="http://schemas.microsoft.com/office/drawing/2014/main" val="2815874248"/>
                    </a:ext>
                  </a:extLst>
                </a:gridCol>
              </a:tblGrid>
              <a:tr h="0">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Milestone</a:t>
                      </a:r>
                    </a:p>
                    <a:p>
                      <a:pPr marL="0" marR="0" lvl="0" indent="0" algn="ctr" rtl="0" eaLnBrk="0" fontAlgn="base" latinLnBrk="0" hangingPunct="0">
                        <a:lnSpc>
                          <a:spcPct val="95000"/>
                        </a:lnSpc>
                        <a:spcBef>
                          <a:spcPct val="0"/>
                        </a:spcBef>
                        <a:spcAft>
                          <a:spcPct val="50000"/>
                        </a:spcAft>
                        <a:buClrTx/>
                        <a:buSzTx/>
                        <a:buFontTx/>
                        <a:buNone/>
                      </a:pPr>
                      <a:endParaRPr kumimoji="0" lang="en-US" sz="1050" b="1" i="0" u="none" strike="noStrike" kern="1200" cap="none" normalizeH="0" baseline="0">
                        <a:ln>
                          <a:noFill/>
                        </a:ln>
                        <a:solidFill>
                          <a:schemeClr val="bg1"/>
                        </a:solidFill>
                        <a:effectLst/>
                        <a:latin typeface="Arial"/>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Status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Due Date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Notes</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205449">
                <a:tc>
                  <a:txBody>
                    <a:bodyPr/>
                    <a:lstStyle/>
                    <a:p>
                      <a:pPr marL="0" marR="0" lvl="0" indent="0" algn="l" defTabSz="685858" rtl="0" eaLnBrk="1" fontAlgn="auto" latinLnBrk="0" hangingPunct="1">
                        <a:lnSpc>
                          <a:spcPct val="100000"/>
                        </a:lnSpc>
                        <a:spcBef>
                          <a:spcPts val="0"/>
                        </a:spcBef>
                        <a:spcAft>
                          <a:spcPts val="0"/>
                        </a:spcAft>
                        <a:buClrTx/>
                        <a:buSzTx/>
                        <a:buFontTx/>
                        <a:buNone/>
                        <a:tabLst/>
                        <a:defRPr/>
                      </a:pPr>
                      <a:r>
                        <a:rPr lang="en-US" sz="850" b="0" kern="1200">
                          <a:solidFill>
                            <a:schemeClr val="tx1"/>
                          </a:solidFill>
                          <a:latin typeface="Aptos" panose="020B0004020202020204" pitchFamily="34" charset="0"/>
                          <a:ea typeface="+mn-ea"/>
                          <a:cs typeface="+mn-cs"/>
                        </a:rPr>
                        <a:t>DDIT</a:t>
                      </a:r>
                    </a:p>
                    <a:p>
                      <a:pPr marL="0" marR="0" lvl="0" indent="0" algn="l">
                        <a:lnSpc>
                          <a:spcPct val="100000"/>
                        </a:lnSpc>
                        <a:spcBef>
                          <a:spcPts val="0"/>
                        </a:spcBef>
                        <a:spcAft>
                          <a:spcPts val="0"/>
                        </a:spcAft>
                        <a:buClrTx/>
                        <a:buSzTx/>
                        <a:buFontTx/>
                        <a:buNone/>
                      </a:pPr>
                      <a:endParaRPr lang="en-US" sz="850" b="0" kern="1200">
                        <a:solidFill>
                          <a:schemeClr val="tx1"/>
                        </a:solidFill>
                        <a:latin typeface="Aptos" panose="020B0004020202020204"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850" b="0" kern="1200">
                        <a:solidFill>
                          <a:schemeClr val="tx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rtl="0" eaLnBrk="1" fontAlgn="ctr" latinLnBrk="0" hangingPunct="1">
                        <a:lnSpc>
                          <a:spcPct val="95000"/>
                        </a:lnSpc>
                        <a:spcBef>
                          <a:spcPct val="0"/>
                        </a:spcBef>
                        <a:spcAft>
                          <a:spcPct val="50000"/>
                        </a:spcAft>
                        <a:buClrTx/>
                        <a:buSzTx/>
                        <a:buFontTx/>
                        <a:buNone/>
                      </a:pPr>
                      <a:r>
                        <a:rPr lang="en-US" sz="850" b="0" kern="1200">
                          <a:solidFill>
                            <a:schemeClr val="tx1"/>
                          </a:solidFill>
                          <a:effectLst/>
                          <a:latin typeface="Aptos" panose="020B0004020202020204" pitchFamily="34" charset="0"/>
                          <a:ea typeface="+mn-ea"/>
                          <a:cs typeface="+mn-cs"/>
                        </a:rPr>
                        <a:t> 12/2/26</a:t>
                      </a:r>
                      <a:endParaRPr lang="en-US" sz="850" b="0" strike="noStrike" kern="1200">
                        <a:solidFill>
                          <a:schemeClr val="tx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ts val="200"/>
                        </a:spcBef>
                        <a:spcAft>
                          <a:spcPts val="0"/>
                        </a:spcAft>
                        <a:buClrTx/>
                        <a:buSzTx/>
                        <a:buFontTx/>
                        <a:buNone/>
                        <a:tabLst/>
                        <a:defRPr/>
                      </a:pPr>
                      <a:endParaRPr lang="en-US" sz="850" b="0" kern="1200">
                        <a:solidFill>
                          <a:schemeClr val="tx1"/>
                        </a:solidFill>
                        <a:effectLst/>
                        <a:latin typeface="Aptos" panose="020B0004020202020204" pitchFamily="34" charset="0"/>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41314204"/>
                  </a:ext>
                </a:extLst>
              </a:tr>
              <a:tr h="281241">
                <a:tc>
                  <a:txBody>
                    <a:bodyPr/>
                    <a:lstStyle/>
                    <a:p>
                      <a:pPr marL="0" marR="0" lvl="0" indent="0" algn="l" rtl="0" eaLnBrk="1" fontAlgn="auto" latinLnBrk="0" hangingPunct="1">
                        <a:lnSpc>
                          <a:spcPct val="100000"/>
                        </a:lnSpc>
                        <a:spcBef>
                          <a:spcPts val="0"/>
                        </a:spcBef>
                        <a:spcAft>
                          <a:spcPts val="0"/>
                        </a:spcAft>
                        <a:buClrTx/>
                        <a:buSzTx/>
                        <a:buFontTx/>
                        <a:buNone/>
                      </a:pPr>
                      <a:r>
                        <a:rPr lang="en-US" sz="850" b="0" kern="1200">
                          <a:solidFill>
                            <a:schemeClr val="tx1"/>
                          </a:solidFill>
                          <a:latin typeface="Aptos" panose="020B0004020202020204" pitchFamily="34" charset="0"/>
                          <a:ea typeface="+mn-ea"/>
                          <a:cs typeface="+mn-cs"/>
                        </a:rPr>
                        <a:t>E2E Testing</a:t>
                      </a:r>
                    </a:p>
                    <a:p>
                      <a:pPr marL="0" marR="0" lvl="0" indent="0" algn="l">
                        <a:lnSpc>
                          <a:spcPct val="100000"/>
                        </a:lnSpc>
                        <a:spcBef>
                          <a:spcPts val="0"/>
                        </a:spcBef>
                        <a:spcAft>
                          <a:spcPts val="0"/>
                        </a:spcAft>
                        <a:buClrTx/>
                        <a:buSzTx/>
                        <a:buFontTx/>
                        <a:buNone/>
                      </a:pPr>
                      <a:endParaRPr lang="en-US" sz="850" b="0" kern="1200">
                        <a:solidFill>
                          <a:schemeClr val="tx1"/>
                        </a:solidFill>
                        <a:latin typeface="Aptos" panose="020B0004020202020204"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50" b="0" kern="1200">
                          <a:solidFill>
                            <a:schemeClr val="tx1"/>
                          </a:solidFill>
                          <a:effectLst/>
                          <a:latin typeface="Aptos" panose="020B0004020202020204" pitchFamily="34" charset="0"/>
                          <a:ea typeface="+mn-ea"/>
                          <a:cs typeface="+mn-cs"/>
                        </a:rPr>
                        <a:t>NS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defRPr/>
                      </a:pPr>
                      <a:r>
                        <a:rPr kumimoji="0" lang="en-US" sz="850" b="0" i="0" u="none" strike="noStrike" kern="1200" cap="none" spc="0" normalizeH="0" baseline="0" noProof="0">
                          <a:ln>
                            <a:noFill/>
                          </a:ln>
                          <a:solidFill>
                            <a:prstClr val="black"/>
                          </a:solidFill>
                          <a:effectLst/>
                          <a:uLnTx/>
                          <a:uFillTx/>
                          <a:latin typeface="Aptos" panose="020B0004020202020204" pitchFamily="34" charset="0"/>
                          <a:ea typeface="+mn-ea"/>
                          <a:cs typeface="+mn-cs"/>
                        </a:rPr>
                        <a:t>1/6/27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eaLnBrk="1" fontAlgn="ctr" latinLnBrk="0" hangingPunct="1">
                        <a:lnSpc>
                          <a:spcPct val="95000"/>
                        </a:lnSpc>
                        <a:spcBef>
                          <a:spcPct val="0"/>
                        </a:spcBef>
                        <a:spcAft>
                          <a:spcPct val="50000"/>
                        </a:spcAft>
                        <a:buClrTx/>
                        <a:buSzTx/>
                        <a:buFontTx/>
                        <a:buNone/>
                      </a:pPr>
                      <a:endParaRPr lang="en-US" sz="850" b="0" kern="1200">
                        <a:solidFill>
                          <a:schemeClr val="tx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17819655"/>
                  </a:ext>
                </a:extLst>
              </a:tr>
              <a:tr h="313693">
                <a:tc>
                  <a:txBody>
                    <a:bodyPr/>
                    <a:lstStyle/>
                    <a:p>
                      <a:pPr marL="0" marR="0" lvl="0" indent="0" algn="l" defTabSz="685858" rtl="0" eaLnBrk="1" fontAlgn="auto" latinLnBrk="0" hangingPunct="1">
                        <a:lnSpc>
                          <a:spcPct val="100000"/>
                        </a:lnSpc>
                        <a:spcBef>
                          <a:spcPts val="0"/>
                        </a:spcBef>
                        <a:spcAft>
                          <a:spcPts val="0"/>
                        </a:spcAft>
                        <a:buClrTx/>
                        <a:buSzTx/>
                        <a:buFontTx/>
                        <a:buNone/>
                        <a:tabLst/>
                        <a:defRPr/>
                      </a:pPr>
                      <a:r>
                        <a:rPr lang="en-US" sz="850" b="0" strike="noStrike" kern="1200">
                          <a:solidFill>
                            <a:schemeClr val="tx1"/>
                          </a:solidFill>
                          <a:latin typeface="Aptos" panose="020B0004020202020204" pitchFamily="34" charset="0"/>
                          <a:ea typeface="+mn-ea"/>
                          <a:cs typeface="+mn-cs"/>
                        </a:rPr>
                        <a:t>UAT Sign-off / Code Freeze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rtl="0" eaLnBrk="1" fontAlgn="auto" latinLnBrk="0" hangingPunct="1">
                        <a:lnSpc>
                          <a:spcPct val="100000"/>
                        </a:lnSpc>
                        <a:spcBef>
                          <a:spcPts val="0"/>
                        </a:spcBef>
                        <a:spcAft>
                          <a:spcPts val="0"/>
                        </a:spcAft>
                        <a:buClrTx/>
                        <a:buSzTx/>
                        <a:buFontTx/>
                        <a:buNone/>
                      </a:pPr>
                      <a:endParaRPr lang="en-US" sz="850" b="0" kern="1200">
                        <a:solidFill>
                          <a:schemeClr val="tx1"/>
                        </a:solidFill>
                        <a:effectLst/>
                        <a:latin typeface="Aptos" panose="020B0004020202020204" pitchFamily="34" charset="0"/>
                        <a:ea typeface="+mn-ea"/>
                        <a:cs typeface="+mn-cs"/>
                      </a:endParaRPr>
                    </a:p>
                    <a:p>
                      <a:pPr marL="0" marR="0" lvl="0" indent="0" algn="ctr" defTabSz="914400">
                        <a:lnSpc>
                          <a:spcPct val="100000"/>
                        </a:lnSpc>
                        <a:spcBef>
                          <a:spcPts val="0"/>
                        </a:spcBef>
                        <a:spcAft>
                          <a:spcPts val="0"/>
                        </a:spcAft>
                        <a:buClrTx/>
                        <a:buSzTx/>
                        <a:buFontTx/>
                        <a:buNone/>
                        <a:tabLst/>
                        <a:defRPr/>
                      </a:pPr>
                      <a:r>
                        <a:rPr lang="en-US" sz="850" b="0" kern="1200">
                          <a:solidFill>
                            <a:schemeClr val="tx1"/>
                          </a:solidFill>
                          <a:effectLst/>
                          <a:latin typeface="Aptos" panose="020B0004020202020204" pitchFamily="34" charset="0"/>
                          <a:ea typeface="+mn-ea"/>
                          <a:cs typeface="+mn-cs"/>
                        </a:rPr>
                        <a:t>NS</a:t>
                      </a:r>
                    </a:p>
                    <a:p>
                      <a:pPr algn="ctr"/>
                      <a:endParaRPr lang="en-US" sz="850" b="0" kern="1200">
                        <a:solidFill>
                          <a:schemeClr val="tx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defRPr/>
                      </a:pPr>
                      <a:r>
                        <a:rPr kumimoji="0" lang="en-US" sz="850" b="0" i="0" u="none" strike="noStrike" kern="1200" cap="none" spc="0" normalizeH="0" baseline="0" noProof="0">
                          <a:ln>
                            <a:noFill/>
                          </a:ln>
                          <a:solidFill>
                            <a:prstClr val="black"/>
                          </a:solidFill>
                          <a:effectLst/>
                          <a:uLnTx/>
                          <a:uFillTx/>
                          <a:latin typeface="Aptos" panose="020B0004020202020204" pitchFamily="34" charset="0"/>
                          <a:ea typeface="+mn-ea"/>
                          <a:cs typeface="+mn-cs"/>
                        </a:rPr>
                        <a:t>1/29/27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eaLnBrk="1" fontAlgn="ctr" latinLnBrk="0" hangingPunct="1">
                        <a:lnSpc>
                          <a:spcPct val="95000"/>
                        </a:lnSpc>
                        <a:spcBef>
                          <a:spcPct val="0"/>
                        </a:spcBef>
                        <a:spcAft>
                          <a:spcPct val="50000"/>
                        </a:spcAft>
                        <a:buClrTx/>
                        <a:buSzTx/>
                        <a:buFontTx/>
                        <a:buNone/>
                      </a:pPr>
                      <a:endParaRPr lang="en-US" sz="850" b="0" kern="1200">
                        <a:solidFill>
                          <a:schemeClr val="tx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62506059"/>
                  </a:ext>
                </a:extLst>
              </a:tr>
              <a:tr h="313693">
                <a:tc>
                  <a:txBody>
                    <a:bodyPr/>
                    <a:lstStyle/>
                    <a:p>
                      <a:pPr marL="0" marR="0" lvl="0" indent="0" algn="l" defTabSz="685858" rtl="0" eaLnBrk="1" fontAlgn="auto" latinLnBrk="0" hangingPunct="1">
                        <a:lnSpc>
                          <a:spcPct val="100000"/>
                        </a:lnSpc>
                        <a:spcBef>
                          <a:spcPts val="0"/>
                        </a:spcBef>
                        <a:spcAft>
                          <a:spcPts val="0"/>
                        </a:spcAft>
                        <a:buClrTx/>
                        <a:buSzTx/>
                        <a:buFontTx/>
                        <a:buNone/>
                        <a:tabLst/>
                        <a:defRPr/>
                      </a:pPr>
                      <a:r>
                        <a:rPr lang="en-US" sz="850" b="0" strike="noStrike" kern="1200">
                          <a:solidFill>
                            <a:schemeClr val="tx1"/>
                          </a:solidFill>
                          <a:latin typeface="Aptos" panose="020B0004020202020204" pitchFamily="34" charset="0"/>
                          <a:ea typeface="+mn-ea"/>
                          <a:cs typeface="+mn-cs"/>
                        </a:rPr>
                        <a:t>Final Regression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50" b="0" kern="1200">
                          <a:solidFill>
                            <a:schemeClr val="tx1"/>
                          </a:solidFill>
                          <a:effectLst/>
                          <a:latin typeface="Aptos" panose="020B0004020202020204" pitchFamily="34" charset="0"/>
                          <a:ea typeface="+mn-ea"/>
                          <a:cs typeface="+mn-cs"/>
                        </a:rPr>
                        <a:t>NS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defRPr/>
                      </a:pPr>
                      <a:r>
                        <a:rPr kumimoji="0" lang="en-US" sz="850" b="0" i="0" u="none" strike="noStrike" kern="1200" cap="none" spc="0" normalizeH="0" baseline="0" noProof="0">
                          <a:ln>
                            <a:noFill/>
                          </a:ln>
                          <a:solidFill>
                            <a:prstClr val="black"/>
                          </a:solidFill>
                          <a:effectLst/>
                          <a:uLnTx/>
                          <a:uFillTx/>
                          <a:latin typeface="Aptos" panose="020B0004020202020204" pitchFamily="34" charset="0"/>
                          <a:ea typeface="+mn-ea"/>
                          <a:cs typeface="+mn-cs"/>
                        </a:rPr>
                        <a:t>2/3/27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eaLnBrk="1" fontAlgn="ctr" latinLnBrk="0" hangingPunct="1">
                        <a:lnSpc>
                          <a:spcPct val="95000"/>
                        </a:lnSpc>
                        <a:spcBef>
                          <a:spcPct val="0"/>
                        </a:spcBef>
                        <a:spcAft>
                          <a:spcPct val="50000"/>
                        </a:spcAft>
                        <a:buClrTx/>
                        <a:buSzTx/>
                        <a:buFontTx/>
                        <a:buNone/>
                      </a:pPr>
                      <a:endParaRPr lang="en-US" sz="850" b="0" kern="1200">
                        <a:solidFill>
                          <a:schemeClr val="tx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38133636"/>
                  </a:ext>
                </a:extLst>
              </a:tr>
              <a:tr h="313693">
                <a:tc>
                  <a:txBody>
                    <a:bodyPr/>
                    <a:lstStyle/>
                    <a:p>
                      <a:pPr marL="0" marR="0" lvl="0" indent="0" algn="l" defTabSz="685858" rtl="0" eaLnBrk="1" fontAlgn="auto" latinLnBrk="0" hangingPunct="1">
                        <a:lnSpc>
                          <a:spcPct val="100000"/>
                        </a:lnSpc>
                        <a:spcBef>
                          <a:spcPts val="0"/>
                        </a:spcBef>
                        <a:spcAft>
                          <a:spcPts val="0"/>
                        </a:spcAft>
                        <a:buClrTx/>
                        <a:buSzTx/>
                        <a:buFontTx/>
                        <a:buNone/>
                        <a:tabLst/>
                        <a:defRPr/>
                      </a:pPr>
                      <a:r>
                        <a:rPr lang="en-US" sz="850" b="0" strike="noStrike" kern="1200">
                          <a:solidFill>
                            <a:schemeClr val="tx1"/>
                          </a:solidFill>
                          <a:latin typeface="Aptos" panose="020B0004020202020204" pitchFamily="34" charset="0"/>
                          <a:ea typeface="+mn-ea"/>
                          <a:cs typeface="+mn-cs"/>
                        </a:rPr>
                        <a:t>Staging Validations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50" b="0" kern="1200">
                          <a:solidFill>
                            <a:schemeClr val="tx1"/>
                          </a:solidFill>
                          <a:effectLst/>
                          <a:latin typeface="Aptos" panose="020B0004020202020204" pitchFamily="34" charset="0"/>
                          <a:ea typeface="+mn-ea"/>
                          <a:cs typeface="+mn-cs"/>
                        </a:rPr>
                        <a:t>NS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defRPr/>
                      </a:pPr>
                      <a:r>
                        <a:rPr kumimoji="0" lang="en-US" sz="850" b="0" i="0" u="none" strike="noStrike" kern="1200" cap="none" spc="0" normalizeH="0" baseline="0" noProof="0">
                          <a:ln>
                            <a:noFill/>
                          </a:ln>
                          <a:solidFill>
                            <a:prstClr val="black"/>
                          </a:solidFill>
                          <a:effectLst/>
                          <a:uLnTx/>
                          <a:uFillTx/>
                          <a:latin typeface="Aptos" panose="020B0004020202020204" pitchFamily="34" charset="0"/>
                          <a:ea typeface="+mn-ea"/>
                          <a:cs typeface="+mn-cs"/>
                        </a:rPr>
                        <a:t>2/9/27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eaLnBrk="1" fontAlgn="ctr" latinLnBrk="0" hangingPunct="1">
                        <a:lnSpc>
                          <a:spcPct val="95000"/>
                        </a:lnSpc>
                        <a:spcBef>
                          <a:spcPct val="0"/>
                        </a:spcBef>
                        <a:spcAft>
                          <a:spcPct val="50000"/>
                        </a:spcAft>
                        <a:buClrTx/>
                        <a:buSzTx/>
                        <a:buFontTx/>
                        <a:buNone/>
                      </a:pPr>
                      <a:endParaRPr lang="en-US" sz="850" b="0" kern="1200">
                        <a:solidFill>
                          <a:schemeClr val="tx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9233336"/>
                  </a:ext>
                </a:extLst>
              </a:tr>
              <a:tr h="313693">
                <a:tc>
                  <a:txBody>
                    <a:bodyPr/>
                    <a:lstStyle/>
                    <a:p>
                      <a:pPr marL="0" marR="0" lvl="0" indent="0" algn="l" defTabSz="685858" rtl="0" eaLnBrk="1" fontAlgn="auto" latinLnBrk="0" hangingPunct="1">
                        <a:lnSpc>
                          <a:spcPct val="100000"/>
                        </a:lnSpc>
                        <a:spcBef>
                          <a:spcPts val="0"/>
                        </a:spcBef>
                        <a:spcAft>
                          <a:spcPts val="0"/>
                        </a:spcAft>
                        <a:buClrTx/>
                        <a:buSzTx/>
                        <a:buFontTx/>
                        <a:buNone/>
                        <a:tabLst/>
                        <a:defRPr/>
                      </a:pPr>
                      <a:r>
                        <a:rPr lang="en-US" sz="850" b="0" strike="noStrike" kern="1200">
                          <a:solidFill>
                            <a:schemeClr val="tx1"/>
                          </a:solidFill>
                          <a:latin typeface="Aptos" panose="020B0004020202020204" pitchFamily="34" charset="0"/>
                          <a:ea typeface="+mn-ea"/>
                          <a:cs typeface="+mn-cs"/>
                        </a:rPr>
                        <a:t>Production Deployment</a:t>
                      </a:r>
                    </a:p>
                    <a:p>
                      <a:pPr marL="0" marR="0" lvl="0" indent="0" algn="l" defTabSz="685858" rtl="0" eaLnBrk="1" fontAlgn="auto" latinLnBrk="0" hangingPunct="1">
                        <a:lnSpc>
                          <a:spcPct val="100000"/>
                        </a:lnSpc>
                        <a:spcBef>
                          <a:spcPts val="0"/>
                        </a:spcBef>
                        <a:spcAft>
                          <a:spcPts val="0"/>
                        </a:spcAft>
                        <a:buClrTx/>
                        <a:buSzTx/>
                        <a:buFontTx/>
                        <a:buNone/>
                        <a:tabLst/>
                        <a:defRPr/>
                      </a:pPr>
                      <a:endParaRPr lang="en-US" sz="850" b="0" strike="noStrike" kern="1200">
                        <a:solidFill>
                          <a:schemeClr val="tx1"/>
                        </a:solidFill>
                        <a:latin typeface="Aptos" panose="020B0004020202020204"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50" b="0" kern="1200">
                          <a:solidFill>
                            <a:schemeClr val="tx1"/>
                          </a:solidFill>
                          <a:effectLst/>
                          <a:latin typeface="Aptos" panose="020B0004020202020204" pitchFamily="34" charset="0"/>
                          <a:ea typeface="+mn-ea"/>
                          <a:cs typeface="+mn-cs"/>
                        </a:rPr>
                        <a:t>NS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defRPr/>
                      </a:pPr>
                      <a:r>
                        <a:rPr kumimoji="0" lang="en-US" sz="850" b="0" i="0" u="none" strike="noStrike" kern="1200" cap="none" spc="0" normalizeH="0" baseline="0" noProof="0">
                          <a:ln>
                            <a:noFill/>
                          </a:ln>
                          <a:solidFill>
                            <a:prstClr val="black"/>
                          </a:solidFill>
                          <a:effectLst/>
                          <a:uLnTx/>
                          <a:uFillTx/>
                          <a:latin typeface="Aptos" panose="020B0004020202020204" pitchFamily="34" charset="0"/>
                          <a:ea typeface="+mn-ea"/>
                          <a:cs typeface="+mn-cs"/>
                        </a:rPr>
                        <a:t>2/10/27</a:t>
                      </a:r>
                    </a:p>
                    <a:p>
                      <a:pPr marL="0" marR="0" lvl="0" indent="0" algn="ctr" defTabSz="914400" rtl="0" eaLnBrk="1" fontAlgn="ctr" latinLnBrk="0" hangingPunct="1">
                        <a:lnSpc>
                          <a:spcPct val="95000"/>
                        </a:lnSpc>
                        <a:spcBef>
                          <a:spcPct val="0"/>
                        </a:spcBef>
                        <a:spcAft>
                          <a:spcPct val="50000"/>
                        </a:spcAft>
                        <a:buClrTx/>
                        <a:buSzTx/>
                        <a:buFontTx/>
                        <a:buNone/>
                        <a:tabLst/>
                        <a:defRPr/>
                      </a:pPr>
                      <a:endParaRPr kumimoji="0" lang="en-US" sz="850" b="0" i="0" u="none" strike="noStrike" kern="1200" cap="none" spc="0" normalizeH="0" baseline="0" noProof="0">
                        <a:ln>
                          <a:noFill/>
                        </a:ln>
                        <a:solidFill>
                          <a:prstClr val="black"/>
                        </a:solidFill>
                        <a:effectLst/>
                        <a:uLnTx/>
                        <a:uFillTx/>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eaLnBrk="1" fontAlgn="ctr" latinLnBrk="0" hangingPunct="1">
                        <a:lnSpc>
                          <a:spcPct val="95000"/>
                        </a:lnSpc>
                        <a:spcBef>
                          <a:spcPct val="0"/>
                        </a:spcBef>
                        <a:spcAft>
                          <a:spcPct val="50000"/>
                        </a:spcAft>
                        <a:buClrTx/>
                        <a:buSzTx/>
                        <a:buFontTx/>
                        <a:buNone/>
                      </a:pPr>
                      <a:endParaRPr lang="en-US" sz="850" b="0" kern="1200">
                        <a:solidFill>
                          <a:schemeClr val="tx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85138139"/>
                  </a:ext>
                </a:extLst>
              </a:tr>
              <a:tr h="313693">
                <a:tc>
                  <a:txBody>
                    <a:bodyPr/>
                    <a:lstStyle/>
                    <a:p>
                      <a:pPr marL="0" marR="0" lvl="0" indent="0" algn="l" defTabSz="685858" rtl="0" eaLnBrk="1" fontAlgn="auto" latinLnBrk="0" hangingPunct="1">
                        <a:lnSpc>
                          <a:spcPct val="100000"/>
                        </a:lnSpc>
                        <a:spcBef>
                          <a:spcPts val="0"/>
                        </a:spcBef>
                        <a:spcAft>
                          <a:spcPts val="0"/>
                        </a:spcAft>
                        <a:buClrTx/>
                        <a:buSzTx/>
                        <a:buFontTx/>
                        <a:buNone/>
                        <a:tabLst/>
                        <a:defRPr/>
                      </a:pPr>
                      <a:r>
                        <a:rPr lang="en-US" sz="850" b="0" strike="noStrike" kern="1200">
                          <a:solidFill>
                            <a:schemeClr val="tx1"/>
                          </a:solidFill>
                          <a:latin typeface="Aptos" panose="020B0004020202020204" pitchFamily="34" charset="0"/>
                          <a:ea typeface="+mn-ea"/>
                          <a:cs typeface="+mn-cs"/>
                        </a:rPr>
                        <a:t>Warranty Support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50" b="0" kern="1200">
                          <a:solidFill>
                            <a:schemeClr val="tx1"/>
                          </a:solidFill>
                          <a:effectLst/>
                          <a:latin typeface="Aptos" panose="020B0004020202020204" pitchFamily="34" charset="0"/>
                          <a:ea typeface="+mn-ea"/>
                          <a:cs typeface="+mn-cs"/>
                        </a:rPr>
                        <a:t>NS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defRPr/>
                      </a:pPr>
                      <a:r>
                        <a:rPr kumimoji="0" lang="en-US" sz="850" b="0" i="0" u="none" strike="noStrike" kern="1200" cap="none" spc="0" normalizeH="0" baseline="0" noProof="0">
                          <a:ln>
                            <a:noFill/>
                          </a:ln>
                          <a:solidFill>
                            <a:prstClr val="black"/>
                          </a:solidFill>
                          <a:effectLst/>
                          <a:uLnTx/>
                          <a:uFillTx/>
                          <a:latin typeface="Aptos" panose="020B0004020202020204" pitchFamily="34" charset="0"/>
                          <a:ea typeface="+mn-ea"/>
                          <a:cs typeface="+mn-cs"/>
                        </a:rPr>
                        <a:t>3/31/27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eaLnBrk="1" fontAlgn="ctr" latinLnBrk="0" hangingPunct="1">
                        <a:lnSpc>
                          <a:spcPct val="95000"/>
                        </a:lnSpc>
                        <a:spcBef>
                          <a:spcPct val="0"/>
                        </a:spcBef>
                        <a:spcAft>
                          <a:spcPct val="50000"/>
                        </a:spcAft>
                        <a:buClrTx/>
                        <a:buSzTx/>
                        <a:buFontTx/>
                        <a:buNone/>
                      </a:pPr>
                      <a:endParaRPr lang="en-US" sz="850" b="0" kern="1200">
                        <a:solidFill>
                          <a:schemeClr val="tx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96633032"/>
                  </a:ext>
                </a:extLst>
              </a:tr>
            </a:tbl>
          </a:graphicData>
        </a:graphic>
      </p:graphicFrame>
      <p:graphicFrame>
        <p:nvGraphicFramePr>
          <p:cNvPr id="29" name="Table 28">
            <a:extLst>
              <a:ext uri="{FF2B5EF4-FFF2-40B4-BE49-F238E27FC236}">
                <a16:creationId xmlns:a16="http://schemas.microsoft.com/office/drawing/2014/main" id="{BFAC13AF-56D2-699B-D3F0-C2BFE801BB0B}"/>
              </a:ext>
            </a:extLst>
          </p:cNvPr>
          <p:cNvGraphicFramePr>
            <a:graphicFrameLocks noGrp="1"/>
          </p:cNvGraphicFramePr>
          <p:nvPr>
            <p:extLst>
              <p:ext uri="{D42A27DB-BD31-4B8C-83A1-F6EECF244321}">
                <p14:modId xmlns:p14="http://schemas.microsoft.com/office/powerpoint/2010/main" val="319719422"/>
              </p:ext>
            </p:extLst>
          </p:nvPr>
        </p:nvGraphicFramePr>
        <p:xfrm>
          <a:off x="5769029" y="4524817"/>
          <a:ext cx="6363505" cy="1593515"/>
        </p:xfrm>
        <a:graphic>
          <a:graphicData uri="http://schemas.openxmlformats.org/drawingml/2006/table">
            <a:tbl>
              <a:tblPr>
                <a:tableStyleId>{5C22544A-7EE6-4342-B048-85BDC9FD1C3A}</a:tableStyleId>
              </a:tblPr>
              <a:tblGrid>
                <a:gridCol w="2376175">
                  <a:extLst>
                    <a:ext uri="{9D8B030D-6E8A-4147-A177-3AD203B41FA5}">
                      <a16:colId xmlns:a16="http://schemas.microsoft.com/office/drawing/2014/main" val="2456552316"/>
                    </a:ext>
                  </a:extLst>
                </a:gridCol>
                <a:gridCol w="499761">
                  <a:extLst>
                    <a:ext uri="{9D8B030D-6E8A-4147-A177-3AD203B41FA5}">
                      <a16:colId xmlns:a16="http://schemas.microsoft.com/office/drawing/2014/main" val="1100051595"/>
                    </a:ext>
                  </a:extLst>
                </a:gridCol>
                <a:gridCol w="465007">
                  <a:extLst>
                    <a:ext uri="{9D8B030D-6E8A-4147-A177-3AD203B41FA5}">
                      <a16:colId xmlns:a16="http://schemas.microsoft.com/office/drawing/2014/main" val="2042261034"/>
                    </a:ext>
                  </a:extLst>
                </a:gridCol>
                <a:gridCol w="3022562">
                  <a:extLst>
                    <a:ext uri="{9D8B030D-6E8A-4147-A177-3AD203B41FA5}">
                      <a16:colId xmlns:a16="http://schemas.microsoft.com/office/drawing/2014/main" val="2815874248"/>
                    </a:ext>
                  </a:extLst>
                </a:gridCol>
              </a:tblGrid>
              <a:tr h="466851">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Critical Risks/Issues</a:t>
                      </a: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Status</a:t>
                      </a:r>
                    </a:p>
                  </a:txBody>
                  <a:tcPr marL="9525" marR="9525" marT="9525" marB="0" anchor="ct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Target Date</a:t>
                      </a:r>
                    </a:p>
                  </a:txBody>
                  <a:tcPr marL="9525" marR="9525" marT="9525" marB="0" anchor="ctr">
                    <a:lnL w="12700">
                      <a:solidFill>
                        <a:schemeClr val="tx1"/>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Resolution / Mitigation</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563332">
                <a:tc>
                  <a:txBody>
                    <a:bodyPr/>
                    <a:lstStyle/>
                    <a:p>
                      <a:pPr marL="0" lvl="0" indent="0" algn="l">
                        <a:lnSpc>
                          <a:spcPct val="100000"/>
                        </a:lnSpc>
                        <a:buNone/>
                      </a:pPr>
                      <a:r>
                        <a:rPr lang="en-US" sz="850" kern="100">
                          <a:solidFill>
                            <a:schemeClr val="tx1"/>
                          </a:solidFill>
                          <a:latin typeface="Aptos" panose="020B0004020202020204" pitchFamily="34" charset="0"/>
                          <a:ea typeface="+mn-ea"/>
                          <a:cs typeface="Arial"/>
                        </a:rPr>
                        <a:t>AT line has raised capacity risk to support Feb-27 timeline</a:t>
                      </a: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850" b="0" kern="1200">
                        <a:solidFill>
                          <a:schemeClr val="tx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buNone/>
                      </a:pPr>
                      <a:r>
                        <a:rPr lang="en-US" sz="850" kern="1200">
                          <a:solidFill>
                            <a:schemeClr val="tx1"/>
                          </a:solidFill>
                          <a:latin typeface="Aptos" panose="020B0004020202020204" pitchFamily="34" charset="0"/>
                          <a:ea typeface="+mn-ea"/>
                          <a:cs typeface="Arial"/>
                        </a:rPr>
                        <a:t>11/30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l">
                        <a:lnSpc>
                          <a:spcPct val="100000"/>
                        </a:lnSpc>
                        <a:spcBef>
                          <a:spcPts val="0"/>
                        </a:spcBef>
                        <a:spcAft>
                          <a:spcPts val="0"/>
                        </a:spcAft>
                        <a:buNone/>
                      </a:pPr>
                      <a:r>
                        <a:rPr lang="en-US" sz="850">
                          <a:latin typeface="Aptos" panose="020B0004020202020204" pitchFamily="34" charset="0"/>
                        </a:rPr>
                        <a:t>Mitigation -  Sequencing the work from highest priority to lowest priority.</a:t>
                      </a:r>
                      <a:endParaRPr lang="en-US" sz="850" b="0" i="0" u="none" strike="noStrike" kern="1200" noProof="0">
                        <a:solidFill>
                          <a:srgbClr val="000000"/>
                        </a:solidFill>
                        <a:effectLst/>
                        <a:latin typeface="Aptos" panose="020B0004020202020204" pitchFamily="34" charset="0"/>
                      </a:endParaRP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14552194"/>
                  </a:ext>
                </a:extLst>
              </a:tr>
              <a:tr h="563332">
                <a:tc>
                  <a:txBody>
                    <a:bodyPr/>
                    <a:lstStyle/>
                    <a:p>
                      <a:pPr marL="0" lvl="0" indent="0" algn="l">
                        <a:lnSpc>
                          <a:spcPct val="100000"/>
                        </a:lnSpc>
                        <a:buNone/>
                      </a:pPr>
                      <a:r>
                        <a:rPr lang="en-US" sz="850" kern="100">
                          <a:solidFill>
                            <a:schemeClr val="tx1"/>
                          </a:solidFill>
                          <a:latin typeface="Aptos" panose="020B0004020202020204" pitchFamily="34" charset="0"/>
                          <a:ea typeface="+mn-ea"/>
                          <a:cs typeface="Arial"/>
                        </a:rPr>
                        <a:t>MiM Capacity issues and Commitment to Feb-27 release</a:t>
                      </a: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850" b="0" kern="1200">
                        <a:solidFill>
                          <a:schemeClr val="tx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buNone/>
                      </a:pPr>
                      <a:r>
                        <a:rPr lang="en-US" sz="850" kern="1200">
                          <a:solidFill>
                            <a:schemeClr val="tx1"/>
                          </a:solidFill>
                          <a:latin typeface="Aptos" panose="020B0004020202020204" pitchFamily="34" charset="0"/>
                          <a:ea typeface="+mn-ea"/>
                          <a:cs typeface="Arial"/>
                        </a:rPr>
                        <a:t>11/30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l">
                        <a:lnSpc>
                          <a:spcPct val="100000"/>
                        </a:lnSpc>
                        <a:spcBef>
                          <a:spcPts val="0"/>
                        </a:spcBef>
                        <a:spcAft>
                          <a:spcPts val="0"/>
                        </a:spcAft>
                        <a:buNone/>
                      </a:pPr>
                      <a:r>
                        <a:rPr lang="en-US" sz="850">
                          <a:latin typeface="Aptos" panose="020B0004020202020204" pitchFamily="34" charset="0"/>
                        </a:rPr>
                        <a:t>Mitigation </a:t>
                      </a:r>
                      <a:r>
                        <a:rPr lang="en-US" sz="850" b="0" i="0" u="none" strike="noStrike" kern="1200" noProof="0">
                          <a:solidFill>
                            <a:srgbClr val="000000"/>
                          </a:solidFill>
                          <a:effectLst/>
                          <a:latin typeface="Aptos" panose="020B0004020202020204" pitchFamily="34" charset="0"/>
                        </a:rPr>
                        <a:t> – Prioritization, Demand/Capacity Review and other options </a:t>
                      </a: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73646319"/>
                  </a:ext>
                </a:extLst>
              </a:tr>
            </a:tbl>
          </a:graphicData>
        </a:graphic>
      </p:graphicFrame>
      <p:sp>
        <p:nvSpPr>
          <p:cNvPr id="33" name="Flowchart: Connector 32">
            <a:extLst>
              <a:ext uri="{FF2B5EF4-FFF2-40B4-BE49-F238E27FC236}">
                <a16:creationId xmlns:a16="http://schemas.microsoft.com/office/drawing/2014/main" id="{DB689AC5-F2DA-FE5D-F932-08FEE1FED1C7}"/>
              </a:ext>
            </a:extLst>
          </p:cNvPr>
          <p:cNvSpPr/>
          <p:nvPr/>
        </p:nvSpPr>
        <p:spPr>
          <a:xfrm>
            <a:off x="7311524" y="6524104"/>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Flowchart: Connector 33">
            <a:extLst>
              <a:ext uri="{FF2B5EF4-FFF2-40B4-BE49-F238E27FC236}">
                <a16:creationId xmlns:a16="http://schemas.microsoft.com/office/drawing/2014/main" id="{7DA312A5-4C60-8E9A-5DDD-5FD003C3EF4D}"/>
              </a:ext>
            </a:extLst>
          </p:cNvPr>
          <p:cNvSpPr/>
          <p:nvPr/>
        </p:nvSpPr>
        <p:spPr>
          <a:xfrm>
            <a:off x="8291059" y="6512837"/>
            <a:ext cx="163286" cy="164592"/>
          </a:xfrm>
          <a:prstGeom prst="flowChartConnector">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Flowchart: Connector 35">
            <a:extLst>
              <a:ext uri="{FF2B5EF4-FFF2-40B4-BE49-F238E27FC236}">
                <a16:creationId xmlns:a16="http://schemas.microsoft.com/office/drawing/2014/main" id="{4414B88D-0229-5A21-CB8D-C6FAB378BE38}"/>
              </a:ext>
            </a:extLst>
          </p:cNvPr>
          <p:cNvSpPr/>
          <p:nvPr/>
        </p:nvSpPr>
        <p:spPr>
          <a:xfrm>
            <a:off x="9156933" y="6512837"/>
            <a:ext cx="163285" cy="164592"/>
          </a:xfrm>
          <a:prstGeom prst="flowChartConnector">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Flowchart: Connector 42">
            <a:extLst>
              <a:ext uri="{FF2B5EF4-FFF2-40B4-BE49-F238E27FC236}">
                <a16:creationId xmlns:a16="http://schemas.microsoft.com/office/drawing/2014/main" id="{6C4E2B49-BCE3-F93C-7579-344A2D1134B2}"/>
              </a:ext>
            </a:extLst>
          </p:cNvPr>
          <p:cNvSpPr/>
          <p:nvPr/>
        </p:nvSpPr>
        <p:spPr>
          <a:xfrm>
            <a:off x="3328610" y="1329659"/>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highlight>
                <a:srgbClr val="FF0000"/>
              </a:highlight>
            </a:endParaRPr>
          </a:p>
        </p:txBody>
      </p:sp>
      <p:sp>
        <p:nvSpPr>
          <p:cNvPr id="45" name="Flowchart: Connector 44">
            <a:extLst>
              <a:ext uri="{FF2B5EF4-FFF2-40B4-BE49-F238E27FC236}">
                <a16:creationId xmlns:a16="http://schemas.microsoft.com/office/drawing/2014/main" id="{31F7606F-C4F5-7F06-F1DE-ACE52BFF6B64}"/>
              </a:ext>
            </a:extLst>
          </p:cNvPr>
          <p:cNvSpPr/>
          <p:nvPr/>
        </p:nvSpPr>
        <p:spPr>
          <a:xfrm>
            <a:off x="4283155" y="1329659"/>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Flowchart: Connector 45">
            <a:extLst>
              <a:ext uri="{FF2B5EF4-FFF2-40B4-BE49-F238E27FC236}">
                <a16:creationId xmlns:a16="http://schemas.microsoft.com/office/drawing/2014/main" id="{4619A858-D367-E434-2EFD-A3175A4E2187}"/>
              </a:ext>
            </a:extLst>
          </p:cNvPr>
          <p:cNvSpPr/>
          <p:nvPr/>
        </p:nvSpPr>
        <p:spPr>
          <a:xfrm>
            <a:off x="5219896" y="1350223"/>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Flowchart: Connector 46">
            <a:extLst>
              <a:ext uri="{FF2B5EF4-FFF2-40B4-BE49-F238E27FC236}">
                <a16:creationId xmlns:a16="http://schemas.microsoft.com/office/drawing/2014/main" id="{02AF2395-9EB4-7801-E5FD-F689394B8655}"/>
              </a:ext>
            </a:extLst>
          </p:cNvPr>
          <p:cNvSpPr/>
          <p:nvPr/>
        </p:nvSpPr>
        <p:spPr>
          <a:xfrm>
            <a:off x="6096000" y="1350223"/>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C256E7D1-9DFA-78F9-DC3F-DFA6FA949111}"/>
              </a:ext>
            </a:extLst>
          </p:cNvPr>
          <p:cNvSpPr txBox="1"/>
          <p:nvPr/>
        </p:nvSpPr>
        <p:spPr>
          <a:xfrm>
            <a:off x="119511" y="1676415"/>
            <a:ext cx="5659756" cy="2543389"/>
          </a:xfrm>
          <a:prstGeom prst="rect">
            <a:avLst/>
          </a:prstGeom>
          <a:noFill/>
        </p:spPr>
        <p:txBody>
          <a:bodyPr wrap="square" lIns="91440" tIns="45720" rIns="91440" bIns="45720" anchor="t">
            <a:spAutoFit/>
          </a:bodyPr>
          <a:lstStyle/>
          <a:p>
            <a:pPr>
              <a:spcBef>
                <a:spcPts val="100"/>
              </a:spcBef>
              <a:spcAft>
                <a:spcPts val="100"/>
              </a:spcAft>
            </a:pPr>
            <a:r>
              <a:rPr lang="en-US" sz="850" b="1">
                <a:latin typeface="Aptos" panose="020B0004020202020204" pitchFamily="34" charset="0"/>
                <a:cs typeface="Arial"/>
              </a:rPr>
              <a:t>Overall Project Status: </a:t>
            </a:r>
            <a:r>
              <a:rPr lang="en-US" sz="850" b="1">
                <a:highlight>
                  <a:srgbClr val="00FF00"/>
                </a:highlight>
                <a:latin typeface="Aptos" panose="020B0004020202020204" pitchFamily="34" charset="0"/>
                <a:cs typeface="Arial"/>
              </a:rPr>
              <a:t>Green</a:t>
            </a:r>
          </a:p>
          <a:p>
            <a:r>
              <a:rPr lang="en-US" sz="850">
                <a:latin typeface="Aptos" panose="020B0004020202020204" pitchFamily="34" charset="0"/>
              </a:rPr>
              <a:t>Project status is upgraded from </a:t>
            </a:r>
            <a:r>
              <a:rPr lang="en-US" sz="900">
                <a:latin typeface="Aptos" panose="020B0004020202020204" pitchFamily="34" charset="0"/>
              </a:rPr>
              <a:t>Yellow to Green based on the commitment shared by MiM.  The team will continue to monitor capacity/prioritization and other risks to ensure the alignment to Feb-2027 timeline</a:t>
            </a:r>
          </a:p>
          <a:p>
            <a:pPr marL="171450" indent="-171450">
              <a:buFont typeface="Arial"/>
              <a:buChar char="•"/>
            </a:pPr>
            <a:endParaRPr lang="en-US" sz="850" b="1">
              <a:latin typeface="Aptos" panose="020B0004020202020204" pitchFamily="34" charset="0"/>
              <a:cs typeface="Arial"/>
            </a:endParaRPr>
          </a:p>
          <a:p>
            <a:r>
              <a:rPr lang="en-US" sz="850" b="1">
                <a:latin typeface="Aptos" panose="020B0004020202020204" pitchFamily="34" charset="0"/>
              </a:rPr>
              <a:t>Highlights:</a:t>
            </a:r>
            <a:endParaRPr lang="en-US" sz="900">
              <a:latin typeface="Aptos" panose="020B0004020202020204" pitchFamily="34" charset="0"/>
            </a:endParaRPr>
          </a:p>
          <a:p>
            <a:pPr marL="171450" indent="-171450">
              <a:buFont typeface="Arial" panose="020B0604020202020204" pitchFamily="34" charset="0"/>
              <a:buChar char="•"/>
            </a:pPr>
            <a:r>
              <a:rPr lang="en-US" sz="900">
                <a:latin typeface="Aptos" panose="020B0004020202020204" pitchFamily="34" charset="0"/>
              </a:rPr>
              <a:t>MiM commitment received based on the </a:t>
            </a:r>
            <a:r>
              <a:rPr lang="en-US" sz="900" err="1">
                <a:latin typeface="Aptos" panose="020B0004020202020204" pitchFamily="34" charset="0"/>
              </a:rPr>
              <a:t>the</a:t>
            </a:r>
            <a:r>
              <a:rPr lang="en-US" sz="900">
                <a:latin typeface="Aptos" panose="020B0004020202020204" pitchFamily="34" charset="0"/>
              </a:rPr>
              <a:t> availability of a second developer for the Partnership API workstream.</a:t>
            </a:r>
          </a:p>
          <a:p>
            <a:pPr marL="171450" indent="-171450">
              <a:buFont typeface="Arial" panose="020B0604020202020204" pitchFamily="34" charset="0"/>
              <a:buChar char="•"/>
            </a:pPr>
            <a:endParaRPr lang="en-US" sz="850">
              <a:latin typeface="Aptos" panose="020B0004020202020204" pitchFamily="34" charset="0"/>
            </a:endParaRPr>
          </a:p>
          <a:p>
            <a:pPr marL="171450" indent="-171450">
              <a:buFont typeface="Arial"/>
              <a:buChar char="•"/>
            </a:pPr>
            <a:r>
              <a:rPr lang="en-US" sz="850">
                <a:latin typeface="Aptos" panose="020B0004020202020204" pitchFamily="34" charset="0"/>
                <a:cs typeface="Arial"/>
              </a:rPr>
              <a:t>FinTech and Controllership estimates received.</a:t>
            </a:r>
          </a:p>
          <a:p>
            <a:pPr marL="171450" indent="-171450">
              <a:buFont typeface="Arial"/>
              <a:buChar char="•"/>
            </a:pPr>
            <a:r>
              <a:rPr lang="en-US" sz="850">
                <a:latin typeface="Aptos" panose="020B0004020202020204" pitchFamily="34" charset="0"/>
                <a:cs typeface="Arial"/>
              </a:rPr>
              <a:t>Refinement/DDIT is in-progress by the lines</a:t>
            </a:r>
          </a:p>
          <a:p>
            <a:pPr marL="171450" indent="-171450">
              <a:buFont typeface="Arial"/>
              <a:buChar char="•"/>
            </a:pPr>
            <a:r>
              <a:rPr lang="en-US" sz="850">
                <a:latin typeface="Aptos"/>
                <a:cs typeface="Arial"/>
              </a:rPr>
              <a:t>Pawroll Rangers Impact assessment working session  was scheduled on 8/11.</a:t>
            </a:r>
          </a:p>
          <a:p>
            <a:pPr marL="171450" indent="-171450">
              <a:buFont typeface="Arial"/>
              <a:buChar char="•"/>
            </a:pPr>
            <a:r>
              <a:rPr lang="en-US" sz="850">
                <a:latin typeface="Aptos" panose="020B0004020202020204" pitchFamily="34" charset="0"/>
                <a:cs typeface="Arial"/>
              </a:rPr>
              <a:t>Schedule impact in-progress for approved change request to include Z160/ changes for Major Medical.</a:t>
            </a:r>
          </a:p>
          <a:p>
            <a:pPr marL="171450" indent="-171450">
              <a:buFont typeface="Arial"/>
              <a:buChar char="•"/>
            </a:pPr>
            <a:endParaRPr lang="en-US" sz="850">
              <a:latin typeface="Aptos" panose="020B0004020202020204" pitchFamily="34" charset="0"/>
              <a:cs typeface="Arial"/>
            </a:endParaRPr>
          </a:p>
          <a:p>
            <a:pPr>
              <a:lnSpc>
                <a:spcPct val="114999"/>
              </a:lnSpc>
              <a:spcBef>
                <a:spcPts val="200"/>
              </a:spcBef>
              <a:buSzPts val="1000"/>
              <a:tabLst>
                <a:tab pos="457200" algn="l"/>
              </a:tabLst>
            </a:pPr>
            <a:r>
              <a:rPr lang="en-US" sz="850" b="1" kern="100">
                <a:latin typeface="Aptos" panose="020B0004020202020204" pitchFamily="34" charset="0"/>
                <a:cs typeface="Arial"/>
              </a:rPr>
              <a:t>Next Steps:</a:t>
            </a:r>
          </a:p>
          <a:p>
            <a:pPr marL="171450" indent="-171450">
              <a:buFont typeface="Arial" panose="020B0604020202020204" pitchFamily="34" charset="0"/>
              <a:buChar char="•"/>
            </a:pPr>
            <a:r>
              <a:rPr lang="en-US" sz="850">
                <a:latin typeface="Aptos" panose="020B0004020202020204" pitchFamily="34" charset="0"/>
                <a:cs typeface="Arial"/>
              </a:rPr>
              <a:t>Refinement completion by the impacted lines.</a:t>
            </a:r>
          </a:p>
          <a:p>
            <a:pPr marL="171450" indent="-171450">
              <a:buFont typeface="Arial" panose="020B0604020202020204" pitchFamily="34" charset="0"/>
              <a:buChar char="•"/>
            </a:pPr>
            <a:r>
              <a:rPr lang="en-US" sz="850">
                <a:latin typeface="Aptos" panose="020B0004020202020204" pitchFamily="34" charset="0"/>
                <a:cs typeface="Arial"/>
              </a:rPr>
              <a:t>DDIT Progress</a:t>
            </a:r>
          </a:p>
          <a:p>
            <a:endParaRPr lang="en-US" sz="850">
              <a:latin typeface="Aptos" panose="02110004020202020204"/>
              <a:cs typeface="Arial"/>
            </a:endParaRPr>
          </a:p>
          <a:p>
            <a:pPr marL="171450" indent="-171450">
              <a:buFont typeface="Arial" panose="020B0604020202020204" pitchFamily="34" charset="0"/>
              <a:buChar char="•"/>
            </a:pPr>
            <a:endParaRPr lang="en-US" sz="900" kern="100">
              <a:latin typeface="+mj-lt"/>
              <a:cs typeface="Arial"/>
            </a:endParaRPr>
          </a:p>
        </p:txBody>
      </p:sp>
      <p:sp>
        <p:nvSpPr>
          <p:cNvPr id="4" name="TextBox 2">
            <a:extLst>
              <a:ext uri="{FF2B5EF4-FFF2-40B4-BE49-F238E27FC236}">
                <a16:creationId xmlns:a16="http://schemas.microsoft.com/office/drawing/2014/main" id="{8421BB09-FB24-66E4-39C1-D28CDC6B6FF9}"/>
              </a:ext>
            </a:extLst>
          </p:cNvPr>
          <p:cNvSpPr txBox="1"/>
          <p:nvPr/>
        </p:nvSpPr>
        <p:spPr>
          <a:xfrm>
            <a:off x="9624947" y="142053"/>
            <a:ext cx="3708400" cy="703782"/>
          </a:xfrm>
          <a:prstGeom prst="rect">
            <a:avLst/>
          </a:prstGeom>
          <a:noFill/>
        </p:spPr>
        <p:txBody>
          <a:bodyPr wrap="none" lIns="0" tIns="0" rIns="0" bIns="0" rtlCol="0" anchor="t">
            <a:noAutofit/>
          </a:bodyPr>
          <a:lstStyle>
            <a:defPPr>
              <a:defRPr lang="en-US"/>
            </a:defPPr>
            <a:lvl1pPr>
              <a:lnSpc>
                <a:spcPct val="112000"/>
              </a:lnSpc>
              <a:defRPr sz="1200">
                <a:solidFill>
                  <a:prstClr val="black"/>
                </a:solidFill>
                <a:latin typeface="Aptos" panose="02110004020202020204"/>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Project Manager :  Shilpa K​</a:t>
            </a:r>
          </a:p>
          <a:p>
            <a:r>
              <a:rPr lang="en-US" err="1"/>
              <a:t>OpEx</a:t>
            </a:r>
            <a:r>
              <a:rPr lang="en-US"/>
              <a:t> Business Lead: Gary W</a:t>
            </a:r>
          </a:p>
          <a:p>
            <a:endParaRPr lang="en-US"/>
          </a:p>
        </p:txBody>
      </p:sp>
      <p:sp>
        <p:nvSpPr>
          <p:cNvPr id="15" name="Flowchart: Connector 14">
            <a:extLst>
              <a:ext uri="{FF2B5EF4-FFF2-40B4-BE49-F238E27FC236}">
                <a16:creationId xmlns:a16="http://schemas.microsoft.com/office/drawing/2014/main" id="{37E29612-A33F-8ED7-4A2D-15B71EEE599D}"/>
              </a:ext>
            </a:extLst>
          </p:cNvPr>
          <p:cNvSpPr/>
          <p:nvPr/>
        </p:nvSpPr>
        <p:spPr>
          <a:xfrm>
            <a:off x="8291058" y="5189703"/>
            <a:ext cx="163285" cy="164592"/>
          </a:xfrm>
          <a:prstGeom prst="flowChartConnector">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lowchart: Connector 9">
            <a:extLst>
              <a:ext uri="{FF2B5EF4-FFF2-40B4-BE49-F238E27FC236}">
                <a16:creationId xmlns:a16="http://schemas.microsoft.com/office/drawing/2014/main" id="{091453C6-208F-42AB-130F-22E31C5171E2}"/>
              </a:ext>
            </a:extLst>
          </p:cNvPr>
          <p:cNvSpPr/>
          <p:nvPr/>
        </p:nvSpPr>
        <p:spPr>
          <a:xfrm>
            <a:off x="8321068" y="2098865"/>
            <a:ext cx="163285" cy="164592"/>
          </a:xfrm>
          <a:prstGeom prst="flowChartConnector">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lowchart: Connector 5">
            <a:extLst>
              <a:ext uri="{FF2B5EF4-FFF2-40B4-BE49-F238E27FC236}">
                <a16:creationId xmlns:a16="http://schemas.microsoft.com/office/drawing/2014/main" id="{8D5102BA-1410-3B3D-E638-948ECBAEE387}"/>
              </a:ext>
            </a:extLst>
          </p:cNvPr>
          <p:cNvSpPr/>
          <p:nvPr/>
        </p:nvSpPr>
        <p:spPr>
          <a:xfrm>
            <a:off x="8291058" y="5743857"/>
            <a:ext cx="163285" cy="164592"/>
          </a:xfrm>
          <a:prstGeom prst="flowChartConnector">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080350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DD18F3-AAC7-E8A5-B579-DC47E7C7CE44}"/>
            </a:ext>
          </a:extLst>
        </p:cNvPr>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281D0CAF-C9D6-E09B-BD1D-35432038015E}"/>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8" imgH="408" progId="TCLayout.ActiveDocument.1">
                  <p:embed/>
                </p:oleObj>
              </mc:Choice>
              <mc:Fallback>
                <p:oleObj name="think-cell Slide" r:id="rId4" imgW="408" imgH="408" progId="TCLayout.ActiveDocument.1">
                  <p:embed/>
                  <p:pic>
                    <p:nvPicPr>
                      <p:cNvPr id="9" name="think-cell data - do not delete" hidden="1">
                        <a:extLst>
                          <a:ext uri="{FF2B5EF4-FFF2-40B4-BE49-F238E27FC236}">
                            <a16:creationId xmlns:a16="http://schemas.microsoft.com/office/drawing/2014/main" id="{281D0CAF-C9D6-E09B-BD1D-35432038015E}"/>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graphicFrame>
        <p:nvGraphicFramePr>
          <p:cNvPr id="32" name="Group 614">
            <a:extLst>
              <a:ext uri="{FF2B5EF4-FFF2-40B4-BE49-F238E27FC236}">
                <a16:creationId xmlns:a16="http://schemas.microsoft.com/office/drawing/2014/main" id="{2DA438BC-DB61-6D22-99BE-024EB0828F9D}"/>
              </a:ext>
            </a:extLst>
          </p:cNvPr>
          <p:cNvGraphicFramePr>
            <a:graphicFrameLocks noGrp="1"/>
          </p:cNvGraphicFramePr>
          <p:nvPr/>
        </p:nvGraphicFramePr>
        <p:xfrm>
          <a:off x="5931694" y="6547475"/>
          <a:ext cx="6203676" cy="310524"/>
        </p:xfrm>
        <a:graphic>
          <a:graphicData uri="http://schemas.openxmlformats.org/drawingml/2006/table">
            <a:tbl>
              <a:tblPr/>
              <a:tblGrid>
                <a:gridCol w="519705">
                  <a:extLst>
                    <a:ext uri="{9D8B030D-6E8A-4147-A177-3AD203B41FA5}">
                      <a16:colId xmlns:a16="http://schemas.microsoft.com/office/drawing/2014/main" val="20000"/>
                    </a:ext>
                  </a:extLst>
                </a:gridCol>
                <a:gridCol w="263408">
                  <a:extLst>
                    <a:ext uri="{9D8B030D-6E8A-4147-A177-3AD203B41FA5}">
                      <a16:colId xmlns:a16="http://schemas.microsoft.com/office/drawing/2014/main" val="20001"/>
                    </a:ext>
                  </a:extLst>
                </a:gridCol>
                <a:gridCol w="649245">
                  <a:extLst>
                    <a:ext uri="{9D8B030D-6E8A-4147-A177-3AD203B41FA5}">
                      <a16:colId xmlns:a16="http://schemas.microsoft.com/office/drawing/2014/main" val="20002"/>
                    </a:ext>
                  </a:extLst>
                </a:gridCol>
                <a:gridCol w="259508">
                  <a:extLst>
                    <a:ext uri="{9D8B030D-6E8A-4147-A177-3AD203B41FA5}">
                      <a16:colId xmlns:a16="http://schemas.microsoft.com/office/drawing/2014/main" val="20003"/>
                    </a:ext>
                  </a:extLst>
                </a:gridCol>
                <a:gridCol w="570172">
                  <a:extLst>
                    <a:ext uri="{9D8B030D-6E8A-4147-A177-3AD203B41FA5}">
                      <a16:colId xmlns:a16="http://schemas.microsoft.com/office/drawing/2014/main" val="20004"/>
                    </a:ext>
                  </a:extLst>
                </a:gridCol>
                <a:gridCol w="443945">
                  <a:extLst>
                    <a:ext uri="{9D8B030D-6E8A-4147-A177-3AD203B41FA5}">
                      <a16:colId xmlns:a16="http://schemas.microsoft.com/office/drawing/2014/main" val="20005"/>
                    </a:ext>
                  </a:extLst>
                </a:gridCol>
                <a:gridCol w="487176">
                  <a:extLst>
                    <a:ext uri="{9D8B030D-6E8A-4147-A177-3AD203B41FA5}">
                      <a16:colId xmlns:a16="http://schemas.microsoft.com/office/drawing/2014/main" val="20006"/>
                    </a:ext>
                  </a:extLst>
                </a:gridCol>
                <a:gridCol w="316216">
                  <a:extLst>
                    <a:ext uri="{9D8B030D-6E8A-4147-A177-3AD203B41FA5}">
                      <a16:colId xmlns:a16="http://schemas.microsoft.com/office/drawing/2014/main" val="20007"/>
                    </a:ext>
                  </a:extLst>
                </a:gridCol>
                <a:gridCol w="1175803">
                  <a:extLst>
                    <a:ext uri="{9D8B030D-6E8A-4147-A177-3AD203B41FA5}">
                      <a16:colId xmlns:a16="http://schemas.microsoft.com/office/drawing/2014/main" val="20008"/>
                    </a:ext>
                  </a:extLst>
                </a:gridCol>
                <a:gridCol w="324125">
                  <a:extLst>
                    <a:ext uri="{9D8B030D-6E8A-4147-A177-3AD203B41FA5}">
                      <a16:colId xmlns:a16="http://schemas.microsoft.com/office/drawing/2014/main" val="20009"/>
                    </a:ext>
                  </a:extLst>
                </a:gridCol>
                <a:gridCol w="1194373">
                  <a:extLst>
                    <a:ext uri="{9D8B030D-6E8A-4147-A177-3AD203B41FA5}">
                      <a16:colId xmlns:a16="http://schemas.microsoft.com/office/drawing/2014/main" val="20010"/>
                    </a:ext>
                  </a:extLst>
                </a:gridCol>
              </a:tblGrid>
              <a:tr h="257799">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Arial" charset="0"/>
                          <a:cs typeface="Arial" charset="0"/>
                        </a:rPr>
                        <a:t>Status Key</a:t>
                      </a:r>
                      <a:endParaRPr kumimoji="0" lang="en-GB" sz="1600" b="0" i="0" u="none" strike="noStrike" cap="none" normalizeH="0" baseline="0">
                        <a:ln>
                          <a:noFill/>
                        </a:ln>
                        <a:solidFill>
                          <a:srgbClr val="002060"/>
                        </a:solidFill>
                        <a:effectLst/>
                        <a:latin typeface="Times New Roman" pitchFamily="18" charset="0"/>
                      </a:endParaRPr>
                    </a:p>
                  </a:txBody>
                  <a:tcPr marL="75570" marR="75570"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mj-lt"/>
                        </a:rPr>
                        <a:t>C</a:t>
                      </a:r>
                    </a:p>
                  </a:txBody>
                  <a:tcPr marL="75570" marR="75570"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Arial" charset="0"/>
                          <a:cs typeface="Arial" charset="0"/>
                        </a:rPr>
                        <a:t>Completed</a:t>
                      </a:r>
                      <a:endParaRPr kumimoji="0" lang="en-GB" sz="1600" b="0" i="0" u="none" strike="noStrike" cap="none" normalizeH="0" baseline="0">
                        <a:ln>
                          <a:noFill/>
                        </a:ln>
                        <a:solidFill>
                          <a:srgbClr val="002060"/>
                        </a:solidFill>
                        <a:effectLst/>
                        <a:latin typeface="Times New Roman" pitchFamily="18" charset="0"/>
                      </a:endParaRPr>
                    </a:p>
                  </a:txBody>
                  <a:tcPr marL="75570" marR="75570"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L="75570" marR="75570"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On-Schedule</a:t>
                      </a:r>
                      <a:endParaRPr kumimoji="0" lang="en-GB" sz="1600" b="0" i="0" u="none" strike="noStrike" cap="none" normalizeH="0" baseline="0">
                        <a:ln>
                          <a:noFill/>
                        </a:ln>
                        <a:solidFill>
                          <a:srgbClr val="1D3A6A"/>
                        </a:solidFill>
                        <a:effectLst/>
                        <a:latin typeface="Times New Roman" pitchFamily="18" charset="0"/>
                      </a:endParaRPr>
                    </a:p>
                  </a:txBody>
                  <a:tcPr marL="75570" marR="75570"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L="75570" marR="75570"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Major Issues</a:t>
                      </a:r>
                      <a:endParaRPr kumimoji="0" lang="en-GB" sz="1600" b="0" i="0" u="none" strike="noStrike" cap="none" normalizeH="0" baseline="0">
                        <a:ln>
                          <a:noFill/>
                        </a:ln>
                        <a:solidFill>
                          <a:srgbClr val="1D3A6A"/>
                        </a:solidFill>
                        <a:effectLst/>
                        <a:latin typeface="Times New Roman" pitchFamily="18" charset="0"/>
                      </a:endParaRPr>
                    </a:p>
                  </a:txBody>
                  <a:tcPr marL="75570" marR="75570"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L="75570" marR="75570"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Some Issues</a:t>
                      </a:r>
                      <a:endParaRPr kumimoji="0" lang="en-GB" sz="1600" b="0" i="0" u="none" strike="noStrike" cap="none" normalizeH="0" baseline="0">
                        <a:ln>
                          <a:noFill/>
                        </a:ln>
                        <a:solidFill>
                          <a:srgbClr val="1D3A6A"/>
                        </a:solidFill>
                        <a:effectLst/>
                        <a:latin typeface="Times New Roman" pitchFamily="18" charset="0"/>
                      </a:endParaRPr>
                    </a:p>
                  </a:txBody>
                  <a:tcPr marL="75570" marR="75570"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NS</a:t>
                      </a:r>
                      <a:endParaRPr kumimoji="0" lang="en-GB" sz="1600" b="0" i="0" u="none" strike="noStrike" cap="none" normalizeH="0" baseline="0">
                        <a:ln>
                          <a:noFill/>
                        </a:ln>
                        <a:solidFill>
                          <a:srgbClr val="1D3A6A"/>
                        </a:solidFill>
                        <a:effectLst/>
                        <a:latin typeface="Times New Roman" pitchFamily="18" charset="0"/>
                      </a:endParaRPr>
                    </a:p>
                  </a:txBody>
                  <a:tcPr marL="75570" marR="75570"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Not Started</a:t>
                      </a:r>
                      <a:endParaRPr kumimoji="0" lang="en-GB" sz="1600" b="0" i="0" u="none" strike="noStrike" cap="none" normalizeH="0" baseline="0">
                        <a:ln>
                          <a:noFill/>
                        </a:ln>
                        <a:solidFill>
                          <a:srgbClr val="1D3A6A"/>
                        </a:solidFill>
                        <a:effectLst/>
                        <a:latin typeface="Times New Roman" pitchFamily="18" charset="0"/>
                      </a:endParaRPr>
                    </a:p>
                  </a:txBody>
                  <a:tcPr marL="75570" marR="75570"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11" name="Group 513">
            <a:extLst>
              <a:ext uri="{FF2B5EF4-FFF2-40B4-BE49-F238E27FC236}">
                <a16:creationId xmlns:a16="http://schemas.microsoft.com/office/drawing/2014/main" id="{6CC5F58E-A991-87FE-D9F2-82B46BEA4524}"/>
              </a:ext>
            </a:extLst>
          </p:cNvPr>
          <p:cNvGraphicFramePr>
            <a:graphicFrameLocks noGrp="1"/>
          </p:cNvGraphicFramePr>
          <p:nvPr>
            <p:extLst>
              <p:ext uri="{D42A27DB-BD31-4B8C-83A1-F6EECF244321}">
                <p14:modId xmlns:p14="http://schemas.microsoft.com/office/powerpoint/2010/main" val="3884578944"/>
              </p:ext>
            </p:extLst>
          </p:nvPr>
        </p:nvGraphicFramePr>
        <p:xfrm>
          <a:off x="197511" y="790490"/>
          <a:ext cx="2638218" cy="344301"/>
        </p:xfrm>
        <a:graphic>
          <a:graphicData uri="http://schemas.openxmlformats.org/drawingml/2006/table">
            <a:tbl>
              <a:tblPr/>
              <a:tblGrid>
                <a:gridCol w="984745">
                  <a:extLst>
                    <a:ext uri="{9D8B030D-6E8A-4147-A177-3AD203B41FA5}">
                      <a16:colId xmlns:a16="http://schemas.microsoft.com/office/drawing/2014/main" val="20000"/>
                    </a:ext>
                  </a:extLst>
                </a:gridCol>
                <a:gridCol w="1653473">
                  <a:extLst>
                    <a:ext uri="{9D8B030D-6E8A-4147-A177-3AD203B41FA5}">
                      <a16:colId xmlns:a16="http://schemas.microsoft.com/office/drawing/2014/main" val="20001"/>
                    </a:ext>
                  </a:extLst>
                </a:gridCol>
              </a:tblGrid>
              <a:tr h="344301">
                <a:tc>
                  <a:txBody>
                    <a:bodyPr/>
                    <a:lstStyle/>
                    <a:p>
                      <a:pPr marL="0" marR="0" lvl="0" indent="0" algn="l" defTabSz="914400" rtl="0" eaLnBrk="0" fontAlgn="base" latinLnBrk="0" hangingPunct="0">
                        <a:lnSpc>
                          <a:spcPct val="95000"/>
                        </a:lnSpc>
                        <a:spcBef>
                          <a:spcPct val="0"/>
                        </a:spcBef>
                        <a:spcAft>
                          <a:spcPct val="50000"/>
                        </a:spcAft>
                        <a:buClrTx/>
                        <a:buSzTx/>
                        <a:buFontTx/>
                        <a:buNone/>
                        <a:tabLst/>
                      </a:pPr>
                      <a:r>
                        <a:rPr kumimoji="0" lang="en-GB" sz="1050" b="1" i="0" u="none" strike="noStrike" kern="1200" cap="none" normalizeH="0" baseline="0">
                          <a:ln>
                            <a:noFill/>
                          </a:ln>
                          <a:solidFill>
                            <a:schemeClr val="bg1"/>
                          </a:solidFill>
                          <a:effectLst/>
                          <a:latin typeface="Arial"/>
                          <a:ea typeface="+mn-ea"/>
                          <a:cs typeface="+mn-cs"/>
                        </a:rPr>
                        <a:t>Status Date:</a:t>
                      </a:r>
                    </a:p>
                  </a:txBody>
                  <a:tcPr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GB" sz="850" b="1" i="0" u="none" strike="noStrike" kern="1200" cap="none" normalizeH="0" baseline="0">
                          <a:ln>
                            <a:noFill/>
                          </a:ln>
                          <a:solidFill>
                            <a:schemeClr val="tx1"/>
                          </a:solidFill>
                          <a:effectLst/>
                          <a:latin typeface="Aptos" panose="020B0004020202020204" pitchFamily="34" charset="0"/>
                          <a:ea typeface="+mn-ea"/>
                          <a:cs typeface="+mn-cs"/>
                        </a:rPr>
                        <a:t>8/28/2026</a:t>
                      </a:r>
                    </a:p>
                  </a:txBody>
                  <a:tcPr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14" name="Table 13">
            <a:extLst>
              <a:ext uri="{FF2B5EF4-FFF2-40B4-BE49-F238E27FC236}">
                <a16:creationId xmlns:a16="http://schemas.microsoft.com/office/drawing/2014/main" id="{2B0BBA51-8762-4F4B-31B9-9D0AC21E876E}"/>
              </a:ext>
            </a:extLst>
          </p:cNvPr>
          <p:cNvGraphicFramePr>
            <a:graphicFrameLocks noGrp="1"/>
          </p:cNvGraphicFramePr>
          <p:nvPr>
            <p:extLst>
              <p:ext uri="{D42A27DB-BD31-4B8C-83A1-F6EECF244321}">
                <p14:modId xmlns:p14="http://schemas.microsoft.com/office/powerpoint/2010/main" val="2835288310"/>
              </p:ext>
            </p:extLst>
          </p:nvPr>
        </p:nvGraphicFramePr>
        <p:xfrm>
          <a:off x="6642129" y="798795"/>
          <a:ext cx="5352360" cy="742446"/>
        </p:xfrm>
        <a:graphic>
          <a:graphicData uri="http://schemas.openxmlformats.org/drawingml/2006/table">
            <a:tbl>
              <a:tblPr>
                <a:tableStyleId>{5C22544A-7EE6-4342-B048-85BDC9FD1C3A}</a:tableStyleId>
              </a:tblPr>
              <a:tblGrid>
                <a:gridCol w="1045337">
                  <a:extLst>
                    <a:ext uri="{9D8B030D-6E8A-4147-A177-3AD203B41FA5}">
                      <a16:colId xmlns:a16="http://schemas.microsoft.com/office/drawing/2014/main" val="2456552316"/>
                    </a:ext>
                  </a:extLst>
                </a:gridCol>
                <a:gridCol w="926511">
                  <a:extLst>
                    <a:ext uri="{9D8B030D-6E8A-4147-A177-3AD203B41FA5}">
                      <a16:colId xmlns:a16="http://schemas.microsoft.com/office/drawing/2014/main" val="2327174630"/>
                    </a:ext>
                  </a:extLst>
                </a:gridCol>
                <a:gridCol w="1514970">
                  <a:extLst>
                    <a:ext uri="{9D8B030D-6E8A-4147-A177-3AD203B41FA5}">
                      <a16:colId xmlns:a16="http://schemas.microsoft.com/office/drawing/2014/main" val="1100051595"/>
                    </a:ext>
                  </a:extLst>
                </a:gridCol>
                <a:gridCol w="913991">
                  <a:extLst>
                    <a:ext uri="{9D8B030D-6E8A-4147-A177-3AD203B41FA5}">
                      <a16:colId xmlns:a16="http://schemas.microsoft.com/office/drawing/2014/main" val="2042261034"/>
                    </a:ext>
                  </a:extLst>
                </a:gridCol>
                <a:gridCol w="951551">
                  <a:extLst>
                    <a:ext uri="{9D8B030D-6E8A-4147-A177-3AD203B41FA5}">
                      <a16:colId xmlns:a16="http://schemas.microsoft.com/office/drawing/2014/main" val="2815874248"/>
                    </a:ext>
                  </a:extLst>
                </a:gridCol>
              </a:tblGrid>
              <a:tr h="360230">
                <a:tc>
                  <a:txBody>
                    <a:bodyPr/>
                    <a:lstStyle/>
                    <a:p>
                      <a:pPr marL="0" marR="0" lvl="0" indent="0" algn="ctr" rtl="0" eaLnBrk="0" fontAlgn="base" latinLnBrk="0" hangingPunct="0">
                        <a:lnSpc>
                          <a:spcPct val="95000"/>
                        </a:lnSpc>
                        <a:spcBef>
                          <a:spcPct val="0"/>
                        </a:spcBef>
                        <a:spcAft>
                          <a:spcPct val="50000"/>
                        </a:spcAft>
                        <a:buClrTx/>
                        <a:buSzTx/>
                        <a:buFontTx/>
                        <a:buNone/>
                      </a:pPr>
                      <a:r>
                        <a:rPr lang="en-US" sz="900" b="1" i="0" u="none" strike="noStrike" kern="1200" cap="none" normalizeH="0" baseline="0">
                          <a:ln>
                            <a:noFill/>
                          </a:ln>
                          <a:solidFill>
                            <a:schemeClr val="bg1"/>
                          </a:solidFill>
                          <a:effectLst/>
                          <a:latin typeface="Arial"/>
                          <a:ea typeface="+mn-ea"/>
                          <a:cs typeface="+mn-cs"/>
                        </a:rPr>
                        <a:t> </a:t>
                      </a:r>
                      <a:r>
                        <a:rPr kumimoji="0" lang="en-US" sz="900" b="1" i="0" u="none" strike="noStrike" kern="1200" cap="none" normalizeH="0" baseline="0">
                          <a:ln>
                            <a:noFill/>
                          </a:ln>
                          <a:solidFill>
                            <a:schemeClr val="bg1"/>
                          </a:solidFill>
                          <a:effectLst/>
                          <a:latin typeface="Arial"/>
                          <a:ea typeface="+mn-ea"/>
                          <a:cs typeface="+mn-cs"/>
                        </a:rPr>
                        <a:t>2026  Budget</a:t>
                      </a:r>
                      <a:r>
                        <a:rPr lang="en-US" sz="900" b="1" i="0" u="none" strike="noStrike" kern="1200" cap="none" normalizeH="0" baseline="0">
                          <a:ln>
                            <a:noFill/>
                          </a:ln>
                          <a:solidFill>
                            <a:schemeClr val="bg1"/>
                          </a:solidFill>
                          <a:effectLst/>
                          <a:latin typeface="Arial"/>
                          <a:ea typeface="+mn-ea"/>
                          <a:cs typeface="+mn-cs"/>
                        </a:rPr>
                        <a:t> </a:t>
                      </a:r>
                      <a:endParaRPr kumimoji="0" lang="en-US" sz="900" b="1" i="0" u="none" strike="noStrike" kern="1200" cap="none" normalizeH="0" baseline="0">
                        <a:ln>
                          <a:noFill/>
                        </a:ln>
                        <a:solidFill>
                          <a:schemeClr val="bg1"/>
                        </a:solidFill>
                        <a:effectLst/>
                        <a:latin typeface="Arial" charset="0"/>
                        <a:ea typeface="+mn-ea"/>
                        <a:cs typeface="+mn-cs"/>
                      </a:endParaRPr>
                    </a:p>
                  </a:txBody>
                  <a:tcPr marL="9525" marR="9525" marT="715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900" b="1" i="0" u="none" strike="noStrike" kern="1200" cap="none" normalizeH="0" baseline="0">
                          <a:ln>
                            <a:noFill/>
                          </a:ln>
                          <a:solidFill>
                            <a:schemeClr val="bg1"/>
                          </a:solidFill>
                          <a:effectLst/>
                          <a:latin typeface="Arial"/>
                          <a:ea typeface="+mn-ea"/>
                          <a:cs typeface="+mn-cs"/>
                        </a:rPr>
                        <a:t>YTD </a:t>
                      </a:r>
                      <a:r>
                        <a:rPr kumimoji="0" lang="en-US" sz="900" b="1" i="0" u="none" strike="noStrike" kern="1200" cap="none" normalizeH="0" baseline="0">
                          <a:ln>
                            <a:noFill/>
                          </a:ln>
                          <a:solidFill>
                            <a:schemeClr val="bg1"/>
                          </a:solidFill>
                          <a:effectLst/>
                          <a:latin typeface="Arial"/>
                          <a:ea typeface="+mn-ea"/>
                          <a:cs typeface="+mn-cs"/>
                        </a:rPr>
                        <a:t>Actuals</a:t>
                      </a:r>
                    </a:p>
                  </a:txBody>
                  <a:tcPr marL="9525" marR="9525" marT="715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900" b="1" i="0" u="none" strike="noStrike" kern="1200" cap="none" normalizeH="0" baseline="0">
                          <a:ln>
                            <a:noFill/>
                          </a:ln>
                          <a:solidFill>
                            <a:schemeClr val="bg1"/>
                          </a:solidFill>
                          <a:effectLst/>
                          <a:latin typeface="Arial"/>
                          <a:ea typeface="+mn-ea"/>
                          <a:cs typeface="+mn-cs"/>
                        </a:rPr>
                        <a:t>Remaining 2026 Forecast</a:t>
                      </a:r>
                    </a:p>
                  </a:txBody>
                  <a:tcPr marL="9525" marR="9525" marT="715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900" b="1" i="0" u="none" strike="noStrike" kern="1200" cap="none" normalizeH="0" baseline="0">
                          <a:ln>
                            <a:noFill/>
                          </a:ln>
                          <a:solidFill>
                            <a:schemeClr val="bg1"/>
                          </a:solidFill>
                          <a:effectLst/>
                          <a:latin typeface="Arial"/>
                          <a:ea typeface="+mn-ea"/>
                          <a:cs typeface="+mn-cs"/>
                        </a:rPr>
                        <a:t>Total </a:t>
                      </a:r>
                    </a:p>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900" b="1" i="0" u="none" strike="noStrike" kern="1200" cap="none" normalizeH="0" baseline="0">
                          <a:ln>
                            <a:noFill/>
                          </a:ln>
                          <a:solidFill>
                            <a:schemeClr val="bg1"/>
                          </a:solidFill>
                          <a:effectLst/>
                          <a:latin typeface="Arial"/>
                          <a:ea typeface="+mn-ea"/>
                          <a:cs typeface="+mn-cs"/>
                        </a:rPr>
                        <a:t>Actuals +Fcst</a:t>
                      </a:r>
                    </a:p>
                  </a:txBody>
                  <a:tcPr marL="9525" marR="9525" marT="715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900" b="1" i="0" u="none" strike="noStrike" kern="1200" cap="none" normalizeH="0" baseline="0">
                          <a:ln>
                            <a:noFill/>
                          </a:ln>
                          <a:solidFill>
                            <a:schemeClr val="bg1"/>
                          </a:solidFill>
                          <a:effectLst/>
                          <a:latin typeface="Arial"/>
                          <a:ea typeface="+mn-ea"/>
                          <a:cs typeface="+mn-cs"/>
                        </a:rPr>
                        <a:t> </a:t>
                      </a:r>
                      <a:r>
                        <a:rPr kumimoji="0" lang="en-US" sz="900" b="1" i="0" u="none" strike="noStrike" kern="1200" cap="none" normalizeH="0" baseline="0">
                          <a:ln>
                            <a:noFill/>
                          </a:ln>
                          <a:solidFill>
                            <a:schemeClr val="bg1"/>
                          </a:solidFill>
                          <a:effectLst/>
                          <a:latin typeface="Arial"/>
                          <a:ea typeface="+mn-ea"/>
                          <a:cs typeface="+mn-cs"/>
                        </a:rPr>
                        <a:t>Original</a:t>
                      </a:r>
                    </a:p>
                    <a:p>
                      <a:pPr marL="0" marR="0" lvl="0" indent="0" algn="ctr" rtl="0" eaLnBrk="0" fontAlgn="base" latinLnBrk="0" hangingPunct="0">
                        <a:lnSpc>
                          <a:spcPct val="95000"/>
                        </a:lnSpc>
                        <a:spcBef>
                          <a:spcPct val="0"/>
                        </a:spcBef>
                        <a:spcAft>
                          <a:spcPct val="50000"/>
                        </a:spcAft>
                        <a:buClrTx/>
                        <a:buSzTx/>
                        <a:buFontTx/>
                        <a:buNone/>
                      </a:pPr>
                      <a:r>
                        <a:rPr kumimoji="0" lang="en-US" sz="900" b="1" i="0" u="none" strike="noStrike" kern="1200" cap="none" normalizeH="0" baseline="0">
                          <a:ln>
                            <a:noFill/>
                          </a:ln>
                          <a:solidFill>
                            <a:schemeClr val="bg1"/>
                          </a:solidFill>
                          <a:effectLst/>
                          <a:latin typeface="Arial"/>
                          <a:ea typeface="+mn-ea"/>
                          <a:cs typeface="+mn-cs"/>
                        </a:rPr>
                        <a:t>Budget</a:t>
                      </a:r>
                      <a:r>
                        <a:rPr lang="en-US" sz="900" b="1" i="0" u="none" strike="noStrike" kern="1200" cap="none" normalizeH="0" baseline="0">
                          <a:ln>
                            <a:noFill/>
                          </a:ln>
                          <a:solidFill>
                            <a:schemeClr val="bg1"/>
                          </a:solidFill>
                          <a:effectLst/>
                          <a:latin typeface="Arial"/>
                          <a:ea typeface="+mn-ea"/>
                          <a:cs typeface="+mn-cs"/>
                        </a:rPr>
                        <a:t> </a:t>
                      </a:r>
                      <a:endParaRPr kumimoji="0" lang="en-US" sz="900" b="1" i="0" u="none" strike="noStrike" kern="1200" cap="none" normalizeH="0" baseline="0">
                        <a:ln>
                          <a:noFill/>
                        </a:ln>
                        <a:solidFill>
                          <a:schemeClr val="bg1"/>
                        </a:solidFill>
                        <a:effectLst/>
                        <a:latin typeface="Arial" charset="0"/>
                        <a:ea typeface="+mn-ea"/>
                        <a:cs typeface="+mn-cs"/>
                      </a:endParaRPr>
                    </a:p>
                  </a:txBody>
                  <a:tcPr marL="9525" marR="9525" marT="715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382216">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$250,0000</a:t>
                      </a:r>
                    </a:p>
                  </a:txBody>
                  <a:tcPr marL="9525" marR="9525" marT="715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$250,000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$520,000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defRPr/>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$520,000</a:t>
                      </a:r>
                    </a:p>
                  </a:txBody>
                  <a:tcPr marL="9525" marR="9525" marT="715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7499024"/>
                  </a:ext>
                </a:extLst>
              </a:tr>
            </a:tbl>
          </a:graphicData>
        </a:graphic>
      </p:graphicFrame>
      <p:graphicFrame>
        <p:nvGraphicFramePr>
          <p:cNvPr id="25" name="Table 24">
            <a:extLst>
              <a:ext uri="{FF2B5EF4-FFF2-40B4-BE49-F238E27FC236}">
                <a16:creationId xmlns:a16="http://schemas.microsoft.com/office/drawing/2014/main" id="{54A55D23-B400-D4D8-4381-BF722D5B3B35}"/>
              </a:ext>
            </a:extLst>
          </p:cNvPr>
          <p:cNvGraphicFramePr>
            <a:graphicFrameLocks noGrp="1"/>
          </p:cNvGraphicFramePr>
          <p:nvPr/>
        </p:nvGraphicFramePr>
        <p:xfrm>
          <a:off x="2811025" y="792650"/>
          <a:ext cx="3829275" cy="743175"/>
        </p:xfrm>
        <a:graphic>
          <a:graphicData uri="http://schemas.openxmlformats.org/drawingml/2006/table">
            <a:tbl>
              <a:tblPr>
                <a:tableStyleId>{5C22544A-7EE6-4342-B048-85BDC9FD1C3A}</a:tableStyleId>
              </a:tblPr>
              <a:tblGrid>
                <a:gridCol w="1042158">
                  <a:extLst>
                    <a:ext uri="{9D8B030D-6E8A-4147-A177-3AD203B41FA5}">
                      <a16:colId xmlns:a16="http://schemas.microsoft.com/office/drawing/2014/main" val="2456552316"/>
                    </a:ext>
                  </a:extLst>
                </a:gridCol>
                <a:gridCol w="961214">
                  <a:extLst>
                    <a:ext uri="{9D8B030D-6E8A-4147-A177-3AD203B41FA5}">
                      <a16:colId xmlns:a16="http://schemas.microsoft.com/office/drawing/2014/main" val="1100051595"/>
                    </a:ext>
                  </a:extLst>
                </a:gridCol>
                <a:gridCol w="920742">
                  <a:extLst>
                    <a:ext uri="{9D8B030D-6E8A-4147-A177-3AD203B41FA5}">
                      <a16:colId xmlns:a16="http://schemas.microsoft.com/office/drawing/2014/main" val="2042261034"/>
                    </a:ext>
                  </a:extLst>
                </a:gridCol>
                <a:gridCol w="905161">
                  <a:extLst>
                    <a:ext uri="{9D8B030D-6E8A-4147-A177-3AD203B41FA5}">
                      <a16:colId xmlns:a16="http://schemas.microsoft.com/office/drawing/2014/main" val="2815874248"/>
                    </a:ext>
                  </a:extLst>
                </a:gridCol>
              </a:tblGrid>
              <a:tr h="380368">
                <a:tc>
                  <a:txBody>
                    <a:bodyPr/>
                    <a:lstStyle/>
                    <a:p>
                      <a:pPr marL="0" marR="0" lvl="0" indent="0" algn="ctr" rtl="0" eaLnBrk="0" fontAlgn="base" latinLnBrk="0" hangingPunct="0">
                        <a:lnSpc>
                          <a:spcPct val="95000"/>
                        </a:lnSpc>
                        <a:spcBef>
                          <a:spcPct val="0"/>
                        </a:spcBef>
                        <a:spcAft>
                          <a:spcPct val="50000"/>
                        </a:spcAft>
                        <a:buClrTx/>
                        <a:buSzTx/>
                        <a:buFontTx/>
                        <a:buNone/>
                      </a:pPr>
                      <a:r>
                        <a:rPr lang="en-US" sz="1100" b="1" i="0" u="none" strike="noStrike" kern="1200" cap="none" normalizeH="0" baseline="0">
                          <a:ln>
                            <a:noFill/>
                          </a:ln>
                          <a:solidFill>
                            <a:schemeClr val="bg1"/>
                          </a:solidFill>
                          <a:effectLst/>
                          <a:latin typeface="Arial"/>
                          <a:ea typeface="+mn-ea"/>
                          <a:cs typeface="+mn-cs"/>
                        </a:rPr>
                        <a:t> </a:t>
                      </a:r>
                      <a:r>
                        <a:rPr kumimoji="0" lang="en-US" sz="1100" b="1" i="0" u="none" strike="noStrike" kern="1200" cap="none" normalizeH="0" baseline="0">
                          <a:ln>
                            <a:noFill/>
                          </a:ln>
                          <a:solidFill>
                            <a:schemeClr val="bg1"/>
                          </a:solidFill>
                          <a:effectLst/>
                          <a:latin typeface="Arial"/>
                          <a:ea typeface="+mn-ea"/>
                          <a:cs typeface="+mn-cs"/>
                        </a:rPr>
                        <a:t>Overall</a:t>
                      </a:r>
                      <a:endParaRPr kumimoji="0" lang="en-US" sz="110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100" b="1" i="0" u="none" strike="noStrike" kern="1200" cap="none" normalizeH="0" baseline="0">
                          <a:ln>
                            <a:noFill/>
                          </a:ln>
                          <a:solidFill>
                            <a:schemeClr val="bg1"/>
                          </a:solidFill>
                          <a:effectLst/>
                          <a:latin typeface="Arial"/>
                          <a:ea typeface="+mn-ea"/>
                          <a:cs typeface="+mn-cs"/>
                        </a:rPr>
                        <a:t>Scope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100" b="1" i="0" u="none" strike="noStrike" kern="1200" cap="none" normalizeH="0" baseline="0">
                          <a:ln>
                            <a:noFill/>
                          </a:ln>
                          <a:solidFill>
                            <a:schemeClr val="bg1"/>
                          </a:solidFill>
                          <a:effectLst/>
                          <a:latin typeface="Arial"/>
                          <a:ea typeface="+mn-ea"/>
                          <a:cs typeface="+mn-cs"/>
                        </a:rPr>
                        <a:t>Schedule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100" b="1" i="0" u="none" strike="noStrike" kern="1200" cap="none" normalizeH="0" baseline="0">
                          <a:ln>
                            <a:noFill/>
                          </a:ln>
                          <a:solidFill>
                            <a:schemeClr val="bg1"/>
                          </a:solidFill>
                          <a:effectLst/>
                          <a:latin typeface="Arial"/>
                          <a:ea typeface="+mn-ea"/>
                          <a:cs typeface="+mn-cs"/>
                        </a:rPr>
                        <a:t>Financials</a:t>
                      </a:r>
                      <a:endParaRPr kumimoji="0" lang="en-US" sz="110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362807">
                <a:tc>
                  <a:txBody>
                    <a:bodyPr/>
                    <a:lstStyle/>
                    <a:p>
                      <a:pPr marL="0" marR="0" lvl="0" indent="0" algn="ctr" rtl="0" eaLnBrk="1" fontAlgn="ctr" latinLnBrk="0" hangingPunct="1">
                        <a:lnSpc>
                          <a:spcPct val="95000"/>
                        </a:lnSpc>
                        <a:spcBef>
                          <a:spcPct val="0"/>
                        </a:spcBef>
                        <a:spcAft>
                          <a:spcPct val="50000"/>
                        </a:spcAft>
                        <a:buClrTx/>
                        <a:buSzTx/>
                        <a:buFontTx/>
                        <a:buNone/>
                      </a:pPr>
                      <a:endParaRPr lang="en-US" sz="110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110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110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rtl="0" eaLnBrk="1" fontAlgn="ctr" latinLnBrk="0" hangingPunct="1">
                        <a:lnSpc>
                          <a:spcPct val="95000"/>
                        </a:lnSpc>
                        <a:spcBef>
                          <a:spcPct val="0"/>
                        </a:spcBef>
                        <a:spcAft>
                          <a:spcPct val="50000"/>
                        </a:spcAft>
                        <a:buClrTx/>
                        <a:buSzTx/>
                        <a:buFontTx/>
                        <a:buNone/>
                      </a:pPr>
                      <a:endParaRPr lang="en-US" sz="110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7499024"/>
                  </a:ext>
                </a:extLst>
              </a:tr>
            </a:tbl>
          </a:graphicData>
        </a:graphic>
      </p:graphicFrame>
      <p:graphicFrame>
        <p:nvGraphicFramePr>
          <p:cNvPr id="26" name="Group 513">
            <a:extLst>
              <a:ext uri="{FF2B5EF4-FFF2-40B4-BE49-F238E27FC236}">
                <a16:creationId xmlns:a16="http://schemas.microsoft.com/office/drawing/2014/main" id="{DA150E97-15DF-80EB-F9C4-C6C334836B5E}"/>
              </a:ext>
            </a:extLst>
          </p:cNvPr>
          <p:cNvGraphicFramePr>
            <a:graphicFrameLocks noGrp="1"/>
          </p:cNvGraphicFramePr>
          <p:nvPr>
            <p:extLst>
              <p:ext uri="{D42A27DB-BD31-4B8C-83A1-F6EECF244321}">
                <p14:modId xmlns:p14="http://schemas.microsoft.com/office/powerpoint/2010/main" val="2443253028"/>
              </p:ext>
            </p:extLst>
          </p:nvPr>
        </p:nvGraphicFramePr>
        <p:xfrm>
          <a:off x="197511" y="1143935"/>
          <a:ext cx="2599059" cy="395688"/>
        </p:xfrm>
        <a:graphic>
          <a:graphicData uri="http://schemas.openxmlformats.org/drawingml/2006/table">
            <a:tbl>
              <a:tblPr/>
              <a:tblGrid>
                <a:gridCol w="999508">
                  <a:extLst>
                    <a:ext uri="{9D8B030D-6E8A-4147-A177-3AD203B41FA5}">
                      <a16:colId xmlns:a16="http://schemas.microsoft.com/office/drawing/2014/main" val="20000"/>
                    </a:ext>
                  </a:extLst>
                </a:gridCol>
                <a:gridCol w="1599551">
                  <a:extLst>
                    <a:ext uri="{9D8B030D-6E8A-4147-A177-3AD203B41FA5}">
                      <a16:colId xmlns:a16="http://schemas.microsoft.com/office/drawing/2014/main" val="20001"/>
                    </a:ext>
                  </a:extLst>
                </a:gridCol>
              </a:tblGrid>
              <a:tr h="351480">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GB" sz="1050" b="1" i="0" u="none" strike="noStrike" kern="1200" cap="none" normalizeH="0" baseline="0">
                          <a:ln>
                            <a:noFill/>
                          </a:ln>
                          <a:solidFill>
                            <a:schemeClr val="bg1"/>
                          </a:solidFill>
                          <a:effectLst/>
                          <a:latin typeface="Arial"/>
                          <a:ea typeface="+mn-ea"/>
                          <a:cs typeface="+mn-cs"/>
                        </a:rPr>
                        <a:t>Target Delivery:</a:t>
                      </a:r>
                    </a:p>
                  </a:txBody>
                  <a:tcPr marL="0" marR="0"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Q2 2017</a:t>
                      </a:r>
                    </a:p>
                  </a:txBody>
                  <a:tcPr marL="0" marR="0"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27" name="Table 26">
            <a:extLst>
              <a:ext uri="{FF2B5EF4-FFF2-40B4-BE49-F238E27FC236}">
                <a16:creationId xmlns:a16="http://schemas.microsoft.com/office/drawing/2014/main" id="{74A1B11F-D949-5ACA-C2EE-3141CC644E65}"/>
              </a:ext>
            </a:extLst>
          </p:cNvPr>
          <p:cNvGraphicFramePr>
            <a:graphicFrameLocks noGrp="1"/>
          </p:cNvGraphicFramePr>
          <p:nvPr>
            <p:extLst>
              <p:ext uri="{D42A27DB-BD31-4B8C-83A1-F6EECF244321}">
                <p14:modId xmlns:p14="http://schemas.microsoft.com/office/powerpoint/2010/main" val="2877822339"/>
              </p:ext>
            </p:extLst>
          </p:nvPr>
        </p:nvGraphicFramePr>
        <p:xfrm>
          <a:off x="5901370" y="1620906"/>
          <a:ext cx="6093119" cy="2314522"/>
        </p:xfrm>
        <a:graphic>
          <a:graphicData uri="http://schemas.openxmlformats.org/drawingml/2006/table">
            <a:tbl>
              <a:tblPr>
                <a:tableStyleId>{5C22544A-7EE6-4342-B048-85BDC9FD1C3A}</a:tableStyleId>
              </a:tblPr>
              <a:tblGrid>
                <a:gridCol w="2230204">
                  <a:extLst>
                    <a:ext uri="{9D8B030D-6E8A-4147-A177-3AD203B41FA5}">
                      <a16:colId xmlns:a16="http://schemas.microsoft.com/office/drawing/2014/main" val="2456552316"/>
                    </a:ext>
                  </a:extLst>
                </a:gridCol>
                <a:gridCol w="459082">
                  <a:extLst>
                    <a:ext uri="{9D8B030D-6E8A-4147-A177-3AD203B41FA5}">
                      <a16:colId xmlns:a16="http://schemas.microsoft.com/office/drawing/2014/main" val="1100051595"/>
                    </a:ext>
                  </a:extLst>
                </a:gridCol>
                <a:gridCol w="548813">
                  <a:extLst>
                    <a:ext uri="{9D8B030D-6E8A-4147-A177-3AD203B41FA5}">
                      <a16:colId xmlns:a16="http://schemas.microsoft.com/office/drawing/2014/main" val="2042261034"/>
                    </a:ext>
                  </a:extLst>
                </a:gridCol>
                <a:gridCol w="2855020">
                  <a:extLst>
                    <a:ext uri="{9D8B030D-6E8A-4147-A177-3AD203B41FA5}">
                      <a16:colId xmlns:a16="http://schemas.microsoft.com/office/drawing/2014/main" val="2815874248"/>
                    </a:ext>
                  </a:extLst>
                </a:gridCol>
              </a:tblGrid>
              <a:tr h="325702">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Milestone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Status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Due Date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Notes</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220560">
                <a:tc>
                  <a:txBody>
                    <a:bodyPr/>
                    <a:lstStyle/>
                    <a:p>
                      <a:pPr lvl="0" algn="l"/>
                      <a:r>
                        <a:rPr lang="en-US" sz="850" b="0" kern="1200">
                          <a:solidFill>
                            <a:schemeClr val="tx1"/>
                          </a:solidFill>
                          <a:effectLst/>
                          <a:latin typeface="Aptos" panose="020B0004020202020204" pitchFamily="34" charset="0"/>
                          <a:ea typeface="+mn-ea"/>
                          <a:cs typeface="+mn-cs"/>
                        </a:rPr>
                        <a:t>Business Requirement</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50">
                        <a:latin typeface="Aptos"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50" b="0" strike="noStrike">
                          <a:latin typeface="Aptos" panose="020B0004020202020204" pitchFamily="34" charset="0"/>
                        </a:rPr>
                        <a:t>9/4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ts val="200"/>
                        </a:spcBef>
                        <a:spcAft>
                          <a:spcPts val="0"/>
                        </a:spcAft>
                        <a:buClrTx/>
                        <a:buSzTx/>
                        <a:buFont typeface="Arial" panose="020B0604020202020204" pitchFamily="34" charset="0"/>
                        <a:buNone/>
                        <a:tabLst/>
                        <a:defRPr/>
                      </a:pPr>
                      <a:endParaRPr lang="en-US" sz="850" b="0" i="0">
                        <a:solidFill>
                          <a:srgbClr val="000000"/>
                        </a:solidFill>
                        <a:effectLst/>
                        <a:latin typeface="Aptos" panose="020B0004020202020204" pitchFamily="34" charset="0"/>
                        <a:cs typeface="Times New Roman"/>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47823790"/>
                  </a:ext>
                </a:extLst>
              </a:tr>
              <a:tr h="220560">
                <a:tc>
                  <a:txBody>
                    <a:bodyPr/>
                    <a:lstStyle/>
                    <a:p>
                      <a:pPr lvl="0" algn="l"/>
                      <a:r>
                        <a:rPr lang="en-US" sz="850" b="0" kern="1200">
                          <a:solidFill>
                            <a:schemeClr val="tx1"/>
                          </a:solidFill>
                          <a:effectLst/>
                          <a:latin typeface="Aptos" panose="020B0004020202020204" pitchFamily="34" charset="0"/>
                          <a:ea typeface="+mn-ea"/>
                          <a:cs typeface="+mn-cs"/>
                        </a:rPr>
                        <a:t>ITS SOW</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50">
                          <a:latin typeface="Aptos" panose="020B0004020202020204" pitchFamily="34" charset="0"/>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buNone/>
                      </a:pPr>
                      <a:r>
                        <a:rPr lang="en-US" sz="850" b="0" strike="noStrike">
                          <a:solidFill>
                            <a:schemeClr val="tx1"/>
                          </a:solidFill>
                          <a:latin typeface="Aptos" panose="020B0004020202020204" pitchFamily="34" charset="0"/>
                        </a:rPr>
                        <a:t>8/28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ts val="200"/>
                        </a:spcBef>
                        <a:spcAft>
                          <a:spcPts val="0"/>
                        </a:spcAft>
                        <a:buClrTx/>
                        <a:buSzTx/>
                        <a:buFont typeface="Arial" panose="020B0604020202020204" pitchFamily="34" charset="0"/>
                        <a:buNone/>
                        <a:tabLst/>
                        <a:defRPr/>
                      </a:pPr>
                      <a:endParaRPr lang="en-US" sz="850" b="0" i="0">
                        <a:solidFill>
                          <a:srgbClr val="000000"/>
                        </a:solidFill>
                        <a:effectLst/>
                        <a:latin typeface="Aptos" panose="020B0004020202020204" pitchFamily="34" charset="0"/>
                        <a:cs typeface="Times New Roman"/>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27629369"/>
                  </a:ext>
                </a:extLst>
              </a:tr>
              <a:tr h="22056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50" b="0" kern="1200">
                          <a:solidFill>
                            <a:schemeClr val="tx1"/>
                          </a:solidFill>
                          <a:effectLst/>
                          <a:latin typeface="Aptos" panose="020B0004020202020204" pitchFamily="34" charset="0"/>
                          <a:ea typeface="+mn-ea"/>
                          <a:cs typeface="+mn-cs"/>
                        </a:rPr>
                        <a:t>Discovery Completion</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50">
                          <a:latin typeface="Aptos" panose="020B0004020202020204" pitchFamily="34" charset="0"/>
                        </a:rPr>
                        <a:t>NS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buNone/>
                      </a:pPr>
                      <a:r>
                        <a:rPr lang="en-US" sz="850" b="0" strike="noStrike">
                          <a:solidFill>
                            <a:schemeClr val="tx1"/>
                          </a:solidFill>
                          <a:latin typeface="Aptos" panose="020B0004020202020204" pitchFamily="34" charset="0"/>
                        </a:rPr>
                        <a:t>9/30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ts val="200"/>
                        </a:spcBef>
                        <a:spcAft>
                          <a:spcPts val="0"/>
                        </a:spcAft>
                        <a:buClrTx/>
                        <a:buSzTx/>
                        <a:buFont typeface="Arial" panose="020B0604020202020204" pitchFamily="34" charset="0"/>
                        <a:buNone/>
                        <a:tabLst/>
                        <a:defRPr/>
                      </a:pPr>
                      <a:endParaRPr lang="en-US" sz="850" b="0" i="0">
                        <a:solidFill>
                          <a:srgbClr val="000000"/>
                        </a:solidFill>
                        <a:effectLst/>
                        <a:latin typeface="Aptos" panose="020B0004020202020204" pitchFamily="34" charset="0"/>
                        <a:cs typeface="Times New Roman"/>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4978745"/>
                  </a:ext>
                </a:extLst>
              </a:tr>
              <a:tr h="22056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50" b="0" kern="1200">
                          <a:solidFill>
                            <a:schemeClr val="tx1"/>
                          </a:solidFill>
                          <a:effectLst/>
                          <a:latin typeface="Aptos" panose="020B0004020202020204" pitchFamily="34" charset="0"/>
                          <a:ea typeface="+mn-ea"/>
                          <a:cs typeface="+mn-cs"/>
                        </a:rPr>
                        <a:t>Production Deployment</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50">
                          <a:latin typeface="Aptos" panose="020B0004020202020204" pitchFamily="34" charset="0"/>
                        </a:rPr>
                        <a:t>NS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buNone/>
                      </a:pPr>
                      <a:r>
                        <a:rPr lang="en-US" sz="850" b="0" strike="noStrike">
                          <a:solidFill>
                            <a:schemeClr val="tx1"/>
                          </a:solidFill>
                          <a:latin typeface="Aptos" panose="020B0004020202020204" pitchFamily="34" charset="0"/>
                        </a:rPr>
                        <a:t>3/10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ts val="200"/>
                        </a:spcBef>
                        <a:spcAft>
                          <a:spcPts val="0"/>
                        </a:spcAft>
                        <a:buClrTx/>
                        <a:buSzTx/>
                        <a:buFont typeface="Arial" panose="020B0604020202020204" pitchFamily="34" charset="0"/>
                        <a:buNone/>
                        <a:tabLst/>
                        <a:defRPr/>
                      </a:pPr>
                      <a:endParaRPr lang="en-US" sz="850" b="0" i="0">
                        <a:solidFill>
                          <a:srgbClr val="000000"/>
                        </a:solidFill>
                        <a:effectLst/>
                        <a:latin typeface="Aptos" panose="020B0004020202020204" pitchFamily="34" charset="0"/>
                        <a:cs typeface="Times New Roman"/>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72806807"/>
                  </a:ext>
                </a:extLst>
              </a:tr>
              <a:tr h="22056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50" b="0" kern="1200">
                        <a:solidFill>
                          <a:schemeClr val="tx1"/>
                        </a:solidFill>
                        <a:effectLst/>
                        <a:latin typeface="Aptos" panose="020B0004020202020204" pitchFamily="34" charset="0"/>
                        <a:ea typeface="+mn-ea"/>
                        <a:cs typeface="+mn-cs"/>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50">
                        <a:latin typeface="Aptos"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buNone/>
                      </a:pPr>
                      <a:endParaRPr lang="en-US" sz="850" b="0" strike="noStrike">
                        <a:solidFill>
                          <a:schemeClr val="tx1"/>
                        </a:solidFill>
                        <a:latin typeface="Aptos" panose="020B00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ts val="200"/>
                        </a:spcBef>
                        <a:spcAft>
                          <a:spcPts val="0"/>
                        </a:spcAft>
                        <a:buClrTx/>
                        <a:buSzTx/>
                        <a:buFont typeface="Arial" panose="020B0604020202020204" pitchFamily="34" charset="0"/>
                        <a:buNone/>
                        <a:tabLst/>
                        <a:defRPr/>
                      </a:pPr>
                      <a:endParaRPr lang="en-US" sz="850" b="0" i="0">
                        <a:solidFill>
                          <a:srgbClr val="000000"/>
                        </a:solidFill>
                        <a:effectLst/>
                        <a:latin typeface="Aptos" panose="020B0004020202020204" pitchFamily="34" charset="0"/>
                        <a:cs typeface="Times New Roman"/>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42078654"/>
                  </a:ext>
                </a:extLst>
              </a:tr>
              <a:tr h="22056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50" b="0" kern="1200">
                        <a:solidFill>
                          <a:schemeClr val="tx1"/>
                        </a:solidFill>
                        <a:effectLst/>
                        <a:latin typeface="Aptos" panose="020B0004020202020204" pitchFamily="34" charset="0"/>
                        <a:ea typeface="+mn-ea"/>
                        <a:cs typeface="+mn-cs"/>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50">
                        <a:latin typeface="Aptos"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buNone/>
                      </a:pPr>
                      <a:endParaRPr lang="en-US" sz="850" b="0" strike="noStrike">
                        <a:solidFill>
                          <a:schemeClr val="tx1"/>
                        </a:solidFill>
                        <a:latin typeface="Aptos" panose="020B00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ts val="200"/>
                        </a:spcBef>
                        <a:spcAft>
                          <a:spcPts val="0"/>
                        </a:spcAft>
                        <a:buClrTx/>
                        <a:buSzTx/>
                        <a:buFont typeface="Arial" panose="020B0604020202020204" pitchFamily="34" charset="0"/>
                        <a:buNone/>
                        <a:tabLst/>
                        <a:defRPr/>
                      </a:pPr>
                      <a:endParaRPr lang="en-US" sz="850" b="0" i="0">
                        <a:solidFill>
                          <a:srgbClr val="000000"/>
                        </a:solidFill>
                        <a:effectLst/>
                        <a:latin typeface="Aptos" panose="020B0004020202020204" pitchFamily="34" charset="0"/>
                        <a:cs typeface="Times New Roman"/>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28666739"/>
                  </a:ext>
                </a:extLst>
              </a:tr>
              <a:tr h="22056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50" b="0" kern="1200">
                        <a:solidFill>
                          <a:schemeClr val="tx1"/>
                        </a:solidFill>
                        <a:effectLst/>
                        <a:latin typeface="Aptos" panose="020B0004020202020204" pitchFamily="34" charset="0"/>
                        <a:ea typeface="+mn-ea"/>
                        <a:cs typeface="+mn-cs"/>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50">
                        <a:latin typeface="Aptos"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buNone/>
                      </a:pPr>
                      <a:endParaRPr lang="en-US" sz="850" b="0" strike="noStrike">
                        <a:solidFill>
                          <a:schemeClr val="tx1"/>
                        </a:solidFill>
                        <a:latin typeface="Aptos" panose="020B00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ts val="200"/>
                        </a:spcBef>
                        <a:spcAft>
                          <a:spcPts val="0"/>
                        </a:spcAft>
                        <a:buClrTx/>
                        <a:buSzTx/>
                        <a:buFont typeface="Arial" panose="020B0604020202020204" pitchFamily="34" charset="0"/>
                        <a:buNone/>
                        <a:tabLst/>
                        <a:defRPr/>
                      </a:pPr>
                      <a:endParaRPr lang="en-US" sz="850" b="0" i="0">
                        <a:solidFill>
                          <a:srgbClr val="000000"/>
                        </a:solidFill>
                        <a:effectLst/>
                        <a:latin typeface="Aptos" panose="020B0004020202020204" pitchFamily="34" charset="0"/>
                        <a:cs typeface="Times New Roman"/>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89381291"/>
                  </a:ext>
                </a:extLst>
              </a:tr>
              <a:tr h="22056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50" b="0" kern="1200">
                        <a:solidFill>
                          <a:schemeClr val="tx1"/>
                        </a:solidFill>
                        <a:effectLst/>
                        <a:latin typeface="Aptos" panose="020B0004020202020204" pitchFamily="34" charset="0"/>
                        <a:ea typeface="+mn-ea"/>
                        <a:cs typeface="+mn-cs"/>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50">
                        <a:latin typeface="Aptos"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buNone/>
                      </a:pPr>
                      <a:endParaRPr lang="en-US" sz="850" b="0" strike="noStrike">
                        <a:solidFill>
                          <a:schemeClr val="tx1"/>
                        </a:solidFill>
                        <a:latin typeface="Aptos" panose="020B00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ts val="200"/>
                        </a:spcBef>
                        <a:spcAft>
                          <a:spcPts val="0"/>
                        </a:spcAft>
                        <a:buClrTx/>
                        <a:buSzTx/>
                        <a:buFont typeface="Arial" panose="020B0604020202020204" pitchFamily="34" charset="0"/>
                        <a:buNone/>
                        <a:tabLst/>
                        <a:defRPr/>
                      </a:pPr>
                      <a:endParaRPr lang="en-US" sz="850" b="0" i="0">
                        <a:solidFill>
                          <a:srgbClr val="000000"/>
                        </a:solidFill>
                        <a:effectLst/>
                        <a:latin typeface="Aptos" panose="020B0004020202020204" pitchFamily="34" charset="0"/>
                        <a:cs typeface="Times New Roman"/>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45945414"/>
                  </a:ext>
                </a:extLst>
              </a:tr>
              <a:tr h="22056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50" b="0" kern="1200">
                        <a:solidFill>
                          <a:schemeClr val="tx1"/>
                        </a:solidFill>
                        <a:effectLst/>
                        <a:latin typeface="Aptos" panose="020B0004020202020204" pitchFamily="34" charset="0"/>
                        <a:ea typeface="+mn-ea"/>
                        <a:cs typeface="+mn-cs"/>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50">
                        <a:latin typeface="Aptos"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buNone/>
                      </a:pPr>
                      <a:endParaRPr lang="en-US" sz="850" b="0" strike="noStrike">
                        <a:solidFill>
                          <a:schemeClr val="tx1"/>
                        </a:solidFill>
                        <a:latin typeface="Aptos" panose="020B00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ts val="200"/>
                        </a:spcBef>
                        <a:spcAft>
                          <a:spcPts val="0"/>
                        </a:spcAft>
                        <a:buClrTx/>
                        <a:buSzTx/>
                        <a:buFont typeface="Arial" panose="020B0604020202020204" pitchFamily="34" charset="0"/>
                        <a:buNone/>
                        <a:tabLst/>
                        <a:defRPr/>
                      </a:pPr>
                      <a:endParaRPr lang="en-US" sz="850" b="0" i="0">
                        <a:solidFill>
                          <a:srgbClr val="000000"/>
                        </a:solidFill>
                        <a:effectLst/>
                        <a:latin typeface="Aptos" panose="020B0004020202020204" pitchFamily="34" charset="0"/>
                        <a:cs typeface="Times New Roman"/>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36166778"/>
                  </a:ext>
                </a:extLst>
              </a:tr>
            </a:tbl>
          </a:graphicData>
        </a:graphic>
      </p:graphicFrame>
      <p:graphicFrame>
        <p:nvGraphicFramePr>
          <p:cNvPr id="29" name="Table 28">
            <a:extLst>
              <a:ext uri="{FF2B5EF4-FFF2-40B4-BE49-F238E27FC236}">
                <a16:creationId xmlns:a16="http://schemas.microsoft.com/office/drawing/2014/main" id="{E3EA374E-339A-1A7D-4498-924BCC19BB9F}"/>
              </a:ext>
            </a:extLst>
          </p:cNvPr>
          <p:cNvGraphicFramePr>
            <a:graphicFrameLocks noGrp="1"/>
          </p:cNvGraphicFramePr>
          <p:nvPr>
            <p:extLst>
              <p:ext uri="{D42A27DB-BD31-4B8C-83A1-F6EECF244321}">
                <p14:modId xmlns:p14="http://schemas.microsoft.com/office/powerpoint/2010/main" val="3064801217"/>
              </p:ext>
            </p:extLst>
          </p:nvPr>
        </p:nvGraphicFramePr>
        <p:xfrm>
          <a:off x="5931694" y="5198890"/>
          <a:ext cx="6093119" cy="948532"/>
        </p:xfrm>
        <a:graphic>
          <a:graphicData uri="http://schemas.openxmlformats.org/drawingml/2006/table">
            <a:tbl>
              <a:tblPr>
                <a:tableStyleId>{5C22544A-7EE6-4342-B048-85BDC9FD1C3A}</a:tableStyleId>
              </a:tblPr>
              <a:tblGrid>
                <a:gridCol w="2324325">
                  <a:extLst>
                    <a:ext uri="{9D8B030D-6E8A-4147-A177-3AD203B41FA5}">
                      <a16:colId xmlns:a16="http://schemas.microsoft.com/office/drawing/2014/main" val="2456552316"/>
                    </a:ext>
                  </a:extLst>
                </a:gridCol>
                <a:gridCol w="450066">
                  <a:extLst>
                    <a:ext uri="{9D8B030D-6E8A-4147-A177-3AD203B41FA5}">
                      <a16:colId xmlns:a16="http://schemas.microsoft.com/office/drawing/2014/main" val="1100051595"/>
                    </a:ext>
                  </a:extLst>
                </a:gridCol>
                <a:gridCol w="575465">
                  <a:extLst>
                    <a:ext uri="{9D8B030D-6E8A-4147-A177-3AD203B41FA5}">
                      <a16:colId xmlns:a16="http://schemas.microsoft.com/office/drawing/2014/main" val="2042261034"/>
                    </a:ext>
                  </a:extLst>
                </a:gridCol>
                <a:gridCol w="2743263">
                  <a:extLst>
                    <a:ext uri="{9D8B030D-6E8A-4147-A177-3AD203B41FA5}">
                      <a16:colId xmlns:a16="http://schemas.microsoft.com/office/drawing/2014/main" val="2815874248"/>
                    </a:ext>
                  </a:extLst>
                </a:gridCol>
              </a:tblGrid>
              <a:tr h="475488">
                <a:tc>
                  <a:txBody>
                    <a:bodyPr/>
                    <a:lstStyle/>
                    <a:p>
                      <a:pPr marL="0" marR="0" lvl="0" indent="0" algn="ctr" rtl="0" eaLnBrk="0" fontAlgn="base" latinLnBrk="0" hangingPunct="0">
                        <a:lnSpc>
                          <a:spcPct val="95000"/>
                        </a:lnSpc>
                        <a:spcBef>
                          <a:spcPct val="0"/>
                        </a:spcBef>
                        <a:spcAft>
                          <a:spcPct val="50000"/>
                        </a:spcAft>
                        <a:buClrTx/>
                        <a:buSzTx/>
                        <a:buFontTx/>
                        <a:buNone/>
                      </a:pPr>
                      <a:r>
                        <a:rPr lang="en-US" sz="1000" b="1" i="0" u="none" strike="noStrike" kern="1200" cap="none" normalizeH="0" baseline="0">
                          <a:ln>
                            <a:noFill/>
                          </a:ln>
                          <a:solidFill>
                            <a:schemeClr val="bg1"/>
                          </a:solidFill>
                          <a:effectLst/>
                          <a:latin typeface="Arial"/>
                          <a:ea typeface="+mn-ea"/>
                          <a:cs typeface="+mn-cs"/>
                        </a:rPr>
                        <a:t>Critical Risks/Issues</a:t>
                      </a:r>
                      <a:endParaRPr kumimoji="0" lang="en-US" sz="1000" b="1" i="0" u="none" strike="noStrike" kern="1200" cap="none" normalizeH="0" baseline="0">
                        <a:ln>
                          <a:noFill/>
                        </a:ln>
                        <a:solidFill>
                          <a:schemeClr val="bg1"/>
                        </a:solidFill>
                        <a:effectLst/>
                        <a:latin typeface="Arial" charset="0"/>
                        <a:ea typeface="+mn-ea"/>
                        <a:cs typeface="+mn-cs"/>
                      </a:endParaRPr>
                    </a:p>
                  </a:txBody>
                  <a:tcPr marR="9525" marT="865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00" b="1" i="0" u="none" strike="noStrike" kern="1200" cap="none" normalizeH="0" baseline="0">
                          <a:ln>
                            <a:noFill/>
                          </a:ln>
                          <a:solidFill>
                            <a:schemeClr val="bg1"/>
                          </a:solidFill>
                          <a:effectLst/>
                          <a:latin typeface="Arial"/>
                          <a:ea typeface="+mn-ea"/>
                          <a:cs typeface="+mn-cs"/>
                        </a:rPr>
                        <a:t>Status</a:t>
                      </a:r>
                    </a:p>
                  </a:txBody>
                  <a:tcPr marL="9525" marR="9525" marT="8659" marB="0" anchor="ct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00" b="1" i="0" u="none" strike="noStrike" kern="1200" cap="none" normalizeH="0" baseline="0">
                          <a:ln>
                            <a:noFill/>
                          </a:ln>
                          <a:solidFill>
                            <a:schemeClr val="bg1"/>
                          </a:solidFill>
                          <a:effectLst/>
                          <a:latin typeface="Arial"/>
                          <a:ea typeface="+mn-ea"/>
                          <a:cs typeface="+mn-cs"/>
                        </a:rPr>
                        <a:t>Target Date</a:t>
                      </a:r>
                    </a:p>
                  </a:txBody>
                  <a:tcPr marL="9525" marR="9525" marT="8659" marB="0" anchor="ctr">
                    <a:lnL w="12700">
                      <a:solidFill>
                        <a:schemeClr val="tx1"/>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00" b="1" i="0" u="none" strike="noStrike" kern="1200" cap="none" normalizeH="0" baseline="0">
                          <a:ln>
                            <a:noFill/>
                          </a:ln>
                          <a:solidFill>
                            <a:schemeClr val="bg1"/>
                          </a:solidFill>
                          <a:effectLst/>
                          <a:latin typeface="Arial"/>
                          <a:ea typeface="+mn-ea"/>
                          <a:cs typeface="+mn-cs"/>
                        </a:rPr>
                        <a:t> </a:t>
                      </a:r>
                      <a:r>
                        <a:rPr kumimoji="0" lang="en-US" sz="1000" b="1" i="0" u="none" strike="noStrike" kern="1200" cap="none" normalizeH="0" baseline="0">
                          <a:ln>
                            <a:noFill/>
                          </a:ln>
                          <a:solidFill>
                            <a:schemeClr val="bg1"/>
                          </a:solidFill>
                          <a:effectLst/>
                          <a:latin typeface="Arial"/>
                          <a:ea typeface="+mn-ea"/>
                          <a:cs typeface="+mn-cs"/>
                        </a:rPr>
                        <a:t>Resolution / Mitigation</a:t>
                      </a:r>
                      <a:endParaRPr kumimoji="0" lang="en-US" sz="1000" b="1" i="0" u="none" strike="noStrike" kern="1200" cap="none" normalizeH="0" baseline="0">
                        <a:ln>
                          <a:noFill/>
                        </a:ln>
                        <a:solidFill>
                          <a:schemeClr val="bg1"/>
                        </a:solidFill>
                        <a:effectLst/>
                        <a:latin typeface="Arial" charset="0"/>
                        <a:ea typeface="+mn-ea"/>
                        <a:cs typeface="+mn-cs"/>
                      </a:endParaRPr>
                    </a:p>
                  </a:txBody>
                  <a:tcPr marL="9525" marR="9525" marT="865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473044">
                <a:tc>
                  <a:txBody>
                    <a:bodyPr/>
                    <a:lstStyle/>
                    <a:p>
                      <a:pPr fontAlgn="t">
                        <a:lnSpc>
                          <a:spcPct val="100000"/>
                        </a:lnSpc>
                        <a:buNone/>
                      </a:pPr>
                      <a:endParaRPr lang="en-US" sz="850" kern="1200">
                        <a:solidFill>
                          <a:schemeClr val="dk1"/>
                        </a:solidFill>
                        <a:latin typeface="Aptos" panose="020B0004020202020204" pitchFamily="34" charset="0"/>
                        <a:ea typeface="+mn-ea"/>
                        <a:cs typeface="Arial" panose="020B0604020202020204" pitchFamily="34" charset="0"/>
                      </a:endParaRPr>
                    </a:p>
                  </a:txBody>
                  <a:tcPr marR="9525" marT="865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850" b="0" kern="1200">
                        <a:solidFill>
                          <a:schemeClr val="tx1"/>
                        </a:solidFill>
                        <a:effectLst/>
                        <a:latin typeface="Aptos" panose="020B0004020202020204" pitchFamily="34" charset="0"/>
                        <a:ea typeface="+mn-ea"/>
                        <a:cs typeface="+mn-cs"/>
                      </a:endParaRPr>
                    </a:p>
                  </a:txBody>
                  <a:tcPr marL="9525" marR="9525" marT="8659" marB="0" anchor="ct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t" latinLnBrk="0" hangingPunct="1">
                        <a:lnSpc>
                          <a:spcPct val="100000"/>
                        </a:lnSpc>
                        <a:spcBef>
                          <a:spcPct val="0"/>
                        </a:spcBef>
                        <a:spcAft>
                          <a:spcPct val="50000"/>
                        </a:spcAft>
                        <a:buClrTx/>
                        <a:buSzTx/>
                        <a:buFontTx/>
                        <a:buNone/>
                        <a:tabLst/>
                      </a:pPr>
                      <a:endParaRPr lang="en-US" sz="850" kern="1200">
                        <a:solidFill>
                          <a:schemeClr val="dk1"/>
                        </a:solidFill>
                        <a:latin typeface="Aptos" panose="020B0004020202020204" pitchFamily="34" charset="0"/>
                        <a:ea typeface="+mn-ea"/>
                        <a:cs typeface="Arial" panose="020B0604020202020204" pitchFamily="34" charset="0"/>
                      </a:endParaRPr>
                    </a:p>
                  </a:txBody>
                  <a:tcPr marL="9525" marR="9525" marT="8659" marB="0" anchor="ctr">
                    <a:lnL w="12700">
                      <a:solidFill>
                        <a:schemeClr val="tx1"/>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t" latinLnBrk="0" hangingPunct="1">
                        <a:lnSpc>
                          <a:spcPct val="100000"/>
                        </a:lnSpc>
                        <a:spcBef>
                          <a:spcPts val="200"/>
                        </a:spcBef>
                        <a:spcAft>
                          <a:spcPts val="0"/>
                        </a:spcAft>
                        <a:buClrTx/>
                        <a:buSzTx/>
                        <a:buFontTx/>
                        <a:buNone/>
                        <a:tabLst/>
                        <a:defRPr/>
                      </a:pPr>
                      <a:endParaRPr lang="en-US" sz="850" kern="1200">
                        <a:solidFill>
                          <a:schemeClr val="dk1"/>
                        </a:solidFill>
                        <a:latin typeface="Aptos" panose="020B0004020202020204" pitchFamily="34" charset="0"/>
                        <a:ea typeface="+mn-ea"/>
                        <a:cs typeface="Arial" panose="020B0604020202020204" pitchFamily="34" charset="0"/>
                      </a:endParaRPr>
                    </a:p>
                  </a:txBody>
                  <a:tcPr marR="9525" marT="865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7499024"/>
                  </a:ext>
                </a:extLst>
              </a:tr>
            </a:tbl>
          </a:graphicData>
        </a:graphic>
      </p:graphicFrame>
      <p:sp>
        <p:nvSpPr>
          <p:cNvPr id="33" name="Flowchart: Connector 32">
            <a:extLst>
              <a:ext uri="{FF2B5EF4-FFF2-40B4-BE49-F238E27FC236}">
                <a16:creationId xmlns:a16="http://schemas.microsoft.com/office/drawing/2014/main" id="{63FC3476-1D06-7135-5CFF-674088E12333}"/>
              </a:ext>
            </a:extLst>
          </p:cNvPr>
          <p:cNvSpPr/>
          <p:nvPr/>
        </p:nvSpPr>
        <p:spPr>
          <a:xfrm>
            <a:off x="7425226" y="6618397"/>
            <a:ext cx="148441"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Flowchart: Connector 33">
            <a:extLst>
              <a:ext uri="{FF2B5EF4-FFF2-40B4-BE49-F238E27FC236}">
                <a16:creationId xmlns:a16="http://schemas.microsoft.com/office/drawing/2014/main" id="{B08D1B58-01BE-44EC-A08C-D78F7E9582C7}"/>
              </a:ext>
            </a:extLst>
          </p:cNvPr>
          <p:cNvSpPr/>
          <p:nvPr/>
        </p:nvSpPr>
        <p:spPr>
          <a:xfrm>
            <a:off x="8364076" y="6618673"/>
            <a:ext cx="148442" cy="164592"/>
          </a:xfrm>
          <a:prstGeom prst="flowChartConnector">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Flowchart: Connector 35">
            <a:extLst>
              <a:ext uri="{FF2B5EF4-FFF2-40B4-BE49-F238E27FC236}">
                <a16:creationId xmlns:a16="http://schemas.microsoft.com/office/drawing/2014/main" id="{A880E98E-2246-F1C6-3249-C7433453C435}"/>
              </a:ext>
            </a:extLst>
          </p:cNvPr>
          <p:cNvSpPr/>
          <p:nvPr/>
        </p:nvSpPr>
        <p:spPr>
          <a:xfrm>
            <a:off x="9218488" y="6606209"/>
            <a:ext cx="148441" cy="164592"/>
          </a:xfrm>
          <a:prstGeom prst="flowChartConnector">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Flowchart: Connector 42">
            <a:extLst>
              <a:ext uri="{FF2B5EF4-FFF2-40B4-BE49-F238E27FC236}">
                <a16:creationId xmlns:a16="http://schemas.microsoft.com/office/drawing/2014/main" id="{75341414-1A4A-3126-0099-EC5572517736}"/>
              </a:ext>
            </a:extLst>
          </p:cNvPr>
          <p:cNvSpPr/>
          <p:nvPr/>
        </p:nvSpPr>
        <p:spPr>
          <a:xfrm>
            <a:off x="3303638" y="1266171"/>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highlight>
                <a:srgbClr val="FF0000"/>
              </a:highlight>
            </a:endParaRPr>
          </a:p>
        </p:txBody>
      </p:sp>
      <p:sp>
        <p:nvSpPr>
          <p:cNvPr id="45" name="Flowchart: Connector 44">
            <a:extLst>
              <a:ext uri="{FF2B5EF4-FFF2-40B4-BE49-F238E27FC236}">
                <a16:creationId xmlns:a16="http://schemas.microsoft.com/office/drawing/2014/main" id="{E02BC160-6FBB-86DF-3F67-53B7D4E924D2}"/>
              </a:ext>
            </a:extLst>
          </p:cNvPr>
          <p:cNvSpPr/>
          <p:nvPr/>
        </p:nvSpPr>
        <p:spPr>
          <a:xfrm>
            <a:off x="4286105" y="1266171"/>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Flowchart: Connector 45">
            <a:extLst>
              <a:ext uri="{FF2B5EF4-FFF2-40B4-BE49-F238E27FC236}">
                <a16:creationId xmlns:a16="http://schemas.microsoft.com/office/drawing/2014/main" id="{E00E7B6C-FE3F-B54C-5BD3-8532E264FBBF}"/>
              </a:ext>
            </a:extLst>
          </p:cNvPr>
          <p:cNvSpPr/>
          <p:nvPr/>
        </p:nvSpPr>
        <p:spPr>
          <a:xfrm>
            <a:off x="5143033" y="1266171"/>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Flowchart: Connector 46">
            <a:extLst>
              <a:ext uri="{FF2B5EF4-FFF2-40B4-BE49-F238E27FC236}">
                <a16:creationId xmlns:a16="http://schemas.microsoft.com/office/drawing/2014/main" id="{F15CFECD-1B26-B413-F8F9-EFF6D5242A4D}"/>
              </a:ext>
            </a:extLst>
          </p:cNvPr>
          <p:cNvSpPr/>
          <p:nvPr/>
        </p:nvSpPr>
        <p:spPr>
          <a:xfrm>
            <a:off x="6078524" y="1256935"/>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itle 1">
            <a:extLst>
              <a:ext uri="{FF2B5EF4-FFF2-40B4-BE49-F238E27FC236}">
                <a16:creationId xmlns:a16="http://schemas.microsoft.com/office/drawing/2014/main" id="{B2021213-B7A1-26BC-619C-FD12E67ECF59}"/>
              </a:ext>
            </a:extLst>
          </p:cNvPr>
          <p:cNvSpPr>
            <a:spLocks noGrp="1"/>
          </p:cNvSpPr>
          <p:nvPr/>
        </p:nvSpPr>
        <p:spPr>
          <a:xfrm>
            <a:off x="252469" y="209973"/>
            <a:ext cx="11652110" cy="517320"/>
          </a:xfrm>
          <a:prstGeom prst="rect">
            <a:avLst/>
          </a:prstGeom>
        </p:spPr>
        <p:txBody>
          <a:bodyPr vert="horz" lIns="0" tIns="0" rIns="0" bIns="0" rtlCol="0" anchor="t" anchorCtr="0">
            <a:normAutofit lnSpcReduction="10000"/>
          </a:bodyPr>
          <a:lstStyle>
            <a:lvl1pPr algn="l" defTabSz="685858" rtl="0" eaLnBrk="1" latinLnBrk="0" hangingPunct="1">
              <a:lnSpc>
                <a:spcPct val="90000"/>
              </a:lnSpc>
              <a:spcBef>
                <a:spcPts val="0"/>
              </a:spcBef>
              <a:buNone/>
              <a:defRPr sz="2100" b="1" kern="1200">
                <a:solidFill>
                  <a:schemeClr val="bg2"/>
                </a:solidFill>
                <a:latin typeface="+mj-lt"/>
                <a:ea typeface="+mj-ea"/>
                <a:cs typeface="+mj-cs"/>
              </a:defRPr>
            </a:lvl1pPr>
          </a:lstStyle>
          <a:p>
            <a:r>
              <a:rPr lang="en-US" sz="2400">
                <a:solidFill>
                  <a:srgbClr val="29389F"/>
                </a:solidFill>
                <a:latin typeface="Arial" panose="020B0604020202020204" pitchFamily="34" charset="0"/>
                <a:cs typeface="Arial" panose="020B0604020202020204" pitchFamily="34" charset="0"/>
              </a:rPr>
              <a:t>PPT: Major Medical to Major Medical Migration Capability(Non-CA) </a:t>
            </a:r>
            <a:br>
              <a:rPr lang="en-US">
                <a:solidFill>
                  <a:srgbClr val="0070C0"/>
                </a:solidFill>
              </a:rPr>
            </a:br>
            <a:endParaRPr lang="en-US" sz="1600">
              <a:solidFill>
                <a:srgbClr val="0070C0"/>
              </a:solidFill>
            </a:endParaRPr>
          </a:p>
        </p:txBody>
      </p:sp>
      <p:sp>
        <p:nvSpPr>
          <p:cNvPr id="13" name="TextBox 2">
            <a:extLst>
              <a:ext uri="{FF2B5EF4-FFF2-40B4-BE49-F238E27FC236}">
                <a16:creationId xmlns:a16="http://schemas.microsoft.com/office/drawing/2014/main" id="{5455D919-B98F-2AC8-83B0-2EF48271EF0D}"/>
              </a:ext>
            </a:extLst>
          </p:cNvPr>
          <p:cNvSpPr txBox="1"/>
          <p:nvPr/>
        </p:nvSpPr>
        <p:spPr>
          <a:xfrm>
            <a:off x="9840201" y="99480"/>
            <a:ext cx="2676180" cy="517320"/>
          </a:xfrm>
          <a:prstGeom prst="rect">
            <a:avLst/>
          </a:prstGeom>
          <a:noFill/>
        </p:spPr>
        <p:txBody>
          <a:bodyPr wrap="none" lIns="0" tIns="0" rIns="0" bIns="0" rtlCol="0" anchor="t">
            <a:noAutofit/>
          </a:bodyPr>
          <a:lstStyle>
            <a:defPPr>
              <a:defRPr lang="en-US"/>
            </a:defPPr>
            <a:lvl1pPr>
              <a:lnSpc>
                <a:spcPct val="112000"/>
              </a:lnSpc>
              <a:defRPr sz="1200">
                <a:solidFill>
                  <a:prstClr val="black"/>
                </a:solidFill>
                <a:latin typeface="Aptos" panose="02110004020202020204"/>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Project Manager :  Shilpa</a:t>
            </a:r>
          </a:p>
          <a:p>
            <a:r>
              <a:rPr lang="en-US" err="1"/>
              <a:t>OpEx</a:t>
            </a:r>
            <a:r>
              <a:rPr lang="en-US"/>
              <a:t> Business Lead: Gary</a:t>
            </a:r>
          </a:p>
        </p:txBody>
      </p:sp>
      <p:sp>
        <p:nvSpPr>
          <p:cNvPr id="2" name="Flowchart: Connector 1">
            <a:extLst>
              <a:ext uri="{FF2B5EF4-FFF2-40B4-BE49-F238E27FC236}">
                <a16:creationId xmlns:a16="http://schemas.microsoft.com/office/drawing/2014/main" id="{C1F53796-8DA2-5B56-5EDA-E5A7E5B9292B}"/>
              </a:ext>
            </a:extLst>
          </p:cNvPr>
          <p:cNvSpPr/>
          <p:nvPr/>
        </p:nvSpPr>
        <p:spPr>
          <a:xfrm>
            <a:off x="8338301" y="1995548"/>
            <a:ext cx="134946" cy="123660"/>
          </a:xfrm>
          <a:prstGeom prst="flowChartConnector">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9D0FEF97-B29D-D759-41E3-5A1ABB688774}"/>
              </a:ext>
            </a:extLst>
          </p:cNvPr>
          <p:cNvSpPr txBox="1"/>
          <p:nvPr/>
        </p:nvSpPr>
        <p:spPr>
          <a:xfrm>
            <a:off x="108998" y="1739306"/>
            <a:ext cx="5659756" cy="2392835"/>
          </a:xfrm>
          <a:prstGeom prst="rect">
            <a:avLst/>
          </a:prstGeom>
          <a:noFill/>
        </p:spPr>
        <p:txBody>
          <a:bodyPr wrap="square" lIns="91440" tIns="45720" rIns="91440" bIns="45720" anchor="t">
            <a:spAutoFit/>
          </a:bodyPr>
          <a:lstStyle/>
          <a:p>
            <a:pPr>
              <a:spcBef>
                <a:spcPts val="100"/>
              </a:spcBef>
              <a:spcAft>
                <a:spcPts val="100"/>
              </a:spcAft>
            </a:pPr>
            <a:r>
              <a:rPr lang="en-US" sz="850" b="1">
                <a:latin typeface="Aptos" panose="020B0004020202020204" pitchFamily="34" charset="0"/>
                <a:cs typeface="Arial"/>
              </a:rPr>
              <a:t>Overall Project Status: </a:t>
            </a:r>
            <a:r>
              <a:rPr lang="en-US" sz="850" b="1">
                <a:highlight>
                  <a:srgbClr val="00FF00"/>
                </a:highlight>
                <a:latin typeface="Aptos" panose="020B0004020202020204" pitchFamily="34" charset="0"/>
                <a:cs typeface="Arial"/>
              </a:rPr>
              <a:t>Green</a:t>
            </a:r>
          </a:p>
          <a:p>
            <a:pPr>
              <a:spcBef>
                <a:spcPts val="100"/>
              </a:spcBef>
              <a:spcAft>
                <a:spcPts val="100"/>
              </a:spcAft>
            </a:pPr>
            <a:r>
              <a:rPr lang="en-US" sz="850">
                <a:latin typeface="Aptos" panose="020B0004020202020204" pitchFamily="34" charset="0"/>
              </a:rPr>
              <a:t>Project status is upgraded to Green as the SOW is finalized and the schedule is aligned to March-2027.</a:t>
            </a:r>
          </a:p>
          <a:p>
            <a:pPr>
              <a:spcBef>
                <a:spcPts val="100"/>
              </a:spcBef>
              <a:spcAft>
                <a:spcPts val="100"/>
              </a:spcAft>
            </a:pPr>
            <a:r>
              <a:rPr lang="en-US" sz="850">
                <a:latin typeface="Aptos" panose="020B0004020202020204" pitchFamily="34" charset="0"/>
              </a:rPr>
              <a:t> The team will kick-off the discovery with ITS starting this week.</a:t>
            </a:r>
          </a:p>
          <a:p>
            <a:endParaRPr lang="en-US" sz="850">
              <a:latin typeface="Aptos" panose="020B0004020202020204" pitchFamily="34" charset="0"/>
              <a:cs typeface="Arial"/>
            </a:endParaRPr>
          </a:p>
          <a:p>
            <a:pPr marL="171450" indent="-171450">
              <a:buFont typeface="Arial"/>
              <a:buChar char="•"/>
            </a:pPr>
            <a:endParaRPr lang="en-US" sz="850">
              <a:latin typeface="Aptos" panose="020B0004020202020204" pitchFamily="34" charset="0"/>
              <a:cs typeface="Arial"/>
            </a:endParaRPr>
          </a:p>
          <a:p>
            <a:r>
              <a:rPr lang="en-US" sz="850" b="1">
                <a:latin typeface="Aptos" panose="020B0004020202020204" pitchFamily="34" charset="0"/>
              </a:rPr>
              <a:t>Highlights:</a:t>
            </a:r>
          </a:p>
          <a:p>
            <a:pPr marL="171450" indent="-171450">
              <a:buFont typeface="Arial" panose="020B0604020202020204" pitchFamily="34" charset="0"/>
              <a:buChar char="•"/>
            </a:pPr>
            <a:r>
              <a:rPr lang="en-US" sz="850">
                <a:latin typeface="Aptos" panose="020B0004020202020204" pitchFamily="34" charset="0"/>
              </a:rPr>
              <a:t>ITS SOW is finalized and scheduled aligned to March-2027</a:t>
            </a:r>
          </a:p>
          <a:p>
            <a:pPr marL="171450" indent="-171450">
              <a:buFont typeface="Arial" panose="020B0604020202020204" pitchFamily="34" charset="0"/>
              <a:buChar char="•"/>
            </a:pPr>
            <a:r>
              <a:rPr lang="en-US" sz="850">
                <a:latin typeface="Aptos" panose="020B0004020202020204" pitchFamily="34" charset="0"/>
              </a:rPr>
              <a:t>Project team finalized</a:t>
            </a:r>
          </a:p>
          <a:p>
            <a:endParaRPr lang="en-US" sz="850">
              <a:latin typeface="Aptos" panose="020B0004020202020204" pitchFamily="34" charset="0"/>
            </a:endParaRPr>
          </a:p>
          <a:p>
            <a:pPr>
              <a:lnSpc>
                <a:spcPct val="114999"/>
              </a:lnSpc>
              <a:spcBef>
                <a:spcPts val="200"/>
              </a:spcBef>
              <a:buSzPts val="1000"/>
              <a:tabLst>
                <a:tab pos="457200" algn="l"/>
              </a:tabLst>
            </a:pPr>
            <a:endParaRPr lang="en-US" sz="850" b="1" kern="100">
              <a:latin typeface="Aptos" panose="020B0004020202020204" pitchFamily="34" charset="0"/>
              <a:cs typeface="Arial"/>
            </a:endParaRPr>
          </a:p>
          <a:p>
            <a:pPr>
              <a:lnSpc>
                <a:spcPct val="114999"/>
              </a:lnSpc>
              <a:spcBef>
                <a:spcPts val="200"/>
              </a:spcBef>
              <a:buSzPts val="1000"/>
              <a:tabLst>
                <a:tab pos="457200" algn="l"/>
              </a:tabLst>
            </a:pPr>
            <a:r>
              <a:rPr lang="en-US" sz="850" b="1" kern="100">
                <a:latin typeface="Aptos" panose="020B0004020202020204" pitchFamily="34" charset="0"/>
                <a:cs typeface="Arial"/>
              </a:rPr>
              <a:t>Next Steps:</a:t>
            </a:r>
          </a:p>
          <a:p>
            <a:pPr marL="171450" indent="-171450">
              <a:lnSpc>
                <a:spcPct val="114999"/>
              </a:lnSpc>
              <a:spcBef>
                <a:spcPts val="200"/>
              </a:spcBef>
              <a:buSzPts val="1000"/>
              <a:buFont typeface="Arial" panose="020B0604020202020204" pitchFamily="34" charset="0"/>
              <a:buChar char="•"/>
              <a:tabLst>
                <a:tab pos="457200" algn="l"/>
              </a:tabLst>
            </a:pPr>
            <a:r>
              <a:rPr lang="en-US" sz="850" kern="100">
                <a:latin typeface="Aptos" panose="020B0004020202020204" pitchFamily="34" charset="0"/>
                <a:cs typeface="Arial"/>
              </a:rPr>
              <a:t>Discovery Kick-off with ITS</a:t>
            </a:r>
          </a:p>
          <a:p>
            <a:pPr marL="171450" indent="-171450">
              <a:buFont typeface="Arial" panose="020B0604020202020204" pitchFamily="34" charset="0"/>
              <a:buChar char="•"/>
            </a:pPr>
            <a:r>
              <a:rPr lang="en-US" sz="850">
                <a:latin typeface="Aptos" panose="020B0004020202020204" pitchFamily="34" charset="0"/>
                <a:cs typeface="Arial"/>
              </a:rPr>
              <a:t>Finalize Project team structure.</a:t>
            </a:r>
          </a:p>
          <a:p>
            <a:pPr marL="171450" indent="-171450">
              <a:buFont typeface="Arial" panose="020B0604020202020204" pitchFamily="34" charset="0"/>
              <a:buChar char="•"/>
            </a:pPr>
            <a:r>
              <a:rPr lang="en-US" sz="850">
                <a:latin typeface="Aptos" panose="020B0004020202020204" pitchFamily="34" charset="0"/>
                <a:cs typeface="Arial"/>
              </a:rPr>
              <a:t>Milestone Plan Finalization</a:t>
            </a:r>
          </a:p>
          <a:p>
            <a:endParaRPr lang="en-US" sz="850">
              <a:latin typeface="Aptos" panose="020B0004020202020204" pitchFamily="34" charset="0"/>
              <a:cs typeface="Arial"/>
            </a:endParaRPr>
          </a:p>
          <a:p>
            <a:pPr marL="171450" indent="-171450">
              <a:buFont typeface="Arial" panose="020B0604020202020204" pitchFamily="34" charset="0"/>
              <a:buChar char="•"/>
            </a:pPr>
            <a:endParaRPr lang="en-US" sz="900" kern="100">
              <a:latin typeface="+mj-lt"/>
              <a:cs typeface="Arial"/>
            </a:endParaRPr>
          </a:p>
        </p:txBody>
      </p:sp>
    </p:spTree>
    <p:extLst>
      <p:ext uri="{BB962C8B-B14F-4D97-AF65-F5344CB8AC3E}">
        <p14:creationId xmlns:p14="http://schemas.microsoft.com/office/powerpoint/2010/main" val="23262966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E88CF1-3485-3E6E-6A11-B6CF0E1E747E}"/>
            </a:ext>
          </a:extLst>
        </p:cNvPr>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59BCF87E-9027-1015-FDE7-A6365A98534D}"/>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8" imgH="408" progId="TCLayout.ActiveDocument.1">
                  <p:embed/>
                </p:oleObj>
              </mc:Choice>
              <mc:Fallback>
                <p:oleObj name="think-cell Slide" r:id="rId4" imgW="408" imgH="408" progId="TCLayout.ActiveDocument.1">
                  <p:embed/>
                  <p:pic>
                    <p:nvPicPr>
                      <p:cNvPr id="9" name="think-cell data - do not delete" hidden="1">
                        <a:extLst>
                          <a:ext uri="{FF2B5EF4-FFF2-40B4-BE49-F238E27FC236}">
                            <a16:creationId xmlns:a16="http://schemas.microsoft.com/office/drawing/2014/main" id="{59BCF87E-9027-1015-FDE7-A6365A98534D}"/>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graphicFrame>
        <p:nvGraphicFramePr>
          <p:cNvPr id="32" name="Group 614">
            <a:extLst>
              <a:ext uri="{FF2B5EF4-FFF2-40B4-BE49-F238E27FC236}">
                <a16:creationId xmlns:a16="http://schemas.microsoft.com/office/drawing/2014/main" id="{0B6100B5-494F-4F49-7AFB-1CDF01D46D53}"/>
              </a:ext>
            </a:extLst>
          </p:cNvPr>
          <p:cNvGraphicFramePr>
            <a:graphicFrameLocks noGrp="1"/>
          </p:cNvGraphicFramePr>
          <p:nvPr/>
        </p:nvGraphicFramePr>
        <p:xfrm>
          <a:off x="5769030" y="6413123"/>
          <a:ext cx="6385451" cy="386554"/>
        </p:xfrm>
        <a:graphic>
          <a:graphicData uri="http://schemas.openxmlformats.org/drawingml/2006/table">
            <a:tbl>
              <a:tblPr/>
              <a:tblGrid>
                <a:gridCol w="542578">
                  <a:extLst>
                    <a:ext uri="{9D8B030D-6E8A-4147-A177-3AD203B41FA5}">
                      <a16:colId xmlns:a16="http://schemas.microsoft.com/office/drawing/2014/main" val="20000"/>
                    </a:ext>
                  </a:extLst>
                </a:gridCol>
                <a:gridCol w="275000">
                  <a:extLst>
                    <a:ext uri="{9D8B030D-6E8A-4147-A177-3AD203B41FA5}">
                      <a16:colId xmlns:a16="http://schemas.microsoft.com/office/drawing/2014/main" val="20001"/>
                    </a:ext>
                  </a:extLst>
                </a:gridCol>
                <a:gridCol w="677821">
                  <a:extLst>
                    <a:ext uri="{9D8B030D-6E8A-4147-A177-3AD203B41FA5}">
                      <a16:colId xmlns:a16="http://schemas.microsoft.com/office/drawing/2014/main" val="20002"/>
                    </a:ext>
                  </a:extLst>
                </a:gridCol>
                <a:gridCol w="270931">
                  <a:extLst>
                    <a:ext uri="{9D8B030D-6E8A-4147-A177-3AD203B41FA5}">
                      <a16:colId xmlns:a16="http://schemas.microsoft.com/office/drawing/2014/main" val="20003"/>
                    </a:ext>
                  </a:extLst>
                </a:gridCol>
                <a:gridCol w="618040">
                  <a:extLst>
                    <a:ext uri="{9D8B030D-6E8A-4147-A177-3AD203B41FA5}">
                      <a16:colId xmlns:a16="http://schemas.microsoft.com/office/drawing/2014/main" val="20004"/>
                    </a:ext>
                  </a:extLst>
                </a:gridCol>
                <a:gridCol w="495300">
                  <a:extLst>
                    <a:ext uri="{9D8B030D-6E8A-4147-A177-3AD203B41FA5}">
                      <a16:colId xmlns:a16="http://schemas.microsoft.com/office/drawing/2014/main" val="20005"/>
                    </a:ext>
                  </a:extLst>
                </a:gridCol>
                <a:gridCol w="454027">
                  <a:extLst>
                    <a:ext uri="{9D8B030D-6E8A-4147-A177-3AD203B41FA5}">
                      <a16:colId xmlns:a16="http://schemas.microsoft.com/office/drawing/2014/main" val="20006"/>
                    </a:ext>
                  </a:extLst>
                </a:gridCol>
                <a:gridCol w="330133">
                  <a:extLst>
                    <a:ext uri="{9D8B030D-6E8A-4147-A177-3AD203B41FA5}">
                      <a16:colId xmlns:a16="http://schemas.microsoft.com/office/drawing/2014/main" val="20007"/>
                    </a:ext>
                  </a:extLst>
                </a:gridCol>
                <a:gridCol w="1227555">
                  <a:extLst>
                    <a:ext uri="{9D8B030D-6E8A-4147-A177-3AD203B41FA5}">
                      <a16:colId xmlns:a16="http://schemas.microsoft.com/office/drawing/2014/main" val="20008"/>
                    </a:ext>
                  </a:extLst>
                </a:gridCol>
                <a:gridCol w="338392">
                  <a:extLst>
                    <a:ext uri="{9D8B030D-6E8A-4147-A177-3AD203B41FA5}">
                      <a16:colId xmlns:a16="http://schemas.microsoft.com/office/drawing/2014/main" val="20009"/>
                    </a:ext>
                  </a:extLst>
                </a:gridCol>
                <a:gridCol w="1155674">
                  <a:extLst>
                    <a:ext uri="{9D8B030D-6E8A-4147-A177-3AD203B41FA5}">
                      <a16:colId xmlns:a16="http://schemas.microsoft.com/office/drawing/2014/main" val="20010"/>
                    </a:ext>
                  </a:extLst>
                </a:gridCol>
              </a:tblGrid>
              <a:tr h="386554">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Arial" charset="0"/>
                          <a:cs typeface="Arial" charset="0"/>
                        </a:rPr>
                        <a:t>Status Key</a:t>
                      </a:r>
                      <a:endParaRPr kumimoji="0" lang="en-GB" sz="1600" b="0" i="0" u="none" strike="noStrike" cap="none" normalizeH="0" baseline="0">
                        <a:ln>
                          <a:noFill/>
                        </a:ln>
                        <a:solidFill>
                          <a:srgbClr val="002060"/>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mj-lt"/>
                        </a:rPr>
                        <a:t>C</a:t>
                      </a: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Arial" charset="0"/>
                          <a:cs typeface="Arial" charset="0"/>
                        </a:rPr>
                        <a:t>Completed</a:t>
                      </a:r>
                      <a:endParaRPr kumimoji="0" lang="en-GB" sz="1600" b="0" i="0" u="none" strike="noStrike" cap="none" normalizeH="0" baseline="0">
                        <a:ln>
                          <a:noFill/>
                        </a:ln>
                        <a:solidFill>
                          <a:srgbClr val="002060"/>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On-Schedule</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Major Issues</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Some Issues</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NS</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Not Started</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2" name="Title 1">
            <a:extLst>
              <a:ext uri="{FF2B5EF4-FFF2-40B4-BE49-F238E27FC236}">
                <a16:creationId xmlns:a16="http://schemas.microsoft.com/office/drawing/2014/main" id="{665495FB-1B87-A428-C13F-6B7F363007C5}"/>
              </a:ext>
            </a:extLst>
          </p:cNvPr>
          <p:cNvSpPr>
            <a:spLocks noGrp="1"/>
          </p:cNvSpPr>
          <p:nvPr>
            <p:ph type="title"/>
          </p:nvPr>
        </p:nvSpPr>
        <p:spPr>
          <a:xfrm>
            <a:off x="351587" y="150038"/>
            <a:ext cx="11652110" cy="517320"/>
          </a:xfrm>
        </p:spPr>
        <p:txBody>
          <a:bodyPr vert="horz">
            <a:normAutofit/>
          </a:bodyPr>
          <a:lstStyle/>
          <a:p>
            <a:r>
              <a:rPr lang="en-US" sz="2400">
                <a:solidFill>
                  <a:srgbClr val="29389F"/>
                </a:solidFill>
                <a:latin typeface="Arial" pitchFamily="34" charset="0"/>
                <a:cs typeface="Arial" pitchFamily="34" charset="0"/>
              </a:rPr>
              <a:t>PPT: NY and Unapproved States Product Build</a:t>
            </a:r>
          </a:p>
        </p:txBody>
      </p:sp>
      <p:graphicFrame>
        <p:nvGraphicFramePr>
          <p:cNvPr id="11" name="Group 513">
            <a:extLst>
              <a:ext uri="{FF2B5EF4-FFF2-40B4-BE49-F238E27FC236}">
                <a16:creationId xmlns:a16="http://schemas.microsoft.com/office/drawing/2014/main" id="{62277E96-15BE-63C4-7149-95B6EE7D6B6F}"/>
              </a:ext>
            </a:extLst>
          </p:cNvPr>
          <p:cNvGraphicFramePr>
            <a:graphicFrameLocks noGrp="1"/>
          </p:cNvGraphicFramePr>
          <p:nvPr>
            <p:extLst>
              <p:ext uri="{D42A27DB-BD31-4B8C-83A1-F6EECF244321}">
                <p14:modId xmlns:p14="http://schemas.microsoft.com/office/powerpoint/2010/main" val="2950541387"/>
              </p:ext>
            </p:extLst>
          </p:nvPr>
        </p:nvGraphicFramePr>
        <p:xfrm>
          <a:off x="269945" y="855236"/>
          <a:ext cx="2742128" cy="350605"/>
        </p:xfrm>
        <a:graphic>
          <a:graphicData uri="http://schemas.openxmlformats.org/drawingml/2006/table">
            <a:tbl>
              <a:tblPr/>
              <a:tblGrid>
                <a:gridCol w="1019602">
                  <a:extLst>
                    <a:ext uri="{9D8B030D-6E8A-4147-A177-3AD203B41FA5}">
                      <a16:colId xmlns:a16="http://schemas.microsoft.com/office/drawing/2014/main" val="20000"/>
                    </a:ext>
                  </a:extLst>
                </a:gridCol>
                <a:gridCol w="1722526">
                  <a:extLst>
                    <a:ext uri="{9D8B030D-6E8A-4147-A177-3AD203B41FA5}">
                      <a16:colId xmlns:a16="http://schemas.microsoft.com/office/drawing/2014/main" val="20001"/>
                    </a:ext>
                  </a:extLst>
                </a:gridCol>
              </a:tblGrid>
              <a:tr h="350605">
                <a:tc>
                  <a:txBody>
                    <a:bodyPr/>
                    <a:lstStyle/>
                    <a:p>
                      <a:pPr marL="0" marR="0" lvl="0" indent="0" algn="l" defTabSz="914400" rtl="0" eaLnBrk="0" fontAlgn="base" latinLnBrk="0" hangingPunct="0">
                        <a:lnSpc>
                          <a:spcPct val="95000"/>
                        </a:lnSpc>
                        <a:spcBef>
                          <a:spcPct val="0"/>
                        </a:spcBef>
                        <a:spcAft>
                          <a:spcPct val="50000"/>
                        </a:spcAft>
                        <a:buClrTx/>
                        <a:buSzTx/>
                        <a:buFontTx/>
                        <a:buNone/>
                        <a:tabLst/>
                      </a:pPr>
                      <a:r>
                        <a:rPr kumimoji="0" lang="en-GB" sz="1050" b="1" i="0" u="none" strike="noStrike" kern="1200" cap="none" normalizeH="0" baseline="0">
                          <a:ln>
                            <a:noFill/>
                          </a:ln>
                          <a:solidFill>
                            <a:schemeClr val="bg1"/>
                          </a:solidFill>
                          <a:effectLst/>
                          <a:latin typeface="Arial"/>
                          <a:ea typeface="+mn-ea"/>
                          <a:cs typeface="+mn-cs"/>
                        </a:rPr>
                        <a:t>Status Date:</a:t>
                      </a:r>
                    </a:p>
                  </a:txBody>
                  <a:tcPr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defRPr/>
                      </a:pPr>
                      <a:r>
                        <a:rPr kumimoji="0" lang="en-GB" sz="850" b="1" i="0" u="none" strike="noStrike" kern="1200" cap="none" normalizeH="0" baseline="0">
                          <a:ln>
                            <a:noFill/>
                          </a:ln>
                          <a:solidFill>
                            <a:schemeClr val="tx1"/>
                          </a:solidFill>
                          <a:effectLst/>
                          <a:latin typeface="Aptos" panose="020B0004020202020204" pitchFamily="34" charset="0"/>
                          <a:ea typeface="+mn-ea"/>
                          <a:cs typeface="+mn-cs"/>
                        </a:rPr>
                        <a:t>8/26/2026</a:t>
                      </a:r>
                    </a:p>
                  </a:txBody>
                  <a:tcPr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14" name="Table 13">
            <a:extLst>
              <a:ext uri="{FF2B5EF4-FFF2-40B4-BE49-F238E27FC236}">
                <a16:creationId xmlns:a16="http://schemas.microsoft.com/office/drawing/2014/main" id="{84858545-F82E-FEB8-897F-EE6C5166452A}"/>
              </a:ext>
            </a:extLst>
          </p:cNvPr>
          <p:cNvGraphicFramePr>
            <a:graphicFrameLocks noGrp="1"/>
          </p:cNvGraphicFramePr>
          <p:nvPr>
            <p:extLst>
              <p:ext uri="{D42A27DB-BD31-4B8C-83A1-F6EECF244321}">
                <p14:modId xmlns:p14="http://schemas.microsoft.com/office/powerpoint/2010/main" val="1626804843"/>
              </p:ext>
            </p:extLst>
          </p:nvPr>
        </p:nvGraphicFramePr>
        <p:xfrm>
          <a:off x="6737526" y="845835"/>
          <a:ext cx="5332996" cy="752736"/>
        </p:xfrm>
        <a:graphic>
          <a:graphicData uri="http://schemas.openxmlformats.org/drawingml/2006/table">
            <a:tbl>
              <a:tblPr>
                <a:tableStyleId>{5C22544A-7EE6-4342-B048-85BDC9FD1C3A}</a:tableStyleId>
              </a:tblPr>
              <a:tblGrid>
                <a:gridCol w="1041555">
                  <a:extLst>
                    <a:ext uri="{9D8B030D-6E8A-4147-A177-3AD203B41FA5}">
                      <a16:colId xmlns:a16="http://schemas.microsoft.com/office/drawing/2014/main" val="2456552316"/>
                    </a:ext>
                  </a:extLst>
                </a:gridCol>
                <a:gridCol w="923159">
                  <a:extLst>
                    <a:ext uri="{9D8B030D-6E8A-4147-A177-3AD203B41FA5}">
                      <a16:colId xmlns:a16="http://schemas.microsoft.com/office/drawing/2014/main" val="2327174630"/>
                    </a:ext>
                  </a:extLst>
                </a:gridCol>
                <a:gridCol w="1509489">
                  <a:extLst>
                    <a:ext uri="{9D8B030D-6E8A-4147-A177-3AD203B41FA5}">
                      <a16:colId xmlns:a16="http://schemas.microsoft.com/office/drawing/2014/main" val="1100051595"/>
                    </a:ext>
                  </a:extLst>
                </a:gridCol>
                <a:gridCol w="910684">
                  <a:extLst>
                    <a:ext uri="{9D8B030D-6E8A-4147-A177-3AD203B41FA5}">
                      <a16:colId xmlns:a16="http://schemas.microsoft.com/office/drawing/2014/main" val="2042261034"/>
                    </a:ext>
                  </a:extLst>
                </a:gridCol>
                <a:gridCol w="948109">
                  <a:extLst>
                    <a:ext uri="{9D8B030D-6E8A-4147-A177-3AD203B41FA5}">
                      <a16:colId xmlns:a16="http://schemas.microsoft.com/office/drawing/2014/main" val="2815874248"/>
                    </a:ext>
                  </a:extLst>
                </a:gridCol>
              </a:tblGrid>
              <a:tr h="397258">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2026 Budget</a:t>
                      </a:r>
                      <a:r>
                        <a:rPr lang="en-US" sz="1050" b="1" i="0" u="none" strike="noStrike" kern="1200" cap="none" normalizeH="0" baseline="0">
                          <a:ln>
                            <a:noFill/>
                          </a:ln>
                          <a:solidFill>
                            <a:schemeClr val="bg1"/>
                          </a:solidFill>
                          <a:effectLst/>
                          <a:latin typeface="Arial"/>
                          <a:ea typeface="+mn-ea"/>
                          <a:cs typeface="+mn-cs"/>
                        </a:rPr>
                        <a:t> </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YTD </a:t>
                      </a:r>
                      <a:r>
                        <a:rPr kumimoji="0" lang="en-US" sz="1050" b="1" i="0" u="none" strike="noStrike" kern="1200" cap="none" normalizeH="0" baseline="0">
                          <a:ln>
                            <a:noFill/>
                          </a:ln>
                          <a:solidFill>
                            <a:schemeClr val="bg1"/>
                          </a:solidFill>
                          <a:effectLst/>
                          <a:latin typeface="Arial"/>
                          <a:ea typeface="+mn-ea"/>
                          <a:cs typeface="+mn-cs"/>
                        </a:rPr>
                        <a:t>Actuals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Remaining 2026 Forecast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Total </a:t>
                      </a:r>
                    </a:p>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Actuals +Fcst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Total </a:t>
                      </a:r>
                    </a:p>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Budget</a:t>
                      </a:r>
                      <a:r>
                        <a:rPr lang="en-US" sz="1050" b="1" i="0" u="none" strike="noStrike" kern="1200" cap="none" normalizeH="0" baseline="0">
                          <a:ln>
                            <a:noFill/>
                          </a:ln>
                          <a:solidFill>
                            <a:schemeClr val="bg1"/>
                          </a:solidFill>
                          <a:effectLst/>
                          <a:latin typeface="Arial"/>
                          <a:ea typeface="+mn-ea"/>
                          <a:cs typeface="+mn-cs"/>
                        </a:rPr>
                        <a:t> </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355478">
                <a:tc>
                  <a:txBody>
                    <a:bodyPr/>
                    <a:lstStyle/>
                    <a:p>
                      <a:pPr marL="0" marR="0" lvl="0" indent="0" algn="ctr" defTabSz="914400" rtl="0" eaLnBrk="0" fontAlgn="base" latinLnBrk="0" hangingPunct="0">
                        <a:lnSpc>
                          <a:spcPct val="95000"/>
                        </a:lnSpc>
                        <a:spcBef>
                          <a:spcPct val="0"/>
                        </a:spcBef>
                        <a:spcAft>
                          <a:spcPct val="50000"/>
                        </a:spcAft>
                        <a:buClrTx/>
                        <a:buSzTx/>
                        <a:buFontTx/>
                        <a:buNone/>
                        <a:tabLst/>
                        <a:defRPr/>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$267,000</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defRPr/>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0</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defRPr/>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$267,000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defRPr/>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$267,000</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defRPr/>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$267,000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7499024"/>
                  </a:ext>
                </a:extLst>
              </a:tr>
            </a:tbl>
          </a:graphicData>
        </a:graphic>
      </p:graphicFrame>
      <p:graphicFrame>
        <p:nvGraphicFramePr>
          <p:cNvPr id="25" name="Table 24">
            <a:extLst>
              <a:ext uri="{FF2B5EF4-FFF2-40B4-BE49-F238E27FC236}">
                <a16:creationId xmlns:a16="http://schemas.microsoft.com/office/drawing/2014/main" id="{9A6473BF-23A7-BE40-5F99-5F7F71F11023}"/>
              </a:ext>
            </a:extLst>
          </p:cNvPr>
          <p:cNvGraphicFramePr>
            <a:graphicFrameLocks noGrp="1"/>
          </p:cNvGraphicFramePr>
          <p:nvPr/>
        </p:nvGraphicFramePr>
        <p:xfrm>
          <a:off x="2922347" y="847279"/>
          <a:ext cx="3829275" cy="749848"/>
        </p:xfrm>
        <a:graphic>
          <a:graphicData uri="http://schemas.openxmlformats.org/drawingml/2006/table">
            <a:tbl>
              <a:tblPr>
                <a:tableStyleId>{5C22544A-7EE6-4342-B048-85BDC9FD1C3A}</a:tableStyleId>
              </a:tblPr>
              <a:tblGrid>
                <a:gridCol w="1042158">
                  <a:extLst>
                    <a:ext uri="{9D8B030D-6E8A-4147-A177-3AD203B41FA5}">
                      <a16:colId xmlns:a16="http://schemas.microsoft.com/office/drawing/2014/main" val="2456552316"/>
                    </a:ext>
                  </a:extLst>
                </a:gridCol>
                <a:gridCol w="961214">
                  <a:extLst>
                    <a:ext uri="{9D8B030D-6E8A-4147-A177-3AD203B41FA5}">
                      <a16:colId xmlns:a16="http://schemas.microsoft.com/office/drawing/2014/main" val="1100051595"/>
                    </a:ext>
                  </a:extLst>
                </a:gridCol>
                <a:gridCol w="920742">
                  <a:extLst>
                    <a:ext uri="{9D8B030D-6E8A-4147-A177-3AD203B41FA5}">
                      <a16:colId xmlns:a16="http://schemas.microsoft.com/office/drawing/2014/main" val="2042261034"/>
                    </a:ext>
                  </a:extLst>
                </a:gridCol>
                <a:gridCol w="905161">
                  <a:extLst>
                    <a:ext uri="{9D8B030D-6E8A-4147-A177-3AD203B41FA5}">
                      <a16:colId xmlns:a16="http://schemas.microsoft.com/office/drawing/2014/main" val="2815874248"/>
                    </a:ext>
                  </a:extLst>
                </a:gridCol>
              </a:tblGrid>
              <a:tr h="409508">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Overall</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Scope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Schedule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Financials</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340340">
                <a:tc>
                  <a:txBody>
                    <a:bodyPr/>
                    <a:lstStyle/>
                    <a:p>
                      <a:pPr marL="0" marR="0" lvl="0" indent="0" algn="ctr" rtl="0" eaLnBrk="1" fontAlgn="ctr" latinLnBrk="0" hangingPunct="1">
                        <a:lnSpc>
                          <a:spcPct val="95000"/>
                        </a:lnSpc>
                        <a:spcBef>
                          <a:spcPct val="0"/>
                        </a:spcBef>
                        <a:spcAft>
                          <a:spcPct val="50000"/>
                        </a:spcAft>
                        <a:buClrTx/>
                        <a:buSzTx/>
                        <a:buFontTx/>
                        <a:buNone/>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rtl="0" eaLnBrk="1" fontAlgn="ctr" latinLnBrk="0" hangingPunct="1">
                        <a:lnSpc>
                          <a:spcPct val="95000"/>
                        </a:lnSpc>
                        <a:spcBef>
                          <a:spcPct val="0"/>
                        </a:spcBef>
                        <a:spcAft>
                          <a:spcPct val="50000"/>
                        </a:spcAft>
                        <a:buClrTx/>
                        <a:buSzTx/>
                        <a:buFontTx/>
                        <a:buNone/>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7499024"/>
                  </a:ext>
                </a:extLst>
              </a:tr>
            </a:tbl>
          </a:graphicData>
        </a:graphic>
      </p:graphicFrame>
      <p:graphicFrame>
        <p:nvGraphicFramePr>
          <p:cNvPr id="26" name="Group 513">
            <a:extLst>
              <a:ext uri="{FF2B5EF4-FFF2-40B4-BE49-F238E27FC236}">
                <a16:creationId xmlns:a16="http://schemas.microsoft.com/office/drawing/2014/main" id="{6BB7D0A0-FADD-E787-41FF-0CE111CC6AFE}"/>
              </a:ext>
            </a:extLst>
          </p:cNvPr>
          <p:cNvGraphicFramePr>
            <a:graphicFrameLocks noGrp="1"/>
          </p:cNvGraphicFramePr>
          <p:nvPr>
            <p:extLst>
              <p:ext uri="{D42A27DB-BD31-4B8C-83A1-F6EECF244321}">
                <p14:modId xmlns:p14="http://schemas.microsoft.com/office/powerpoint/2010/main" val="1817489560"/>
              </p:ext>
            </p:extLst>
          </p:nvPr>
        </p:nvGraphicFramePr>
        <p:xfrm>
          <a:off x="269945" y="1202460"/>
          <a:ext cx="2642192" cy="401742"/>
        </p:xfrm>
        <a:graphic>
          <a:graphicData uri="http://schemas.openxmlformats.org/drawingml/2006/table">
            <a:tbl>
              <a:tblPr/>
              <a:tblGrid>
                <a:gridCol w="1022049">
                  <a:extLst>
                    <a:ext uri="{9D8B030D-6E8A-4147-A177-3AD203B41FA5}">
                      <a16:colId xmlns:a16="http://schemas.microsoft.com/office/drawing/2014/main" val="20000"/>
                    </a:ext>
                  </a:extLst>
                </a:gridCol>
                <a:gridCol w="1620143">
                  <a:extLst>
                    <a:ext uri="{9D8B030D-6E8A-4147-A177-3AD203B41FA5}">
                      <a16:colId xmlns:a16="http://schemas.microsoft.com/office/drawing/2014/main" val="20001"/>
                    </a:ext>
                  </a:extLst>
                </a:gridCol>
              </a:tblGrid>
              <a:tr h="401742">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GB" sz="1050" b="1" i="0" u="none" strike="noStrike" kern="1200" cap="none" normalizeH="0" baseline="0">
                          <a:ln>
                            <a:noFill/>
                          </a:ln>
                          <a:solidFill>
                            <a:schemeClr val="bg1"/>
                          </a:solidFill>
                          <a:effectLst/>
                          <a:latin typeface="Arial"/>
                          <a:ea typeface="+mn-ea"/>
                          <a:cs typeface="+mn-cs"/>
                        </a:rPr>
                        <a:t>Target Delivery:</a:t>
                      </a:r>
                    </a:p>
                  </a:txBody>
                  <a:tcPr marL="0" marR="0"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defRPr/>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TBD</a:t>
                      </a:r>
                    </a:p>
                  </a:txBody>
                  <a:tcPr marL="0" marR="0"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27" name="Table 26">
            <a:extLst>
              <a:ext uri="{FF2B5EF4-FFF2-40B4-BE49-F238E27FC236}">
                <a16:creationId xmlns:a16="http://schemas.microsoft.com/office/drawing/2014/main" id="{2856C80B-0A23-0E2A-D9BD-402A1F294176}"/>
              </a:ext>
            </a:extLst>
          </p:cNvPr>
          <p:cNvGraphicFramePr>
            <a:graphicFrameLocks noGrp="1"/>
          </p:cNvGraphicFramePr>
          <p:nvPr>
            <p:extLst>
              <p:ext uri="{D42A27DB-BD31-4B8C-83A1-F6EECF244321}">
                <p14:modId xmlns:p14="http://schemas.microsoft.com/office/powerpoint/2010/main" val="3611717320"/>
              </p:ext>
            </p:extLst>
          </p:nvPr>
        </p:nvGraphicFramePr>
        <p:xfrm>
          <a:off x="5779268" y="1718953"/>
          <a:ext cx="6353266" cy="2873834"/>
        </p:xfrm>
        <a:graphic>
          <a:graphicData uri="http://schemas.openxmlformats.org/drawingml/2006/table">
            <a:tbl>
              <a:tblPr>
                <a:tableStyleId>{5C22544A-7EE6-4342-B048-85BDC9FD1C3A}</a:tableStyleId>
              </a:tblPr>
              <a:tblGrid>
                <a:gridCol w="2551203">
                  <a:extLst>
                    <a:ext uri="{9D8B030D-6E8A-4147-A177-3AD203B41FA5}">
                      <a16:colId xmlns:a16="http://schemas.microsoft.com/office/drawing/2014/main" val="2456552316"/>
                    </a:ext>
                  </a:extLst>
                </a:gridCol>
                <a:gridCol w="593953">
                  <a:extLst>
                    <a:ext uri="{9D8B030D-6E8A-4147-A177-3AD203B41FA5}">
                      <a16:colId xmlns:a16="http://schemas.microsoft.com/office/drawing/2014/main" val="1100051595"/>
                    </a:ext>
                  </a:extLst>
                </a:gridCol>
                <a:gridCol w="585336">
                  <a:extLst>
                    <a:ext uri="{9D8B030D-6E8A-4147-A177-3AD203B41FA5}">
                      <a16:colId xmlns:a16="http://schemas.microsoft.com/office/drawing/2014/main" val="2042261034"/>
                    </a:ext>
                  </a:extLst>
                </a:gridCol>
                <a:gridCol w="2622774">
                  <a:extLst>
                    <a:ext uri="{9D8B030D-6E8A-4147-A177-3AD203B41FA5}">
                      <a16:colId xmlns:a16="http://schemas.microsoft.com/office/drawing/2014/main" val="2815874248"/>
                    </a:ext>
                  </a:extLst>
                </a:gridCol>
              </a:tblGrid>
              <a:tr h="0">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Milestone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Status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Due Date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Notes</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253718">
                <a:tc>
                  <a:txBody>
                    <a:bodyPr/>
                    <a:lstStyle/>
                    <a:p>
                      <a:pPr lvl="0" algn="l">
                        <a:lnSpc>
                          <a:spcPct val="100000"/>
                        </a:lnSpc>
                        <a:spcBef>
                          <a:spcPts val="0"/>
                        </a:spcBef>
                        <a:spcAft>
                          <a:spcPts val="0"/>
                        </a:spcAft>
                        <a:buNone/>
                      </a:pPr>
                      <a:r>
                        <a:rPr lang="en-US" sz="850" kern="1200" noProof="0">
                          <a:solidFill>
                            <a:schemeClr val="tx1"/>
                          </a:solidFill>
                          <a:latin typeface="Aptos" panose="020B0004020202020204" pitchFamily="34" charset="0"/>
                          <a:ea typeface="+mn-ea"/>
                          <a:cs typeface="Arial"/>
                        </a:rPr>
                        <a:t>Procurement Intake Request</a:t>
                      </a:r>
                      <a:endParaRPr lang="en-US" sz="850" kern="1200">
                        <a:solidFill>
                          <a:schemeClr val="tx1"/>
                        </a:solidFill>
                        <a:latin typeface="Aptos" panose="020B0004020202020204" pitchFamily="34" charset="0"/>
                        <a:ea typeface="+mn-ea"/>
                        <a:cs typeface="Arial"/>
                      </a:endParaRPr>
                    </a:p>
                    <a:p>
                      <a:pPr marL="0" marR="0" lvl="0" indent="0" algn="l" defTabSz="685858">
                        <a:lnSpc>
                          <a:spcPct val="100000"/>
                        </a:lnSpc>
                        <a:spcBef>
                          <a:spcPts val="0"/>
                        </a:spcBef>
                        <a:spcAft>
                          <a:spcPts val="0"/>
                        </a:spcAft>
                        <a:buClrTx/>
                        <a:buSzTx/>
                        <a:buFontTx/>
                        <a:buNone/>
                        <a:tabLst/>
                        <a:defRPr/>
                      </a:pPr>
                      <a:endParaRPr lang="en-US" sz="850" kern="1200">
                        <a:solidFill>
                          <a:schemeClr val="tx1"/>
                        </a:solidFill>
                        <a:latin typeface="Aptos" panose="020B0004020202020204" pitchFamily="34" charset="0"/>
                        <a:ea typeface="+mn-ea"/>
                        <a:cs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a:lnSpc>
                          <a:spcPct val="95000"/>
                        </a:lnSpc>
                        <a:spcBef>
                          <a:spcPct val="0"/>
                        </a:spcBef>
                        <a:spcAft>
                          <a:spcPct val="50000"/>
                        </a:spcAft>
                        <a:buClrTx/>
                        <a:buSzTx/>
                        <a:buFontTx/>
                        <a:buNone/>
                        <a:tabLst/>
                      </a:pPr>
                      <a:r>
                        <a:rPr lang="en-US" sz="850" b="0" kern="1200">
                          <a:solidFill>
                            <a:schemeClr val="tx1"/>
                          </a:solidFill>
                          <a:effectLst/>
                          <a:latin typeface="Aptos" panose="020B0004020202020204" pitchFamily="34" charset="0"/>
                          <a:ea typeface="+mn-ea"/>
                          <a:cs typeface="+mn-cs"/>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0" hangingPunct="1">
                        <a:lnSpc>
                          <a:spcPct val="95000"/>
                        </a:lnSpc>
                        <a:spcBef>
                          <a:spcPct val="0"/>
                        </a:spcBef>
                        <a:spcAft>
                          <a:spcPct val="50000"/>
                        </a:spcAft>
                        <a:buClrTx/>
                        <a:buSzTx/>
                        <a:buFontTx/>
                        <a:buNone/>
                        <a:tabLst/>
                        <a:defRPr/>
                      </a:pPr>
                      <a:r>
                        <a:rPr lang="en-US" sz="850" b="0" kern="1200">
                          <a:solidFill>
                            <a:schemeClr val="tx1"/>
                          </a:solidFill>
                          <a:effectLst/>
                          <a:latin typeface="Aptos" panose="020B0004020202020204" pitchFamily="34" charset="0"/>
                          <a:ea typeface="+mn-ea"/>
                          <a:cs typeface="+mn-cs"/>
                        </a:rPr>
                        <a:t>8/10/26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a:lnSpc>
                          <a:spcPct val="114999"/>
                        </a:lnSpc>
                        <a:spcAft>
                          <a:spcPts val="800"/>
                        </a:spcAft>
                        <a:buNone/>
                      </a:pPr>
                      <a:endParaRPr lang="en-US" sz="850" b="0" kern="1200" noProof="0">
                        <a:solidFill>
                          <a:schemeClr val="tx1"/>
                        </a:solidFill>
                        <a:effectLst/>
                        <a:latin typeface="Aptos" panose="020B0004020202020204" pitchFamily="34" charset="0"/>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805706767"/>
                  </a:ext>
                </a:extLst>
              </a:tr>
              <a:tr h="0">
                <a:tc>
                  <a:txBody>
                    <a:bodyPr/>
                    <a:lstStyle/>
                    <a:p>
                      <a:pPr lvl="0" algn="l">
                        <a:lnSpc>
                          <a:spcPct val="100000"/>
                        </a:lnSpc>
                        <a:spcBef>
                          <a:spcPts val="0"/>
                        </a:spcBef>
                        <a:spcAft>
                          <a:spcPts val="0"/>
                        </a:spcAft>
                        <a:buNone/>
                      </a:pPr>
                      <a:r>
                        <a:rPr lang="en-US" sz="850" kern="1200">
                          <a:solidFill>
                            <a:schemeClr val="tx1"/>
                          </a:solidFill>
                          <a:latin typeface="Aptos" panose="020B0004020202020204" pitchFamily="34" charset="0"/>
                          <a:ea typeface="+mn-ea"/>
                          <a:cs typeface="Arial"/>
                        </a:rPr>
                        <a:t>SOW (Draft)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850" b="0" kern="1200">
                        <a:solidFill>
                          <a:schemeClr val="tx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rtl="0" eaLnBrk="1" fontAlgn="ctr" latinLnBrk="0" hangingPunct="1">
                        <a:lnSpc>
                          <a:spcPct val="95000"/>
                        </a:lnSpc>
                        <a:spcBef>
                          <a:spcPct val="0"/>
                        </a:spcBef>
                        <a:spcAft>
                          <a:spcPct val="50000"/>
                        </a:spcAft>
                        <a:buClrTx/>
                        <a:buSzTx/>
                        <a:buFontTx/>
                        <a:buNone/>
                      </a:pPr>
                      <a:r>
                        <a:rPr lang="en-US" sz="850" b="0" strike="noStrike" kern="1200">
                          <a:solidFill>
                            <a:schemeClr val="tx1"/>
                          </a:solidFill>
                          <a:effectLst/>
                          <a:latin typeface="Aptos" panose="020B0004020202020204" pitchFamily="34" charset="0"/>
                          <a:ea typeface="+mn-ea"/>
                          <a:cs typeface="+mn-cs"/>
                        </a:rPr>
                        <a:t>9/11/2026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ts val="200"/>
                        </a:spcBef>
                        <a:spcAft>
                          <a:spcPts val="0"/>
                        </a:spcAft>
                        <a:buClrTx/>
                        <a:buSzTx/>
                        <a:buFontTx/>
                        <a:buNone/>
                        <a:tabLst/>
                        <a:defRPr/>
                      </a:pPr>
                      <a:endParaRPr lang="en-US" sz="850" b="0" kern="1200">
                        <a:solidFill>
                          <a:schemeClr val="tx1"/>
                        </a:solidFill>
                        <a:effectLst/>
                        <a:latin typeface="Aptos" panose="020B0004020202020204" pitchFamily="34" charset="0"/>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76961585"/>
                  </a:ext>
                </a:extLst>
              </a:tr>
              <a:tr h="205449">
                <a:tc>
                  <a:txBody>
                    <a:bodyPr/>
                    <a:lstStyle/>
                    <a:p>
                      <a:pPr marL="0" marR="0" lvl="0" indent="0" algn="l">
                        <a:lnSpc>
                          <a:spcPct val="100000"/>
                        </a:lnSpc>
                        <a:spcBef>
                          <a:spcPts val="0"/>
                        </a:spcBef>
                        <a:spcAft>
                          <a:spcPts val="0"/>
                        </a:spcAft>
                        <a:buClrTx/>
                        <a:buSzTx/>
                        <a:buFontTx/>
                        <a:buNone/>
                      </a:pPr>
                      <a:r>
                        <a:rPr lang="en-US" sz="850" b="0" kern="1200">
                          <a:solidFill>
                            <a:schemeClr val="tx1"/>
                          </a:solidFill>
                          <a:latin typeface="Aptos" panose="020B0004020202020204" pitchFamily="34" charset="0"/>
                          <a:ea typeface="+mn-ea"/>
                          <a:cs typeface="+mn-cs"/>
                        </a:rPr>
                        <a:t>Final SOW</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r>
                        <a:rPr lang="en-US" sz="850" b="0" kern="1200">
                          <a:solidFill>
                            <a:schemeClr val="tx1"/>
                          </a:solidFill>
                          <a:effectLst/>
                          <a:latin typeface="Aptos" panose="020B0004020202020204" pitchFamily="34" charset="0"/>
                          <a:ea typeface="+mn-ea"/>
                          <a:cs typeface="+mn-cs"/>
                        </a:rPr>
                        <a:t>NS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rtl="0" eaLnBrk="1" fontAlgn="ctr" latinLnBrk="0" hangingPunct="1">
                        <a:lnSpc>
                          <a:spcPct val="95000"/>
                        </a:lnSpc>
                        <a:spcBef>
                          <a:spcPct val="0"/>
                        </a:spcBef>
                        <a:spcAft>
                          <a:spcPct val="50000"/>
                        </a:spcAft>
                        <a:buClrTx/>
                        <a:buSzTx/>
                        <a:buFontTx/>
                        <a:buNone/>
                      </a:pPr>
                      <a:r>
                        <a:rPr lang="en-US" sz="850" b="0" strike="noStrike" kern="1200">
                          <a:solidFill>
                            <a:schemeClr val="tx1"/>
                          </a:solidFill>
                          <a:effectLst/>
                          <a:latin typeface="Aptos" panose="020B0004020202020204" pitchFamily="34" charset="0"/>
                          <a:ea typeface="+mn-ea"/>
                          <a:cs typeface="+mn-cs"/>
                        </a:rPr>
                        <a:t>TBD</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ts val="200"/>
                        </a:spcBef>
                        <a:spcAft>
                          <a:spcPts val="0"/>
                        </a:spcAft>
                        <a:buClrTx/>
                        <a:buSzTx/>
                        <a:buFontTx/>
                        <a:buNone/>
                        <a:tabLst/>
                        <a:defRPr/>
                      </a:pPr>
                      <a:endParaRPr lang="en-US" sz="850" b="0" kern="1200">
                        <a:solidFill>
                          <a:schemeClr val="tx1"/>
                        </a:solidFill>
                        <a:effectLst/>
                        <a:latin typeface="Aptos" panose="020B0004020202020204" pitchFamily="34" charset="0"/>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41314204"/>
                  </a:ext>
                </a:extLst>
              </a:tr>
              <a:tr h="281241">
                <a:tc>
                  <a:txBody>
                    <a:bodyPr/>
                    <a:lstStyle/>
                    <a:p>
                      <a:pPr marL="0" marR="0" lvl="0" indent="0" algn="l">
                        <a:lnSpc>
                          <a:spcPct val="100000"/>
                        </a:lnSpc>
                        <a:spcBef>
                          <a:spcPts val="0"/>
                        </a:spcBef>
                        <a:spcAft>
                          <a:spcPts val="0"/>
                        </a:spcAft>
                        <a:buClrTx/>
                        <a:buSzTx/>
                        <a:buFontTx/>
                        <a:buNone/>
                      </a:pPr>
                      <a:r>
                        <a:rPr lang="en-US" sz="850" b="0" kern="1200">
                          <a:solidFill>
                            <a:schemeClr val="tx1"/>
                          </a:solidFill>
                          <a:latin typeface="Aptos" panose="020B0004020202020204" pitchFamily="34" charset="0"/>
                          <a:ea typeface="+mn-ea"/>
                          <a:cs typeface="+mn-cs"/>
                        </a:rPr>
                        <a:t>Staff Project team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r>
                        <a:rPr lang="en-US" sz="850" b="0" kern="1200">
                          <a:solidFill>
                            <a:schemeClr val="tx1"/>
                          </a:solidFill>
                          <a:effectLst/>
                          <a:latin typeface="Aptos" panose="020B0004020202020204" pitchFamily="34" charset="0"/>
                          <a:ea typeface="+mn-ea"/>
                          <a:cs typeface="+mn-cs"/>
                        </a:rPr>
                        <a:t>NS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rtl="0" eaLnBrk="1" fontAlgn="ctr" latinLnBrk="0" hangingPunct="1">
                        <a:lnSpc>
                          <a:spcPct val="95000"/>
                        </a:lnSpc>
                        <a:spcBef>
                          <a:spcPct val="0"/>
                        </a:spcBef>
                        <a:spcAft>
                          <a:spcPct val="50000"/>
                        </a:spcAft>
                        <a:buClrTx/>
                        <a:buSzTx/>
                        <a:buFontTx/>
                        <a:buNone/>
                      </a:pPr>
                      <a:r>
                        <a:rPr lang="en-US" sz="850" b="0" strike="noStrike" kern="1200">
                          <a:solidFill>
                            <a:schemeClr val="tx1"/>
                          </a:solidFill>
                          <a:effectLst/>
                          <a:latin typeface="Aptos" panose="020B0004020202020204" pitchFamily="34" charset="0"/>
                          <a:ea typeface="+mn-ea"/>
                          <a:cs typeface="+mn-cs"/>
                        </a:rPr>
                        <a:t>TBD</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eaLnBrk="1" fontAlgn="ctr" latinLnBrk="0" hangingPunct="1">
                        <a:lnSpc>
                          <a:spcPct val="95000"/>
                        </a:lnSpc>
                        <a:spcBef>
                          <a:spcPct val="0"/>
                        </a:spcBef>
                        <a:spcAft>
                          <a:spcPct val="50000"/>
                        </a:spcAft>
                        <a:buClrTx/>
                        <a:buSzTx/>
                        <a:buFontTx/>
                        <a:buNone/>
                      </a:pPr>
                      <a:endParaRPr lang="en-US" sz="850" b="0" kern="1200">
                        <a:solidFill>
                          <a:schemeClr val="tx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17819655"/>
                  </a:ext>
                </a:extLst>
              </a:tr>
              <a:tr h="313693">
                <a:tc>
                  <a:txBody>
                    <a:bodyPr/>
                    <a:lstStyle/>
                    <a:p>
                      <a:pPr marL="0" marR="0" lvl="0" indent="0" algn="l" defTabSz="685858" rtl="0" eaLnBrk="1" fontAlgn="auto" latinLnBrk="0" hangingPunct="1">
                        <a:lnSpc>
                          <a:spcPct val="100000"/>
                        </a:lnSpc>
                        <a:spcBef>
                          <a:spcPts val="0"/>
                        </a:spcBef>
                        <a:spcAft>
                          <a:spcPts val="0"/>
                        </a:spcAft>
                        <a:buClrTx/>
                        <a:buSzTx/>
                        <a:buFontTx/>
                        <a:buNone/>
                        <a:tabLst/>
                        <a:defRPr/>
                      </a:pPr>
                      <a:endParaRPr lang="en-US" sz="850" b="0" strike="noStrike" kern="1200">
                        <a:solidFill>
                          <a:schemeClr val="tx1"/>
                        </a:solidFill>
                        <a:latin typeface="Aptos" panose="020B0004020202020204"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50" b="0" kern="1200">
                        <a:solidFill>
                          <a:schemeClr val="tx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defRPr/>
                      </a:pPr>
                      <a:endParaRPr kumimoji="0" lang="en-US" sz="850" b="0" i="0" u="none" strike="noStrike" kern="1200" cap="none" spc="0" normalizeH="0" baseline="0" noProof="0">
                        <a:ln>
                          <a:noFill/>
                        </a:ln>
                        <a:solidFill>
                          <a:prstClr val="black"/>
                        </a:solidFill>
                        <a:effectLst/>
                        <a:uLnTx/>
                        <a:uFillTx/>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eaLnBrk="1" fontAlgn="ctr" latinLnBrk="0" hangingPunct="1">
                        <a:lnSpc>
                          <a:spcPct val="95000"/>
                        </a:lnSpc>
                        <a:spcBef>
                          <a:spcPct val="0"/>
                        </a:spcBef>
                        <a:spcAft>
                          <a:spcPct val="50000"/>
                        </a:spcAft>
                        <a:buClrTx/>
                        <a:buSzTx/>
                        <a:buFontTx/>
                        <a:buNone/>
                      </a:pPr>
                      <a:endParaRPr lang="en-US" sz="850" b="0" kern="1200">
                        <a:solidFill>
                          <a:schemeClr val="tx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62506059"/>
                  </a:ext>
                </a:extLst>
              </a:tr>
              <a:tr h="313693">
                <a:tc>
                  <a:txBody>
                    <a:bodyPr/>
                    <a:lstStyle/>
                    <a:p>
                      <a:pPr marL="0" marR="0" lvl="0" indent="0" algn="l" defTabSz="685858" rtl="0" eaLnBrk="1" fontAlgn="auto" latinLnBrk="0" hangingPunct="1">
                        <a:lnSpc>
                          <a:spcPct val="100000"/>
                        </a:lnSpc>
                        <a:spcBef>
                          <a:spcPts val="0"/>
                        </a:spcBef>
                        <a:spcAft>
                          <a:spcPts val="0"/>
                        </a:spcAft>
                        <a:buClrTx/>
                        <a:buSzTx/>
                        <a:buFontTx/>
                        <a:buNone/>
                        <a:tabLst/>
                        <a:defRPr/>
                      </a:pPr>
                      <a:endParaRPr lang="en-US" sz="850" b="0" strike="noStrike" kern="1200">
                        <a:solidFill>
                          <a:schemeClr val="tx1"/>
                        </a:solidFill>
                        <a:latin typeface="Aptos" panose="020B0004020202020204"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50" b="0" kern="1200">
                        <a:solidFill>
                          <a:schemeClr val="tx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defRPr/>
                      </a:pPr>
                      <a:endParaRPr kumimoji="0" lang="en-US" sz="850" b="0" i="0" u="none" strike="noStrike" kern="1200" cap="none" spc="0" normalizeH="0" baseline="0" noProof="0">
                        <a:ln>
                          <a:noFill/>
                        </a:ln>
                        <a:solidFill>
                          <a:prstClr val="black"/>
                        </a:solidFill>
                        <a:effectLst/>
                        <a:uLnTx/>
                        <a:uFillTx/>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eaLnBrk="1" fontAlgn="ctr" latinLnBrk="0" hangingPunct="1">
                        <a:lnSpc>
                          <a:spcPct val="95000"/>
                        </a:lnSpc>
                        <a:spcBef>
                          <a:spcPct val="0"/>
                        </a:spcBef>
                        <a:spcAft>
                          <a:spcPct val="50000"/>
                        </a:spcAft>
                        <a:buClrTx/>
                        <a:buSzTx/>
                        <a:buFontTx/>
                        <a:buNone/>
                      </a:pPr>
                      <a:endParaRPr lang="en-US" sz="850" b="0" kern="1200">
                        <a:solidFill>
                          <a:schemeClr val="tx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38133636"/>
                  </a:ext>
                </a:extLst>
              </a:tr>
              <a:tr h="313693">
                <a:tc>
                  <a:txBody>
                    <a:bodyPr/>
                    <a:lstStyle/>
                    <a:p>
                      <a:pPr marL="0" marR="0" lvl="0" indent="0" algn="l" defTabSz="685858" rtl="0" eaLnBrk="1" fontAlgn="auto" latinLnBrk="0" hangingPunct="1">
                        <a:lnSpc>
                          <a:spcPct val="100000"/>
                        </a:lnSpc>
                        <a:spcBef>
                          <a:spcPts val="0"/>
                        </a:spcBef>
                        <a:spcAft>
                          <a:spcPts val="0"/>
                        </a:spcAft>
                        <a:buClrTx/>
                        <a:buSzTx/>
                        <a:buFontTx/>
                        <a:buNone/>
                        <a:tabLst/>
                        <a:defRPr/>
                      </a:pPr>
                      <a:endParaRPr lang="en-US" sz="850" b="0" strike="noStrike" kern="1200">
                        <a:solidFill>
                          <a:schemeClr val="tx1"/>
                        </a:solidFill>
                        <a:latin typeface="Aptos" panose="020B0004020202020204"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50" b="0" kern="1200">
                        <a:solidFill>
                          <a:schemeClr val="tx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defRPr/>
                      </a:pPr>
                      <a:endParaRPr kumimoji="0" lang="en-US" sz="850" b="0" i="0" u="none" strike="noStrike" kern="1200" cap="none" spc="0" normalizeH="0" baseline="0" noProof="0">
                        <a:ln>
                          <a:noFill/>
                        </a:ln>
                        <a:solidFill>
                          <a:prstClr val="black"/>
                        </a:solidFill>
                        <a:effectLst/>
                        <a:uLnTx/>
                        <a:uFillTx/>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eaLnBrk="1" fontAlgn="ctr" latinLnBrk="0" hangingPunct="1">
                        <a:lnSpc>
                          <a:spcPct val="95000"/>
                        </a:lnSpc>
                        <a:spcBef>
                          <a:spcPct val="0"/>
                        </a:spcBef>
                        <a:spcAft>
                          <a:spcPct val="50000"/>
                        </a:spcAft>
                        <a:buClrTx/>
                        <a:buSzTx/>
                        <a:buFontTx/>
                        <a:buNone/>
                      </a:pPr>
                      <a:endParaRPr lang="en-US" sz="850" b="0" kern="1200">
                        <a:solidFill>
                          <a:schemeClr val="tx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9233336"/>
                  </a:ext>
                </a:extLst>
              </a:tr>
              <a:tr h="313693">
                <a:tc>
                  <a:txBody>
                    <a:bodyPr/>
                    <a:lstStyle/>
                    <a:p>
                      <a:pPr marL="0" marR="0" lvl="0" indent="0" algn="l" defTabSz="685858" rtl="0" eaLnBrk="1" fontAlgn="auto" latinLnBrk="0" hangingPunct="1">
                        <a:lnSpc>
                          <a:spcPct val="100000"/>
                        </a:lnSpc>
                        <a:spcBef>
                          <a:spcPts val="0"/>
                        </a:spcBef>
                        <a:spcAft>
                          <a:spcPts val="0"/>
                        </a:spcAft>
                        <a:buClrTx/>
                        <a:buSzTx/>
                        <a:buFontTx/>
                        <a:buNone/>
                        <a:tabLst/>
                        <a:defRPr/>
                      </a:pPr>
                      <a:endParaRPr lang="en-US" sz="850" b="0" strike="noStrike" kern="1200">
                        <a:solidFill>
                          <a:schemeClr val="tx1"/>
                        </a:solidFill>
                        <a:latin typeface="Aptos" panose="020B0004020202020204"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50" b="0" kern="1200">
                        <a:solidFill>
                          <a:schemeClr val="tx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defRPr/>
                      </a:pPr>
                      <a:endParaRPr kumimoji="0" lang="en-US" sz="850" b="0" i="0" u="none" strike="noStrike" kern="1200" cap="none" spc="0" normalizeH="0" baseline="0" noProof="0">
                        <a:ln>
                          <a:noFill/>
                        </a:ln>
                        <a:solidFill>
                          <a:prstClr val="black"/>
                        </a:solidFill>
                        <a:effectLst/>
                        <a:uLnTx/>
                        <a:uFillTx/>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eaLnBrk="1" fontAlgn="ctr" latinLnBrk="0" hangingPunct="1">
                        <a:lnSpc>
                          <a:spcPct val="95000"/>
                        </a:lnSpc>
                        <a:spcBef>
                          <a:spcPct val="0"/>
                        </a:spcBef>
                        <a:spcAft>
                          <a:spcPct val="50000"/>
                        </a:spcAft>
                        <a:buClrTx/>
                        <a:buSzTx/>
                        <a:buFontTx/>
                        <a:buNone/>
                      </a:pPr>
                      <a:endParaRPr lang="en-US" sz="850" b="0" kern="1200">
                        <a:solidFill>
                          <a:schemeClr val="tx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85138139"/>
                  </a:ext>
                </a:extLst>
              </a:tr>
              <a:tr h="313693">
                <a:tc>
                  <a:txBody>
                    <a:bodyPr/>
                    <a:lstStyle/>
                    <a:p>
                      <a:pPr marL="0" marR="0" lvl="0" indent="0" algn="l" defTabSz="685858" rtl="0" eaLnBrk="1" fontAlgn="auto" latinLnBrk="0" hangingPunct="1">
                        <a:lnSpc>
                          <a:spcPct val="100000"/>
                        </a:lnSpc>
                        <a:spcBef>
                          <a:spcPts val="0"/>
                        </a:spcBef>
                        <a:spcAft>
                          <a:spcPts val="0"/>
                        </a:spcAft>
                        <a:buClrTx/>
                        <a:buSzTx/>
                        <a:buFontTx/>
                        <a:buNone/>
                        <a:tabLst/>
                        <a:defRPr/>
                      </a:pPr>
                      <a:endParaRPr lang="en-US" sz="850" b="0" strike="noStrike" kern="1200">
                        <a:solidFill>
                          <a:schemeClr val="tx1"/>
                        </a:solidFill>
                        <a:latin typeface="Aptos" panose="020B0004020202020204"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50" b="0" kern="1200">
                        <a:solidFill>
                          <a:schemeClr val="tx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defRPr/>
                      </a:pPr>
                      <a:endParaRPr kumimoji="0" lang="en-US" sz="850" b="0" i="0" u="none" strike="noStrike" kern="1200" cap="none" spc="0" normalizeH="0" baseline="0" noProof="0">
                        <a:ln>
                          <a:noFill/>
                        </a:ln>
                        <a:solidFill>
                          <a:prstClr val="black"/>
                        </a:solidFill>
                        <a:effectLst/>
                        <a:uLnTx/>
                        <a:uFillTx/>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eaLnBrk="1" fontAlgn="ctr" latinLnBrk="0" hangingPunct="1">
                        <a:lnSpc>
                          <a:spcPct val="95000"/>
                        </a:lnSpc>
                        <a:spcBef>
                          <a:spcPct val="0"/>
                        </a:spcBef>
                        <a:spcAft>
                          <a:spcPct val="50000"/>
                        </a:spcAft>
                        <a:buClrTx/>
                        <a:buSzTx/>
                        <a:buFontTx/>
                        <a:buNone/>
                      </a:pPr>
                      <a:endParaRPr lang="en-US" sz="850" b="0" kern="1200">
                        <a:solidFill>
                          <a:schemeClr val="tx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96633032"/>
                  </a:ext>
                </a:extLst>
              </a:tr>
            </a:tbl>
          </a:graphicData>
        </a:graphic>
      </p:graphicFrame>
      <p:graphicFrame>
        <p:nvGraphicFramePr>
          <p:cNvPr id="29" name="Table 28">
            <a:extLst>
              <a:ext uri="{FF2B5EF4-FFF2-40B4-BE49-F238E27FC236}">
                <a16:creationId xmlns:a16="http://schemas.microsoft.com/office/drawing/2014/main" id="{87A290AD-FEFA-D320-79EA-D42B2A3157E6}"/>
              </a:ext>
            </a:extLst>
          </p:cNvPr>
          <p:cNvGraphicFramePr>
            <a:graphicFrameLocks noGrp="1"/>
          </p:cNvGraphicFramePr>
          <p:nvPr>
            <p:extLst>
              <p:ext uri="{D42A27DB-BD31-4B8C-83A1-F6EECF244321}">
                <p14:modId xmlns:p14="http://schemas.microsoft.com/office/powerpoint/2010/main" val="1467703428"/>
              </p:ext>
            </p:extLst>
          </p:nvPr>
        </p:nvGraphicFramePr>
        <p:xfrm>
          <a:off x="5779267" y="4851527"/>
          <a:ext cx="6353267" cy="1030183"/>
        </p:xfrm>
        <a:graphic>
          <a:graphicData uri="http://schemas.openxmlformats.org/drawingml/2006/table">
            <a:tbl>
              <a:tblPr>
                <a:tableStyleId>{5C22544A-7EE6-4342-B048-85BDC9FD1C3A}</a:tableStyleId>
              </a:tblPr>
              <a:tblGrid>
                <a:gridCol w="2530720">
                  <a:extLst>
                    <a:ext uri="{9D8B030D-6E8A-4147-A177-3AD203B41FA5}">
                      <a16:colId xmlns:a16="http://schemas.microsoft.com/office/drawing/2014/main" val="2456552316"/>
                    </a:ext>
                  </a:extLst>
                </a:gridCol>
                <a:gridCol w="622998">
                  <a:extLst>
                    <a:ext uri="{9D8B030D-6E8A-4147-A177-3AD203B41FA5}">
                      <a16:colId xmlns:a16="http://schemas.microsoft.com/office/drawing/2014/main" val="1100051595"/>
                    </a:ext>
                  </a:extLst>
                </a:gridCol>
                <a:gridCol w="492369">
                  <a:extLst>
                    <a:ext uri="{9D8B030D-6E8A-4147-A177-3AD203B41FA5}">
                      <a16:colId xmlns:a16="http://schemas.microsoft.com/office/drawing/2014/main" val="2042261034"/>
                    </a:ext>
                  </a:extLst>
                </a:gridCol>
                <a:gridCol w="2707180">
                  <a:extLst>
                    <a:ext uri="{9D8B030D-6E8A-4147-A177-3AD203B41FA5}">
                      <a16:colId xmlns:a16="http://schemas.microsoft.com/office/drawing/2014/main" val="2815874248"/>
                    </a:ext>
                  </a:extLst>
                </a:gridCol>
              </a:tblGrid>
              <a:tr h="466851">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Critical Risks/Issues</a:t>
                      </a: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Status</a:t>
                      </a:r>
                    </a:p>
                  </a:txBody>
                  <a:tcPr marL="9525" marR="9525" marT="9525" marB="0" anchor="ct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Target Date</a:t>
                      </a:r>
                    </a:p>
                  </a:txBody>
                  <a:tcPr marL="9525" marR="9525" marT="9525" marB="0" anchor="ctr">
                    <a:lnL w="12700">
                      <a:solidFill>
                        <a:schemeClr val="tx1"/>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Resolution / Mitigation</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563332">
                <a:tc>
                  <a:txBody>
                    <a:bodyPr/>
                    <a:lstStyle/>
                    <a:p>
                      <a:pPr marL="0" lvl="0" indent="0" algn="l" defTabSz="685858" rtl="0" eaLnBrk="1" latinLnBrk="0" hangingPunct="1">
                        <a:lnSpc>
                          <a:spcPct val="100000"/>
                        </a:lnSpc>
                        <a:buNone/>
                      </a:pPr>
                      <a:r>
                        <a:rPr lang="en-US" sz="850" b="0" kern="1200">
                          <a:solidFill>
                            <a:schemeClr val="tx1"/>
                          </a:solidFill>
                          <a:latin typeface="Aptos" panose="020B0004020202020204" pitchFamily="34" charset="0"/>
                          <a:ea typeface="+mn-ea"/>
                          <a:cs typeface="+mn-cs"/>
                        </a:rPr>
                        <a:t>Potential underspend of the $267K budget this year due to resource constraints and delays in finalizing the SOW.</a:t>
                      </a:r>
                    </a:p>
                    <a:p>
                      <a:pPr marL="0" lvl="0" indent="0" algn="l" defTabSz="685858" rtl="0" eaLnBrk="1" latinLnBrk="0" hangingPunct="1">
                        <a:lnSpc>
                          <a:spcPct val="100000"/>
                        </a:lnSpc>
                        <a:buNone/>
                      </a:pPr>
                      <a:endParaRPr lang="en-US" sz="850" b="0" kern="1200">
                        <a:solidFill>
                          <a:schemeClr val="tx1"/>
                        </a:solidFill>
                        <a:latin typeface="Aptos" panose="020B0004020202020204" pitchFamily="34" charset="0"/>
                        <a:ea typeface="+mn-ea"/>
                        <a:cs typeface="+mn-cs"/>
                      </a:endParaRP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58" rtl="0" eaLnBrk="1" fontAlgn="ctr" latinLnBrk="0" hangingPunct="1">
                        <a:lnSpc>
                          <a:spcPct val="100000"/>
                        </a:lnSpc>
                        <a:spcBef>
                          <a:spcPct val="0"/>
                        </a:spcBef>
                        <a:spcAft>
                          <a:spcPct val="50000"/>
                        </a:spcAft>
                        <a:buClrTx/>
                        <a:buSzTx/>
                        <a:buFontTx/>
                        <a:buNone/>
                        <a:tabLst/>
                      </a:pPr>
                      <a:endParaRPr lang="en-US" sz="850" b="0" kern="1200">
                        <a:solidFill>
                          <a:schemeClr val="tx1"/>
                        </a:solidFill>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lvl="0" indent="0" algn="l" defTabSz="685858" rtl="0" eaLnBrk="1" latinLnBrk="0" hangingPunct="1">
                        <a:lnSpc>
                          <a:spcPct val="100000"/>
                        </a:lnSpc>
                        <a:buNone/>
                      </a:pPr>
                      <a:r>
                        <a:rPr lang="en-US" sz="850" b="0" kern="1200">
                          <a:solidFill>
                            <a:schemeClr val="tx1"/>
                          </a:solidFill>
                          <a:latin typeface="Aptos" panose="020B0004020202020204" pitchFamily="34" charset="0"/>
                          <a:ea typeface="+mn-ea"/>
                          <a:cs typeface="+mn-cs"/>
                        </a:rPr>
                        <a:t>9/30/26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lvl="0" indent="0" algn="l" defTabSz="685858" rtl="0" eaLnBrk="1" latinLnBrk="0" hangingPunct="1">
                        <a:lnSpc>
                          <a:spcPct val="100000"/>
                        </a:lnSpc>
                        <a:spcBef>
                          <a:spcPts val="0"/>
                        </a:spcBef>
                        <a:spcAft>
                          <a:spcPts val="0"/>
                        </a:spcAft>
                        <a:buNone/>
                      </a:pPr>
                      <a:r>
                        <a:rPr lang="en-US" sz="850" b="0" kern="1200" noProof="0">
                          <a:solidFill>
                            <a:schemeClr val="tx1"/>
                          </a:solidFill>
                          <a:latin typeface="Aptos" panose="020B0004020202020204" pitchFamily="34" charset="0"/>
                          <a:ea typeface="+mn-ea"/>
                          <a:cs typeface="+mn-cs"/>
                        </a:rPr>
                        <a:t>Procurement is engaging Cognizant to determine the next steps required to start the project.</a:t>
                      </a:r>
                    </a:p>
                    <a:p>
                      <a:pPr marL="0" lvl="0" indent="0" algn="l" defTabSz="685858" rtl="0" eaLnBrk="1" latinLnBrk="0" hangingPunct="1">
                        <a:lnSpc>
                          <a:spcPct val="100000"/>
                        </a:lnSpc>
                        <a:spcBef>
                          <a:spcPts val="0"/>
                        </a:spcBef>
                        <a:spcAft>
                          <a:spcPts val="0"/>
                        </a:spcAft>
                        <a:buNone/>
                      </a:pPr>
                      <a:endParaRPr lang="en-US" sz="850" b="0" kern="1200" noProof="0">
                        <a:solidFill>
                          <a:schemeClr val="tx1"/>
                        </a:solidFill>
                        <a:latin typeface="Aptos" panose="020B0004020202020204" pitchFamily="34" charset="0"/>
                        <a:ea typeface="+mn-ea"/>
                        <a:cs typeface="+mn-cs"/>
                      </a:endParaRP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14552194"/>
                  </a:ext>
                </a:extLst>
              </a:tr>
            </a:tbl>
          </a:graphicData>
        </a:graphic>
      </p:graphicFrame>
      <p:sp>
        <p:nvSpPr>
          <p:cNvPr id="33" name="Flowchart: Connector 32">
            <a:extLst>
              <a:ext uri="{FF2B5EF4-FFF2-40B4-BE49-F238E27FC236}">
                <a16:creationId xmlns:a16="http://schemas.microsoft.com/office/drawing/2014/main" id="{BF023C88-7935-1AD8-5E41-C3A1F9DC3E1F}"/>
              </a:ext>
            </a:extLst>
          </p:cNvPr>
          <p:cNvSpPr/>
          <p:nvPr/>
        </p:nvSpPr>
        <p:spPr>
          <a:xfrm>
            <a:off x="7311524" y="6524104"/>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Flowchart: Connector 33">
            <a:extLst>
              <a:ext uri="{FF2B5EF4-FFF2-40B4-BE49-F238E27FC236}">
                <a16:creationId xmlns:a16="http://schemas.microsoft.com/office/drawing/2014/main" id="{66D39D6C-39D6-8DB1-E236-3D0EA2869D85}"/>
              </a:ext>
            </a:extLst>
          </p:cNvPr>
          <p:cNvSpPr/>
          <p:nvPr/>
        </p:nvSpPr>
        <p:spPr>
          <a:xfrm>
            <a:off x="8291059" y="6512837"/>
            <a:ext cx="163286" cy="164592"/>
          </a:xfrm>
          <a:prstGeom prst="flowChartConnector">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Flowchart: Connector 35">
            <a:extLst>
              <a:ext uri="{FF2B5EF4-FFF2-40B4-BE49-F238E27FC236}">
                <a16:creationId xmlns:a16="http://schemas.microsoft.com/office/drawing/2014/main" id="{E555D9F1-B3C6-9160-43C7-8B4859F3BE96}"/>
              </a:ext>
            </a:extLst>
          </p:cNvPr>
          <p:cNvSpPr/>
          <p:nvPr/>
        </p:nvSpPr>
        <p:spPr>
          <a:xfrm>
            <a:off x="9156933" y="6512837"/>
            <a:ext cx="163285" cy="164592"/>
          </a:xfrm>
          <a:prstGeom prst="flowChartConnector">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Flowchart: Connector 42">
            <a:extLst>
              <a:ext uri="{FF2B5EF4-FFF2-40B4-BE49-F238E27FC236}">
                <a16:creationId xmlns:a16="http://schemas.microsoft.com/office/drawing/2014/main" id="{F10B995E-3032-0E5F-43EC-26CFE2137C69}"/>
              </a:ext>
            </a:extLst>
          </p:cNvPr>
          <p:cNvSpPr/>
          <p:nvPr/>
        </p:nvSpPr>
        <p:spPr>
          <a:xfrm>
            <a:off x="3328610" y="1329659"/>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highlight>
                <a:srgbClr val="FF0000"/>
              </a:highlight>
            </a:endParaRPr>
          </a:p>
        </p:txBody>
      </p:sp>
      <p:sp>
        <p:nvSpPr>
          <p:cNvPr id="45" name="Flowchart: Connector 44">
            <a:extLst>
              <a:ext uri="{FF2B5EF4-FFF2-40B4-BE49-F238E27FC236}">
                <a16:creationId xmlns:a16="http://schemas.microsoft.com/office/drawing/2014/main" id="{B62692E2-216C-0EFA-9B4C-82CEAD10E51F}"/>
              </a:ext>
            </a:extLst>
          </p:cNvPr>
          <p:cNvSpPr/>
          <p:nvPr/>
        </p:nvSpPr>
        <p:spPr>
          <a:xfrm>
            <a:off x="4283155" y="1329659"/>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Flowchart: Connector 45">
            <a:extLst>
              <a:ext uri="{FF2B5EF4-FFF2-40B4-BE49-F238E27FC236}">
                <a16:creationId xmlns:a16="http://schemas.microsoft.com/office/drawing/2014/main" id="{E83CE25E-418D-3D74-5BCB-77B0DCDFBB0C}"/>
              </a:ext>
            </a:extLst>
          </p:cNvPr>
          <p:cNvSpPr/>
          <p:nvPr/>
        </p:nvSpPr>
        <p:spPr>
          <a:xfrm>
            <a:off x="5219896" y="1350223"/>
            <a:ext cx="163285" cy="164592"/>
          </a:xfrm>
          <a:prstGeom prst="flowChartConnector">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Flowchart: Connector 46">
            <a:extLst>
              <a:ext uri="{FF2B5EF4-FFF2-40B4-BE49-F238E27FC236}">
                <a16:creationId xmlns:a16="http://schemas.microsoft.com/office/drawing/2014/main" id="{9199CC82-97EF-B9B5-D060-8769A48A7E1A}"/>
              </a:ext>
            </a:extLst>
          </p:cNvPr>
          <p:cNvSpPr/>
          <p:nvPr/>
        </p:nvSpPr>
        <p:spPr>
          <a:xfrm>
            <a:off x="6096000" y="1350223"/>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286AE69C-B04F-25E5-BE0C-149EF91035B4}"/>
              </a:ext>
            </a:extLst>
          </p:cNvPr>
          <p:cNvSpPr txBox="1"/>
          <p:nvPr/>
        </p:nvSpPr>
        <p:spPr>
          <a:xfrm>
            <a:off x="119511" y="1676415"/>
            <a:ext cx="5659756" cy="484748"/>
          </a:xfrm>
          <a:prstGeom prst="rect">
            <a:avLst/>
          </a:prstGeom>
          <a:noFill/>
        </p:spPr>
        <p:txBody>
          <a:bodyPr wrap="square" lIns="91440" tIns="45720" rIns="91440" bIns="45720" anchor="t">
            <a:spAutoFit/>
          </a:bodyPr>
          <a:lstStyle/>
          <a:p>
            <a:pPr>
              <a:spcBef>
                <a:spcPts val="100"/>
              </a:spcBef>
              <a:spcAft>
                <a:spcPts val="100"/>
              </a:spcAft>
            </a:pPr>
            <a:r>
              <a:rPr lang="en-US" sz="850" b="1">
                <a:latin typeface="Aptos" panose="020B0004020202020204" pitchFamily="34" charset="0"/>
                <a:cs typeface="Arial"/>
              </a:rPr>
              <a:t>Overall Project Status: </a:t>
            </a:r>
            <a:r>
              <a:rPr lang="en-US" sz="850">
                <a:latin typeface="Aptos" panose="020B0004020202020204" pitchFamily="34" charset="0"/>
                <a:cs typeface="Arial"/>
              </a:rPr>
              <a:t>The team received an additional $167K in funding to accelerate this initiative. A procurement intake request submitted to begin engaging Cognizant and initiate project planning. Meeting is scheduled with Cognizant this week. Update: Ali and Gary met with Cognizant. Expecting to receive the draft by 9/11.</a:t>
            </a:r>
            <a:endParaRPr lang="en-US" sz="850" kern="100">
              <a:latin typeface="Aptos" panose="020B0004020202020204" pitchFamily="34" charset="0"/>
              <a:cs typeface="Arial"/>
            </a:endParaRPr>
          </a:p>
        </p:txBody>
      </p:sp>
      <p:sp>
        <p:nvSpPr>
          <p:cNvPr id="4" name="TextBox 2">
            <a:extLst>
              <a:ext uri="{FF2B5EF4-FFF2-40B4-BE49-F238E27FC236}">
                <a16:creationId xmlns:a16="http://schemas.microsoft.com/office/drawing/2014/main" id="{8C1F0A04-8262-58D4-E047-E292191334E2}"/>
              </a:ext>
            </a:extLst>
          </p:cNvPr>
          <p:cNvSpPr txBox="1"/>
          <p:nvPr/>
        </p:nvSpPr>
        <p:spPr>
          <a:xfrm>
            <a:off x="9466036" y="64244"/>
            <a:ext cx="3708400" cy="783035"/>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12000"/>
              </a:lnSpc>
            </a:pPr>
            <a:r>
              <a:rPr lang="en-US" sz="1200">
                <a:latin typeface="Aptos"/>
              </a:rPr>
              <a:t>Project Manager :  Ali (Interim)</a:t>
            </a:r>
            <a:endParaRPr lang="en-US">
              <a:latin typeface="Aptos"/>
            </a:endParaRPr>
          </a:p>
          <a:p>
            <a:pPr>
              <a:lnSpc>
                <a:spcPct val="112000"/>
              </a:lnSpc>
            </a:pPr>
            <a:r>
              <a:rPr lang="en-US" sz="1200" err="1">
                <a:latin typeface="Aptos"/>
              </a:rPr>
              <a:t>OpEx</a:t>
            </a:r>
            <a:r>
              <a:rPr lang="en-US" sz="1200">
                <a:latin typeface="Aptos"/>
              </a:rPr>
              <a:t> Business Lead: Gary W</a:t>
            </a:r>
          </a:p>
          <a:p>
            <a:pPr algn="ctr"/>
            <a:endParaRPr lang="en-US"/>
          </a:p>
        </p:txBody>
      </p:sp>
      <p:sp>
        <p:nvSpPr>
          <p:cNvPr id="6" name="Flowchart: Connector 5">
            <a:extLst>
              <a:ext uri="{FF2B5EF4-FFF2-40B4-BE49-F238E27FC236}">
                <a16:creationId xmlns:a16="http://schemas.microsoft.com/office/drawing/2014/main" id="{F740486C-F130-CDFC-6EDC-DA888BE2470A}"/>
              </a:ext>
            </a:extLst>
          </p:cNvPr>
          <p:cNvSpPr/>
          <p:nvPr/>
        </p:nvSpPr>
        <p:spPr>
          <a:xfrm>
            <a:off x="8502153" y="2328478"/>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lowchart: Connector 11">
            <a:extLst>
              <a:ext uri="{FF2B5EF4-FFF2-40B4-BE49-F238E27FC236}">
                <a16:creationId xmlns:a16="http://schemas.microsoft.com/office/drawing/2014/main" id="{E75E71F0-A936-C3CA-C542-F7E7C9148F6B}"/>
              </a:ext>
            </a:extLst>
          </p:cNvPr>
          <p:cNvSpPr/>
          <p:nvPr/>
        </p:nvSpPr>
        <p:spPr>
          <a:xfrm>
            <a:off x="8502153" y="5500859"/>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394246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B6C975-91B0-6365-C72B-F4D7AC7CEF8D}"/>
            </a:ext>
          </a:extLst>
        </p:cNvPr>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712ACC55-93C0-446D-D562-9794B5949545}"/>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8" imgH="408" progId="TCLayout.ActiveDocument.1">
                  <p:embed/>
                </p:oleObj>
              </mc:Choice>
              <mc:Fallback>
                <p:oleObj name="think-cell Slide" r:id="rId4" imgW="408" imgH="408" progId="TCLayout.ActiveDocument.1">
                  <p:embed/>
                  <p:pic>
                    <p:nvPicPr>
                      <p:cNvPr id="9" name="think-cell data - do not delete" hidden="1">
                        <a:extLst>
                          <a:ext uri="{FF2B5EF4-FFF2-40B4-BE49-F238E27FC236}">
                            <a16:creationId xmlns:a16="http://schemas.microsoft.com/office/drawing/2014/main" id="{712ACC55-93C0-446D-D562-9794B5949545}"/>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graphicFrame>
        <p:nvGraphicFramePr>
          <p:cNvPr id="32" name="Group 614">
            <a:extLst>
              <a:ext uri="{FF2B5EF4-FFF2-40B4-BE49-F238E27FC236}">
                <a16:creationId xmlns:a16="http://schemas.microsoft.com/office/drawing/2014/main" id="{F502FF96-42CA-8D88-E76D-969DDD78A761}"/>
              </a:ext>
            </a:extLst>
          </p:cNvPr>
          <p:cNvGraphicFramePr>
            <a:graphicFrameLocks noGrp="1"/>
          </p:cNvGraphicFramePr>
          <p:nvPr/>
        </p:nvGraphicFramePr>
        <p:xfrm>
          <a:off x="4963885" y="6531428"/>
          <a:ext cx="7166325" cy="310524"/>
        </p:xfrm>
        <a:graphic>
          <a:graphicData uri="http://schemas.openxmlformats.org/drawingml/2006/table">
            <a:tbl>
              <a:tblPr/>
              <a:tblGrid>
                <a:gridCol w="608374">
                  <a:extLst>
                    <a:ext uri="{9D8B030D-6E8A-4147-A177-3AD203B41FA5}">
                      <a16:colId xmlns:a16="http://schemas.microsoft.com/office/drawing/2014/main" val="20000"/>
                    </a:ext>
                  </a:extLst>
                </a:gridCol>
                <a:gridCol w="308349">
                  <a:extLst>
                    <a:ext uri="{9D8B030D-6E8A-4147-A177-3AD203B41FA5}">
                      <a16:colId xmlns:a16="http://schemas.microsoft.com/office/drawing/2014/main" val="20001"/>
                    </a:ext>
                  </a:extLst>
                </a:gridCol>
                <a:gridCol w="760019">
                  <a:extLst>
                    <a:ext uri="{9D8B030D-6E8A-4147-A177-3AD203B41FA5}">
                      <a16:colId xmlns:a16="http://schemas.microsoft.com/office/drawing/2014/main" val="20002"/>
                    </a:ext>
                  </a:extLst>
                </a:gridCol>
                <a:gridCol w="303785">
                  <a:extLst>
                    <a:ext uri="{9D8B030D-6E8A-4147-A177-3AD203B41FA5}">
                      <a16:colId xmlns:a16="http://schemas.microsoft.com/office/drawing/2014/main" val="20003"/>
                    </a:ext>
                  </a:extLst>
                </a:gridCol>
                <a:gridCol w="667455">
                  <a:extLst>
                    <a:ext uri="{9D8B030D-6E8A-4147-A177-3AD203B41FA5}">
                      <a16:colId xmlns:a16="http://schemas.microsoft.com/office/drawing/2014/main" val="20004"/>
                    </a:ext>
                  </a:extLst>
                </a:gridCol>
                <a:gridCol w="519690">
                  <a:extLst>
                    <a:ext uri="{9D8B030D-6E8A-4147-A177-3AD203B41FA5}">
                      <a16:colId xmlns:a16="http://schemas.microsoft.com/office/drawing/2014/main" val="20005"/>
                    </a:ext>
                  </a:extLst>
                </a:gridCol>
                <a:gridCol w="570296">
                  <a:extLst>
                    <a:ext uri="{9D8B030D-6E8A-4147-A177-3AD203B41FA5}">
                      <a16:colId xmlns:a16="http://schemas.microsoft.com/office/drawing/2014/main" val="20006"/>
                    </a:ext>
                  </a:extLst>
                </a:gridCol>
                <a:gridCol w="370169">
                  <a:extLst>
                    <a:ext uri="{9D8B030D-6E8A-4147-A177-3AD203B41FA5}">
                      <a16:colId xmlns:a16="http://schemas.microsoft.com/office/drawing/2014/main" val="20007"/>
                    </a:ext>
                  </a:extLst>
                </a:gridCol>
                <a:gridCol w="1376415">
                  <a:extLst>
                    <a:ext uri="{9D8B030D-6E8A-4147-A177-3AD203B41FA5}">
                      <a16:colId xmlns:a16="http://schemas.microsoft.com/office/drawing/2014/main" val="20008"/>
                    </a:ext>
                  </a:extLst>
                </a:gridCol>
                <a:gridCol w="379427">
                  <a:extLst>
                    <a:ext uri="{9D8B030D-6E8A-4147-A177-3AD203B41FA5}">
                      <a16:colId xmlns:a16="http://schemas.microsoft.com/office/drawing/2014/main" val="20009"/>
                    </a:ext>
                  </a:extLst>
                </a:gridCol>
                <a:gridCol w="1302346">
                  <a:extLst>
                    <a:ext uri="{9D8B030D-6E8A-4147-A177-3AD203B41FA5}">
                      <a16:colId xmlns:a16="http://schemas.microsoft.com/office/drawing/2014/main" val="20010"/>
                    </a:ext>
                  </a:extLst>
                </a:gridCol>
              </a:tblGrid>
              <a:tr h="229348">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Arial" charset="0"/>
                          <a:cs typeface="Arial" charset="0"/>
                        </a:rPr>
                        <a:t>Status Key</a:t>
                      </a:r>
                      <a:endParaRPr kumimoji="0" lang="en-GB" sz="1600" b="0" i="0" u="none" strike="noStrike" cap="none" normalizeH="0" baseline="0">
                        <a:ln>
                          <a:noFill/>
                        </a:ln>
                        <a:solidFill>
                          <a:srgbClr val="002060"/>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mj-lt"/>
                        </a:rPr>
                        <a:t>C</a:t>
                      </a: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Arial" charset="0"/>
                          <a:cs typeface="Arial" charset="0"/>
                        </a:rPr>
                        <a:t>Completed</a:t>
                      </a:r>
                      <a:endParaRPr kumimoji="0" lang="en-GB" sz="1600" b="0" i="0" u="none" strike="noStrike" cap="none" normalizeH="0" baseline="0">
                        <a:ln>
                          <a:noFill/>
                        </a:ln>
                        <a:solidFill>
                          <a:srgbClr val="002060"/>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On-Schedule</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Major Issues</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Some Issues</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NS</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Not Started</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2" name="Title 1">
            <a:extLst>
              <a:ext uri="{FF2B5EF4-FFF2-40B4-BE49-F238E27FC236}">
                <a16:creationId xmlns:a16="http://schemas.microsoft.com/office/drawing/2014/main" id="{C67D89F8-13AA-146D-3FD8-FB73092110EB}"/>
              </a:ext>
            </a:extLst>
          </p:cNvPr>
          <p:cNvSpPr>
            <a:spLocks noGrp="1"/>
          </p:cNvSpPr>
          <p:nvPr>
            <p:ph type="title"/>
          </p:nvPr>
        </p:nvSpPr>
        <p:spPr>
          <a:xfrm>
            <a:off x="233223" y="273220"/>
            <a:ext cx="8925436" cy="536712"/>
          </a:xfrm>
        </p:spPr>
        <p:txBody>
          <a:bodyPr vert="horz">
            <a:normAutofit fontScale="90000"/>
          </a:bodyPr>
          <a:lstStyle/>
          <a:p>
            <a:r>
              <a:rPr lang="en-US" sz="2700">
                <a:solidFill>
                  <a:srgbClr val="29389F"/>
                </a:solidFill>
                <a:latin typeface="Arial"/>
                <a:cs typeface="Arial"/>
              </a:rPr>
              <a:t>MPI Underwriting Optimization MVP1</a:t>
            </a:r>
            <a:br>
              <a:rPr lang="en-US" sz="2700">
                <a:solidFill>
                  <a:srgbClr val="29389F"/>
                </a:solidFill>
                <a:latin typeface="Arial"/>
                <a:cs typeface="Arial"/>
              </a:rPr>
            </a:br>
            <a:r>
              <a:rPr lang="en-US" sz="1600">
                <a:solidFill>
                  <a:srgbClr val="0070C0"/>
                </a:solidFill>
                <a:latin typeface="Arial"/>
                <a:cs typeface="Arial"/>
              </a:rPr>
              <a:t>I</a:t>
            </a:r>
            <a:r>
              <a:rPr lang="en-US" sz="1600" b="0">
                <a:solidFill>
                  <a:srgbClr val="0070C0"/>
                </a:solidFill>
                <a:latin typeface="Arial"/>
                <a:cs typeface="Arial"/>
              </a:rPr>
              <a:t>ncrease new business writings by simplifying point-of-sale underwriting and accelerating rule-based decisions</a:t>
            </a:r>
            <a:endParaRPr lang="en-US" sz="1600" b="0">
              <a:latin typeface="Arial"/>
              <a:cs typeface="Arial"/>
            </a:endParaRPr>
          </a:p>
        </p:txBody>
      </p:sp>
      <p:graphicFrame>
        <p:nvGraphicFramePr>
          <p:cNvPr id="11" name="Group 513">
            <a:extLst>
              <a:ext uri="{FF2B5EF4-FFF2-40B4-BE49-F238E27FC236}">
                <a16:creationId xmlns:a16="http://schemas.microsoft.com/office/drawing/2014/main" id="{4A50D08C-86AA-D1CE-4C4E-28F18B7CF4FE}"/>
              </a:ext>
            </a:extLst>
          </p:cNvPr>
          <p:cNvGraphicFramePr>
            <a:graphicFrameLocks noGrp="1"/>
          </p:cNvGraphicFramePr>
          <p:nvPr>
            <p:extLst>
              <p:ext uri="{D42A27DB-BD31-4B8C-83A1-F6EECF244321}">
                <p14:modId xmlns:p14="http://schemas.microsoft.com/office/powerpoint/2010/main" val="315668093"/>
              </p:ext>
            </p:extLst>
          </p:nvPr>
        </p:nvGraphicFramePr>
        <p:xfrm>
          <a:off x="232717" y="871428"/>
          <a:ext cx="2580811" cy="395688"/>
        </p:xfrm>
        <a:graphic>
          <a:graphicData uri="http://schemas.openxmlformats.org/drawingml/2006/table">
            <a:tbl>
              <a:tblPr/>
              <a:tblGrid>
                <a:gridCol w="999034">
                  <a:extLst>
                    <a:ext uri="{9D8B030D-6E8A-4147-A177-3AD203B41FA5}">
                      <a16:colId xmlns:a16="http://schemas.microsoft.com/office/drawing/2014/main" val="20000"/>
                    </a:ext>
                  </a:extLst>
                </a:gridCol>
                <a:gridCol w="1581777">
                  <a:extLst>
                    <a:ext uri="{9D8B030D-6E8A-4147-A177-3AD203B41FA5}">
                      <a16:colId xmlns:a16="http://schemas.microsoft.com/office/drawing/2014/main" val="20001"/>
                    </a:ext>
                  </a:extLst>
                </a:gridCol>
              </a:tblGrid>
              <a:tr h="395688">
                <a:tc>
                  <a:txBody>
                    <a:bodyPr/>
                    <a:lstStyle/>
                    <a:p>
                      <a:pPr marL="0" marR="0" lvl="0" indent="0" algn="l" defTabSz="914400" rtl="0" eaLnBrk="0" fontAlgn="base" latinLnBrk="0" hangingPunct="0">
                        <a:lnSpc>
                          <a:spcPct val="95000"/>
                        </a:lnSpc>
                        <a:spcBef>
                          <a:spcPct val="0"/>
                        </a:spcBef>
                        <a:spcAft>
                          <a:spcPct val="50000"/>
                        </a:spcAft>
                        <a:buClrTx/>
                        <a:buSzTx/>
                        <a:buFontTx/>
                        <a:buNone/>
                        <a:tabLst/>
                      </a:pPr>
                      <a:r>
                        <a:rPr kumimoji="0" lang="en-GB" sz="1050" b="1" i="0" u="none" strike="noStrike" kern="1200" cap="none" normalizeH="0" baseline="0">
                          <a:ln>
                            <a:noFill/>
                          </a:ln>
                          <a:solidFill>
                            <a:schemeClr val="bg1"/>
                          </a:solidFill>
                          <a:effectLst/>
                          <a:latin typeface="Arial"/>
                          <a:ea typeface="+mn-ea"/>
                          <a:cs typeface="+mn-cs"/>
                        </a:rPr>
                        <a:t>Status Date:</a:t>
                      </a:r>
                    </a:p>
                  </a:txBody>
                  <a:tcPr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lang="en-GB" sz="850" b="1" i="0" u="none" strike="noStrike" cap="none" normalizeH="0" baseline="0">
                          <a:ln>
                            <a:noFill/>
                          </a:ln>
                          <a:solidFill>
                            <a:schemeClr val="tx1"/>
                          </a:solidFill>
                          <a:effectLst/>
                          <a:latin typeface="Aptos"/>
                        </a:rPr>
                        <a:t>8/28/2026</a:t>
                      </a:r>
                      <a:endParaRPr kumimoji="0" lang="en-GB" sz="850" b="1" i="0" u="none" strike="noStrike" cap="none" normalizeH="0" baseline="0">
                        <a:ln>
                          <a:noFill/>
                        </a:ln>
                        <a:solidFill>
                          <a:schemeClr val="tx1"/>
                        </a:solidFill>
                        <a:effectLst/>
                        <a:latin typeface="Aptos"/>
                      </a:endParaRPr>
                    </a:p>
                  </a:txBody>
                  <a:tcPr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14" name="Table 13">
            <a:extLst>
              <a:ext uri="{FF2B5EF4-FFF2-40B4-BE49-F238E27FC236}">
                <a16:creationId xmlns:a16="http://schemas.microsoft.com/office/drawing/2014/main" id="{BCAACCCB-3443-BEB4-AAE6-89CB62C5DF8A}"/>
              </a:ext>
            </a:extLst>
          </p:cNvPr>
          <p:cNvGraphicFramePr>
            <a:graphicFrameLocks noGrp="1"/>
          </p:cNvGraphicFramePr>
          <p:nvPr>
            <p:extLst>
              <p:ext uri="{D42A27DB-BD31-4B8C-83A1-F6EECF244321}">
                <p14:modId xmlns:p14="http://schemas.microsoft.com/office/powerpoint/2010/main" val="560271495"/>
              </p:ext>
            </p:extLst>
          </p:nvPr>
        </p:nvGraphicFramePr>
        <p:xfrm>
          <a:off x="6642804" y="881868"/>
          <a:ext cx="5475523" cy="826969"/>
        </p:xfrm>
        <a:graphic>
          <a:graphicData uri="http://schemas.openxmlformats.org/drawingml/2006/table">
            <a:tbl>
              <a:tblPr>
                <a:tableStyleId>{5C22544A-7EE6-4342-B048-85BDC9FD1C3A}</a:tableStyleId>
              </a:tblPr>
              <a:tblGrid>
                <a:gridCol w="1069391">
                  <a:extLst>
                    <a:ext uri="{9D8B030D-6E8A-4147-A177-3AD203B41FA5}">
                      <a16:colId xmlns:a16="http://schemas.microsoft.com/office/drawing/2014/main" val="2456552316"/>
                    </a:ext>
                  </a:extLst>
                </a:gridCol>
                <a:gridCol w="947831">
                  <a:extLst>
                    <a:ext uri="{9D8B030D-6E8A-4147-A177-3AD203B41FA5}">
                      <a16:colId xmlns:a16="http://schemas.microsoft.com/office/drawing/2014/main" val="2327174630"/>
                    </a:ext>
                  </a:extLst>
                </a:gridCol>
                <a:gridCol w="1549831">
                  <a:extLst>
                    <a:ext uri="{9D8B030D-6E8A-4147-A177-3AD203B41FA5}">
                      <a16:colId xmlns:a16="http://schemas.microsoft.com/office/drawing/2014/main" val="1100051595"/>
                    </a:ext>
                  </a:extLst>
                </a:gridCol>
                <a:gridCol w="935023">
                  <a:extLst>
                    <a:ext uri="{9D8B030D-6E8A-4147-A177-3AD203B41FA5}">
                      <a16:colId xmlns:a16="http://schemas.microsoft.com/office/drawing/2014/main" val="2042261034"/>
                    </a:ext>
                  </a:extLst>
                </a:gridCol>
                <a:gridCol w="973447">
                  <a:extLst>
                    <a:ext uri="{9D8B030D-6E8A-4147-A177-3AD203B41FA5}">
                      <a16:colId xmlns:a16="http://schemas.microsoft.com/office/drawing/2014/main" val="2815874248"/>
                    </a:ext>
                  </a:extLst>
                </a:gridCol>
              </a:tblGrid>
              <a:tr h="430884">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2026 Budget</a:t>
                      </a:r>
                      <a:r>
                        <a:rPr lang="en-US" sz="1050" b="1" i="0" u="none" strike="noStrike" kern="1200" cap="none" normalizeH="0" baseline="0">
                          <a:ln>
                            <a:noFill/>
                          </a:ln>
                          <a:solidFill>
                            <a:schemeClr val="bg1"/>
                          </a:solidFill>
                          <a:effectLst/>
                          <a:latin typeface="Arial"/>
                          <a:ea typeface="+mn-ea"/>
                          <a:cs typeface="+mn-cs"/>
                        </a:rPr>
                        <a:t> </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YTD Actuals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Remaining 2026 Forecast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Current YE Forecast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Total Estimate</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396085">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lang="en-US" sz="850" b="1" i="0" u="none" strike="noStrike" kern="1200" cap="none" normalizeH="0" baseline="0">
                          <a:ln>
                            <a:noFill/>
                          </a:ln>
                          <a:solidFill>
                            <a:schemeClr val="tx1"/>
                          </a:solidFill>
                          <a:effectLst/>
                          <a:latin typeface="Aptos" panose="020B0004020202020204" pitchFamily="34" charset="0"/>
                          <a:ea typeface="+mn-ea"/>
                          <a:cs typeface="+mn-cs"/>
                        </a:rPr>
                        <a:t>$1,120,000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lang="en-US" sz="850" b="1" i="0" u="none" strike="noStrike" kern="1200" cap="none" normalizeH="0" baseline="0">
                          <a:ln>
                            <a:noFill/>
                          </a:ln>
                          <a:solidFill>
                            <a:schemeClr val="tx1"/>
                          </a:solidFill>
                          <a:effectLst/>
                          <a:latin typeface="Aptos" panose="020B0004020202020204" pitchFamily="34" charset="0"/>
                          <a:ea typeface="+mn-ea"/>
                          <a:cs typeface="+mn-cs"/>
                        </a:rPr>
                        <a:t>$191,445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defRPr/>
                      </a:pPr>
                      <a:r>
                        <a:rPr lang="en-US" sz="850" b="1" i="0" u="none" strike="noStrike" kern="1200" cap="none" normalizeH="0" baseline="0">
                          <a:ln>
                            <a:noFill/>
                          </a:ln>
                          <a:solidFill>
                            <a:schemeClr val="tx1"/>
                          </a:solidFill>
                          <a:effectLst/>
                          <a:latin typeface="Aptos" panose="020B0004020202020204" pitchFamily="34" charset="0"/>
                          <a:ea typeface="+mn-ea"/>
                          <a:cs typeface="+mn-cs"/>
                        </a:rPr>
                        <a:t>$925,157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lang="en-US" sz="850" b="1" i="0" u="none" strike="noStrike" kern="1200" cap="none" normalizeH="0" baseline="0">
                          <a:ln>
                            <a:noFill/>
                          </a:ln>
                          <a:solidFill>
                            <a:schemeClr val="tx1"/>
                          </a:solidFill>
                          <a:effectLst/>
                          <a:latin typeface="Aptos" panose="020B0004020202020204" pitchFamily="34" charset="0"/>
                          <a:ea typeface="+mn-ea"/>
                          <a:cs typeface="+mn-cs"/>
                        </a:rPr>
                        <a:t>$1,116,603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lang="en-US" sz="850" b="1" i="0" u="none" strike="noStrike" kern="1200" cap="none" normalizeH="0" baseline="0">
                          <a:ln>
                            <a:noFill/>
                          </a:ln>
                          <a:solidFill>
                            <a:schemeClr val="tx1"/>
                          </a:solidFill>
                          <a:effectLst/>
                          <a:latin typeface="Aptos" panose="020B0004020202020204" pitchFamily="34" charset="0"/>
                          <a:ea typeface="+mn-ea"/>
                          <a:cs typeface="+mn-cs"/>
                        </a:rPr>
                        <a:t>$1,116,603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7499024"/>
                  </a:ext>
                </a:extLst>
              </a:tr>
            </a:tbl>
          </a:graphicData>
        </a:graphic>
      </p:graphicFrame>
      <p:graphicFrame>
        <p:nvGraphicFramePr>
          <p:cNvPr id="25" name="Table 24">
            <a:extLst>
              <a:ext uri="{FF2B5EF4-FFF2-40B4-BE49-F238E27FC236}">
                <a16:creationId xmlns:a16="http://schemas.microsoft.com/office/drawing/2014/main" id="{3CEECBC6-6574-2610-96D7-EB30356B0689}"/>
              </a:ext>
            </a:extLst>
          </p:cNvPr>
          <p:cNvGraphicFramePr>
            <a:graphicFrameLocks noGrp="1"/>
          </p:cNvGraphicFramePr>
          <p:nvPr>
            <p:extLst>
              <p:ext uri="{D42A27DB-BD31-4B8C-83A1-F6EECF244321}">
                <p14:modId xmlns:p14="http://schemas.microsoft.com/office/powerpoint/2010/main" val="1685064472"/>
              </p:ext>
            </p:extLst>
          </p:nvPr>
        </p:nvGraphicFramePr>
        <p:xfrm>
          <a:off x="2813529" y="884610"/>
          <a:ext cx="3829275" cy="780582"/>
        </p:xfrm>
        <a:graphic>
          <a:graphicData uri="http://schemas.openxmlformats.org/drawingml/2006/table">
            <a:tbl>
              <a:tblPr>
                <a:tableStyleId>{5C22544A-7EE6-4342-B048-85BDC9FD1C3A}</a:tableStyleId>
              </a:tblPr>
              <a:tblGrid>
                <a:gridCol w="1042158">
                  <a:extLst>
                    <a:ext uri="{9D8B030D-6E8A-4147-A177-3AD203B41FA5}">
                      <a16:colId xmlns:a16="http://schemas.microsoft.com/office/drawing/2014/main" val="2456552316"/>
                    </a:ext>
                  </a:extLst>
                </a:gridCol>
                <a:gridCol w="961214">
                  <a:extLst>
                    <a:ext uri="{9D8B030D-6E8A-4147-A177-3AD203B41FA5}">
                      <a16:colId xmlns:a16="http://schemas.microsoft.com/office/drawing/2014/main" val="1100051595"/>
                    </a:ext>
                  </a:extLst>
                </a:gridCol>
                <a:gridCol w="920742">
                  <a:extLst>
                    <a:ext uri="{9D8B030D-6E8A-4147-A177-3AD203B41FA5}">
                      <a16:colId xmlns:a16="http://schemas.microsoft.com/office/drawing/2014/main" val="2042261034"/>
                    </a:ext>
                  </a:extLst>
                </a:gridCol>
                <a:gridCol w="905161">
                  <a:extLst>
                    <a:ext uri="{9D8B030D-6E8A-4147-A177-3AD203B41FA5}">
                      <a16:colId xmlns:a16="http://schemas.microsoft.com/office/drawing/2014/main" val="2815874248"/>
                    </a:ext>
                  </a:extLst>
                </a:gridCol>
              </a:tblGrid>
              <a:tr h="425772">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Overall</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Scope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Schedule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Financials</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354810">
                <a:tc>
                  <a:txBody>
                    <a:bodyPr/>
                    <a:lstStyle/>
                    <a:p>
                      <a:pPr marL="0" marR="0" lvl="0" indent="0" algn="ctr" rtl="0" eaLnBrk="1" fontAlgn="ctr" latinLnBrk="0" hangingPunct="1">
                        <a:lnSpc>
                          <a:spcPct val="95000"/>
                        </a:lnSpc>
                        <a:spcBef>
                          <a:spcPct val="0"/>
                        </a:spcBef>
                        <a:spcAft>
                          <a:spcPct val="50000"/>
                        </a:spcAft>
                        <a:buClrTx/>
                        <a:buSzTx/>
                        <a:buFontTx/>
                        <a:buNone/>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rtl="0" eaLnBrk="1" fontAlgn="ctr" latinLnBrk="0" hangingPunct="1">
                        <a:lnSpc>
                          <a:spcPct val="95000"/>
                        </a:lnSpc>
                        <a:spcBef>
                          <a:spcPct val="0"/>
                        </a:spcBef>
                        <a:spcAft>
                          <a:spcPct val="50000"/>
                        </a:spcAft>
                        <a:buClrTx/>
                        <a:buSzTx/>
                        <a:buFontTx/>
                        <a:buNone/>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7499024"/>
                  </a:ext>
                </a:extLst>
              </a:tr>
            </a:tbl>
          </a:graphicData>
        </a:graphic>
      </p:graphicFrame>
      <p:graphicFrame>
        <p:nvGraphicFramePr>
          <p:cNvPr id="26" name="Group 513">
            <a:extLst>
              <a:ext uri="{FF2B5EF4-FFF2-40B4-BE49-F238E27FC236}">
                <a16:creationId xmlns:a16="http://schemas.microsoft.com/office/drawing/2014/main" id="{B4469025-E89B-A945-DDF7-AD32332B6CD0}"/>
              </a:ext>
            </a:extLst>
          </p:cNvPr>
          <p:cNvGraphicFramePr>
            <a:graphicFrameLocks noGrp="1"/>
          </p:cNvGraphicFramePr>
          <p:nvPr>
            <p:extLst>
              <p:ext uri="{D42A27DB-BD31-4B8C-83A1-F6EECF244321}">
                <p14:modId xmlns:p14="http://schemas.microsoft.com/office/powerpoint/2010/main" val="913324545"/>
              </p:ext>
            </p:extLst>
          </p:nvPr>
        </p:nvGraphicFramePr>
        <p:xfrm>
          <a:off x="232717" y="1272246"/>
          <a:ext cx="2581576" cy="395688"/>
        </p:xfrm>
        <a:graphic>
          <a:graphicData uri="http://schemas.openxmlformats.org/drawingml/2006/table">
            <a:tbl>
              <a:tblPr/>
              <a:tblGrid>
                <a:gridCol w="998603">
                  <a:extLst>
                    <a:ext uri="{9D8B030D-6E8A-4147-A177-3AD203B41FA5}">
                      <a16:colId xmlns:a16="http://schemas.microsoft.com/office/drawing/2014/main" val="20000"/>
                    </a:ext>
                  </a:extLst>
                </a:gridCol>
                <a:gridCol w="1582973">
                  <a:extLst>
                    <a:ext uri="{9D8B030D-6E8A-4147-A177-3AD203B41FA5}">
                      <a16:colId xmlns:a16="http://schemas.microsoft.com/office/drawing/2014/main" val="20001"/>
                    </a:ext>
                  </a:extLst>
                </a:gridCol>
              </a:tblGrid>
              <a:tr h="344301">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GB" sz="1050" b="1" i="0" u="none" strike="noStrike" kern="1200" cap="none" normalizeH="0" baseline="0">
                          <a:ln>
                            <a:noFill/>
                          </a:ln>
                          <a:solidFill>
                            <a:schemeClr val="bg1"/>
                          </a:solidFill>
                          <a:effectLst/>
                          <a:latin typeface="Arial"/>
                          <a:ea typeface="+mn-ea"/>
                          <a:cs typeface="+mn-cs"/>
                        </a:rPr>
                        <a:t>Target Delivery:</a:t>
                      </a:r>
                    </a:p>
                  </a:txBody>
                  <a:tcPr marL="0" marR="0"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lang="en-US" sz="850" b="1" i="0" u="none" strike="noStrike" kern="1200" cap="none" normalizeH="0" baseline="0">
                          <a:ln>
                            <a:noFill/>
                          </a:ln>
                          <a:solidFill>
                            <a:schemeClr val="tx1"/>
                          </a:solidFill>
                          <a:effectLst/>
                          <a:latin typeface="Aptos"/>
                          <a:ea typeface="+mn-ea"/>
                          <a:cs typeface="+mn-cs"/>
                        </a:rPr>
                        <a:t>10/14/2026 </a:t>
                      </a:r>
                    </a:p>
                  </a:txBody>
                  <a:tcPr marL="0" marR="0"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27" name="Table 26">
            <a:extLst>
              <a:ext uri="{FF2B5EF4-FFF2-40B4-BE49-F238E27FC236}">
                <a16:creationId xmlns:a16="http://schemas.microsoft.com/office/drawing/2014/main" id="{5D24B6AB-2DD3-6F29-B6BA-A86B85048342}"/>
              </a:ext>
            </a:extLst>
          </p:cNvPr>
          <p:cNvGraphicFramePr>
            <a:graphicFrameLocks noGrp="1"/>
          </p:cNvGraphicFramePr>
          <p:nvPr>
            <p:extLst>
              <p:ext uri="{D42A27DB-BD31-4B8C-83A1-F6EECF244321}">
                <p14:modId xmlns:p14="http://schemas.microsoft.com/office/powerpoint/2010/main" val="516716641"/>
              </p:ext>
            </p:extLst>
          </p:nvPr>
        </p:nvGraphicFramePr>
        <p:xfrm>
          <a:off x="4966269" y="1669552"/>
          <a:ext cx="7152058" cy="2407206"/>
        </p:xfrm>
        <a:graphic>
          <a:graphicData uri="http://schemas.openxmlformats.org/drawingml/2006/table">
            <a:tbl>
              <a:tblPr>
                <a:tableStyleId>{5C22544A-7EE6-4342-B048-85BDC9FD1C3A}</a:tableStyleId>
              </a:tblPr>
              <a:tblGrid>
                <a:gridCol w="2617796">
                  <a:extLst>
                    <a:ext uri="{9D8B030D-6E8A-4147-A177-3AD203B41FA5}">
                      <a16:colId xmlns:a16="http://schemas.microsoft.com/office/drawing/2014/main" val="2456552316"/>
                    </a:ext>
                  </a:extLst>
                </a:gridCol>
                <a:gridCol w="541753">
                  <a:extLst>
                    <a:ext uri="{9D8B030D-6E8A-4147-A177-3AD203B41FA5}">
                      <a16:colId xmlns:a16="http://schemas.microsoft.com/office/drawing/2014/main" val="1100051595"/>
                    </a:ext>
                  </a:extLst>
                </a:gridCol>
                <a:gridCol w="553469">
                  <a:extLst>
                    <a:ext uri="{9D8B030D-6E8A-4147-A177-3AD203B41FA5}">
                      <a16:colId xmlns:a16="http://schemas.microsoft.com/office/drawing/2014/main" val="2042261034"/>
                    </a:ext>
                  </a:extLst>
                </a:gridCol>
                <a:gridCol w="3439040">
                  <a:extLst>
                    <a:ext uri="{9D8B030D-6E8A-4147-A177-3AD203B41FA5}">
                      <a16:colId xmlns:a16="http://schemas.microsoft.com/office/drawing/2014/main" val="2815874248"/>
                    </a:ext>
                  </a:extLst>
                </a:gridCol>
              </a:tblGrid>
              <a:tr h="359335">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Milestone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Status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Due Date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Notes</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239839">
                <a:tc>
                  <a:txBody>
                    <a:bodyPr/>
                    <a:lstStyle/>
                    <a:p>
                      <a:pPr marL="114300" marR="0" lvl="0" indent="0" algn="l" rtl="0" eaLnBrk="1" fontAlgn="ctr" latinLnBrk="0" hangingPunct="1">
                        <a:lnSpc>
                          <a:spcPct val="95000"/>
                        </a:lnSpc>
                        <a:spcBef>
                          <a:spcPct val="0"/>
                        </a:spcBef>
                        <a:spcAft>
                          <a:spcPct val="50000"/>
                        </a:spcAft>
                        <a:buClrTx/>
                        <a:buSzTx/>
                        <a:buFontTx/>
                        <a:buNone/>
                      </a:pPr>
                      <a:r>
                        <a:rPr lang="en-US" sz="850" b="0" kern="1200">
                          <a:solidFill>
                            <a:schemeClr val="tx1"/>
                          </a:solidFill>
                          <a:effectLst/>
                          <a:latin typeface="Aptos" panose="020B0004020202020204" pitchFamily="34" charset="0"/>
                          <a:ea typeface="+mn-ea"/>
                          <a:cs typeface="+mn-cs"/>
                        </a:rPr>
                        <a:t>MVP1 DDIT Start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r>
                        <a:rPr lang="en-US" sz="850" b="0" kern="1200">
                          <a:solidFill>
                            <a:schemeClr val="tx1"/>
                          </a:solidFill>
                          <a:effectLst/>
                          <a:latin typeface="Aptos" panose="020B0004020202020204" pitchFamily="34" charset="0"/>
                          <a:ea typeface="+mn-ea"/>
                          <a:cs typeface="+mn-cs"/>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r>
                        <a:rPr lang="en-US" sz="850" b="0" strike="noStrike" kern="1200">
                          <a:solidFill>
                            <a:schemeClr val="tx1"/>
                          </a:solidFill>
                          <a:effectLst/>
                          <a:latin typeface="Aptos" panose="020B0004020202020204" pitchFamily="34" charset="0"/>
                          <a:ea typeface="+mn-ea"/>
                          <a:cs typeface="+mn-cs"/>
                        </a:rPr>
                        <a:t>6/25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0" hangingPunct="1">
                        <a:lnSpc>
                          <a:spcPts val="600"/>
                        </a:lnSpc>
                        <a:spcBef>
                          <a:spcPts val="300"/>
                        </a:spcBef>
                        <a:spcAft>
                          <a:spcPts val="0"/>
                        </a:spcAft>
                        <a:buClrTx/>
                        <a:buSzTx/>
                        <a:buFontTx/>
                        <a:buNone/>
                        <a:tabLst/>
                        <a:defRPr/>
                      </a:pPr>
                      <a:endParaRPr lang="en-US" sz="850" b="0" i="0">
                        <a:solidFill>
                          <a:srgbClr val="000000"/>
                        </a:solidFill>
                        <a:effectLst/>
                        <a:latin typeface="Aptos" panose="020B00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748893264"/>
                  </a:ext>
                </a:extLst>
              </a:tr>
              <a:tr h="240993">
                <a:tc>
                  <a:txBody>
                    <a:bodyPr/>
                    <a:lstStyle/>
                    <a:p>
                      <a:pPr marL="114300" marR="0" lvl="0" indent="0" algn="l" rtl="0">
                        <a:lnSpc>
                          <a:spcPct val="95000"/>
                        </a:lnSpc>
                        <a:spcBef>
                          <a:spcPct val="0"/>
                        </a:spcBef>
                        <a:spcAft>
                          <a:spcPct val="50000"/>
                        </a:spcAft>
                        <a:buClrTx/>
                        <a:buSzTx/>
                        <a:buFontTx/>
                        <a:buNone/>
                      </a:pPr>
                      <a:r>
                        <a:rPr lang="en-US" sz="850" b="0" kern="1200">
                          <a:solidFill>
                            <a:schemeClr val="tx1"/>
                          </a:solidFill>
                          <a:effectLst/>
                          <a:latin typeface="Aptos" panose="020B0004020202020204" pitchFamily="34" charset="0"/>
                          <a:ea typeface="+mn-ea"/>
                          <a:cs typeface="+mn-cs"/>
                        </a:rPr>
                        <a:t>MVP1 DDIT start - complete</a:t>
                      </a:r>
                      <a:endParaRPr lang="en-US" sz="850">
                        <a:latin typeface="Aptos"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a:lnSpc>
                          <a:spcPct val="95000"/>
                        </a:lnSpc>
                        <a:spcBef>
                          <a:spcPct val="0"/>
                        </a:spcBef>
                        <a:spcAft>
                          <a:spcPct val="50000"/>
                        </a:spcAft>
                        <a:buClrTx/>
                        <a:buSzTx/>
                        <a:buFontTx/>
                        <a:buNone/>
                        <a:tabLst/>
                      </a:pPr>
                      <a:endParaRPr lang="en-US" sz="850" b="0" kern="1200">
                        <a:solidFill>
                          <a:schemeClr val="tx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rtl="0">
                        <a:lnSpc>
                          <a:spcPct val="95000"/>
                        </a:lnSpc>
                        <a:spcBef>
                          <a:spcPct val="0"/>
                        </a:spcBef>
                        <a:spcAft>
                          <a:spcPct val="50000"/>
                        </a:spcAft>
                        <a:buClrTx/>
                        <a:buSzTx/>
                        <a:buFontTx/>
                        <a:buNone/>
                      </a:pPr>
                      <a:r>
                        <a:rPr lang="en-US" sz="850" b="0" strike="noStrike" kern="1200">
                          <a:solidFill>
                            <a:schemeClr val="tx1"/>
                          </a:solidFill>
                          <a:effectLst/>
                          <a:latin typeface="Aptos" panose="020B0004020202020204" pitchFamily="34" charset="0"/>
                          <a:ea typeface="+mn-ea"/>
                          <a:cs typeface="+mn-cs"/>
                        </a:rPr>
                        <a:t>6/24- 9/2</a:t>
                      </a:r>
                      <a:endParaRPr lang="en-US" sz="850" strike="noStrike">
                        <a:latin typeface="Aptos"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l">
                        <a:lnSpc>
                          <a:spcPts val="600"/>
                        </a:lnSpc>
                        <a:spcBef>
                          <a:spcPts val="300"/>
                        </a:spcBef>
                        <a:buNone/>
                      </a:pPr>
                      <a:endParaRPr lang="en-US" sz="850" b="0" i="0">
                        <a:solidFill>
                          <a:srgbClr val="000000"/>
                        </a:solidFill>
                        <a:effectLst/>
                        <a:latin typeface="Aptos" panose="020B0004020202020204" pitchFamily="34" charset="0"/>
                      </a:endParaRPr>
                    </a:p>
                  </a:txBody>
                  <a:tcPr anchor="ct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0">
                      <a:noFill/>
                    </a:lnTlToBr>
                    <a:lnBlToTr w="0">
                      <a:noFill/>
                    </a:lnBlToTr>
                    <a:noFill/>
                  </a:tcPr>
                </a:tc>
                <a:extLst>
                  <a:ext uri="{0D108BD9-81ED-4DB2-BD59-A6C34878D82A}">
                    <a16:rowId xmlns:a16="http://schemas.microsoft.com/office/drawing/2014/main" val="1099244465"/>
                  </a:ext>
                </a:extLst>
              </a:tr>
              <a:tr h="281118">
                <a:tc>
                  <a:txBody>
                    <a:bodyPr/>
                    <a:lstStyle/>
                    <a:p>
                      <a:pPr marL="114300" marR="0" lvl="0" indent="0" algn="l" rtl="0">
                        <a:lnSpc>
                          <a:spcPct val="95000"/>
                        </a:lnSpc>
                        <a:spcBef>
                          <a:spcPct val="0"/>
                        </a:spcBef>
                        <a:spcAft>
                          <a:spcPct val="50000"/>
                        </a:spcAft>
                        <a:buClrTx/>
                        <a:buSzTx/>
                        <a:buFontTx/>
                        <a:buNone/>
                      </a:pPr>
                      <a:r>
                        <a:rPr lang="en-US" sz="850" kern="1200">
                          <a:solidFill>
                            <a:schemeClr val="dk1"/>
                          </a:solidFill>
                          <a:latin typeface="Aptos" panose="020B0004020202020204" pitchFamily="34" charset="0"/>
                          <a:ea typeface="+mn-ea"/>
                          <a:cs typeface="+mn-cs"/>
                        </a:rPr>
                        <a:t>MVP1 E2E</a:t>
                      </a:r>
                      <a:endParaRPr lang="en-US" sz="850">
                        <a:latin typeface="Aptos"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buNone/>
                      </a:pPr>
                      <a:r>
                        <a:rPr lang="en-US" sz="850">
                          <a:latin typeface="Aptos"/>
                        </a:rPr>
                        <a:t>NS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buNone/>
                      </a:pPr>
                      <a:r>
                        <a:rPr lang="en-US" sz="850" strike="noStrike">
                          <a:latin typeface="Aptos" panose="020B0004020202020204" pitchFamily="34" charset="0"/>
                        </a:rPr>
                        <a:t>9/3 -9/15</a:t>
                      </a:r>
                      <a:endParaRPr lang="en-US" sz="850">
                        <a:latin typeface="Aptos"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l">
                        <a:lnSpc>
                          <a:spcPct val="100000"/>
                        </a:lnSpc>
                        <a:spcBef>
                          <a:spcPts val="0"/>
                        </a:spcBef>
                        <a:spcAft>
                          <a:spcPts val="0"/>
                        </a:spcAft>
                        <a:buNone/>
                      </a:pPr>
                      <a:endParaRPr lang="en-US" sz="850" b="0" i="0" kern="1200" noProof="0">
                        <a:solidFill>
                          <a:srgbClr val="000000"/>
                        </a:solidFill>
                        <a:effectLst/>
                        <a:latin typeface="Aptos" panose="020B0004020202020204" pitchFamily="34" charset="0"/>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87139067"/>
                  </a:ext>
                </a:extLst>
              </a:tr>
              <a:tr h="276287">
                <a:tc>
                  <a:txBody>
                    <a:bodyPr/>
                    <a:lstStyle/>
                    <a:p>
                      <a:pPr marL="114300" marR="0" lvl="0" indent="0" algn="l" rtl="0">
                        <a:lnSpc>
                          <a:spcPct val="95000"/>
                        </a:lnSpc>
                        <a:spcBef>
                          <a:spcPct val="0"/>
                        </a:spcBef>
                        <a:spcAft>
                          <a:spcPct val="50000"/>
                        </a:spcAft>
                        <a:buClrTx/>
                        <a:buSzTx/>
                        <a:buFontTx/>
                        <a:buNone/>
                      </a:pPr>
                      <a:r>
                        <a:rPr lang="en-US" sz="850" kern="1200">
                          <a:solidFill>
                            <a:schemeClr val="dk1"/>
                          </a:solidFill>
                          <a:latin typeface="Aptos" panose="020B0004020202020204" pitchFamily="34" charset="0"/>
                          <a:ea typeface="+mn-ea"/>
                          <a:cs typeface="+mn-cs"/>
                        </a:rPr>
                        <a:t>MVP1 </a:t>
                      </a:r>
                      <a:r>
                        <a:rPr lang="en-US" sz="850" b="0" i="0" u="none" strike="noStrike" kern="1200" noProof="0">
                          <a:solidFill>
                            <a:schemeClr val="dk1"/>
                          </a:solidFill>
                          <a:latin typeface="Aptos" panose="020B0004020202020204" pitchFamily="34" charset="0"/>
                          <a:ea typeface="+mn-ea"/>
                          <a:cs typeface="+mn-cs"/>
                        </a:rPr>
                        <a:t>Business UAT/Sign off Complete</a:t>
                      </a:r>
                      <a:endParaRPr lang="en-US" sz="850" kern="1200">
                        <a:solidFill>
                          <a:schemeClr val="dk1"/>
                        </a:solidFill>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buNone/>
                      </a:pPr>
                      <a:r>
                        <a:rPr lang="en-US" sz="850">
                          <a:latin typeface="Aptos" panose="020B0004020202020204" pitchFamily="34" charset="0"/>
                        </a:rPr>
                        <a:t>NS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buNone/>
                      </a:pPr>
                      <a:r>
                        <a:rPr lang="en-US" sz="850" strike="noStrike">
                          <a:latin typeface="Aptos" panose="020B0004020202020204" pitchFamily="34" charset="0"/>
                        </a:rPr>
                        <a:t>9/16 -10/2</a:t>
                      </a:r>
                      <a:endParaRPr lang="en-US" sz="850">
                        <a:latin typeface="Aptos"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eaLnBrk="1" fontAlgn="base" latinLnBrk="0" hangingPunct="1">
                        <a:lnSpc>
                          <a:spcPct val="100000"/>
                        </a:lnSpc>
                        <a:spcBef>
                          <a:spcPts val="200"/>
                        </a:spcBef>
                        <a:spcAft>
                          <a:spcPts val="0"/>
                        </a:spcAft>
                        <a:buClrTx/>
                        <a:buSzTx/>
                        <a:buFontTx/>
                        <a:buNone/>
                      </a:pPr>
                      <a:endParaRPr lang="en-US" sz="850" b="0" i="0">
                        <a:solidFill>
                          <a:srgbClr val="000000"/>
                        </a:solidFill>
                        <a:effectLst/>
                        <a:latin typeface="Aptos" panose="020B0004020202020204" pitchFamily="34" charset="0"/>
                        <a:cs typeface="Times New Roman"/>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59181009"/>
                  </a:ext>
                </a:extLst>
              </a:tr>
              <a:tr h="255209">
                <a:tc>
                  <a:txBody>
                    <a:bodyPr/>
                    <a:lstStyle/>
                    <a:p>
                      <a:pPr marL="114300" marR="0" lvl="0" indent="0" algn="l" rtl="0">
                        <a:lnSpc>
                          <a:spcPct val="95000"/>
                        </a:lnSpc>
                        <a:spcBef>
                          <a:spcPct val="0"/>
                        </a:spcBef>
                        <a:spcAft>
                          <a:spcPct val="50000"/>
                        </a:spcAft>
                        <a:buClrTx/>
                        <a:buSzTx/>
                        <a:buFontTx/>
                        <a:buNone/>
                      </a:pPr>
                      <a:r>
                        <a:rPr lang="en-US" sz="850" kern="1200">
                          <a:solidFill>
                            <a:schemeClr val="dk1"/>
                          </a:solidFill>
                          <a:latin typeface="Aptos" panose="020B0004020202020204" pitchFamily="34" charset="0"/>
                          <a:ea typeface="+mn-ea"/>
                          <a:cs typeface="+mn-cs"/>
                        </a:rPr>
                        <a:t>Implementation Plan Review</a:t>
                      </a:r>
                      <a:endParaRPr lang="en-US" sz="850">
                        <a:latin typeface="Aptos"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buNone/>
                      </a:pPr>
                      <a:r>
                        <a:rPr lang="en-US" sz="850">
                          <a:latin typeface="Aptos" panose="020B0004020202020204" pitchFamily="34" charset="0"/>
                        </a:rPr>
                        <a:t>NS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buNone/>
                      </a:pPr>
                      <a:r>
                        <a:rPr lang="en-US" sz="850" strike="noStrike">
                          <a:latin typeface="Aptos" panose="020B0004020202020204" pitchFamily="34" charset="0"/>
                        </a:rPr>
                        <a:t>10/3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ts val="200"/>
                        </a:spcBef>
                        <a:spcAft>
                          <a:spcPts val="0"/>
                        </a:spcAft>
                        <a:buClrTx/>
                        <a:buSzTx/>
                        <a:buFontTx/>
                        <a:buNone/>
                        <a:tabLst/>
                        <a:defRPr/>
                      </a:pPr>
                      <a:endParaRPr lang="en-US" sz="850" b="0" i="0" u="none" strike="noStrike" kern="100" noProof="0">
                        <a:solidFill>
                          <a:schemeClr val="dk1"/>
                        </a:solidFill>
                        <a:effectLst/>
                        <a:latin typeface="Aptos" panose="020B00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99732389"/>
                  </a:ext>
                </a:extLst>
              </a:tr>
              <a:tr h="236980">
                <a:tc>
                  <a:txBody>
                    <a:bodyPr/>
                    <a:lstStyle/>
                    <a:p>
                      <a:pPr marL="114300" marR="0" lvl="0" indent="0" algn="l" rtl="0">
                        <a:lnSpc>
                          <a:spcPct val="95000"/>
                        </a:lnSpc>
                        <a:spcBef>
                          <a:spcPct val="0"/>
                        </a:spcBef>
                        <a:spcAft>
                          <a:spcPct val="50000"/>
                        </a:spcAft>
                        <a:buClrTx/>
                        <a:buSzTx/>
                        <a:buFontTx/>
                        <a:buNone/>
                      </a:pPr>
                      <a:r>
                        <a:rPr lang="en-US" sz="850" kern="1200">
                          <a:solidFill>
                            <a:schemeClr val="dk1"/>
                          </a:solidFill>
                          <a:latin typeface="Aptos" panose="020B0004020202020204" pitchFamily="34" charset="0"/>
                          <a:ea typeface="+mn-ea"/>
                          <a:cs typeface="+mn-cs"/>
                        </a:rPr>
                        <a:t>MVP1 Go No/Go</a:t>
                      </a:r>
                      <a:endParaRPr lang="en-US" sz="850">
                        <a:latin typeface="Aptos"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buNone/>
                      </a:pPr>
                      <a:r>
                        <a:rPr lang="en-US" sz="850">
                          <a:latin typeface="Aptos" panose="020B0004020202020204" pitchFamily="34" charset="0"/>
                        </a:rPr>
                        <a:t>NS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buNone/>
                      </a:pPr>
                      <a:r>
                        <a:rPr lang="en-US" sz="850" strike="noStrike">
                          <a:latin typeface="Aptos" panose="020B0004020202020204" pitchFamily="34" charset="0"/>
                        </a:rPr>
                        <a:t>10/3</a:t>
                      </a:r>
                      <a:endParaRPr lang="en-US" sz="850">
                        <a:latin typeface="Aptos"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ts val="200"/>
                        </a:spcBef>
                        <a:spcAft>
                          <a:spcPts val="0"/>
                        </a:spcAft>
                        <a:buClrTx/>
                        <a:buSzTx/>
                        <a:buFontTx/>
                        <a:buNone/>
                        <a:tabLst/>
                        <a:defRPr/>
                      </a:pPr>
                      <a:endParaRPr lang="en-US" sz="850" b="0" i="0">
                        <a:solidFill>
                          <a:srgbClr val="000000"/>
                        </a:solidFill>
                        <a:effectLst/>
                        <a:latin typeface="Aptos" panose="020B0004020202020204" pitchFamily="34" charset="0"/>
                        <a:cs typeface="Times New Roman"/>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75249404"/>
                  </a:ext>
                </a:extLst>
              </a:tr>
              <a:tr h="263945">
                <a:tc>
                  <a:txBody>
                    <a:bodyPr/>
                    <a:lstStyle/>
                    <a:p>
                      <a:pPr marL="114300" marR="0" lvl="0" indent="0" algn="l" rtl="0">
                        <a:lnSpc>
                          <a:spcPct val="95000"/>
                        </a:lnSpc>
                        <a:spcBef>
                          <a:spcPct val="0"/>
                        </a:spcBef>
                        <a:spcAft>
                          <a:spcPct val="50000"/>
                        </a:spcAft>
                        <a:buClrTx/>
                        <a:buSzTx/>
                        <a:buFontTx/>
                        <a:buNone/>
                      </a:pPr>
                      <a:r>
                        <a:rPr lang="en-US" sz="850" kern="1200">
                          <a:solidFill>
                            <a:schemeClr val="dk1"/>
                          </a:solidFill>
                          <a:latin typeface="Aptos" panose="020B0004020202020204" pitchFamily="34" charset="0"/>
                          <a:ea typeface="+mn-ea"/>
                          <a:cs typeface="+mn-cs"/>
                        </a:rPr>
                        <a:t>Stage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buNone/>
                      </a:pPr>
                      <a:r>
                        <a:rPr lang="en-US" sz="850">
                          <a:latin typeface="Aptos" panose="020B0004020202020204" pitchFamily="34" charset="0"/>
                        </a:rPr>
                        <a:t>NS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buNone/>
                      </a:pPr>
                      <a:r>
                        <a:rPr lang="en-US" sz="850" strike="noStrike">
                          <a:latin typeface="Aptos" panose="020B0004020202020204" pitchFamily="34" charset="0"/>
                        </a:rPr>
                        <a:t>10/3</a:t>
                      </a:r>
                      <a:endParaRPr lang="en-US" sz="850">
                        <a:latin typeface="Aptos"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eaLnBrk="1" fontAlgn="ctr" latinLnBrk="0" hangingPunct="1">
                        <a:lnSpc>
                          <a:spcPct val="95000"/>
                        </a:lnSpc>
                        <a:spcBef>
                          <a:spcPct val="0"/>
                        </a:spcBef>
                        <a:spcAft>
                          <a:spcPct val="50000"/>
                        </a:spcAft>
                        <a:buClrTx/>
                        <a:buSzTx/>
                        <a:buFontTx/>
                        <a:buNone/>
                      </a:pPr>
                      <a:endParaRPr lang="en-US" sz="850" b="0" strike="noStrike" kern="1200">
                        <a:solidFill>
                          <a:schemeClr val="tx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76961585"/>
                  </a:ext>
                </a:extLst>
              </a:tr>
              <a:tr h="253500">
                <a:tc>
                  <a:txBody>
                    <a:bodyPr/>
                    <a:lstStyle/>
                    <a:p>
                      <a:pPr marL="114300" marR="0" lvl="0" indent="0" algn="l" rtl="0">
                        <a:lnSpc>
                          <a:spcPct val="95000"/>
                        </a:lnSpc>
                        <a:spcBef>
                          <a:spcPct val="0"/>
                        </a:spcBef>
                        <a:spcAft>
                          <a:spcPct val="50000"/>
                        </a:spcAft>
                        <a:buClrTx/>
                        <a:buSzTx/>
                        <a:buFontTx/>
                        <a:buNone/>
                      </a:pPr>
                      <a:r>
                        <a:rPr lang="en-US" sz="850" b="0" i="0" u="none" strike="noStrike" kern="1200" noProof="0">
                          <a:solidFill>
                            <a:schemeClr val="dk1"/>
                          </a:solidFill>
                          <a:latin typeface="Aptos" panose="020B0004020202020204" pitchFamily="34" charset="0"/>
                          <a:ea typeface="+mn-ea"/>
                          <a:cs typeface="+mn-cs"/>
                        </a:rPr>
                        <a:t>Implementation</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50">
                          <a:latin typeface="Aptos" panose="020B0004020202020204" pitchFamily="34" charset="0"/>
                        </a:rPr>
                        <a:t>NS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50" strike="noStrike">
                          <a:latin typeface="Aptos" panose="020B0004020202020204" pitchFamily="34" charset="0"/>
                        </a:rPr>
                        <a:t>10/14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eaLnBrk="1" fontAlgn="ctr" latinLnBrk="0" hangingPunct="1">
                        <a:lnSpc>
                          <a:spcPct val="95000"/>
                        </a:lnSpc>
                        <a:spcBef>
                          <a:spcPct val="0"/>
                        </a:spcBef>
                        <a:spcAft>
                          <a:spcPct val="50000"/>
                        </a:spcAft>
                        <a:buClrTx/>
                        <a:buSzTx/>
                        <a:buFontTx/>
                        <a:buNone/>
                      </a:pPr>
                      <a:endParaRPr lang="en-US" sz="850" b="0" strike="noStrike" kern="1200">
                        <a:solidFill>
                          <a:schemeClr val="tx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328197"/>
                  </a:ext>
                </a:extLst>
              </a:tr>
            </a:tbl>
          </a:graphicData>
        </a:graphic>
      </p:graphicFrame>
      <p:graphicFrame>
        <p:nvGraphicFramePr>
          <p:cNvPr id="29" name="Table 28">
            <a:extLst>
              <a:ext uri="{FF2B5EF4-FFF2-40B4-BE49-F238E27FC236}">
                <a16:creationId xmlns:a16="http://schemas.microsoft.com/office/drawing/2014/main" id="{F837AD31-EDF2-164B-25A9-7EC1D616A6AA}"/>
              </a:ext>
            </a:extLst>
          </p:cNvPr>
          <p:cNvGraphicFramePr>
            <a:graphicFrameLocks noGrp="1"/>
          </p:cNvGraphicFramePr>
          <p:nvPr>
            <p:extLst>
              <p:ext uri="{D42A27DB-BD31-4B8C-83A1-F6EECF244321}">
                <p14:modId xmlns:p14="http://schemas.microsoft.com/office/powerpoint/2010/main" val="1183555207"/>
              </p:ext>
            </p:extLst>
          </p:nvPr>
        </p:nvGraphicFramePr>
        <p:xfrm>
          <a:off x="4963885" y="4126890"/>
          <a:ext cx="7159657" cy="2286131"/>
        </p:xfrm>
        <a:graphic>
          <a:graphicData uri="http://schemas.openxmlformats.org/drawingml/2006/table">
            <a:tbl>
              <a:tblPr>
                <a:tableStyleId>{5C22544A-7EE6-4342-B048-85BDC9FD1C3A}</a:tableStyleId>
              </a:tblPr>
              <a:tblGrid>
                <a:gridCol w="2641812">
                  <a:extLst>
                    <a:ext uri="{9D8B030D-6E8A-4147-A177-3AD203B41FA5}">
                      <a16:colId xmlns:a16="http://schemas.microsoft.com/office/drawing/2014/main" val="2456552316"/>
                    </a:ext>
                  </a:extLst>
                </a:gridCol>
                <a:gridCol w="518775">
                  <a:extLst>
                    <a:ext uri="{9D8B030D-6E8A-4147-A177-3AD203B41FA5}">
                      <a16:colId xmlns:a16="http://schemas.microsoft.com/office/drawing/2014/main" val="1100051595"/>
                    </a:ext>
                  </a:extLst>
                </a:gridCol>
                <a:gridCol w="596746">
                  <a:extLst>
                    <a:ext uri="{9D8B030D-6E8A-4147-A177-3AD203B41FA5}">
                      <a16:colId xmlns:a16="http://schemas.microsoft.com/office/drawing/2014/main" val="2042261034"/>
                    </a:ext>
                  </a:extLst>
                </a:gridCol>
                <a:gridCol w="3402324">
                  <a:extLst>
                    <a:ext uri="{9D8B030D-6E8A-4147-A177-3AD203B41FA5}">
                      <a16:colId xmlns:a16="http://schemas.microsoft.com/office/drawing/2014/main" val="2815874248"/>
                    </a:ext>
                  </a:extLst>
                </a:gridCol>
              </a:tblGrid>
              <a:tr h="271374">
                <a:tc>
                  <a:txBody>
                    <a:bodyPr/>
                    <a:lstStyle/>
                    <a:p>
                      <a:pPr marL="0" marR="0" lvl="0" indent="0" algn="ctr" rtl="0" eaLnBrk="0" fontAlgn="base" latinLnBrk="0" hangingPunct="0">
                        <a:lnSpc>
                          <a:spcPct val="95000"/>
                        </a:lnSpc>
                        <a:spcBef>
                          <a:spcPct val="0"/>
                        </a:spcBef>
                        <a:spcAft>
                          <a:spcPct val="50000"/>
                        </a:spcAft>
                        <a:buClrTx/>
                        <a:buSzTx/>
                        <a:buFontTx/>
                        <a:buNone/>
                      </a:pPr>
                      <a:r>
                        <a:rPr lang="en-US" sz="1000" b="1" i="0" u="none" strike="noStrike" kern="1200" cap="none" normalizeH="0" baseline="0">
                          <a:ln>
                            <a:noFill/>
                          </a:ln>
                          <a:solidFill>
                            <a:schemeClr val="bg1"/>
                          </a:solidFill>
                          <a:effectLst/>
                          <a:latin typeface="Arial"/>
                          <a:ea typeface="+mn-ea"/>
                          <a:cs typeface="+mn-cs"/>
                        </a:rPr>
                        <a:t>Critical Risks/Issues</a:t>
                      </a:r>
                      <a:endParaRPr kumimoji="0" lang="en-US" sz="1000" b="1" i="0" u="none" strike="noStrike" kern="1200" cap="none" normalizeH="0" baseline="0">
                        <a:ln>
                          <a:noFill/>
                        </a:ln>
                        <a:solidFill>
                          <a:schemeClr val="bg1"/>
                        </a:solidFill>
                        <a:effectLst/>
                        <a:latin typeface="Arial"/>
                        <a:ea typeface="+mn-ea"/>
                        <a:cs typeface="+mn-cs"/>
                      </a:endParaRP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00" b="1" i="0" u="none" strike="noStrike" kern="1200" cap="none" normalizeH="0" baseline="0">
                          <a:ln>
                            <a:noFill/>
                          </a:ln>
                          <a:solidFill>
                            <a:schemeClr val="bg1"/>
                          </a:solidFill>
                          <a:effectLst/>
                          <a:latin typeface="Arial"/>
                          <a:ea typeface="+mn-ea"/>
                          <a:cs typeface="+mn-cs"/>
                        </a:rPr>
                        <a:t>Status</a:t>
                      </a:r>
                    </a:p>
                  </a:txBody>
                  <a:tcPr marL="9525" marR="9525" marT="9525" marB="0" anchor="ct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00" b="1" i="0" u="none" strike="noStrike" kern="1200" cap="none" normalizeH="0" baseline="0">
                          <a:ln>
                            <a:noFill/>
                          </a:ln>
                          <a:solidFill>
                            <a:schemeClr val="bg1"/>
                          </a:solidFill>
                          <a:effectLst/>
                          <a:latin typeface="Arial"/>
                          <a:ea typeface="+mn-ea"/>
                          <a:cs typeface="+mn-cs"/>
                        </a:rPr>
                        <a:t>Target Date</a:t>
                      </a:r>
                    </a:p>
                  </a:txBody>
                  <a:tcPr marL="9525" marR="9525" marT="9525" marB="0" anchor="ctr">
                    <a:lnL w="12700">
                      <a:solidFill>
                        <a:schemeClr val="tx1"/>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00" b="1" i="0" u="none" strike="noStrike" kern="1200" cap="none" normalizeH="0" baseline="0">
                          <a:ln>
                            <a:noFill/>
                          </a:ln>
                          <a:solidFill>
                            <a:schemeClr val="bg1"/>
                          </a:solidFill>
                          <a:effectLst/>
                          <a:latin typeface="Arial"/>
                          <a:ea typeface="+mn-ea"/>
                          <a:cs typeface="+mn-cs"/>
                        </a:rPr>
                        <a:t> </a:t>
                      </a:r>
                      <a:r>
                        <a:rPr kumimoji="0" lang="en-US" sz="1000" b="1" i="0" u="none" strike="noStrike" kern="1200" cap="none" normalizeH="0" baseline="0">
                          <a:ln>
                            <a:noFill/>
                          </a:ln>
                          <a:solidFill>
                            <a:schemeClr val="bg1"/>
                          </a:solidFill>
                          <a:effectLst/>
                          <a:latin typeface="Arial"/>
                          <a:ea typeface="+mn-ea"/>
                          <a:cs typeface="+mn-cs"/>
                        </a:rPr>
                        <a:t>Resolution / Mitigation</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1987046">
                <a:tc>
                  <a:txBody>
                    <a:bodyPr/>
                    <a:lstStyle/>
                    <a:p>
                      <a:pPr lvl="0" algn="l">
                        <a:lnSpc>
                          <a:spcPct val="100000"/>
                        </a:lnSpc>
                        <a:spcBef>
                          <a:spcPts val="0"/>
                        </a:spcBef>
                        <a:spcAft>
                          <a:spcPts val="0"/>
                        </a:spcAft>
                        <a:buNone/>
                      </a:pPr>
                      <a:r>
                        <a:rPr lang="en-US" sz="850" b="1" i="0" u="none" strike="noStrike" noProof="0">
                          <a:latin typeface="Aptos" panose="020B0004020202020204" pitchFamily="34" charset="0"/>
                          <a:cs typeface="Segoe UI"/>
                        </a:rPr>
                        <a:t>Dependencies / Risks</a:t>
                      </a:r>
                      <a:endParaRPr lang="en-US" sz="850">
                        <a:latin typeface="Aptos" panose="020B0004020202020204" pitchFamily="34" charset="0"/>
                      </a:endParaRPr>
                    </a:p>
                    <a:p>
                      <a:pPr marL="285750" lvl="0" indent="-285750" algn="l">
                        <a:lnSpc>
                          <a:spcPct val="100000"/>
                        </a:lnSpc>
                        <a:spcBef>
                          <a:spcPts val="0"/>
                        </a:spcBef>
                        <a:spcAft>
                          <a:spcPts val="0"/>
                        </a:spcAft>
                        <a:buFont typeface="Arial"/>
                        <a:buChar char="•"/>
                      </a:pPr>
                      <a:r>
                        <a:rPr lang="en-US" sz="850" b="1" i="0" u="none" strike="noStrike" noProof="0">
                          <a:latin typeface="Aptos" panose="020B0004020202020204" pitchFamily="34" charset="0"/>
                          <a:cs typeface="Segoe UI"/>
                        </a:rPr>
                        <a:t>MiM and PR</a:t>
                      </a:r>
                      <a:r>
                        <a:rPr lang="en-US" sz="850" b="0" i="0" u="none" strike="noStrike" noProof="0">
                          <a:latin typeface="Aptos" panose="020B0004020202020204" pitchFamily="34" charset="0"/>
                          <a:cs typeface="Segoe UI"/>
                        </a:rPr>
                        <a:t> are dependent on </a:t>
                      </a:r>
                      <a:r>
                        <a:rPr lang="en-US" sz="850" b="1" i="0" u="none" strike="noStrike" noProof="0">
                          <a:latin typeface="Aptos" panose="020B0004020202020204" pitchFamily="34" charset="0"/>
                          <a:cs typeface="Segoe UI"/>
                        </a:rPr>
                        <a:t>SS</a:t>
                      </a:r>
                      <a:r>
                        <a:rPr lang="en-US" sz="850" b="0" i="0" u="none" strike="noStrike" noProof="0">
                          <a:latin typeface="Aptos" panose="020B0004020202020204" pitchFamily="34" charset="0"/>
                          <a:cs typeface="Segoe UI"/>
                        </a:rPr>
                        <a:t> to remove the UW question and add two new questions.</a:t>
                      </a:r>
                      <a:endParaRPr lang="en-US" sz="850">
                        <a:latin typeface="Aptos" panose="020B0004020202020204" pitchFamily="34" charset="0"/>
                      </a:endParaRPr>
                    </a:p>
                    <a:p>
                      <a:pPr marL="285750" lvl="0" indent="-285750" algn="l">
                        <a:lnSpc>
                          <a:spcPct val="100000"/>
                        </a:lnSpc>
                        <a:spcBef>
                          <a:spcPts val="0"/>
                        </a:spcBef>
                        <a:spcAft>
                          <a:spcPts val="0"/>
                        </a:spcAft>
                        <a:buFont typeface="Arial"/>
                        <a:buChar char="•"/>
                      </a:pPr>
                      <a:r>
                        <a:rPr lang="en-US" sz="850" b="1" i="0" u="none" strike="noStrike" noProof="0">
                          <a:latin typeface="Aptos" panose="020B0004020202020204" pitchFamily="34" charset="0"/>
                          <a:cs typeface="Segoe UI"/>
                        </a:rPr>
                        <a:t>EW</a:t>
                      </a:r>
                      <a:r>
                        <a:rPr lang="en-US" sz="850" b="0" i="0" u="none" strike="noStrike" noProof="0">
                          <a:latin typeface="Aptos" panose="020B0004020202020204" pitchFamily="34" charset="0"/>
                          <a:cs typeface="Segoe UI"/>
                        </a:rPr>
                        <a:t> is dependent on </a:t>
                      </a:r>
                      <a:r>
                        <a:rPr lang="en-US" sz="850" b="1" i="0" u="none" strike="noStrike" noProof="0">
                          <a:latin typeface="Aptos" panose="020B0004020202020204" pitchFamily="34" charset="0"/>
                          <a:cs typeface="Segoe UI"/>
                        </a:rPr>
                        <a:t>MiM</a:t>
                      </a:r>
                      <a:r>
                        <a:rPr lang="en-US" sz="850" b="0" i="0" u="none" strike="noStrike" noProof="0">
                          <a:latin typeface="Aptos" panose="020B0004020202020204" pitchFamily="34" charset="0"/>
                          <a:cs typeface="Segoe UI"/>
                        </a:rPr>
                        <a:t> to remove the spay/neuter backend logic.</a:t>
                      </a:r>
                      <a:endParaRPr lang="en-US" sz="850">
                        <a:latin typeface="Aptos" panose="020B0004020202020204" pitchFamily="34" charset="0"/>
                      </a:endParaRPr>
                    </a:p>
                    <a:p>
                      <a:pPr marL="285750" lvl="0" indent="-285750" algn="l">
                        <a:lnSpc>
                          <a:spcPct val="100000"/>
                        </a:lnSpc>
                        <a:spcBef>
                          <a:spcPts val="0"/>
                        </a:spcBef>
                        <a:spcAft>
                          <a:spcPts val="0"/>
                        </a:spcAft>
                        <a:buFont typeface="Arial"/>
                        <a:buChar char="•"/>
                      </a:pPr>
                      <a:r>
                        <a:rPr lang="en-US" sz="850" b="1" i="0" u="none" strike="noStrike" noProof="0">
                          <a:latin typeface="Aptos" panose="020B0004020202020204" pitchFamily="34" charset="0"/>
                          <a:cs typeface="Segoe UI"/>
                        </a:rPr>
                        <a:t>AT</a:t>
                      </a:r>
                      <a:r>
                        <a:rPr lang="en-US" sz="850" b="0" i="0" u="none" strike="noStrike" noProof="0">
                          <a:latin typeface="Aptos" panose="020B0004020202020204" pitchFamily="34" charset="0"/>
                          <a:cs typeface="Segoe UI"/>
                        </a:rPr>
                        <a:t> is dependent on </a:t>
                      </a:r>
                      <a:r>
                        <a:rPr lang="en-US" sz="850" b="1" i="0" u="none" strike="noStrike" noProof="0">
                          <a:latin typeface="Aptos" panose="020B0004020202020204" pitchFamily="34" charset="0"/>
                          <a:cs typeface="Segoe UI"/>
                        </a:rPr>
                        <a:t>SS</a:t>
                      </a:r>
                      <a:r>
                        <a:rPr lang="en-US" sz="850" b="0" i="0" u="none" strike="noStrike" noProof="0">
                          <a:latin typeface="Aptos" panose="020B0004020202020204" pitchFamily="34" charset="0"/>
                          <a:cs typeface="Segoe UI"/>
                        </a:rPr>
                        <a:t> to add the two new questions.</a:t>
                      </a:r>
                      <a:endParaRPr lang="en-US" sz="850">
                        <a:latin typeface="Aptos" panose="020B0004020202020204" pitchFamily="34" charset="0"/>
                      </a:endParaRPr>
                    </a:p>
                    <a:p>
                      <a:pPr lvl="0" indent="0" algn="l">
                        <a:lnSpc>
                          <a:spcPct val="100000"/>
                        </a:lnSpc>
                        <a:spcBef>
                          <a:spcPts val="0"/>
                        </a:spcBef>
                        <a:spcAft>
                          <a:spcPts val="0"/>
                        </a:spcAft>
                        <a:buNone/>
                      </a:pPr>
                      <a:r>
                        <a:rPr lang="en-US" sz="850" b="1" i="0" u="none" strike="noStrike" noProof="0">
                          <a:latin typeface="Aptos" panose="020B0004020202020204" pitchFamily="34" charset="0"/>
                          <a:cs typeface="Segoe UI"/>
                        </a:rPr>
                        <a:t>Risk:</a:t>
                      </a:r>
                      <a:endParaRPr lang="en-US" sz="850">
                        <a:latin typeface="Aptos" panose="020B0004020202020204" pitchFamily="34" charset="0"/>
                      </a:endParaRPr>
                    </a:p>
                    <a:p>
                      <a:pPr marL="285750" lvl="0" indent="-285750" algn="l">
                        <a:lnSpc>
                          <a:spcPct val="100000"/>
                        </a:lnSpc>
                        <a:spcBef>
                          <a:spcPts val="0"/>
                        </a:spcBef>
                        <a:spcAft>
                          <a:spcPts val="0"/>
                        </a:spcAft>
                        <a:buFont typeface="Arial"/>
                        <a:buChar char="•"/>
                      </a:pPr>
                      <a:r>
                        <a:rPr lang="en-US" sz="850" b="0" i="0" u="none" strike="noStrike" noProof="0">
                          <a:latin typeface="Aptos" panose="020B0004020202020204" pitchFamily="34" charset="0"/>
                          <a:cs typeface="Segoe UI"/>
                        </a:rPr>
                        <a:t>There is a delivery risk for </a:t>
                      </a:r>
                      <a:r>
                        <a:rPr lang="en-US" sz="850" b="1" i="0" u="none" strike="noStrike" noProof="0">
                          <a:latin typeface="Aptos" panose="020B0004020202020204" pitchFamily="34" charset="0"/>
                          <a:cs typeface="Segoe UI"/>
                        </a:rPr>
                        <a:t>DDIT</a:t>
                      </a:r>
                      <a:r>
                        <a:rPr lang="en-US" sz="850" b="0" i="0" u="none" strike="noStrike" noProof="0">
                          <a:latin typeface="Aptos" panose="020B0004020202020204" pitchFamily="34" charset="0"/>
                          <a:cs typeface="Segoe UI"/>
                        </a:rPr>
                        <a:t> to complete implementation across all lines by </a:t>
                      </a:r>
                      <a:r>
                        <a:rPr lang="en-US" sz="850" b="1" i="0" u="none" strike="noStrike" noProof="0">
                          <a:latin typeface="Aptos" panose="020B0004020202020204" pitchFamily="34" charset="0"/>
                          <a:cs typeface="Segoe UI"/>
                        </a:rPr>
                        <a:t>8/20</a:t>
                      </a:r>
                      <a:r>
                        <a:rPr lang="en-US" sz="850" b="0" i="0" u="none" strike="noStrike" noProof="0">
                          <a:latin typeface="Aptos" panose="020B0004020202020204" pitchFamily="34" charset="0"/>
                          <a:cs typeface="Segoe UI"/>
                        </a:rPr>
                        <a:t> if </a:t>
                      </a:r>
                      <a:r>
                        <a:rPr lang="en-US" sz="850" b="1" i="0" u="none" strike="noStrike" noProof="0">
                          <a:latin typeface="Aptos" panose="020B0004020202020204" pitchFamily="34" charset="0"/>
                          <a:cs typeface="Segoe UI"/>
                        </a:rPr>
                        <a:t>SS</a:t>
                      </a:r>
                      <a:r>
                        <a:rPr lang="en-US" sz="850" b="0" i="0" u="none" strike="noStrike" noProof="0">
                          <a:latin typeface="Aptos" panose="020B0004020202020204" pitchFamily="34" charset="0"/>
                          <a:cs typeface="Segoe UI"/>
                        </a:rPr>
                        <a:t> does not complete the required question changes by </a:t>
                      </a:r>
                      <a:r>
                        <a:rPr lang="en-US" sz="850" b="1" i="0" u="none" strike="noStrike" noProof="0">
                          <a:latin typeface="Aptos" panose="020B0004020202020204" pitchFamily="34" charset="0"/>
                          <a:cs typeface="Segoe UI"/>
                        </a:rPr>
                        <a:t>8/5</a:t>
                      </a:r>
                      <a:r>
                        <a:rPr lang="en-US" sz="850" b="0" i="0" u="none" strike="noStrike" noProof="0">
                          <a:latin typeface="Aptos" panose="020B0004020202020204" pitchFamily="34" charset="0"/>
                          <a:cs typeface="Segoe UI"/>
                        </a:rPr>
                        <a:t>.</a:t>
                      </a:r>
                      <a:endParaRPr lang="en-US" sz="850">
                        <a:latin typeface="Aptos" panose="020B0004020202020204" pitchFamily="34" charset="0"/>
                      </a:endParaRPr>
                    </a:p>
                    <a:p>
                      <a:pPr marL="285750" lvl="0" indent="-285750" algn="l">
                        <a:lnSpc>
                          <a:spcPct val="100000"/>
                        </a:lnSpc>
                        <a:spcBef>
                          <a:spcPts val="0"/>
                        </a:spcBef>
                        <a:spcAft>
                          <a:spcPts val="0"/>
                        </a:spcAft>
                        <a:buFont typeface="Arial"/>
                        <a:buChar char="•"/>
                      </a:pPr>
                      <a:r>
                        <a:rPr lang="en-US" sz="850" b="0" i="0" u="none" strike="noStrike" noProof="0">
                          <a:latin typeface="Aptos" panose="020B0004020202020204" pitchFamily="34" charset="0"/>
                          <a:cs typeface="Segoe UI"/>
                        </a:rPr>
                        <a:t>Any delay in SS delivery will impact downstream work for </a:t>
                      </a:r>
                      <a:r>
                        <a:rPr lang="en-US" sz="850" b="1" i="0" u="none" strike="noStrike" noProof="0">
                          <a:latin typeface="Aptos" panose="020B0004020202020204" pitchFamily="34" charset="0"/>
                          <a:cs typeface="Segoe UI"/>
                        </a:rPr>
                        <a:t>MiM, PR, and AT</a:t>
                      </a:r>
                      <a:r>
                        <a:rPr lang="en-US" sz="850" b="0" i="0" u="none" strike="noStrike" noProof="0">
                          <a:latin typeface="Aptos" panose="020B0004020202020204" pitchFamily="34" charset="0"/>
                          <a:cs typeface="Segoe UI"/>
                        </a:rPr>
                        <a:t>, potentially putting the 8/20 completion target at risk.</a:t>
                      </a:r>
                      <a:endParaRPr lang="en-US" sz="850">
                        <a:latin typeface="Aptos" panose="020B0004020202020204" pitchFamily="34" charset="0"/>
                      </a:endParaRP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r>
                        <a:rPr lang="en-US" sz="850" b="0" kern="1200">
                          <a:solidFill>
                            <a:schemeClr val="tx1"/>
                          </a:solidFill>
                          <a:effectLst/>
                          <a:latin typeface="Aptos" panose="020B0004020202020204" pitchFamily="34" charset="0"/>
                          <a:ea typeface="+mn-ea"/>
                          <a:cs typeface="+mn-cs"/>
                        </a:rPr>
                        <a:t>C</a:t>
                      </a:r>
                    </a:p>
                  </a:txBody>
                  <a:tcPr marL="9525" marR="9525" marT="9525" marB="0" anchor="ct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r>
                        <a:rPr lang="en-US" sz="850" b="0" strike="noStrike" kern="1200">
                          <a:solidFill>
                            <a:schemeClr val="tx1"/>
                          </a:solidFill>
                          <a:effectLst/>
                          <a:latin typeface="Aptos" panose="020B0004020202020204" pitchFamily="34" charset="0"/>
                          <a:ea typeface="+mn-ea"/>
                          <a:cs typeface="+mn-cs"/>
                        </a:rPr>
                        <a:t>8/5</a:t>
                      </a:r>
                    </a:p>
                  </a:txBody>
                  <a:tcPr marL="9525" marR="9525" marT="9525" marB="0" anchor="ctr">
                    <a:lnL w="12700">
                      <a:solidFill>
                        <a:schemeClr val="tx1"/>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eaLnBrk="1" fontAlgn="base" latinLnBrk="0" hangingPunct="1">
                        <a:lnSpc>
                          <a:spcPct val="100000"/>
                        </a:lnSpc>
                        <a:spcBef>
                          <a:spcPts val="0"/>
                        </a:spcBef>
                        <a:spcAft>
                          <a:spcPts val="0"/>
                        </a:spcAft>
                        <a:buClrTx/>
                        <a:buSzTx/>
                        <a:buFont typeface="Arial" panose="020B0604020202020204" pitchFamily="34" charset="0"/>
                        <a:buChar char="•"/>
                      </a:pPr>
                      <a:r>
                        <a:rPr lang="en-US" sz="850" b="1" i="0" u="none" strike="noStrike" noProof="0">
                          <a:latin typeface="Aptos" panose="020B0004020202020204" pitchFamily="34" charset="0"/>
                          <a:cs typeface="Segoe UI"/>
                        </a:rPr>
                        <a:t>Resolution:</a:t>
                      </a:r>
                      <a:r>
                        <a:rPr lang="en-US" sz="850" b="0" i="0" u="none" strike="noStrike" noProof="0">
                          <a:latin typeface="Aptos" panose="020B0004020202020204" pitchFamily="34" charset="0"/>
                          <a:cs typeface="Segoe UI"/>
                        </a:rPr>
                        <a:t> SS to complete the UW question removal and addition of two new questions by </a:t>
                      </a:r>
                      <a:r>
                        <a:rPr lang="en-US" sz="850" b="1" i="0" u="none" strike="noStrike" noProof="0">
                          <a:latin typeface="Aptos" panose="020B0004020202020204" pitchFamily="34" charset="0"/>
                          <a:cs typeface="Segoe UI"/>
                        </a:rPr>
                        <a:t>8/5</a:t>
                      </a:r>
                      <a:r>
                        <a:rPr lang="en-US" sz="850" b="0" i="0" u="none" strike="noStrike" noProof="0">
                          <a:latin typeface="Aptos" panose="020B0004020202020204" pitchFamily="34" charset="0"/>
                          <a:cs typeface="Segoe UI"/>
                        </a:rPr>
                        <a:t>, enabling MiM, PR, and AT to proceed without impacting the overall timeline.</a:t>
                      </a:r>
                      <a:endParaRPr lang="en-US" sz="850">
                        <a:latin typeface="Aptos" panose="020B0004020202020204" pitchFamily="34" charset="0"/>
                      </a:endParaRPr>
                    </a:p>
                    <a:p>
                      <a:pPr marL="0" lvl="0" indent="0" algn="l">
                        <a:lnSpc>
                          <a:spcPct val="100000"/>
                        </a:lnSpc>
                        <a:spcBef>
                          <a:spcPts val="0"/>
                        </a:spcBef>
                        <a:spcAft>
                          <a:spcPts val="0"/>
                        </a:spcAft>
                        <a:buClrTx/>
                        <a:buSzTx/>
                        <a:buFont typeface="Arial" panose="020B0604020202020204" pitchFamily="34" charset="0"/>
                        <a:buChar char="•"/>
                      </a:pPr>
                      <a:r>
                        <a:rPr lang="en-US" sz="850" b="1" i="0" u="none" strike="noStrike" noProof="0">
                          <a:latin typeface="Aptos" panose="020B0004020202020204" pitchFamily="34" charset="0"/>
                          <a:cs typeface="Segoe UI"/>
                        </a:rPr>
                        <a:t>Mitigation:</a:t>
                      </a:r>
                      <a:r>
                        <a:rPr lang="en-US" sz="850" b="0" i="0" u="none" strike="noStrike" noProof="0">
                          <a:latin typeface="Aptos" panose="020B0004020202020204" pitchFamily="34" charset="0"/>
                          <a:cs typeface="Segoe UI"/>
                        </a:rPr>
                        <a:t> Track SS progress through weekly checkpoints and escalate any risk to the </a:t>
                      </a:r>
                      <a:r>
                        <a:rPr lang="en-US" sz="850" b="1" i="0" u="none" strike="noStrike" noProof="0">
                          <a:latin typeface="Aptos" panose="020B0004020202020204" pitchFamily="34" charset="0"/>
                          <a:cs typeface="Segoe UI"/>
                        </a:rPr>
                        <a:t>8/5</a:t>
                      </a:r>
                      <a:r>
                        <a:rPr lang="en-US" sz="850" b="0" i="0" u="none" strike="noStrike" noProof="0">
                          <a:latin typeface="Aptos" panose="020B0004020202020204" pitchFamily="34" charset="0"/>
                          <a:cs typeface="Segoe UI"/>
                        </a:rPr>
                        <a:t> milestone immediately to protect </a:t>
                      </a:r>
                      <a:r>
                        <a:rPr lang="en-US" sz="850" b="1" i="0" u="none" strike="noStrike" noProof="0">
                          <a:latin typeface="Aptos" panose="020B0004020202020204" pitchFamily="34" charset="0"/>
                          <a:cs typeface="Segoe UI"/>
                        </a:rPr>
                        <a:t>DDIT's 8/20</a:t>
                      </a:r>
                      <a:r>
                        <a:rPr lang="en-US" sz="850" b="0" i="0" u="none" strike="noStrike" noProof="0">
                          <a:latin typeface="Aptos" panose="020B0004020202020204" pitchFamily="34" charset="0"/>
                          <a:cs typeface="Segoe UI"/>
                        </a:rPr>
                        <a:t> delivery target across all lines.</a:t>
                      </a:r>
                      <a:endParaRPr lang="en-US" sz="850">
                        <a:latin typeface="Aptos" panose="020B0004020202020204" pitchFamily="34" charset="0"/>
                      </a:endParaRPr>
                    </a:p>
                    <a:p>
                      <a:pPr marL="171450" marR="0" lvl="0" indent="-171450" algn="l" defTabSz="914400">
                        <a:lnSpc>
                          <a:spcPct val="100000"/>
                        </a:lnSpc>
                        <a:spcBef>
                          <a:spcPts val="200"/>
                        </a:spcBef>
                        <a:spcAft>
                          <a:spcPts val="0"/>
                        </a:spcAft>
                        <a:buClrTx/>
                        <a:buSzTx/>
                        <a:buFont typeface="Arial" panose="020B0604020202020204" pitchFamily="34" charset="0"/>
                        <a:buChar char="•"/>
                        <a:tabLst/>
                        <a:defRPr/>
                      </a:pPr>
                      <a:endParaRPr lang="en-US" sz="850">
                        <a:latin typeface="Aptos" panose="020B0004020202020204" pitchFamily="34" charset="0"/>
                      </a:endParaRP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7499024"/>
                  </a:ext>
                </a:extLst>
              </a:tr>
            </a:tbl>
          </a:graphicData>
        </a:graphic>
      </p:graphicFrame>
      <p:sp>
        <p:nvSpPr>
          <p:cNvPr id="33" name="Flowchart: Connector 32">
            <a:extLst>
              <a:ext uri="{FF2B5EF4-FFF2-40B4-BE49-F238E27FC236}">
                <a16:creationId xmlns:a16="http://schemas.microsoft.com/office/drawing/2014/main" id="{BC543E80-4753-D25D-CEFB-9731713CF7AE}"/>
              </a:ext>
            </a:extLst>
          </p:cNvPr>
          <p:cNvSpPr/>
          <p:nvPr/>
        </p:nvSpPr>
        <p:spPr>
          <a:xfrm>
            <a:off x="6726836" y="6563166"/>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34" name="Flowchart: Connector 33">
            <a:extLst>
              <a:ext uri="{FF2B5EF4-FFF2-40B4-BE49-F238E27FC236}">
                <a16:creationId xmlns:a16="http://schemas.microsoft.com/office/drawing/2014/main" id="{F8358FAE-9186-AA89-B4A8-04090F4E2091}"/>
              </a:ext>
            </a:extLst>
          </p:cNvPr>
          <p:cNvSpPr/>
          <p:nvPr/>
        </p:nvSpPr>
        <p:spPr>
          <a:xfrm>
            <a:off x="7778059" y="6558387"/>
            <a:ext cx="163286" cy="164592"/>
          </a:xfrm>
          <a:prstGeom prst="flowChartConnector">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36" name="Flowchart: Connector 35">
            <a:extLst>
              <a:ext uri="{FF2B5EF4-FFF2-40B4-BE49-F238E27FC236}">
                <a16:creationId xmlns:a16="http://schemas.microsoft.com/office/drawing/2014/main" id="{4BC7CAE9-16F9-9034-CA89-91E765F08300}"/>
              </a:ext>
            </a:extLst>
          </p:cNvPr>
          <p:cNvSpPr/>
          <p:nvPr/>
        </p:nvSpPr>
        <p:spPr>
          <a:xfrm>
            <a:off x="8831908" y="6558387"/>
            <a:ext cx="163285" cy="164592"/>
          </a:xfrm>
          <a:prstGeom prst="flowChartConnector">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43" name="Flowchart: Connector 42">
            <a:extLst>
              <a:ext uri="{FF2B5EF4-FFF2-40B4-BE49-F238E27FC236}">
                <a16:creationId xmlns:a16="http://schemas.microsoft.com/office/drawing/2014/main" id="{8DEE2BD8-B31B-C761-15F2-FFF67921B613}"/>
              </a:ext>
            </a:extLst>
          </p:cNvPr>
          <p:cNvSpPr/>
          <p:nvPr/>
        </p:nvSpPr>
        <p:spPr>
          <a:xfrm>
            <a:off x="3303638" y="1403331"/>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highlight>
                <a:srgbClr val="00FF00"/>
              </a:highlight>
              <a:uLnTx/>
              <a:uFillTx/>
              <a:latin typeface="Arial"/>
              <a:ea typeface="+mn-ea"/>
              <a:cs typeface="+mn-cs"/>
            </a:endParaRPr>
          </a:p>
        </p:txBody>
      </p:sp>
      <p:sp>
        <p:nvSpPr>
          <p:cNvPr id="45" name="Flowchart: Connector 44">
            <a:extLst>
              <a:ext uri="{FF2B5EF4-FFF2-40B4-BE49-F238E27FC236}">
                <a16:creationId xmlns:a16="http://schemas.microsoft.com/office/drawing/2014/main" id="{10F38D3F-DB7C-FC02-FCD0-4F534285AC29}"/>
              </a:ext>
            </a:extLst>
          </p:cNvPr>
          <p:cNvSpPr/>
          <p:nvPr/>
        </p:nvSpPr>
        <p:spPr>
          <a:xfrm>
            <a:off x="4286105" y="1403331"/>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5" name="TextBox 4">
            <a:extLst>
              <a:ext uri="{FF2B5EF4-FFF2-40B4-BE49-F238E27FC236}">
                <a16:creationId xmlns:a16="http://schemas.microsoft.com/office/drawing/2014/main" id="{2EEB9CDF-3CB1-5B73-B142-A29F120416CE}"/>
              </a:ext>
            </a:extLst>
          </p:cNvPr>
          <p:cNvSpPr txBox="1"/>
          <p:nvPr/>
        </p:nvSpPr>
        <p:spPr>
          <a:xfrm>
            <a:off x="159545" y="1777635"/>
            <a:ext cx="4743293" cy="3416320"/>
          </a:xfrm>
          <a:prstGeom prst="rect">
            <a:avLst/>
          </a:prstGeom>
          <a:noFill/>
        </p:spPr>
        <p:txBody>
          <a:bodyPr wrap="square" lIns="91440" tIns="45720" rIns="91440" bIns="45720" anchor="t">
            <a:spAutoFit/>
          </a:bodyPr>
          <a:lstStyle/>
          <a:p>
            <a:pPr>
              <a:defRPr/>
            </a:pPr>
            <a:r>
              <a:rPr kumimoji="0" lang="en-US" sz="900" b="1" i="0" u="none" strike="noStrike" kern="1200" cap="none" spc="0" normalizeH="0" baseline="0" noProof="0">
                <a:ln>
                  <a:noFill/>
                </a:ln>
                <a:solidFill>
                  <a:srgbClr val="000000"/>
                </a:solidFill>
                <a:effectLst/>
                <a:uLnTx/>
                <a:uFillTx/>
                <a:latin typeface="Aptos Display"/>
              </a:rPr>
              <a:t>Status:</a:t>
            </a:r>
            <a:r>
              <a:rPr lang="en-US" sz="900" b="1">
                <a:solidFill>
                  <a:srgbClr val="000000"/>
                </a:solidFill>
                <a:latin typeface="Aptos Display"/>
              </a:rPr>
              <a:t> </a:t>
            </a:r>
            <a:endParaRPr lang="en-US" sz="900" kern="100">
              <a:solidFill>
                <a:srgbClr val="000000"/>
              </a:solidFill>
              <a:latin typeface="Aptos Display"/>
              <a:cs typeface="Times New Roman"/>
            </a:endParaRPr>
          </a:p>
          <a:p>
            <a:pPr>
              <a:defRPr/>
            </a:pPr>
            <a:r>
              <a:rPr lang="en-US" sz="900">
                <a:solidFill>
                  <a:srgbClr val="000000"/>
                </a:solidFill>
                <a:latin typeface="Aptos Display"/>
                <a:cs typeface="Segoe UI"/>
              </a:rPr>
              <a:t>During the week, the project team finalized preparations for End-to-End (E2E) testing and received the required mockups to support testing and business validation activities. The Steering Committee approved the Change Request (CR) to remove one of the business questions, and the impacted lines are engaged to implement the change without affecting the project timeline. The approved CR has an estimated cost of $7,000, which will be funded through project contingency, resulting in no impact to the overall project budget.</a:t>
            </a:r>
            <a:endParaRPr lang="en-US" sz="900" kern="100">
              <a:solidFill>
                <a:srgbClr val="000000"/>
              </a:solidFill>
              <a:latin typeface="Aptos Display"/>
              <a:cs typeface="Times New Roman"/>
            </a:endParaRPr>
          </a:p>
          <a:p>
            <a:pPr>
              <a:defRPr/>
            </a:pPr>
            <a:endParaRPr lang="en-US" sz="900">
              <a:solidFill>
                <a:srgbClr val="000000"/>
              </a:solidFill>
              <a:latin typeface="Aptos Display"/>
              <a:cs typeface="Segoe UI"/>
            </a:endParaRPr>
          </a:p>
          <a:p>
            <a:pPr>
              <a:defRPr/>
            </a:pPr>
            <a:r>
              <a:rPr lang="en-US" sz="900" b="1">
                <a:solidFill>
                  <a:srgbClr val="000000"/>
                </a:solidFill>
                <a:latin typeface="Aptos Display"/>
                <a:cs typeface="Segoe UI"/>
              </a:rPr>
              <a:t>Highlights:</a:t>
            </a:r>
            <a:endParaRPr lang="en-US" sz="900">
              <a:latin typeface="Aptos Display"/>
            </a:endParaRPr>
          </a:p>
          <a:p>
            <a:pPr marL="285750" indent="-285750">
              <a:buFont typeface="Arial"/>
              <a:buChar char="•"/>
              <a:defRPr/>
            </a:pPr>
            <a:r>
              <a:rPr lang="en-US" sz="900">
                <a:solidFill>
                  <a:srgbClr val="000000"/>
                </a:solidFill>
                <a:latin typeface="Aptos Display"/>
                <a:cs typeface="Segoe UI"/>
              </a:rPr>
              <a:t>Received Steering Committee approval for Change Request to remove one business question.</a:t>
            </a:r>
            <a:endParaRPr lang="en-US" sz="900">
              <a:latin typeface="Aptos Display"/>
            </a:endParaRPr>
          </a:p>
          <a:p>
            <a:pPr marL="285750" indent="-285750">
              <a:buFont typeface="Arial"/>
              <a:buChar char="•"/>
              <a:defRPr/>
            </a:pPr>
            <a:r>
              <a:rPr lang="en-US" sz="900">
                <a:solidFill>
                  <a:srgbClr val="000000"/>
                </a:solidFill>
                <a:latin typeface="Aptos Display"/>
                <a:cs typeface="Segoe UI"/>
              </a:rPr>
              <a:t>Confirmed implementation approach with impacted lines, with no impact to the project schedule.</a:t>
            </a:r>
            <a:endParaRPr lang="en-US" sz="900">
              <a:latin typeface="Aptos Display"/>
            </a:endParaRPr>
          </a:p>
          <a:p>
            <a:pPr marL="285750" indent="-285750">
              <a:buFont typeface="Arial"/>
              <a:buChar char="•"/>
              <a:defRPr/>
            </a:pPr>
            <a:r>
              <a:rPr lang="en-US" sz="900">
                <a:solidFill>
                  <a:srgbClr val="000000"/>
                </a:solidFill>
                <a:latin typeface="Aptos Display"/>
                <a:cs typeface="Segoe UI"/>
              </a:rPr>
              <a:t>Received required mockups to support E2E testing and stakeholder review activities.</a:t>
            </a:r>
            <a:endParaRPr lang="en-US" sz="900">
              <a:latin typeface="Aptos Display"/>
            </a:endParaRPr>
          </a:p>
          <a:p>
            <a:pPr marL="285750" indent="-285750">
              <a:buFont typeface="Arial"/>
              <a:buChar char="•"/>
              <a:defRPr/>
            </a:pPr>
            <a:r>
              <a:rPr lang="en-US" sz="900">
                <a:solidFill>
                  <a:srgbClr val="000000"/>
                </a:solidFill>
                <a:latin typeface="Aptos Display"/>
                <a:cs typeface="Segoe UI"/>
              </a:rPr>
              <a:t>Approved CR cost of </a:t>
            </a:r>
            <a:r>
              <a:rPr lang="en-US" sz="900" b="1">
                <a:solidFill>
                  <a:srgbClr val="000000"/>
                </a:solidFill>
                <a:latin typeface="Aptos Display"/>
                <a:cs typeface="Segoe UI"/>
              </a:rPr>
              <a:t>$7,000</a:t>
            </a:r>
            <a:r>
              <a:rPr lang="en-US" sz="900">
                <a:solidFill>
                  <a:srgbClr val="000000"/>
                </a:solidFill>
                <a:latin typeface="Aptos Display"/>
                <a:cs typeface="Segoe UI"/>
              </a:rPr>
              <a:t> will be funded through project contingency with no impact to the overall project budget.</a:t>
            </a:r>
            <a:endParaRPr lang="en-US" sz="900">
              <a:latin typeface="Aptos Display"/>
            </a:endParaRPr>
          </a:p>
          <a:p>
            <a:pPr>
              <a:defRPr/>
            </a:pPr>
            <a:endParaRPr lang="en-US" sz="900">
              <a:solidFill>
                <a:srgbClr val="000000"/>
              </a:solidFill>
              <a:latin typeface="Aptos Display"/>
              <a:cs typeface="Segoe UI"/>
            </a:endParaRPr>
          </a:p>
          <a:p>
            <a:pPr>
              <a:defRPr/>
            </a:pPr>
            <a:r>
              <a:rPr lang="en-US" sz="900" b="1">
                <a:solidFill>
                  <a:srgbClr val="000000"/>
                </a:solidFill>
                <a:latin typeface="Aptos Display"/>
                <a:cs typeface="Segoe UI"/>
              </a:rPr>
              <a:t>Next Steps</a:t>
            </a:r>
            <a:endParaRPr lang="en-US" sz="900">
              <a:latin typeface="Aptos Display"/>
            </a:endParaRPr>
          </a:p>
          <a:p>
            <a:pPr marL="285750" indent="-285750">
              <a:buFont typeface="Arial"/>
              <a:buChar char="•"/>
              <a:defRPr/>
            </a:pPr>
            <a:r>
              <a:rPr lang="en-US" sz="900">
                <a:solidFill>
                  <a:srgbClr val="000000"/>
                </a:solidFill>
                <a:latin typeface="Aptos Display"/>
                <a:cs typeface="Segoe UI"/>
              </a:rPr>
              <a:t>Begin and execute End-to-End (E2E) testing (Sep 3 – Sep 15).</a:t>
            </a:r>
            <a:endParaRPr lang="en-US" sz="900">
              <a:latin typeface="Aptos Display"/>
            </a:endParaRPr>
          </a:p>
          <a:p>
            <a:pPr marL="285750" indent="-285750">
              <a:buFont typeface="Arial"/>
              <a:buChar char="•"/>
              <a:defRPr/>
            </a:pPr>
            <a:r>
              <a:rPr lang="en-US" sz="900">
                <a:solidFill>
                  <a:srgbClr val="000000"/>
                </a:solidFill>
                <a:latin typeface="Aptos Display"/>
                <a:cs typeface="Segoe UI"/>
              </a:rPr>
              <a:t>Monitor implementation of approved Change Request and validate outcomes during testing.</a:t>
            </a:r>
            <a:endParaRPr lang="en-US" sz="900">
              <a:latin typeface="Aptos Display"/>
            </a:endParaRPr>
          </a:p>
          <a:p>
            <a:pPr marL="285750" indent="-285750">
              <a:buFont typeface="Arial"/>
              <a:buChar char="•"/>
              <a:defRPr/>
            </a:pPr>
            <a:r>
              <a:rPr lang="en-US" sz="900">
                <a:solidFill>
                  <a:srgbClr val="000000"/>
                </a:solidFill>
                <a:latin typeface="Aptos Display"/>
                <a:cs typeface="Segoe UI"/>
              </a:rPr>
              <a:t>Continue business stakeholder operational readiness and customer support preparation activities.</a:t>
            </a:r>
            <a:endParaRPr lang="en-US" sz="900">
              <a:latin typeface="Aptos Display"/>
            </a:endParaRPr>
          </a:p>
          <a:p>
            <a:pPr marL="285750" indent="-285750">
              <a:buFont typeface="Arial"/>
              <a:buChar char="•"/>
              <a:defRPr/>
            </a:pPr>
            <a:r>
              <a:rPr lang="en-US" sz="900">
                <a:solidFill>
                  <a:srgbClr val="000000"/>
                </a:solidFill>
                <a:latin typeface="Aptos Display"/>
                <a:cs typeface="Segoe UI"/>
              </a:rPr>
              <a:t>Prepare for User Acceptance Testing (UAT) scheduled for Sep 16 – Oct 2.</a:t>
            </a:r>
            <a:endParaRPr lang="en-US" sz="900">
              <a:latin typeface="Aptos Display"/>
            </a:endParaRPr>
          </a:p>
          <a:p>
            <a:pPr marL="0" marR="0" lvl="0" indent="0" algn="l" defTabSz="914400">
              <a:lnSpc>
                <a:spcPct val="100000"/>
              </a:lnSpc>
              <a:spcBef>
                <a:spcPts val="0"/>
              </a:spcBef>
              <a:spcAft>
                <a:spcPts val="0"/>
              </a:spcAft>
              <a:buClrTx/>
              <a:buSzTx/>
              <a:buFontTx/>
              <a:buNone/>
              <a:tabLst/>
              <a:defRPr/>
            </a:pPr>
            <a:endParaRPr lang="en-US" sz="900" b="1">
              <a:solidFill>
                <a:srgbClr val="000000"/>
              </a:solidFill>
              <a:latin typeface="Aptos Display"/>
              <a:cs typeface="Times New Roman"/>
            </a:endParaRPr>
          </a:p>
        </p:txBody>
      </p:sp>
      <p:sp>
        <p:nvSpPr>
          <p:cNvPr id="3" name="TextBox 2">
            <a:extLst>
              <a:ext uri="{FF2B5EF4-FFF2-40B4-BE49-F238E27FC236}">
                <a16:creationId xmlns:a16="http://schemas.microsoft.com/office/drawing/2014/main" id="{A93ED6AC-3F4E-68AE-0FD6-E7CE19B5E469}"/>
              </a:ext>
            </a:extLst>
          </p:cNvPr>
          <p:cNvSpPr txBox="1"/>
          <p:nvPr/>
        </p:nvSpPr>
        <p:spPr>
          <a:xfrm>
            <a:off x="9460736" y="333553"/>
            <a:ext cx="2676180" cy="517320"/>
          </a:xfrm>
          <a:prstGeom prst="rect">
            <a:avLst/>
          </a:prstGeom>
          <a:noFill/>
        </p:spPr>
        <p:txBody>
          <a:bodyPr wrap="none" lIns="0" tIns="0" rIns="0" bIns="0" rtlCol="0" anchor="t">
            <a:noAutofit/>
          </a:bodyPr>
          <a:lstStyle/>
          <a:p>
            <a:pPr>
              <a:lnSpc>
                <a:spcPct val="112000"/>
              </a:lnSpc>
              <a:defRPr/>
            </a:pPr>
            <a:r>
              <a:rPr lang="en-US" sz="1200">
                <a:solidFill>
                  <a:srgbClr val="000000"/>
                </a:solidFill>
                <a:latin typeface="Arial"/>
                <a:cs typeface="Arial"/>
              </a:rPr>
              <a:t>Project Manager </a:t>
            </a:r>
            <a:r>
              <a:rPr kumimoji="0" lang="en-US" sz="1200" b="0" i="0" u="none" strike="noStrike" kern="1200" cap="none" spc="0" normalizeH="0" baseline="0" noProof="0">
                <a:ln>
                  <a:noFill/>
                </a:ln>
                <a:solidFill>
                  <a:srgbClr val="000000"/>
                </a:solidFill>
                <a:effectLst/>
                <a:uLnTx/>
                <a:uFillTx/>
                <a:latin typeface="Arial"/>
                <a:cs typeface="Arial"/>
              </a:rPr>
              <a:t>: </a:t>
            </a:r>
            <a:r>
              <a:rPr lang="en-US" sz="1200">
                <a:solidFill>
                  <a:srgbClr val="000000"/>
                </a:solidFill>
              </a:rPr>
              <a:t> Lalitha</a:t>
            </a:r>
            <a:r>
              <a:rPr kumimoji="0" lang="en-US" sz="1200" b="0" i="0" u="none" strike="noStrike" kern="1200" cap="none" spc="0" normalizeH="0" baseline="0" noProof="0">
                <a:ln>
                  <a:noFill/>
                </a:ln>
                <a:solidFill>
                  <a:srgbClr val="000000"/>
                </a:solidFill>
                <a:effectLst/>
                <a:uLnTx/>
                <a:uFillTx/>
                <a:ea typeface="+mn-ea"/>
                <a:cs typeface="+mn-cs"/>
              </a:rPr>
              <a:t> </a:t>
            </a:r>
            <a:r>
              <a:rPr lang="en-US" sz="1200">
                <a:solidFill>
                  <a:srgbClr val="000000"/>
                </a:solidFill>
              </a:rPr>
              <a:t>Kumar</a:t>
            </a:r>
            <a:endParaRPr lang="en-US" sz="1200">
              <a:cs typeface="Arial"/>
            </a:endParaRPr>
          </a:p>
          <a:p>
            <a:pPr marL="0" marR="0" lvl="0" indent="0" algn="l" defTabSz="914400" rtl="0" eaLnBrk="1" fontAlgn="auto" latinLnBrk="0" hangingPunct="1">
              <a:lnSpc>
                <a:spcPct val="112000"/>
              </a:lnSpc>
              <a:spcBef>
                <a:spcPts val="0"/>
              </a:spcBef>
              <a:spcAft>
                <a:spcPts val="0"/>
              </a:spcAft>
              <a:buClrTx/>
              <a:buSzTx/>
              <a:buFontTx/>
              <a:buNone/>
              <a:tabLst/>
              <a:defRPr/>
            </a:pPr>
            <a:r>
              <a:rPr kumimoji="0" lang="en-US" sz="1200" b="0" i="0" u="none" strike="noStrike" kern="1200" cap="none" spc="0" normalizeH="0" baseline="0" noProof="0" err="1">
                <a:ln>
                  <a:noFill/>
                </a:ln>
                <a:solidFill>
                  <a:srgbClr val="000000"/>
                </a:solidFill>
                <a:effectLst/>
                <a:uLnTx/>
                <a:uFillTx/>
                <a:ea typeface="+mn-ea"/>
                <a:cs typeface="+mn-cs"/>
              </a:rPr>
              <a:t>OpEx</a:t>
            </a:r>
            <a:r>
              <a:rPr kumimoji="0" lang="en-US" sz="1200" b="0" i="0" u="none" strike="noStrike" kern="1200" cap="none" spc="0" normalizeH="0" baseline="0" noProof="0">
                <a:ln>
                  <a:noFill/>
                </a:ln>
                <a:solidFill>
                  <a:srgbClr val="000000"/>
                </a:solidFill>
                <a:effectLst/>
                <a:uLnTx/>
                <a:uFillTx/>
                <a:ea typeface="+mn-ea"/>
                <a:cs typeface="+mn-cs"/>
              </a:rPr>
              <a:t> Business Lead: Sarah Andrews</a:t>
            </a:r>
            <a:endParaRPr lang="en-US" sz="1200" b="0" i="0" u="none" strike="noStrike" kern="1200" cap="none" spc="0" normalizeH="0" baseline="0" noProof="0">
              <a:ln>
                <a:noFill/>
              </a:ln>
              <a:solidFill>
                <a:srgbClr val="000000"/>
              </a:solidFill>
              <a:effectLst/>
              <a:uLnTx/>
              <a:uFillTx/>
              <a:cs typeface="Arial"/>
            </a:endParaRPr>
          </a:p>
        </p:txBody>
      </p:sp>
      <p:sp>
        <p:nvSpPr>
          <p:cNvPr id="4" name="Flowchart: Connector 3">
            <a:extLst>
              <a:ext uri="{FF2B5EF4-FFF2-40B4-BE49-F238E27FC236}">
                <a16:creationId xmlns:a16="http://schemas.microsoft.com/office/drawing/2014/main" id="{92B970BA-829C-E99A-84B9-05D9BB84024B}"/>
              </a:ext>
            </a:extLst>
          </p:cNvPr>
          <p:cNvSpPr/>
          <p:nvPr/>
        </p:nvSpPr>
        <p:spPr>
          <a:xfrm>
            <a:off x="5226813" y="1403331"/>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7" name="Flowchart: Connector 6">
            <a:extLst>
              <a:ext uri="{FF2B5EF4-FFF2-40B4-BE49-F238E27FC236}">
                <a16:creationId xmlns:a16="http://schemas.microsoft.com/office/drawing/2014/main" id="{B47CA5BA-1C44-320B-7E55-78EB347DB52A}"/>
              </a:ext>
            </a:extLst>
          </p:cNvPr>
          <p:cNvSpPr/>
          <p:nvPr/>
        </p:nvSpPr>
        <p:spPr>
          <a:xfrm>
            <a:off x="6096000" y="1415012"/>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12" name="Flowchart: Connector 11">
            <a:extLst>
              <a:ext uri="{FF2B5EF4-FFF2-40B4-BE49-F238E27FC236}">
                <a16:creationId xmlns:a16="http://schemas.microsoft.com/office/drawing/2014/main" id="{F89B16D8-69F1-0B3F-25AA-F471603BEFEC}"/>
              </a:ext>
            </a:extLst>
          </p:cNvPr>
          <p:cNvSpPr/>
          <p:nvPr/>
        </p:nvSpPr>
        <p:spPr>
          <a:xfrm>
            <a:off x="7782745" y="2297315"/>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Tree>
    <p:extLst>
      <p:ext uri="{BB962C8B-B14F-4D97-AF65-F5344CB8AC3E}">
        <p14:creationId xmlns:p14="http://schemas.microsoft.com/office/powerpoint/2010/main" val="37321071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BEDEFF-8561-1515-C887-72FCE4ADB49B}"/>
            </a:ext>
          </a:extLst>
        </p:cNvPr>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EE0C762F-274F-1AA4-BEB3-337317A1164C}"/>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8" imgH="408" progId="TCLayout.ActiveDocument.1">
                  <p:embed/>
                </p:oleObj>
              </mc:Choice>
              <mc:Fallback>
                <p:oleObj name="think-cell Slide" r:id="rId4" imgW="408" imgH="408" progId="TCLayout.ActiveDocument.1">
                  <p:embed/>
                  <p:pic>
                    <p:nvPicPr>
                      <p:cNvPr id="9" name="think-cell data - do not delete" hidden="1">
                        <a:extLst>
                          <a:ext uri="{FF2B5EF4-FFF2-40B4-BE49-F238E27FC236}">
                            <a16:creationId xmlns:a16="http://schemas.microsoft.com/office/drawing/2014/main" id="{EE0C762F-274F-1AA4-BEB3-337317A1164C}"/>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graphicFrame>
        <p:nvGraphicFramePr>
          <p:cNvPr id="32" name="Group 614">
            <a:extLst>
              <a:ext uri="{FF2B5EF4-FFF2-40B4-BE49-F238E27FC236}">
                <a16:creationId xmlns:a16="http://schemas.microsoft.com/office/drawing/2014/main" id="{5A905C81-EC58-CD7A-14BB-AEE8852BA4CC}"/>
              </a:ext>
            </a:extLst>
          </p:cNvPr>
          <p:cNvGraphicFramePr>
            <a:graphicFrameLocks noGrp="1"/>
          </p:cNvGraphicFramePr>
          <p:nvPr/>
        </p:nvGraphicFramePr>
        <p:xfrm>
          <a:off x="4961437" y="6480103"/>
          <a:ext cx="7166325" cy="310524"/>
        </p:xfrm>
        <a:graphic>
          <a:graphicData uri="http://schemas.openxmlformats.org/drawingml/2006/table">
            <a:tbl>
              <a:tblPr/>
              <a:tblGrid>
                <a:gridCol w="608374">
                  <a:extLst>
                    <a:ext uri="{9D8B030D-6E8A-4147-A177-3AD203B41FA5}">
                      <a16:colId xmlns:a16="http://schemas.microsoft.com/office/drawing/2014/main" val="20000"/>
                    </a:ext>
                  </a:extLst>
                </a:gridCol>
                <a:gridCol w="308349">
                  <a:extLst>
                    <a:ext uri="{9D8B030D-6E8A-4147-A177-3AD203B41FA5}">
                      <a16:colId xmlns:a16="http://schemas.microsoft.com/office/drawing/2014/main" val="20001"/>
                    </a:ext>
                  </a:extLst>
                </a:gridCol>
                <a:gridCol w="760019">
                  <a:extLst>
                    <a:ext uri="{9D8B030D-6E8A-4147-A177-3AD203B41FA5}">
                      <a16:colId xmlns:a16="http://schemas.microsoft.com/office/drawing/2014/main" val="20002"/>
                    </a:ext>
                  </a:extLst>
                </a:gridCol>
                <a:gridCol w="303785">
                  <a:extLst>
                    <a:ext uri="{9D8B030D-6E8A-4147-A177-3AD203B41FA5}">
                      <a16:colId xmlns:a16="http://schemas.microsoft.com/office/drawing/2014/main" val="20003"/>
                    </a:ext>
                  </a:extLst>
                </a:gridCol>
                <a:gridCol w="667455">
                  <a:extLst>
                    <a:ext uri="{9D8B030D-6E8A-4147-A177-3AD203B41FA5}">
                      <a16:colId xmlns:a16="http://schemas.microsoft.com/office/drawing/2014/main" val="20004"/>
                    </a:ext>
                  </a:extLst>
                </a:gridCol>
                <a:gridCol w="519690">
                  <a:extLst>
                    <a:ext uri="{9D8B030D-6E8A-4147-A177-3AD203B41FA5}">
                      <a16:colId xmlns:a16="http://schemas.microsoft.com/office/drawing/2014/main" val="20005"/>
                    </a:ext>
                  </a:extLst>
                </a:gridCol>
                <a:gridCol w="570296">
                  <a:extLst>
                    <a:ext uri="{9D8B030D-6E8A-4147-A177-3AD203B41FA5}">
                      <a16:colId xmlns:a16="http://schemas.microsoft.com/office/drawing/2014/main" val="20006"/>
                    </a:ext>
                  </a:extLst>
                </a:gridCol>
                <a:gridCol w="370169">
                  <a:extLst>
                    <a:ext uri="{9D8B030D-6E8A-4147-A177-3AD203B41FA5}">
                      <a16:colId xmlns:a16="http://schemas.microsoft.com/office/drawing/2014/main" val="20007"/>
                    </a:ext>
                  </a:extLst>
                </a:gridCol>
                <a:gridCol w="1376415">
                  <a:extLst>
                    <a:ext uri="{9D8B030D-6E8A-4147-A177-3AD203B41FA5}">
                      <a16:colId xmlns:a16="http://schemas.microsoft.com/office/drawing/2014/main" val="20008"/>
                    </a:ext>
                  </a:extLst>
                </a:gridCol>
                <a:gridCol w="379427">
                  <a:extLst>
                    <a:ext uri="{9D8B030D-6E8A-4147-A177-3AD203B41FA5}">
                      <a16:colId xmlns:a16="http://schemas.microsoft.com/office/drawing/2014/main" val="20009"/>
                    </a:ext>
                  </a:extLst>
                </a:gridCol>
                <a:gridCol w="1302346">
                  <a:extLst>
                    <a:ext uri="{9D8B030D-6E8A-4147-A177-3AD203B41FA5}">
                      <a16:colId xmlns:a16="http://schemas.microsoft.com/office/drawing/2014/main" val="20010"/>
                    </a:ext>
                  </a:extLst>
                </a:gridCol>
              </a:tblGrid>
              <a:tr h="309128">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Arial" charset="0"/>
                          <a:cs typeface="Arial" charset="0"/>
                        </a:rPr>
                        <a:t>Status Key</a:t>
                      </a:r>
                      <a:endParaRPr kumimoji="0" lang="en-GB" sz="1600" b="0" i="0" u="none" strike="noStrike" cap="none" normalizeH="0" baseline="0">
                        <a:ln>
                          <a:noFill/>
                        </a:ln>
                        <a:solidFill>
                          <a:srgbClr val="002060"/>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mj-lt"/>
                        </a:rPr>
                        <a:t>C</a:t>
                      </a: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Arial" charset="0"/>
                          <a:cs typeface="Arial" charset="0"/>
                        </a:rPr>
                        <a:t>Completed</a:t>
                      </a:r>
                      <a:endParaRPr kumimoji="0" lang="en-GB" sz="1600" b="0" i="0" u="none" strike="noStrike" cap="none" normalizeH="0" baseline="0">
                        <a:ln>
                          <a:noFill/>
                        </a:ln>
                        <a:solidFill>
                          <a:srgbClr val="002060"/>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On-Schedule</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Major Issues</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Some Issues</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NS</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Not Started</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2" name="Title 1">
            <a:extLst>
              <a:ext uri="{FF2B5EF4-FFF2-40B4-BE49-F238E27FC236}">
                <a16:creationId xmlns:a16="http://schemas.microsoft.com/office/drawing/2014/main" id="{9D13CD3E-75EE-5E4F-4ACC-FC68B37D22B7}"/>
              </a:ext>
            </a:extLst>
          </p:cNvPr>
          <p:cNvSpPr>
            <a:spLocks noGrp="1"/>
          </p:cNvSpPr>
          <p:nvPr>
            <p:ph type="title"/>
          </p:nvPr>
        </p:nvSpPr>
        <p:spPr>
          <a:xfrm>
            <a:off x="187319" y="300761"/>
            <a:ext cx="9173315" cy="518351"/>
          </a:xfrm>
        </p:spPr>
        <p:txBody>
          <a:bodyPr vert="horz">
            <a:normAutofit fontScale="90000"/>
          </a:bodyPr>
          <a:lstStyle/>
          <a:p>
            <a:r>
              <a:rPr lang="en-US" sz="2700" b="1">
                <a:solidFill>
                  <a:srgbClr val="29389F"/>
                </a:solidFill>
                <a:latin typeface="Arial" pitchFamily="34" charset="0"/>
                <a:cs typeface="Arial" pitchFamily="34" charset="0"/>
              </a:rPr>
              <a:t>MPI Underwriting Optimization MVP 2</a:t>
            </a:r>
            <a:br>
              <a:rPr lang="en-US" sz="2700" b="1">
                <a:solidFill>
                  <a:srgbClr val="29389F"/>
                </a:solidFill>
                <a:latin typeface="Arial" pitchFamily="34" charset="0"/>
                <a:cs typeface="Arial" pitchFamily="34" charset="0"/>
              </a:rPr>
            </a:br>
            <a:r>
              <a:rPr lang="en-US" sz="1600">
                <a:solidFill>
                  <a:srgbClr val="0070C0"/>
                </a:solidFill>
                <a:latin typeface="Arial" panose="020B0604020202020204" pitchFamily="34" charset="0"/>
                <a:cs typeface="Arial" panose="020B0604020202020204" pitchFamily="34" charset="0"/>
              </a:rPr>
              <a:t>Increase new business writings by simplifying point-of-sale underwriting and accelerating rule-based decisions</a:t>
            </a:r>
          </a:p>
        </p:txBody>
      </p:sp>
      <p:graphicFrame>
        <p:nvGraphicFramePr>
          <p:cNvPr id="11" name="Group 513">
            <a:extLst>
              <a:ext uri="{FF2B5EF4-FFF2-40B4-BE49-F238E27FC236}">
                <a16:creationId xmlns:a16="http://schemas.microsoft.com/office/drawing/2014/main" id="{198007F7-3108-7033-605A-70B4714BBF71}"/>
              </a:ext>
            </a:extLst>
          </p:cNvPr>
          <p:cNvGraphicFramePr>
            <a:graphicFrameLocks noGrp="1"/>
          </p:cNvGraphicFramePr>
          <p:nvPr>
            <p:extLst>
              <p:ext uri="{D42A27DB-BD31-4B8C-83A1-F6EECF244321}">
                <p14:modId xmlns:p14="http://schemas.microsoft.com/office/powerpoint/2010/main" val="3280751152"/>
              </p:ext>
            </p:extLst>
          </p:nvPr>
        </p:nvGraphicFramePr>
        <p:xfrm>
          <a:off x="210457" y="899886"/>
          <a:ext cx="2580804" cy="417297"/>
        </p:xfrm>
        <a:graphic>
          <a:graphicData uri="http://schemas.openxmlformats.org/drawingml/2006/table">
            <a:tbl>
              <a:tblPr/>
              <a:tblGrid>
                <a:gridCol w="963973">
                  <a:extLst>
                    <a:ext uri="{9D8B030D-6E8A-4147-A177-3AD203B41FA5}">
                      <a16:colId xmlns:a16="http://schemas.microsoft.com/office/drawing/2014/main" val="20000"/>
                    </a:ext>
                  </a:extLst>
                </a:gridCol>
                <a:gridCol w="1616831">
                  <a:extLst>
                    <a:ext uri="{9D8B030D-6E8A-4147-A177-3AD203B41FA5}">
                      <a16:colId xmlns:a16="http://schemas.microsoft.com/office/drawing/2014/main" val="20001"/>
                    </a:ext>
                  </a:extLst>
                </a:gridCol>
              </a:tblGrid>
              <a:tr h="417297">
                <a:tc>
                  <a:txBody>
                    <a:bodyPr/>
                    <a:lstStyle/>
                    <a:p>
                      <a:pPr marL="0" marR="0" lvl="0" indent="0" algn="l" defTabSz="914400" rtl="0" eaLnBrk="0" fontAlgn="base" latinLnBrk="0" hangingPunct="0">
                        <a:lnSpc>
                          <a:spcPct val="95000"/>
                        </a:lnSpc>
                        <a:spcBef>
                          <a:spcPct val="0"/>
                        </a:spcBef>
                        <a:spcAft>
                          <a:spcPct val="50000"/>
                        </a:spcAft>
                        <a:buClrTx/>
                        <a:buSzTx/>
                        <a:buFontTx/>
                        <a:buNone/>
                        <a:tabLst/>
                      </a:pPr>
                      <a:r>
                        <a:rPr kumimoji="0" lang="en-GB" sz="1050" b="1" i="0" u="none" strike="noStrike" kern="1200" cap="none" normalizeH="0" baseline="0">
                          <a:ln>
                            <a:noFill/>
                          </a:ln>
                          <a:solidFill>
                            <a:schemeClr val="bg1"/>
                          </a:solidFill>
                          <a:effectLst/>
                          <a:latin typeface="Arial"/>
                          <a:ea typeface="+mn-ea"/>
                          <a:cs typeface="+mn-cs"/>
                        </a:rPr>
                        <a:t>Status Date:</a:t>
                      </a:r>
                    </a:p>
                  </a:txBody>
                  <a:tcPr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lang="en-GB" sz="850" b="1" i="0" u="none" strike="noStrike" kern="1200" cap="none" normalizeH="0" baseline="0">
                          <a:ln>
                            <a:noFill/>
                          </a:ln>
                          <a:solidFill>
                            <a:schemeClr val="tx1"/>
                          </a:solidFill>
                          <a:effectLst/>
                          <a:latin typeface="Aptos"/>
                          <a:ea typeface="+mn-ea"/>
                          <a:cs typeface="+mn-cs"/>
                        </a:rPr>
                        <a:t>8/28/2026</a:t>
                      </a:r>
                    </a:p>
                  </a:txBody>
                  <a:tcPr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14" name="Table 13">
            <a:extLst>
              <a:ext uri="{FF2B5EF4-FFF2-40B4-BE49-F238E27FC236}">
                <a16:creationId xmlns:a16="http://schemas.microsoft.com/office/drawing/2014/main" id="{2F2E5442-4FF7-4B8D-96D8-E4B29E20BF80}"/>
              </a:ext>
            </a:extLst>
          </p:cNvPr>
          <p:cNvGraphicFramePr>
            <a:graphicFrameLocks noGrp="1"/>
          </p:cNvGraphicFramePr>
          <p:nvPr>
            <p:extLst>
              <p:ext uri="{D42A27DB-BD31-4B8C-83A1-F6EECF244321}">
                <p14:modId xmlns:p14="http://schemas.microsoft.com/office/powerpoint/2010/main" val="4123894265"/>
              </p:ext>
            </p:extLst>
          </p:nvPr>
        </p:nvGraphicFramePr>
        <p:xfrm>
          <a:off x="6683710" y="899886"/>
          <a:ext cx="5441873" cy="798590"/>
        </p:xfrm>
        <a:graphic>
          <a:graphicData uri="http://schemas.openxmlformats.org/drawingml/2006/table">
            <a:tbl>
              <a:tblPr>
                <a:tableStyleId>{5C22544A-7EE6-4342-B048-85BDC9FD1C3A}</a:tableStyleId>
              </a:tblPr>
              <a:tblGrid>
                <a:gridCol w="1062819">
                  <a:extLst>
                    <a:ext uri="{9D8B030D-6E8A-4147-A177-3AD203B41FA5}">
                      <a16:colId xmlns:a16="http://schemas.microsoft.com/office/drawing/2014/main" val="2456552316"/>
                    </a:ext>
                  </a:extLst>
                </a:gridCol>
                <a:gridCol w="942006">
                  <a:extLst>
                    <a:ext uri="{9D8B030D-6E8A-4147-A177-3AD203B41FA5}">
                      <a16:colId xmlns:a16="http://schemas.microsoft.com/office/drawing/2014/main" val="2327174630"/>
                    </a:ext>
                  </a:extLst>
                </a:gridCol>
                <a:gridCol w="1540306">
                  <a:extLst>
                    <a:ext uri="{9D8B030D-6E8A-4147-A177-3AD203B41FA5}">
                      <a16:colId xmlns:a16="http://schemas.microsoft.com/office/drawing/2014/main" val="1100051595"/>
                    </a:ext>
                  </a:extLst>
                </a:gridCol>
                <a:gridCol w="929277">
                  <a:extLst>
                    <a:ext uri="{9D8B030D-6E8A-4147-A177-3AD203B41FA5}">
                      <a16:colId xmlns:a16="http://schemas.microsoft.com/office/drawing/2014/main" val="2042261034"/>
                    </a:ext>
                  </a:extLst>
                </a:gridCol>
                <a:gridCol w="967465">
                  <a:extLst>
                    <a:ext uri="{9D8B030D-6E8A-4147-A177-3AD203B41FA5}">
                      <a16:colId xmlns:a16="http://schemas.microsoft.com/office/drawing/2014/main" val="2815874248"/>
                    </a:ext>
                  </a:extLst>
                </a:gridCol>
              </a:tblGrid>
              <a:tr h="390395">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2026 Budget</a:t>
                      </a:r>
                      <a:r>
                        <a:rPr lang="en-US" sz="1050" b="1" i="0" u="none" strike="noStrike" kern="1200" cap="none" normalizeH="0" baseline="0">
                          <a:ln>
                            <a:noFill/>
                          </a:ln>
                          <a:solidFill>
                            <a:schemeClr val="bg1"/>
                          </a:solidFill>
                          <a:effectLst/>
                          <a:latin typeface="Arial"/>
                          <a:ea typeface="+mn-ea"/>
                          <a:cs typeface="+mn-cs"/>
                        </a:rPr>
                        <a:t> </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YTD Actuals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Remaining 2026 Forecast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Current YE Forecast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Total Estimate</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408195">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lang="en-US" sz="850" b="1" i="0" u="none" strike="noStrike" kern="1200" cap="none" normalizeH="0" baseline="0">
                          <a:ln>
                            <a:noFill/>
                          </a:ln>
                          <a:solidFill>
                            <a:schemeClr val="tx1"/>
                          </a:solidFill>
                          <a:effectLst/>
                          <a:latin typeface="Aptos"/>
                          <a:ea typeface="+mn-ea"/>
                          <a:cs typeface="+mn-cs"/>
                        </a:rPr>
                        <a:t>$1,120,000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lang="en-US" sz="850" b="1" i="0" u="none" strike="noStrike" kern="1200" cap="none" normalizeH="0" baseline="0">
                          <a:ln>
                            <a:noFill/>
                          </a:ln>
                          <a:solidFill>
                            <a:schemeClr val="tx1"/>
                          </a:solidFill>
                          <a:effectLst/>
                          <a:latin typeface="Aptos"/>
                          <a:ea typeface="+mn-ea"/>
                          <a:cs typeface="+mn-cs"/>
                        </a:rPr>
                        <a:t>$191,445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defRPr/>
                      </a:pPr>
                      <a:r>
                        <a:rPr lang="en-US" sz="850" b="1" i="0" u="none" strike="noStrike" kern="1200" cap="none" normalizeH="0" baseline="0">
                          <a:ln>
                            <a:noFill/>
                          </a:ln>
                          <a:solidFill>
                            <a:schemeClr val="tx1"/>
                          </a:solidFill>
                          <a:effectLst/>
                          <a:latin typeface="Aptos"/>
                          <a:ea typeface="+mn-ea"/>
                          <a:cs typeface="+mn-cs"/>
                        </a:rPr>
                        <a:t>$925,157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lang="en-US" sz="850" b="1" i="0" u="none" strike="noStrike" kern="1200" cap="none" normalizeH="0" baseline="0">
                          <a:ln>
                            <a:noFill/>
                          </a:ln>
                          <a:solidFill>
                            <a:schemeClr val="tx1"/>
                          </a:solidFill>
                          <a:effectLst/>
                          <a:latin typeface="Aptos"/>
                          <a:ea typeface="+mn-ea"/>
                          <a:cs typeface="+mn-cs"/>
                        </a:rPr>
                        <a:t>$1,116,603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lang="en-US" sz="850" b="1" i="0" u="none" strike="noStrike" kern="1200" cap="none" normalizeH="0" baseline="0">
                          <a:ln>
                            <a:noFill/>
                          </a:ln>
                          <a:solidFill>
                            <a:schemeClr val="tx1"/>
                          </a:solidFill>
                          <a:effectLst/>
                          <a:latin typeface="Aptos"/>
                          <a:ea typeface="+mn-ea"/>
                          <a:cs typeface="+mn-cs"/>
                        </a:rPr>
                        <a:t>$1,116,603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7499024"/>
                  </a:ext>
                </a:extLst>
              </a:tr>
            </a:tbl>
          </a:graphicData>
        </a:graphic>
      </p:graphicFrame>
      <p:graphicFrame>
        <p:nvGraphicFramePr>
          <p:cNvPr id="25" name="Table 24">
            <a:extLst>
              <a:ext uri="{FF2B5EF4-FFF2-40B4-BE49-F238E27FC236}">
                <a16:creationId xmlns:a16="http://schemas.microsoft.com/office/drawing/2014/main" id="{487D660B-BAB5-7808-3341-8840B62DC3AC}"/>
              </a:ext>
            </a:extLst>
          </p:cNvPr>
          <p:cNvGraphicFramePr>
            <a:graphicFrameLocks noGrp="1"/>
          </p:cNvGraphicFramePr>
          <p:nvPr/>
        </p:nvGraphicFramePr>
        <p:xfrm>
          <a:off x="2808514" y="907142"/>
          <a:ext cx="3875197" cy="780582"/>
        </p:xfrm>
        <a:graphic>
          <a:graphicData uri="http://schemas.openxmlformats.org/drawingml/2006/table">
            <a:tbl>
              <a:tblPr>
                <a:tableStyleId>{5C22544A-7EE6-4342-B048-85BDC9FD1C3A}</a:tableStyleId>
              </a:tblPr>
              <a:tblGrid>
                <a:gridCol w="1054656">
                  <a:extLst>
                    <a:ext uri="{9D8B030D-6E8A-4147-A177-3AD203B41FA5}">
                      <a16:colId xmlns:a16="http://schemas.microsoft.com/office/drawing/2014/main" val="2456552316"/>
                    </a:ext>
                  </a:extLst>
                </a:gridCol>
                <a:gridCol w="972741">
                  <a:extLst>
                    <a:ext uri="{9D8B030D-6E8A-4147-A177-3AD203B41FA5}">
                      <a16:colId xmlns:a16="http://schemas.microsoft.com/office/drawing/2014/main" val="1100051595"/>
                    </a:ext>
                  </a:extLst>
                </a:gridCol>
                <a:gridCol w="931784">
                  <a:extLst>
                    <a:ext uri="{9D8B030D-6E8A-4147-A177-3AD203B41FA5}">
                      <a16:colId xmlns:a16="http://schemas.microsoft.com/office/drawing/2014/main" val="2042261034"/>
                    </a:ext>
                  </a:extLst>
                </a:gridCol>
                <a:gridCol w="916016">
                  <a:extLst>
                    <a:ext uri="{9D8B030D-6E8A-4147-A177-3AD203B41FA5}">
                      <a16:colId xmlns:a16="http://schemas.microsoft.com/office/drawing/2014/main" val="2815874248"/>
                    </a:ext>
                  </a:extLst>
                </a:gridCol>
              </a:tblGrid>
              <a:tr h="425772">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Overall</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Scope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Schedule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Financials</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354810">
                <a:tc>
                  <a:txBody>
                    <a:bodyPr/>
                    <a:lstStyle/>
                    <a:p>
                      <a:pPr marL="0" marR="0" lvl="0" indent="0" algn="ctr" rtl="0" eaLnBrk="1" fontAlgn="ctr" latinLnBrk="0" hangingPunct="1">
                        <a:lnSpc>
                          <a:spcPct val="95000"/>
                        </a:lnSpc>
                        <a:spcBef>
                          <a:spcPct val="0"/>
                        </a:spcBef>
                        <a:spcAft>
                          <a:spcPct val="50000"/>
                        </a:spcAft>
                        <a:buClrTx/>
                        <a:buSzTx/>
                        <a:buFontTx/>
                        <a:buNone/>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rtl="0" eaLnBrk="1" fontAlgn="ctr" latinLnBrk="0" hangingPunct="1">
                        <a:lnSpc>
                          <a:spcPct val="95000"/>
                        </a:lnSpc>
                        <a:spcBef>
                          <a:spcPct val="0"/>
                        </a:spcBef>
                        <a:spcAft>
                          <a:spcPct val="50000"/>
                        </a:spcAft>
                        <a:buClrTx/>
                        <a:buSzTx/>
                        <a:buFontTx/>
                        <a:buNone/>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7499024"/>
                  </a:ext>
                </a:extLst>
              </a:tr>
            </a:tbl>
          </a:graphicData>
        </a:graphic>
      </p:graphicFrame>
      <p:graphicFrame>
        <p:nvGraphicFramePr>
          <p:cNvPr id="26" name="Group 513">
            <a:extLst>
              <a:ext uri="{FF2B5EF4-FFF2-40B4-BE49-F238E27FC236}">
                <a16:creationId xmlns:a16="http://schemas.microsoft.com/office/drawing/2014/main" id="{142776A0-9C2E-4501-087B-D771F76BB1A6}"/>
              </a:ext>
            </a:extLst>
          </p:cNvPr>
          <p:cNvGraphicFramePr>
            <a:graphicFrameLocks noGrp="1"/>
          </p:cNvGraphicFramePr>
          <p:nvPr>
            <p:extLst>
              <p:ext uri="{D42A27DB-BD31-4B8C-83A1-F6EECF244321}">
                <p14:modId xmlns:p14="http://schemas.microsoft.com/office/powerpoint/2010/main" val="2476760922"/>
              </p:ext>
            </p:extLst>
          </p:nvPr>
        </p:nvGraphicFramePr>
        <p:xfrm>
          <a:off x="210457" y="1299292"/>
          <a:ext cx="2616488" cy="395688"/>
        </p:xfrm>
        <a:graphic>
          <a:graphicData uri="http://schemas.openxmlformats.org/drawingml/2006/table">
            <a:tbl>
              <a:tblPr/>
              <a:tblGrid>
                <a:gridCol w="974103">
                  <a:extLst>
                    <a:ext uri="{9D8B030D-6E8A-4147-A177-3AD203B41FA5}">
                      <a16:colId xmlns:a16="http://schemas.microsoft.com/office/drawing/2014/main" val="20000"/>
                    </a:ext>
                  </a:extLst>
                </a:gridCol>
                <a:gridCol w="1642385">
                  <a:extLst>
                    <a:ext uri="{9D8B030D-6E8A-4147-A177-3AD203B41FA5}">
                      <a16:colId xmlns:a16="http://schemas.microsoft.com/office/drawing/2014/main" val="20001"/>
                    </a:ext>
                  </a:extLst>
                </a:gridCol>
              </a:tblGrid>
              <a:tr h="388432">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GB" sz="1050" b="1" i="0" u="none" strike="noStrike" kern="1200" cap="none" normalizeH="0" baseline="0">
                          <a:ln>
                            <a:noFill/>
                          </a:ln>
                          <a:solidFill>
                            <a:schemeClr val="bg1"/>
                          </a:solidFill>
                          <a:effectLst/>
                          <a:latin typeface="Arial"/>
                          <a:ea typeface="+mn-ea"/>
                          <a:cs typeface="+mn-cs"/>
                        </a:rPr>
                        <a:t>Target Delivery:</a:t>
                      </a:r>
                    </a:p>
                  </a:txBody>
                  <a:tcPr marL="0" marR="0"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lang="en-US" sz="850" b="1" i="0" u="none" strike="noStrike" kern="1200" cap="none" normalizeH="0" baseline="0">
                          <a:ln>
                            <a:noFill/>
                          </a:ln>
                          <a:solidFill>
                            <a:schemeClr val="tx1"/>
                          </a:solidFill>
                          <a:effectLst/>
                          <a:latin typeface="Aptos"/>
                          <a:ea typeface="+mn-ea"/>
                          <a:cs typeface="+mn-cs"/>
                        </a:rPr>
                        <a:t>11/11/2026</a:t>
                      </a:r>
                    </a:p>
                  </a:txBody>
                  <a:tcPr marL="0" marR="0"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27" name="Table 26">
            <a:extLst>
              <a:ext uri="{FF2B5EF4-FFF2-40B4-BE49-F238E27FC236}">
                <a16:creationId xmlns:a16="http://schemas.microsoft.com/office/drawing/2014/main" id="{2EDC2A05-085B-79CF-22C6-9984888CA274}"/>
              </a:ext>
            </a:extLst>
          </p:cNvPr>
          <p:cNvGraphicFramePr>
            <a:graphicFrameLocks noGrp="1"/>
          </p:cNvGraphicFramePr>
          <p:nvPr>
            <p:extLst>
              <p:ext uri="{D42A27DB-BD31-4B8C-83A1-F6EECF244321}">
                <p14:modId xmlns:p14="http://schemas.microsoft.com/office/powerpoint/2010/main" val="1140697133"/>
              </p:ext>
            </p:extLst>
          </p:nvPr>
        </p:nvGraphicFramePr>
        <p:xfrm>
          <a:off x="4973526" y="1766124"/>
          <a:ext cx="7152058" cy="1603295"/>
        </p:xfrm>
        <a:graphic>
          <a:graphicData uri="http://schemas.openxmlformats.org/drawingml/2006/table">
            <a:tbl>
              <a:tblPr>
                <a:tableStyleId>{5C22544A-7EE6-4342-B048-85BDC9FD1C3A}</a:tableStyleId>
              </a:tblPr>
              <a:tblGrid>
                <a:gridCol w="2617796">
                  <a:extLst>
                    <a:ext uri="{9D8B030D-6E8A-4147-A177-3AD203B41FA5}">
                      <a16:colId xmlns:a16="http://schemas.microsoft.com/office/drawing/2014/main" val="2456552316"/>
                    </a:ext>
                  </a:extLst>
                </a:gridCol>
                <a:gridCol w="471301">
                  <a:extLst>
                    <a:ext uri="{9D8B030D-6E8A-4147-A177-3AD203B41FA5}">
                      <a16:colId xmlns:a16="http://schemas.microsoft.com/office/drawing/2014/main" val="1100051595"/>
                    </a:ext>
                  </a:extLst>
                </a:gridCol>
                <a:gridCol w="667909">
                  <a:extLst>
                    <a:ext uri="{9D8B030D-6E8A-4147-A177-3AD203B41FA5}">
                      <a16:colId xmlns:a16="http://schemas.microsoft.com/office/drawing/2014/main" val="2042261034"/>
                    </a:ext>
                  </a:extLst>
                </a:gridCol>
                <a:gridCol w="3395052">
                  <a:extLst>
                    <a:ext uri="{9D8B030D-6E8A-4147-A177-3AD203B41FA5}">
                      <a16:colId xmlns:a16="http://schemas.microsoft.com/office/drawing/2014/main" val="2815874248"/>
                    </a:ext>
                  </a:extLst>
                </a:gridCol>
              </a:tblGrid>
              <a:tr h="309849">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Milestone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Status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Due Date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Notes</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239839">
                <a:tc>
                  <a:txBody>
                    <a:bodyPr/>
                    <a:lstStyle/>
                    <a:p>
                      <a:pPr marL="114300" marR="0" lvl="0" indent="0" algn="l" rtl="0" eaLnBrk="1" fontAlgn="ctr" latinLnBrk="0" hangingPunct="1">
                        <a:lnSpc>
                          <a:spcPct val="95000"/>
                        </a:lnSpc>
                        <a:spcBef>
                          <a:spcPct val="0"/>
                        </a:spcBef>
                        <a:spcAft>
                          <a:spcPct val="50000"/>
                        </a:spcAft>
                        <a:buClrTx/>
                        <a:buSzTx/>
                        <a:buFontTx/>
                        <a:buNone/>
                      </a:pPr>
                      <a:r>
                        <a:rPr lang="en-US" sz="850" b="0" kern="1200">
                          <a:solidFill>
                            <a:schemeClr val="tx1"/>
                          </a:solidFill>
                          <a:effectLst/>
                          <a:latin typeface="+mn-lt"/>
                          <a:ea typeface="+mn-ea"/>
                          <a:cs typeface="+mn-cs"/>
                        </a:rPr>
                        <a:t>MVP2 DDIT start - complete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850" b="0"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r>
                        <a:rPr lang="en-US" sz="850" b="0" strike="noStrike" kern="1200">
                          <a:solidFill>
                            <a:schemeClr val="tx1"/>
                          </a:solidFill>
                          <a:effectLst/>
                          <a:latin typeface="+mn-lt"/>
                          <a:ea typeface="+mn-ea"/>
                          <a:cs typeface="+mn-cs"/>
                        </a:rPr>
                        <a:t>7/9-9/30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eaLnBrk="1" fontAlgn="auto" latinLnBrk="0" hangingPunct="1">
                        <a:lnSpc>
                          <a:spcPts val="600"/>
                        </a:lnSpc>
                        <a:spcBef>
                          <a:spcPts val="300"/>
                        </a:spcBef>
                        <a:spcAft>
                          <a:spcPts val="0"/>
                        </a:spcAft>
                        <a:buClrTx/>
                        <a:buSzTx/>
                        <a:buFontTx/>
                        <a:buNone/>
                      </a:pPr>
                      <a:r>
                        <a:rPr lang="en-US" sz="850" b="0" i="0">
                          <a:solidFill>
                            <a:srgbClr val="000000"/>
                          </a:solidFill>
                          <a:effectLst/>
                          <a:latin typeface="+mn-lt"/>
                        </a:rPr>
                        <a:t>E2E dependency with all other lines is at risk for target Nov release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48893264"/>
                  </a:ext>
                </a:extLst>
              </a:tr>
              <a:tr h="240993">
                <a:tc>
                  <a:txBody>
                    <a:bodyPr/>
                    <a:lstStyle/>
                    <a:p>
                      <a:pPr marL="114300" marR="0" lvl="0" indent="0" algn="l" rtl="0">
                        <a:lnSpc>
                          <a:spcPct val="95000"/>
                        </a:lnSpc>
                        <a:spcBef>
                          <a:spcPct val="0"/>
                        </a:spcBef>
                        <a:spcAft>
                          <a:spcPct val="50000"/>
                        </a:spcAft>
                        <a:buClrTx/>
                        <a:buSzTx/>
                        <a:buFontTx/>
                        <a:buNone/>
                      </a:pPr>
                      <a:r>
                        <a:rPr lang="en-US" sz="850" kern="1200">
                          <a:solidFill>
                            <a:schemeClr val="dk1"/>
                          </a:solidFill>
                          <a:latin typeface="+mn-lt"/>
                          <a:ea typeface="+mn-ea"/>
                          <a:cs typeface="+mn-cs"/>
                        </a:rPr>
                        <a:t>MVP2 </a:t>
                      </a:r>
                      <a:r>
                        <a:rPr lang="en-US" sz="850" b="0" i="0" u="none" strike="noStrike" kern="1200" noProof="0">
                          <a:solidFill>
                            <a:schemeClr val="dk1"/>
                          </a:solidFill>
                          <a:latin typeface="Aptos"/>
                          <a:ea typeface="+mn-ea"/>
                          <a:cs typeface="+mn-cs"/>
                        </a:rPr>
                        <a:t>E2E</a:t>
                      </a:r>
                      <a:endParaRPr lang="en-US" sz="850" kern="1200">
                        <a:solidFill>
                          <a:schemeClr val="dk1"/>
                        </a:solidFill>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defTabSz="914400">
                        <a:buNone/>
                        <a:tabLst/>
                      </a:pPr>
                      <a:r>
                        <a:rPr lang="en-US" sz="850">
                          <a:latin typeface="+mn-lt"/>
                        </a:rPr>
                        <a:t>NS</a:t>
                      </a:r>
                      <a:endParaRPr lang="en-US" sz="850"/>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buNone/>
                      </a:pPr>
                      <a:r>
                        <a:rPr lang="en-US" sz="850" strike="noStrike">
                          <a:latin typeface="+mn-lt"/>
                        </a:rPr>
                        <a:t>10/1- 10/14</a:t>
                      </a:r>
                      <a:endParaRPr lang="en-US" sz="850"/>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l">
                        <a:lnSpc>
                          <a:spcPts val="600"/>
                        </a:lnSpc>
                        <a:spcBef>
                          <a:spcPts val="300"/>
                        </a:spcBef>
                        <a:buNone/>
                      </a:pPr>
                      <a:endParaRPr lang="en-US" sz="850" b="0" i="0">
                        <a:solidFill>
                          <a:srgbClr val="000000"/>
                        </a:solidFill>
                        <a:effectLst/>
                        <a:latin typeface="+mn-lt"/>
                      </a:endParaRPr>
                    </a:p>
                  </a:txBody>
                  <a:tcPr anchor="ct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0">
                      <a:noFill/>
                    </a:lnTlToBr>
                    <a:lnBlToTr w="0">
                      <a:noFill/>
                    </a:lnBlToTr>
                    <a:noFill/>
                  </a:tcPr>
                </a:tc>
                <a:extLst>
                  <a:ext uri="{0D108BD9-81ED-4DB2-BD59-A6C34878D82A}">
                    <a16:rowId xmlns:a16="http://schemas.microsoft.com/office/drawing/2014/main" val="1099244465"/>
                  </a:ext>
                </a:extLst>
              </a:tr>
              <a:tr h="281118">
                <a:tc>
                  <a:txBody>
                    <a:bodyPr/>
                    <a:lstStyle/>
                    <a:p>
                      <a:pPr marL="114300" marR="0" lvl="0" indent="0" algn="l" rtl="0">
                        <a:lnSpc>
                          <a:spcPct val="95000"/>
                        </a:lnSpc>
                        <a:spcBef>
                          <a:spcPct val="0"/>
                        </a:spcBef>
                        <a:spcAft>
                          <a:spcPct val="50000"/>
                        </a:spcAft>
                        <a:buClrTx/>
                        <a:buSzTx/>
                        <a:buFontTx/>
                        <a:buNone/>
                      </a:pPr>
                      <a:r>
                        <a:rPr lang="en-US" sz="850" kern="1200">
                          <a:solidFill>
                            <a:schemeClr val="dk1"/>
                          </a:solidFill>
                          <a:latin typeface="+mn-lt"/>
                          <a:ea typeface="+mn-ea"/>
                          <a:cs typeface="+mn-cs"/>
                        </a:rPr>
                        <a:t>MVP2 </a:t>
                      </a:r>
                      <a:r>
                        <a:rPr lang="en-US" sz="850" b="0" i="0" u="none" strike="noStrike" kern="1200" noProof="0">
                          <a:solidFill>
                            <a:schemeClr val="dk1"/>
                          </a:solidFill>
                          <a:latin typeface="Aptos"/>
                          <a:ea typeface="+mn-ea"/>
                          <a:cs typeface="+mn-cs"/>
                        </a:rPr>
                        <a:t>Business UAT/Sign off Complete</a:t>
                      </a:r>
                      <a:endParaRPr lang="en-US" sz="850" kern="1200">
                        <a:solidFill>
                          <a:schemeClr val="dk1"/>
                        </a:solidFill>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buNone/>
                      </a:pPr>
                      <a:r>
                        <a:rPr lang="en-US" sz="850">
                          <a:latin typeface="+mn-lt"/>
                        </a:rPr>
                        <a:t>NS</a:t>
                      </a:r>
                      <a:endParaRPr lang="en-US" sz="850"/>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buNone/>
                      </a:pPr>
                      <a:r>
                        <a:rPr lang="en-US" sz="850" strike="noStrike">
                          <a:latin typeface="+mn-lt"/>
                        </a:rPr>
                        <a:t>10/15-10/30</a:t>
                      </a:r>
                      <a:endParaRPr lang="en-US" sz="850"/>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l">
                        <a:lnSpc>
                          <a:spcPct val="100000"/>
                        </a:lnSpc>
                        <a:spcBef>
                          <a:spcPts val="0"/>
                        </a:spcBef>
                        <a:spcAft>
                          <a:spcPts val="0"/>
                        </a:spcAft>
                        <a:buNone/>
                      </a:pPr>
                      <a:endParaRPr lang="en-US" sz="850" b="0" i="0" kern="1200" noProof="0">
                        <a:solidFill>
                          <a:srgbClr val="000000"/>
                        </a:solidFill>
                        <a:effectLst/>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87139067"/>
                  </a:ext>
                </a:extLst>
              </a:tr>
              <a:tr h="276287">
                <a:tc>
                  <a:txBody>
                    <a:bodyPr/>
                    <a:lstStyle/>
                    <a:p>
                      <a:pPr marL="114300" marR="0" lvl="0" indent="0" algn="l" rtl="0">
                        <a:lnSpc>
                          <a:spcPct val="95000"/>
                        </a:lnSpc>
                        <a:spcBef>
                          <a:spcPct val="0"/>
                        </a:spcBef>
                        <a:spcAft>
                          <a:spcPct val="50000"/>
                        </a:spcAft>
                        <a:buClrTx/>
                        <a:buSzTx/>
                        <a:buFontTx/>
                        <a:buNone/>
                      </a:pPr>
                      <a:r>
                        <a:rPr lang="en-US" sz="850" kern="1200">
                          <a:solidFill>
                            <a:schemeClr val="dk1"/>
                          </a:solidFill>
                          <a:latin typeface="+mn-lt"/>
                          <a:ea typeface="+mn-ea"/>
                          <a:cs typeface="+mn-cs"/>
                        </a:rPr>
                        <a:t>MVP2 Go No/Go</a:t>
                      </a:r>
                      <a:endParaRPr lang="en-US" sz="850"/>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buNone/>
                      </a:pPr>
                      <a:r>
                        <a:rPr lang="en-US" sz="850">
                          <a:latin typeface="+mn-lt"/>
                        </a:rPr>
                        <a:t>NS</a:t>
                      </a:r>
                      <a:endParaRPr lang="en-US" sz="850"/>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buNone/>
                      </a:pPr>
                      <a:r>
                        <a:rPr lang="en-US" sz="850" strike="noStrike">
                          <a:latin typeface="+mn-lt"/>
                        </a:rPr>
                        <a:t>11/2</a:t>
                      </a:r>
                      <a:endParaRPr lang="en-US" sz="850"/>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eaLnBrk="1" fontAlgn="base" latinLnBrk="0" hangingPunct="1">
                        <a:lnSpc>
                          <a:spcPct val="100000"/>
                        </a:lnSpc>
                        <a:spcBef>
                          <a:spcPts val="200"/>
                        </a:spcBef>
                        <a:spcAft>
                          <a:spcPts val="0"/>
                        </a:spcAft>
                        <a:buClrTx/>
                        <a:buSzTx/>
                        <a:buFontTx/>
                        <a:buNone/>
                      </a:pPr>
                      <a:endParaRPr lang="en-US" sz="850" b="0" i="0">
                        <a:solidFill>
                          <a:srgbClr val="000000"/>
                        </a:solidFill>
                        <a:effectLst/>
                        <a:latin typeface="+mn-lt"/>
                        <a:cs typeface="Times New Roman"/>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59181009"/>
                  </a:ext>
                </a:extLst>
              </a:tr>
              <a:tr h="255209">
                <a:tc>
                  <a:txBody>
                    <a:bodyPr/>
                    <a:lstStyle/>
                    <a:p>
                      <a:pPr marL="114300" marR="0" lvl="0" indent="0" algn="l" rtl="0">
                        <a:lnSpc>
                          <a:spcPct val="95000"/>
                        </a:lnSpc>
                        <a:spcBef>
                          <a:spcPct val="0"/>
                        </a:spcBef>
                        <a:spcAft>
                          <a:spcPct val="50000"/>
                        </a:spcAft>
                        <a:buClrTx/>
                        <a:buSzTx/>
                        <a:buFontTx/>
                        <a:buNone/>
                      </a:pPr>
                      <a:r>
                        <a:rPr lang="en-US" sz="850" kern="1200">
                          <a:solidFill>
                            <a:schemeClr val="dk1"/>
                          </a:solidFill>
                          <a:latin typeface="+mn-lt"/>
                          <a:ea typeface="+mn-ea"/>
                          <a:cs typeface="+mn-cs"/>
                        </a:rPr>
                        <a:t>MVP2 Delivery to Production</a:t>
                      </a:r>
                      <a:endParaRPr lang="en-US" sz="850"/>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buNone/>
                      </a:pPr>
                      <a:r>
                        <a:rPr lang="en-US" sz="850">
                          <a:latin typeface="+mn-lt"/>
                        </a:rPr>
                        <a:t>NS</a:t>
                      </a:r>
                      <a:endParaRPr lang="en-US" sz="850"/>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buNone/>
                      </a:pPr>
                      <a:r>
                        <a:rPr lang="en-US" sz="850" strike="noStrike">
                          <a:latin typeface="+mn-lt"/>
                        </a:rPr>
                        <a:t>11/11</a:t>
                      </a:r>
                      <a:endParaRPr lang="en-US" sz="850"/>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ts val="200"/>
                        </a:spcBef>
                        <a:spcAft>
                          <a:spcPts val="0"/>
                        </a:spcAft>
                        <a:buClrTx/>
                        <a:buSzTx/>
                        <a:buFontTx/>
                        <a:buNone/>
                        <a:tabLst/>
                        <a:defRPr/>
                      </a:pPr>
                      <a:endParaRPr lang="en-US" sz="850" b="0" i="0" u="none" strike="noStrike" kern="100" noProof="0">
                        <a:solidFill>
                          <a:schemeClr val="dk1"/>
                        </a:solidFill>
                        <a:effectLst/>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99732389"/>
                  </a:ext>
                </a:extLst>
              </a:tr>
            </a:tbl>
          </a:graphicData>
        </a:graphic>
      </p:graphicFrame>
      <p:graphicFrame>
        <p:nvGraphicFramePr>
          <p:cNvPr id="29" name="Table 28">
            <a:extLst>
              <a:ext uri="{FF2B5EF4-FFF2-40B4-BE49-F238E27FC236}">
                <a16:creationId xmlns:a16="http://schemas.microsoft.com/office/drawing/2014/main" id="{36FDF05D-3E77-8070-24FD-162F050E1F7F}"/>
              </a:ext>
            </a:extLst>
          </p:cNvPr>
          <p:cNvGraphicFramePr>
            <a:graphicFrameLocks noGrp="1"/>
          </p:cNvGraphicFramePr>
          <p:nvPr>
            <p:extLst>
              <p:ext uri="{D42A27DB-BD31-4B8C-83A1-F6EECF244321}">
                <p14:modId xmlns:p14="http://schemas.microsoft.com/office/powerpoint/2010/main" val="1560514934"/>
              </p:ext>
            </p:extLst>
          </p:nvPr>
        </p:nvGraphicFramePr>
        <p:xfrm>
          <a:off x="4971142" y="3991428"/>
          <a:ext cx="7159661" cy="2397123"/>
        </p:xfrm>
        <a:graphic>
          <a:graphicData uri="http://schemas.openxmlformats.org/drawingml/2006/table">
            <a:tbl>
              <a:tblPr>
                <a:tableStyleId>{5C22544A-7EE6-4342-B048-85BDC9FD1C3A}</a:tableStyleId>
              </a:tblPr>
              <a:tblGrid>
                <a:gridCol w="2641813">
                  <a:extLst>
                    <a:ext uri="{9D8B030D-6E8A-4147-A177-3AD203B41FA5}">
                      <a16:colId xmlns:a16="http://schemas.microsoft.com/office/drawing/2014/main" val="2456552316"/>
                    </a:ext>
                  </a:extLst>
                </a:gridCol>
                <a:gridCol w="518776">
                  <a:extLst>
                    <a:ext uri="{9D8B030D-6E8A-4147-A177-3AD203B41FA5}">
                      <a16:colId xmlns:a16="http://schemas.microsoft.com/office/drawing/2014/main" val="1100051595"/>
                    </a:ext>
                  </a:extLst>
                </a:gridCol>
                <a:gridCol w="576172">
                  <a:extLst>
                    <a:ext uri="{9D8B030D-6E8A-4147-A177-3AD203B41FA5}">
                      <a16:colId xmlns:a16="http://schemas.microsoft.com/office/drawing/2014/main" val="2042261034"/>
                    </a:ext>
                  </a:extLst>
                </a:gridCol>
                <a:gridCol w="3422900">
                  <a:extLst>
                    <a:ext uri="{9D8B030D-6E8A-4147-A177-3AD203B41FA5}">
                      <a16:colId xmlns:a16="http://schemas.microsoft.com/office/drawing/2014/main" val="2815874248"/>
                    </a:ext>
                  </a:extLst>
                </a:gridCol>
              </a:tblGrid>
              <a:tr h="420273">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Critical Risks/Issues</a:t>
                      </a:r>
                      <a:endParaRPr kumimoji="0" lang="en-US" sz="1050" b="1" i="0" u="none" strike="noStrike" kern="1200" cap="none" normalizeH="0" baseline="0">
                        <a:ln>
                          <a:noFill/>
                        </a:ln>
                        <a:solidFill>
                          <a:schemeClr val="bg1"/>
                        </a:solidFill>
                        <a:effectLst/>
                        <a:latin typeface="Arial" charset="0"/>
                        <a:ea typeface="+mn-ea"/>
                        <a:cs typeface="+mn-cs"/>
                      </a:endParaRP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Status</a:t>
                      </a:r>
                    </a:p>
                  </a:txBody>
                  <a:tcPr marL="9525" marR="9525" marT="9525" marB="0" anchor="ct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Target Date</a:t>
                      </a:r>
                    </a:p>
                  </a:txBody>
                  <a:tcPr marL="9525" marR="9525" marT="9525" marB="0" anchor="ctr">
                    <a:lnL w="12700">
                      <a:solidFill>
                        <a:schemeClr val="tx1"/>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Resolution / Mitigation</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1976850">
                <a:tc>
                  <a:txBody>
                    <a:bodyPr/>
                    <a:lstStyle/>
                    <a:p>
                      <a:pPr marL="285750" lvl="0" indent="-285750" algn="l">
                        <a:lnSpc>
                          <a:spcPct val="100000"/>
                        </a:lnSpc>
                        <a:spcBef>
                          <a:spcPts val="0"/>
                        </a:spcBef>
                        <a:spcAft>
                          <a:spcPts val="0"/>
                        </a:spcAft>
                        <a:buFont typeface="Arial"/>
                        <a:buChar char="•"/>
                      </a:pPr>
                      <a:r>
                        <a:rPr lang="en-US" sz="850" b="1" i="0" u="none" strike="noStrike" noProof="0">
                          <a:latin typeface="Aptos" panose="020B0004020202020204" pitchFamily="34" charset="0"/>
                          <a:cs typeface="Segoe UI"/>
                        </a:rPr>
                        <a:t>Open Enrollment Timing Risk:</a:t>
                      </a:r>
                      <a:r>
                        <a:rPr lang="en-US" sz="850" b="0" i="0" u="none" strike="noStrike" noProof="0">
                          <a:latin typeface="Aptos" panose="020B0004020202020204" pitchFamily="34" charset="0"/>
                          <a:cs typeface="Segoe UI"/>
                        </a:rPr>
                        <a:t> The proposed November 11 release occurs during peak Open Enrollment, creating elevated risks for production support, operational readiness, issue resolution, and potential customer impact should post-release issues arise.</a:t>
                      </a:r>
                      <a:endParaRPr lang="en-US" sz="850">
                        <a:latin typeface="Aptos" panose="020B0004020202020204" pitchFamily="34" charset="0"/>
                      </a:endParaRPr>
                    </a:p>
                    <a:p>
                      <a:pPr marL="285750" lvl="0" indent="-285750" algn="l">
                        <a:lnSpc>
                          <a:spcPct val="100000"/>
                        </a:lnSpc>
                        <a:spcBef>
                          <a:spcPts val="0"/>
                        </a:spcBef>
                        <a:spcAft>
                          <a:spcPts val="0"/>
                        </a:spcAft>
                        <a:buFont typeface="Arial"/>
                        <a:buChar char="•"/>
                      </a:pPr>
                      <a:r>
                        <a:rPr lang="en-US" sz="850" b="1" i="0" u="none" strike="noStrike" noProof="0">
                          <a:latin typeface="Aptos" panose="020B0004020202020204" pitchFamily="34" charset="0"/>
                          <a:cs typeface="Segoe UI"/>
                        </a:rPr>
                        <a:t>Cross-Team Dependency Risk:</a:t>
                      </a:r>
                      <a:r>
                        <a:rPr lang="en-US" sz="850" b="0" i="0" u="none" strike="noStrike" noProof="0">
                          <a:latin typeface="Aptos" panose="020B0004020202020204" pitchFamily="34" charset="0"/>
                          <a:cs typeface="Segoe UI"/>
                        </a:rPr>
                        <a:t> MVP2 delivery is dependent on Scrum Sharks completing the Rules Engine/API functionality required by Epic Winners. Delays in API delivery could impact integration, end-to-end testing, and overall release readiness.</a:t>
                      </a:r>
                      <a:endParaRPr lang="en-US" sz="850">
                        <a:latin typeface="Aptos" panose="020B0004020202020204" pitchFamily="34" charset="0"/>
                      </a:endParaRPr>
                    </a:p>
                    <a:p>
                      <a:pPr marL="0" marR="0" lvl="0" indent="0" algn="l" defTabSz="914400">
                        <a:lnSpc>
                          <a:spcPct val="114999"/>
                        </a:lnSpc>
                        <a:spcBef>
                          <a:spcPts val="0"/>
                        </a:spcBef>
                        <a:spcAft>
                          <a:spcPts val="800"/>
                        </a:spcAft>
                        <a:buClrTx/>
                        <a:buSzTx/>
                        <a:buFontTx/>
                        <a:buNone/>
                        <a:tabLst/>
                        <a:defRPr/>
                      </a:pPr>
                      <a:endParaRPr lang="en-US" sz="850">
                        <a:latin typeface="Aptos" panose="020B0004020202020204" pitchFamily="34" charset="0"/>
                      </a:endParaRP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r>
                        <a:rPr lang="en-US" sz="850" b="0" kern="1200">
                          <a:solidFill>
                            <a:schemeClr val="tx1"/>
                          </a:solidFill>
                          <a:effectLst/>
                          <a:latin typeface="Aptos"/>
                          <a:ea typeface="+mn-ea"/>
                          <a:cs typeface="+mn-cs"/>
                        </a:rPr>
                        <a:t>C</a:t>
                      </a:r>
                      <a:endParaRPr lang="en-US" sz="850" b="0" kern="1200">
                        <a:solidFill>
                          <a:schemeClr val="tx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r>
                        <a:rPr lang="en-US" sz="850" b="0" strike="noStrike" kern="1200">
                          <a:solidFill>
                            <a:schemeClr val="tx1"/>
                          </a:solidFill>
                          <a:effectLst/>
                          <a:latin typeface="Aptos" panose="020B0004020202020204" pitchFamily="34" charset="0"/>
                          <a:ea typeface="+mn-ea"/>
                          <a:cs typeface="+mn-cs"/>
                        </a:rPr>
                        <a:t>8/30</a:t>
                      </a:r>
                    </a:p>
                  </a:txBody>
                  <a:tcPr marL="9525" marR="9525" marT="9525" marB="0" anchor="ctr">
                    <a:lnL w="12700">
                      <a:solidFill>
                        <a:schemeClr val="tx1"/>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marR="0" lvl="0" indent="-171450" algn="l" rtl="0" eaLnBrk="1" fontAlgn="base" latinLnBrk="0" hangingPunct="1">
                        <a:lnSpc>
                          <a:spcPct val="100000"/>
                        </a:lnSpc>
                        <a:spcBef>
                          <a:spcPts val="200"/>
                        </a:spcBef>
                        <a:spcAft>
                          <a:spcPts val="0"/>
                        </a:spcAft>
                        <a:buClrTx/>
                        <a:buSzTx/>
                        <a:buFont typeface="Arial" panose="020B0604020202020204" pitchFamily="34" charset="0"/>
                        <a:buChar char="•"/>
                      </a:pPr>
                      <a:r>
                        <a:rPr lang="en-US" sz="850" b="0" i="0" u="none" strike="noStrike" noProof="0">
                          <a:latin typeface="Aptos" panose="020B0004020202020204" pitchFamily="34" charset="0"/>
                          <a:cs typeface="Segoe UI"/>
                        </a:rPr>
                        <a:t>Complete Open Enrollment impact assessment</a:t>
                      </a:r>
                    </a:p>
                    <a:p>
                      <a:pPr marL="171450" marR="0" lvl="0" indent="-171450" algn="l" rtl="0" eaLnBrk="1" fontAlgn="base" latinLnBrk="0" hangingPunct="1">
                        <a:lnSpc>
                          <a:spcPct val="100000"/>
                        </a:lnSpc>
                        <a:spcBef>
                          <a:spcPts val="200"/>
                        </a:spcBef>
                        <a:spcAft>
                          <a:spcPts val="0"/>
                        </a:spcAft>
                        <a:buClrTx/>
                        <a:buSzTx/>
                        <a:buFont typeface="Arial" panose="020B0604020202020204" pitchFamily="34" charset="0"/>
                        <a:buChar char="•"/>
                      </a:pPr>
                      <a:r>
                        <a:rPr lang="en-US" sz="850" b="0" i="0" u="none" strike="noStrike" noProof="0">
                          <a:latin typeface="Aptos"/>
                          <a:cs typeface="Segoe UI"/>
                        </a:rPr>
                        <a:t>Obtain Steering Committee approval, execute enhanced readiness and hypercare plans </a:t>
                      </a:r>
                    </a:p>
                    <a:p>
                      <a:pPr marL="171450" marR="0" lvl="0" indent="-171450" algn="l" rtl="0" eaLnBrk="1" fontAlgn="base" latinLnBrk="0" hangingPunct="1">
                        <a:lnSpc>
                          <a:spcPct val="100000"/>
                        </a:lnSpc>
                        <a:spcBef>
                          <a:spcPts val="200"/>
                        </a:spcBef>
                        <a:spcAft>
                          <a:spcPts val="0"/>
                        </a:spcAft>
                        <a:buClrTx/>
                        <a:buSzTx/>
                        <a:buFont typeface="Arial" panose="020B0604020202020204" pitchFamily="34" charset="0"/>
                        <a:buChar char="•"/>
                      </a:pPr>
                      <a:r>
                        <a:rPr lang="en-US" sz="850" b="0" i="0" u="none" strike="noStrike" noProof="0">
                          <a:latin typeface="Aptos" panose="020B0004020202020204" pitchFamily="34" charset="0"/>
                          <a:cs typeface="Segoe UI"/>
                        </a:rPr>
                        <a:t>Reassess the release window if risk levels exceed acceptable thresholds.</a:t>
                      </a:r>
                      <a:endParaRPr lang="en-US" sz="850">
                        <a:latin typeface="Aptos" panose="020B0004020202020204" pitchFamily="34" charset="0"/>
                      </a:endParaRPr>
                    </a:p>
                    <a:p>
                      <a:pPr marL="171450" marR="0" lvl="0" indent="-171450" algn="l" defTabSz="914400">
                        <a:lnSpc>
                          <a:spcPct val="100000"/>
                        </a:lnSpc>
                        <a:spcBef>
                          <a:spcPts val="200"/>
                        </a:spcBef>
                        <a:spcAft>
                          <a:spcPts val="0"/>
                        </a:spcAft>
                        <a:buClrTx/>
                        <a:buSzTx/>
                        <a:buFont typeface="Arial" panose="020B0604020202020204" pitchFamily="34" charset="0"/>
                        <a:buChar char="•"/>
                        <a:tabLst/>
                        <a:defRPr/>
                      </a:pPr>
                      <a:endParaRPr lang="en-US" sz="850">
                        <a:latin typeface="Aptos" panose="020B0004020202020204" pitchFamily="34" charset="0"/>
                      </a:endParaRP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7499024"/>
                  </a:ext>
                </a:extLst>
              </a:tr>
            </a:tbl>
          </a:graphicData>
        </a:graphic>
      </p:graphicFrame>
      <p:sp>
        <p:nvSpPr>
          <p:cNvPr id="33" name="Flowchart: Connector 32">
            <a:extLst>
              <a:ext uri="{FF2B5EF4-FFF2-40B4-BE49-F238E27FC236}">
                <a16:creationId xmlns:a16="http://schemas.microsoft.com/office/drawing/2014/main" id="{FC471D55-7319-84A1-5B55-3C34797D650A}"/>
              </a:ext>
            </a:extLst>
          </p:cNvPr>
          <p:cNvSpPr/>
          <p:nvPr/>
        </p:nvSpPr>
        <p:spPr>
          <a:xfrm>
            <a:off x="6726836" y="6563166"/>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34" name="Flowchart: Connector 33">
            <a:extLst>
              <a:ext uri="{FF2B5EF4-FFF2-40B4-BE49-F238E27FC236}">
                <a16:creationId xmlns:a16="http://schemas.microsoft.com/office/drawing/2014/main" id="{1898B775-B4A0-1916-E604-CB5FE61767C6}"/>
              </a:ext>
            </a:extLst>
          </p:cNvPr>
          <p:cNvSpPr/>
          <p:nvPr/>
        </p:nvSpPr>
        <p:spPr>
          <a:xfrm>
            <a:off x="7778059" y="6558387"/>
            <a:ext cx="163286" cy="164592"/>
          </a:xfrm>
          <a:prstGeom prst="flowChartConnector">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36" name="Flowchart: Connector 35">
            <a:extLst>
              <a:ext uri="{FF2B5EF4-FFF2-40B4-BE49-F238E27FC236}">
                <a16:creationId xmlns:a16="http://schemas.microsoft.com/office/drawing/2014/main" id="{541A878C-86EF-D88A-B426-E25A198DDA3E}"/>
              </a:ext>
            </a:extLst>
          </p:cNvPr>
          <p:cNvSpPr/>
          <p:nvPr/>
        </p:nvSpPr>
        <p:spPr>
          <a:xfrm>
            <a:off x="8831908" y="6558387"/>
            <a:ext cx="163285" cy="164592"/>
          </a:xfrm>
          <a:prstGeom prst="flowChartConnector">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43" name="Flowchart: Connector 42">
            <a:extLst>
              <a:ext uri="{FF2B5EF4-FFF2-40B4-BE49-F238E27FC236}">
                <a16:creationId xmlns:a16="http://schemas.microsoft.com/office/drawing/2014/main" id="{D00FE382-023A-50B6-858E-C09A30D513EC}"/>
              </a:ext>
            </a:extLst>
          </p:cNvPr>
          <p:cNvSpPr/>
          <p:nvPr/>
        </p:nvSpPr>
        <p:spPr>
          <a:xfrm>
            <a:off x="3303638" y="1403331"/>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highlight>
                <a:srgbClr val="00FF00"/>
              </a:highlight>
              <a:uLnTx/>
              <a:uFillTx/>
              <a:latin typeface="Arial"/>
              <a:ea typeface="+mn-ea"/>
              <a:cs typeface="+mn-cs"/>
            </a:endParaRPr>
          </a:p>
        </p:txBody>
      </p:sp>
      <p:sp>
        <p:nvSpPr>
          <p:cNvPr id="45" name="Flowchart: Connector 44">
            <a:extLst>
              <a:ext uri="{FF2B5EF4-FFF2-40B4-BE49-F238E27FC236}">
                <a16:creationId xmlns:a16="http://schemas.microsoft.com/office/drawing/2014/main" id="{07441349-C728-80BB-805B-3B05AC5D5F74}"/>
              </a:ext>
            </a:extLst>
          </p:cNvPr>
          <p:cNvSpPr/>
          <p:nvPr/>
        </p:nvSpPr>
        <p:spPr>
          <a:xfrm>
            <a:off x="4286105" y="1403331"/>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3" name="TextBox 2">
            <a:extLst>
              <a:ext uri="{FF2B5EF4-FFF2-40B4-BE49-F238E27FC236}">
                <a16:creationId xmlns:a16="http://schemas.microsoft.com/office/drawing/2014/main" id="{7D6393E7-A5C5-6299-0922-80F3C9200BD4}"/>
              </a:ext>
            </a:extLst>
          </p:cNvPr>
          <p:cNvSpPr txBox="1"/>
          <p:nvPr/>
        </p:nvSpPr>
        <p:spPr>
          <a:xfrm>
            <a:off x="9451555" y="377015"/>
            <a:ext cx="2676180" cy="517320"/>
          </a:xfrm>
          <a:prstGeom prst="rect">
            <a:avLst/>
          </a:prstGeom>
          <a:noFill/>
        </p:spPr>
        <p:txBody>
          <a:bodyPr wrap="none" lIns="0" tIns="0" rIns="0" bIns="0" rtlCol="0" anchor="t">
            <a:noAutofit/>
          </a:bodyPr>
          <a:lstStyle/>
          <a:p>
            <a:pPr>
              <a:lnSpc>
                <a:spcPct val="112000"/>
              </a:lnSpc>
              <a:defRPr/>
            </a:pPr>
            <a:r>
              <a:rPr lang="en-US" sz="1200">
                <a:solidFill>
                  <a:srgbClr val="000000"/>
                </a:solidFill>
                <a:latin typeface="Arial"/>
                <a:cs typeface="Arial"/>
              </a:rPr>
              <a:t>Project Manager </a:t>
            </a:r>
            <a:r>
              <a:rPr kumimoji="0" lang="en-US" sz="1200" b="0" i="0" u="none" strike="noStrike" kern="1200" cap="none" spc="0" normalizeH="0" baseline="0" noProof="0">
                <a:ln>
                  <a:noFill/>
                </a:ln>
                <a:solidFill>
                  <a:srgbClr val="000000"/>
                </a:solidFill>
                <a:effectLst/>
                <a:uLnTx/>
                <a:uFillTx/>
                <a:latin typeface="Arial"/>
                <a:cs typeface="Arial"/>
              </a:rPr>
              <a:t>: Lalitha </a:t>
            </a:r>
            <a:r>
              <a:rPr lang="en-US" sz="1200">
                <a:solidFill>
                  <a:srgbClr val="000000"/>
                </a:solidFill>
                <a:latin typeface="Arial"/>
                <a:cs typeface="Arial"/>
              </a:rPr>
              <a:t>Kumar</a:t>
            </a:r>
            <a:endParaRPr lang="en-US" sz="1200">
              <a:latin typeface="Arial"/>
              <a:cs typeface="Arial"/>
            </a:endParaRPr>
          </a:p>
          <a:p>
            <a:pPr marL="0" marR="0" lvl="0" indent="0" algn="l" defTabSz="914400" rtl="0" eaLnBrk="1" fontAlgn="auto" latinLnBrk="0" hangingPunct="1">
              <a:lnSpc>
                <a:spcPct val="112000"/>
              </a:lnSpc>
              <a:spcBef>
                <a:spcPts val="0"/>
              </a:spcBef>
              <a:spcAft>
                <a:spcPts val="0"/>
              </a:spcAft>
              <a:buClrTx/>
              <a:buSzTx/>
              <a:buFontTx/>
              <a:buNone/>
              <a:tabLst/>
              <a:defRPr/>
            </a:pPr>
            <a:r>
              <a:rPr kumimoji="0" lang="en-US" sz="1200" b="0" i="0" u="none" strike="noStrike" kern="1200" cap="none" spc="0" normalizeH="0" baseline="0" noProof="0" err="1">
                <a:ln>
                  <a:noFill/>
                </a:ln>
                <a:solidFill>
                  <a:srgbClr val="000000"/>
                </a:solidFill>
                <a:effectLst/>
                <a:uLnTx/>
                <a:uFillTx/>
                <a:latin typeface="Arial"/>
                <a:cs typeface="Arial"/>
              </a:rPr>
              <a:t>OpEx</a:t>
            </a:r>
            <a:r>
              <a:rPr kumimoji="0" lang="en-US" sz="1200" b="0" i="0" u="none" strike="noStrike" kern="1200" cap="none" spc="0" normalizeH="0" baseline="0" noProof="0">
                <a:ln>
                  <a:noFill/>
                </a:ln>
                <a:solidFill>
                  <a:srgbClr val="000000"/>
                </a:solidFill>
                <a:effectLst/>
                <a:uLnTx/>
                <a:uFillTx/>
                <a:latin typeface="Arial"/>
                <a:cs typeface="Arial"/>
              </a:rPr>
              <a:t> Business Lead: Sarah Andrews</a:t>
            </a:r>
            <a:endParaRPr lang="en-US" sz="1200" b="0" i="0" u="none" strike="noStrike" kern="1200" cap="none" spc="0" normalizeH="0" baseline="0" noProof="0">
              <a:ln>
                <a:noFill/>
              </a:ln>
              <a:solidFill>
                <a:srgbClr val="000000"/>
              </a:solidFill>
              <a:effectLst/>
              <a:uLnTx/>
              <a:uFillTx/>
              <a:latin typeface="Arial"/>
              <a:cs typeface="Arial"/>
            </a:endParaRPr>
          </a:p>
        </p:txBody>
      </p:sp>
      <p:sp>
        <p:nvSpPr>
          <p:cNvPr id="4" name="Flowchart: Connector 3">
            <a:extLst>
              <a:ext uri="{FF2B5EF4-FFF2-40B4-BE49-F238E27FC236}">
                <a16:creationId xmlns:a16="http://schemas.microsoft.com/office/drawing/2014/main" id="{591BDDC5-E0AB-A104-E0E8-20603A0011CD}"/>
              </a:ext>
            </a:extLst>
          </p:cNvPr>
          <p:cNvSpPr/>
          <p:nvPr/>
        </p:nvSpPr>
        <p:spPr>
          <a:xfrm>
            <a:off x="5226813" y="1403331"/>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7" name="Flowchart: Connector 6">
            <a:extLst>
              <a:ext uri="{FF2B5EF4-FFF2-40B4-BE49-F238E27FC236}">
                <a16:creationId xmlns:a16="http://schemas.microsoft.com/office/drawing/2014/main" id="{A6D2F944-3B5D-7BCC-05F2-A603F99B52EC}"/>
              </a:ext>
            </a:extLst>
          </p:cNvPr>
          <p:cNvSpPr/>
          <p:nvPr/>
        </p:nvSpPr>
        <p:spPr>
          <a:xfrm>
            <a:off x="6096000" y="1415012"/>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12" name="Flowchart: Connector 11">
            <a:extLst>
              <a:ext uri="{FF2B5EF4-FFF2-40B4-BE49-F238E27FC236}">
                <a16:creationId xmlns:a16="http://schemas.microsoft.com/office/drawing/2014/main" id="{4CAA3024-D8EC-5C2F-DBA3-B8BF7B925E33}"/>
              </a:ext>
            </a:extLst>
          </p:cNvPr>
          <p:cNvSpPr/>
          <p:nvPr/>
        </p:nvSpPr>
        <p:spPr>
          <a:xfrm>
            <a:off x="7740412" y="2113999"/>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13" name="TextBox 12">
            <a:extLst>
              <a:ext uri="{FF2B5EF4-FFF2-40B4-BE49-F238E27FC236}">
                <a16:creationId xmlns:a16="http://schemas.microsoft.com/office/drawing/2014/main" id="{1EEB6CF7-9C3A-4CFE-AD21-6E389C35C5B3}"/>
              </a:ext>
            </a:extLst>
          </p:cNvPr>
          <p:cNvSpPr txBox="1"/>
          <p:nvPr/>
        </p:nvSpPr>
        <p:spPr>
          <a:xfrm>
            <a:off x="211155" y="1776469"/>
            <a:ext cx="4535279" cy="410881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900" b="1">
                <a:latin typeface="Aptos Display"/>
              </a:rPr>
              <a:t>Status</a:t>
            </a:r>
            <a:br>
              <a:rPr lang="en-US" sz="900">
                <a:latin typeface="Aptos Display"/>
              </a:rPr>
            </a:br>
            <a:r>
              <a:rPr lang="en-US" sz="900">
                <a:latin typeface="Aptos Display"/>
              </a:rPr>
              <a:t>MVP2 continues to progress according to plan, with development and integration activities tracking toward the November 11 implementation date. During the week, the project team reviewed the November 11 release risk assessment with leadership and received Steering Committee approval to proceed with the target go-live date. The lines are actively executing Development and Integration Testing (DDIT) activities and remain on track to begin End-to-End (E2E) testing on October 1.</a:t>
            </a:r>
          </a:p>
          <a:p>
            <a:endParaRPr lang="en-US" sz="900" b="1">
              <a:latin typeface="Aptos Display"/>
            </a:endParaRPr>
          </a:p>
          <a:p>
            <a:r>
              <a:rPr lang="en-US" sz="900" b="1">
                <a:latin typeface="Aptos Display"/>
              </a:rPr>
              <a:t>Highlights</a:t>
            </a:r>
            <a:endParaRPr lang="en-US"/>
          </a:p>
          <a:p>
            <a:pPr marL="171450" indent="-171450">
              <a:buFont typeface="Arial"/>
              <a:buChar char="•"/>
            </a:pPr>
            <a:r>
              <a:rPr lang="en-US" sz="900">
                <a:latin typeface="Aptos Display"/>
              </a:rPr>
              <a:t>Reviewed November 11 implementation risk assessment with project stakeholders and Steering Committee.</a:t>
            </a:r>
          </a:p>
          <a:p>
            <a:pPr marL="171450" indent="-171450">
              <a:buFont typeface="Arial"/>
              <a:buChar char="•"/>
            </a:pPr>
            <a:r>
              <a:rPr lang="en-US" sz="900">
                <a:latin typeface="Aptos Display"/>
              </a:rPr>
              <a:t>Received Steering Committee approval to proceed with the November 11 MVP2 go-live date on August 27.</a:t>
            </a:r>
          </a:p>
          <a:p>
            <a:pPr marL="171450" indent="-171450">
              <a:buFont typeface="Arial"/>
              <a:buChar char="•"/>
            </a:pPr>
            <a:r>
              <a:rPr lang="en-US" sz="900">
                <a:latin typeface="Aptos Display"/>
              </a:rPr>
              <a:t>Lines are actively executing DDIT activities and progressing without significant blockers.</a:t>
            </a:r>
          </a:p>
          <a:p>
            <a:pPr marL="171450" indent="-171450">
              <a:buFont typeface="Arial"/>
              <a:buChar char="•"/>
            </a:pPr>
            <a:r>
              <a:rPr lang="en-US" sz="900">
                <a:latin typeface="Aptos Display"/>
              </a:rPr>
              <a:t>Cross-team coordination and dependency management continue to support readiness for E2E testing.</a:t>
            </a:r>
          </a:p>
          <a:p>
            <a:endParaRPr lang="en-US" sz="900" b="1">
              <a:latin typeface="Aptos Display"/>
            </a:endParaRPr>
          </a:p>
          <a:p>
            <a:r>
              <a:rPr lang="en-US" sz="900" b="1">
                <a:latin typeface="Aptos Display"/>
              </a:rPr>
              <a:t>Next Steps</a:t>
            </a:r>
            <a:endParaRPr lang="en-US"/>
          </a:p>
          <a:p>
            <a:pPr marL="171450" indent="-171450">
              <a:buFont typeface="Arial"/>
              <a:buChar char="•"/>
            </a:pPr>
            <a:r>
              <a:rPr lang="en-US" sz="900">
                <a:latin typeface="Aptos Display"/>
              </a:rPr>
              <a:t>Continue DDIT execution and defect resolution activities through September.</a:t>
            </a:r>
          </a:p>
          <a:p>
            <a:pPr marL="171450" indent="-171450">
              <a:buFont typeface="Arial"/>
              <a:buChar char="•"/>
            </a:pPr>
            <a:r>
              <a:rPr lang="en-US" sz="900">
                <a:latin typeface="Aptos Display"/>
              </a:rPr>
              <a:t>Complete Master Test Strategy with stakeholders by September 11</a:t>
            </a:r>
          </a:p>
          <a:p>
            <a:pPr marL="171450" indent="-171450">
              <a:buFont typeface="Arial"/>
              <a:buChar char="•"/>
            </a:pPr>
            <a:r>
              <a:rPr lang="en-US" sz="900">
                <a:latin typeface="Aptos Display"/>
              </a:rPr>
              <a:t>Complete remaining MVP2 design, development, and integration work by September 30.</a:t>
            </a:r>
          </a:p>
          <a:p>
            <a:pPr marL="171450" indent="-171450">
              <a:buFont typeface="Arial"/>
              <a:buChar char="•"/>
            </a:pPr>
            <a:r>
              <a:rPr lang="en-US" sz="900">
                <a:latin typeface="Aptos Display"/>
              </a:rPr>
              <a:t>Kick off End-to-End (E2E) testing on October 1.</a:t>
            </a:r>
          </a:p>
          <a:p>
            <a:pPr marL="171450" indent="-171450">
              <a:buFont typeface="Arial"/>
              <a:buChar char="•"/>
            </a:pPr>
            <a:r>
              <a:rPr lang="en-US" sz="900">
                <a:latin typeface="Aptos Display"/>
              </a:rPr>
              <a:t>Conduct Show &amp; Tell sessions prior to E2E testing.</a:t>
            </a:r>
          </a:p>
          <a:p>
            <a:pPr marL="171450" indent="-171450">
              <a:buFont typeface="Arial"/>
              <a:buChar char="•"/>
            </a:pPr>
            <a:r>
              <a:rPr lang="en-US" sz="900">
                <a:latin typeface="Aptos Display"/>
              </a:rPr>
              <a:t>Begin User Acceptance Testing (UAT) on October 15.</a:t>
            </a:r>
          </a:p>
          <a:p>
            <a:pPr marL="171450" indent="-171450">
              <a:buFont typeface="Arial"/>
              <a:buChar char="•"/>
            </a:pPr>
            <a:r>
              <a:rPr lang="en-US" sz="900">
                <a:latin typeface="Aptos Display"/>
              </a:rPr>
              <a:t>Continue release planning, deployment readiness, and operational readiness activities in preparation for the November 11 implementation.</a:t>
            </a:r>
          </a:p>
          <a:p>
            <a:endParaRPr lang="en-US" sz="900">
              <a:latin typeface="Aptos Display"/>
            </a:endParaRPr>
          </a:p>
          <a:p>
            <a:pPr algn="ctr"/>
            <a:endParaRPr lang="en-US">
              <a:latin typeface="Calibri" panose="020F0502020204030204"/>
              <a:ea typeface="Calibri" panose="020F0502020204030204"/>
              <a:cs typeface="Calibri" panose="020F0502020204030204"/>
            </a:endParaRPr>
          </a:p>
        </p:txBody>
      </p:sp>
    </p:spTree>
    <p:extLst>
      <p:ext uri="{BB962C8B-B14F-4D97-AF65-F5344CB8AC3E}">
        <p14:creationId xmlns:p14="http://schemas.microsoft.com/office/powerpoint/2010/main" val="3897409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5C4483-913D-C746-9CB6-D0AADD93C8A8}"/>
            </a:ext>
          </a:extLst>
        </p:cNvPr>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CE01B200-2A58-751C-22D2-E7DD68193473}"/>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8" imgH="408" progId="TCLayout.ActiveDocument.1">
                  <p:embed/>
                </p:oleObj>
              </mc:Choice>
              <mc:Fallback>
                <p:oleObj name="think-cell Slide" r:id="rId4" imgW="408" imgH="408" progId="TCLayout.ActiveDocument.1">
                  <p:embed/>
                  <p:pic>
                    <p:nvPicPr>
                      <p:cNvPr id="9" name="think-cell data - do not delete" hidden="1">
                        <a:extLst>
                          <a:ext uri="{FF2B5EF4-FFF2-40B4-BE49-F238E27FC236}">
                            <a16:creationId xmlns:a16="http://schemas.microsoft.com/office/drawing/2014/main" id="{CE01B200-2A58-751C-22D2-E7DD68193473}"/>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graphicFrame>
        <p:nvGraphicFramePr>
          <p:cNvPr id="32" name="Group 614">
            <a:extLst>
              <a:ext uri="{FF2B5EF4-FFF2-40B4-BE49-F238E27FC236}">
                <a16:creationId xmlns:a16="http://schemas.microsoft.com/office/drawing/2014/main" id="{CB115FD4-30EE-46BF-71FC-00E6013B68FB}"/>
              </a:ext>
            </a:extLst>
          </p:cNvPr>
          <p:cNvGraphicFramePr>
            <a:graphicFrameLocks noGrp="1"/>
          </p:cNvGraphicFramePr>
          <p:nvPr/>
        </p:nvGraphicFramePr>
        <p:xfrm>
          <a:off x="4961437" y="6480103"/>
          <a:ext cx="7166325" cy="310524"/>
        </p:xfrm>
        <a:graphic>
          <a:graphicData uri="http://schemas.openxmlformats.org/drawingml/2006/table">
            <a:tbl>
              <a:tblPr/>
              <a:tblGrid>
                <a:gridCol w="608374">
                  <a:extLst>
                    <a:ext uri="{9D8B030D-6E8A-4147-A177-3AD203B41FA5}">
                      <a16:colId xmlns:a16="http://schemas.microsoft.com/office/drawing/2014/main" val="20000"/>
                    </a:ext>
                  </a:extLst>
                </a:gridCol>
                <a:gridCol w="308349">
                  <a:extLst>
                    <a:ext uri="{9D8B030D-6E8A-4147-A177-3AD203B41FA5}">
                      <a16:colId xmlns:a16="http://schemas.microsoft.com/office/drawing/2014/main" val="20001"/>
                    </a:ext>
                  </a:extLst>
                </a:gridCol>
                <a:gridCol w="760019">
                  <a:extLst>
                    <a:ext uri="{9D8B030D-6E8A-4147-A177-3AD203B41FA5}">
                      <a16:colId xmlns:a16="http://schemas.microsoft.com/office/drawing/2014/main" val="20002"/>
                    </a:ext>
                  </a:extLst>
                </a:gridCol>
                <a:gridCol w="303785">
                  <a:extLst>
                    <a:ext uri="{9D8B030D-6E8A-4147-A177-3AD203B41FA5}">
                      <a16:colId xmlns:a16="http://schemas.microsoft.com/office/drawing/2014/main" val="20003"/>
                    </a:ext>
                  </a:extLst>
                </a:gridCol>
                <a:gridCol w="667455">
                  <a:extLst>
                    <a:ext uri="{9D8B030D-6E8A-4147-A177-3AD203B41FA5}">
                      <a16:colId xmlns:a16="http://schemas.microsoft.com/office/drawing/2014/main" val="20004"/>
                    </a:ext>
                  </a:extLst>
                </a:gridCol>
                <a:gridCol w="519690">
                  <a:extLst>
                    <a:ext uri="{9D8B030D-6E8A-4147-A177-3AD203B41FA5}">
                      <a16:colId xmlns:a16="http://schemas.microsoft.com/office/drawing/2014/main" val="20005"/>
                    </a:ext>
                  </a:extLst>
                </a:gridCol>
                <a:gridCol w="570296">
                  <a:extLst>
                    <a:ext uri="{9D8B030D-6E8A-4147-A177-3AD203B41FA5}">
                      <a16:colId xmlns:a16="http://schemas.microsoft.com/office/drawing/2014/main" val="20006"/>
                    </a:ext>
                  </a:extLst>
                </a:gridCol>
                <a:gridCol w="370169">
                  <a:extLst>
                    <a:ext uri="{9D8B030D-6E8A-4147-A177-3AD203B41FA5}">
                      <a16:colId xmlns:a16="http://schemas.microsoft.com/office/drawing/2014/main" val="20007"/>
                    </a:ext>
                  </a:extLst>
                </a:gridCol>
                <a:gridCol w="1376415">
                  <a:extLst>
                    <a:ext uri="{9D8B030D-6E8A-4147-A177-3AD203B41FA5}">
                      <a16:colId xmlns:a16="http://schemas.microsoft.com/office/drawing/2014/main" val="20008"/>
                    </a:ext>
                  </a:extLst>
                </a:gridCol>
                <a:gridCol w="379427">
                  <a:extLst>
                    <a:ext uri="{9D8B030D-6E8A-4147-A177-3AD203B41FA5}">
                      <a16:colId xmlns:a16="http://schemas.microsoft.com/office/drawing/2014/main" val="20009"/>
                    </a:ext>
                  </a:extLst>
                </a:gridCol>
                <a:gridCol w="1302346">
                  <a:extLst>
                    <a:ext uri="{9D8B030D-6E8A-4147-A177-3AD203B41FA5}">
                      <a16:colId xmlns:a16="http://schemas.microsoft.com/office/drawing/2014/main" val="20010"/>
                    </a:ext>
                  </a:extLst>
                </a:gridCol>
              </a:tblGrid>
              <a:tr h="309128">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Arial" charset="0"/>
                          <a:cs typeface="Arial" charset="0"/>
                        </a:rPr>
                        <a:t>Status Key</a:t>
                      </a:r>
                      <a:endParaRPr kumimoji="0" lang="en-GB" sz="1600" b="0" i="0" u="none" strike="noStrike" cap="none" normalizeH="0" baseline="0">
                        <a:ln>
                          <a:noFill/>
                        </a:ln>
                        <a:solidFill>
                          <a:srgbClr val="002060"/>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mj-lt"/>
                        </a:rPr>
                        <a:t>C</a:t>
                      </a: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Arial" charset="0"/>
                          <a:cs typeface="Arial" charset="0"/>
                        </a:rPr>
                        <a:t>Completed</a:t>
                      </a:r>
                      <a:endParaRPr kumimoji="0" lang="en-GB" sz="1600" b="0" i="0" u="none" strike="noStrike" cap="none" normalizeH="0" baseline="0">
                        <a:ln>
                          <a:noFill/>
                        </a:ln>
                        <a:solidFill>
                          <a:srgbClr val="002060"/>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On-Schedule</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Major Issues</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Some Issues</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NS</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Not Started</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2" name="Title 1">
            <a:extLst>
              <a:ext uri="{FF2B5EF4-FFF2-40B4-BE49-F238E27FC236}">
                <a16:creationId xmlns:a16="http://schemas.microsoft.com/office/drawing/2014/main" id="{06944C50-87FF-FD3B-7AC8-C05E497B603B}"/>
              </a:ext>
            </a:extLst>
          </p:cNvPr>
          <p:cNvSpPr>
            <a:spLocks noGrp="1"/>
          </p:cNvSpPr>
          <p:nvPr>
            <p:ph type="title"/>
          </p:nvPr>
        </p:nvSpPr>
        <p:spPr>
          <a:xfrm>
            <a:off x="279125" y="337484"/>
            <a:ext cx="9072328" cy="518351"/>
          </a:xfrm>
        </p:spPr>
        <p:txBody>
          <a:bodyPr vert="horz">
            <a:normAutofit fontScale="90000"/>
          </a:bodyPr>
          <a:lstStyle/>
          <a:p>
            <a:r>
              <a:rPr lang="en-US" sz="2700" b="1">
                <a:solidFill>
                  <a:srgbClr val="29389F"/>
                </a:solidFill>
                <a:latin typeface="Arial"/>
                <a:cs typeface="Arial"/>
              </a:rPr>
              <a:t>MPI Underwriting Optimization MVP 3</a:t>
            </a:r>
            <a:br>
              <a:rPr lang="en-US" sz="2700" b="1">
                <a:latin typeface="Arial" pitchFamily="34" charset="0"/>
                <a:cs typeface="Arial" pitchFamily="34" charset="0"/>
              </a:rPr>
            </a:br>
            <a:r>
              <a:rPr lang="en-US" sz="1600">
                <a:solidFill>
                  <a:srgbClr val="0070C0"/>
                </a:solidFill>
                <a:latin typeface="Arial"/>
                <a:cs typeface="Arial"/>
              </a:rPr>
              <a:t>Increase new business writings by simplifying point-of-sale underwriting and accelerating rule-based decisions.</a:t>
            </a:r>
          </a:p>
        </p:txBody>
      </p:sp>
      <p:graphicFrame>
        <p:nvGraphicFramePr>
          <p:cNvPr id="11" name="Group 513">
            <a:extLst>
              <a:ext uri="{FF2B5EF4-FFF2-40B4-BE49-F238E27FC236}">
                <a16:creationId xmlns:a16="http://schemas.microsoft.com/office/drawing/2014/main" id="{9429B040-A21B-D00A-515F-9E3171145D68}"/>
              </a:ext>
            </a:extLst>
          </p:cNvPr>
          <p:cNvGraphicFramePr>
            <a:graphicFrameLocks noGrp="1"/>
          </p:cNvGraphicFramePr>
          <p:nvPr>
            <p:extLst>
              <p:ext uri="{D42A27DB-BD31-4B8C-83A1-F6EECF244321}">
                <p14:modId xmlns:p14="http://schemas.microsoft.com/office/powerpoint/2010/main" val="3802784438"/>
              </p:ext>
            </p:extLst>
          </p:nvPr>
        </p:nvGraphicFramePr>
        <p:xfrm>
          <a:off x="281440" y="930526"/>
          <a:ext cx="2569327" cy="344301"/>
        </p:xfrm>
        <a:graphic>
          <a:graphicData uri="http://schemas.openxmlformats.org/drawingml/2006/table">
            <a:tbl>
              <a:tblPr/>
              <a:tblGrid>
                <a:gridCol w="983509">
                  <a:extLst>
                    <a:ext uri="{9D8B030D-6E8A-4147-A177-3AD203B41FA5}">
                      <a16:colId xmlns:a16="http://schemas.microsoft.com/office/drawing/2014/main" val="20000"/>
                    </a:ext>
                  </a:extLst>
                </a:gridCol>
                <a:gridCol w="1585818">
                  <a:extLst>
                    <a:ext uri="{9D8B030D-6E8A-4147-A177-3AD203B41FA5}">
                      <a16:colId xmlns:a16="http://schemas.microsoft.com/office/drawing/2014/main" val="20001"/>
                    </a:ext>
                  </a:extLst>
                </a:gridCol>
              </a:tblGrid>
              <a:tr h="344301">
                <a:tc>
                  <a:txBody>
                    <a:bodyPr/>
                    <a:lstStyle/>
                    <a:p>
                      <a:pPr marL="0" marR="0" lvl="0" indent="0" algn="l" defTabSz="914400" rtl="0" eaLnBrk="0" fontAlgn="base" latinLnBrk="0" hangingPunct="0">
                        <a:lnSpc>
                          <a:spcPct val="95000"/>
                        </a:lnSpc>
                        <a:spcBef>
                          <a:spcPct val="0"/>
                        </a:spcBef>
                        <a:spcAft>
                          <a:spcPct val="50000"/>
                        </a:spcAft>
                        <a:buClrTx/>
                        <a:buSzTx/>
                        <a:buFontTx/>
                        <a:buNone/>
                        <a:tabLst/>
                      </a:pPr>
                      <a:r>
                        <a:rPr kumimoji="0" lang="en-GB" sz="1050" b="1" i="0" u="none" strike="noStrike" kern="1200" cap="none" normalizeH="0" baseline="0">
                          <a:ln>
                            <a:noFill/>
                          </a:ln>
                          <a:solidFill>
                            <a:schemeClr val="bg1"/>
                          </a:solidFill>
                          <a:effectLst/>
                          <a:latin typeface="Arial"/>
                          <a:ea typeface="+mn-ea"/>
                          <a:cs typeface="+mn-cs"/>
                        </a:rPr>
                        <a:t>Status Date:</a:t>
                      </a:r>
                    </a:p>
                  </a:txBody>
                  <a:tcPr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lang="en-GB" sz="850" b="1" i="0" u="none" strike="noStrike" kern="1200" cap="none" normalizeH="0" baseline="0">
                          <a:ln>
                            <a:noFill/>
                          </a:ln>
                          <a:solidFill>
                            <a:schemeClr val="tx1"/>
                          </a:solidFill>
                          <a:effectLst/>
                          <a:latin typeface="Aptos"/>
                          <a:ea typeface="+mn-ea"/>
                          <a:cs typeface="+mn-cs"/>
                        </a:rPr>
                        <a:t>8/28/2026</a:t>
                      </a:r>
                    </a:p>
                  </a:txBody>
                  <a:tcPr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14" name="Table 13">
            <a:extLst>
              <a:ext uri="{FF2B5EF4-FFF2-40B4-BE49-F238E27FC236}">
                <a16:creationId xmlns:a16="http://schemas.microsoft.com/office/drawing/2014/main" id="{C145763D-F02B-9347-CDDC-FAB19DB14693}"/>
              </a:ext>
            </a:extLst>
          </p:cNvPr>
          <p:cNvGraphicFramePr>
            <a:graphicFrameLocks noGrp="1"/>
          </p:cNvGraphicFramePr>
          <p:nvPr>
            <p:extLst>
              <p:ext uri="{D42A27DB-BD31-4B8C-83A1-F6EECF244321}">
                <p14:modId xmlns:p14="http://schemas.microsoft.com/office/powerpoint/2010/main" val="2263872989"/>
              </p:ext>
            </p:extLst>
          </p:nvPr>
        </p:nvGraphicFramePr>
        <p:xfrm>
          <a:off x="6675766" y="920667"/>
          <a:ext cx="5352360" cy="749848"/>
        </p:xfrm>
        <a:graphic>
          <a:graphicData uri="http://schemas.openxmlformats.org/drawingml/2006/table">
            <a:tbl>
              <a:tblPr>
                <a:tableStyleId>{5C22544A-7EE6-4342-B048-85BDC9FD1C3A}</a:tableStyleId>
              </a:tblPr>
              <a:tblGrid>
                <a:gridCol w="1045337">
                  <a:extLst>
                    <a:ext uri="{9D8B030D-6E8A-4147-A177-3AD203B41FA5}">
                      <a16:colId xmlns:a16="http://schemas.microsoft.com/office/drawing/2014/main" val="2456552316"/>
                    </a:ext>
                  </a:extLst>
                </a:gridCol>
                <a:gridCol w="926511">
                  <a:extLst>
                    <a:ext uri="{9D8B030D-6E8A-4147-A177-3AD203B41FA5}">
                      <a16:colId xmlns:a16="http://schemas.microsoft.com/office/drawing/2014/main" val="2327174630"/>
                    </a:ext>
                  </a:extLst>
                </a:gridCol>
                <a:gridCol w="1514970">
                  <a:extLst>
                    <a:ext uri="{9D8B030D-6E8A-4147-A177-3AD203B41FA5}">
                      <a16:colId xmlns:a16="http://schemas.microsoft.com/office/drawing/2014/main" val="1100051595"/>
                    </a:ext>
                  </a:extLst>
                </a:gridCol>
                <a:gridCol w="913991">
                  <a:extLst>
                    <a:ext uri="{9D8B030D-6E8A-4147-A177-3AD203B41FA5}">
                      <a16:colId xmlns:a16="http://schemas.microsoft.com/office/drawing/2014/main" val="2042261034"/>
                    </a:ext>
                  </a:extLst>
                </a:gridCol>
                <a:gridCol w="951551">
                  <a:extLst>
                    <a:ext uri="{9D8B030D-6E8A-4147-A177-3AD203B41FA5}">
                      <a16:colId xmlns:a16="http://schemas.microsoft.com/office/drawing/2014/main" val="2815874248"/>
                    </a:ext>
                  </a:extLst>
                </a:gridCol>
              </a:tblGrid>
              <a:tr h="366567">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2026 Budget</a:t>
                      </a:r>
                      <a:r>
                        <a:rPr lang="en-US" sz="1050" b="1" i="0" u="none" strike="noStrike" kern="1200" cap="none" normalizeH="0" baseline="0">
                          <a:ln>
                            <a:noFill/>
                          </a:ln>
                          <a:solidFill>
                            <a:schemeClr val="bg1"/>
                          </a:solidFill>
                          <a:effectLst/>
                          <a:latin typeface="Arial"/>
                          <a:ea typeface="+mn-ea"/>
                          <a:cs typeface="+mn-cs"/>
                        </a:rPr>
                        <a:t> </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YTD Actuals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Remaining 2026 Forecast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Current YE Forecast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Total Estimate</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383281">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lang="en-US" sz="850" b="1" i="0" u="none" strike="noStrike" kern="1200" cap="none" normalizeH="0" baseline="0">
                          <a:ln>
                            <a:noFill/>
                          </a:ln>
                          <a:solidFill>
                            <a:schemeClr val="tx1"/>
                          </a:solidFill>
                          <a:effectLst/>
                          <a:latin typeface="Aptos"/>
                          <a:ea typeface="+mn-ea"/>
                          <a:cs typeface="+mn-cs"/>
                        </a:rPr>
                        <a:t>$1,120,000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lang="en-US" sz="850" b="1" i="0" u="none" strike="noStrike" kern="1200" cap="none" normalizeH="0" baseline="0">
                          <a:ln>
                            <a:noFill/>
                          </a:ln>
                          <a:solidFill>
                            <a:schemeClr val="tx1"/>
                          </a:solidFill>
                          <a:effectLst/>
                          <a:latin typeface="Aptos"/>
                          <a:ea typeface="+mn-ea"/>
                          <a:cs typeface="+mn-cs"/>
                        </a:rPr>
                        <a:t>$191,445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defRPr/>
                      </a:pPr>
                      <a:r>
                        <a:rPr lang="en-US" sz="850" b="1" i="0" u="none" strike="noStrike" kern="1200" cap="none" normalizeH="0" baseline="0">
                          <a:ln>
                            <a:noFill/>
                          </a:ln>
                          <a:solidFill>
                            <a:schemeClr val="tx1"/>
                          </a:solidFill>
                          <a:effectLst/>
                          <a:latin typeface="Aptos"/>
                          <a:ea typeface="+mn-ea"/>
                          <a:cs typeface="+mn-cs"/>
                        </a:rPr>
                        <a:t>$925,157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lang="en-US" sz="850" b="1" i="0" u="none" strike="noStrike" kern="1200" cap="none" normalizeH="0" baseline="0">
                          <a:ln>
                            <a:noFill/>
                          </a:ln>
                          <a:solidFill>
                            <a:schemeClr val="tx1"/>
                          </a:solidFill>
                          <a:effectLst/>
                          <a:latin typeface="Aptos"/>
                          <a:ea typeface="+mn-ea"/>
                          <a:cs typeface="+mn-cs"/>
                        </a:rPr>
                        <a:t>$1,116,603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lang="en-US" sz="850" b="1" i="0" u="none" strike="noStrike" kern="1200" cap="none" normalizeH="0" baseline="0">
                          <a:ln>
                            <a:noFill/>
                          </a:ln>
                          <a:solidFill>
                            <a:schemeClr val="tx1"/>
                          </a:solidFill>
                          <a:effectLst/>
                          <a:latin typeface="Aptos"/>
                          <a:ea typeface="+mn-ea"/>
                          <a:cs typeface="+mn-cs"/>
                        </a:rPr>
                        <a:t>$1,116,603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7499024"/>
                  </a:ext>
                </a:extLst>
              </a:tr>
            </a:tbl>
          </a:graphicData>
        </a:graphic>
      </p:graphicFrame>
      <p:graphicFrame>
        <p:nvGraphicFramePr>
          <p:cNvPr id="25" name="Table 24">
            <a:extLst>
              <a:ext uri="{FF2B5EF4-FFF2-40B4-BE49-F238E27FC236}">
                <a16:creationId xmlns:a16="http://schemas.microsoft.com/office/drawing/2014/main" id="{41B13508-5654-8B9F-3CFD-6B81E4CB5C1E}"/>
              </a:ext>
            </a:extLst>
          </p:cNvPr>
          <p:cNvGraphicFramePr>
            <a:graphicFrameLocks noGrp="1"/>
          </p:cNvGraphicFramePr>
          <p:nvPr/>
        </p:nvGraphicFramePr>
        <p:xfrm>
          <a:off x="2840054" y="920667"/>
          <a:ext cx="3829275" cy="749848"/>
        </p:xfrm>
        <a:graphic>
          <a:graphicData uri="http://schemas.openxmlformats.org/drawingml/2006/table">
            <a:tbl>
              <a:tblPr>
                <a:tableStyleId>{5C22544A-7EE6-4342-B048-85BDC9FD1C3A}</a:tableStyleId>
              </a:tblPr>
              <a:tblGrid>
                <a:gridCol w="1042158">
                  <a:extLst>
                    <a:ext uri="{9D8B030D-6E8A-4147-A177-3AD203B41FA5}">
                      <a16:colId xmlns:a16="http://schemas.microsoft.com/office/drawing/2014/main" val="2456552316"/>
                    </a:ext>
                  </a:extLst>
                </a:gridCol>
                <a:gridCol w="961214">
                  <a:extLst>
                    <a:ext uri="{9D8B030D-6E8A-4147-A177-3AD203B41FA5}">
                      <a16:colId xmlns:a16="http://schemas.microsoft.com/office/drawing/2014/main" val="1100051595"/>
                    </a:ext>
                  </a:extLst>
                </a:gridCol>
                <a:gridCol w="920742">
                  <a:extLst>
                    <a:ext uri="{9D8B030D-6E8A-4147-A177-3AD203B41FA5}">
                      <a16:colId xmlns:a16="http://schemas.microsoft.com/office/drawing/2014/main" val="2042261034"/>
                    </a:ext>
                  </a:extLst>
                </a:gridCol>
                <a:gridCol w="905161">
                  <a:extLst>
                    <a:ext uri="{9D8B030D-6E8A-4147-A177-3AD203B41FA5}">
                      <a16:colId xmlns:a16="http://schemas.microsoft.com/office/drawing/2014/main" val="2815874248"/>
                    </a:ext>
                  </a:extLst>
                </a:gridCol>
              </a:tblGrid>
              <a:tr h="409508">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Overall</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Scope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Schedule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Financials</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340340">
                <a:tc>
                  <a:txBody>
                    <a:bodyPr/>
                    <a:lstStyle/>
                    <a:p>
                      <a:pPr marL="0" marR="0" lvl="0" indent="0" algn="ctr" rtl="0" eaLnBrk="1" fontAlgn="ctr" latinLnBrk="0" hangingPunct="1">
                        <a:lnSpc>
                          <a:spcPct val="95000"/>
                        </a:lnSpc>
                        <a:spcBef>
                          <a:spcPct val="0"/>
                        </a:spcBef>
                        <a:spcAft>
                          <a:spcPct val="50000"/>
                        </a:spcAft>
                        <a:buClrTx/>
                        <a:buSzTx/>
                        <a:buFontTx/>
                        <a:buNone/>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rtl="0" eaLnBrk="1" fontAlgn="ctr" latinLnBrk="0" hangingPunct="1">
                        <a:lnSpc>
                          <a:spcPct val="95000"/>
                        </a:lnSpc>
                        <a:spcBef>
                          <a:spcPct val="0"/>
                        </a:spcBef>
                        <a:spcAft>
                          <a:spcPct val="50000"/>
                        </a:spcAft>
                        <a:buClrTx/>
                        <a:buSzTx/>
                        <a:buFontTx/>
                        <a:buNone/>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7499024"/>
                  </a:ext>
                </a:extLst>
              </a:tr>
            </a:tbl>
          </a:graphicData>
        </a:graphic>
      </p:graphicFrame>
      <p:graphicFrame>
        <p:nvGraphicFramePr>
          <p:cNvPr id="26" name="Group 513">
            <a:extLst>
              <a:ext uri="{FF2B5EF4-FFF2-40B4-BE49-F238E27FC236}">
                <a16:creationId xmlns:a16="http://schemas.microsoft.com/office/drawing/2014/main" id="{2D080F49-F9D4-3CCD-F9AA-BA423FBD54EE}"/>
              </a:ext>
            </a:extLst>
          </p:cNvPr>
          <p:cNvGraphicFramePr>
            <a:graphicFrameLocks noGrp="1"/>
          </p:cNvGraphicFramePr>
          <p:nvPr>
            <p:extLst>
              <p:ext uri="{D42A27DB-BD31-4B8C-83A1-F6EECF244321}">
                <p14:modId xmlns:p14="http://schemas.microsoft.com/office/powerpoint/2010/main" val="239306902"/>
              </p:ext>
            </p:extLst>
          </p:nvPr>
        </p:nvGraphicFramePr>
        <p:xfrm>
          <a:off x="281440" y="1308694"/>
          <a:ext cx="2558614" cy="395688"/>
        </p:xfrm>
        <a:graphic>
          <a:graphicData uri="http://schemas.openxmlformats.org/drawingml/2006/table">
            <a:tbl>
              <a:tblPr/>
              <a:tblGrid>
                <a:gridCol w="989721">
                  <a:extLst>
                    <a:ext uri="{9D8B030D-6E8A-4147-A177-3AD203B41FA5}">
                      <a16:colId xmlns:a16="http://schemas.microsoft.com/office/drawing/2014/main" val="20000"/>
                    </a:ext>
                  </a:extLst>
                </a:gridCol>
                <a:gridCol w="1568893">
                  <a:extLst>
                    <a:ext uri="{9D8B030D-6E8A-4147-A177-3AD203B41FA5}">
                      <a16:colId xmlns:a16="http://schemas.microsoft.com/office/drawing/2014/main" val="20001"/>
                    </a:ext>
                  </a:extLst>
                </a:gridCol>
              </a:tblGrid>
              <a:tr h="137693">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GB" sz="1050" b="1" i="0" u="none" strike="noStrike" kern="1200" cap="none" normalizeH="0" baseline="0">
                          <a:ln>
                            <a:noFill/>
                          </a:ln>
                          <a:solidFill>
                            <a:schemeClr val="bg1"/>
                          </a:solidFill>
                          <a:effectLst/>
                          <a:latin typeface="Arial"/>
                          <a:ea typeface="+mn-ea"/>
                          <a:cs typeface="+mn-cs"/>
                        </a:rPr>
                        <a:t>Target Delivery:</a:t>
                      </a:r>
                    </a:p>
                  </a:txBody>
                  <a:tcPr marL="0" marR="0"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lang="en-US" sz="850" b="1" i="0" u="none" strike="noStrike" kern="1200" cap="none" normalizeH="0" baseline="0">
                          <a:ln>
                            <a:noFill/>
                          </a:ln>
                          <a:solidFill>
                            <a:schemeClr val="tx1"/>
                          </a:solidFill>
                          <a:effectLst/>
                          <a:latin typeface="Aptos"/>
                          <a:ea typeface="+mn-ea"/>
                          <a:cs typeface="+mn-cs"/>
                        </a:rPr>
                        <a:t>Feb 2027</a:t>
                      </a:r>
                    </a:p>
                  </a:txBody>
                  <a:tcPr marL="0" marR="0"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27" name="Table 26">
            <a:extLst>
              <a:ext uri="{FF2B5EF4-FFF2-40B4-BE49-F238E27FC236}">
                <a16:creationId xmlns:a16="http://schemas.microsoft.com/office/drawing/2014/main" id="{FBE6338F-FF0C-8F65-DCD0-9A2980B81162}"/>
              </a:ext>
            </a:extLst>
          </p:cNvPr>
          <p:cNvGraphicFramePr>
            <a:graphicFrameLocks noGrp="1"/>
          </p:cNvGraphicFramePr>
          <p:nvPr>
            <p:extLst>
              <p:ext uri="{D42A27DB-BD31-4B8C-83A1-F6EECF244321}">
                <p14:modId xmlns:p14="http://schemas.microsoft.com/office/powerpoint/2010/main" val="395307378"/>
              </p:ext>
            </p:extLst>
          </p:nvPr>
        </p:nvGraphicFramePr>
        <p:xfrm>
          <a:off x="4973526" y="1766124"/>
          <a:ext cx="7152058" cy="2357720"/>
        </p:xfrm>
        <a:graphic>
          <a:graphicData uri="http://schemas.openxmlformats.org/drawingml/2006/table">
            <a:tbl>
              <a:tblPr>
                <a:tableStyleId>{5C22544A-7EE6-4342-B048-85BDC9FD1C3A}</a:tableStyleId>
              </a:tblPr>
              <a:tblGrid>
                <a:gridCol w="2405682">
                  <a:extLst>
                    <a:ext uri="{9D8B030D-6E8A-4147-A177-3AD203B41FA5}">
                      <a16:colId xmlns:a16="http://schemas.microsoft.com/office/drawing/2014/main" val="2456552316"/>
                    </a:ext>
                  </a:extLst>
                </a:gridCol>
                <a:gridCol w="566928">
                  <a:extLst>
                    <a:ext uri="{9D8B030D-6E8A-4147-A177-3AD203B41FA5}">
                      <a16:colId xmlns:a16="http://schemas.microsoft.com/office/drawing/2014/main" val="1100051595"/>
                    </a:ext>
                  </a:extLst>
                </a:gridCol>
                <a:gridCol w="813816">
                  <a:extLst>
                    <a:ext uri="{9D8B030D-6E8A-4147-A177-3AD203B41FA5}">
                      <a16:colId xmlns:a16="http://schemas.microsoft.com/office/drawing/2014/main" val="2042261034"/>
                    </a:ext>
                  </a:extLst>
                </a:gridCol>
                <a:gridCol w="3365632">
                  <a:extLst>
                    <a:ext uri="{9D8B030D-6E8A-4147-A177-3AD203B41FA5}">
                      <a16:colId xmlns:a16="http://schemas.microsoft.com/office/drawing/2014/main" val="2815874248"/>
                    </a:ext>
                  </a:extLst>
                </a:gridCol>
              </a:tblGrid>
              <a:tr h="309849">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Milestone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Status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Due Date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Notes</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239839">
                <a:tc>
                  <a:txBody>
                    <a:bodyPr/>
                    <a:lstStyle/>
                    <a:p>
                      <a:pPr marL="114300" marR="0" lvl="0" indent="0" algn="l" rtl="0">
                        <a:lnSpc>
                          <a:spcPct val="95000"/>
                        </a:lnSpc>
                        <a:spcBef>
                          <a:spcPct val="0"/>
                        </a:spcBef>
                        <a:spcAft>
                          <a:spcPct val="50000"/>
                        </a:spcAft>
                        <a:buClrTx/>
                        <a:buSzTx/>
                        <a:buFontTx/>
                        <a:buNone/>
                      </a:pPr>
                      <a:r>
                        <a:rPr lang="en-US" sz="850" kern="1200">
                          <a:solidFill>
                            <a:schemeClr val="dk1"/>
                          </a:solidFill>
                          <a:latin typeface="Aptos" panose="020B0004020202020204" pitchFamily="34" charset="0"/>
                          <a:ea typeface="+mn-ea"/>
                          <a:cs typeface="+mn-cs"/>
                        </a:rPr>
                        <a:t>MVP3 DDIT start - complete</a:t>
                      </a:r>
                      <a:endParaRPr lang="en-US" sz="850">
                        <a:latin typeface="Aptos"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defTabSz="914400">
                        <a:buNone/>
                        <a:tabLst/>
                      </a:pPr>
                      <a:endParaRPr lang="en-US" sz="850">
                        <a:latin typeface="Aptos"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defTabSz="914400">
                        <a:buNone/>
                        <a:tabLst/>
                      </a:pPr>
                      <a:r>
                        <a:rPr lang="en-US" sz="850">
                          <a:latin typeface="Aptos" panose="020B0004020202020204" pitchFamily="34" charset="0"/>
                        </a:rPr>
                        <a:t>8/13 – 12/24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ts val="600"/>
                        </a:lnSpc>
                        <a:spcBef>
                          <a:spcPts val="300"/>
                        </a:spcBef>
                        <a:spcAft>
                          <a:spcPts val="0"/>
                        </a:spcAft>
                        <a:buClrTx/>
                        <a:buSzTx/>
                        <a:buFontTx/>
                        <a:buNone/>
                        <a:tabLst/>
                        <a:defRPr/>
                      </a:pPr>
                      <a:endParaRPr lang="en-US" sz="850" b="0" i="0">
                        <a:solidFill>
                          <a:srgbClr val="000000"/>
                        </a:solidFill>
                        <a:effectLst/>
                        <a:latin typeface="Aptos" panose="020B00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48893264"/>
                  </a:ext>
                </a:extLst>
              </a:tr>
              <a:tr h="240993">
                <a:tc>
                  <a:txBody>
                    <a:bodyPr/>
                    <a:lstStyle/>
                    <a:p>
                      <a:pPr marL="114300" marR="0" lvl="0" indent="0" algn="l" rtl="0">
                        <a:lnSpc>
                          <a:spcPct val="95000"/>
                        </a:lnSpc>
                        <a:spcBef>
                          <a:spcPct val="0"/>
                        </a:spcBef>
                        <a:spcAft>
                          <a:spcPct val="50000"/>
                        </a:spcAft>
                        <a:buClrTx/>
                        <a:buSzTx/>
                        <a:buFontTx/>
                        <a:buNone/>
                      </a:pPr>
                      <a:r>
                        <a:rPr lang="en-US" sz="850" kern="1200">
                          <a:solidFill>
                            <a:schemeClr val="dk1"/>
                          </a:solidFill>
                          <a:latin typeface="Aptos" panose="020B0004020202020204" pitchFamily="34" charset="0"/>
                          <a:ea typeface="+mn-ea"/>
                          <a:cs typeface="+mn-cs"/>
                        </a:rPr>
                        <a:t>MVP3 E2E</a:t>
                      </a:r>
                      <a:endParaRPr lang="en-US" sz="850">
                        <a:latin typeface="Aptos"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defTabSz="914400">
                        <a:buNone/>
                        <a:tabLst/>
                      </a:pPr>
                      <a:r>
                        <a:rPr lang="en-US" sz="850">
                          <a:latin typeface="Aptos" panose="020B0004020202020204" pitchFamily="34" charset="0"/>
                        </a:rPr>
                        <a:t>NS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buNone/>
                      </a:pPr>
                      <a:r>
                        <a:rPr lang="en-US" sz="850" strike="noStrike">
                          <a:latin typeface="Aptos" panose="020B0004020202020204" pitchFamily="34" charset="0"/>
                        </a:rPr>
                        <a:t>12/28-1/10/27</a:t>
                      </a:r>
                      <a:endParaRPr lang="en-US" sz="850">
                        <a:latin typeface="Aptos"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l">
                        <a:lnSpc>
                          <a:spcPts val="600"/>
                        </a:lnSpc>
                        <a:spcBef>
                          <a:spcPts val="300"/>
                        </a:spcBef>
                        <a:buNone/>
                      </a:pPr>
                      <a:endParaRPr lang="en-US" sz="850" b="0" i="0">
                        <a:solidFill>
                          <a:srgbClr val="000000"/>
                        </a:solidFill>
                        <a:effectLst/>
                        <a:latin typeface="Aptos" panose="020B0004020202020204" pitchFamily="34" charset="0"/>
                      </a:endParaRPr>
                    </a:p>
                  </a:txBody>
                  <a:tcPr anchor="ct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0">
                      <a:noFill/>
                    </a:lnTlToBr>
                    <a:lnBlToTr w="0">
                      <a:noFill/>
                    </a:lnBlToTr>
                    <a:noFill/>
                  </a:tcPr>
                </a:tc>
                <a:extLst>
                  <a:ext uri="{0D108BD9-81ED-4DB2-BD59-A6C34878D82A}">
                    <a16:rowId xmlns:a16="http://schemas.microsoft.com/office/drawing/2014/main" val="1099244465"/>
                  </a:ext>
                </a:extLst>
              </a:tr>
              <a:tr h="281118">
                <a:tc>
                  <a:txBody>
                    <a:bodyPr/>
                    <a:lstStyle/>
                    <a:p>
                      <a:pPr marL="114300" marR="0" lvl="0" indent="0" algn="l" rtl="0">
                        <a:lnSpc>
                          <a:spcPct val="95000"/>
                        </a:lnSpc>
                        <a:spcBef>
                          <a:spcPct val="0"/>
                        </a:spcBef>
                        <a:spcAft>
                          <a:spcPct val="50000"/>
                        </a:spcAft>
                        <a:buClrTx/>
                        <a:buSzTx/>
                        <a:buFontTx/>
                        <a:buNone/>
                      </a:pPr>
                      <a:r>
                        <a:rPr lang="en-US" sz="850" kern="1200">
                          <a:solidFill>
                            <a:schemeClr val="dk1"/>
                          </a:solidFill>
                          <a:latin typeface="Aptos" panose="020B0004020202020204" pitchFamily="34" charset="0"/>
                          <a:ea typeface="+mn-ea"/>
                          <a:cs typeface="+mn-cs"/>
                        </a:rPr>
                        <a:t>MVP3 </a:t>
                      </a:r>
                      <a:r>
                        <a:rPr lang="en-US" sz="850" b="0" i="0" u="none" strike="noStrike" kern="1200" noProof="0">
                          <a:solidFill>
                            <a:schemeClr val="dk1"/>
                          </a:solidFill>
                          <a:latin typeface="Aptos" panose="020B0004020202020204" pitchFamily="34" charset="0"/>
                          <a:ea typeface="+mn-ea"/>
                          <a:cs typeface="+mn-cs"/>
                        </a:rPr>
                        <a:t>Business UAT/Sign off Complete</a:t>
                      </a:r>
                      <a:endParaRPr lang="en-US" sz="850" kern="1200">
                        <a:solidFill>
                          <a:schemeClr val="dk1"/>
                        </a:solidFill>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buNone/>
                      </a:pPr>
                      <a:r>
                        <a:rPr lang="en-US" sz="850">
                          <a:latin typeface="Aptos" panose="020B0004020202020204" pitchFamily="34" charset="0"/>
                        </a:rPr>
                        <a:t>NS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buNone/>
                      </a:pPr>
                      <a:r>
                        <a:rPr lang="en-US" sz="850" strike="noStrike">
                          <a:latin typeface="Aptos" panose="020B0004020202020204" pitchFamily="34" charset="0"/>
                        </a:rPr>
                        <a:t>1/11/27 – 1/30/27</a:t>
                      </a:r>
                      <a:endParaRPr lang="en-US" sz="850" b="0" strike="noStrike" kern="1200">
                        <a:solidFill>
                          <a:schemeClr val="tx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l">
                        <a:lnSpc>
                          <a:spcPct val="100000"/>
                        </a:lnSpc>
                        <a:spcBef>
                          <a:spcPts val="0"/>
                        </a:spcBef>
                        <a:spcAft>
                          <a:spcPts val="0"/>
                        </a:spcAft>
                        <a:buNone/>
                      </a:pPr>
                      <a:endParaRPr lang="en-US" sz="850" b="0" i="0" kern="1200" noProof="0">
                        <a:solidFill>
                          <a:srgbClr val="000000"/>
                        </a:solidFill>
                        <a:effectLst/>
                        <a:latin typeface="Aptos" panose="020B0004020202020204" pitchFamily="34" charset="0"/>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87139067"/>
                  </a:ext>
                </a:extLst>
              </a:tr>
              <a:tr h="276287">
                <a:tc>
                  <a:txBody>
                    <a:bodyPr/>
                    <a:lstStyle/>
                    <a:p>
                      <a:pPr marL="114300" marR="0" lvl="0" indent="0" algn="l" rtl="0">
                        <a:lnSpc>
                          <a:spcPct val="95000"/>
                        </a:lnSpc>
                        <a:spcBef>
                          <a:spcPct val="0"/>
                        </a:spcBef>
                        <a:spcAft>
                          <a:spcPct val="50000"/>
                        </a:spcAft>
                        <a:buClrTx/>
                        <a:buSzTx/>
                        <a:buFontTx/>
                        <a:buNone/>
                      </a:pPr>
                      <a:r>
                        <a:rPr lang="en-US" sz="850" kern="1200">
                          <a:solidFill>
                            <a:schemeClr val="dk1"/>
                          </a:solidFill>
                          <a:latin typeface="Aptos" panose="020B0004020202020204" pitchFamily="34" charset="0"/>
                          <a:ea typeface="+mn-ea"/>
                          <a:cs typeface="+mn-cs"/>
                        </a:rPr>
                        <a:t>MVP3 Go No/Go</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buNone/>
                      </a:pPr>
                      <a:r>
                        <a:rPr lang="en-US" sz="850">
                          <a:latin typeface="Aptos" panose="020B0004020202020204" pitchFamily="34" charset="0"/>
                        </a:rPr>
                        <a:t>NS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buNone/>
                      </a:pPr>
                      <a:r>
                        <a:rPr lang="en-US" sz="850" strike="noStrike">
                          <a:latin typeface="Aptos" panose="020B0004020202020204" pitchFamily="34" charset="0"/>
                        </a:rPr>
                        <a:t>2/2/27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eaLnBrk="1" fontAlgn="base" latinLnBrk="0" hangingPunct="1">
                        <a:lnSpc>
                          <a:spcPct val="100000"/>
                        </a:lnSpc>
                        <a:spcBef>
                          <a:spcPts val="200"/>
                        </a:spcBef>
                        <a:spcAft>
                          <a:spcPts val="0"/>
                        </a:spcAft>
                        <a:buClrTx/>
                        <a:buSzTx/>
                        <a:buFontTx/>
                        <a:buNone/>
                      </a:pPr>
                      <a:endParaRPr lang="en-US" sz="850" b="0" i="0">
                        <a:solidFill>
                          <a:srgbClr val="000000"/>
                        </a:solidFill>
                        <a:effectLst/>
                        <a:latin typeface="Aptos" panose="020B0004020202020204" pitchFamily="34" charset="0"/>
                        <a:cs typeface="Times New Roman"/>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59181009"/>
                  </a:ext>
                </a:extLst>
              </a:tr>
              <a:tr h="255209">
                <a:tc>
                  <a:txBody>
                    <a:bodyPr/>
                    <a:lstStyle/>
                    <a:p>
                      <a:pPr marL="114300" marR="0" lvl="0" indent="0" algn="l" rtl="0">
                        <a:lnSpc>
                          <a:spcPct val="95000"/>
                        </a:lnSpc>
                        <a:spcBef>
                          <a:spcPct val="0"/>
                        </a:spcBef>
                        <a:spcAft>
                          <a:spcPct val="50000"/>
                        </a:spcAft>
                        <a:buClrTx/>
                        <a:buSzTx/>
                        <a:buFontTx/>
                        <a:buNone/>
                      </a:pPr>
                      <a:r>
                        <a:rPr lang="en-US" sz="850" kern="1200">
                          <a:solidFill>
                            <a:schemeClr val="dk1"/>
                          </a:solidFill>
                          <a:latin typeface="Aptos" panose="020B0004020202020204" pitchFamily="34" charset="0"/>
                          <a:ea typeface="+mn-ea"/>
                          <a:cs typeface="+mn-cs"/>
                        </a:rPr>
                        <a:t>MVP3 Delivery to Production</a:t>
                      </a:r>
                      <a:endParaRPr lang="en-US" sz="850">
                        <a:latin typeface="Aptos"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buNone/>
                      </a:pPr>
                      <a:r>
                        <a:rPr lang="en-US" sz="850">
                          <a:latin typeface="Aptos" panose="020B0004020202020204" pitchFamily="34" charset="0"/>
                        </a:rPr>
                        <a:t>NS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buNone/>
                      </a:pPr>
                      <a:r>
                        <a:rPr lang="en-US" sz="850" strike="noStrike">
                          <a:latin typeface="Aptos" panose="020B0004020202020204" pitchFamily="34" charset="0"/>
                        </a:rPr>
                        <a:t>2/17/27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ts val="200"/>
                        </a:spcBef>
                        <a:spcAft>
                          <a:spcPts val="0"/>
                        </a:spcAft>
                        <a:buClrTx/>
                        <a:buSzTx/>
                        <a:buFontTx/>
                        <a:buNone/>
                        <a:tabLst/>
                        <a:defRPr/>
                      </a:pPr>
                      <a:endParaRPr lang="en-US" sz="850" b="0" i="0" u="none" strike="noStrike" kern="100" noProof="0">
                        <a:solidFill>
                          <a:schemeClr val="dk1"/>
                        </a:solidFill>
                        <a:effectLst/>
                        <a:latin typeface="Aptos" panose="020B00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99732389"/>
                  </a:ext>
                </a:extLst>
              </a:tr>
              <a:tr h="236980">
                <a:tc>
                  <a:txBody>
                    <a:bodyPr/>
                    <a:lstStyle/>
                    <a:p>
                      <a:pPr marL="114300" marR="0" lvl="0" indent="0" algn="l" rtl="0" eaLnBrk="1" fontAlgn="auto" latinLnBrk="0" hangingPunct="1">
                        <a:lnSpc>
                          <a:spcPct val="95000"/>
                        </a:lnSpc>
                        <a:spcBef>
                          <a:spcPct val="0"/>
                        </a:spcBef>
                        <a:spcAft>
                          <a:spcPct val="50000"/>
                        </a:spcAft>
                        <a:buClrTx/>
                        <a:buSzTx/>
                        <a:buFontTx/>
                        <a:buNone/>
                      </a:pPr>
                      <a:endParaRPr lang="en-US" sz="800" kern="1200">
                        <a:solidFill>
                          <a:schemeClr val="dk1"/>
                        </a:solidFill>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latin typeface="+mn-l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strike="noStrike">
                        <a:latin typeface="+mn-l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ts val="200"/>
                        </a:spcBef>
                        <a:spcAft>
                          <a:spcPts val="0"/>
                        </a:spcAft>
                        <a:buClrTx/>
                        <a:buSzTx/>
                        <a:buFontTx/>
                        <a:buNone/>
                        <a:tabLst/>
                        <a:defRPr/>
                      </a:pPr>
                      <a:endParaRPr lang="en-US" sz="800" b="0" i="0">
                        <a:solidFill>
                          <a:srgbClr val="000000"/>
                        </a:solidFill>
                        <a:effectLst/>
                        <a:latin typeface="+mn-lt"/>
                        <a:cs typeface="Times New Roman"/>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75249404"/>
                  </a:ext>
                </a:extLst>
              </a:tr>
              <a:tr h="263945">
                <a:tc>
                  <a:txBody>
                    <a:bodyPr/>
                    <a:lstStyle/>
                    <a:p>
                      <a:pPr marL="114300" marR="0" lvl="0" indent="0" algn="l" rtl="0">
                        <a:lnSpc>
                          <a:spcPct val="95000"/>
                        </a:lnSpc>
                        <a:spcBef>
                          <a:spcPct val="0"/>
                        </a:spcBef>
                        <a:spcAft>
                          <a:spcPct val="50000"/>
                        </a:spcAft>
                        <a:buClrTx/>
                        <a:buSzTx/>
                        <a:buFontTx/>
                        <a:buNone/>
                      </a:pPr>
                      <a:endParaRPr lang="en-US" sz="800" kern="1200">
                        <a:solidFill>
                          <a:schemeClr val="dk1"/>
                        </a:solidFill>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latin typeface="+mn-l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strike="noStrike">
                        <a:latin typeface="+mn-l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eaLnBrk="1" fontAlgn="ctr" latinLnBrk="0" hangingPunct="1">
                        <a:lnSpc>
                          <a:spcPct val="95000"/>
                        </a:lnSpc>
                        <a:spcBef>
                          <a:spcPct val="0"/>
                        </a:spcBef>
                        <a:spcAft>
                          <a:spcPct val="50000"/>
                        </a:spcAft>
                        <a:buClrTx/>
                        <a:buSzTx/>
                        <a:buFontTx/>
                        <a:buNone/>
                      </a:pPr>
                      <a:endParaRPr lang="en-US" sz="800" b="0" strike="noStrike"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76961585"/>
                  </a:ext>
                </a:extLst>
              </a:tr>
              <a:tr h="253500">
                <a:tc>
                  <a:txBody>
                    <a:bodyPr/>
                    <a:lstStyle/>
                    <a:p>
                      <a:pPr marL="114300" marR="0" lvl="0" indent="0" algn="l" rtl="0">
                        <a:lnSpc>
                          <a:spcPct val="95000"/>
                        </a:lnSpc>
                        <a:spcBef>
                          <a:spcPct val="0"/>
                        </a:spcBef>
                        <a:spcAft>
                          <a:spcPct val="50000"/>
                        </a:spcAft>
                        <a:buClrTx/>
                        <a:buSzTx/>
                        <a:buFontTx/>
                        <a:buNone/>
                      </a:pPr>
                      <a:endParaRPr lang="en-US" sz="800" b="0" i="0" u="none" strike="noStrike" kern="1200" noProof="0">
                        <a:solidFill>
                          <a:schemeClr val="dk1"/>
                        </a:solidFill>
                        <a:latin typeface="Aptos"/>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latin typeface="+mn-l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strike="noStrike">
                        <a:latin typeface="+mn-l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eaLnBrk="1" fontAlgn="ctr" latinLnBrk="0" hangingPunct="1">
                        <a:lnSpc>
                          <a:spcPct val="95000"/>
                        </a:lnSpc>
                        <a:spcBef>
                          <a:spcPct val="0"/>
                        </a:spcBef>
                        <a:spcAft>
                          <a:spcPct val="50000"/>
                        </a:spcAft>
                        <a:buClrTx/>
                        <a:buSzTx/>
                        <a:buFontTx/>
                        <a:buNone/>
                      </a:pPr>
                      <a:endParaRPr lang="en-US" sz="800" b="0" strike="noStrike"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328197"/>
                  </a:ext>
                </a:extLst>
              </a:tr>
            </a:tbl>
          </a:graphicData>
        </a:graphic>
      </p:graphicFrame>
      <p:graphicFrame>
        <p:nvGraphicFramePr>
          <p:cNvPr id="29" name="Table 28">
            <a:extLst>
              <a:ext uri="{FF2B5EF4-FFF2-40B4-BE49-F238E27FC236}">
                <a16:creationId xmlns:a16="http://schemas.microsoft.com/office/drawing/2014/main" id="{6834A5AD-1FE8-EA37-DE5E-D92E6513433E}"/>
              </a:ext>
            </a:extLst>
          </p:cNvPr>
          <p:cNvGraphicFramePr>
            <a:graphicFrameLocks noGrp="1"/>
          </p:cNvGraphicFramePr>
          <p:nvPr>
            <p:extLst>
              <p:ext uri="{D42A27DB-BD31-4B8C-83A1-F6EECF244321}">
                <p14:modId xmlns:p14="http://schemas.microsoft.com/office/powerpoint/2010/main" val="2643576337"/>
              </p:ext>
            </p:extLst>
          </p:nvPr>
        </p:nvGraphicFramePr>
        <p:xfrm>
          <a:off x="4961437" y="4134138"/>
          <a:ext cx="7159661" cy="2407857"/>
        </p:xfrm>
        <a:graphic>
          <a:graphicData uri="http://schemas.openxmlformats.org/drawingml/2006/table">
            <a:tbl>
              <a:tblPr>
                <a:tableStyleId>{5C22544A-7EE6-4342-B048-85BDC9FD1C3A}</a:tableStyleId>
              </a:tblPr>
              <a:tblGrid>
                <a:gridCol w="2432140">
                  <a:extLst>
                    <a:ext uri="{9D8B030D-6E8A-4147-A177-3AD203B41FA5}">
                      <a16:colId xmlns:a16="http://schemas.microsoft.com/office/drawing/2014/main" val="2456552316"/>
                    </a:ext>
                  </a:extLst>
                </a:gridCol>
                <a:gridCol w="583474">
                  <a:extLst>
                    <a:ext uri="{9D8B030D-6E8A-4147-A177-3AD203B41FA5}">
                      <a16:colId xmlns:a16="http://schemas.microsoft.com/office/drawing/2014/main" val="1100051595"/>
                    </a:ext>
                  </a:extLst>
                </a:gridCol>
                <a:gridCol w="721147">
                  <a:extLst>
                    <a:ext uri="{9D8B030D-6E8A-4147-A177-3AD203B41FA5}">
                      <a16:colId xmlns:a16="http://schemas.microsoft.com/office/drawing/2014/main" val="2042261034"/>
                    </a:ext>
                  </a:extLst>
                </a:gridCol>
                <a:gridCol w="3422900">
                  <a:extLst>
                    <a:ext uri="{9D8B030D-6E8A-4147-A177-3AD203B41FA5}">
                      <a16:colId xmlns:a16="http://schemas.microsoft.com/office/drawing/2014/main" val="2815874248"/>
                    </a:ext>
                  </a:extLst>
                </a:gridCol>
              </a:tblGrid>
              <a:tr h="309849">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Critical Risks/Issues</a:t>
                      </a:r>
                      <a:endParaRPr kumimoji="0" lang="en-US" sz="1050" b="1" i="0" u="none" strike="noStrike" kern="1200" cap="none" normalizeH="0" baseline="0">
                        <a:ln>
                          <a:noFill/>
                        </a:ln>
                        <a:solidFill>
                          <a:schemeClr val="bg1"/>
                        </a:solidFill>
                        <a:effectLst/>
                        <a:latin typeface="Arial" charset="0"/>
                        <a:ea typeface="+mn-ea"/>
                        <a:cs typeface="+mn-cs"/>
                      </a:endParaRP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Status</a:t>
                      </a:r>
                    </a:p>
                  </a:txBody>
                  <a:tcPr marL="9525" marR="9525" marT="9525" marB="0" anchor="ct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Target Date</a:t>
                      </a:r>
                    </a:p>
                  </a:txBody>
                  <a:tcPr marL="9525" marR="9525" marT="9525" marB="0" anchor="ctr">
                    <a:lnL w="12700">
                      <a:solidFill>
                        <a:schemeClr val="tx1"/>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Resolution / Mitigation</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724457">
                <a:tc>
                  <a:txBody>
                    <a:bodyPr/>
                    <a:lstStyle/>
                    <a:p>
                      <a:pPr marL="285750" marR="0" lvl="0" indent="-285750" algn="l">
                        <a:lnSpc>
                          <a:spcPct val="100000"/>
                        </a:lnSpc>
                        <a:spcBef>
                          <a:spcPts val="0"/>
                        </a:spcBef>
                        <a:spcAft>
                          <a:spcPts val="0"/>
                        </a:spcAft>
                        <a:buClr>
                          <a:srgbClr val="000000"/>
                        </a:buClr>
                        <a:buFont typeface="Arial,Sans-Serif"/>
                        <a:buChar char="•"/>
                      </a:pPr>
                      <a:r>
                        <a:rPr lang="en-US" sz="850" b="1" i="0" u="none" strike="noStrike" noProof="0">
                          <a:solidFill>
                            <a:srgbClr val="000000"/>
                          </a:solidFill>
                          <a:latin typeface="Aptos"/>
                        </a:rPr>
                        <a:t>Funding Risk:</a:t>
                      </a:r>
                      <a:r>
                        <a:rPr lang="en-US" sz="850" b="0" i="0" u="none" strike="noStrike" noProof="0">
                          <a:solidFill>
                            <a:srgbClr val="000000"/>
                          </a:solidFill>
                          <a:latin typeface="Aptos"/>
                        </a:rPr>
                        <a:t> Current MVP3 budget does not include all test execution and implementation activities required to support enterprise release readiness. An additional </a:t>
                      </a:r>
                      <a:r>
                        <a:rPr lang="en-US" sz="850" b="1" i="0" u="none" strike="noStrike" noProof="0">
                          <a:solidFill>
                            <a:srgbClr val="000000"/>
                          </a:solidFill>
                          <a:latin typeface="Aptos"/>
                        </a:rPr>
                        <a:t>$150K</a:t>
                      </a:r>
                      <a:r>
                        <a:rPr lang="en-US" sz="850" b="0" i="0" u="none" strike="noStrike" noProof="0">
                          <a:solidFill>
                            <a:srgbClr val="000000"/>
                          </a:solidFill>
                          <a:latin typeface="Aptos"/>
                        </a:rPr>
                        <a:t> is needed to complete Integration Testing, E2E, UAT, Regression, Performance, Security Testing, and Implementation activities.</a:t>
                      </a:r>
                    </a:p>
                    <a:p>
                      <a:pPr marL="285750" marR="0" lvl="0" indent="-285750" algn="l">
                        <a:lnSpc>
                          <a:spcPct val="100000"/>
                        </a:lnSpc>
                        <a:spcBef>
                          <a:spcPts val="0"/>
                        </a:spcBef>
                        <a:spcAft>
                          <a:spcPts val="0"/>
                        </a:spcAft>
                        <a:buClr>
                          <a:srgbClr val="000000"/>
                        </a:buClr>
                        <a:buFont typeface="Arial,Sans-Serif"/>
                        <a:buChar char="•"/>
                      </a:pPr>
                      <a:endParaRPr lang="en-US" sz="850" b="1" i="0" u="none" strike="noStrike" noProof="0">
                        <a:solidFill>
                          <a:srgbClr val="000000"/>
                        </a:solidFill>
                        <a:latin typeface="Aptos" panose="020B0004020202020204" pitchFamily="34" charset="0"/>
                      </a:endParaRPr>
                    </a:p>
                    <a:p>
                      <a:pPr marL="285750" marR="0" lvl="0" indent="-285750" algn="l">
                        <a:lnSpc>
                          <a:spcPct val="100000"/>
                        </a:lnSpc>
                        <a:spcBef>
                          <a:spcPts val="0"/>
                        </a:spcBef>
                        <a:spcAft>
                          <a:spcPts val="0"/>
                        </a:spcAft>
                        <a:buClr>
                          <a:srgbClr val="000000"/>
                        </a:buClr>
                        <a:buFont typeface="Arial,Sans-Serif"/>
                        <a:buChar char="•"/>
                      </a:pPr>
                      <a:r>
                        <a:rPr lang="en-US" sz="850" b="1" i="0" u="none" strike="noStrike" noProof="0">
                          <a:solidFill>
                            <a:srgbClr val="000000"/>
                          </a:solidFill>
                          <a:latin typeface="Aptos" panose="020B0004020202020204" pitchFamily="34" charset="0"/>
                        </a:rPr>
                        <a:t>Schedule Risk:</a:t>
                      </a:r>
                      <a:r>
                        <a:rPr lang="en-US" sz="850" b="0" i="0" u="none" strike="noStrike" noProof="0">
                          <a:solidFill>
                            <a:srgbClr val="000000"/>
                          </a:solidFill>
                          <a:latin typeface="Aptos" panose="020B0004020202020204" pitchFamily="34" charset="0"/>
                        </a:rPr>
                        <a:t> MVP3 readiness is dependent upon securing both funding approval and leadership alignment on the February 2027 target date. Delays in either approval may impact planning, testing timelines, and release readiness.</a:t>
                      </a:r>
                      <a:endParaRPr lang="en-US" sz="850">
                        <a:latin typeface="Aptos" panose="020B0004020202020204" pitchFamily="34" charset="0"/>
                      </a:endParaRPr>
                    </a:p>
                    <a:p>
                      <a:pPr marL="0" marR="0" lvl="0" indent="0" algn="l" defTabSz="914400">
                        <a:lnSpc>
                          <a:spcPct val="114999"/>
                        </a:lnSpc>
                        <a:spcBef>
                          <a:spcPts val="0"/>
                        </a:spcBef>
                        <a:spcAft>
                          <a:spcPts val="800"/>
                        </a:spcAft>
                        <a:buClrTx/>
                        <a:buSzTx/>
                        <a:buFontTx/>
                        <a:buNone/>
                        <a:tabLst/>
                        <a:defRPr/>
                      </a:pPr>
                      <a:endParaRPr lang="en-US" sz="850">
                        <a:latin typeface="Aptos" panose="020B0004020202020204" pitchFamily="34" charset="0"/>
                      </a:endParaRP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850" b="0" kern="1200">
                        <a:solidFill>
                          <a:schemeClr val="tx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a:lnSpc>
                          <a:spcPct val="95000"/>
                        </a:lnSpc>
                        <a:spcBef>
                          <a:spcPct val="0"/>
                        </a:spcBef>
                        <a:spcAft>
                          <a:spcPct val="50000"/>
                        </a:spcAft>
                        <a:buNone/>
                        <a:tabLst/>
                      </a:pPr>
                      <a:r>
                        <a:rPr lang="en-US" sz="850" b="0" strike="sngStrike" kern="1200">
                          <a:solidFill>
                            <a:schemeClr val="tx1"/>
                          </a:solidFill>
                          <a:effectLst/>
                          <a:latin typeface="Aptos"/>
                          <a:ea typeface="+mn-ea"/>
                          <a:cs typeface="+mn-cs"/>
                        </a:rPr>
                        <a:t>8/30</a:t>
                      </a:r>
                    </a:p>
                    <a:p>
                      <a:pPr marL="0" marR="0" lvl="0" indent="0" algn="ctr">
                        <a:lnSpc>
                          <a:spcPct val="95000"/>
                        </a:lnSpc>
                        <a:spcBef>
                          <a:spcPct val="0"/>
                        </a:spcBef>
                        <a:spcAft>
                          <a:spcPct val="50000"/>
                        </a:spcAft>
                        <a:buNone/>
                      </a:pPr>
                      <a:r>
                        <a:rPr lang="en-US" sz="850" b="0" strike="noStrike" kern="1200">
                          <a:solidFill>
                            <a:schemeClr val="tx1"/>
                          </a:solidFill>
                          <a:effectLst/>
                          <a:latin typeface="Aptos"/>
                          <a:ea typeface="+mn-ea"/>
                          <a:cs typeface="+mn-cs"/>
                        </a:rPr>
                        <a:t>9/30</a:t>
                      </a:r>
                    </a:p>
                  </a:txBody>
                  <a:tcPr marL="9525" marR="9525" marT="9525" marB="0" anchor="ctr">
                    <a:lnL w="12700">
                      <a:solidFill>
                        <a:schemeClr val="tx1"/>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marR="0" lvl="0" indent="-171450" algn="l" rtl="0" eaLnBrk="1" fontAlgn="base" latinLnBrk="0" hangingPunct="1">
                        <a:lnSpc>
                          <a:spcPct val="100000"/>
                        </a:lnSpc>
                        <a:spcBef>
                          <a:spcPts val="200"/>
                        </a:spcBef>
                        <a:spcAft>
                          <a:spcPts val="0"/>
                        </a:spcAft>
                        <a:buClr>
                          <a:srgbClr val="000000"/>
                        </a:buClr>
                        <a:buSzTx/>
                        <a:buFont typeface="Arial" panose="020B0604020202020204" pitchFamily="34" charset="0"/>
                        <a:buChar char="•"/>
                      </a:pPr>
                      <a:r>
                        <a:rPr lang="en-US" sz="850" b="0" i="0" u="none" strike="noStrike" noProof="0">
                          <a:solidFill>
                            <a:srgbClr val="000000"/>
                          </a:solidFill>
                          <a:latin typeface="Aptos" panose="020B0004020202020204" pitchFamily="34" charset="0"/>
                        </a:rPr>
                        <a:t>Complete Open Enrollment impact assessment</a:t>
                      </a:r>
                    </a:p>
                    <a:p>
                      <a:pPr marL="171450" marR="0" lvl="0" indent="-171450" algn="l" rtl="0" eaLnBrk="1" fontAlgn="base" latinLnBrk="0" hangingPunct="1">
                        <a:lnSpc>
                          <a:spcPct val="100000"/>
                        </a:lnSpc>
                        <a:spcBef>
                          <a:spcPts val="200"/>
                        </a:spcBef>
                        <a:spcAft>
                          <a:spcPts val="0"/>
                        </a:spcAft>
                        <a:buClr>
                          <a:srgbClr val="000000"/>
                        </a:buClr>
                        <a:buSzTx/>
                        <a:buFont typeface="Arial" panose="020B0604020202020204" pitchFamily="34" charset="0"/>
                        <a:buChar char="•"/>
                      </a:pPr>
                      <a:r>
                        <a:rPr lang="en-US" sz="850" b="0" i="0" u="none" strike="noStrike" noProof="0">
                          <a:solidFill>
                            <a:srgbClr val="000000"/>
                          </a:solidFill>
                          <a:latin typeface="Aptos" panose="020B0004020202020204" pitchFamily="34" charset="0"/>
                        </a:rPr>
                        <a:t>Obtain Steering Committee timeline and 2027 cost approval </a:t>
                      </a:r>
                    </a:p>
                    <a:p>
                      <a:pPr marL="171450" marR="0" lvl="0" indent="-171450" algn="l" rtl="0" eaLnBrk="1" fontAlgn="base" latinLnBrk="0" hangingPunct="1">
                        <a:lnSpc>
                          <a:spcPct val="100000"/>
                        </a:lnSpc>
                        <a:spcBef>
                          <a:spcPts val="200"/>
                        </a:spcBef>
                        <a:spcAft>
                          <a:spcPts val="0"/>
                        </a:spcAft>
                        <a:buClr>
                          <a:srgbClr val="000000"/>
                        </a:buClr>
                        <a:buSzTx/>
                        <a:buFont typeface="Arial" panose="020B0604020202020204" pitchFamily="34" charset="0"/>
                        <a:buChar char="•"/>
                      </a:pPr>
                      <a:r>
                        <a:rPr lang="en-US" sz="850" b="0" i="0" u="none" strike="noStrike" noProof="0">
                          <a:solidFill>
                            <a:srgbClr val="000000"/>
                          </a:solidFill>
                          <a:latin typeface="Aptos"/>
                        </a:rPr>
                        <a:t>Execute enhanced readiness and hypercare plans</a:t>
                      </a:r>
                    </a:p>
                    <a:p>
                      <a:pPr marL="171450" marR="0" lvl="0" indent="-171450" algn="l" rtl="0" eaLnBrk="1" fontAlgn="base" latinLnBrk="0" hangingPunct="1">
                        <a:lnSpc>
                          <a:spcPct val="100000"/>
                        </a:lnSpc>
                        <a:spcBef>
                          <a:spcPts val="200"/>
                        </a:spcBef>
                        <a:spcAft>
                          <a:spcPts val="0"/>
                        </a:spcAft>
                        <a:buClr>
                          <a:srgbClr val="000000"/>
                        </a:buClr>
                        <a:buSzTx/>
                        <a:buFont typeface="Arial" panose="020B0604020202020204" pitchFamily="34" charset="0"/>
                        <a:buChar char="•"/>
                      </a:pPr>
                      <a:r>
                        <a:rPr lang="en-US" sz="850" b="0" i="0" u="none" strike="noStrike" noProof="0">
                          <a:solidFill>
                            <a:srgbClr val="000000"/>
                          </a:solidFill>
                          <a:latin typeface="Aptos" panose="020B0004020202020204" pitchFamily="34" charset="0"/>
                        </a:rPr>
                        <a:t>Reassess the release window if risk levels exceed acceptable thresholds.</a:t>
                      </a:r>
                      <a:endParaRPr lang="en-US" sz="850">
                        <a:latin typeface="Aptos" panose="020B0004020202020204" pitchFamily="34" charset="0"/>
                      </a:endParaRP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7499024"/>
                  </a:ext>
                </a:extLst>
              </a:tr>
            </a:tbl>
          </a:graphicData>
        </a:graphic>
      </p:graphicFrame>
      <p:sp>
        <p:nvSpPr>
          <p:cNvPr id="33" name="Flowchart: Connector 32">
            <a:extLst>
              <a:ext uri="{FF2B5EF4-FFF2-40B4-BE49-F238E27FC236}">
                <a16:creationId xmlns:a16="http://schemas.microsoft.com/office/drawing/2014/main" id="{656A2B00-0B37-3A75-4331-BC0DA23BDB51}"/>
              </a:ext>
            </a:extLst>
          </p:cNvPr>
          <p:cNvSpPr/>
          <p:nvPr/>
        </p:nvSpPr>
        <p:spPr>
          <a:xfrm>
            <a:off x="6726836" y="6563166"/>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34" name="Flowchart: Connector 33">
            <a:extLst>
              <a:ext uri="{FF2B5EF4-FFF2-40B4-BE49-F238E27FC236}">
                <a16:creationId xmlns:a16="http://schemas.microsoft.com/office/drawing/2014/main" id="{FBE2108F-D084-FC8A-07B1-B61BE4E4E33D}"/>
              </a:ext>
            </a:extLst>
          </p:cNvPr>
          <p:cNvSpPr/>
          <p:nvPr/>
        </p:nvSpPr>
        <p:spPr>
          <a:xfrm>
            <a:off x="7763149" y="6584015"/>
            <a:ext cx="163286" cy="164592"/>
          </a:xfrm>
          <a:prstGeom prst="flowChartConnector">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36" name="Flowchart: Connector 35">
            <a:extLst>
              <a:ext uri="{FF2B5EF4-FFF2-40B4-BE49-F238E27FC236}">
                <a16:creationId xmlns:a16="http://schemas.microsoft.com/office/drawing/2014/main" id="{4FA0D94D-590E-B5B2-944F-BC376837E7B5}"/>
              </a:ext>
            </a:extLst>
          </p:cNvPr>
          <p:cNvSpPr/>
          <p:nvPr/>
        </p:nvSpPr>
        <p:spPr>
          <a:xfrm>
            <a:off x="8799463" y="6584015"/>
            <a:ext cx="163285" cy="164592"/>
          </a:xfrm>
          <a:prstGeom prst="flowChartConnector">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43" name="Flowchart: Connector 42">
            <a:extLst>
              <a:ext uri="{FF2B5EF4-FFF2-40B4-BE49-F238E27FC236}">
                <a16:creationId xmlns:a16="http://schemas.microsoft.com/office/drawing/2014/main" id="{91535C72-74E1-90F3-2089-78948E3894AB}"/>
              </a:ext>
            </a:extLst>
          </p:cNvPr>
          <p:cNvSpPr/>
          <p:nvPr/>
        </p:nvSpPr>
        <p:spPr>
          <a:xfrm>
            <a:off x="3303638" y="1403331"/>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highlight>
                <a:srgbClr val="00FF00"/>
              </a:highlight>
              <a:uLnTx/>
              <a:uFillTx/>
              <a:latin typeface="Arial"/>
              <a:ea typeface="+mn-ea"/>
              <a:cs typeface="+mn-cs"/>
            </a:endParaRPr>
          </a:p>
        </p:txBody>
      </p:sp>
      <p:sp>
        <p:nvSpPr>
          <p:cNvPr id="45" name="Flowchart: Connector 44">
            <a:extLst>
              <a:ext uri="{FF2B5EF4-FFF2-40B4-BE49-F238E27FC236}">
                <a16:creationId xmlns:a16="http://schemas.microsoft.com/office/drawing/2014/main" id="{0FF6D42D-1BF0-ED8A-00A1-25CCA0F93984}"/>
              </a:ext>
            </a:extLst>
          </p:cNvPr>
          <p:cNvSpPr/>
          <p:nvPr/>
        </p:nvSpPr>
        <p:spPr>
          <a:xfrm>
            <a:off x="4286105" y="1403331"/>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3" name="TextBox 2">
            <a:extLst>
              <a:ext uri="{FF2B5EF4-FFF2-40B4-BE49-F238E27FC236}">
                <a16:creationId xmlns:a16="http://schemas.microsoft.com/office/drawing/2014/main" id="{ABE5E0FB-BFF3-9F96-436D-0AB68FB9B785}"/>
              </a:ext>
            </a:extLst>
          </p:cNvPr>
          <p:cNvSpPr txBox="1"/>
          <p:nvPr/>
        </p:nvSpPr>
        <p:spPr>
          <a:xfrm>
            <a:off x="9460736" y="441279"/>
            <a:ext cx="2676180" cy="517320"/>
          </a:xfrm>
          <a:prstGeom prst="rect">
            <a:avLst/>
          </a:prstGeom>
          <a:noFill/>
        </p:spPr>
        <p:txBody>
          <a:bodyPr wrap="none" lIns="0" tIns="0" rIns="0" bIns="0" rtlCol="0" anchor="t">
            <a:noAutofit/>
          </a:bodyPr>
          <a:lstStyle/>
          <a:p>
            <a:pPr>
              <a:lnSpc>
                <a:spcPct val="112000"/>
              </a:lnSpc>
              <a:defRPr/>
            </a:pPr>
            <a:r>
              <a:rPr lang="en-US" sz="1200">
                <a:solidFill>
                  <a:srgbClr val="000000"/>
                </a:solidFill>
                <a:latin typeface="Arial"/>
                <a:cs typeface="Arial"/>
              </a:rPr>
              <a:t>Project Manager </a:t>
            </a:r>
            <a:r>
              <a:rPr kumimoji="0" lang="en-US" sz="1200" b="0" i="0" u="none" strike="noStrike" kern="1200" cap="none" spc="0" normalizeH="0" baseline="0" noProof="0">
                <a:ln>
                  <a:noFill/>
                </a:ln>
                <a:solidFill>
                  <a:srgbClr val="000000"/>
                </a:solidFill>
                <a:effectLst/>
                <a:uLnTx/>
                <a:uFillTx/>
                <a:latin typeface="Arial"/>
                <a:cs typeface="Arial"/>
              </a:rPr>
              <a:t>: Lalitha </a:t>
            </a:r>
            <a:r>
              <a:rPr lang="en-US" sz="1200">
                <a:solidFill>
                  <a:srgbClr val="000000"/>
                </a:solidFill>
                <a:latin typeface="Arial"/>
                <a:cs typeface="Arial"/>
              </a:rPr>
              <a:t>Kumar</a:t>
            </a:r>
            <a:endParaRPr lang="en-US" sz="1200">
              <a:latin typeface="Arial"/>
              <a:cs typeface="Arial"/>
            </a:endParaRPr>
          </a:p>
          <a:p>
            <a:pPr marL="0" marR="0" lvl="0" indent="0" algn="l" defTabSz="914400" rtl="0" eaLnBrk="1" fontAlgn="auto" latinLnBrk="0" hangingPunct="1">
              <a:lnSpc>
                <a:spcPct val="112000"/>
              </a:lnSpc>
              <a:spcBef>
                <a:spcPts val="0"/>
              </a:spcBef>
              <a:spcAft>
                <a:spcPts val="0"/>
              </a:spcAft>
              <a:buClrTx/>
              <a:buSzTx/>
              <a:buFontTx/>
              <a:buNone/>
              <a:tabLst/>
              <a:defRPr/>
            </a:pPr>
            <a:r>
              <a:rPr kumimoji="0" lang="en-US" sz="1200" b="0" i="0" u="none" strike="noStrike" kern="1200" cap="none" spc="0" normalizeH="0" baseline="0" noProof="0" err="1">
                <a:ln>
                  <a:noFill/>
                </a:ln>
                <a:solidFill>
                  <a:srgbClr val="000000"/>
                </a:solidFill>
                <a:effectLst/>
                <a:uLnTx/>
                <a:uFillTx/>
                <a:latin typeface="Arial"/>
                <a:cs typeface="Arial"/>
              </a:rPr>
              <a:t>OpEx</a:t>
            </a:r>
            <a:r>
              <a:rPr kumimoji="0" lang="en-US" sz="1200" b="0" i="0" u="none" strike="noStrike" kern="1200" cap="none" spc="0" normalizeH="0" baseline="0" noProof="0">
                <a:ln>
                  <a:noFill/>
                </a:ln>
                <a:solidFill>
                  <a:srgbClr val="000000"/>
                </a:solidFill>
                <a:effectLst/>
                <a:uLnTx/>
                <a:uFillTx/>
                <a:latin typeface="Arial"/>
                <a:cs typeface="Arial"/>
              </a:rPr>
              <a:t> Business Lead: Sarah Andrews</a:t>
            </a:r>
            <a:endParaRPr lang="en-US" sz="1200" b="0" i="0" u="none" strike="noStrike" kern="1200" cap="none" spc="0" normalizeH="0" baseline="0" noProof="0">
              <a:ln>
                <a:noFill/>
              </a:ln>
              <a:solidFill>
                <a:srgbClr val="000000"/>
              </a:solidFill>
              <a:effectLst/>
              <a:uLnTx/>
              <a:uFillTx/>
              <a:latin typeface="Arial"/>
              <a:cs typeface="Arial"/>
            </a:endParaRPr>
          </a:p>
        </p:txBody>
      </p:sp>
      <p:sp>
        <p:nvSpPr>
          <p:cNvPr id="4" name="Flowchart: Connector 3">
            <a:extLst>
              <a:ext uri="{FF2B5EF4-FFF2-40B4-BE49-F238E27FC236}">
                <a16:creationId xmlns:a16="http://schemas.microsoft.com/office/drawing/2014/main" id="{E5288779-3234-D49A-615D-D43DE7B4FB07}"/>
              </a:ext>
            </a:extLst>
          </p:cNvPr>
          <p:cNvSpPr/>
          <p:nvPr/>
        </p:nvSpPr>
        <p:spPr>
          <a:xfrm>
            <a:off x="5226813" y="1403331"/>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7" name="Flowchart: Connector 6">
            <a:extLst>
              <a:ext uri="{FF2B5EF4-FFF2-40B4-BE49-F238E27FC236}">
                <a16:creationId xmlns:a16="http://schemas.microsoft.com/office/drawing/2014/main" id="{FB931277-B31C-74DC-7A8F-8E050CDB56B9}"/>
              </a:ext>
            </a:extLst>
          </p:cNvPr>
          <p:cNvSpPr/>
          <p:nvPr/>
        </p:nvSpPr>
        <p:spPr>
          <a:xfrm>
            <a:off x="6096000" y="1415012"/>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10" name="Flowchart: Connector 9">
            <a:extLst>
              <a:ext uri="{FF2B5EF4-FFF2-40B4-BE49-F238E27FC236}">
                <a16:creationId xmlns:a16="http://schemas.microsoft.com/office/drawing/2014/main" id="{BB8E5836-5D43-6BAD-8CB5-EA410934844A}"/>
              </a:ext>
            </a:extLst>
          </p:cNvPr>
          <p:cNvSpPr/>
          <p:nvPr/>
        </p:nvSpPr>
        <p:spPr>
          <a:xfrm>
            <a:off x="7599864" y="5338066"/>
            <a:ext cx="163285" cy="164592"/>
          </a:xfrm>
          <a:prstGeom prst="flowChartConnector">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12" name="Flowchart: Connector 11">
            <a:extLst>
              <a:ext uri="{FF2B5EF4-FFF2-40B4-BE49-F238E27FC236}">
                <a16:creationId xmlns:a16="http://schemas.microsoft.com/office/drawing/2014/main" id="{6682D21A-48F2-4174-1B3C-2C2571EF60A7}"/>
              </a:ext>
            </a:extLst>
          </p:cNvPr>
          <p:cNvSpPr/>
          <p:nvPr/>
        </p:nvSpPr>
        <p:spPr>
          <a:xfrm>
            <a:off x="7599865" y="2113999"/>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6" name="TextBox 5">
            <a:extLst>
              <a:ext uri="{FF2B5EF4-FFF2-40B4-BE49-F238E27FC236}">
                <a16:creationId xmlns:a16="http://schemas.microsoft.com/office/drawing/2014/main" id="{24D4C3F4-2BC5-01CC-A548-E62174956F8F}"/>
              </a:ext>
            </a:extLst>
          </p:cNvPr>
          <p:cNvSpPr txBox="1"/>
          <p:nvPr/>
        </p:nvSpPr>
        <p:spPr>
          <a:xfrm>
            <a:off x="156072" y="1767290"/>
            <a:ext cx="4663807" cy="424731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900" b="1">
                <a:latin typeface="Aptos Display"/>
                <a:ea typeface="Segoe UI"/>
                <a:cs typeface="Segoe UI"/>
              </a:rPr>
              <a:t>Status</a:t>
            </a:r>
            <a:br>
              <a:rPr lang="en-US" sz="900">
                <a:latin typeface="Aptos Display"/>
                <a:ea typeface="Segoe UI"/>
                <a:cs typeface="Segoe UI"/>
              </a:rPr>
            </a:br>
            <a:r>
              <a:rPr lang="en-US" sz="900">
                <a:latin typeface="Aptos Display"/>
                <a:ea typeface="Segoe UI"/>
                <a:cs typeface="Segoe UI"/>
              </a:rPr>
              <a:t>MVP3 delivery activities continue to progress as planned. During the week, Epic Winners continued refining and finalizing Jira stories to ensure delivery scope is fully defined and ready for execution. In parallel, the lines are actively working through Development and Integration Testing (DDIT) activities, with teams focused on validating functionality, and preparing for downstream testing milestones. Planning, dependency management, and cross-team coordination remain on track in support of the February 2027 production target.</a:t>
            </a:r>
            <a:endParaRPr lang="en-US" sz="900">
              <a:latin typeface="Aptos Display"/>
            </a:endParaRPr>
          </a:p>
          <a:p>
            <a:endParaRPr lang="en-US" sz="900" b="1">
              <a:latin typeface="Aptos Display"/>
              <a:ea typeface="Segoe UI"/>
              <a:cs typeface="Segoe UI"/>
            </a:endParaRPr>
          </a:p>
          <a:p>
            <a:r>
              <a:rPr lang="en-US" sz="900" b="1">
                <a:latin typeface="Aptos Display"/>
                <a:ea typeface="Segoe UI"/>
                <a:cs typeface="Segoe UI"/>
              </a:rPr>
              <a:t>Highlights</a:t>
            </a:r>
            <a:endParaRPr lang="en-US"/>
          </a:p>
          <a:p>
            <a:pPr marL="171450" indent="-171450">
              <a:buFont typeface="Arial"/>
              <a:buChar char="•"/>
            </a:pPr>
            <a:r>
              <a:rPr lang="en-US" sz="900">
                <a:latin typeface="Aptos Display"/>
                <a:ea typeface="Segoe UI"/>
                <a:cs typeface="Segoe UI"/>
              </a:rPr>
              <a:t>Epic owners are finalizing backlog refinement and Jira story definition activities to support MVP3 delivery.</a:t>
            </a:r>
          </a:p>
          <a:p>
            <a:pPr marL="171450" indent="-171450">
              <a:buFont typeface="Arial"/>
              <a:buChar char="•"/>
            </a:pPr>
            <a:r>
              <a:rPr lang="en-US" sz="900">
                <a:latin typeface="Aptos Display"/>
                <a:ea typeface="Segoe UI"/>
                <a:cs typeface="Segoe UI"/>
              </a:rPr>
              <a:t>Lines are actively executing DDIT activities and progressing through.</a:t>
            </a:r>
          </a:p>
          <a:p>
            <a:pPr marL="171450" indent="-171450">
              <a:buFont typeface="Arial"/>
              <a:buChar char="•"/>
            </a:pPr>
            <a:r>
              <a:rPr lang="en-US" sz="900">
                <a:latin typeface="Aptos Display"/>
                <a:ea typeface="Segoe UI"/>
                <a:cs typeface="Segoe UI"/>
              </a:rPr>
              <a:t>Business and technology teams continue alignment on MVP3 scope, architecture, and delivery approach.</a:t>
            </a:r>
          </a:p>
          <a:p>
            <a:pPr marL="171450" indent="-171450">
              <a:buFont typeface="Arial"/>
              <a:buChar char="•"/>
            </a:pPr>
            <a:r>
              <a:rPr lang="en-US" sz="900">
                <a:latin typeface="Aptos Display"/>
                <a:ea typeface="Segoe UI"/>
                <a:cs typeface="Segoe UI"/>
              </a:rPr>
              <a:t>Cross-team dependency management and release planning activities remain on track for the February 2027 implementation target.</a:t>
            </a:r>
          </a:p>
          <a:p>
            <a:endParaRPr lang="en-US" sz="900">
              <a:latin typeface="Aptos Display"/>
              <a:ea typeface="Segoe UI"/>
              <a:cs typeface="Segoe UI"/>
            </a:endParaRPr>
          </a:p>
          <a:p>
            <a:r>
              <a:rPr lang="en-US" sz="900" b="1">
                <a:latin typeface="Aptos Display"/>
                <a:ea typeface="Segoe UI"/>
                <a:cs typeface="Segoe UI"/>
              </a:rPr>
              <a:t>Next Steps</a:t>
            </a:r>
          </a:p>
          <a:p>
            <a:pPr marL="171450" indent="-171450">
              <a:buFont typeface="Arial"/>
              <a:buChar char="•"/>
            </a:pPr>
            <a:r>
              <a:rPr lang="en-US" sz="900">
                <a:latin typeface="Aptos Display"/>
                <a:ea typeface="Segoe UI"/>
                <a:cs typeface="Segoe UI"/>
              </a:rPr>
              <a:t>Obtain Steering Committee approval for the additional $150K in 2027 funding to support testing and implementation activities.</a:t>
            </a:r>
          </a:p>
          <a:p>
            <a:pPr marL="171450" indent="-171450">
              <a:buFont typeface="Arial"/>
              <a:buChar char="•"/>
            </a:pPr>
            <a:r>
              <a:rPr lang="en-US" sz="900">
                <a:latin typeface="Aptos Display"/>
                <a:ea typeface="Segoe UI"/>
                <a:cs typeface="Segoe UI"/>
              </a:rPr>
              <a:t>Complete remaining DDIT activities and address identified defects.</a:t>
            </a:r>
          </a:p>
          <a:p>
            <a:pPr marL="171450" indent="-171450">
              <a:buFont typeface="Arial"/>
              <a:buChar char="•"/>
            </a:pPr>
            <a:r>
              <a:rPr lang="en-US" sz="900">
                <a:latin typeface="Aptos Display"/>
                <a:ea typeface="Segoe UI"/>
                <a:cs typeface="Segoe UI"/>
              </a:rPr>
              <a:t>Finalize release sequencing and confirm cross-team dependency commitments.</a:t>
            </a:r>
          </a:p>
          <a:p>
            <a:pPr marL="171450" indent="-171450">
              <a:buFont typeface="Arial"/>
              <a:buChar char="•"/>
            </a:pPr>
            <a:r>
              <a:rPr lang="en-US" sz="900">
                <a:latin typeface="Aptos Display"/>
                <a:ea typeface="Segoe UI"/>
                <a:cs typeface="Segoe UI"/>
              </a:rPr>
              <a:t>Complete Master Test Strategy alignment and confirm testing responsibilities across all teams.</a:t>
            </a:r>
          </a:p>
          <a:p>
            <a:pPr marL="171450" indent="-171450">
              <a:buFont typeface="Arial"/>
              <a:buChar char="•"/>
            </a:pPr>
            <a:r>
              <a:rPr lang="en-US" sz="900">
                <a:latin typeface="Aptos Display"/>
                <a:ea typeface="Segoe UI"/>
                <a:cs typeface="Segoe UI"/>
              </a:rPr>
              <a:t>Continue architecture, design, development, and dependency management activities.</a:t>
            </a:r>
          </a:p>
          <a:p>
            <a:pPr marL="171450" indent="-171450">
              <a:buFont typeface="Arial"/>
              <a:buChar char="•"/>
            </a:pPr>
            <a:r>
              <a:rPr lang="en-US" sz="900">
                <a:latin typeface="Aptos Display"/>
                <a:ea typeface="Segoe UI"/>
                <a:cs typeface="Segoe UI"/>
              </a:rPr>
              <a:t>Finalize integrated testing and implementation plans to support MVP3 release readiness.</a:t>
            </a:r>
          </a:p>
          <a:p>
            <a:pPr marL="171450" indent="-171450">
              <a:buFont typeface="Arial"/>
              <a:buChar char="•"/>
            </a:pPr>
            <a:r>
              <a:rPr lang="en-US" sz="900">
                <a:latin typeface="Aptos Display"/>
                <a:ea typeface="Segoe UI"/>
                <a:cs typeface="Segoe UI"/>
              </a:rPr>
              <a:t>Prepare for upcoming integration and end-to-end testing activities in support of the February 2027 release.</a:t>
            </a:r>
          </a:p>
          <a:p>
            <a:pPr algn="ctr"/>
            <a:endParaRPr lang="en-US">
              <a:latin typeface="Calibri" panose="020F0502020204030204"/>
              <a:ea typeface="Calibri" panose="020F0502020204030204"/>
              <a:cs typeface="Calibri" panose="020F0502020204030204"/>
            </a:endParaRPr>
          </a:p>
        </p:txBody>
      </p:sp>
    </p:spTree>
    <p:extLst>
      <p:ext uri="{BB962C8B-B14F-4D97-AF65-F5344CB8AC3E}">
        <p14:creationId xmlns:p14="http://schemas.microsoft.com/office/powerpoint/2010/main" val="385190076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F4BB67-2F5E-1206-D063-7BA41C9DB1F4}"/>
            </a:ext>
          </a:extLst>
        </p:cNvPr>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296ECF07-1531-69FB-E1BA-C4A744661DC4}"/>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8" imgH="408" progId="TCLayout.ActiveDocument.1">
                  <p:embed/>
                </p:oleObj>
              </mc:Choice>
              <mc:Fallback>
                <p:oleObj name="think-cell Slide" r:id="rId4" imgW="408" imgH="408" progId="TCLayout.ActiveDocument.1">
                  <p:embed/>
                  <p:pic>
                    <p:nvPicPr>
                      <p:cNvPr id="9" name="think-cell data - do not delete" hidden="1">
                        <a:extLst>
                          <a:ext uri="{FF2B5EF4-FFF2-40B4-BE49-F238E27FC236}">
                            <a16:creationId xmlns:a16="http://schemas.microsoft.com/office/drawing/2014/main" id="{296ECF07-1531-69FB-E1BA-C4A744661DC4}"/>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graphicFrame>
        <p:nvGraphicFramePr>
          <p:cNvPr id="32" name="Group 614">
            <a:extLst>
              <a:ext uri="{FF2B5EF4-FFF2-40B4-BE49-F238E27FC236}">
                <a16:creationId xmlns:a16="http://schemas.microsoft.com/office/drawing/2014/main" id="{F4C26C91-4CCD-047D-D7E4-38902317086D}"/>
              </a:ext>
            </a:extLst>
          </p:cNvPr>
          <p:cNvGraphicFramePr>
            <a:graphicFrameLocks noGrp="1"/>
          </p:cNvGraphicFramePr>
          <p:nvPr>
            <p:extLst>
              <p:ext uri="{D42A27DB-BD31-4B8C-83A1-F6EECF244321}">
                <p14:modId xmlns:p14="http://schemas.microsoft.com/office/powerpoint/2010/main" val="2040266541"/>
              </p:ext>
            </p:extLst>
          </p:nvPr>
        </p:nvGraphicFramePr>
        <p:xfrm>
          <a:off x="4972437" y="6489651"/>
          <a:ext cx="7136859" cy="310524"/>
        </p:xfrm>
        <a:graphic>
          <a:graphicData uri="http://schemas.openxmlformats.org/drawingml/2006/table">
            <a:tbl>
              <a:tblPr/>
              <a:tblGrid>
                <a:gridCol w="606425">
                  <a:extLst>
                    <a:ext uri="{9D8B030D-6E8A-4147-A177-3AD203B41FA5}">
                      <a16:colId xmlns:a16="http://schemas.microsoft.com/office/drawing/2014/main" val="20000"/>
                    </a:ext>
                  </a:extLst>
                </a:gridCol>
                <a:gridCol w="307361">
                  <a:extLst>
                    <a:ext uri="{9D8B030D-6E8A-4147-A177-3AD203B41FA5}">
                      <a16:colId xmlns:a16="http://schemas.microsoft.com/office/drawing/2014/main" val="20001"/>
                    </a:ext>
                  </a:extLst>
                </a:gridCol>
                <a:gridCol w="757584">
                  <a:extLst>
                    <a:ext uri="{9D8B030D-6E8A-4147-A177-3AD203B41FA5}">
                      <a16:colId xmlns:a16="http://schemas.microsoft.com/office/drawing/2014/main" val="20002"/>
                    </a:ext>
                  </a:extLst>
                </a:gridCol>
                <a:gridCol w="302812">
                  <a:extLst>
                    <a:ext uri="{9D8B030D-6E8A-4147-A177-3AD203B41FA5}">
                      <a16:colId xmlns:a16="http://schemas.microsoft.com/office/drawing/2014/main" val="20003"/>
                    </a:ext>
                  </a:extLst>
                </a:gridCol>
                <a:gridCol w="665317">
                  <a:extLst>
                    <a:ext uri="{9D8B030D-6E8A-4147-A177-3AD203B41FA5}">
                      <a16:colId xmlns:a16="http://schemas.microsoft.com/office/drawing/2014/main" val="20004"/>
                    </a:ext>
                  </a:extLst>
                </a:gridCol>
                <a:gridCol w="518025">
                  <a:extLst>
                    <a:ext uri="{9D8B030D-6E8A-4147-A177-3AD203B41FA5}">
                      <a16:colId xmlns:a16="http://schemas.microsoft.com/office/drawing/2014/main" val="20005"/>
                    </a:ext>
                  </a:extLst>
                </a:gridCol>
                <a:gridCol w="568469">
                  <a:extLst>
                    <a:ext uri="{9D8B030D-6E8A-4147-A177-3AD203B41FA5}">
                      <a16:colId xmlns:a16="http://schemas.microsoft.com/office/drawing/2014/main" val="20006"/>
                    </a:ext>
                  </a:extLst>
                </a:gridCol>
                <a:gridCol w="368983">
                  <a:extLst>
                    <a:ext uri="{9D8B030D-6E8A-4147-A177-3AD203B41FA5}">
                      <a16:colId xmlns:a16="http://schemas.microsoft.com/office/drawing/2014/main" val="20007"/>
                    </a:ext>
                  </a:extLst>
                </a:gridCol>
                <a:gridCol w="1372005">
                  <a:extLst>
                    <a:ext uri="{9D8B030D-6E8A-4147-A177-3AD203B41FA5}">
                      <a16:colId xmlns:a16="http://schemas.microsoft.com/office/drawing/2014/main" val="20008"/>
                    </a:ext>
                  </a:extLst>
                </a:gridCol>
                <a:gridCol w="378212">
                  <a:extLst>
                    <a:ext uri="{9D8B030D-6E8A-4147-A177-3AD203B41FA5}">
                      <a16:colId xmlns:a16="http://schemas.microsoft.com/office/drawing/2014/main" val="20009"/>
                    </a:ext>
                  </a:extLst>
                </a:gridCol>
                <a:gridCol w="1291666">
                  <a:extLst>
                    <a:ext uri="{9D8B030D-6E8A-4147-A177-3AD203B41FA5}">
                      <a16:colId xmlns:a16="http://schemas.microsoft.com/office/drawing/2014/main" val="20010"/>
                    </a:ext>
                  </a:extLst>
                </a:gridCol>
              </a:tblGrid>
              <a:tr h="212306">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Arial" charset="0"/>
                          <a:cs typeface="Arial" charset="0"/>
                        </a:rPr>
                        <a:t>Status Key</a:t>
                      </a:r>
                      <a:endParaRPr kumimoji="0" lang="en-GB" sz="1600" b="0" i="0" u="none" strike="noStrike" cap="none" normalizeH="0" baseline="0">
                        <a:ln>
                          <a:noFill/>
                        </a:ln>
                        <a:solidFill>
                          <a:srgbClr val="002060"/>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mj-lt"/>
                        </a:rPr>
                        <a:t>C</a:t>
                      </a: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Arial" charset="0"/>
                          <a:cs typeface="Arial" charset="0"/>
                        </a:rPr>
                        <a:t>Completed</a:t>
                      </a:r>
                      <a:endParaRPr kumimoji="0" lang="en-GB" sz="1600" b="0" i="0" u="none" strike="noStrike" cap="none" normalizeH="0" baseline="0">
                        <a:ln>
                          <a:noFill/>
                        </a:ln>
                        <a:solidFill>
                          <a:srgbClr val="002060"/>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On-Schedule</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Major Issues</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Some Issues</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NS</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Not Started</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2" name="Title 1">
            <a:extLst>
              <a:ext uri="{FF2B5EF4-FFF2-40B4-BE49-F238E27FC236}">
                <a16:creationId xmlns:a16="http://schemas.microsoft.com/office/drawing/2014/main" id="{AE292A8B-B2F1-0B4F-968B-D634E690C52B}"/>
              </a:ext>
            </a:extLst>
          </p:cNvPr>
          <p:cNvSpPr>
            <a:spLocks noGrp="1"/>
          </p:cNvSpPr>
          <p:nvPr>
            <p:ph type="title"/>
          </p:nvPr>
        </p:nvSpPr>
        <p:spPr>
          <a:xfrm>
            <a:off x="159777" y="309943"/>
            <a:ext cx="9421194" cy="517320"/>
          </a:xfrm>
        </p:spPr>
        <p:txBody>
          <a:bodyPr vert="horz">
            <a:normAutofit fontScale="90000"/>
          </a:bodyPr>
          <a:lstStyle/>
          <a:p>
            <a:r>
              <a:rPr lang="en-US" sz="2700" b="1">
                <a:solidFill>
                  <a:srgbClr val="29389F"/>
                </a:solidFill>
                <a:latin typeface="Arial" pitchFamily="34" charset="0"/>
                <a:cs typeface="Arial" pitchFamily="34" charset="0"/>
              </a:rPr>
              <a:t>MPPC to MPI Conversion at Notice of Cancel</a:t>
            </a:r>
            <a:br>
              <a:rPr lang="en-US">
                <a:latin typeface="Aptos"/>
                <a:cs typeface="Arial"/>
              </a:rPr>
            </a:br>
            <a:r>
              <a:rPr lang="en-US" sz="1600">
                <a:solidFill>
                  <a:srgbClr val="0070C0"/>
                </a:solidFill>
                <a:latin typeface="Arial" panose="020B0604020202020204" pitchFamily="34" charset="0"/>
                <a:cs typeface="Arial" panose="020B0604020202020204" pitchFamily="34" charset="0"/>
              </a:rPr>
              <a:t>Deliver the ability to offer cancelled MPPC policies conversion to MPI upon termination of working with the employer</a:t>
            </a:r>
          </a:p>
        </p:txBody>
      </p:sp>
      <p:graphicFrame>
        <p:nvGraphicFramePr>
          <p:cNvPr id="11" name="Group 513">
            <a:extLst>
              <a:ext uri="{FF2B5EF4-FFF2-40B4-BE49-F238E27FC236}">
                <a16:creationId xmlns:a16="http://schemas.microsoft.com/office/drawing/2014/main" id="{C41125A0-5513-43E6-E32D-E5E58DD29039}"/>
              </a:ext>
            </a:extLst>
          </p:cNvPr>
          <p:cNvGraphicFramePr>
            <a:graphicFrameLocks noGrp="1"/>
          </p:cNvGraphicFramePr>
          <p:nvPr>
            <p:extLst>
              <p:ext uri="{D42A27DB-BD31-4B8C-83A1-F6EECF244321}">
                <p14:modId xmlns:p14="http://schemas.microsoft.com/office/powerpoint/2010/main" val="3452607302"/>
              </p:ext>
            </p:extLst>
          </p:nvPr>
        </p:nvGraphicFramePr>
        <p:xfrm>
          <a:off x="217877" y="929712"/>
          <a:ext cx="2638218" cy="390149"/>
        </p:xfrm>
        <a:graphic>
          <a:graphicData uri="http://schemas.openxmlformats.org/drawingml/2006/table">
            <a:tbl>
              <a:tblPr/>
              <a:tblGrid>
                <a:gridCol w="1007376">
                  <a:extLst>
                    <a:ext uri="{9D8B030D-6E8A-4147-A177-3AD203B41FA5}">
                      <a16:colId xmlns:a16="http://schemas.microsoft.com/office/drawing/2014/main" val="20000"/>
                    </a:ext>
                  </a:extLst>
                </a:gridCol>
                <a:gridCol w="1630842">
                  <a:extLst>
                    <a:ext uri="{9D8B030D-6E8A-4147-A177-3AD203B41FA5}">
                      <a16:colId xmlns:a16="http://schemas.microsoft.com/office/drawing/2014/main" val="20001"/>
                    </a:ext>
                  </a:extLst>
                </a:gridCol>
              </a:tblGrid>
              <a:tr h="390149">
                <a:tc>
                  <a:txBody>
                    <a:bodyPr/>
                    <a:lstStyle/>
                    <a:p>
                      <a:pPr marL="0" marR="0" lvl="0" indent="0" algn="l" defTabSz="914400" rtl="0" eaLnBrk="0" fontAlgn="base" latinLnBrk="0" hangingPunct="0">
                        <a:lnSpc>
                          <a:spcPct val="95000"/>
                        </a:lnSpc>
                        <a:spcBef>
                          <a:spcPct val="0"/>
                        </a:spcBef>
                        <a:spcAft>
                          <a:spcPct val="50000"/>
                        </a:spcAft>
                        <a:buClrTx/>
                        <a:buSzTx/>
                        <a:buFontTx/>
                        <a:buNone/>
                        <a:tabLst/>
                      </a:pPr>
                      <a:r>
                        <a:rPr kumimoji="0" lang="en-GB" sz="1050" b="1" i="0" u="none" strike="noStrike" kern="1200" cap="none" normalizeH="0" baseline="0">
                          <a:ln>
                            <a:noFill/>
                          </a:ln>
                          <a:solidFill>
                            <a:schemeClr val="bg1"/>
                          </a:solidFill>
                          <a:effectLst/>
                          <a:latin typeface="Arial"/>
                          <a:ea typeface="+mn-ea"/>
                          <a:cs typeface="+mn-cs"/>
                        </a:rPr>
                        <a:t>Status Date:</a:t>
                      </a:r>
                    </a:p>
                  </a:txBody>
                  <a:tcPr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lang="en-GB" sz="850" b="1" i="0" u="none" strike="noStrike" kern="1200" cap="none" normalizeH="0" baseline="0">
                          <a:ln>
                            <a:noFill/>
                          </a:ln>
                          <a:solidFill>
                            <a:schemeClr val="tx1"/>
                          </a:solidFill>
                          <a:effectLst/>
                          <a:latin typeface="Aptos"/>
                          <a:ea typeface="+mn-ea"/>
                          <a:cs typeface="+mn-cs"/>
                        </a:rPr>
                        <a:t>8/28/2026</a:t>
                      </a:r>
                    </a:p>
                  </a:txBody>
                  <a:tcPr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14" name="Table 13">
            <a:extLst>
              <a:ext uri="{FF2B5EF4-FFF2-40B4-BE49-F238E27FC236}">
                <a16:creationId xmlns:a16="http://schemas.microsoft.com/office/drawing/2014/main" id="{2789D55F-0338-3BFE-79E6-DA528A0A7371}"/>
              </a:ext>
            </a:extLst>
          </p:cNvPr>
          <p:cNvGraphicFramePr>
            <a:graphicFrameLocks noGrp="1"/>
          </p:cNvGraphicFramePr>
          <p:nvPr>
            <p:extLst>
              <p:ext uri="{D42A27DB-BD31-4B8C-83A1-F6EECF244321}">
                <p14:modId xmlns:p14="http://schemas.microsoft.com/office/powerpoint/2010/main" val="286293571"/>
              </p:ext>
            </p:extLst>
          </p:nvPr>
        </p:nvGraphicFramePr>
        <p:xfrm>
          <a:off x="6705398" y="920666"/>
          <a:ext cx="5419097" cy="798049"/>
        </p:xfrm>
        <a:graphic>
          <a:graphicData uri="http://schemas.openxmlformats.org/drawingml/2006/table">
            <a:tbl>
              <a:tblPr>
                <a:tableStyleId>{5C22544A-7EE6-4342-B048-85BDC9FD1C3A}</a:tableStyleId>
              </a:tblPr>
              <a:tblGrid>
                <a:gridCol w="1058371">
                  <a:extLst>
                    <a:ext uri="{9D8B030D-6E8A-4147-A177-3AD203B41FA5}">
                      <a16:colId xmlns:a16="http://schemas.microsoft.com/office/drawing/2014/main" val="2456552316"/>
                    </a:ext>
                  </a:extLst>
                </a:gridCol>
                <a:gridCol w="938063">
                  <a:extLst>
                    <a:ext uri="{9D8B030D-6E8A-4147-A177-3AD203B41FA5}">
                      <a16:colId xmlns:a16="http://schemas.microsoft.com/office/drawing/2014/main" val="2327174630"/>
                    </a:ext>
                  </a:extLst>
                </a:gridCol>
                <a:gridCol w="1533860">
                  <a:extLst>
                    <a:ext uri="{9D8B030D-6E8A-4147-A177-3AD203B41FA5}">
                      <a16:colId xmlns:a16="http://schemas.microsoft.com/office/drawing/2014/main" val="1100051595"/>
                    </a:ext>
                  </a:extLst>
                </a:gridCol>
                <a:gridCol w="925387">
                  <a:extLst>
                    <a:ext uri="{9D8B030D-6E8A-4147-A177-3AD203B41FA5}">
                      <a16:colId xmlns:a16="http://schemas.microsoft.com/office/drawing/2014/main" val="2042261034"/>
                    </a:ext>
                  </a:extLst>
                </a:gridCol>
                <a:gridCol w="963416">
                  <a:extLst>
                    <a:ext uri="{9D8B030D-6E8A-4147-A177-3AD203B41FA5}">
                      <a16:colId xmlns:a16="http://schemas.microsoft.com/office/drawing/2014/main" val="2815874248"/>
                    </a:ext>
                  </a:extLst>
                </a:gridCol>
              </a:tblGrid>
              <a:tr h="390130">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2026 Budget</a:t>
                      </a:r>
                      <a:r>
                        <a:rPr lang="en-US" sz="1050" b="1" i="0" u="none" strike="noStrike" kern="1200" cap="none" normalizeH="0" baseline="0">
                          <a:ln>
                            <a:noFill/>
                          </a:ln>
                          <a:solidFill>
                            <a:schemeClr val="bg1"/>
                          </a:solidFill>
                          <a:effectLst/>
                          <a:latin typeface="Arial"/>
                          <a:ea typeface="+mn-ea"/>
                          <a:cs typeface="+mn-cs"/>
                        </a:rPr>
                        <a:t> </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YTD Actuals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Remaining 2026 Forecast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Current YE Forecast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Total Estimate</a:t>
                      </a:r>
                      <a:r>
                        <a:rPr lang="en-US" sz="1050" b="1" i="0" u="none" strike="noStrike" kern="1200" cap="none" normalizeH="0" baseline="0">
                          <a:ln>
                            <a:noFill/>
                          </a:ln>
                          <a:solidFill>
                            <a:schemeClr val="bg1"/>
                          </a:solidFill>
                          <a:effectLst/>
                          <a:latin typeface="Arial"/>
                          <a:ea typeface="+mn-ea"/>
                          <a:cs typeface="+mn-cs"/>
                        </a:rPr>
                        <a:t> </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407919">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lang="en-US" sz="850" b="1" i="0" u="none" strike="noStrike" kern="1200" cap="none" normalizeH="0" baseline="0">
                          <a:ln>
                            <a:noFill/>
                          </a:ln>
                          <a:solidFill>
                            <a:schemeClr val="tx1"/>
                          </a:solidFill>
                          <a:effectLst/>
                          <a:latin typeface="Aptos"/>
                          <a:ea typeface="+mn-ea"/>
                          <a:cs typeface="+mn-cs"/>
                        </a:rPr>
                        <a:t>880,000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lang="en-US" sz="850" b="1" i="0" u="none" strike="noStrike" kern="1200" cap="none" normalizeH="0" baseline="0">
                          <a:ln>
                            <a:noFill/>
                          </a:ln>
                          <a:solidFill>
                            <a:schemeClr val="tx1"/>
                          </a:solidFill>
                          <a:effectLst/>
                          <a:latin typeface="Aptos"/>
                          <a:ea typeface="+mn-ea"/>
                          <a:cs typeface="+mn-cs"/>
                        </a:rPr>
                        <a:t>$169,884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defRPr/>
                      </a:pPr>
                      <a:r>
                        <a:rPr lang="en-US" sz="850" b="1" i="0" u="none" strike="noStrike" kern="1200" cap="none" normalizeH="0" baseline="0">
                          <a:ln>
                            <a:noFill/>
                          </a:ln>
                          <a:solidFill>
                            <a:schemeClr val="tx1"/>
                          </a:solidFill>
                          <a:effectLst/>
                          <a:latin typeface="Aptos"/>
                          <a:ea typeface="+mn-ea"/>
                          <a:cs typeface="+mn-cs"/>
                        </a:rPr>
                        <a:t>$707,038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lang="en-US" sz="850" b="1" i="0" u="none" strike="noStrike" kern="1200" cap="none" normalizeH="0" baseline="0">
                          <a:ln>
                            <a:noFill/>
                          </a:ln>
                          <a:solidFill>
                            <a:schemeClr val="tx1"/>
                          </a:solidFill>
                          <a:effectLst/>
                          <a:latin typeface="Aptos"/>
                          <a:ea typeface="+mn-ea"/>
                          <a:cs typeface="+mn-cs"/>
                        </a:rPr>
                        <a:t>$876,922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lang="en-US" sz="850" b="1" i="0" u="none" strike="noStrike" kern="1200" cap="none" normalizeH="0" baseline="0">
                          <a:ln>
                            <a:noFill/>
                          </a:ln>
                          <a:solidFill>
                            <a:schemeClr val="tx1"/>
                          </a:solidFill>
                          <a:effectLst/>
                          <a:latin typeface="Aptos"/>
                          <a:ea typeface="+mn-ea"/>
                          <a:cs typeface="+mn-cs"/>
                        </a:rPr>
                        <a:t>$876,922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7499024"/>
                  </a:ext>
                </a:extLst>
              </a:tr>
            </a:tbl>
          </a:graphicData>
        </a:graphic>
      </p:graphicFrame>
      <p:graphicFrame>
        <p:nvGraphicFramePr>
          <p:cNvPr id="25" name="Table 24">
            <a:extLst>
              <a:ext uri="{FF2B5EF4-FFF2-40B4-BE49-F238E27FC236}">
                <a16:creationId xmlns:a16="http://schemas.microsoft.com/office/drawing/2014/main" id="{0DC624D4-81EE-8541-BB04-741095C9BE7F}"/>
              </a:ext>
            </a:extLst>
          </p:cNvPr>
          <p:cNvGraphicFramePr>
            <a:graphicFrameLocks noGrp="1"/>
          </p:cNvGraphicFramePr>
          <p:nvPr/>
        </p:nvGraphicFramePr>
        <p:xfrm>
          <a:off x="2866109" y="929748"/>
          <a:ext cx="3829275" cy="781017"/>
        </p:xfrm>
        <a:graphic>
          <a:graphicData uri="http://schemas.openxmlformats.org/drawingml/2006/table">
            <a:tbl>
              <a:tblPr>
                <a:tableStyleId>{5C22544A-7EE6-4342-B048-85BDC9FD1C3A}</a:tableStyleId>
              </a:tblPr>
              <a:tblGrid>
                <a:gridCol w="1042158">
                  <a:extLst>
                    <a:ext uri="{9D8B030D-6E8A-4147-A177-3AD203B41FA5}">
                      <a16:colId xmlns:a16="http://schemas.microsoft.com/office/drawing/2014/main" val="2456552316"/>
                    </a:ext>
                  </a:extLst>
                </a:gridCol>
                <a:gridCol w="961214">
                  <a:extLst>
                    <a:ext uri="{9D8B030D-6E8A-4147-A177-3AD203B41FA5}">
                      <a16:colId xmlns:a16="http://schemas.microsoft.com/office/drawing/2014/main" val="1100051595"/>
                    </a:ext>
                  </a:extLst>
                </a:gridCol>
                <a:gridCol w="920742">
                  <a:extLst>
                    <a:ext uri="{9D8B030D-6E8A-4147-A177-3AD203B41FA5}">
                      <a16:colId xmlns:a16="http://schemas.microsoft.com/office/drawing/2014/main" val="2042261034"/>
                    </a:ext>
                  </a:extLst>
                </a:gridCol>
                <a:gridCol w="905161">
                  <a:extLst>
                    <a:ext uri="{9D8B030D-6E8A-4147-A177-3AD203B41FA5}">
                      <a16:colId xmlns:a16="http://schemas.microsoft.com/office/drawing/2014/main" val="2815874248"/>
                    </a:ext>
                  </a:extLst>
                </a:gridCol>
              </a:tblGrid>
              <a:tr h="426530">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Overall</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Scope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Schedule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Financials</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354487">
                <a:tc>
                  <a:txBody>
                    <a:bodyPr/>
                    <a:lstStyle/>
                    <a:p>
                      <a:pPr marL="0" marR="0" lvl="0" indent="0" algn="ctr" rtl="0" eaLnBrk="1" fontAlgn="ctr" latinLnBrk="0" hangingPunct="1">
                        <a:lnSpc>
                          <a:spcPct val="95000"/>
                        </a:lnSpc>
                        <a:spcBef>
                          <a:spcPct val="0"/>
                        </a:spcBef>
                        <a:spcAft>
                          <a:spcPct val="50000"/>
                        </a:spcAft>
                        <a:buClrTx/>
                        <a:buSzTx/>
                        <a:buFontTx/>
                        <a:buNone/>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rtl="0" eaLnBrk="1" fontAlgn="ctr" latinLnBrk="0" hangingPunct="1">
                        <a:lnSpc>
                          <a:spcPct val="95000"/>
                        </a:lnSpc>
                        <a:spcBef>
                          <a:spcPct val="0"/>
                        </a:spcBef>
                        <a:spcAft>
                          <a:spcPct val="50000"/>
                        </a:spcAft>
                        <a:buClrTx/>
                        <a:buSzTx/>
                        <a:buFontTx/>
                        <a:buNone/>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7499024"/>
                  </a:ext>
                </a:extLst>
              </a:tr>
            </a:tbl>
          </a:graphicData>
        </a:graphic>
      </p:graphicFrame>
      <p:graphicFrame>
        <p:nvGraphicFramePr>
          <p:cNvPr id="26" name="Group 513">
            <a:extLst>
              <a:ext uri="{FF2B5EF4-FFF2-40B4-BE49-F238E27FC236}">
                <a16:creationId xmlns:a16="http://schemas.microsoft.com/office/drawing/2014/main" id="{04064067-1C0B-EDE0-7566-C7967E27D68B}"/>
              </a:ext>
            </a:extLst>
          </p:cNvPr>
          <p:cNvGraphicFramePr>
            <a:graphicFrameLocks noGrp="1"/>
          </p:cNvGraphicFramePr>
          <p:nvPr>
            <p:extLst>
              <p:ext uri="{D42A27DB-BD31-4B8C-83A1-F6EECF244321}">
                <p14:modId xmlns:p14="http://schemas.microsoft.com/office/powerpoint/2010/main" val="2455143870"/>
              </p:ext>
            </p:extLst>
          </p:nvPr>
        </p:nvGraphicFramePr>
        <p:xfrm>
          <a:off x="213591" y="1323029"/>
          <a:ext cx="2638218" cy="395688"/>
        </p:xfrm>
        <a:graphic>
          <a:graphicData uri="http://schemas.openxmlformats.org/drawingml/2006/table">
            <a:tbl>
              <a:tblPr/>
              <a:tblGrid>
                <a:gridCol w="1008582">
                  <a:extLst>
                    <a:ext uri="{9D8B030D-6E8A-4147-A177-3AD203B41FA5}">
                      <a16:colId xmlns:a16="http://schemas.microsoft.com/office/drawing/2014/main" val="20000"/>
                    </a:ext>
                  </a:extLst>
                </a:gridCol>
                <a:gridCol w="1629636">
                  <a:extLst>
                    <a:ext uri="{9D8B030D-6E8A-4147-A177-3AD203B41FA5}">
                      <a16:colId xmlns:a16="http://schemas.microsoft.com/office/drawing/2014/main" val="20001"/>
                    </a:ext>
                  </a:extLst>
                </a:gridCol>
              </a:tblGrid>
              <a:tr h="347486">
                <a:tc>
                  <a:txBody>
                    <a:bodyPr/>
                    <a:lstStyle/>
                    <a:p>
                      <a:pPr marL="0" marR="0" lvl="0" indent="0" algn="ctr" rtl="0" eaLnBrk="0" fontAlgn="base" latinLnBrk="0" hangingPunct="0">
                        <a:lnSpc>
                          <a:spcPct val="95000"/>
                        </a:lnSpc>
                        <a:spcBef>
                          <a:spcPct val="0"/>
                        </a:spcBef>
                        <a:spcAft>
                          <a:spcPct val="50000"/>
                        </a:spcAft>
                        <a:buClrTx/>
                        <a:buSzTx/>
                        <a:buFontTx/>
                        <a:buNone/>
                      </a:pPr>
                      <a:r>
                        <a:rPr lang="en-GB" sz="1050" b="1" i="0" u="none" strike="noStrike" kern="1200" cap="none" normalizeH="0" baseline="0">
                          <a:ln>
                            <a:noFill/>
                          </a:ln>
                          <a:solidFill>
                            <a:schemeClr val="bg1"/>
                          </a:solidFill>
                          <a:effectLst/>
                          <a:latin typeface="Arial"/>
                          <a:ea typeface="+mn-ea"/>
                          <a:cs typeface="+mn-cs"/>
                        </a:rPr>
                        <a:t>Target Delivery:</a:t>
                      </a:r>
                      <a:endParaRPr kumimoji="0" lang="en-US"/>
                    </a:p>
                  </a:txBody>
                  <a:tcPr marL="0" marR="0"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lang="en-US" sz="850" b="1" i="0" u="none" strike="noStrike" kern="1200" cap="none" normalizeH="0" baseline="0">
                          <a:ln>
                            <a:noFill/>
                          </a:ln>
                          <a:solidFill>
                            <a:schemeClr val="tx1"/>
                          </a:solidFill>
                          <a:effectLst/>
                          <a:latin typeface="Aptos"/>
                          <a:ea typeface="+mn-ea"/>
                          <a:cs typeface="+mn-cs"/>
                        </a:rPr>
                        <a:t>12/09/2026</a:t>
                      </a:r>
                    </a:p>
                  </a:txBody>
                  <a:tcPr marL="0" marR="0"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27" name="Table 26">
            <a:extLst>
              <a:ext uri="{FF2B5EF4-FFF2-40B4-BE49-F238E27FC236}">
                <a16:creationId xmlns:a16="http://schemas.microsoft.com/office/drawing/2014/main" id="{87F5E52A-73F0-2D34-67D1-BD7421200705}"/>
              </a:ext>
            </a:extLst>
          </p:cNvPr>
          <p:cNvGraphicFramePr>
            <a:graphicFrameLocks noGrp="1"/>
          </p:cNvGraphicFramePr>
          <p:nvPr>
            <p:extLst>
              <p:ext uri="{D42A27DB-BD31-4B8C-83A1-F6EECF244321}">
                <p14:modId xmlns:p14="http://schemas.microsoft.com/office/powerpoint/2010/main" val="2041401368"/>
              </p:ext>
            </p:extLst>
          </p:nvPr>
        </p:nvGraphicFramePr>
        <p:xfrm>
          <a:off x="4972437" y="1791349"/>
          <a:ext cx="7152056" cy="1573041"/>
        </p:xfrm>
        <a:graphic>
          <a:graphicData uri="http://schemas.openxmlformats.org/drawingml/2006/table">
            <a:tbl>
              <a:tblPr>
                <a:tableStyleId>{5C22544A-7EE6-4342-B048-85BDC9FD1C3A}</a:tableStyleId>
              </a:tblPr>
              <a:tblGrid>
                <a:gridCol w="2617796">
                  <a:extLst>
                    <a:ext uri="{9D8B030D-6E8A-4147-A177-3AD203B41FA5}">
                      <a16:colId xmlns:a16="http://schemas.microsoft.com/office/drawing/2014/main" val="2456552316"/>
                    </a:ext>
                  </a:extLst>
                </a:gridCol>
                <a:gridCol w="541752">
                  <a:extLst>
                    <a:ext uri="{9D8B030D-6E8A-4147-A177-3AD203B41FA5}">
                      <a16:colId xmlns:a16="http://schemas.microsoft.com/office/drawing/2014/main" val="1100051595"/>
                    </a:ext>
                  </a:extLst>
                </a:gridCol>
                <a:gridCol w="619698">
                  <a:extLst>
                    <a:ext uri="{9D8B030D-6E8A-4147-A177-3AD203B41FA5}">
                      <a16:colId xmlns:a16="http://schemas.microsoft.com/office/drawing/2014/main" val="2042261034"/>
                    </a:ext>
                  </a:extLst>
                </a:gridCol>
                <a:gridCol w="3372810">
                  <a:extLst>
                    <a:ext uri="{9D8B030D-6E8A-4147-A177-3AD203B41FA5}">
                      <a16:colId xmlns:a16="http://schemas.microsoft.com/office/drawing/2014/main" val="2815874248"/>
                    </a:ext>
                  </a:extLst>
                </a:gridCol>
              </a:tblGrid>
              <a:tr h="260366">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Milestone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Status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Due Date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Notes</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314608">
                <a:tc>
                  <a:txBody>
                    <a:bodyPr/>
                    <a:lstStyle/>
                    <a:p>
                      <a:pPr marL="114300" marR="0" lvl="0" indent="0" algn="l" rtl="0" eaLnBrk="1" fontAlgn="auto" latinLnBrk="0" hangingPunct="1">
                        <a:lnSpc>
                          <a:spcPct val="95000"/>
                        </a:lnSpc>
                        <a:spcBef>
                          <a:spcPct val="0"/>
                        </a:spcBef>
                        <a:spcAft>
                          <a:spcPct val="50000"/>
                        </a:spcAft>
                        <a:buClrTx/>
                        <a:buSzTx/>
                        <a:buFontTx/>
                        <a:buNone/>
                      </a:pPr>
                      <a:r>
                        <a:rPr lang="en-US" sz="850" kern="1200">
                          <a:solidFill>
                            <a:schemeClr val="dk1"/>
                          </a:solidFill>
                          <a:latin typeface="Aptos" panose="020B0004020202020204" pitchFamily="34" charset="0"/>
                          <a:ea typeface="+mn-ea"/>
                          <a:cs typeface="+mn-cs"/>
                        </a:rPr>
                        <a:t>DDIT start -end</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50">
                        <a:latin typeface="Aptos"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50" b="0" strike="noStrike" kern="1200">
                          <a:solidFill>
                            <a:schemeClr val="tx1"/>
                          </a:solidFill>
                          <a:effectLst/>
                          <a:latin typeface="Aptos" panose="020B0004020202020204" pitchFamily="34" charset="0"/>
                          <a:ea typeface="+mn-ea"/>
                          <a:cs typeface="+mn-cs"/>
                        </a:rPr>
                        <a:t>7/2 – 10/28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ts val="200"/>
                        </a:spcBef>
                        <a:spcAft>
                          <a:spcPts val="0"/>
                        </a:spcAft>
                        <a:buClrTx/>
                        <a:buSzTx/>
                        <a:buFontTx/>
                        <a:buNone/>
                        <a:tabLst/>
                        <a:defRPr/>
                      </a:pPr>
                      <a:endParaRPr lang="en-US" sz="850" kern="100">
                        <a:solidFill>
                          <a:schemeClr val="dk1"/>
                        </a:solidFill>
                        <a:latin typeface="Aptos" panose="020B0004020202020204" pitchFamily="34" charset="0"/>
                        <a:cs typeface="Times New Roman"/>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75249404"/>
                  </a:ext>
                </a:extLst>
              </a:tr>
              <a:tr h="216971">
                <a:tc>
                  <a:txBody>
                    <a:bodyPr/>
                    <a:lstStyle/>
                    <a:p>
                      <a:pPr marL="114300" marR="0" lvl="0" indent="0" algn="l" rtl="0">
                        <a:lnSpc>
                          <a:spcPct val="95000"/>
                        </a:lnSpc>
                        <a:spcBef>
                          <a:spcPct val="0"/>
                        </a:spcBef>
                        <a:spcAft>
                          <a:spcPct val="50000"/>
                        </a:spcAft>
                        <a:buClrTx/>
                        <a:buSzTx/>
                        <a:buFontTx/>
                        <a:buNone/>
                      </a:pPr>
                      <a:r>
                        <a:rPr lang="en-US" sz="850" kern="1200">
                          <a:solidFill>
                            <a:schemeClr val="dk1"/>
                          </a:solidFill>
                          <a:latin typeface="Aptos" panose="020B0004020202020204" pitchFamily="34" charset="0"/>
                          <a:ea typeface="+mn-ea"/>
                          <a:cs typeface="+mn-cs"/>
                        </a:rPr>
                        <a:t>MVP2 </a:t>
                      </a:r>
                      <a:r>
                        <a:rPr lang="en-US" sz="850" b="0" i="0" u="none" strike="noStrike" kern="1200" noProof="0">
                          <a:solidFill>
                            <a:schemeClr val="dk1"/>
                          </a:solidFill>
                          <a:latin typeface="Aptos" panose="020B0004020202020204" pitchFamily="34" charset="0"/>
                          <a:ea typeface="+mn-ea"/>
                          <a:cs typeface="+mn-cs"/>
                        </a:rPr>
                        <a:t>E2E sign off start -end</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buNone/>
                      </a:pPr>
                      <a:r>
                        <a:rPr lang="en-US" sz="850">
                          <a:latin typeface="Aptos" panose="020B0004020202020204" pitchFamily="34" charset="0"/>
                        </a:rPr>
                        <a:t>NS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buNone/>
                      </a:pPr>
                      <a:r>
                        <a:rPr lang="en-US" sz="850" strike="noStrike">
                          <a:latin typeface="Aptos" panose="020B0004020202020204" pitchFamily="34" charset="0"/>
                        </a:rPr>
                        <a:t>10/29-11/11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eaLnBrk="1" fontAlgn="ctr" latinLnBrk="0" hangingPunct="1">
                        <a:lnSpc>
                          <a:spcPct val="95000"/>
                        </a:lnSpc>
                        <a:spcBef>
                          <a:spcPct val="0"/>
                        </a:spcBef>
                        <a:spcAft>
                          <a:spcPct val="50000"/>
                        </a:spcAft>
                        <a:buClrTx/>
                        <a:buSzTx/>
                        <a:buFontTx/>
                        <a:buNone/>
                      </a:pPr>
                      <a:endParaRPr lang="en-US" sz="850" b="0" strike="noStrike" kern="1200">
                        <a:solidFill>
                          <a:schemeClr val="tx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76961585"/>
                  </a:ext>
                </a:extLst>
              </a:tr>
              <a:tr h="216971">
                <a:tc>
                  <a:txBody>
                    <a:bodyPr/>
                    <a:lstStyle/>
                    <a:p>
                      <a:pPr marL="114300" marR="0" lvl="0" indent="0" algn="l" rtl="0">
                        <a:lnSpc>
                          <a:spcPct val="95000"/>
                        </a:lnSpc>
                        <a:spcBef>
                          <a:spcPct val="0"/>
                        </a:spcBef>
                        <a:spcAft>
                          <a:spcPct val="50000"/>
                        </a:spcAft>
                        <a:buClrTx/>
                        <a:buSzTx/>
                        <a:buFontTx/>
                        <a:buNone/>
                      </a:pPr>
                      <a:r>
                        <a:rPr lang="en-US" sz="850" kern="1200">
                          <a:solidFill>
                            <a:schemeClr val="dk1"/>
                          </a:solidFill>
                          <a:latin typeface="Aptos" panose="020B0004020202020204" pitchFamily="34" charset="0"/>
                          <a:ea typeface="+mn-ea"/>
                          <a:cs typeface="+mn-cs"/>
                        </a:rPr>
                        <a:t>MVP2 </a:t>
                      </a:r>
                      <a:r>
                        <a:rPr lang="en-US" sz="850" b="0" i="0" u="none" strike="noStrike" kern="1200" noProof="0">
                          <a:solidFill>
                            <a:schemeClr val="dk1"/>
                          </a:solidFill>
                          <a:latin typeface="Aptos" panose="020B0004020202020204" pitchFamily="34" charset="0"/>
                          <a:ea typeface="+mn-ea"/>
                          <a:cs typeface="+mn-cs"/>
                        </a:rPr>
                        <a:t>Business UAT/Sign off Complete start - end</a:t>
                      </a:r>
                      <a:endParaRPr lang="en-US" sz="850" kern="1200">
                        <a:solidFill>
                          <a:schemeClr val="dk1"/>
                        </a:solidFill>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buNone/>
                      </a:pPr>
                      <a:r>
                        <a:rPr lang="en-US" sz="850">
                          <a:latin typeface="Aptos" panose="020B0004020202020204" pitchFamily="34" charset="0"/>
                        </a:rPr>
                        <a:t>NS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buNone/>
                      </a:pPr>
                      <a:r>
                        <a:rPr lang="en-US" sz="850" strike="noStrike">
                          <a:latin typeface="Aptos" panose="020B0004020202020204" pitchFamily="34" charset="0"/>
                        </a:rPr>
                        <a:t>11/12-11/27</a:t>
                      </a:r>
                      <a:endParaRPr lang="en-US" sz="850">
                        <a:latin typeface="Aptos"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eaLnBrk="1" fontAlgn="ctr" latinLnBrk="0" hangingPunct="1">
                        <a:lnSpc>
                          <a:spcPct val="95000"/>
                        </a:lnSpc>
                        <a:spcBef>
                          <a:spcPct val="0"/>
                        </a:spcBef>
                        <a:spcAft>
                          <a:spcPct val="50000"/>
                        </a:spcAft>
                        <a:buClrTx/>
                        <a:buSzTx/>
                        <a:buFontTx/>
                        <a:buNone/>
                      </a:pPr>
                      <a:endParaRPr lang="en-US" sz="850" b="0" kern="1200">
                        <a:solidFill>
                          <a:schemeClr val="tx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17819655"/>
                  </a:ext>
                </a:extLst>
              </a:tr>
              <a:tr h="238668">
                <a:tc>
                  <a:txBody>
                    <a:bodyPr/>
                    <a:lstStyle/>
                    <a:p>
                      <a:pPr marL="114300" marR="0" lvl="0" indent="0" algn="l" rtl="0">
                        <a:lnSpc>
                          <a:spcPct val="95000"/>
                        </a:lnSpc>
                        <a:spcBef>
                          <a:spcPct val="0"/>
                        </a:spcBef>
                        <a:spcAft>
                          <a:spcPct val="50000"/>
                        </a:spcAft>
                        <a:buClrTx/>
                        <a:buSzTx/>
                        <a:buFontTx/>
                        <a:buNone/>
                      </a:pPr>
                      <a:r>
                        <a:rPr lang="en-US" sz="850" kern="1200">
                          <a:solidFill>
                            <a:schemeClr val="dk1"/>
                          </a:solidFill>
                          <a:latin typeface="Aptos" panose="020B0004020202020204" pitchFamily="34" charset="0"/>
                          <a:ea typeface="+mn-ea"/>
                          <a:cs typeface="+mn-cs"/>
                        </a:rPr>
                        <a:t>MVP2 Go No/Go</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buNone/>
                      </a:pPr>
                      <a:r>
                        <a:rPr lang="en-US" sz="850">
                          <a:latin typeface="Aptos" panose="020B0004020202020204" pitchFamily="34" charset="0"/>
                        </a:rPr>
                        <a:t>NS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buNone/>
                      </a:pPr>
                      <a:r>
                        <a:rPr lang="en-US" sz="850" strike="noStrike">
                          <a:latin typeface="Aptos" panose="020B0004020202020204" pitchFamily="34" charset="0"/>
                        </a:rPr>
                        <a:t>11/30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eaLnBrk="1" fontAlgn="ctr" latinLnBrk="0" hangingPunct="1">
                        <a:lnSpc>
                          <a:spcPct val="95000"/>
                        </a:lnSpc>
                        <a:spcBef>
                          <a:spcPct val="0"/>
                        </a:spcBef>
                        <a:spcAft>
                          <a:spcPct val="50000"/>
                        </a:spcAft>
                        <a:buClrTx/>
                        <a:buSzTx/>
                        <a:buFontTx/>
                        <a:buNone/>
                      </a:pPr>
                      <a:endParaRPr lang="en-US" sz="850" b="0" kern="1200">
                        <a:solidFill>
                          <a:schemeClr val="tx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62506059"/>
                  </a:ext>
                </a:extLst>
              </a:tr>
              <a:tr h="325457">
                <a:tc>
                  <a:txBody>
                    <a:bodyPr/>
                    <a:lstStyle/>
                    <a:p>
                      <a:pPr marL="114300" marR="0" lvl="0" indent="0" algn="l" rtl="0">
                        <a:lnSpc>
                          <a:spcPct val="95000"/>
                        </a:lnSpc>
                        <a:spcBef>
                          <a:spcPct val="0"/>
                        </a:spcBef>
                        <a:spcAft>
                          <a:spcPct val="50000"/>
                        </a:spcAft>
                        <a:buClrTx/>
                        <a:buSzTx/>
                        <a:buFontTx/>
                        <a:buNone/>
                      </a:pPr>
                      <a:r>
                        <a:rPr lang="en-US" sz="850" kern="1200">
                          <a:solidFill>
                            <a:schemeClr val="dk1"/>
                          </a:solidFill>
                          <a:latin typeface="Aptos" panose="020B0004020202020204" pitchFamily="34" charset="0"/>
                          <a:ea typeface="+mn-ea"/>
                          <a:cs typeface="+mn-cs"/>
                        </a:rPr>
                        <a:t>MVP2 Delivery to Production</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buNone/>
                      </a:pPr>
                      <a:r>
                        <a:rPr lang="en-US" sz="850">
                          <a:latin typeface="Aptos" panose="020B0004020202020204" pitchFamily="34" charset="0"/>
                        </a:rPr>
                        <a:t>NS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buNone/>
                      </a:pPr>
                      <a:r>
                        <a:rPr lang="en-US" sz="850" strike="noStrike">
                          <a:latin typeface="Aptos" panose="020B0004020202020204" pitchFamily="34" charset="0"/>
                        </a:rPr>
                        <a:t>12/9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eaLnBrk="1" fontAlgn="ctr" latinLnBrk="0" hangingPunct="1">
                        <a:lnSpc>
                          <a:spcPct val="95000"/>
                        </a:lnSpc>
                        <a:spcBef>
                          <a:spcPct val="0"/>
                        </a:spcBef>
                        <a:spcAft>
                          <a:spcPct val="50000"/>
                        </a:spcAft>
                        <a:buClrTx/>
                        <a:buSzTx/>
                        <a:buFontTx/>
                        <a:buNone/>
                      </a:pPr>
                      <a:endParaRPr lang="en-US" sz="850" b="0" kern="1200">
                        <a:solidFill>
                          <a:schemeClr val="tx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54728909"/>
                  </a:ext>
                </a:extLst>
              </a:tr>
            </a:tbl>
          </a:graphicData>
        </a:graphic>
      </p:graphicFrame>
      <p:graphicFrame>
        <p:nvGraphicFramePr>
          <p:cNvPr id="29" name="Table 28">
            <a:extLst>
              <a:ext uri="{FF2B5EF4-FFF2-40B4-BE49-F238E27FC236}">
                <a16:creationId xmlns:a16="http://schemas.microsoft.com/office/drawing/2014/main" id="{92E11616-CC4F-76E2-70B6-953971003B42}"/>
              </a:ext>
            </a:extLst>
          </p:cNvPr>
          <p:cNvGraphicFramePr>
            <a:graphicFrameLocks noGrp="1"/>
          </p:cNvGraphicFramePr>
          <p:nvPr>
            <p:extLst>
              <p:ext uri="{D42A27DB-BD31-4B8C-83A1-F6EECF244321}">
                <p14:modId xmlns:p14="http://schemas.microsoft.com/office/powerpoint/2010/main" val="2983628363"/>
              </p:ext>
            </p:extLst>
          </p:nvPr>
        </p:nvGraphicFramePr>
        <p:xfrm>
          <a:off x="4980036" y="3319065"/>
          <a:ext cx="7136859" cy="3220720"/>
        </p:xfrm>
        <a:graphic>
          <a:graphicData uri="http://schemas.openxmlformats.org/drawingml/2006/table">
            <a:tbl>
              <a:tblPr>
                <a:tableStyleId>{5C22544A-7EE6-4342-B048-85BDC9FD1C3A}</a:tableStyleId>
              </a:tblPr>
              <a:tblGrid>
                <a:gridCol w="2633399">
                  <a:extLst>
                    <a:ext uri="{9D8B030D-6E8A-4147-A177-3AD203B41FA5}">
                      <a16:colId xmlns:a16="http://schemas.microsoft.com/office/drawing/2014/main" val="2456552316"/>
                    </a:ext>
                  </a:extLst>
                </a:gridCol>
                <a:gridCol w="517124">
                  <a:extLst>
                    <a:ext uri="{9D8B030D-6E8A-4147-A177-3AD203B41FA5}">
                      <a16:colId xmlns:a16="http://schemas.microsoft.com/office/drawing/2014/main" val="1100051595"/>
                    </a:ext>
                  </a:extLst>
                </a:gridCol>
                <a:gridCol w="574337">
                  <a:extLst>
                    <a:ext uri="{9D8B030D-6E8A-4147-A177-3AD203B41FA5}">
                      <a16:colId xmlns:a16="http://schemas.microsoft.com/office/drawing/2014/main" val="2042261034"/>
                    </a:ext>
                  </a:extLst>
                </a:gridCol>
                <a:gridCol w="3411999">
                  <a:extLst>
                    <a:ext uri="{9D8B030D-6E8A-4147-A177-3AD203B41FA5}">
                      <a16:colId xmlns:a16="http://schemas.microsoft.com/office/drawing/2014/main" val="2815874248"/>
                    </a:ext>
                  </a:extLst>
                </a:gridCol>
              </a:tblGrid>
              <a:tr h="309849">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Critical Risks/Issues</a:t>
                      </a:r>
                      <a:endParaRPr kumimoji="0" lang="en-US" sz="1050" b="1" i="0" u="none" strike="noStrike" kern="1200" cap="none" normalizeH="0" baseline="0">
                        <a:ln>
                          <a:noFill/>
                        </a:ln>
                        <a:solidFill>
                          <a:schemeClr val="bg1"/>
                        </a:solidFill>
                        <a:effectLst/>
                        <a:latin typeface="Arial" charset="0"/>
                        <a:ea typeface="+mn-ea"/>
                        <a:cs typeface="+mn-cs"/>
                      </a:endParaRP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Status</a:t>
                      </a:r>
                    </a:p>
                  </a:txBody>
                  <a:tcPr marL="9525" marR="9525" marT="9525" marB="0" anchor="ct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Target Date</a:t>
                      </a:r>
                    </a:p>
                  </a:txBody>
                  <a:tcPr marL="9525" marR="9525" marT="9525" marB="0" anchor="ctr">
                    <a:lnL w="12700">
                      <a:solidFill>
                        <a:schemeClr val="tx1"/>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Resolution / Mitigation</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2519498">
                <a:tc>
                  <a:txBody>
                    <a:bodyPr/>
                    <a:lstStyle/>
                    <a:p>
                      <a:pPr marL="285750" marR="0" lvl="0" indent="-285750" algn="l">
                        <a:lnSpc>
                          <a:spcPct val="100000"/>
                        </a:lnSpc>
                        <a:spcBef>
                          <a:spcPts val="0"/>
                        </a:spcBef>
                        <a:spcAft>
                          <a:spcPts val="0"/>
                        </a:spcAft>
                        <a:buClr>
                          <a:srgbClr val="000000"/>
                        </a:buClr>
                        <a:buFont typeface="Arial,Sans-Serif"/>
                        <a:buChar char="•"/>
                      </a:pPr>
                      <a:r>
                        <a:rPr lang="en-US" sz="820" b="1" i="0" u="none" strike="noStrike" noProof="0">
                          <a:solidFill>
                            <a:srgbClr val="000000"/>
                          </a:solidFill>
                          <a:latin typeface="Aptos" panose="020B0004020202020204" pitchFamily="34" charset="0"/>
                        </a:rPr>
                        <a:t>Analyze This (AT)</a:t>
                      </a:r>
                      <a:r>
                        <a:rPr lang="en-US" sz="820" b="0" i="0" u="none" strike="noStrike" noProof="0">
                          <a:solidFill>
                            <a:srgbClr val="000000"/>
                          </a:solidFill>
                          <a:latin typeface="Aptos" panose="020B0004020202020204" pitchFamily="34" charset="0"/>
                        </a:rPr>
                        <a:t> is dependent on </a:t>
                      </a:r>
                      <a:r>
                        <a:rPr lang="en-US" sz="820" b="1" i="0" u="none" strike="noStrike" noProof="0">
                          <a:solidFill>
                            <a:srgbClr val="000000"/>
                          </a:solidFill>
                          <a:latin typeface="Aptos" panose="020B0004020202020204" pitchFamily="34" charset="0"/>
                        </a:rPr>
                        <a:t>Scrum Sharks (SS)</a:t>
                      </a:r>
                      <a:r>
                        <a:rPr lang="en-US" sz="820" b="0" i="0" u="none" strike="noStrike" noProof="0">
                          <a:solidFill>
                            <a:srgbClr val="000000"/>
                          </a:solidFill>
                          <a:latin typeface="Aptos" panose="020B0004020202020204" pitchFamily="34" charset="0"/>
                        </a:rPr>
                        <a:t> to deliver the GIN table updates required for RRD processing.</a:t>
                      </a:r>
                    </a:p>
                    <a:p>
                      <a:pPr marL="285750" marR="0" lvl="0" indent="-285750" algn="l">
                        <a:lnSpc>
                          <a:spcPct val="100000"/>
                        </a:lnSpc>
                        <a:spcBef>
                          <a:spcPts val="0"/>
                        </a:spcBef>
                        <a:spcAft>
                          <a:spcPts val="0"/>
                        </a:spcAft>
                        <a:buClr>
                          <a:srgbClr val="000000"/>
                        </a:buClr>
                        <a:buFont typeface="Arial,Sans-Serif"/>
                        <a:buChar char="•"/>
                      </a:pPr>
                      <a:r>
                        <a:rPr lang="en-US" sz="800" b="1" i="0" u="none" strike="noStrike" noProof="0">
                          <a:solidFill>
                            <a:srgbClr val="000000"/>
                          </a:solidFill>
                          <a:latin typeface="Aptos"/>
                        </a:rPr>
                        <a:t>Pet Rocks (PR)</a:t>
                      </a:r>
                      <a:r>
                        <a:rPr lang="en-US" sz="800" b="0" i="0" u="none" strike="noStrike" noProof="0">
                          <a:solidFill>
                            <a:srgbClr val="000000"/>
                          </a:solidFill>
                          <a:latin typeface="Aptos"/>
                        </a:rPr>
                        <a:t> and </a:t>
                      </a:r>
                      <a:r>
                        <a:rPr lang="en-US" sz="800" b="1" i="0" u="none" strike="noStrike" noProof="0">
                          <a:solidFill>
                            <a:srgbClr val="000000"/>
                          </a:solidFill>
                          <a:latin typeface="Aptos"/>
                        </a:rPr>
                        <a:t>Epic Winners (EW)</a:t>
                      </a:r>
                      <a:r>
                        <a:rPr lang="en-US" sz="800" b="0" i="0" u="none" strike="noStrike" noProof="0">
                          <a:solidFill>
                            <a:srgbClr val="000000"/>
                          </a:solidFill>
                          <a:latin typeface="Aptos"/>
                        </a:rPr>
                        <a:t> are dependent on </a:t>
                      </a:r>
                      <a:r>
                        <a:rPr lang="en-US" sz="800" b="1" i="0" u="none" strike="noStrike" noProof="0">
                          <a:solidFill>
                            <a:srgbClr val="000000"/>
                          </a:solidFill>
                          <a:latin typeface="Aptos"/>
                        </a:rPr>
                        <a:t>Monkees in the Middle (MiM)</a:t>
                      </a:r>
                      <a:r>
                        <a:rPr lang="en-US" sz="800" b="0" i="0" u="none" strike="noStrike" noProof="0">
                          <a:solidFill>
                            <a:srgbClr val="000000"/>
                          </a:solidFill>
                          <a:latin typeface="Aptos"/>
                        </a:rPr>
                        <a:t> to deliver filter, map, and update request functionality, including Origin Code and MPPC Policy ID handling.</a:t>
                      </a:r>
                    </a:p>
                    <a:p>
                      <a:pPr marL="285750" marR="0" lvl="0" indent="-285750" algn="l">
                        <a:lnSpc>
                          <a:spcPct val="100000"/>
                        </a:lnSpc>
                        <a:spcBef>
                          <a:spcPts val="0"/>
                        </a:spcBef>
                        <a:spcAft>
                          <a:spcPts val="0"/>
                        </a:spcAft>
                        <a:buClr>
                          <a:srgbClr val="000000"/>
                        </a:buClr>
                        <a:buFont typeface="Arial,Sans-Serif"/>
                        <a:buChar char="•"/>
                      </a:pPr>
                      <a:r>
                        <a:rPr lang="en-US" sz="800" b="1" i="0" u="none" strike="noStrike" noProof="0">
                          <a:solidFill>
                            <a:srgbClr val="000000"/>
                          </a:solidFill>
                          <a:latin typeface="Aptos"/>
                        </a:rPr>
                        <a:t>Monkees in the Middle (MiM)</a:t>
                      </a:r>
                      <a:r>
                        <a:rPr lang="en-US" sz="800" b="0" i="0" u="none" strike="noStrike" noProof="0">
                          <a:solidFill>
                            <a:srgbClr val="000000"/>
                          </a:solidFill>
                          <a:latin typeface="Aptos"/>
                        </a:rPr>
                        <a:t> is dependent on </a:t>
                      </a:r>
                      <a:r>
                        <a:rPr lang="en-US" sz="800" b="1" i="0" u="none" strike="noStrike" noProof="0">
                          <a:solidFill>
                            <a:srgbClr val="000000"/>
                          </a:solidFill>
                          <a:latin typeface="Aptos"/>
                        </a:rPr>
                        <a:t>Scrum Sharks (SS)</a:t>
                      </a:r>
                      <a:r>
                        <a:rPr lang="en-US" sz="800" b="0" i="0" u="none" strike="noStrike" noProof="0">
                          <a:solidFill>
                            <a:srgbClr val="000000"/>
                          </a:solidFill>
                          <a:latin typeface="Aptos"/>
                        </a:rPr>
                        <a:t> to publish the final MPPC cancellation criteria required for design and development.</a:t>
                      </a:r>
                    </a:p>
                    <a:p>
                      <a:pPr marL="285750" marR="0" lvl="0" indent="-285750" algn="l">
                        <a:lnSpc>
                          <a:spcPct val="100000"/>
                        </a:lnSpc>
                        <a:spcBef>
                          <a:spcPts val="0"/>
                        </a:spcBef>
                        <a:spcAft>
                          <a:spcPts val="0"/>
                        </a:spcAft>
                        <a:buClr>
                          <a:srgbClr val="000000"/>
                        </a:buClr>
                        <a:buFont typeface="Arial,Sans-Serif"/>
                        <a:buChar char="•"/>
                      </a:pPr>
                      <a:r>
                        <a:rPr lang="en-US" sz="820" b="0" i="0" u="none" strike="noStrike" noProof="0">
                          <a:solidFill>
                            <a:srgbClr val="000000"/>
                          </a:solidFill>
                          <a:latin typeface="Aptos" panose="020B0004020202020204" pitchFamily="34" charset="0"/>
                        </a:rPr>
                        <a:t>Delays in any of the above dependencies may impact DDIT completion, integration testing, and December release readiness.</a:t>
                      </a:r>
                    </a:p>
                    <a:p>
                      <a:pPr marL="0" marR="0" lvl="0" indent="0" algn="l" defTabSz="914400">
                        <a:lnSpc>
                          <a:spcPct val="114999"/>
                        </a:lnSpc>
                        <a:spcBef>
                          <a:spcPts val="0"/>
                        </a:spcBef>
                        <a:spcAft>
                          <a:spcPts val="800"/>
                        </a:spcAft>
                        <a:buClrTx/>
                        <a:buSzTx/>
                        <a:buFontTx/>
                        <a:buNone/>
                        <a:tabLst/>
                        <a:defRPr/>
                      </a:pPr>
                      <a:endParaRPr lang="en-US" sz="820">
                        <a:latin typeface="Aptos" panose="020B0004020202020204" pitchFamily="34" charset="0"/>
                      </a:endParaRP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r>
                        <a:rPr lang="en-US" sz="800" b="0" kern="1200">
                          <a:solidFill>
                            <a:schemeClr val="tx1"/>
                          </a:solidFill>
                          <a:effectLst/>
                          <a:latin typeface="Aptos"/>
                          <a:ea typeface="+mn-ea"/>
                          <a:cs typeface="+mn-cs"/>
                        </a:rPr>
                        <a:t>C</a:t>
                      </a:r>
                      <a:endParaRPr lang="en-US" sz="820" b="0" kern="1200">
                        <a:solidFill>
                          <a:schemeClr val="tx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r>
                        <a:rPr lang="en-US" sz="820" b="0" strike="sngStrike" kern="1200">
                          <a:solidFill>
                            <a:schemeClr val="tx1"/>
                          </a:solidFill>
                          <a:effectLst/>
                          <a:latin typeface="Aptos" panose="020B0004020202020204" pitchFamily="34" charset="0"/>
                          <a:ea typeface="+mn-ea"/>
                          <a:cs typeface="+mn-cs"/>
                        </a:rPr>
                        <a:t>7/16</a:t>
                      </a:r>
                    </a:p>
                    <a:p>
                      <a:pPr marL="0" marR="0" lvl="0" indent="0" algn="ctr" defTabSz="914400" rtl="0" eaLnBrk="1" fontAlgn="ctr" latinLnBrk="0" hangingPunct="1">
                        <a:lnSpc>
                          <a:spcPct val="95000"/>
                        </a:lnSpc>
                        <a:spcBef>
                          <a:spcPct val="0"/>
                        </a:spcBef>
                        <a:spcAft>
                          <a:spcPct val="50000"/>
                        </a:spcAft>
                        <a:buClrTx/>
                        <a:buSzTx/>
                        <a:buFontTx/>
                        <a:buNone/>
                        <a:tabLst/>
                      </a:pPr>
                      <a:r>
                        <a:rPr lang="en-US" sz="820" b="0" strike="sngStrike" kern="1200">
                          <a:solidFill>
                            <a:schemeClr val="tx1"/>
                          </a:solidFill>
                          <a:effectLst/>
                          <a:latin typeface="Aptos" panose="020B0004020202020204" pitchFamily="34" charset="0"/>
                          <a:ea typeface="+mn-ea"/>
                          <a:cs typeface="+mn-cs"/>
                        </a:rPr>
                        <a:t>7/31</a:t>
                      </a:r>
                    </a:p>
                    <a:p>
                      <a:pPr marL="0" marR="0" lvl="0" indent="0" algn="ctr">
                        <a:lnSpc>
                          <a:spcPct val="95000"/>
                        </a:lnSpc>
                        <a:spcBef>
                          <a:spcPct val="0"/>
                        </a:spcBef>
                        <a:spcAft>
                          <a:spcPct val="50000"/>
                        </a:spcAft>
                        <a:buClrTx/>
                        <a:buSzTx/>
                        <a:buFontTx/>
                        <a:buNone/>
                      </a:pPr>
                      <a:r>
                        <a:rPr lang="en-US" sz="820" b="0" strike="noStrike" kern="1200">
                          <a:solidFill>
                            <a:schemeClr val="tx1"/>
                          </a:solidFill>
                          <a:effectLst/>
                          <a:latin typeface="Aptos" panose="020B0004020202020204" pitchFamily="34" charset="0"/>
                          <a:ea typeface="+mn-ea"/>
                          <a:cs typeface="+mn-cs"/>
                        </a:rPr>
                        <a:t>8/27</a:t>
                      </a:r>
                    </a:p>
                  </a:txBody>
                  <a:tcPr marL="9525" marR="9525" marT="9525" marB="0" anchor="ctr">
                    <a:lnL w="12700">
                      <a:solidFill>
                        <a:schemeClr val="tx1"/>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ts val="200"/>
                        </a:spcBef>
                        <a:spcAft>
                          <a:spcPts val="0"/>
                        </a:spcAft>
                        <a:buClrTx/>
                        <a:buSzTx/>
                        <a:buFont typeface="Arial" panose="020B0604020202020204" pitchFamily="34" charset="0"/>
                        <a:buNone/>
                        <a:tabLst/>
                        <a:defRPr/>
                      </a:pPr>
                      <a:r>
                        <a:rPr lang="en-US" sz="820" b="0" strike="noStrike" kern="1200">
                          <a:solidFill>
                            <a:schemeClr val="tx1"/>
                          </a:solidFill>
                          <a:effectLst/>
                          <a:latin typeface="Aptos" panose="020B0004020202020204" pitchFamily="34" charset="0"/>
                          <a:ea typeface="+mn-ea"/>
                          <a:cs typeface="+mn-cs"/>
                        </a:rPr>
                        <a:t>AT ← SS (GIN Table Updates)</a:t>
                      </a:r>
                    </a:p>
                    <a:p>
                      <a:pPr marL="171450" marR="0" lvl="0" indent="-171450" algn="l" defTabSz="914400" rtl="0" eaLnBrk="1" fontAlgn="base" latinLnBrk="0" hangingPunct="1">
                        <a:lnSpc>
                          <a:spcPct val="100000"/>
                        </a:lnSpc>
                        <a:spcBef>
                          <a:spcPts val="200"/>
                        </a:spcBef>
                        <a:spcAft>
                          <a:spcPts val="0"/>
                        </a:spcAft>
                        <a:buClrTx/>
                        <a:buSzTx/>
                        <a:buFont typeface="Arial" panose="020B0604020202020204" pitchFamily="34" charset="0"/>
                        <a:buChar char="•"/>
                        <a:tabLst/>
                        <a:defRPr/>
                      </a:pPr>
                      <a:r>
                        <a:rPr lang="en-US" sz="820" b="0" strike="noStrike" kern="1200">
                          <a:solidFill>
                            <a:schemeClr val="tx1"/>
                          </a:solidFill>
                          <a:effectLst/>
                          <a:latin typeface="Aptos" panose="020B0004020202020204" pitchFamily="34" charset="0"/>
                          <a:ea typeface="+mn-ea"/>
                          <a:cs typeface="+mn-cs"/>
                        </a:rPr>
                        <a:t>Mitigation: Prioritize GIN table delivery, conduct weekly dependency reviews, and provide table structures early for parallel development.</a:t>
                      </a:r>
                    </a:p>
                    <a:p>
                      <a:pPr marL="171450" marR="0" lvl="0" indent="-171450" algn="l" defTabSz="914400" rtl="0" eaLnBrk="1" fontAlgn="base" latinLnBrk="0" hangingPunct="1">
                        <a:lnSpc>
                          <a:spcPct val="100000"/>
                        </a:lnSpc>
                        <a:spcBef>
                          <a:spcPts val="200"/>
                        </a:spcBef>
                        <a:spcAft>
                          <a:spcPts val="0"/>
                        </a:spcAft>
                        <a:buClrTx/>
                        <a:buSzTx/>
                        <a:buFont typeface="Arial" panose="020B0604020202020204" pitchFamily="34" charset="0"/>
                        <a:buChar char="•"/>
                        <a:tabLst/>
                        <a:defRPr/>
                      </a:pPr>
                      <a:r>
                        <a:rPr lang="en-US" sz="820" b="0" strike="noStrike" kern="1200">
                          <a:solidFill>
                            <a:schemeClr val="tx1"/>
                          </a:solidFill>
                          <a:effectLst/>
                          <a:latin typeface="Aptos" panose="020B0004020202020204" pitchFamily="34" charset="0"/>
                          <a:ea typeface="+mn-ea"/>
                          <a:cs typeface="+mn-cs"/>
                        </a:rPr>
                        <a:t>Contingency: Use mock/stub data for development and initial testing until final updates are available.</a:t>
                      </a:r>
                    </a:p>
                    <a:p>
                      <a:pPr marL="0" marR="0" lvl="0" indent="0" algn="l" defTabSz="914400" rtl="0" eaLnBrk="1" fontAlgn="base" latinLnBrk="0" hangingPunct="1">
                        <a:lnSpc>
                          <a:spcPct val="100000"/>
                        </a:lnSpc>
                        <a:spcBef>
                          <a:spcPts val="200"/>
                        </a:spcBef>
                        <a:spcAft>
                          <a:spcPts val="0"/>
                        </a:spcAft>
                        <a:buClrTx/>
                        <a:buSzTx/>
                        <a:buFont typeface="Arial" panose="020B0604020202020204" pitchFamily="34" charset="0"/>
                        <a:buNone/>
                        <a:tabLst/>
                        <a:defRPr/>
                      </a:pPr>
                      <a:r>
                        <a:rPr lang="en-US" sz="800" b="0" strike="noStrike" kern="1200">
                          <a:solidFill>
                            <a:schemeClr val="tx1"/>
                          </a:solidFill>
                          <a:effectLst/>
                          <a:latin typeface="Aptos"/>
                          <a:ea typeface="+mn-ea"/>
                          <a:cs typeface="+mn-cs"/>
                        </a:rPr>
                        <a:t>PR/EW ← MiM (Filter, Map, Update Request Functionality)</a:t>
                      </a:r>
                    </a:p>
                    <a:p>
                      <a:pPr marL="171450" marR="0" lvl="0" indent="-171450" algn="l" defTabSz="914400" rtl="0" eaLnBrk="1" fontAlgn="base" latinLnBrk="0" hangingPunct="1">
                        <a:lnSpc>
                          <a:spcPct val="100000"/>
                        </a:lnSpc>
                        <a:spcBef>
                          <a:spcPts val="200"/>
                        </a:spcBef>
                        <a:spcAft>
                          <a:spcPts val="0"/>
                        </a:spcAft>
                        <a:buClrTx/>
                        <a:buSzTx/>
                        <a:buFont typeface="Arial" panose="020B0604020202020204" pitchFamily="34" charset="0"/>
                        <a:buChar char="•"/>
                        <a:tabLst/>
                        <a:defRPr/>
                      </a:pPr>
                      <a:r>
                        <a:rPr lang="en-US" sz="820" b="0" strike="noStrike" kern="1200">
                          <a:solidFill>
                            <a:schemeClr val="tx1"/>
                          </a:solidFill>
                          <a:effectLst/>
                          <a:latin typeface="Aptos" panose="020B0004020202020204" pitchFamily="34" charset="0"/>
                          <a:ea typeface="+mn-ea"/>
                          <a:cs typeface="+mn-cs"/>
                        </a:rPr>
                        <a:t>Mitigation: Finalize interface specifications early and deliver functionality incrementally.</a:t>
                      </a:r>
                    </a:p>
                    <a:p>
                      <a:pPr marL="171450" marR="0" lvl="0" indent="-171450" algn="l" defTabSz="914400" rtl="0" eaLnBrk="1" fontAlgn="base" latinLnBrk="0" hangingPunct="1">
                        <a:lnSpc>
                          <a:spcPct val="100000"/>
                        </a:lnSpc>
                        <a:spcBef>
                          <a:spcPts val="200"/>
                        </a:spcBef>
                        <a:spcAft>
                          <a:spcPts val="0"/>
                        </a:spcAft>
                        <a:buClrTx/>
                        <a:buSzTx/>
                        <a:buFont typeface="Arial" panose="020B0604020202020204" pitchFamily="34" charset="0"/>
                        <a:buChar char="•"/>
                        <a:tabLst/>
                        <a:defRPr/>
                      </a:pPr>
                      <a:r>
                        <a:rPr lang="en-US" sz="820" b="0" strike="noStrike" kern="1200">
                          <a:solidFill>
                            <a:schemeClr val="tx1"/>
                          </a:solidFill>
                          <a:effectLst/>
                          <a:latin typeface="Aptos" panose="020B0004020202020204" pitchFamily="34" charset="0"/>
                          <a:ea typeface="+mn-ea"/>
                          <a:cs typeface="+mn-cs"/>
                        </a:rPr>
                        <a:t>Contingency: Use mock APIs and sample payloads to continue development and integration testing.</a:t>
                      </a:r>
                    </a:p>
                    <a:p>
                      <a:pPr marL="0" marR="0" lvl="0" indent="0" algn="l" defTabSz="914400" rtl="0" eaLnBrk="1" fontAlgn="base" latinLnBrk="0" hangingPunct="1">
                        <a:lnSpc>
                          <a:spcPct val="100000"/>
                        </a:lnSpc>
                        <a:spcBef>
                          <a:spcPts val="200"/>
                        </a:spcBef>
                        <a:spcAft>
                          <a:spcPts val="0"/>
                        </a:spcAft>
                        <a:buClrTx/>
                        <a:buSzTx/>
                        <a:buFont typeface="Arial" panose="020B0604020202020204" pitchFamily="34" charset="0"/>
                        <a:buNone/>
                        <a:tabLst/>
                        <a:defRPr/>
                      </a:pPr>
                      <a:r>
                        <a:rPr lang="en-US" sz="800" b="0" strike="noStrike" kern="1200">
                          <a:solidFill>
                            <a:schemeClr val="tx1"/>
                          </a:solidFill>
                          <a:effectLst/>
                          <a:latin typeface="Aptos"/>
                          <a:ea typeface="+mn-ea"/>
                          <a:cs typeface="+mn-cs"/>
                        </a:rPr>
                        <a:t>MiM ← SS (MPPC Cancellation Criteria)</a:t>
                      </a:r>
                    </a:p>
                    <a:p>
                      <a:pPr marL="171450" marR="0" lvl="0" indent="-171450" algn="l" defTabSz="914400" rtl="0" eaLnBrk="1" fontAlgn="base" latinLnBrk="0" hangingPunct="1">
                        <a:lnSpc>
                          <a:spcPct val="100000"/>
                        </a:lnSpc>
                        <a:spcBef>
                          <a:spcPts val="200"/>
                        </a:spcBef>
                        <a:spcAft>
                          <a:spcPts val="0"/>
                        </a:spcAft>
                        <a:buClrTx/>
                        <a:buSzTx/>
                        <a:buFont typeface="Arial" panose="020B0604020202020204" pitchFamily="34" charset="0"/>
                        <a:buChar char="•"/>
                        <a:tabLst/>
                        <a:defRPr/>
                      </a:pPr>
                      <a:r>
                        <a:rPr lang="en-US" sz="820" b="0" strike="noStrike" kern="1200">
                          <a:solidFill>
                            <a:schemeClr val="tx1"/>
                          </a:solidFill>
                          <a:effectLst/>
                          <a:latin typeface="Aptos" panose="020B0004020202020204" pitchFamily="34" charset="0"/>
                          <a:ea typeface="+mn-ea"/>
                          <a:cs typeface="+mn-cs"/>
                        </a:rPr>
                        <a:t>Mitigation: Accelerate business decisions and align regularly on requirements.</a:t>
                      </a:r>
                    </a:p>
                    <a:p>
                      <a:pPr marL="171450" marR="0" lvl="0" indent="-171450" algn="l" defTabSz="914400" rtl="0" eaLnBrk="1" fontAlgn="base" latinLnBrk="0" hangingPunct="1">
                        <a:lnSpc>
                          <a:spcPct val="100000"/>
                        </a:lnSpc>
                        <a:spcBef>
                          <a:spcPts val="200"/>
                        </a:spcBef>
                        <a:spcAft>
                          <a:spcPts val="0"/>
                        </a:spcAft>
                        <a:buClrTx/>
                        <a:buSzTx/>
                        <a:buFont typeface="Arial" panose="020B0604020202020204" pitchFamily="34" charset="0"/>
                        <a:buChar char="•"/>
                        <a:tabLst/>
                        <a:defRPr/>
                      </a:pPr>
                      <a:r>
                        <a:rPr lang="en-US" sz="820" b="0" strike="noStrike" kern="1200">
                          <a:solidFill>
                            <a:schemeClr val="tx1"/>
                          </a:solidFill>
                          <a:effectLst/>
                          <a:latin typeface="Aptos" panose="020B0004020202020204" pitchFamily="34" charset="0"/>
                          <a:ea typeface="+mn-ea"/>
                          <a:cs typeface="+mn-cs"/>
                        </a:rPr>
                        <a:t>Contingency: Proceed with agreed interim assumptions and externalize rules to minimize rework.</a:t>
                      </a:r>
                    </a:p>
                    <a:p>
                      <a:pPr marL="0" marR="0" lvl="0" indent="0" algn="l" defTabSz="914400" rtl="0" eaLnBrk="1" fontAlgn="base" latinLnBrk="0" hangingPunct="1">
                        <a:lnSpc>
                          <a:spcPct val="100000"/>
                        </a:lnSpc>
                        <a:spcBef>
                          <a:spcPts val="200"/>
                        </a:spcBef>
                        <a:spcAft>
                          <a:spcPts val="0"/>
                        </a:spcAft>
                        <a:buClrTx/>
                        <a:buSzTx/>
                        <a:buFont typeface="Arial" panose="020B0604020202020204" pitchFamily="34" charset="0"/>
                        <a:buNone/>
                        <a:tabLst/>
                        <a:defRPr/>
                      </a:pPr>
                      <a:r>
                        <a:rPr lang="en-US" sz="820" b="0" strike="noStrike" kern="1200">
                          <a:solidFill>
                            <a:schemeClr val="tx1"/>
                          </a:solidFill>
                          <a:effectLst/>
                          <a:latin typeface="Aptos" panose="020B0004020202020204" pitchFamily="34" charset="0"/>
                          <a:ea typeface="+mn-ea"/>
                          <a:cs typeface="+mn-cs"/>
                        </a:rPr>
                        <a:t>Program-Level</a:t>
                      </a:r>
                    </a:p>
                    <a:p>
                      <a:pPr marL="171450" marR="0" lvl="0" indent="-171450" algn="l" defTabSz="914400" rtl="0" eaLnBrk="1" fontAlgn="base" latinLnBrk="0" hangingPunct="1">
                        <a:lnSpc>
                          <a:spcPct val="100000"/>
                        </a:lnSpc>
                        <a:spcBef>
                          <a:spcPts val="200"/>
                        </a:spcBef>
                        <a:spcAft>
                          <a:spcPts val="0"/>
                        </a:spcAft>
                        <a:buClrTx/>
                        <a:buSzTx/>
                        <a:buFont typeface="Arial" panose="020B0604020202020204" pitchFamily="34" charset="0"/>
                        <a:buChar char="•"/>
                        <a:tabLst/>
                        <a:defRPr/>
                      </a:pPr>
                      <a:r>
                        <a:rPr lang="en-US" sz="820" b="0" strike="noStrike" kern="1200">
                          <a:solidFill>
                            <a:schemeClr val="tx1"/>
                          </a:solidFill>
                          <a:effectLst/>
                          <a:latin typeface="Aptos" panose="020B0004020202020204" pitchFamily="34" charset="0"/>
                          <a:ea typeface="+mn-ea"/>
                          <a:cs typeface="+mn-cs"/>
                        </a:rPr>
                        <a:t>Mitigation: Weekly critical-path reviews, dependency tracking, and early integration testing as components become available.</a:t>
                      </a:r>
                    </a:p>
                    <a:p>
                      <a:pPr marL="171450" marR="0" lvl="0" indent="-171450" algn="l" defTabSz="914400" rtl="0" eaLnBrk="1" fontAlgn="base" latinLnBrk="0" hangingPunct="1">
                        <a:lnSpc>
                          <a:spcPct val="100000"/>
                        </a:lnSpc>
                        <a:spcBef>
                          <a:spcPts val="200"/>
                        </a:spcBef>
                        <a:spcAft>
                          <a:spcPts val="0"/>
                        </a:spcAft>
                        <a:buClrTx/>
                        <a:buSzTx/>
                        <a:buFont typeface="Arial" panose="020B0604020202020204" pitchFamily="34" charset="0"/>
                        <a:buChar char="•"/>
                        <a:tabLst/>
                        <a:defRPr/>
                      </a:pPr>
                      <a:r>
                        <a:rPr lang="en-US" sz="820" b="0" strike="noStrike" kern="1200">
                          <a:solidFill>
                            <a:schemeClr val="tx1"/>
                          </a:solidFill>
                          <a:effectLst/>
                          <a:latin typeface="Aptos" panose="020B0004020202020204" pitchFamily="34" charset="0"/>
                          <a:ea typeface="+mn-ea"/>
                          <a:cs typeface="+mn-cs"/>
                        </a:rPr>
                        <a:t>Contingency: Reprioritize scope, add delivery capacity, and evaluate phased delivery if dependency delays threaten the December 9 release.</a:t>
                      </a: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7499024"/>
                  </a:ext>
                </a:extLst>
              </a:tr>
            </a:tbl>
          </a:graphicData>
        </a:graphic>
      </p:graphicFrame>
      <p:sp>
        <p:nvSpPr>
          <p:cNvPr id="33" name="Flowchart: Connector 32">
            <a:extLst>
              <a:ext uri="{FF2B5EF4-FFF2-40B4-BE49-F238E27FC236}">
                <a16:creationId xmlns:a16="http://schemas.microsoft.com/office/drawing/2014/main" id="{411CAC90-586E-9F52-4984-DB79F9160C53}"/>
              </a:ext>
            </a:extLst>
          </p:cNvPr>
          <p:cNvSpPr/>
          <p:nvPr/>
        </p:nvSpPr>
        <p:spPr>
          <a:xfrm>
            <a:off x="6720705" y="6558684"/>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Flowchart: Connector 33">
            <a:extLst>
              <a:ext uri="{FF2B5EF4-FFF2-40B4-BE49-F238E27FC236}">
                <a16:creationId xmlns:a16="http://schemas.microsoft.com/office/drawing/2014/main" id="{1BC52D39-AC83-6E0F-2AE0-3FA4A7E2EF09}"/>
              </a:ext>
            </a:extLst>
          </p:cNvPr>
          <p:cNvSpPr/>
          <p:nvPr/>
        </p:nvSpPr>
        <p:spPr>
          <a:xfrm>
            <a:off x="7797764" y="6568714"/>
            <a:ext cx="163286" cy="164592"/>
          </a:xfrm>
          <a:prstGeom prst="flowChartConnector">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Flowchart: Connector 35">
            <a:extLst>
              <a:ext uri="{FF2B5EF4-FFF2-40B4-BE49-F238E27FC236}">
                <a16:creationId xmlns:a16="http://schemas.microsoft.com/office/drawing/2014/main" id="{21320782-7F39-ACDF-4506-1F4BDD009084}"/>
              </a:ext>
            </a:extLst>
          </p:cNvPr>
          <p:cNvSpPr/>
          <p:nvPr/>
        </p:nvSpPr>
        <p:spPr>
          <a:xfrm>
            <a:off x="8807808" y="6575070"/>
            <a:ext cx="163285" cy="164592"/>
          </a:xfrm>
          <a:prstGeom prst="flowChartConnector">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Flowchart: Connector 42">
            <a:extLst>
              <a:ext uri="{FF2B5EF4-FFF2-40B4-BE49-F238E27FC236}">
                <a16:creationId xmlns:a16="http://schemas.microsoft.com/office/drawing/2014/main" id="{01F3E451-53D3-0EFB-340A-171459EBEC52}"/>
              </a:ext>
            </a:extLst>
          </p:cNvPr>
          <p:cNvSpPr/>
          <p:nvPr/>
        </p:nvSpPr>
        <p:spPr>
          <a:xfrm>
            <a:off x="3303638" y="1403331"/>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highlight>
                <a:srgbClr val="00FF00"/>
              </a:highlight>
            </a:endParaRPr>
          </a:p>
        </p:txBody>
      </p:sp>
      <p:sp>
        <p:nvSpPr>
          <p:cNvPr id="45" name="Flowchart: Connector 44">
            <a:extLst>
              <a:ext uri="{FF2B5EF4-FFF2-40B4-BE49-F238E27FC236}">
                <a16:creationId xmlns:a16="http://schemas.microsoft.com/office/drawing/2014/main" id="{1FEF84C9-4ADB-0C92-F679-E8ADA92C1910}"/>
              </a:ext>
            </a:extLst>
          </p:cNvPr>
          <p:cNvSpPr/>
          <p:nvPr/>
        </p:nvSpPr>
        <p:spPr>
          <a:xfrm>
            <a:off x="4286105" y="1403331"/>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Flowchart: Connector 45">
            <a:extLst>
              <a:ext uri="{FF2B5EF4-FFF2-40B4-BE49-F238E27FC236}">
                <a16:creationId xmlns:a16="http://schemas.microsoft.com/office/drawing/2014/main" id="{D8382AA6-D2AE-99F1-3A8A-CC77F59255BC}"/>
              </a:ext>
            </a:extLst>
          </p:cNvPr>
          <p:cNvSpPr/>
          <p:nvPr/>
        </p:nvSpPr>
        <p:spPr>
          <a:xfrm>
            <a:off x="5143033" y="1403331"/>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Flowchart: Connector 46">
            <a:extLst>
              <a:ext uri="{FF2B5EF4-FFF2-40B4-BE49-F238E27FC236}">
                <a16:creationId xmlns:a16="http://schemas.microsoft.com/office/drawing/2014/main" id="{E20F73DC-4109-E8A0-BBF7-AC3318FE7598}"/>
              </a:ext>
            </a:extLst>
          </p:cNvPr>
          <p:cNvSpPr/>
          <p:nvPr/>
        </p:nvSpPr>
        <p:spPr>
          <a:xfrm>
            <a:off x="6078524" y="1403331"/>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BE2932B0-B441-DBC3-6268-CF7B2EF06D67}"/>
              </a:ext>
            </a:extLst>
          </p:cNvPr>
          <p:cNvSpPr txBox="1"/>
          <p:nvPr/>
        </p:nvSpPr>
        <p:spPr>
          <a:xfrm>
            <a:off x="9646954" y="379469"/>
            <a:ext cx="2275101" cy="517320"/>
          </a:xfrm>
          <a:prstGeom prst="rect">
            <a:avLst/>
          </a:prstGeom>
          <a:noFill/>
        </p:spPr>
        <p:txBody>
          <a:bodyPr wrap="none" lIns="0" tIns="0" rIns="0" bIns="0" rtlCol="0" anchor="t">
            <a:noAutofit/>
          </a:bodyPr>
          <a:lstStyle/>
          <a:p>
            <a:pPr>
              <a:lnSpc>
                <a:spcPct val="112000"/>
              </a:lnSpc>
            </a:pPr>
            <a:r>
              <a:rPr lang="en-US" sz="1200">
                <a:latin typeface="Arial"/>
                <a:cs typeface="Arial"/>
              </a:rPr>
              <a:t>Project Manager : Lalitha Kumar</a:t>
            </a:r>
          </a:p>
          <a:p>
            <a:pPr>
              <a:lnSpc>
                <a:spcPct val="112000"/>
              </a:lnSpc>
            </a:pPr>
            <a:r>
              <a:rPr lang="en-US" sz="1200" err="1">
                <a:latin typeface="Arial"/>
                <a:cs typeface="Arial"/>
              </a:rPr>
              <a:t>OpEx</a:t>
            </a:r>
            <a:r>
              <a:rPr lang="en-US" sz="1200">
                <a:latin typeface="Arial"/>
                <a:cs typeface="Arial"/>
              </a:rPr>
              <a:t> Business Lead: Gary Wilson</a:t>
            </a:r>
          </a:p>
        </p:txBody>
      </p:sp>
      <p:sp>
        <p:nvSpPr>
          <p:cNvPr id="7" name="Flowchart: Connector 6">
            <a:extLst>
              <a:ext uri="{FF2B5EF4-FFF2-40B4-BE49-F238E27FC236}">
                <a16:creationId xmlns:a16="http://schemas.microsoft.com/office/drawing/2014/main" id="{7AC3276B-CB44-CB66-2FE8-8310F61F7A40}"/>
              </a:ext>
            </a:extLst>
          </p:cNvPr>
          <p:cNvSpPr/>
          <p:nvPr/>
        </p:nvSpPr>
        <p:spPr>
          <a:xfrm>
            <a:off x="7786432" y="2118160"/>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0FF6BAD6-5D3B-0717-2D10-31E38E17DDF9}"/>
              </a:ext>
            </a:extLst>
          </p:cNvPr>
          <p:cNvSpPr txBox="1"/>
          <p:nvPr/>
        </p:nvSpPr>
        <p:spPr>
          <a:xfrm>
            <a:off x="156072" y="1794831"/>
            <a:ext cx="4709711" cy="493981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rtl="0"/>
            <a:r>
              <a:rPr lang="en-US" sz="900" b="1" baseline="0">
                <a:latin typeface="Aptos Display"/>
                <a:ea typeface="Arial"/>
                <a:cs typeface="Arial"/>
              </a:rPr>
              <a:t>Status</a:t>
            </a:r>
            <a:r>
              <a:rPr lang="en-US" sz="900">
                <a:latin typeface="Aptos Display"/>
                <a:ea typeface="Arial"/>
                <a:cs typeface="Arial"/>
              </a:rPr>
              <a:t>​</a:t>
            </a:r>
          </a:p>
          <a:p>
            <a:pPr rtl="0"/>
            <a:r>
              <a:rPr lang="en-US" sz="900" baseline="0">
                <a:latin typeface="Aptos Display"/>
                <a:ea typeface="Arial"/>
                <a:cs typeface="Arial"/>
              </a:rPr>
              <a:t>The MPPC to MPI project continues to make steady progress, with teams aligned on a revised technical solution following completion of the MPPC to MPI impact assessment. During the week, business and technology teams confirmed the go-forward design approach, significantly reducing solution complexity by leveraging existing cancellation reason codes and eliminating the need for new eligibility flags and RRD integration changes. Development activities continue across workstreams while teams assess release timing options, focused on reducing implementation risk and improving testing and stabilization opportunities.</a:t>
            </a:r>
            <a:r>
              <a:rPr lang="en-US" sz="900">
                <a:latin typeface="Aptos Display"/>
                <a:ea typeface="Arial"/>
                <a:cs typeface="Arial"/>
              </a:rPr>
              <a:t>​</a:t>
            </a:r>
          </a:p>
          <a:p>
            <a:pPr rtl="0"/>
            <a:r>
              <a:rPr lang="en-US" sz="900">
                <a:latin typeface="Aptos Display"/>
                <a:ea typeface="Arial"/>
                <a:cs typeface="Arial"/>
              </a:rPr>
              <a:t>​</a:t>
            </a:r>
          </a:p>
          <a:p>
            <a:pPr rtl="0"/>
            <a:r>
              <a:rPr lang="en-US" sz="900" b="1" baseline="0">
                <a:latin typeface="Aptos Display"/>
                <a:ea typeface="Arial"/>
                <a:cs typeface="Arial"/>
              </a:rPr>
              <a:t>Highlights</a:t>
            </a:r>
            <a:r>
              <a:rPr lang="en-US" sz="900">
                <a:latin typeface="Aptos Display"/>
                <a:ea typeface="Arial"/>
                <a:cs typeface="Arial"/>
              </a:rPr>
              <a:t>​</a:t>
            </a:r>
          </a:p>
          <a:p>
            <a:pPr marL="171450" lvl="0" indent="-171450" rtl="0">
              <a:buFont typeface="Arial,Sans-Serif"/>
              <a:buChar char="•"/>
            </a:pPr>
            <a:r>
              <a:rPr lang="en-US" sz="900" baseline="0">
                <a:latin typeface="Aptos Display"/>
                <a:ea typeface="Arial"/>
                <a:cs typeface="Arial"/>
              </a:rPr>
              <a:t>Completed cross-team impact assessment and confirmed the new technical solution design for MPPC to MPI.</a:t>
            </a:r>
            <a:r>
              <a:rPr lang="en-US" sz="900">
                <a:latin typeface="Aptos Display"/>
                <a:ea typeface="Arial"/>
                <a:cs typeface="Arial"/>
              </a:rPr>
              <a:t>​</a:t>
            </a:r>
          </a:p>
          <a:p>
            <a:pPr marL="171450" lvl="0" indent="-171450" rtl="0">
              <a:buFont typeface="Arial,Sans-Serif"/>
              <a:buChar char="•"/>
            </a:pPr>
            <a:r>
              <a:rPr lang="en-US" sz="900" baseline="0">
                <a:latin typeface="Aptos Display"/>
                <a:ea typeface="Arial"/>
                <a:cs typeface="Arial"/>
              </a:rPr>
              <a:t>Confirmed Previous Policy Number will be passed through the integration flow and used to identify continuance policies.</a:t>
            </a:r>
            <a:r>
              <a:rPr lang="en-US" sz="900">
                <a:latin typeface="Aptos Display"/>
                <a:ea typeface="Arial"/>
                <a:cs typeface="Arial"/>
              </a:rPr>
              <a:t>​</a:t>
            </a:r>
          </a:p>
          <a:p>
            <a:pPr marL="171450" lvl="0" indent="-171450" rtl="0">
              <a:buFont typeface="Arial,Sans-Serif"/>
              <a:buChar char="•"/>
            </a:pPr>
            <a:r>
              <a:rPr lang="en-US" sz="900" baseline="0">
                <a:latin typeface="Aptos Display"/>
                <a:ea typeface="Arial"/>
                <a:cs typeface="Arial"/>
              </a:rPr>
              <a:t>Eliminated the need for a new MPI Offer Eligibility flag by leveraging existing cancellation reason codes and current XML fields.</a:t>
            </a:r>
            <a:r>
              <a:rPr lang="en-US" sz="900">
                <a:latin typeface="Aptos Display"/>
                <a:ea typeface="Arial"/>
                <a:cs typeface="Arial"/>
              </a:rPr>
              <a:t>​</a:t>
            </a:r>
          </a:p>
          <a:p>
            <a:pPr marL="171450" lvl="0" indent="-171450" rtl="0">
              <a:buFont typeface="Arial,Sans-Serif"/>
              <a:buChar char="•"/>
            </a:pPr>
            <a:r>
              <a:rPr lang="en-US" sz="900" baseline="0">
                <a:latin typeface="Aptos Display"/>
                <a:ea typeface="Arial"/>
                <a:cs typeface="Arial"/>
              </a:rPr>
              <a:t>Removed RRD file modification requirements, reducing overall scope, complexity, and downstream impacts.</a:t>
            </a:r>
            <a:r>
              <a:rPr lang="en-US" sz="900">
                <a:latin typeface="Aptos Display"/>
                <a:ea typeface="Arial"/>
                <a:cs typeface="Arial"/>
              </a:rPr>
              <a:t>​</a:t>
            </a:r>
          </a:p>
          <a:p>
            <a:pPr marL="171450" lvl="0" indent="-171450" rtl="0">
              <a:buFont typeface="Arial,Sans-Serif"/>
              <a:buChar char="•"/>
            </a:pPr>
            <a:r>
              <a:rPr lang="en-US" sz="900" baseline="0">
                <a:latin typeface="Aptos Display"/>
                <a:ea typeface="Arial"/>
                <a:cs typeface="Arial"/>
              </a:rPr>
              <a:t>Validated that the December 9 release remains technically achievable if no additional changes are introduced.</a:t>
            </a:r>
            <a:r>
              <a:rPr lang="en-US" sz="900">
                <a:latin typeface="Aptos Display"/>
                <a:ea typeface="Arial"/>
                <a:cs typeface="Arial"/>
              </a:rPr>
              <a:t>​</a:t>
            </a:r>
          </a:p>
          <a:p>
            <a:pPr marL="171450" lvl="0" indent="-171450" rtl="0">
              <a:buFont typeface="Arial,Sans-Serif"/>
              <a:buChar char="•"/>
            </a:pPr>
            <a:r>
              <a:rPr lang="en-US" sz="900" baseline="0">
                <a:latin typeface="Aptos Display"/>
                <a:ea typeface="Arial"/>
                <a:cs typeface="Arial"/>
              </a:rPr>
              <a:t>Leadership initiated evaluation of alternative deployment windows, with February currently emerging as the preferred release option due to year-end operational and support risks.</a:t>
            </a:r>
            <a:r>
              <a:rPr lang="en-US" sz="900">
                <a:latin typeface="Aptos Display"/>
                <a:ea typeface="Arial"/>
                <a:cs typeface="Arial"/>
              </a:rPr>
              <a:t>​</a:t>
            </a:r>
          </a:p>
          <a:p>
            <a:pPr rtl="0"/>
            <a:r>
              <a:rPr lang="en-US" sz="900">
                <a:latin typeface="Aptos Display"/>
                <a:ea typeface="Arial"/>
                <a:cs typeface="Arial"/>
              </a:rPr>
              <a:t>​</a:t>
            </a:r>
          </a:p>
          <a:p>
            <a:pPr rtl="0"/>
            <a:r>
              <a:rPr lang="en-US" sz="900" b="1" baseline="0">
                <a:latin typeface="Aptos Display"/>
                <a:ea typeface="Arial"/>
                <a:cs typeface="Arial"/>
              </a:rPr>
              <a:t>Next Steps</a:t>
            </a:r>
            <a:r>
              <a:rPr lang="en-US" sz="900">
                <a:latin typeface="Aptos Display"/>
                <a:ea typeface="Arial"/>
                <a:cs typeface="Arial"/>
              </a:rPr>
              <a:t>​</a:t>
            </a:r>
          </a:p>
          <a:p>
            <a:pPr marL="171450" lvl="0" indent="-171450" rtl="0">
              <a:buFont typeface="Arial,Sans-Serif"/>
              <a:buChar char="•"/>
            </a:pPr>
            <a:r>
              <a:rPr lang="en-US" sz="900" baseline="0">
                <a:latin typeface="Aptos Display"/>
                <a:ea typeface="Arial"/>
                <a:cs typeface="Arial"/>
              </a:rPr>
              <a:t>Collect final effort estimates, timeline impacts, and cost assessments from all impacted teams.</a:t>
            </a:r>
            <a:r>
              <a:rPr lang="en-US" sz="900">
                <a:latin typeface="Aptos Display"/>
                <a:ea typeface="Arial"/>
                <a:cs typeface="Arial"/>
              </a:rPr>
              <a:t>​</a:t>
            </a:r>
          </a:p>
          <a:p>
            <a:pPr marL="171450" lvl="0" indent="-171450" rtl="0">
              <a:buFont typeface="Arial,Sans-Serif"/>
              <a:buChar char="•"/>
            </a:pPr>
            <a:r>
              <a:rPr lang="en-US" sz="900" baseline="0">
                <a:latin typeface="Aptos Display"/>
                <a:ea typeface="Arial"/>
                <a:cs typeface="Arial"/>
              </a:rPr>
              <a:t>Validate the final implementation approach for Previous Policy Number handling across PPAPI, MIM, Epic Winners, and GIN.</a:t>
            </a:r>
            <a:r>
              <a:rPr lang="en-US" sz="900">
                <a:latin typeface="Aptos Display"/>
                <a:ea typeface="Arial"/>
                <a:cs typeface="Arial"/>
              </a:rPr>
              <a:t>​</a:t>
            </a:r>
          </a:p>
          <a:p>
            <a:pPr marL="171450" lvl="0" indent="-171450" rtl="0">
              <a:buFont typeface="Arial,Sans-Serif"/>
              <a:buChar char="•"/>
            </a:pPr>
            <a:r>
              <a:rPr lang="en-US" sz="900" baseline="0">
                <a:latin typeface="Aptos Display"/>
                <a:ea typeface="Arial"/>
                <a:cs typeface="Arial"/>
              </a:rPr>
              <a:t>Evaluate January, February, and phased deployment alternatives and prepare leadership recommendations.</a:t>
            </a:r>
            <a:r>
              <a:rPr lang="en-US" sz="900">
                <a:latin typeface="Aptos Display"/>
                <a:ea typeface="Arial"/>
                <a:cs typeface="Arial"/>
              </a:rPr>
              <a:t>​</a:t>
            </a:r>
          </a:p>
          <a:p>
            <a:pPr marL="171450" lvl="0" indent="-171450" rtl="0">
              <a:buFont typeface="Arial,Sans-Serif"/>
              <a:buChar char="•"/>
            </a:pPr>
            <a:r>
              <a:rPr lang="en-US" sz="900" baseline="0">
                <a:latin typeface="Aptos Display"/>
                <a:ea typeface="Arial"/>
                <a:cs typeface="Arial"/>
              </a:rPr>
              <a:t>Determine feasibility of dark launch and feature-shelving options where applicable.</a:t>
            </a:r>
            <a:r>
              <a:rPr lang="en-US" sz="900">
                <a:latin typeface="Aptos Display"/>
                <a:ea typeface="Arial"/>
                <a:cs typeface="Arial"/>
              </a:rPr>
              <a:t>​</a:t>
            </a:r>
          </a:p>
          <a:p>
            <a:pPr marL="171450" lvl="0" indent="-171450" rtl="0">
              <a:buFont typeface="Arial,Sans-Serif"/>
              <a:buChar char="•"/>
            </a:pPr>
            <a:r>
              <a:rPr lang="en-US" sz="900" baseline="0">
                <a:latin typeface="Aptos Display"/>
                <a:ea typeface="Arial"/>
                <a:cs typeface="Arial"/>
              </a:rPr>
              <a:t>Continue DDIT execution and dependency management activities across all workstreams.</a:t>
            </a:r>
            <a:r>
              <a:rPr lang="en-US" sz="900">
                <a:latin typeface="Aptos Display"/>
                <a:ea typeface="Arial"/>
                <a:cs typeface="Arial"/>
              </a:rPr>
              <a:t>​</a:t>
            </a:r>
          </a:p>
          <a:p>
            <a:pPr marL="171450" lvl="0" indent="-171450" rtl="0">
              <a:buFont typeface="Arial,Sans-Serif"/>
              <a:buChar char="•"/>
            </a:pPr>
            <a:r>
              <a:rPr lang="en-US" sz="900" baseline="0">
                <a:latin typeface="Aptos Display"/>
                <a:ea typeface="Arial"/>
                <a:cs typeface="Arial"/>
              </a:rPr>
              <a:t>Prepare Steering Committee materials summarizing design decisions, release options, timeline impacts, and recommended deployment strategy.</a:t>
            </a:r>
            <a:r>
              <a:rPr lang="en-US" sz="900">
                <a:latin typeface="Aptos Display"/>
                <a:ea typeface="Arial"/>
                <a:cs typeface="Arial"/>
              </a:rPr>
              <a:t>​</a:t>
            </a:r>
          </a:p>
          <a:p>
            <a:pPr marL="171450" lvl="0" indent="-171450" rtl="0">
              <a:buFont typeface="Arial,Sans-Serif"/>
              <a:buChar char="•"/>
            </a:pPr>
            <a:r>
              <a:rPr lang="en-US" sz="900" baseline="0">
                <a:latin typeface="Aptos Display"/>
                <a:ea typeface="Arial"/>
                <a:cs typeface="Arial"/>
              </a:rPr>
              <a:t>Finalize implementation timeline and release strategy following leadership review.</a:t>
            </a:r>
            <a:r>
              <a:rPr lang="en-US" sz="900">
                <a:latin typeface="Aptos Display"/>
                <a:ea typeface="Arial"/>
                <a:cs typeface="Arial"/>
              </a:rPr>
              <a:t>​</a:t>
            </a:r>
          </a:p>
        </p:txBody>
      </p:sp>
    </p:spTree>
    <p:extLst>
      <p:ext uri="{BB962C8B-B14F-4D97-AF65-F5344CB8AC3E}">
        <p14:creationId xmlns:p14="http://schemas.microsoft.com/office/powerpoint/2010/main" val="17420520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1AFF82-0EF9-6143-C97F-EEAD1BBAADCC}"/>
            </a:ext>
          </a:extLst>
        </p:cNvPr>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30F5468D-CCD2-7D54-C51C-9DC727BCE987}"/>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8" imgH="408" progId="TCLayout.ActiveDocument.1">
                  <p:embed/>
                </p:oleObj>
              </mc:Choice>
              <mc:Fallback>
                <p:oleObj name="think-cell Slide" r:id="rId4" imgW="408" imgH="408" progId="TCLayout.ActiveDocument.1">
                  <p:embed/>
                  <p:pic>
                    <p:nvPicPr>
                      <p:cNvPr id="9" name="think-cell data - do not delete" hidden="1">
                        <a:extLst>
                          <a:ext uri="{FF2B5EF4-FFF2-40B4-BE49-F238E27FC236}">
                            <a16:creationId xmlns:a16="http://schemas.microsoft.com/office/drawing/2014/main" id="{30F5468D-CCD2-7D54-C51C-9DC727BCE98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graphicFrame>
        <p:nvGraphicFramePr>
          <p:cNvPr id="32" name="Group 614">
            <a:extLst>
              <a:ext uri="{FF2B5EF4-FFF2-40B4-BE49-F238E27FC236}">
                <a16:creationId xmlns:a16="http://schemas.microsoft.com/office/drawing/2014/main" id="{120FFE11-E5E1-74A8-30B4-1B9DCE592CE8}"/>
              </a:ext>
            </a:extLst>
          </p:cNvPr>
          <p:cNvGraphicFramePr>
            <a:graphicFrameLocks noGrp="1"/>
          </p:cNvGraphicFramePr>
          <p:nvPr/>
        </p:nvGraphicFramePr>
        <p:xfrm>
          <a:off x="5583499" y="6195328"/>
          <a:ext cx="6491452" cy="386554"/>
        </p:xfrm>
        <a:graphic>
          <a:graphicData uri="http://schemas.openxmlformats.org/drawingml/2006/table">
            <a:tbl>
              <a:tblPr/>
              <a:tblGrid>
                <a:gridCol w="551585">
                  <a:extLst>
                    <a:ext uri="{9D8B030D-6E8A-4147-A177-3AD203B41FA5}">
                      <a16:colId xmlns:a16="http://schemas.microsoft.com/office/drawing/2014/main" val="20000"/>
                    </a:ext>
                  </a:extLst>
                </a:gridCol>
                <a:gridCol w="279566">
                  <a:extLst>
                    <a:ext uri="{9D8B030D-6E8A-4147-A177-3AD203B41FA5}">
                      <a16:colId xmlns:a16="http://schemas.microsoft.com/office/drawing/2014/main" val="20001"/>
                    </a:ext>
                  </a:extLst>
                </a:gridCol>
                <a:gridCol w="689073">
                  <a:extLst>
                    <a:ext uri="{9D8B030D-6E8A-4147-A177-3AD203B41FA5}">
                      <a16:colId xmlns:a16="http://schemas.microsoft.com/office/drawing/2014/main" val="20002"/>
                    </a:ext>
                  </a:extLst>
                </a:gridCol>
                <a:gridCol w="275428">
                  <a:extLst>
                    <a:ext uri="{9D8B030D-6E8A-4147-A177-3AD203B41FA5}">
                      <a16:colId xmlns:a16="http://schemas.microsoft.com/office/drawing/2014/main" val="20003"/>
                    </a:ext>
                  </a:extLst>
                </a:gridCol>
                <a:gridCol w="605150">
                  <a:extLst>
                    <a:ext uri="{9D8B030D-6E8A-4147-A177-3AD203B41FA5}">
                      <a16:colId xmlns:a16="http://schemas.microsoft.com/office/drawing/2014/main" val="20004"/>
                    </a:ext>
                  </a:extLst>
                </a:gridCol>
                <a:gridCol w="471179">
                  <a:extLst>
                    <a:ext uri="{9D8B030D-6E8A-4147-A177-3AD203B41FA5}">
                      <a16:colId xmlns:a16="http://schemas.microsoft.com/office/drawing/2014/main" val="20005"/>
                    </a:ext>
                  </a:extLst>
                </a:gridCol>
                <a:gridCol w="517061">
                  <a:extLst>
                    <a:ext uri="{9D8B030D-6E8A-4147-A177-3AD203B41FA5}">
                      <a16:colId xmlns:a16="http://schemas.microsoft.com/office/drawing/2014/main" val="20006"/>
                    </a:ext>
                  </a:extLst>
                </a:gridCol>
                <a:gridCol w="335614">
                  <a:extLst>
                    <a:ext uri="{9D8B030D-6E8A-4147-A177-3AD203B41FA5}">
                      <a16:colId xmlns:a16="http://schemas.microsoft.com/office/drawing/2014/main" val="20007"/>
                    </a:ext>
                  </a:extLst>
                </a:gridCol>
                <a:gridCol w="1247930">
                  <a:extLst>
                    <a:ext uri="{9D8B030D-6E8A-4147-A177-3AD203B41FA5}">
                      <a16:colId xmlns:a16="http://schemas.microsoft.com/office/drawing/2014/main" val="20008"/>
                    </a:ext>
                  </a:extLst>
                </a:gridCol>
                <a:gridCol w="344009">
                  <a:extLst>
                    <a:ext uri="{9D8B030D-6E8A-4147-A177-3AD203B41FA5}">
                      <a16:colId xmlns:a16="http://schemas.microsoft.com/office/drawing/2014/main" val="20009"/>
                    </a:ext>
                  </a:extLst>
                </a:gridCol>
                <a:gridCol w="1174857">
                  <a:extLst>
                    <a:ext uri="{9D8B030D-6E8A-4147-A177-3AD203B41FA5}">
                      <a16:colId xmlns:a16="http://schemas.microsoft.com/office/drawing/2014/main" val="20010"/>
                    </a:ext>
                  </a:extLst>
                </a:gridCol>
              </a:tblGrid>
              <a:tr h="386554">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Arial" charset="0"/>
                          <a:cs typeface="Arial" charset="0"/>
                        </a:rPr>
                        <a:t>Status Key</a:t>
                      </a:r>
                      <a:endParaRPr kumimoji="0" lang="en-GB" sz="1600" b="0" i="0" u="none" strike="noStrike" cap="none" normalizeH="0" baseline="0">
                        <a:ln>
                          <a:noFill/>
                        </a:ln>
                        <a:solidFill>
                          <a:srgbClr val="002060"/>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mj-lt"/>
                        </a:rPr>
                        <a:t>C</a:t>
                      </a: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Arial" charset="0"/>
                          <a:cs typeface="Arial" charset="0"/>
                        </a:rPr>
                        <a:t>Completed</a:t>
                      </a:r>
                      <a:endParaRPr kumimoji="0" lang="en-GB" sz="1600" b="0" i="0" u="none" strike="noStrike" cap="none" normalizeH="0" baseline="0">
                        <a:ln>
                          <a:noFill/>
                        </a:ln>
                        <a:solidFill>
                          <a:srgbClr val="002060"/>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On-Schedule</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Major Issues</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Some Issues</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NS</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Not Started</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2" name="Title 1">
            <a:extLst>
              <a:ext uri="{FF2B5EF4-FFF2-40B4-BE49-F238E27FC236}">
                <a16:creationId xmlns:a16="http://schemas.microsoft.com/office/drawing/2014/main" id="{1ABE5BD6-4C14-C93E-586B-6DB89C2FDFE9}"/>
              </a:ext>
            </a:extLst>
          </p:cNvPr>
          <p:cNvSpPr>
            <a:spLocks noGrp="1"/>
          </p:cNvSpPr>
          <p:nvPr>
            <p:ph type="title"/>
          </p:nvPr>
        </p:nvSpPr>
        <p:spPr>
          <a:xfrm>
            <a:off x="299258" y="186479"/>
            <a:ext cx="6846054" cy="517320"/>
          </a:xfrm>
        </p:spPr>
        <p:txBody>
          <a:bodyPr vert="horz">
            <a:noAutofit/>
          </a:bodyPr>
          <a:lstStyle/>
          <a:p>
            <a:r>
              <a:rPr lang="fr-FR">
                <a:solidFill>
                  <a:srgbClr val="29389F"/>
                </a:solidFill>
              </a:rPr>
              <a:t>PEC Product &amp; </a:t>
            </a:r>
            <a:r>
              <a:rPr lang="fr-FR" err="1">
                <a:solidFill>
                  <a:srgbClr val="29389F"/>
                </a:solidFill>
              </a:rPr>
              <a:t>Underwriting</a:t>
            </a:r>
            <a:r>
              <a:rPr lang="fr-FR">
                <a:solidFill>
                  <a:srgbClr val="29389F"/>
                </a:solidFill>
              </a:rPr>
              <a:t> </a:t>
            </a:r>
            <a:r>
              <a:rPr lang="fr-FR" err="1">
                <a:solidFill>
                  <a:srgbClr val="29389F"/>
                </a:solidFill>
              </a:rPr>
              <a:t>Enhancements</a:t>
            </a:r>
            <a:endParaRPr lang="fr-FR">
              <a:solidFill>
                <a:srgbClr val="29389F"/>
              </a:solidFill>
            </a:endParaRPr>
          </a:p>
        </p:txBody>
      </p:sp>
      <p:graphicFrame>
        <p:nvGraphicFramePr>
          <p:cNvPr id="11" name="Group 513">
            <a:extLst>
              <a:ext uri="{FF2B5EF4-FFF2-40B4-BE49-F238E27FC236}">
                <a16:creationId xmlns:a16="http://schemas.microsoft.com/office/drawing/2014/main" id="{BFC921B7-8473-F0B2-DE79-1DD183682645}"/>
              </a:ext>
            </a:extLst>
          </p:cNvPr>
          <p:cNvGraphicFramePr>
            <a:graphicFrameLocks noGrp="1"/>
          </p:cNvGraphicFramePr>
          <p:nvPr>
            <p:extLst>
              <p:ext uri="{D42A27DB-BD31-4B8C-83A1-F6EECF244321}">
                <p14:modId xmlns:p14="http://schemas.microsoft.com/office/powerpoint/2010/main" val="1904773649"/>
              </p:ext>
            </p:extLst>
          </p:nvPr>
        </p:nvGraphicFramePr>
        <p:xfrm>
          <a:off x="234455" y="927650"/>
          <a:ext cx="2638218" cy="344301"/>
        </p:xfrm>
        <a:graphic>
          <a:graphicData uri="http://schemas.openxmlformats.org/drawingml/2006/table">
            <a:tbl>
              <a:tblPr/>
              <a:tblGrid>
                <a:gridCol w="990046">
                  <a:extLst>
                    <a:ext uri="{9D8B030D-6E8A-4147-A177-3AD203B41FA5}">
                      <a16:colId xmlns:a16="http://schemas.microsoft.com/office/drawing/2014/main" val="20000"/>
                    </a:ext>
                  </a:extLst>
                </a:gridCol>
                <a:gridCol w="1648172">
                  <a:extLst>
                    <a:ext uri="{9D8B030D-6E8A-4147-A177-3AD203B41FA5}">
                      <a16:colId xmlns:a16="http://schemas.microsoft.com/office/drawing/2014/main" val="20001"/>
                    </a:ext>
                  </a:extLst>
                </a:gridCol>
              </a:tblGrid>
              <a:tr h="344301">
                <a:tc>
                  <a:txBody>
                    <a:bodyPr/>
                    <a:lstStyle/>
                    <a:p>
                      <a:pPr marL="0" marR="0" lvl="0" indent="0" algn="l" defTabSz="914400" rtl="0" eaLnBrk="0" fontAlgn="base" latinLnBrk="0" hangingPunct="0">
                        <a:lnSpc>
                          <a:spcPct val="95000"/>
                        </a:lnSpc>
                        <a:spcBef>
                          <a:spcPct val="0"/>
                        </a:spcBef>
                        <a:spcAft>
                          <a:spcPct val="50000"/>
                        </a:spcAft>
                        <a:buClrTx/>
                        <a:buSzTx/>
                        <a:buFontTx/>
                        <a:buNone/>
                        <a:tabLst/>
                      </a:pPr>
                      <a:r>
                        <a:rPr kumimoji="0" lang="en-GB" sz="1050" b="1" i="0" u="none" strike="noStrike" kern="1200" cap="none" normalizeH="0" baseline="0">
                          <a:ln>
                            <a:noFill/>
                          </a:ln>
                          <a:solidFill>
                            <a:schemeClr val="bg1"/>
                          </a:solidFill>
                          <a:effectLst/>
                          <a:latin typeface="Arial"/>
                          <a:ea typeface="+mn-ea"/>
                          <a:cs typeface="+mn-cs"/>
                        </a:rPr>
                        <a:t>Status Date:</a:t>
                      </a:r>
                    </a:p>
                  </a:txBody>
                  <a:tcPr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GB" sz="850" b="1" i="0" u="none" strike="noStrike" kern="1200" cap="none" normalizeH="0" baseline="0">
                          <a:ln>
                            <a:noFill/>
                          </a:ln>
                          <a:solidFill>
                            <a:schemeClr val="tx1"/>
                          </a:solidFill>
                          <a:effectLst/>
                          <a:latin typeface="Aptos" panose="020B0004020202020204" pitchFamily="34" charset="0"/>
                          <a:ea typeface="+mn-ea"/>
                          <a:cs typeface="+mn-cs"/>
                        </a:rPr>
                        <a:t>08/28/2026</a:t>
                      </a:r>
                    </a:p>
                  </a:txBody>
                  <a:tcPr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14" name="Table 13">
            <a:extLst>
              <a:ext uri="{FF2B5EF4-FFF2-40B4-BE49-F238E27FC236}">
                <a16:creationId xmlns:a16="http://schemas.microsoft.com/office/drawing/2014/main" id="{73CC002A-2DFC-C8F3-6C81-9574B1340A99}"/>
              </a:ext>
            </a:extLst>
          </p:cNvPr>
          <p:cNvGraphicFramePr>
            <a:graphicFrameLocks noGrp="1"/>
          </p:cNvGraphicFramePr>
          <p:nvPr>
            <p:extLst>
              <p:ext uri="{D42A27DB-BD31-4B8C-83A1-F6EECF244321}">
                <p14:modId xmlns:p14="http://schemas.microsoft.com/office/powerpoint/2010/main" val="2404893623"/>
              </p:ext>
            </p:extLst>
          </p:nvPr>
        </p:nvGraphicFramePr>
        <p:xfrm>
          <a:off x="6640300" y="920667"/>
          <a:ext cx="5352360" cy="749848"/>
        </p:xfrm>
        <a:graphic>
          <a:graphicData uri="http://schemas.openxmlformats.org/drawingml/2006/table">
            <a:tbl>
              <a:tblPr>
                <a:tableStyleId>{5C22544A-7EE6-4342-B048-85BDC9FD1C3A}</a:tableStyleId>
              </a:tblPr>
              <a:tblGrid>
                <a:gridCol w="1045337">
                  <a:extLst>
                    <a:ext uri="{9D8B030D-6E8A-4147-A177-3AD203B41FA5}">
                      <a16:colId xmlns:a16="http://schemas.microsoft.com/office/drawing/2014/main" val="2456552316"/>
                    </a:ext>
                  </a:extLst>
                </a:gridCol>
                <a:gridCol w="926511">
                  <a:extLst>
                    <a:ext uri="{9D8B030D-6E8A-4147-A177-3AD203B41FA5}">
                      <a16:colId xmlns:a16="http://schemas.microsoft.com/office/drawing/2014/main" val="2327174630"/>
                    </a:ext>
                  </a:extLst>
                </a:gridCol>
                <a:gridCol w="1514970">
                  <a:extLst>
                    <a:ext uri="{9D8B030D-6E8A-4147-A177-3AD203B41FA5}">
                      <a16:colId xmlns:a16="http://schemas.microsoft.com/office/drawing/2014/main" val="1100051595"/>
                    </a:ext>
                  </a:extLst>
                </a:gridCol>
                <a:gridCol w="913991">
                  <a:extLst>
                    <a:ext uri="{9D8B030D-6E8A-4147-A177-3AD203B41FA5}">
                      <a16:colId xmlns:a16="http://schemas.microsoft.com/office/drawing/2014/main" val="2042261034"/>
                    </a:ext>
                  </a:extLst>
                </a:gridCol>
                <a:gridCol w="951551">
                  <a:extLst>
                    <a:ext uri="{9D8B030D-6E8A-4147-A177-3AD203B41FA5}">
                      <a16:colId xmlns:a16="http://schemas.microsoft.com/office/drawing/2014/main" val="2815874248"/>
                    </a:ext>
                  </a:extLst>
                </a:gridCol>
              </a:tblGrid>
              <a:tr h="366567">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2026 Budget</a:t>
                      </a:r>
                      <a:r>
                        <a:rPr lang="en-US" sz="1050" b="1" i="0" u="none" strike="noStrike" kern="1200" cap="none" normalizeH="0" baseline="0">
                          <a:ln>
                            <a:noFill/>
                          </a:ln>
                          <a:solidFill>
                            <a:schemeClr val="bg1"/>
                          </a:solidFill>
                          <a:effectLst/>
                          <a:latin typeface="Arial"/>
                          <a:ea typeface="+mn-ea"/>
                          <a:cs typeface="+mn-cs"/>
                        </a:rPr>
                        <a:t> </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YTD Actuals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Remaining 2026 Forecast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Current YE Forecast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Total Budget</a:t>
                      </a:r>
                      <a:r>
                        <a:rPr lang="en-US" sz="1050" b="1" i="0" u="none" strike="noStrike" kern="1200" cap="none" normalizeH="0" baseline="0">
                          <a:ln>
                            <a:noFill/>
                          </a:ln>
                          <a:solidFill>
                            <a:schemeClr val="bg1"/>
                          </a:solidFill>
                          <a:effectLst/>
                          <a:latin typeface="Arial"/>
                          <a:ea typeface="+mn-ea"/>
                          <a:cs typeface="+mn-cs"/>
                        </a:rPr>
                        <a:t> </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383281">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$100,000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$96,874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$96,874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$100,000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7499024"/>
                  </a:ext>
                </a:extLst>
              </a:tr>
            </a:tbl>
          </a:graphicData>
        </a:graphic>
      </p:graphicFrame>
      <p:graphicFrame>
        <p:nvGraphicFramePr>
          <p:cNvPr id="25" name="Table 24">
            <a:extLst>
              <a:ext uri="{FF2B5EF4-FFF2-40B4-BE49-F238E27FC236}">
                <a16:creationId xmlns:a16="http://schemas.microsoft.com/office/drawing/2014/main" id="{B6E895CC-BDB5-A791-481B-35F9B3910FB0}"/>
              </a:ext>
            </a:extLst>
          </p:cNvPr>
          <p:cNvGraphicFramePr>
            <a:graphicFrameLocks noGrp="1"/>
          </p:cNvGraphicFramePr>
          <p:nvPr/>
        </p:nvGraphicFramePr>
        <p:xfrm>
          <a:off x="2811025" y="920667"/>
          <a:ext cx="3829275" cy="749848"/>
        </p:xfrm>
        <a:graphic>
          <a:graphicData uri="http://schemas.openxmlformats.org/drawingml/2006/table">
            <a:tbl>
              <a:tblPr>
                <a:tableStyleId>{5C22544A-7EE6-4342-B048-85BDC9FD1C3A}</a:tableStyleId>
              </a:tblPr>
              <a:tblGrid>
                <a:gridCol w="1042158">
                  <a:extLst>
                    <a:ext uri="{9D8B030D-6E8A-4147-A177-3AD203B41FA5}">
                      <a16:colId xmlns:a16="http://schemas.microsoft.com/office/drawing/2014/main" val="2456552316"/>
                    </a:ext>
                  </a:extLst>
                </a:gridCol>
                <a:gridCol w="961214">
                  <a:extLst>
                    <a:ext uri="{9D8B030D-6E8A-4147-A177-3AD203B41FA5}">
                      <a16:colId xmlns:a16="http://schemas.microsoft.com/office/drawing/2014/main" val="1100051595"/>
                    </a:ext>
                  </a:extLst>
                </a:gridCol>
                <a:gridCol w="920742">
                  <a:extLst>
                    <a:ext uri="{9D8B030D-6E8A-4147-A177-3AD203B41FA5}">
                      <a16:colId xmlns:a16="http://schemas.microsoft.com/office/drawing/2014/main" val="2042261034"/>
                    </a:ext>
                  </a:extLst>
                </a:gridCol>
                <a:gridCol w="905161">
                  <a:extLst>
                    <a:ext uri="{9D8B030D-6E8A-4147-A177-3AD203B41FA5}">
                      <a16:colId xmlns:a16="http://schemas.microsoft.com/office/drawing/2014/main" val="2815874248"/>
                    </a:ext>
                  </a:extLst>
                </a:gridCol>
              </a:tblGrid>
              <a:tr h="409508">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Overall</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Scope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Schedule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Financials</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340340">
                <a:tc>
                  <a:txBody>
                    <a:bodyPr/>
                    <a:lstStyle/>
                    <a:p>
                      <a:pPr marL="0" marR="0" lvl="0" indent="0" algn="ctr" rtl="0" eaLnBrk="1" fontAlgn="ctr" latinLnBrk="0" hangingPunct="1">
                        <a:lnSpc>
                          <a:spcPct val="95000"/>
                        </a:lnSpc>
                        <a:spcBef>
                          <a:spcPct val="0"/>
                        </a:spcBef>
                        <a:spcAft>
                          <a:spcPct val="50000"/>
                        </a:spcAft>
                        <a:buClrTx/>
                        <a:buSzTx/>
                        <a:buFontTx/>
                        <a:buNone/>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rtl="0" eaLnBrk="1" fontAlgn="ctr" latinLnBrk="0" hangingPunct="1">
                        <a:lnSpc>
                          <a:spcPct val="95000"/>
                        </a:lnSpc>
                        <a:spcBef>
                          <a:spcPct val="0"/>
                        </a:spcBef>
                        <a:spcAft>
                          <a:spcPct val="50000"/>
                        </a:spcAft>
                        <a:buClrTx/>
                        <a:buSzTx/>
                        <a:buFontTx/>
                        <a:buNone/>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7499024"/>
                  </a:ext>
                </a:extLst>
              </a:tr>
            </a:tbl>
          </a:graphicData>
        </a:graphic>
      </p:graphicFrame>
      <p:graphicFrame>
        <p:nvGraphicFramePr>
          <p:cNvPr id="26" name="Group 513">
            <a:extLst>
              <a:ext uri="{FF2B5EF4-FFF2-40B4-BE49-F238E27FC236}">
                <a16:creationId xmlns:a16="http://schemas.microsoft.com/office/drawing/2014/main" id="{F652D2C5-410F-BAFF-DE54-F0ED0E9CD5D4}"/>
              </a:ext>
            </a:extLst>
          </p:cNvPr>
          <p:cNvGraphicFramePr>
            <a:graphicFrameLocks noGrp="1"/>
          </p:cNvGraphicFramePr>
          <p:nvPr>
            <p:extLst>
              <p:ext uri="{D42A27DB-BD31-4B8C-83A1-F6EECF244321}">
                <p14:modId xmlns:p14="http://schemas.microsoft.com/office/powerpoint/2010/main" val="4210613727"/>
              </p:ext>
            </p:extLst>
          </p:nvPr>
        </p:nvGraphicFramePr>
        <p:xfrm>
          <a:off x="223564" y="1271951"/>
          <a:ext cx="2581575" cy="395688"/>
        </p:xfrm>
        <a:graphic>
          <a:graphicData uri="http://schemas.openxmlformats.org/drawingml/2006/table">
            <a:tbl>
              <a:tblPr/>
              <a:tblGrid>
                <a:gridCol w="998602">
                  <a:extLst>
                    <a:ext uri="{9D8B030D-6E8A-4147-A177-3AD203B41FA5}">
                      <a16:colId xmlns:a16="http://schemas.microsoft.com/office/drawing/2014/main" val="20000"/>
                    </a:ext>
                  </a:extLst>
                </a:gridCol>
                <a:gridCol w="1582973">
                  <a:extLst>
                    <a:ext uri="{9D8B030D-6E8A-4147-A177-3AD203B41FA5}">
                      <a16:colId xmlns:a16="http://schemas.microsoft.com/office/drawing/2014/main" val="20001"/>
                    </a:ext>
                  </a:extLst>
                </a:gridCol>
              </a:tblGrid>
              <a:tr h="344301">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GB" sz="1050" b="1" i="0" u="none" strike="noStrike" kern="1200" cap="none" normalizeH="0" baseline="0">
                          <a:ln>
                            <a:noFill/>
                          </a:ln>
                          <a:solidFill>
                            <a:schemeClr val="bg1"/>
                          </a:solidFill>
                          <a:effectLst/>
                          <a:latin typeface="Arial"/>
                          <a:ea typeface="+mn-ea"/>
                          <a:cs typeface="+mn-cs"/>
                        </a:rPr>
                        <a:t>Target Delivery:</a:t>
                      </a:r>
                    </a:p>
                  </a:txBody>
                  <a:tcPr marL="0" marR="0"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11/11/26</a:t>
                      </a:r>
                    </a:p>
                  </a:txBody>
                  <a:tcPr marL="0" marR="0"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27" name="Table 26">
            <a:extLst>
              <a:ext uri="{FF2B5EF4-FFF2-40B4-BE49-F238E27FC236}">
                <a16:creationId xmlns:a16="http://schemas.microsoft.com/office/drawing/2014/main" id="{BA723C90-E347-BE4F-2081-3B1F7E848FD7}"/>
              </a:ext>
            </a:extLst>
          </p:cNvPr>
          <p:cNvGraphicFramePr>
            <a:graphicFrameLocks noGrp="1"/>
          </p:cNvGraphicFramePr>
          <p:nvPr>
            <p:extLst>
              <p:ext uri="{D42A27DB-BD31-4B8C-83A1-F6EECF244321}">
                <p14:modId xmlns:p14="http://schemas.microsoft.com/office/powerpoint/2010/main" val="1690432422"/>
              </p:ext>
            </p:extLst>
          </p:nvPr>
        </p:nvGraphicFramePr>
        <p:xfrm>
          <a:off x="5570290" y="1972165"/>
          <a:ext cx="6484606" cy="3414246"/>
        </p:xfrm>
        <a:graphic>
          <a:graphicData uri="http://schemas.openxmlformats.org/drawingml/2006/table">
            <a:tbl>
              <a:tblPr>
                <a:tableStyleId>{5C22544A-7EE6-4342-B048-85BDC9FD1C3A}</a:tableStyleId>
              </a:tblPr>
              <a:tblGrid>
                <a:gridCol w="2373495">
                  <a:extLst>
                    <a:ext uri="{9D8B030D-6E8A-4147-A177-3AD203B41FA5}">
                      <a16:colId xmlns:a16="http://schemas.microsoft.com/office/drawing/2014/main" val="2456552316"/>
                    </a:ext>
                  </a:extLst>
                </a:gridCol>
                <a:gridCol w="491195">
                  <a:extLst>
                    <a:ext uri="{9D8B030D-6E8A-4147-A177-3AD203B41FA5}">
                      <a16:colId xmlns:a16="http://schemas.microsoft.com/office/drawing/2014/main" val="1100051595"/>
                    </a:ext>
                  </a:extLst>
                </a:gridCol>
                <a:gridCol w="569320">
                  <a:extLst>
                    <a:ext uri="{9D8B030D-6E8A-4147-A177-3AD203B41FA5}">
                      <a16:colId xmlns:a16="http://schemas.microsoft.com/office/drawing/2014/main" val="2042261034"/>
                    </a:ext>
                  </a:extLst>
                </a:gridCol>
                <a:gridCol w="3050596">
                  <a:extLst>
                    <a:ext uri="{9D8B030D-6E8A-4147-A177-3AD203B41FA5}">
                      <a16:colId xmlns:a16="http://schemas.microsoft.com/office/drawing/2014/main" val="2815874248"/>
                    </a:ext>
                  </a:extLst>
                </a:gridCol>
              </a:tblGrid>
              <a:tr h="512298">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Milestone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Status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Due Date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Notes</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396152">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50" b="0" kern="1200">
                          <a:solidFill>
                            <a:schemeClr val="dk1"/>
                          </a:solidFill>
                          <a:latin typeface="Aptos" panose="020B0004020202020204" pitchFamily="34" charset="0"/>
                          <a:ea typeface="+mn-ea"/>
                          <a:cs typeface="+mn-cs"/>
                        </a:rPr>
                        <a:t>Role Level Resource Commitment Received</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0D3D4"/>
                    </a:solid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r>
                        <a:rPr lang="en-US" sz="850" b="0" kern="1200">
                          <a:solidFill>
                            <a:schemeClr val="tx1"/>
                          </a:solidFill>
                          <a:effectLst/>
                          <a:latin typeface="Aptos" panose="020B0004020202020204" pitchFamily="34" charset="0"/>
                          <a:ea typeface="+mn-ea"/>
                          <a:cs typeface="+mn-cs"/>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0D3D4"/>
                    </a:solid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r>
                        <a:rPr lang="en-US" sz="850" b="0" strike="noStrike" kern="1200">
                          <a:solidFill>
                            <a:schemeClr val="tx1"/>
                          </a:solidFill>
                          <a:effectLst/>
                          <a:latin typeface="Aptos" panose="020B0004020202020204" pitchFamily="34" charset="0"/>
                          <a:ea typeface="+mn-ea"/>
                          <a:cs typeface="+mn-cs"/>
                        </a:rPr>
                        <a:t>8/13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0D3D4"/>
                    </a:solidFill>
                  </a:tcPr>
                </a:tc>
                <a:tc>
                  <a:txBody>
                    <a:bodyPr/>
                    <a:lstStyle/>
                    <a:p>
                      <a:pPr marL="0" marR="0" lvl="0" indent="0" algn="l" defTabSz="914400" rtl="0" eaLnBrk="1" fontAlgn="auto" latinLnBrk="0" hangingPunct="1">
                        <a:lnSpc>
                          <a:spcPts val="600"/>
                        </a:lnSpc>
                        <a:spcBef>
                          <a:spcPts val="300"/>
                        </a:spcBef>
                        <a:spcAft>
                          <a:spcPts val="0"/>
                        </a:spcAft>
                        <a:buClrTx/>
                        <a:buSzTx/>
                        <a:buFontTx/>
                        <a:buNone/>
                        <a:tabLst/>
                        <a:defRPr/>
                      </a:pPr>
                      <a:endParaRPr lang="en-US" sz="850" b="0" i="0">
                        <a:solidFill>
                          <a:srgbClr val="000000"/>
                        </a:solidFill>
                        <a:effectLst/>
                        <a:latin typeface="Aptos" panose="020B00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0D3D4"/>
                    </a:solidFill>
                  </a:tcPr>
                </a:tc>
                <a:extLst>
                  <a:ext uri="{0D108BD9-81ED-4DB2-BD59-A6C34878D82A}">
                    <a16:rowId xmlns:a16="http://schemas.microsoft.com/office/drawing/2014/main" val="1748893264"/>
                  </a:ext>
                </a:extLst>
              </a:tr>
              <a:tr h="491226">
                <a:tc>
                  <a:txBody>
                    <a:bodyPr/>
                    <a:lstStyle/>
                    <a:p>
                      <a:pPr algn="l"/>
                      <a:r>
                        <a:rPr lang="en-US" sz="850" b="0" strike="noStrike">
                          <a:solidFill>
                            <a:schemeClr val="tx1"/>
                          </a:solidFill>
                          <a:latin typeface="Aptos" panose="020B0004020202020204" pitchFamily="34" charset="0"/>
                        </a:rPr>
                        <a:t>EPIC Prioritization by Product Owners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0D3D4"/>
                    </a:solidFill>
                  </a:tcPr>
                </a:tc>
                <a:tc>
                  <a:txBody>
                    <a:bodyPr/>
                    <a:lstStyle/>
                    <a:p>
                      <a:pPr algn="ctr"/>
                      <a:r>
                        <a:rPr lang="en-US" sz="850" b="0">
                          <a:latin typeface="Aptos" panose="020B0004020202020204" pitchFamily="34" charset="0"/>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0D3D4"/>
                    </a:solidFill>
                  </a:tcPr>
                </a:tc>
                <a:tc>
                  <a:txBody>
                    <a:bodyPr/>
                    <a:lstStyle/>
                    <a:p>
                      <a:pPr algn="ctr"/>
                      <a:r>
                        <a:rPr lang="en-US" sz="850" b="0" strike="noStrike">
                          <a:latin typeface="Aptos" panose="020B0004020202020204" pitchFamily="34" charset="0"/>
                        </a:rPr>
                        <a:t>8/13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0D3D4"/>
                    </a:solidFill>
                  </a:tcPr>
                </a:tc>
                <a:tc>
                  <a:txBody>
                    <a:bodyPr/>
                    <a:lstStyle/>
                    <a:p>
                      <a:pPr marL="0" marR="0" lvl="0" indent="0" algn="l" rtl="0" eaLnBrk="1" fontAlgn="ctr" latinLnBrk="0" hangingPunct="1">
                        <a:lnSpc>
                          <a:spcPct val="95000"/>
                        </a:lnSpc>
                        <a:spcBef>
                          <a:spcPct val="0"/>
                        </a:spcBef>
                        <a:spcAft>
                          <a:spcPct val="50000"/>
                        </a:spcAft>
                        <a:buClrTx/>
                        <a:buSzTx/>
                        <a:buFontTx/>
                        <a:buNone/>
                      </a:pPr>
                      <a:r>
                        <a:rPr lang="en-US" sz="850" b="0" kern="1200">
                          <a:solidFill>
                            <a:schemeClr val="tx1"/>
                          </a:solidFill>
                          <a:effectLst/>
                          <a:latin typeface="Aptos" panose="020B0004020202020204" pitchFamily="34" charset="0"/>
                          <a:ea typeface="+mn-ea"/>
                          <a:cs typeface="+mn-cs"/>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0D3D4"/>
                    </a:solidFill>
                  </a:tcPr>
                </a:tc>
                <a:extLst>
                  <a:ext uri="{0D108BD9-81ED-4DB2-BD59-A6C34878D82A}">
                    <a16:rowId xmlns:a16="http://schemas.microsoft.com/office/drawing/2014/main" val="617819655"/>
                  </a:ext>
                </a:extLst>
              </a:tr>
              <a:tr h="357745">
                <a:tc>
                  <a:txBody>
                    <a:bodyPr/>
                    <a:lstStyle/>
                    <a:p>
                      <a:pPr algn="l"/>
                      <a:r>
                        <a:rPr lang="en-US" sz="850" b="0" strike="noStrike">
                          <a:solidFill>
                            <a:schemeClr val="tx1"/>
                          </a:solidFill>
                          <a:latin typeface="Aptos" panose="020B0004020202020204" pitchFamily="34" charset="0"/>
                        </a:rPr>
                        <a:t>Project Schedule/Timeline Draft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0D3D4"/>
                    </a:solidFill>
                  </a:tcPr>
                </a:tc>
                <a:tc>
                  <a:txBody>
                    <a:bodyPr/>
                    <a:lstStyle/>
                    <a:p>
                      <a:pPr algn="ctr"/>
                      <a:r>
                        <a:rPr lang="en-US" sz="850" b="0">
                          <a:latin typeface="Aptos" panose="020B0004020202020204" pitchFamily="34" charset="0"/>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0D3D4"/>
                    </a:solidFill>
                  </a:tcPr>
                </a:tc>
                <a:tc>
                  <a:txBody>
                    <a:bodyPr/>
                    <a:lstStyle/>
                    <a:p>
                      <a:pPr algn="ctr"/>
                      <a:r>
                        <a:rPr lang="en-US" sz="850" b="0">
                          <a:latin typeface="Aptos" panose="020B0004020202020204" pitchFamily="34" charset="0"/>
                        </a:rPr>
                        <a:t>8/13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0D3D4"/>
                    </a:solidFill>
                  </a:tcPr>
                </a:tc>
                <a:tc>
                  <a:txBody>
                    <a:bodyPr/>
                    <a:lstStyle/>
                    <a:p>
                      <a:pPr marL="0" marR="0" lvl="0" indent="0" algn="l" rtl="0" eaLnBrk="1" fontAlgn="ctr" latinLnBrk="0" hangingPunct="1">
                        <a:lnSpc>
                          <a:spcPct val="95000"/>
                        </a:lnSpc>
                        <a:spcBef>
                          <a:spcPct val="0"/>
                        </a:spcBef>
                        <a:spcAft>
                          <a:spcPct val="50000"/>
                        </a:spcAft>
                        <a:buClrTx/>
                        <a:buSzTx/>
                        <a:buFontTx/>
                        <a:buNone/>
                      </a:pPr>
                      <a:endParaRPr lang="en-US" sz="850" b="0" kern="1200">
                        <a:solidFill>
                          <a:schemeClr val="tx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0D3D4"/>
                    </a:solidFill>
                  </a:tcPr>
                </a:tc>
                <a:extLst>
                  <a:ext uri="{0D108BD9-81ED-4DB2-BD59-A6C34878D82A}">
                    <a16:rowId xmlns:a16="http://schemas.microsoft.com/office/drawing/2014/main" val="3162506059"/>
                  </a:ext>
                </a:extLst>
              </a:tr>
              <a:tr h="357745">
                <a:tc>
                  <a:txBody>
                    <a:bodyPr/>
                    <a:lstStyle/>
                    <a:p>
                      <a:pPr algn="l"/>
                      <a:r>
                        <a:rPr lang="en-US" sz="850" b="0" strike="noStrike">
                          <a:solidFill>
                            <a:schemeClr val="tx1"/>
                          </a:solidFill>
                          <a:latin typeface="Aptos" panose="020B0004020202020204" pitchFamily="34" charset="0"/>
                        </a:rPr>
                        <a:t>Story creation and Grooming completed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0D3D4"/>
                    </a:solidFill>
                  </a:tcPr>
                </a:tc>
                <a:tc>
                  <a:txBody>
                    <a:bodyPr/>
                    <a:lstStyle/>
                    <a:p>
                      <a:pPr algn="ctr"/>
                      <a:r>
                        <a:rPr lang="en-US" sz="850" b="0">
                          <a:latin typeface="Aptos" panose="020B0004020202020204" pitchFamily="34" charset="0"/>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0D3D4"/>
                    </a:solidFill>
                  </a:tcPr>
                </a:tc>
                <a:tc>
                  <a:txBody>
                    <a:bodyPr/>
                    <a:lstStyle/>
                    <a:p>
                      <a:pPr algn="ctr"/>
                      <a:r>
                        <a:rPr lang="en-US" sz="850" b="0">
                          <a:latin typeface="Aptos" panose="020B0004020202020204" pitchFamily="34" charset="0"/>
                        </a:rPr>
                        <a:t>8/19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0D3D4"/>
                    </a:solidFill>
                  </a:tcPr>
                </a:tc>
                <a:tc>
                  <a:txBody>
                    <a:bodyPr/>
                    <a:lstStyle/>
                    <a:p>
                      <a:pPr marL="0" marR="0" lvl="0" indent="0" algn="l" rtl="0" eaLnBrk="1" fontAlgn="ctr" latinLnBrk="0" hangingPunct="1">
                        <a:lnSpc>
                          <a:spcPct val="95000"/>
                        </a:lnSpc>
                        <a:spcBef>
                          <a:spcPct val="0"/>
                        </a:spcBef>
                        <a:spcAft>
                          <a:spcPct val="50000"/>
                        </a:spcAft>
                        <a:buClrTx/>
                        <a:buSzTx/>
                        <a:buFontTx/>
                        <a:buNone/>
                      </a:pPr>
                      <a:endParaRPr lang="en-US" sz="850" b="0" kern="1200">
                        <a:solidFill>
                          <a:schemeClr val="tx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0D3D4"/>
                    </a:solidFill>
                  </a:tcPr>
                </a:tc>
                <a:extLst>
                  <a:ext uri="{0D108BD9-81ED-4DB2-BD59-A6C34878D82A}">
                    <a16:rowId xmlns:a16="http://schemas.microsoft.com/office/drawing/2014/main" val="1283518123"/>
                  </a:ext>
                </a:extLst>
              </a:tr>
              <a:tr h="324770">
                <a:tc>
                  <a:txBody>
                    <a:bodyPr/>
                    <a:lstStyle/>
                    <a:p>
                      <a:pPr algn="l"/>
                      <a:r>
                        <a:rPr lang="en-US" sz="850" b="0" strike="noStrike">
                          <a:solidFill>
                            <a:schemeClr val="tx1"/>
                          </a:solidFill>
                          <a:latin typeface="Aptos" panose="020B0004020202020204" pitchFamily="34" charset="0"/>
                        </a:rPr>
                        <a:t>DDIT Complete</a:t>
                      </a:r>
                    </a:p>
                  </a:txBody>
                  <a:tcPr anchor="ctr">
                    <a:lnL w="12700">
                      <a:solidFill>
                        <a:schemeClr val="tx1"/>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0">
                      <a:noFill/>
                    </a:lnTlToBr>
                    <a:lnBlToTr w="0">
                      <a:noFill/>
                    </a:lnBlToTr>
                    <a:noFill/>
                  </a:tcPr>
                </a:tc>
                <a:tc>
                  <a:txBody>
                    <a:bodyPr/>
                    <a:lstStyle/>
                    <a:p>
                      <a:pPr lvl="0" algn="ctr">
                        <a:buNone/>
                      </a:pPr>
                      <a:r>
                        <a:rPr lang="en-US" sz="850" b="0">
                          <a:latin typeface="Aptos" panose="020B0004020202020204" pitchFamily="34" charset="0"/>
                        </a:rPr>
                        <a:t>NS</a:t>
                      </a:r>
                    </a:p>
                  </a:txBody>
                  <a:tcPr marL="9524" marR="9524" marT="952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0">
                      <a:noFill/>
                    </a:lnTlToBr>
                    <a:lnBlToTr w="0">
                      <a:noFill/>
                    </a:lnBlToTr>
                    <a:noFill/>
                  </a:tcPr>
                </a:tc>
                <a:tc>
                  <a:txBody>
                    <a:bodyPr/>
                    <a:lstStyle/>
                    <a:p>
                      <a:pPr lvl="0" algn="ctr">
                        <a:buNone/>
                      </a:pPr>
                      <a:r>
                        <a:rPr lang="en-US" sz="850" b="0">
                          <a:latin typeface="Aptos" panose="020B0004020202020204" pitchFamily="34" charset="0"/>
                        </a:rPr>
                        <a:t>9/30</a:t>
                      </a:r>
                    </a:p>
                  </a:txBody>
                  <a:tcPr marL="9524" marR="9524" marT="952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0">
                      <a:noFill/>
                    </a:lnTlToBr>
                    <a:lnBlToTr w="0">
                      <a:noFill/>
                    </a:lnBlToTr>
                    <a:noFill/>
                  </a:tcPr>
                </a:tc>
                <a:tc>
                  <a:txBody>
                    <a:bodyPr/>
                    <a:lstStyle/>
                    <a:p>
                      <a:pPr marL="0" lvl="0" indent="0" algn="l">
                        <a:lnSpc>
                          <a:spcPct val="95000"/>
                        </a:lnSpc>
                        <a:spcBef>
                          <a:spcPct val="0"/>
                        </a:spcBef>
                        <a:spcAft>
                          <a:spcPct val="50000"/>
                        </a:spcAft>
                        <a:buNone/>
                      </a:pPr>
                      <a:endParaRPr lang="en-US" sz="850" b="0" kern="1200">
                        <a:solidFill>
                          <a:schemeClr val="tx1"/>
                        </a:solidFill>
                        <a:effectLst/>
                        <a:latin typeface="Aptos" panose="020B0004020202020204" pitchFamily="34" charset="0"/>
                        <a:ea typeface="+mn-ea"/>
                        <a:cs typeface="+mn-cs"/>
                      </a:endParaRPr>
                    </a:p>
                  </a:txBody>
                  <a:tcPr marL="9524" marR="9524" marT="9524" marB="0" anchor="ct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0">
                      <a:noFill/>
                    </a:lnTlToBr>
                    <a:lnBlToTr w="0">
                      <a:noFill/>
                    </a:lnBlToTr>
                    <a:noFill/>
                  </a:tcPr>
                </a:tc>
                <a:extLst>
                  <a:ext uri="{0D108BD9-81ED-4DB2-BD59-A6C34878D82A}">
                    <a16:rowId xmlns:a16="http://schemas.microsoft.com/office/drawing/2014/main" val="704749405"/>
                  </a:ext>
                </a:extLst>
              </a:tr>
              <a:tr h="324770">
                <a:tc>
                  <a:txBody>
                    <a:bodyPr/>
                    <a:lstStyle/>
                    <a:p>
                      <a:pPr algn="l"/>
                      <a:r>
                        <a:rPr lang="en-US" sz="850" b="0" strike="noStrike">
                          <a:solidFill>
                            <a:schemeClr val="tx1"/>
                          </a:solidFill>
                          <a:latin typeface="Aptos" panose="020B0004020202020204" pitchFamily="34" charset="0"/>
                        </a:rPr>
                        <a:t>E2E Complete</a:t>
                      </a:r>
                    </a:p>
                  </a:txBody>
                  <a:tcPr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cap="flat" cmpd="sng" algn="ctr">
                      <a:solidFill>
                        <a:schemeClr val="tx1"/>
                      </a:solidFill>
                      <a:prstDash val="solid"/>
                      <a:round/>
                      <a:headEnd type="none" w="med" len="med"/>
                      <a:tailEnd type="none" w="med" len="med"/>
                    </a:lnB>
                    <a:lnTlToBr w="0">
                      <a:noFill/>
                    </a:lnTlToBr>
                    <a:lnBlToTr w="0">
                      <a:noFill/>
                    </a:lnBlToTr>
                    <a:noFill/>
                  </a:tcPr>
                </a:tc>
                <a:tc>
                  <a:txBody>
                    <a:bodyPr/>
                    <a:lstStyle/>
                    <a:p>
                      <a:pPr lvl="0" algn="ctr">
                        <a:buNone/>
                      </a:pPr>
                      <a:r>
                        <a:rPr lang="en-US" sz="850" b="0">
                          <a:latin typeface="Aptos" panose="020B0004020202020204" pitchFamily="34" charset="0"/>
                        </a:rPr>
                        <a:t>NS</a:t>
                      </a:r>
                    </a:p>
                  </a:txBody>
                  <a:tcPr marL="9524" marR="9524" marT="952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a:solidFill>
                        <a:schemeClr val="tx1"/>
                      </a:solidFill>
                    </a:lnT>
                    <a:lnB w="12700" cap="flat" cmpd="sng" algn="ctr">
                      <a:solidFill>
                        <a:schemeClr val="tx1"/>
                      </a:solidFill>
                      <a:prstDash val="solid"/>
                      <a:round/>
                      <a:headEnd type="none" w="med" len="med"/>
                      <a:tailEnd type="none" w="med" len="med"/>
                    </a:lnB>
                    <a:lnTlToBr w="0">
                      <a:noFill/>
                    </a:lnTlToBr>
                    <a:lnBlToTr w="0">
                      <a:noFill/>
                    </a:lnBlToTr>
                    <a:noFill/>
                  </a:tcPr>
                </a:tc>
                <a:tc>
                  <a:txBody>
                    <a:bodyPr/>
                    <a:lstStyle/>
                    <a:p>
                      <a:pPr lvl="0" algn="ctr">
                        <a:buNone/>
                      </a:pPr>
                      <a:r>
                        <a:rPr lang="en-US" sz="850" b="0">
                          <a:latin typeface="Aptos" panose="020B0004020202020204" pitchFamily="34" charset="0"/>
                        </a:rPr>
                        <a:t>10/14</a:t>
                      </a:r>
                    </a:p>
                  </a:txBody>
                  <a:tcPr marL="9524" marR="9524" marT="952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a:solidFill>
                        <a:schemeClr val="tx1"/>
                      </a:solidFill>
                    </a:lnT>
                    <a:lnB w="12700" cap="flat" cmpd="sng" algn="ctr">
                      <a:solidFill>
                        <a:schemeClr val="tx1"/>
                      </a:solidFill>
                      <a:prstDash val="solid"/>
                      <a:round/>
                      <a:headEnd type="none" w="med" len="med"/>
                      <a:tailEnd type="none" w="med" len="med"/>
                    </a:lnB>
                    <a:lnTlToBr w="0">
                      <a:noFill/>
                    </a:lnTlToBr>
                    <a:lnBlToTr w="0">
                      <a:noFill/>
                    </a:lnBlToTr>
                    <a:noFill/>
                  </a:tcPr>
                </a:tc>
                <a:tc>
                  <a:txBody>
                    <a:bodyPr/>
                    <a:lstStyle/>
                    <a:p>
                      <a:pPr marL="0" lvl="0" indent="0" algn="l">
                        <a:lnSpc>
                          <a:spcPct val="95000"/>
                        </a:lnSpc>
                        <a:spcBef>
                          <a:spcPct val="0"/>
                        </a:spcBef>
                        <a:spcAft>
                          <a:spcPct val="50000"/>
                        </a:spcAft>
                        <a:buNone/>
                      </a:pPr>
                      <a:endParaRPr lang="en-US" sz="850" b="0" kern="1200">
                        <a:solidFill>
                          <a:schemeClr val="tx1"/>
                        </a:solidFill>
                        <a:effectLst/>
                        <a:latin typeface="Aptos" panose="020B0004020202020204" pitchFamily="34" charset="0"/>
                        <a:ea typeface="+mn-ea"/>
                        <a:cs typeface="+mn-cs"/>
                      </a:endParaRPr>
                    </a:p>
                  </a:txBody>
                  <a:tcPr marL="9524" marR="9524" marT="9524" marB="0" anchor="ctr">
                    <a:lnL w="12700" cap="flat" cmpd="sng" algn="ctr">
                      <a:solidFill>
                        <a:schemeClr val="tx1"/>
                      </a:solidFill>
                      <a:prstDash val="solid"/>
                      <a:round/>
                      <a:headEnd type="none" w="med" len="med"/>
                      <a:tailEnd type="none" w="med" len="med"/>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lnTlToBr w="0">
                      <a:noFill/>
                    </a:lnTlToBr>
                    <a:lnBlToTr w="0">
                      <a:noFill/>
                    </a:lnBlToTr>
                    <a:noFill/>
                  </a:tcPr>
                </a:tc>
                <a:extLst>
                  <a:ext uri="{0D108BD9-81ED-4DB2-BD59-A6C34878D82A}">
                    <a16:rowId xmlns:a16="http://schemas.microsoft.com/office/drawing/2014/main" val="817423716"/>
                  </a:ext>
                </a:extLst>
              </a:tr>
              <a:tr h="324770">
                <a:tc>
                  <a:txBody>
                    <a:bodyPr/>
                    <a:lstStyle/>
                    <a:p>
                      <a:pPr algn="l"/>
                      <a:r>
                        <a:rPr lang="en-US" sz="850" b="0" strike="noStrike">
                          <a:solidFill>
                            <a:schemeClr val="tx1"/>
                          </a:solidFill>
                          <a:latin typeface="Aptos" panose="020B0004020202020204" pitchFamily="34" charset="0"/>
                        </a:rPr>
                        <a:t>UAT Complete</a:t>
                      </a:r>
                    </a:p>
                  </a:txBody>
                  <a:tcPr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cap="flat" cmpd="sng" algn="ctr">
                      <a:solidFill>
                        <a:schemeClr val="tx1"/>
                      </a:solidFill>
                      <a:prstDash val="solid"/>
                      <a:round/>
                      <a:headEnd type="none" w="med" len="med"/>
                      <a:tailEnd type="none" w="med" len="med"/>
                    </a:lnB>
                    <a:lnTlToBr w="0">
                      <a:noFill/>
                    </a:lnTlToBr>
                    <a:lnBlToTr w="0">
                      <a:noFill/>
                    </a:lnBlToTr>
                    <a:noFill/>
                  </a:tcPr>
                </a:tc>
                <a:tc>
                  <a:txBody>
                    <a:bodyPr/>
                    <a:lstStyle/>
                    <a:p>
                      <a:pPr lvl="0" algn="ctr">
                        <a:buNone/>
                      </a:pPr>
                      <a:r>
                        <a:rPr lang="en-US" sz="850" b="0">
                          <a:latin typeface="Aptos" panose="020B0004020202020204" pitchFamily="34" charset="0"/>
                        </a:rPr>
                        <a:t>NS</a:t>
                      </a:r>
                    </a:p>
                  </a:txBody>
                  <a:tcPr marL="9524" marR="9524" marT="952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a:solidFill>
                        <a:schemeClr val="tx1"/>
                      </a:solidFill>
                    </a:lnT>
                    <a:lnB w="12700" cap="flat" cmpd="sng" algn="ctr">
                      <a:solidFill>
                        <a:schemeClr val="tx1"/>
                      </a:solidFill>
                      <a:prstDash val="solid"/>
                      <a:round/>
                      <a:headEnd type="none" w="med" len="med"/>
                      <a:tailEnd type="none" w="med" len="med"/>
                    </a:lnB>
                    <a:lnTlToBr w="0">
                      <a:noFill/>
                    </a:lnTlToBr>
                    <a:lnBlToTr w="0">
                      <a:noFill/>
                    </a:lnBlToTr>
                    <a:noFill/>
                  </a:tcPr>
                </a:tc>
                <a:tc>
                  <a:txBody>
                    <a:bodyPr/>
                    <a:lstStyle/>
                    <a:p>
                      <a:pPr lvl="0" algn="ctr">
                        <a:buNone/>
                      </a:pPr>
                      <a:r>
                        <a:rPr lang="en-US" sz="850" b="0">
                          <a:latin typeface="Aptos" panose="020B0004020202020204" pitchFamily="34" charset="0"/>
                        </a:rPr>
                        <a:t>10/30</a:t>
                      </a:r>
                    </a:p>
                  </a:txBody>
                  <a:tcPr marL="9524" marR="9524" marT="952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a:solidFill>
                        <a:schemeClr val="tx1"/>
                      </a:solidFill>
                    </a:lnT>
                    <a:lnB w="12700" cap="flat" cmpd="sng" algn="ctr">
                      <a:solidFill>
                        <a:schemeClr val="tx1"/>
                      </a:solidFill>
                      <a:prstDash val="solid"/>
                      <a:round/>
                      <a:headEnd type="none" w="med" len="med"/>
                      <a:tailEnd type="none" w="med" len="med"/>
                    </a:lnB>
                    <a:lnTlToBr w="0">
                      <a:noFill/>
                    </a:lnTlToBr>
                    <a:lnBlToTr w="0">
                      <a:noFill/>
                    </a:lnBlToTr>
                    <a:noFill/>
                  </a:tcPr>
                </a:tc>
                <a:tc>
                  <a:txBody>
                    <a:bodyPr/>
                    <a:lstStyle/>
                    <a:p>
                      <a:pPr marL="0" lvl="0" indent="0" algn="l">
                        <a:lnSpc>
                          <a:spcPct val="95000"/>
                        </a:lnSpc>
                        <a:spcBef>
                          <a:spcPct val="0"/>
                        </a:spcBef>
                        <a:spcAft>
                          <a:spcPct val="50000"/>
                        </a:spcAft>
                        <a:buNone/>
                      </a:pPr>
                      <a:endParaRPr lang="en-US" sz="850" b="0" kern="1200">
                        <a:solidFill>
                          <a:schemeClr val="tx1"/>
                        </a:solidFill>
                        <a:effectLst/>
                        <a:latin typeface="Aptos" panose="020B0004020202020204" pitchFamily="34" charset="0"/>
                        <a:ea typeface="+mn-ea"/>
                        <a:cs typeface="+mn-cs"/>
                      </a:endParaRPr>
                    </a:p>
                  </a:txBody>
                  <a:tcPr marL="9524" marR="9524" marT="9524" marB="0" anchor="ctr">
                    <a:lnL w="12700" cap="flat" cmpd="sng" algn="ctr">
                      <a:solidFill>
                        <a:schemeClr val="tx1"/>
                      </a:solidFill>
                      <a:prstDash val="solid"/>
                      <a:round/>
                      <a:headEnd type="none" w="med" len="med"/>
                      <a:tailEnd type="none" w="med" len="med"/>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lnTlToBr w="0">
                      <a:noFill/>
                    </a:lnTlToBr>
                    <a:lnBlToTr w="0">
                      <a:noFill/>
                    </a:lnBlToTr>
                    <a:noFill/>
                  </a:tcPr>
                </a:tc>
                <a:extLst>
                  <a:ext uri="{0D108BD9-81ED-4DB2-BD59-A6C34878D82A}">
                    <a16:rowId xmlns:a16="http://schemas.microsoft.com/office/drawing/2014/main" val="953311538"/>
                  </a:ext>
                </a:extLst>
              </a:tr>
              <a:tr h="324770">
                <a:tc>
                  <a:txBody>
                    <a:bodyPr/>
                    <a:lstStyle/>
                    <a:p>
                      <a:pPr algn="l"/>
                      <a:r>
                        <a:rPr lang="en-US" sz="850" b="0" strike="noStrike">
                          <a:solidFill>
                            <a:schemeClr val="tx1"/>
                          </a:solidFill>
                          <a:latin typeface="Aptos" panose="020B0004020202020204" pitchFamily="34" charset="0"/>
                        </a:rPr>
                        <a:t>Production Release</a:t>
                      </a:r>
                    </a:p>
                  </a:txBody>
                  <a:tcPr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lnTlToBr w="0">
                      <a:noFill/>
                    </a:lnTlToBr>
                    <a:lnBlToTr w="0">
                      <a:noFill/>
                    </a:lnBlToTr>
                    <a:noFill/>
                  </a:tcPr>
                </a:tc>
                <a:tc>
                  <a:txBody>
                    <a:bodyPr/>
                    <a:lstStyle/>
                    <a:p>
                      <a:pPr lvl="0" algn="ctr">
                        <a:buNone/>
                      </a:pPr>
                      <a:r>
                        <a:rPr lang="en-US" sz="850" b="0">
                          <a:latin typeface="Aptos" panose="020B0004020202020204" pitchFamily="34" charset="0"/>
                        </a:rPr>
                        <a:t>NS</a:t>
                      </a:r>
                    </a:p>
                  </a:txBody>
                  <a:tcPr marL="9524" marR="9524" marT="952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lnTlToBr w="0">
                      <a:noFill/>
                    </a:lnTlToBr>
                    <a:lnBlToTr w="0">
                      <a:noFill/>
                    </a:lnBlToTr>
                    <a:noFill/>
                  </a:tcPr>
                </a:tc>
                <a:tc>
                  <a:txBody>
                    <a:bodyPr/>
                    <a:lstStyle/>
                    <a:p>
                      <a:pPr lvl="0" algn="ctr">
                        <a:buNone/>
                      </a:pPr>
                      <a:r>
                        <a:rPr lang="en-US" sz="850" b="0">
                          <a:latin typeface="Aptos" panose="020B0004020202020204" pitchFamily="34" charset="0"/>
                        </a:rPr>
                        <a:t>11/11</a:t>
                      </a:r>
                    </a:p>
                  </a:txBody>
                  <a:tcPr marL="9524" marR="9524" marT="952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lnTlToBr w="0">
                      <a:noFill/>
                    </a:lnTlToBr>
                    <a:lnBlToTr w="0">
                      <a:noFill/>
                    </a:lnBlToTr>
                    <a:noFill/>
                  </a:tcPr>
                </a:tc>
                <a:tc>
                  <a:txBody>
                    <a:bodyPr/>
                    <a:lstStyle/>
                    <a:p>
                      <a:pPr marL="0" lvl="0" indent="0" algn="l">
                        <a:lnSpc>
                          <a:spcPct val="95000"/>
                        </a:lnSpc>
                        <a:spcBef>
                          <a:spcPct val="0"/>
                        </a:spcBef>
                        <a:spcAft>
                          <a:spcPct val="50000"/>
                        </a:spcAft>
                        <a:buNone/>
                      </a:pPr>
                      <a:endParaRPr lang="en-US" sz="850" b="0" kern="1200">
                        <a:solidFill>
                          <a:schemeClr val="tx1"/>
                        </a:solidFill>
                        <a:effectLst/>
                        <a:latin typeface="Aptos" panose="020B0004020202020204" pitchFamily="34" charset="0"/>
                        <a:ea typeface="+mn-ea"/>
                        <a:cs typeface="+mn-cs"/>
                      </a:endParaRPr>
                    </a:p>
                  </a:txBody>
                  <a:tcPr marL="9524" marR="9524" marT="9524" marB="0" anchor="ctr">
                    <a:lnL w="12700" cap="flat" cmpd="sng" algn="ctr">
                      <a:solidFill>
                        <a:schemeClr val="tx1"/>
                      </a:solidFill>
                      <a:prstDash val="solid"/>
                      <a:round/>
                      <a:headEnd type="none" w="med" len="med"/>
                      <a:tailEnd type="none" w="med" len="med"/>
                    </a:lnL>
                    <a:lnR w="12700">
                      <a:solidFill>
                        <a:schemeClr val="tx1"/>
                      </a:solidFill>
                    </a:lnR>
                    <a:lnT w="12700">
                      <a:solidFill>
                        <a:schemeClr val="tx1"/>
                      </a:solidFill>
                    </a:lnT>
                    <a:lnB w="12700">
                      <a:solidFill>
                        <a:schemeClr val="tx1"/>
                      </a:solidFill>
                    </a:lnB>
                    <a:lnTlToBr w="0">
                      <a:noFill/>
                    </a:lnTlToBr>
                    <a:lnBlToTr w="0">
                      <a:noFill/>
                    </a:lnBlToTr>
                    <a:noFill/>
                  </a:tcPr>
                </a:tc>
                <a:extLst>
                  <a:ext uri="{0D108BD9-81ED-4DB2-BD59-A6C34878D82A}">
                    <a16:rowId xmlns:a16="http://schemas.microsoft.com/office/drawing/2014/main" val="3499847487"/>
                  </a:ext>
                </a:extLst>
              </a:tr>
            </a:tbl>
          </a:graphicData>
        </a:graphic>
      </p:graphicFrame>
      <p:graphicFrame>
        <p:nvGraphicFramePr>
          <p:cNvPr id="29" name="Table 28">
            <a:extLst>
              <a:ext uri="{FF2B5EF4-FFF2-40B4-BE49-F238E27FC236}">
                <a16:creationId xmlns:a16="http://schemas.microsoft.com/office/drawing/2014/main" id="{4CB587BE-A2EE-21D7-2123-1DAB04D6EF69}"/>
              </a:ext>
            </a:extLst>
          </p:cNvPr>
          <p:cNvGraphicFramePr>
            <a:graphicFrameLocks noGrp="1"/>
          </p:cNvGraphicFramePr>
          <p:nvPr>
            <p:extLst>
              <p:ext uri="{D42A27DB-BD31-4B8C-83A1-F6EECF244321}">
                <p14:modId xmlns:p14="http://schemas.microsoft.com/office/powerpoint/2010/main" val="634468812"/>
              </p:ext>
            </p:extLst>
          </p:nvPr>
        </p:nvGraphicFramePr>
        <p:xfrm>
          <a:off x="5583499" y="5459624"/>
          <a:ext cx="6484607" cy="714807"/>
        </p:xfrm>
        <a:graphic>
          <a:graphicData uri="http://schemas.openxmlformats.org/drawingml/2006/table">
            <a:tbl>
              <a:tblPr>
                <a:tableStyleId>{5C22544A-7EE6-4342-B048-85BDC9FD1C3A}</a:tableStyleId>
              </a:tblPr>
              <a:tblGrid>
                <a:gridCol w="2392727">
                  <a:extLst>
                    <a:ext uri="{9D8B030D-6E8A-4147-A177-3AD203B41FA5}">
                      <a16:colId xmlns:a16="http://schemas.microsoft.com/office/drawing/2014/main" val="2456552316"/>
                    </a:ext>
                  </a:extLst>
                </a:gridCol>
                <a:gridCol w="469863">
                  <a:extLst>
                    <a:ext uri="{9D8B030D-6E8A-4147-A177-3AD203B41FA5}">
                      <a16:colId xmlns:a16="http://schemas.microsoft.com/office/drawing/2014/main" val="1100051595"/>
                    </a:ext>
                  </a:extLst>
                </a:gridCol>
                <a:gridCol w="521848">
                  <a:extLst>
                    <a:ext uri="{9D8B030D-6E8A-4147-A177-3AD203B41FA5}">
                      <a16:colId xmlns:a16="http://schemas.microsoft.com/office/drawing/2014/main" val="2042261034"/>
                    </a:ext>
                  </a:extLst>
                </a:gridCol>
                <a:gridCol w="3100169">
                  <a:extLst>
                    <a:ext uri="{9D8B030D-6E8A-4147-A177-3AD203B41FA5}">
                      <a16:colId xmlns:a16="http://schemas.microsoft.com/office/drawing/2014/main" val="2815874248"/>
                    </a:ext>
                  </a:extLst>
                </a:gridCol>
              </a:tblGrid>
              <a:tr h="389213">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Critical Risks/Issues</a:t>
                      </a:r>
                      <a:endParaRPr kumimoji="0" lang="en-US" sz="1050" b="1" i="0" u="none" strike="noStrike" kern="1200" cap="none" normalizeH="0" baseline="0">
                        <a:ln>
                          <a:noFill/>
                        </a:ln>
                        <a:solidFill>
                          <a:schemeClr val="bg1"/>
                        </a:solidFill>
                        <a:effectLst/>
                        <a:latin typeface="Arial" charset="0"/>
                        <a:ea typeface="+mn-ea"/>
                        <a:cs typeface="+mn-cs"/>
                      </a:endParaRP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Status</a:t>
                      </a:r>
                    </a:p>
                  </a:txBody>
                  <a:tcPr marL="9525" marR="9525" marT="9525" marB="0" anchor="ct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1" fontAlgn="auto" latinLnBrk="0" hangingPunct="1">
                        <a:lnSpc>
                          <a:spcPct val="95000"/>
                        </a:lnSpc>
                        <a:spcBef>
                          <a:spcPct val="0"/>
                        </a:spcBef>
                        <a:spcAft>
                          <a:spcPct val="50000"/>
                        </a:spcAft>
                        <a:buClrTx/>
                        <a:buSzTx/>
                        <a:buFontTx/>
                        <a:buNone/>
                        <a:tabLst/>
                        <a:defRPr/>
                      </a:pPr>
                      <a:r>
                        <a:rPr kumimoji="0" lang="en-US" sz="1050" b="1" i="0" u="none" strike="noStrike" kern="1200" cap="none" normalizeH="0" baseline="0">
                          <a:ln>
                            <a:noFill/>
                          </a:ln>
                          <a:solidFill>
                            <a:schemeClr val="bg1"/>
                          </a:solidFill>
                          <a:effectLst/>
                          <a:latin typeface="+mn-lt"/>
                          <a:ea typeface="+mn-ea"/>
                          <a:cs typeface="+mn-cs"/>
                        </a:rPr>
                        <a:t>Target Date</a:t>
                      </a:r>
                    </a:p>
                  </a:txBody>
                  <a:tcPr marL="9525" marR="9525" marT="9525" marB="0" anchor="ctr">
                    <a:lnL w="12700">
                      <a:solidFill>
                        <a:schemeClr val="tx1"/>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Resolution / Mitigation</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325594">
                <a:tc>
                  <a:txBody>
                    <a:bodyPr/>
                    <a:lstStyle/>
                    <a:p>
                      <a:pPr marL="0" marR="0" lvl="0" indent="0" algn="l" defTabSz="914400" rtl="0" eaLnBrk="1" fontAlgn="auto" latinLnBrk="0" hangingPunct="1">
                        <a:lnSpc>
                          <a:spcPct val="115000"/>
                        </a:lnSpc>
                        <a:spcBef>
                          <a:spcPts val="0"/>
                        </a:spcBef>
                        <a:spcAft>
                          <a:spcPts val="800"/>
                        </a:spcAft>
                        <a:buClrTx/>
                        <a:buSzTx/>
                        <a:buFontTx/>
                        <a:buNone/>
                        <a:tabLst/>
                        <a:defRPr/>
                      </a:pPr>
                      <a:endParaRPr lang="en-US" sz="850">
                        <a:latin typeface="Aptos" panose="020B0004020202020204" pitchFamily="34" charset="0"/>
                      </a:endParaRP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850" b="0" kern="1200">
                        <a:solidFill>
                          <a:schemeClr val="tx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850" b="0" strike="noStrike" kern="1200">
                        <a:solidFill>
                          <a:schemeClr val="tx1"/>
                        </a:solidFill>
                        <a:effectLst/>
                        <a:latin typeface="Aptos" panose="020B0004020202020204" pitchFamily="34" charset="0"/>
                        <a:ea typeface="+mn-ea"/>
                        <a:cs typeface="+mn-cs"/>
                      </a:endParaRPr>
                    </a:p>
                  </a:txBody>
                  <a:tcPr marL="9525" marR="9525" marT="9525" marB="0" anchor="ctr">
                    <a:lnL w="12700">
                      <a:solidFill>
                        <a:schemeClr val="tx1"/>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ts val="200"/>
                        </a:spcBef>
                        <a:spcAft>
                          <a:spcPts val="0"/>
                        </a:spcAft>
                        <a:buClrTx/>
                        <a:buSzTx/>
                        <a:buFont typeface="Arial" panose="020B0604020202020204" pitchFamily="34" charset="0"/>
                        <a:buNone/>
                        <a:tabLst/>
                        <a:defRPr/>
                      </a:pPr>
                      <a:endParaRPr lang="en-US" sz="850" b="0" strike="noStrike" kern="1200">
                        <a:solidFill>
                          <a:schemeClr val="tx1"/>
                        </a:solidFill>
                        <a:effectLst/>
                        <a:latin typeface="Aptos" panose="020B0004020202020204" pitchFamily="34" charset="0"/>
                        <a:ea typeface="+mn-ea"/>
                        <a:cs typeface="+mn-cs"/>
                      </a:endParaRP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7499024"/>
                  </a:ext>
                </a:extLst>
              </a:tr>
            </a:tbl>
          </a:graphicData>
        </a:graphic>
      </p:graphicFrame>
      <p:sp>
        <p:nvSpPr>
          <p:cNvPr id="33" name="Flowchart: Connector 32">
            <a:extLst>
              <a:ext uri="{FF2B5EF4-FFF2-40B4-BE49-F238E27FC236}">
                <a16:creationId xmlns:a16="http://schemas.microsoft.com/office/drawing/2014/main" id="{416448B3-C471-06D2-E214-8208E6A1C858}"/>
              </a:ext>
            </a:extLst>
          </p:cNvPr>
          <p:cNvSpPr/>
          <p:nvPr/>
        </p:nvSpPr>
        <p:spPr>
          <a:xfrm>
            <a:off x="7145312" y="6295894"/>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Flowchart: Connector 33">
            <a:extLst>
              <a:ext uri="{FF2B5EF4-FFF2-40B4-BE49-F238E27FC236}">
                <a16:creationId xmlns:a16="http://schemas.microsoft.com/office/drawing/2014/main" id="{16113AD1-0727-29D7-165A-26751F365F7C}"/>
              </a:ext>
            </a:extLst>
          </p:cNvPr>
          <p:cNvSpPr/>
          <p:nvPr/>
        </p:nvSpPr>
        <p:spPr>
          <a:xfrm>
            <a:off x="8078441" y="6298353"/>
            <a:ext cx="163286" cy="164592"/>
          </a:xfrm>
          <a:prstGeom prst="flowChartConnector">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Flowchart: Connector 35">
            <a:extLst>
              <a:ext uri="{FF2B5EF4-FFF2-40B4-BE49-F238E27FC236}">
                <a16:creationId xmlns:a16="http://schemas.microsoft.com/office/drawing/2014/main" id="{A148D622-9D77-6567-3AD5-2241D9AAD96E}"/>
              </a:ext>
            </a:extLst>
          </p:cNvPr>
          <p:cNvSpPr/>
          <p:nvPr/>
        </p:nvSpPr>
        <p:spPr>
          <a:xfrm>
            <a:off x="9093213" y="6308967"/>
            <a:ext cx="163285" cy="164592"/>
          </a:xfrm>
          <a:prstGeom prst="flowChartConnector">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44D2CC87-946C-19E5-8C22-504B3023D9E1}"/>
              </a:ext>
            </a:extLst>
          </p:cNvPr>
          <p:cNvSpPr txBox="1"/>
          <p:nvPr/>
        </p:nvSpPr>
        <p:spPr>
          <a:xfrm>
            <a:off x="159545" y="1948919"/>
            <a:ext cx="5226187" cy="2432654"/>
          </a:xfrm>
          <a:prstGeom prst="rect">
            <a:avLst/>
          </a:prstGeom>
          <a:noFill/>
        </p:spPr>
        <p:txBody>
          <a:bodyPr wrap="square" lIns="91440" tIns="45720" rIns="91440" bIns="45720" anchor="t">
            <a:spAutoFit/>
          </a:bodyPr>
          <a:lstStyle/>
          <a:p>
            <a:pPr>
              <a:lnSpc>
                <a:spcPct val="150000"/>
              </a:lnSpc>
              <a:tabLst>
                <a:tab pos="457200" algn="l"/>
              </a:tabLst>
            </a:pPr>
            <a:r>
              <a:rPr lang="en-US" sz="850" b="1">
                <a:latin typeface="Aptos" panose="020B0004020202020204" pitchFamily="34" charset="0"/>
                <a:cs typeface="Arial"/>
              </a:rPr>
              <a:t>Status Update</a:t>
            </a:r>
            <a:endParaRPr lang="en-US" sz="850">
              <a:latin typeface="Aptos" panose="020B0004020202020204" pitchFamily="34" charset="0"/>
              <a:cs typeface="Arial"/>
            </a:endParaRPr>
          </a:p>
          <a:p>
            <a:pPr>
              <a:lnSpc>
                <a:spcPct val="150000"/>
              </a:lnSpc>
              <a:tabLst>
                <a:tab pos="457200" algn="l"/>
              </a:tabLst>
            </a:pPr>
            <a:r>
              <a:rPr lang="en-US" sz="850" b="1">
                <a:latin typeface="Aptos" panose="020B0004020202020204" pitchFamily="34" charset="0"/>
                <a:cs typeface="Arial"/>
              </a:rPr>
              <a:t>Overall Status: Green</a:t>
            </a:r>
            <a:endParaRPr lang="en-US" sz="850">
              <a:latin typeface="Aptos" panose="020B0004020202020204" pitchFamily="34" charset="0"/>
              <a:cs typeface="Arial"/>
            </a:endParaRPr>
          </a:p>
          <a:p>
            <a:pPr>
              <a:lnSpc>
                <a:spcPct val="150000"/>
              </a:lnSpc>
              <a:tabLst>
                <a:tab pos="457200" algn="l"/>
              </a:tabLst>
            </a:pPr>
            <a:r>
              <a:rPr lang="en-US" sz="850">
                <a:latin typeface="Aptos" panose="020B0004020202020204" pitchFamily="34" charset="0"/>
                <a:ea typeface="+mn-lt"/>
                <a:cs typeface="+mn-lt"/>
              </a:rPr>
              <a:t>Work is aligned, committed, and on schedule for November release.  DDIT continuing  into the current sprint.  Project is at 50% complete.</a:t>
            </a:r>
          </a:p>
          <a:p>
            <a:pPr>
              <a:lnSpc>
                <a:spcPct val="150000"/>
              </a:lnSpc>
              <a:tabLst>
                <a:tab pos="457200" algn="l"/>
              </a:tabLst>
            </a:pPr>
            <a:endParaRPr lang="en-US" sz="850">
              <a:latin typeface="Aptos" panose="020B0004020202020204" pitchFamily="34" charset="0"/>
              <a:ea typeface="+mn-lt"/>
              <a:cs typeface="+mn-lt"/>
            </a:endParaRPr>
          </a:p>
          <a:p>
            <a:pPr lvl="0">
              <a:lnSpc>
                <a:spcPct val="150000"/>
              </a:lnSpc>
              <a:tabLst>
                <a:tab pos="457200" algn="l"/>
              </a:tabLst>
            </a:pPr>
            <a:r>
              <a:rPr lang="en-US" sz="850" b="1">
                <a:latin typeface="Aptos" panose="020B0004020202020204" pitchFamily="34" charset="0"/>
                <a:cs typeface="Arial"/>
              </a:rPr>
              <a:t>Accomplishments:</a:t>
            </a:r>
            <a:endParaRPr lang="en-US" sz="850">
              <a:latin typeface="Aptos" panose="020B0004020202020204" pitchFamily="34" charset="0"/>
              <a:ea typeface="Aptos" panose="020B0004020202020204" pitchFamily="34" charset="0"/>
              <a:cs typeface="Arial"/>
            </a:endParaRPr>
          </a:p>
          <a:p>
            <a:pPr marL="171450" indent="-171450">
              <a:lnSpc>
                <a:spcPct val="150000"/>
              </a:lnSpc>
              <a:buFont typeface="Arial,Sans-Serif"/>
              <a:buChar char="•"/>
              <a:tabLst>
                <a:tab pos="457200" algn="l"/>
              </a:tabLst>
            </a:pPr>
            <a:r>
              <a:rPr lang="en-US" sz="850">
                <a:latin typeface="Aptos" panose="020B0004020202020204" pitchFamily="34" charset="0"/>
                <a:ea typeface="Aptos" panose="020B0004020202020204" pitchFamily="34" charset="0"/>
                <a:cs typeface="Arial"/>
              </a:rPr>
              <a:t>DDIT (SS) Sprint 1 completed</a:t>
            </a:r>
          </a:p>
          <a:p>
            <a:pPr marL="171450" indent="-171450">
              <a:lnSpc>
                <a:spcPct val="150000"/>
              </a:lnSpc>
              <a:buFont typeface="Arial,Sans-Serif"/>
              <a:buChar char="•"/>
              <a:tabLst>
                <a:tab pos="457200" algn="l"/>
              </a:tabLst>
            </a:pPr>
            <a:endParaRPr lang="en-US" sz="850">
              <a:latin typeface="Aptos" panose="020B0004020202020204" pitchFamily="34" charset="0"/>
              <a:ea typeface="Aptos" panose="020B0004020202020204" pitchFamily="34" charset="0"/>
              <a:cs typeface="Arial"/>
            </a:endParaRPr>
          </a:p>
          <a:p>
            <a:pPr>
              <a:lnSpc>
                <a:spcPct val="150000"/>
              </a:lnSpc>
              <a:tabLst>
                <a:tab pos="457200" algn="l"/>
              </a:tabLst>
            </a:pPr>
            <a:r>
              <a:rPr lang="en-US" sz="850" b="1">
                <a:latin typeface="Aptos" panose="020B0004020202020204" pitchFamily="34" charset="0"/>
                <a:ea typeface="Aptos" panose="020B0004020202020204" pitchFamily="34" charset="0"/>
                <a:cs typeface="Arial"/>
              </a:rPr>
              <a:t>Next Steps:</a:t>
            </a:r>
          </a:p>
          <a:p>
            <a:pPr marL="171450" indent="-171450">
              <a:lnSpc>
                <a:spcPct val="150000"/>
              </a:lnSpc>
              <a:buFont typeface="Arial" panose="020B0604020202020204" pitchFamily="34" charset="0"/>
              <a:buChar char="•"/>
              <a:tabLst>
                <a:tab pos="457200" algn="l"/>
              </a:tabLst>
            </a:pPr>
            <a:r>
              <a:rPr lang="en-US" sz="850">
                <a:latin typeface="Aptos" panose="020B0004020202020204" pitchFamily="34" charset="0"/>
                <a:ea typeface="Aptos" panose="020B0004020202020204" pitchFamily="34" charset="0"/>
                <a:cs typeface="Arial"/>
              </a:rPr>
              <a:t>Continued DDIT (</a:t>
            </a:r>
            <a:r>
              <a:rPr lang="en-US" sz="850" err="1">
                <a:latin typeface="Aptos" panose="020B0004020202020204" pitchFamily="34" charset="0"/>
                <a:ea typeface="Aptos" panose="020B0004020202020204" pitchFamily="34" charset="0"/>
                <a:cs typeface="Arial"/>
              </a:rPr>
              <a:t>ScrumSharks</a:t>
            </a:r>
            <a:r>
              <a:rPr lang="en-US" sz="850">
                <a:latin typeface="Aptos" panose="020B0004020202020204" pitchFamily="34" charset="0"/>
                <a:ea typeface="Aptos" panose="020B0004020202020204" pitchFamily="34" charset="0"/>
                <a:cs typeface="Arial"/>
              </a:rPr>
              <a:t>)</a:t>
            </a:r>
          </a:p>
          <a:p>
            <a:pPr>
              <a:lnSpc>
                <a:spcPct val="150000"/>
              </a:lnSpc>
              <a:tabLst>
                <a:tab pos="457200" algn="l"/>
              </a:tabLst>
            </a:pPr>
            <a:endParaRPr lang="en-US" sz="850">
              <a:latin typeface="Aptos" panose="020B0004020202020204" pitchFamily="34" charset="0"/>
              <a:ea typeface="+mn-lt"/>
              <a:cs typeface="+mn-lt"/>
            </a:endParaRPr>
          </a:p>
          <a:p>
            <a:pPr>
              <a:lnSpc>
                <a:spcPct val="150000"/>
              </a:lnSpc>
              <a:tabLst>
                <a:tab pos="457200" algn="l"/>
              </a:tabLst>
            </a:pPr>
            <a:endParaRPr lang="en-US" sz="900" b="1">
              <a:ea typeface="+mn-lt"/>
              <a:cs typeface="+mn-lt"/>
            </a:endParaRPr>
          </a:p>
        </p:txBody>
      </p:sp>
      <p:sp>
        <p:nvSpPr>
          <p:cNvPr id="18" name="TextBox 17">
            <a:extLst>
              <a:ext uri="{FF2B5EF4-FFF2-40B4-BE49-F238E27FC236}">
                <a16:creationId xmlns:a16="http://schemas.microsoft.com/office/drawing/2014/main" id="{21D33B76-9480-B3DD-5A56-0F37DB3D8563}"/>
              </a:ext>
            </a:extLst>
          </p:cNvPr>
          <p:cNvSpPr txBox="1"/>
          <p:nvPr/>
        </p:nvSpPr>
        <p:spPr>
          <a:xfrm>
            <a:off x="9471000" y="122086"/>
            <a:ext cx="4210510" cy="496931"/>
          </a:xfrm>
          <a:prstGeom prst="rect">
            <a:avLst/>
          </a:prstGeom>
          <a:noFill/>
        </p:spPr>
        <p:txBody>
          <a:bodyPr wrap="square" lIns="91440" tIns="45720" rIns="91440" bIns="45720" rtlCol="0" anchor="t">
            <a:spAutoFit/>
          </a:bodyPr>
          <a:lstStyle/>
          <a:p>
            <a:pPr>
              <a:lnSpc>
                <a:spcPct val="112000"/>
              </a:lnSpc>
            </a:pPr>
            <a:r>
              <a:rPr lang="en-US" sz="1200">
                <a:latin typeface="Aptos"/>
              </a:rPr>
              <a:t>Project Manager :  Kinney Barbour</a:t>
            </a:r>
            <a:endParaRPr lang="en-US">
              <a:latin typeface="Aptos"/>
            </a:endParaRPr>
          </a:p>
          <a:p>
            <a:pPr>
              <a:lnSpc>
                <a:spcPct val="112000"/>
              </a:lnSpc>
            </a:pPr>
            <a:r>
              <a:rPr lang="en-US" sz="1200" err="1">
                <a:latin typeface="Aptos"/>
              </a:rPr>
              <a:t>OpEx</a:t>
            </a:r>
            <a:r>
              <a:rPr lang="en-US" sz="1200">
                <a:latin typeface="Aptos"/>
              </a:rPr>
              <a:t> Business : Gary Wilson</a:t>
            </a:r>
          </a:p>
        </p:txBody>
      </p:sp>
      <p:sp>
        <p:nvSpPr>
          <p:cNvPr id="7" name="Flowchart: Connector 6">
            <a:extLst>
              <a:ext uri="{FF2B5EF4-FFF2-40B4-BE49-F238E27FC236}">
                <a16:creationId xmlns:a16="http://schemas.microsoft.com/office/drawing/2014/main" id="{546CC65E-EE09-3212-9D40-AB552E16FFA3}"/>
              </a:ext>
            </a:extLst>
          </p:cNvPr>
          <p:cNvSpPr/>
          <p:nvPr/>
        </p:nvSpPr>
        <p:spPr>
          <a:xfrm>
            <a:off x="4291485" y="1418804"/>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lowchart: Connector 9">
            <a:extLst>
              <a:ext uri="{FF2B5EF4-FFF2-40B4-BE49-F238E27FC236}">
                <a16:creationId xmlns:a16="http://schemas.microsoft.com/office/drawing/2014/main" id="{8AA105E7-DD05-B9EE-F65B-728B46AAED1A}"/>
              </a:ext>
            </a:extLst>
          </p:cNvPr>
          <p:cNvSpPr/>
          <p:nvPr/>
        </p:nvSpPr>
        <p:spPr>
          <a:xfrm>
            <a:off x="6096000" y="1415063"/>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lowchart: Connector 11">
            <a:extLst>
              <a:ext uri="{FF2B5EF4-FFF2-40B4-BE49-F238E27FC236}">
                <a16:creationId xmlns:a16="http://schemas.microsoft.com/office/drawing/2014/main" id="{7A487258-8351-4941-ACA6-8C5113106326}"/>
              </a:ext>
            </a:extLst>
          </p:cNvPr>
          <p:cNvSpPr/>
          <p:nvPr/>
        </p:nvSpPr>
        <p:spPr>
          <a:xfrm>
            <a:off x="3277814" y="1420202"/>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lowchart: Connector 12">
            <a:extLst>
              <a:ext uri="{FF2B5EF4-FFF2-40B4-BE49-F238E27FC236}">
                <a16:creationId xmlns:a16="http://schemas.microsoft.com/office/drawing/2014/main" id="{360ADE0B-0404-C895-C38F-9413CEC0862C}"/>
              </a:ext>
            </a:extLst>
          </p:cNvPr>
          <p:cNvSpPr/>
          <p:nvPr/>
        </p:nvSpPr>
        <p:spPr>
          <a:xfrm>
            <a:off x="5182117" y="1411813"/>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lowchart: Connector 5">
            <a:extLst>
              <a:ext uri="{FF2B5EF4-FFF2-40B4-BE49-F238E27FC236}">
                <a16:creationId xmlns:a16="http://schemas.microsoft.com/office/drawing/2014/main" id="{569ECD0B-FE22-0D97-F831-F6128545D50A}"/>
              </a:ext>
            </a:extLst>
          </p:cNvPr>
          <p:cNvSpPr/>
          <p:nvPr/>
        </p:nvSpPr>
        <p:spPr>
          <a:xfrm>
            <a:off x="8098695" y="4172927"/>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9198253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675D43-D1F2-F5A7-E691-F62E934B10A9}"/>
            </a:ext>
          </a:extLst>
        </p:cNvPr>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9C5C20C7-EDB2-2A50-FCA9-39E8618DF595}"/>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8" imgH="408" progId="TCLayout.ActiveDocument.1">
                  <p:embed/>
                </p:oleObj>
              </mc:Choice>
              <mc:Fallback>
                <p:oleObj name="think-cell Slide" r:id="rId4" imgW="408" imgH="408" progId="TCLayout.ActiveDocument.1">
                  <p:embed/>
                  <p:pic>
                    <p:nvPicPr>
                      <p:cNvPr id="9" name="think-cell data - do not delete" hidden="1">
                        <a:extLst>
                          <a:ext uri="{FF2B5EF4-FFF2-40B4-BE49-F238E27FC236}">
                            <a16:creationId xmlns:a16="http://schemas.microsoft.com/office/drawing/2014/main" id="{9C5C20C7-EDB2-2A50-FCA9-39E8618DF595}"/>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graphicFrame>
        <p:nvGraphicFramePr>
          <p:cNvPr id="32" name="Group 614">
            <a:extLst>
              <a:ext uri="{FF2B5EF4-FFF2-40B4-BE49-F238E27FC236}">
                <a16:creationId xmlns:a16="http://schemas.microsoft.com/office/drawing/2014/main" id="{CEEEDA86-26A0-8007-DD85-1F67EDCCBFF5}"/>
              </a:ext>
            </a:extLst>
          </p:cNvPr>
          <p:cNvGraphicFramePr>
            <a:graphicFrameLocks noGrp="1"/>
          </p:cNvGraphicFramePr>
          <p:nvPr/>
        </p:nvGraphicFramePr>
        <p:xfrm>
          <a:off x="5583499" y="6195328"/>
          <a:ext cx="6491452" cy="386554"/>
        </p:xfrm>
        <a:graphic>
          <a:graphicData uri="http://schemas.openxmlformats.org/drawingml/2006/table">
            <a:tbl>
              <a:tblPr/>
              <a:tblGrid>
                <a:gridCol w="551585">
                  <a:extLst>
                    <a:ext uri="{9D8B030D-6E8A-4147-A177-3AD203B41FA5}">
                      <a16:colId xmlns:a16="http://schemas.microsoft.com/office/drawing/2014/main" val="20000"/>
                    </a:ext>
                  </a:extLst>
                </a:gridCol>
                <a:gridCol w="279566">
                  <a:extLst>
                    <a:ext uri="{9D8B030D-6E8A-4147-A177-3AD203B41FA5}">
                      <a16:colId xmlns:a16="http://schemas.microsoft.com/office/drawing/2014/main" val="20001"/>
                    </a:ext>
                  </a:extLst>
                </a:gridCol>
                <a:gridCol w="689073">
                  <a:extLst>
                    <a:ext uri="{9D8B030D-6E8A-4147-A177-3AD203B41FA5}">
                      <a16:colId xmlns:a16="http://schemas.microsoft.com/office/drawing/2014/main" val="20002"/>
                    </a:ext>
                  </a:extLst>
                </a:gridCol>
                <a:gridCol w="275428">
                  <a:extLst>
                    <a:ext uri="{9D8B030D-6E8A-4147-A177-3AD203B41FA5}">
                      <a16:colId xmlns:a16="http://schemas.microsoft.com/office/drawing/2014/main" val="20003"/>
                    </a:ext>
                  </a:extLst>
                </a:gridCol>
                <a:gridCol w="605150">
                  <a:extLst>
                    <a:ext uri="{9D8B030D-6E8A-4147-A177-3AD203B41FA5}">
                      <a16:colId xmlns:a16="http://schemas.microsoft.com/office/drawing/2014/main" val="20004"/>
                    </a:ext>
                  </a:extLst>
                </a:gridCol>
                <a:gridCol w="471179">
                  <a:extLst>
                    <a:ext uri="{9D8B030D-6E8A-4147-A177-3AD203B41FA5}">
                      <a16:colId xmlns:a16="http://schemas.microsoft.com/office/drawing/2014/main" val="20005"/>
                    </a:ext>
                  </a:extLst>
                </a:gridCol>
                <a:gridCol w="517061">
                  <a:extLst>
                    <a:ext uri="{9D8B030D-6E8A-4147-A177-3AD203B41FA5}">
                      <a16:colId xmlns:a16="http://schemas.microsoft.com/office/drawing/2014/main" val="20006"/>
                    </a:ext>
                  </a:extLst>
                </a:gridCol>
                <a:gridCol w="335614">
                  <a:extLst>
                    <a:ext uri="{9D8B030D-6E8A-4147-A177-3AD203B41FA5}">
                      <a16:colId xmlns:a16="http://schemas.microsoft.com/office/drawing/2014/main" val="20007"/>
                    </a:ext>
                  </a:extLst>
                </a:gridCol>
                <a:gridCol w="1247930">
                  <a:extLst>
                    <a:ext uri="{9D8B030D-6E8A-4147-A177-3AD203B41FA5}">
                      <a16:colId xmlns:a16="http://schemas.microsoft.com/office/drawing/2014/main" val="20008"/>
                    </a:ext>
                  </a:extLst>
                </a:gridCol>
                <a:gridCol w="344009">
                  <a:extLst>
                    <a:ext uri="{9D8B030D-6E8A-4147-A177-3AD203B41FA5}">
                      <a16:colId xmlns:a16="http://schemas.microsoft.com/office/drawing/2014/main" val="20009"/>
                    </a:ext>
                  </a:extLst>
                </a:gridCol>
                <a:gridCol w="1174857">
                  <a:extLst>
                    <a:ext uri="{9D8B030D-6E8A-4147-A177-3AD203B41FA5}">
                      <a16:colId xmlns:a16="http://schemas.microsoft.com/office/drawing/2014/main" val="20010"/>
                    </a:ext>
                  </a:extLst>
                </a:gridCol>
              </a:tblGrid>
              <a:tr h="386554">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Arial" charset="0"/>
                          <a:cs typeface="Arial" charset="0"/>
                        </a:rPr>
                        <a:t>Status Key</a:t>
                      </a:r>
                      <a:endParaRPr kumimoji="0" lang="en-GB" sz="1600" b="0" i="0" u="none" strike="noStrike" cap="none" normalizeH="0" baseline="0">
                        <a:ln>
                          <a:noFill/>
                        </a:ln>
                        <a:solidFill>
                          <a:srgbClr val="002060"/>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mj-lt"/>
                        </a:rPr>
                        <a:t>C</a:t>
                      </a: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Arial" charset="0"/>
                          <a:cs typeface="Arial" charset="0"/>
                        </a:rPr>
                        <a:t>Completed</a:t>
                      </a:r>
                      <a:endParaRPr kumimoji="0" lang="en-GB" sz="1600" b="0" i="0" u="none" strike="noStrike" cap="none" normalizeH="0" baseline="0">
                        <a:ln>
                          <a:noFill/>
                        </a:ln>
                        <a:solidFill>
                          <a:srgbClr val="002060"/>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On-Schedule</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Major Issues</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Some Issues</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NS</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Not Started</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2" name="Title 1">
            <a:extLst>
              <a:ext uri="{FF2B5EF4-FFF2-40B4-BE49-F238E27FC236}">
                <a16:creationId xmlns:a16="http://schemas.microsoft.com/office/drawing/2014/main" id="{F69F6A96-4CCB-22B8-8C8C-2B8939105301}"/>
              </a:ext>
            </a:extLst>
          </p:cNvPr>
          <p:cNvSpPr>
            <a:spLocks noGrp="1"/>
          </p:cNvSpPr>
          <p:nvPr>
            <p:ph type="title"/>
          </p:nvPr>
        </p:nvSpPr>
        <p:spPr>
          <a:xfrm>
            <a:off x="299257" y="186479"/>
            <a:ext cx="6597931" cy="517320"/>
          </a:xfrm>
        </p:spPr>
        <p:txBody>
          <a:bodyPr vert="horz">
            <a:noAutofit/>
          </a:bodyPr>
          <a:lstStyle/>
          <a:p>
            <a:r>
              <a:rPr lang="fr-FR" err="1">
                <a:solidFill>
                  <a:srgbClr val="29389F"/>
                </a:solidFill>
              </a:rPr>
              <a:t>Enhance</a:t>
            </a:r>
            <a:r>
              <a:rPr lang="fr-FR">
                <a:solidFill>
                  <a:srgbClr val="29389F"/>
                </a:solidFill>
              </a:rPr>
              <a:t> Multi Denial Code Claims Z160/Z151</a:t>
            </a:r>
          </a:p>
        </p:txBody>
      </p:sp>
      <p:graphicFrame>
        <p:nvGraphicFramePr>
          <p:cNvPr id="11" name="Group 513">
            <a:extLst>
              <a:ext uri="{FF2B5EF4-FFF2-40B4-BE49-F238E27FC236}">
                <a16:creationId xmlns:a16="http://schemas.microsoft.com/office/drawing/2014/main" id="{9823D7A4-0B58-1F21-CEF5-419A9AD69829}"/>
              </a:ext>
            </a:extLst>
          </p:cNvPr>
          <p:cNvGraphicFramePr>
            <a:graphicFrameLocks noGrp="1"/>
          </p:cNvGraphicFramePr>
          <p:nvPr>
            <p:extLst>
              <p:ext uri="{D42A27DB-BD31-4B8C-83A1-F6EECF244321}">
                <p14:modId xmlns:p14="http://schemas.microsoft.com/office/powerpoint/2010/main" val="2778795733"/>
              </p:ext>
            </p:extLst>
          </p:nvPr>
        </p:nvGraphicFramePr>
        <p:xfrm>
          <a:off x="234455" y="927650"/>
          <a:ext cx="2638218" cy="344301"/>
        </p:xfrm>
        <a:graphic>
          <a:graphicData uri="http://schemas.openxmlformats.org/drawingml/2006/table">
            <a:tbl>
              <a:tblPr/>
              <a:tblGrid>
                <a:gridCol w="990046">
                  <a:extLst>
                    <a:ext uri="{9D8B030D-6E8A-4147-A177-3AD203B41FA5}">
                      <a16:colId xmlns:a16="http://schemas.microsoft.com/office/drawing/2014/main" val="20000"/>
                    </a:ext>
                  </a:extLst>
                </a:gridCol>
                <a:gridCol w="1648172">
                  <a:extLst>
                    <a:ext uri="{9D8B030D-6E8A-4147-A177-3AD203B41FA5}">
                      <a16:colId xmlns:a16="http://schemas.microsoft.com/office/drawing/2014/main" val="20001"/>
                    </a:ext>
                  </a:extLst>
                </a:gridCol>
              </a:tblGrid>
              <a:tr h="344301">
                <a:tc>
                  <a:txBody>
                    <a:bodyPr/>
                    <a:lstStyle/>
                    <a:p>
                      <a:pPr marL="0" marR="0" lvl="0" indent="0" algn="l" defTabSz="914400" rtl="0" eaLnBrk="0" fontAlgn="base" latinLnBrk="0" hangingPunct="0">
                        <a:lnSpc>
                          <a:spcPct val="95000"/>
                        </a:lnSpc>
                        <a:spcBef>
                          <a:spcPct val="0"/>
                        </a:spcBef>
                        <a:spcAft>
                          <a:spcPct val="50000"/>
                        </a:spcAft>
                        <a:buClrTx/>
                        <a:buSzTx/>
                        <a:buFontTx/>
                        <a:buNone/>
                        <a:tabLst/>
                      </a:pPr>
                      <a:r>
                        <a:rPr kumimoji="0" lang="en-GB" sz="1050" b="1" i="0" u="none" strike="noStrike" kern="1200" cap="none" normalizeH="0" baseline="0">
                          <a:ln>
                            <a:noFill/>
                          </a:ln>
                          <a:solidFill>
                            <a:schemeClr val="bg1"/>
                          </a:solidFill>
                          <a:effectLst/>
                          <a:latin typeface="Arial"/>
                          <a:ea typeface="+mn-ea"/>
                          <a:cs typeface="+mn-cs"/>
                        </a:rPr>
                        <a:t>Status Date:</a:t>
                      </a:r>
                    </a:p>
                  </a:txBody>
                  <a:tcPr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GB" sz="850" b="1" i="0" u="none" strike="noStrike" kern="1200" cap="none" normalizeH="0" baseline="0">
                          <a:ln>
                            <a:noFill/>
                          </a:ln>
                          <a:solidFill>
                            <a:schemeClr val="tx1"/>
                          </a:solidFill>
                          <a:effectLst/>
                          <a:latin typeface="Aptos" panose="020B0004020202020204" pitchFamily="34" charset="0"/>
                          <a:ea typeface="+mn-ea"/>
                          <a:cs typeface="+mn-cs"/>
                        </a:rPr>
                        <a:t>08/28/2026</a:t>
                      </a:r>
                    </a:p>
                  </a:txBody>
                  <a:tcPr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14" name="Table 13">
            <a:extLst>
              <a:ext uri="{FF2B5EF4-FFF2-40B4-BE49-F238E27FC236}">
                <a16:creationId xmlns:a16="http://schemas.microsoft.com/office/drawing/2014/main" id="{3BD86B16-4B02-029D-CC45-30E10822F67B}"/>
              </a:ext>
            </a:extLst>
          </p:cNvPr>
          <p:cNvGraphicFramePr>
            <a:graphicFrameLocks noGrp="1"/>
          </p:cNvGraphicFramePr>
          <p:nvPr>
            <p:extLst>
              <p:ext uri="{D42A27DB-BD31-4B8C-83A1-F6EECF244321}">
                <p14:modId xmlns:p14="http://schemas.microsoft.com/office/powerpoint/2010/main" val="502467187"/>
              </p:ext>
            </p:extLst>
          </p:nvPr>
        </p:nvGraphicFramePr>
        <p:xfrm>
          <a:off x="6648926" y="920667"/>
          <a:ext cx="5352360" cy="749848"/>
        </p:xfrm>
        <a:graphic>
          <a:graphicData uri="http://schemas.openxmlformats.org/drawingml/2006/table">
            <a:tbl>
              <a:tblPr>
                <a:tableStyleId>{5C22544A-7EE6-4342-B048-85BDC9FD1C3A}</a:tableStyleId>
              </a:tblPr>
              <a:tblGrid>
                <a:gridCol w="1045337">
                  <a:extLst>
                    <a:ext uri="{9D8B030D-6E8A-4147-A177-3AD203B41FA5}">
                      <a16:colId xmlns:a16="http://schemas.microsoft.com/office/drawing/2014/main" val="2456552316"/>
                    </a:ext>
                  </a:extLst>
                </a:gridCol>
                <a:gridCol w="926511">
                  <a:extLst>
                    <a:ext uri="{9D8B030D-6E8A-4147-A177-3AD203B41FA5}">
                      <a16:colId xmlns:a16="http://schemas.microsoft.com/office/drawing/2014/main" val="2327174630"/>
                    </a:ext>
                  </a:extLst>
                </a:gridCol>
                <a:gridCol w="1514970">
                  <a:extLst>
                    <a:ext uri="{9D8B030D-6E8A-4147-A177-3AD203B41FA5}">
                      <a16:colId xmlns:a16="http://schemas.microsoft.com/office/drawing/2014/main" val="1100051595"/>
                    </a:ext>
                  </a:extLst>
                </a:gridCol>
                <a:gridCol w="913991">
                  <a:extLst>
                    <a:ext uri="{9D8B030D-6E8A-4147-A177-3AD203B41FA5}">
                      <a16:colId xmlns:a16="http://schemas.microsoft.com/office/drawing/2014/main" val="2042261034"/>
                    </a:ext>
                  </a:extLst>
                </a:gridCol>
                <a:gridCol w="951551">
                  <a:extLst>
                    <a:ext uri="{9D8B030D-6E8A-4147-A177-3AD203B41FA5}">
                      <a16:colId xmlns:a16="http://schemas.microsoft.com/office/drawing/2014/main" val="2815874248"/>
                    </a:ext>
                  </a:extLst>
                </a:gridCol>
              </a:tblGrid>
              <a:tr h="366567">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2026 Budget</a:t>
                      </a:r>
                      <a:r>
                        <a:rPr lang="en-US" sz="1050" b="1" i="0" u="none" strike="noStrike" kern="1200" cap="none" normalizeH="0" baseline="0">
                          <a:ln>
                            <a:noFill/>
                          </a:ln>
                          <a:solidFill>
                            <a:schemeClr val="bg1"/>
                          </a:solidFill>
                          <a:effectLst/>
                          <a:latin typeface="Arial"/>
                          <a:ea typeface="+mn-ea"/>
                          <a:cs typeface="+mn-cs"/>
                        </a:rPr>
                        <a:t> </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YTD Actuals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Remaining 2026 Forecast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Current YE Forecast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Total Budget</a:t>
                      </a:r>
                      <a:r>
                        <a:rPr lang="en-US" sz="1050" b="1" i="0" u="none" strike="noStrike" kern="1200" cap="none" normalizeH="0" baseline="0">
                          <a:ln>
                            <a:noFill/>
                          </a:ln>
                          <a:solidFill>
                            <a:schemeClr val="bg1"/>
                          </a:solidFill>
                          <a:effectLst/>
                          <a:latin typeface="Arial"/>
                          <a:ea typeface="+mn-ea"/>
                          <a:cs typeface="+mn-cs"/>
                        </a:rPr>
                        <a:t> </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383281">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$114,000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14,527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$96,834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$111,360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$114,000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7499024"/>
                  </a:ext>
                </a:extLst>
              </a:tr>
            </a:tbl>
          </a:graphicData>
        </a:graphic>
      </p:graphicFrame>
      <p:graphicFrame>
        <p:nvGraphicFramePr>
          <p:cNvPr id="25" name="Table 24">
            <a:extLst>
              <a:ext uri="{FF2B5EF4-FFF2-40B4-BE49-F238E27FC236}">
                <a16:creationId xmlns:a16="http://schemas.microsoft.com/office/drawing/2014/main" id="{51A1B6C8-2963-A3DC-3CC5-56B16B043F88}"/>
              </a:ext>
            </a:extLst>
          </p:cNvPr>
          <p:cNvGraphicFramePr>
            <a:graphicFrameLocks noGrp="1"/>
          </p:cNvGraphicFramePr>
          <p:nvPr/>
        </p:nvGraphicFramePr>
        <p:xfrm>
          <a:off x="2811025" y="920667"/>
          <a:ext cx="3829275" cy="749848"/>
        </p:xfrm>
        <a:graphic>
          <a:graphicData uri="http://schemas.openxmlformats.org/drawingml/2006/table">
            <a:tbl>
              <a:tblPr>
                <a:tableStyleId>{5C22544A-7EE6-4342-B048-85BDC9FD1C3A}</a:tableStyleId>
              </a:tblPr>
              <a:tblGrid>
                <a:gridCol w="1042158">
                  <a:extLst>
                    <a:ext uri="{9D8B030D-6E8A-4147-A177-3AD203B41FA5}">
                      <a16:colId xmlns:a16="http://schemas.microsoft.com/office/drawing/2014/main" val="2456552316"/>
                    </a:ext>
                  </a:extLst>
                </a:gridCol>
                <a:gridCol w="961214">
                  <a:extLst>
                    <a:ext uri="{9D8B030D-6E8A-4147-A177-3AD203B41FA5}">
                      <a16:colId xmlns:a16="http://schemas.microsoft.com/office/drawing/2014/main" val="1100051595"/>
                    </a:ext>
                  </a:extLst>
                </a:gridCol>
                <a:gridCol w="920742">
                  <a:extLst>
                    <a:ext uri="{9D8B030D-6E8A-4147-A177-3AD203B41FA5}">
                      <a16:colId xmlns:a16="http://schemas.microsoft.com/office/drawing/2014/main" val="2042261034"/>
                    </a:ext>
                  </a:extLst>
                </a:gridCol>
                <a:gridCol w="905161">
                  <a:extLst>
                    <a:ext uri="{9D8B030D-6E8A-4147-A177-3AD203B41FA5}">
                      <a16:colId xmlns:a16="http://schemas.microsoft.com/office/drawing/2014/main" val="2815874248"/>
                    </a:ext>
                  </a:extLst>
                </a:gridCol>
              </a:tblGrid>
              <a:tr h="409508">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Overall</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Scope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Schedule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Financials</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340340">
                <a:tc>
                  <a:txBody>
                    <a:bodyPr/>
                    <a:lstStyle/>
                    <a:p>
                      <a:pPr marL="0" marR="0" lvl="0" indent="0" algn="ctr" rtl="0" eaLnBrk="1" fontAlgn="ctr" latinLnBrk="0" hangingPunct="1">
                        <a:lnSpc>
                          <a:spcPct val="95000"/>
                        </a:lnSpc>
                        <a:spcBef>
                          <a:spcPct val="0"/>
                        </a:spcBef>
                        <a:spcAft>
                          <a:spcPct val="50000"/>
                        </a:spcAft>
                        <a:buClrTx/>
                        <a:buSzTx/>
                        <a:buFontTx/>
                        <a:buNone/>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rtl="0" eaLnBrk="1" fontAlgn="ctr" latinLnBrk="0" hangingPunct="1">
                        <a:lnSpc>
                          <a:spcPct val="95000"/>
                        </a:lnSpc>
                        <a:spcBef>
                          <a:spcPct val="0"/>
                        </a:spcBef>
                        <a:spcAft>
                          <a:spcPct val="50000"/>
                        </a:spcAft>
                        <a:buClrTx/>
                        <a:buSzTx/>
                        <a:buFontTx/>
                        <a:buNone/>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7499024"/>
                  </a:ext>
                </a:extLst>
              </a:tr>
            </a:tbl>
          </a:graphicData>
        </a:graphic>
      </p:graphicFrame>
      <p:graphicFrame>
        <p:nvGraphicFramePr>
          <p:cNvPr id="26" name="Group 513">
            <a:extLst>
              <a:ext uri="{FF2B5EF4-FFF2-40B4-BE49-F238E27FC236}">
                <a16:creationId xmlns:a16="http://schemas.microsoft.com/office/drawing/2014/main" id="{7698B252-EF11-4557-C6EF-7FA3D43EC9C5}"/>
              </a:ext>
            </a:extLst>
          </p:cNvPr>
          <p:cNvGraphicFramePr>
            <a:graphicFrameLocks noGrp="1"/>
          </p:cNvGraphicFramePr>
          <p:nvPr>
            <p:extLst>
              <p:ext uri="{D42A27DB-BD31-4B8C-83A1-F6EECF244321}">
                <p14:modId xmlns:p14="http://schemas.microsoft.com/office/powerpoint/2010/main" val="330678513"/>
              </p:ext>
            </p:extLst>
          </p:nvPr>
        </p:nvGraphicFramePr>
        <p:xfrm>
          <a:off x="223564" y="1271951"/>
          <a:ext cx="2581575" cy="395688"/>
        </p:xfrm>
        <a:graphic>
          <a:graphicData uri="http://schemas.openxmlformats.org/drawingml/2006/table">
            <a:tbl>
              <a:tblPr/>
              <a:tblGrid>
                <a:gridCol w="998602">
                  <a:extLst>
                    <a:ext uri="{9D8B030D-6E8A-4147-A177-3AD203B41FA5}">
                      <a16:colId xmlns:a16="http://schemas.microsoft.com/office/drawing/2014/main" val="20000"/>
                    </a:ext>
                  </a:extLst>
                </a:gridCol>
                <a:gridCol w="1582973">
                  <a:extLst>
                    <a:ext uri="{9D8B030D-6E8A-4147-A177-3AD203B41FA5}">
                      <a16:colId xmlns:a16="http://schemas.microsoft.com/office/drawing/2014/main" val="20001"/>
                    </a:ext>
                  </a:extLst>
                </a:gridCol>
              </a:tblGrid>
              <a:tr h="344301">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GB" sz="1050" b="1" i="0" u="none" strike="noStrike" kern="1200" cap="none" normalizeH="0" baseline="0">
                          <a:ln>
                            <a:noFill/>
                          </a:ln>
                          <a:solidFill>
                            <a:schemeClr val="bg1"/>
                          </a:solidFill>
                          <a:effectLst/>
                          <a:latin typeface="Arial"/>
                          <a:ea typeface="+mn-ea"/>
                          <a:cs typeface="+mn-cs"/>
                        </a:rPr>
                        <a:t>Target Delivery:</a:t>
                      </a:r>
                    </a:p>
                  </a:txBody>
                  <a:tcPr marL="0" marR="0"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11/11/26</a:t>
                      </a:r>
                    </a:p>
                  </a:txBody>
                  <a:tcPr marL="0" marR="0"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27" name="Table 26">
            <a:extLst>
              <a:ext uri="{FF2B5EF4-FFF2-40B4-BE49-F238E27FC236}">
                <a16:creationId xmlns:a16="http://schemas.microsoft.com/office/drawing/2014/main" id="{F0090F6F-196A-9CC3-8F2A-1C1FC90914CE}"/>
              </a:ext>
            </a:extLst>
          </p:cNvPr>
          <p:cNvGraphicFramePr>
            <a:graphicFrameLocks noGrp="1"/>
          </p:cNvGraphicFramePr>
          <p:nvPr>
            <p:extLst>
              <p:ext uri="{D42A27DB-BD31-4B8C-83A1-F6EECF244321}">
                <p14:modId xmlns:p14="http://schemas.microsoft.com/office/powerpoint/2010/main" val="3756900143"/>
              </p:ext>
            </p:extLst>
          </p:nvPr>
        </p:nvGraphicFramePr>
        <p:xfrm>
          <a:off x="5570290" y="1972165"/>
          <a:ext cx="6484606" cy="2909409"/>
        </p:xfrm>
        <a:graphic>
          <a:graphicData uri="http://schemas.openxmlformats.org/drawingml/2006/table">
            <a:tbl>
              <a:tblPr>
                <a:tableStyleId>{5C22544A-7EE6-4342-B048-85BDC9FD1C3A}</a:tableStyleId>
              </a:tblPr>
              <a:tblGrid>
                <a:gridCol w="2373495">
                  <a:extLst>
                    <a:ext uri="{9D8B030D-6E8A-4147-A177-3AD203B41FA5}">
                      <a16:colId xmlns:a16="http://schemas.microsoft.com/office/drawing/2014/main" val="2456552316"/>
                    </a:ext>
                  </a:extLst>
                </a:gridCol>
                <a:gridCol w="491195">
                  <a:extLst>
                    <a:ext uri="{9D8B030D-6E8A-4147-A177-3AD203B41FA5}">
                      <a16:colId xmlns:a16="http://schemas.microsoft.com/office/drawing/2014/main" val="1100051595"/>
                    </a:ext>
                  </a:extLst>
                </a:gridCol>
                <a:gridCol w="569320">
                  <a:extLst>
                    <a:ext uri="{9D8B030D-6E8A-4147-A177-3AD203B41FA5}">
                      <a16:colId xmlns:a16="http://schemas.microsoft.com/office/drawing/2014/main" val="2042261034"/>
                    </a:ext>
                  </a:extLst>
                </a:gridCol>
                <a:gridCol w="3050596">
                  <a:extLst>
                    <a:ext uri="{9D8B030D-6E8A-4147-A177-3AD203B41FA5}">
                      <a16:colId xmlns:a16="http://schemas.microsoft.com/office/drawing/2014/main" val="2815874248"/>
                    </a:ext>
                  </a:extLst>
                </a:gridCol>
              </a:tblGrid>
              <a:tr h="512298">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Milestone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Status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Due Date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Notes</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396152">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50" b="0" kern="1200">
                          <a:solidFill>
                            <a:schemeClr val="dk1"/>
                          </a:solidFill>
                          <a:latin typeface="Aptos" panose="020B0004020202020204" pitchFamily="34" charset="0"/>
                          <a:ea typeface="+mn-ea"/>
                          <a:cs typeface="+mn-cs"/>
                        </a:rPr>
                        <a:t>Story creation &amp; grooming completed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0D3D4"/>
                    </a:solid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r>
                        <a:rPr lang="en-US" sz="850" b="0" kern="1200">
                          <a:solidFill>
                            <a:schemeClr val="tx1"/>
                          </a:solidFill>
                          <a:effectLst/>
                          <a:latin typeface="Aptos" panose="020B0004020202020204" pitchFamily="34" charset="0"/>
                          <a:ea typeface="+mn-ea"/>
                          <a:cs typeface="+mn-cs"/>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0D3D4"/>
                    </a:solid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r>
                        <a:rPr lang="en-US" sz="850" b="0" strike="noStrike" kern="1200">
                          <a:solidFill>
                            <a:schemeClr val="tx1"/>
                          </a:solidFill>
                          <a:effectLst/>
                          <a:latin typeface="Aptos" panose="020B0004020202020204" pitchFamily="34" charset="0"/>
                          <a:ea typeface="+mn-ea"/>
                          <a:cs typeface="+mn-cs"/>
                        </a:rPr>
                        <a:t>8/5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0D3D4"/>
                    </a:solidFill>
                  </a:tcPr>
                </a:tc>
                <a:tc>
                  <a:txBody>
                    <a:bodyPr/>
                    <a:lstStyle/>
                    <a:p>
                      <a:pPr marL="0" marR="0" lvl="0" indent="0" algn="l" defTabSz="914400" rtl="0" eaLnBrk="1" fontAlgn="auto" latinLnBrk="0" hangingPunct="1">
                        <a:lnSpc>
                          <a:spcPts val="600"/>
                        </a:lnSpc>
                        <a:spcBef>
                          <a:spcPts val="300"/>
                        </a:spcBef>
                        <a:spcAft>
                          <a:spcPts val="0"/>
                        </a:spcAft>
                        <a:buClrTx/>
                        <a:buSzTx/>
                        <a:buFontTx/>
                        <a:buNone/>
                        <a:tabLst/>
                        <a:defRPr/>
                      </a:pPr>
                      <a:endParaRPr lang="en-US" sz="850" b="0" i="0">
                        <a:solidFill>
                          <a:srgbClr val="000000"/>
                        </a:solidFill>
                        <a:effectLst/>
                        <a:latin typeface="Aptos" panose="020B00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0D3D4"/>
                    </a:solidFill>
                  </a:tcPr>
                </a:tc>
                <a:extLst>
                  <a:ext uri="{0D108BD9-81ED-4DB2-BD59-A6C34878D82A}">
                    <a16:rowId xmlns:a16="http://schemas.microsoft.com/office/drawing/2014/main" val="1748893264"/>
                  </a:ext>
                </a:extLst>
              </a:tr>
              <a:tr h="311159">
                <a:tc>
                  <a:txBody>
                    <a:bodyPr/>
                    <a:lstStyle/>
                    <a:p>
                      <a:pPr algn="l"/>
                      <a:r>
                        <a:rPr lang="en-US" sz="850" b="0" strike="noStrike">
                          <a:solidFill>
                            <a:schemeClr val="tx1"/>
                          </a:solidFill>
                          <a:latin typeface="Aptos" panose="020B0004020202020204" pitchFamily="34" charset="0"/>
                        </a:rPr>
                        <a:t> DDIT Complete (SS)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50" b="0">
                        <a:latin typeface="Aptos"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50" b="0" strike="noStrike">
                          <a:latin typeface="Aptos" panose="020B0004020202020204" pitchFamily="34" charset="0"/>
                        </a:rPr>
                        <a:t>9/30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eaLnBrk="1" fontAlgn="ctr" latinLnBrk="0" hangingPunct="1">
                        <a:lnSpc>
                          <a:spcPct val="95000"/>
                        </a:lnSpc>
                        <a:spcBef>
                          <a:spcPct val="0"/>
                        </a:spcBef>
                        <a:spcAft>
                          <a:spcPct val="50000"/>
                        </a:spcAft>
                        <a:buClrTx/>
                        <a:buSzTx/>
                        <a:buFontTx/>
                        <a:buNone/>
                      </a:pPr>
                      <a:r>
                        <a:rPr lang="en-US" sz="850" b="0" kern="1200">
                          <a:solidFill>
                            <a:schemeClr val="tx1"/>
                          </a:solidFill>
                          <a:effectLst/>
                          <a:latin typeface="Aptos" panose="020B0004020202020204" pitchFamily="34" charset="0"/>
                          <a:ea typeface="+mn-ea"/>
                          <a:cs typeface="+mn-cs"/>
                        </a:rPr>
                        <a:t>   MPPC, MPI, WP in process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17819655"/>
                  </a:ext>
                </a:extLst>
              </a:tr>
              <a:tr h="357745">
                <a:tc>
                  <a:txBody>
                    <a:bodyPr/>
                    <a:lstStyle/>
                    <a:p>
                      <a:pPr algn="l"/>
                      <a:r>
                        <a:rPr lang="en-US" sz="850" b="0" strike="noStrike">
                          <a:solidFill>
                            <a:schemeClr val="tx1"/>
                          </a:solidFill>
                          <a:latin typeface="Aptos" panose="020B0004020202020204" pitchFamily="34" charset="0"/>
                        </a:rPr>
                        <a:t> DDIT Complete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50" b="0">
                          <a:latin typeface="Aptos" panose="020B0004020202020204" pitchFamily="34" charset="0"/>
                        </a:rPr>
                        <a:t>NS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50" b="0">
                          <a:latin typeface="Aptos" panose="020B0004020202020204" pitchFamily="34" charset="0"/>
                        </a:rPr>
                        <a:t>9/30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eaLnBrk="1" fontAlgn="ctr" latinLnBrk="0" hangingPunct="1">
                        <a:lnSpc>
                          <a:spcPct val="95000"/>
                        </a:lnSpc>
                        <a:spcBef>
                          <a:spcPct val="0"/>
                        </a:spcBef>
                        <a:spcAft>
                          <a:spcPct val="50000"/>
                        </a:spcAft>
                        <a:buClrTx/>
                        <a:buSzTx/>
                        <a:buFontTx/>
                        <a:buNone/>
                      </a:pPr>
                      <a:endParaRPr lang="en-US" sz="850" b="0" kern="1200">
                        <a:solidFill>
                          <a:schemeClr val="tx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62506059"/>
                  </a:ext>
                </a:extLst>
              </a:tr>
              <a:tr h="357745">
                <a:tc>
                  <a:txBody>
                    <a:bodyPr/>
                    <a:lstStyle/>
                    <a:p>
                      <a:pPr algn="l"/>
                      <a:r>
                        <a:rPr lang="en-US" sz="850" b="0" strike="noStrike">
                          <a:solidFill>
                            <a:schemeClr val="tx1"/>
                          </a:solidFill>
                          <a:latin typeface="Aptos" panose="020B0004020202020204"/>
                        </a:rPr>
                        <a:t> E2E Testing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50" b="0">
                          <a:latin typeface="Aptos" panose="020B0004020202020204"/>
                        </a:rPr>
                        <a:t>NS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50" b="0">
                          <a:latin typeface="Aptos" panose="020B0004020202020204"/>
                        </a:rPr>
                        <a:t>10/14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eaLnBrk="1" fontAlgn="ctr" latinLnBrk="0" hangingPunct="1">
                        <a:lnSpc>
                          <a:spcPct val="95000"/>
                        </a:lnSpc>
                        <a:spcBef>
                          <a:spcPct val="0"/>
                        </a:spcBef>
                        <a:spcAft>
                          <a:spcPct val="50000"/>
                        </a:spcAft>
                        <a:buClrTx/>
                        <a:buSzTx/>
                        <a:buFontTx/>
                        <a:buNone/>
                      </a:pPr>
                      <a:endParaRPr lang="en-US" sz="850" b="0" kern="1200">
                        <a:solidFill>
                          <a:schemeClr val="tx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83518123"/>
                  </a:ext>
                </a:extLst>
              </a:tr>
              <a:tr h="324770">
                <a:tc>
                  <a:txBody>
                    <a:bodyPr/>
                    <a:lstStyle/>
                    <a:p>
                      <a:pPr algn="l"/>
                      <a:r>
                        <a:rPr lang="en-US" sz="850" b="0" strike="noStrike">
                          <a:solidFill>
                            <a:schemeClr val="tx1"/>
                          </a:solidFill>
                          <a:latin typeface="Aptos" panose="020B0004020202020204"/>
                        </a:rPr>
                        <a:t> UAT Complete</a:t>
                      </a:r>
                    </a:p>
                  </a:txBody>
                  <a:tcPr anchor="ctr">
                    <a:lnL w="12700">
                      <a:solidFill>
                        <a:schemeClr val="tx1"/>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0">
                      <a:noFill/>
                    </a:lnTlToBr>
                    <a:lnBlToTr w="0">
                      <a:noFill/>
                    </a:lnBlToTr>
                    <a:noFill/>
                  </a:tcPr>
                </a:tc>
                <a:tc>
                  <a:txBody>
                    <a:bodyPr/>
                    <a:lstStyle/>
                    <a:p>
                      <a:pPr lvl="0" algn="ctr">
                        <a:buNone/>
                      </a:pPr>
                      <a:r>
                        <a:rPr lang="en-US" sz="850" b="0">
                          <a:latin typeface="Aptos" panose="020B0004020202020204"/>
                        </a:rPr>
                        <a:t>NS</a:t>
                      </a:r>
                    </a:p>
                  </a:txBody>
                  <a:tcPr marL="9524" marR="9524" marT="952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0">
                      <a:noFill/>
                    </a:lnTlToBr>
                    <a:lnBlToTr w="0">
                      <a:noFill/>
                    </a:lnBlToTr>
                    <a:noFill/>
                  </a:tcPr>
                </a:tc>
                <a:tc>
                  <a:txBody>
                    <a:bodyPr/>
                    <a:lstStyle/>
                    <a:p>
                      <a:pPr lvl="0" algn="ctr">
                        <a:buNone/>
                      </a:pPr>
                      <a:r>
                        <a:rPr lang="en-US" sz="850" b="0">
                          <a:latin typeface="Aptos" panose="020B0004020202020204"/>
                        </a:rPr>
                        <a:t>10/30</a:t>
                      </a:r>
                    </a:p>
                  </a:txBody>
                  <a:tcPr marL="9524" marR="9524" marT="952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0">
                      <a:noFill/>
                    </a:lnTlToBr>
                    <a:lnBlToTr w="0">
                      <a:noFill/>
                    </a:lnBlToTr>
                    <a:noFill/>
                  </a:tcPr>
                </a:tc>
                <a:tc>
                  <a:txBody>
                    <a:bodyPr/>
                    <a:lstStyle/>
                    <a:p>
                      <a:pPr marL="0" lvl="0" indent="0" algn="l">
                        <a:lnSpc>
                          <a:spcPct val="95000"/>
                        </a:lnSpc>
                        <a:spcBef>
                          <a:spcPct val="0"/>
                        </a:spcBef>
                        <a:spcAft>
                          <a:spcPct val="50000"/>
                        </a:spcAft>
                        <a:buNone/>
                      </a:pPr>
                      <a:endParaRPr lang="en-US" sz="850" b="0" kern="1200">
                        <a:solidFill>
                          <a:schemeClr val="tx1"/>
                        </a:solidFill>
                        <a:effectLst/>
                        <a:latin typeface="Aptos" panose="020B0004020202020204" pitchFamily="34" charset="0"/>
                        <a:ea typeface="+mn-ea"/>
                        <a:cs typeface="+mn-cs"/>
                      </a:endParaRPr>
                    </a:p>
                  </a:txBody>
                  <a:tcPr marL="9524" marR="9524" marT="9524" marB="0" anchor="ct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0">
                      <a:noFill/>
                    </a:lnTlToBr>
                    <a:lnBlToTr w="0">
                      <a:noFill/>
                    </a:lnBlToTr>
                    <a:noFill/>
                  </a:tcPr>
                </a:tc>
                <a:extLst>
                  <a:ext uri="{0D108BD9-81ED-4DB2-BD59-A6C34878D82A}">
                    <a16:rowId xmlns:a16="http://schemas.microsoft.com/office/drawing/2014/main" val="704749405"/>
                  </a:ext>
                </a:extLst>
              </a:tr>
              <a:tr h="324770">
                <a:tc>
                  <a:txBody>
                    <a:bodyPr/>
                    <a:lstStyle/>
                    <a:p>
                      <a:pPr algn="l"/>
                      <a:r>
                        <a:rPr lang="en-US" sz="850" b="0" strike="noStrike">
                          <a:solidFill>
                            <a:schemeClr val="tx1"/>
                          </a:solidFill>
                          <a:latin typeface="Aptos" panose="020B0004020202020204"/>
                        </a:rPr>
                        <a:t> Production Release</a:t>
                      </a:r>
                    </a:p>
                  </a:txBody>
                  <a:tcPr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cap="flat" cmpd="sng" algn="ctr">
                      <a:solidFill>
                        <a:schemeClr val="tx1"/>
                      </a:solidFill>
                      <a:prstDash val="solid"/>
                      <a:round/>
                      <a:headEnd type="none" w="med" len="med"/>
                      <a:tailEnd type="none" w="med" len="med"/>
                    </a:lnB>
                    <a:lnTlToBr w="0">
                      <a:noFill/>
                    </a:lnTlToBr>
                    <a:lnBlToTr w="0">
                      <a:noFill/>
                    </a:lnBlToTr>
                    <a:noFill/>
                  </a:tcPr>
                </a:tc>
                <a:tc>
                  <a:txBody>
                    <a:bodyPr/>
                    <a:lstStyle/>
                    <a:p>
                      <a:pPr lvl="0" algn="ctr">
                        <a:buNone/>
                      </a:pPr>
                      <a:r>
                        <a:rPr lang="en-US" sz="850" b="0">
                          <a:latin typeface="Aptos" panose="020B0004020202020204"/>
                        </a:rPr>
                        <a:t>NS</a:t>
                      </a:r>
                    </a:p>
                  </a:txBody>
                  <a:tcPr marL="9524" marR="9524" marT="952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a:solidFill>
                        <a:schemeClr val="tx1"/>
                      </a:solidFill>
                    </a:lnT>
                    <a:lnB w="12700" cap="flat" cmpd="sng" algn="ctr">
                      <a:solidFill>
                        <a:schemeClr val="tx1"/>
                      </a:solidFill>
                      <a:prstDash val="solid"/>
                      <a:round/>
                      <a:headEnd type="none" w="med" len="med"/>
                      <a:tailEnd type="none" w="med" len="med"/>
                    </a:lnB>
                    <a:lnTlToBr w="0">
                      <a:noFill/>
                    </a:lnTlToBr>
                    <a:lnBlToTr w="0">
                      <a:noFill/>
                    </a:lnBlToTr>
                    <a:noFill/>
                  </a:tcPr>
                </a:tc>
                <a:tc>
                  <a:txBody>
                    <a:bodyPr/>
                    <a:lstStyle/>
                    <a:p>
                      <a:pPr lvl="0" algn="ctr">
                        <a:buNone/>
                      </a:pPr>
                      <a:r>
                        <a:rPr lang="en-US" sz="850" b="0">
                          <a:latin typeface="Aptos" panose="020B0004020202020204"/>
                        </a:rPr>
                        <a:t>11/11</a:t>
                      </a:r>
                    </a:p>
                  </a:txBody>
                  <a:tcPr marL="9524" marR="9524" marT="952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a:solidFill>
                        <a:schemeClr val="tx1"/>
                      </a:solidFill>
                    </a:lnT>
                    <a:lnB w="12700" cap="flat" cmpd="sng" algn="ctr">
                      <a:solidFill>
                        <a:schemeClr val="tx1"/>
                      </a:solidFill>
                      <a:prstDash val="solid"/>
                      <a:round/>
                      <a:headEnd type="none" w="med" len="med"/>
                      <a:tailEnd type="none" w="med" len="med"/>
                    </a:lnB>
                    <a:lnTlToBr w="0">
                      <a:noFill/>
                    </a:lnTlToBr>
                    <a:lnBlToTr w="0">
                      <a:noFill/>
                    </a:lnBlToTr>
                    <a:noFill/>
                  </a:tcPr>
                </a:tc>
                <a:tc>
                  <a:txBody>
                    <a:bodyPr/>
                    <a:lstStyle/>
                    <a:p>
                      <a:pPr marL="0" lvl="0" indent="0" algn="l">
                        <a:lnSpc>
                          <a:spcPct val="95000"/>
                        </a:lnSpc>
                        <a:spcBef>
                          <a:spcPct val="0"/>
                        </a:spcBef>
                        <a:spcAft>
                          <a:spcPct val="50000"/>
                        </a:spcAft>
                        <a:buNone/>
                      </a:pPr>
                      <a:endParaRPr lang="en-US" sz="850" b="0" kern="1200">
                        <a:solidFill>
                          <a:schemeClr val="tx1"/>
                        </a:solidFill>
                        <a:effectLst/>
                        <a:latin typeface="Aptos" panose="020B0004020202020204" pitchFamily="34" charset="0"/>
                        <a:ea typeface="+mn-ea"/>
                        <a:cs typeface="+mn-cs"/>
                      </a:endParaRPr>
                    </a:p>
                  </a:txBody>
                  <a:tcPr marL="9524" marR="9524" marT="9524" marB="0" anchor="ctr">
                    <a:lnL w="12700" cap="flat" cmpd="sng" algn="ctr">
                      <a:solidFill>
                        <a:schemeClr val="tx1"/>
                      </a:solidFill>
                      <a:prstDash val="solid"/>
                      <a:round/>
                      <a:headEnd type="none" w="med" len="med"/>
                      <a:tailEnd type="none" w="med" len="med"/>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lnTlToBr w="0">
                      <a:noFill/>
                    </a:lnTlToBr>
                    <a:lnBlToTr w="0">
                      <a:noFill/>
                    </a:lnBlToTr>
                    <a:noFill/>
                  </a:tcPr>
                </a:tc>
                <a:extLst>
                  <a:ext uri="{0D108BD9-81ED-4DB2-BD59-A6C34878D82A}">
                    <a16:rowId xmlns:a16="http://schemas.microsoft.com/office/drawing/2014/main" val="817423716"/>
                  </a:ext>
                </a:extLst>
              </a:tr>
              <a:tr h="324770">
                <a:tc>
                  <a:txBody>
                    <a:bodyPr/>
                    <a:lstStyle/>
                    <a:p>
                      <a:r>
                        <a:rPr lang="en-US" sz="850">
                          <a:latin typeface="Aptos" panose="020B0004020202020204"/>
                        </a:rPr>
                        <a:t> Warranty Completed</a:t>
                      </a:r>
                    </a:p>
                  </a:txBody>
                  <a:tcPr anchor="ctr">
                    <a:lnL w="12700">
                      <a:solidFill>
                        <a:schemeClr val="tx1"/>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0">
                      <a:noFill/>
                    </a:lnTlToBr>
                    <a:lnBlToTr w="0">
                      <a:noFill/>
                    </a:lnBlToTr>
                    <a:noFill/>
                  </a:tcPr>
                </a:tc>
                <a:tc>
                  <a:txBody>
                    <a:bodyPr/>
                    <a:lstStyle/>
                    <a:p>
                      <a:pPr algn="ctr"/>
                      <a:r>
                        <a:rPr lang="en-US" sz="850">
                          <a:latin typeface="Aptos" panose="020B0004020202020204"/>
                        </a:rPr>
                        <a:t>NS</a:t>
                      </a:r>
                    </a:p>
                  </a:txBody>
                  <a:tcPr marL="9524" marR="9524" marT="952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0">
                      <a:noFill/>
                    </a:lnTlToBr>
                    <a:lnBlToTr w="0">
                      <a:noFill/>
                    </a:lnBlToTr>
                    <a:noFill/>
                  </a:tcPr>
                </a:tc>
                <a:tc>
                  <a:txBody>
                    <a:bodyPr/>
                    <a:lstStyle/>
                    <a:p>
                      <a:pPr algn="ctr"/>
                      <a:r>
                        <a:rPr lang="en-US" sz="850">
                          <a:latin typeface="Aptos" panose="020B0004020202020204"/>
                        </a:rPr>
                        <a:t>12/11</a:t>
                      </a:r>
                    </a:p>
                  </a:txBody>
                  <a:tcPr marL="9524" marR="9524" marT="952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0">
                      <a:noFill/>
                    </a:lnTlToBr>
                    <a:lnBlToTr w="0">
                      <a:noFill/>
                    </a:lnBlToTr>
                    <a:noFill/>
                  </a:tcPr>
                </a:tc>
                <a:tc>
                  <a:txBody>
                    <a:bodyPr/>
                    <a:lstStyle/>
                    <a:p>
                      <a:pPr marL="0" lvl="0" indent="0" algn="l">
                        <a:lnSpc>
                          <a:spcPct val="95000"/>
                        </a:lnSpc>
                        <a:spcBef>
                          <a:spcPct val="0"/>
                        </a:spcBef>
                        <a:spcAft>
                          <a:spcPct val="50000"/>
                        </a:spcAft>
                        <a:buNone/>
                      </a:pPr>
                      <a:endParaRPr lang="en-US" sz="850" b="0" kern="1200">
                        <a:solidFill>
                          <a:schemeClr val="tx1"/>
                        </a:solidFill>
                        <a:effectLst/>
                        <a:latin typeface="Aptos" panose="020B0004020202020204" pitchFamily="34" charset="0"/>
                        <a:ea typeface="+mn-ea"/>
                        <a:cs typeface="+mn-cs"/>
                      </a:endParaRPr>
                    </a:p>
                  </a:txBody>
                  <a:tcPr marL="9524" marR="9524" marT="9524" marB="0" anchor="ctr">
                    <a:lnL w="12700" cap="flat" cmpd="sng" algn="ctr">
                      <a:solidFill>
                        <a:schemeClr val="tx1"/>
                      </a:solidFill>
                      <a:prstDash val="solid"/>
                      <a:round/>
                      <a:headEnd type="none" w="med" len="med"/>
                      <a:tailEnd type="none" w="med" len="med"/>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lnTlToBr w="0">
                      <a:noFill/>
                    </a:lnTlToBr>
                    <a:lnBlToTr w="0">
                      <a:noFill/>
                    </a:lnBlToTr>
                    <a:noFill/>
                  </a:tcPr>
                </a:tc>
                <a:extLst>
                  <a:ext uri="{0D108BD9-81ED-4DB2-BD59-A6C34878D82A}">
                    <a16:rowId xmlns:a16="http://schemas.microsoft.com/office/drawing/2014/main" val="953311538"/>
                  </a:ext>
                </a:extLst>
              </a:tr>
            </a:tbl>
          </a:graphicData>
        </a:graphic>
      </p:graphicFrame>
      <p:graphicFrame>
        <p:nvGraphicFramePr>
          <p:cNvPr id="29" name="Table 28">
            <a:extLst>
              <a:ext uri="{FF2B5EF4-FFF2-40B4-BE49-F238E27FC236}">
                <a16:creationId xmlns:a16="http://schemas.microsoft.com/office/drawing/2014/main" id="{9ABC31EB-B5B0-0507-CCE7-0F207F9FB514}"/>
              </a:ext>
            </a:extLst>
          </p:cNvPr>
          <p:cNvGraphicFramePr>
            <a:graphicFrameLocks noGrp="1"/>
          </p:cNvGraphicFramePr>
          <p:nvPr>
            <p:extLst>
              <p:ext uri="{D42A27DB-BD31-4B8C-83A1-F6EECF244321}">
                <p14:modId xmlns:p14="http://schemas.microsoft.com/office/powerpoint/2010/main" val="3843205337"/>
              </p:ext>
            </p:extLst>
          </p:nvPr>
        </p:nvGraphicFramePr>
        <p:xfrm>
          <a:off x="5583499" y="5459624"/>
          <a:ext cx="6484607" cy="714807"/>
        </p:xfrm>
        <a:graphic>
          <a:graphicData uri="http://schemas.openxmlformats.org/drawingml/2006/table">
            <a:tbl>
              <a:tblPr>
                <a:tableStyleId>{5C22544A-7EE6-4342-B048-85BDC9FD1C3A}</a:tableStyleId>
              </a:tblPr>
              <a:tblGrid>
                <a:gridCol w="2392727">
                  <a:extLst>
                    <a:ext uri="{9D8B030D-6E8A-4147-A177-3AD203B41FA5}">
                      <a16:colId xmlns:a16="http://schemas.microsoft.com/office/drawing/2014/main" val="2456552316"/>
                    </a:ext>
                  </a:extLst>
                </a:gridCol>
                <a:gridCol w="469863">
                  <a:extLst>
                    <a:ext uri="{9D8B030D-6E8A-4147-A177-3AD203B41FA5}">
                      <a16:colId xmlns:a16="http://schemas.microsoft.com/office/drawing/2014/main" val="1100051595"/>
                    </a:ext>
                  </a:extLst>
                </a:gridCol>
                <a:gridCol w="521848">
                  <a:extLst>
                    <a:ext uri="{9D8B030D-6E8A-4147-A177-3AD203B41FA5}">
                      <a16:colId xmlns:a16="http://schemas.microsoft.com/office/drawing/2014/main" val="2042261034"/>
                    </a:ext>
                  </a:extLst>
                </a:gridCol>
                <a:gridCol w="3100169">
                  <a:extLst>
                    <a:ext uri="{9D8B030D-6E8A-4147-A177-3AD203B41FA5}">
                      <a16:colId xmlns:a16="http://schemas.microsoft.com/office/drawing/2014/main" val="2815874248"/>
                    </a:ext>
                  </a:extLst>
                </a:gridCol>
              </a:tblGrid>
              <a:tr h="389213">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Critical Risks/Issues</a:t>
                      </a:r>
                      <a:endParaRPr kumimoji="0" lang="en-US" sz="1050" b="1" i="0" u="none" strike="noStrike" kern="1200" cap="none" normalizeH="0" baseline="0">
                        <a:ln>
                          <a:noFill/>
                        </a:ln>
                        <a:solidFill>
                          <a:schemeClr val="bg1"/>
                        </a:solidFill>
                        <a:effectLst/>
                        <a:latin typeface="Arial" charset="0"/>
                        <a:ea typeface="+mn-ea"/>
                        <a:cs typeface="+mn-cs"/>
                      </a:endParaRP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Status</a:t>
                      </a:r>
                    </a:p>
                  </a:txBody>
                  <a:tcPr marL="9525" marR="9525" marT="9525" marB="0" anchor="ct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1" fontAlgn="auto" latinLnBrk="0" hangingPunct="1">
                        <a:lnSpc>
                          <a:spcPct val="95000"/>
                        </a:lnSpc>
                        <a:spcBef>
                          <a:spcPct val="0"/>
                        </a:spcBef>
                        <a:spcAft>
                          <a:spcPct val="50000"/>
                        </a:spcAft>
                        <a:buClrTx/>
                        <a:buSzTx/>
                        <a:buFontTx/>
                        <a:buNone/>
                        <a:tabLst/>
                        <a:defRPr/>
                      </a:pPr>
                      <a:r>
                        <a:rPr kumimoji="0" lang="en-US" sz="1050" b="1" i="0" u="none" strike="noStrike" kern="1200" cap="none" normalizeH="0" baseline="0">
                          <a:ln>
                            <a:noFill/>
                          </a:ln>
                          <a:solidFill>
                            <a:schemeClr val="bg1"/>
                          </a:solidFill>
                          <a:effectLst/>
                          <a:latin typeface="+mn-lt"/>
                          <a:ea typeface="+mn-ea"/>
                          <a:cs typeface="+mn-cs"/>
                        </a:rPr>
                        <a:t>Target Date</a:t>
                      </a:r>
                    </a:p>
                  </a:txBody>
                  <a:tcPr marL="9525" marR="9525" marT="9525" marB="0" anchor="ctr">
                    <a:lnL w="12700">
                      <a:solidFill>
                        <a:schemeClr val="tx1"/>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Resolution / Mitigation</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325594">
                <a:tc>
                  <a:txBody>
                    <a:bodyPr/>
                    <a:lstStyle/>
                    <a:p>
                      <a:pPr marL="0" marR="0" lvl="0" indent="0" algn="l" defTabSz="914400" rtl="0" eaLnBrk="1" fontAlgn="auto" latinLnBrk="0" hangingPunct="1">
                        <a:lnSpc>
                          <a:spcPct val="115000"/>
                        </a:lnSpc>
                        <a:spcBef>
                          <a:spcPts val="0"/>
                        </a:spcBef>
                        <a:spcAft>
                          <a:spcPts val="800"/>
                        </a:spcAft>
                        <a:buClrTx/>
                        <a:buSzTx/>
                        <a:buFontTx/>
                        <a:buNone/>
                        <a:tabLst/>
                        <a:defRPr/>
                      </a:pPr>
                      <a:r>
                        <a:rPr lang="en-US" sz="850">
                          <a:latin typeface="Aptos" panose="020B0004020202020204" pitchFamily="34" charset="0"/>
                        </a:rPr>
                        <a:t>None</a:t>
                      </a: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850" b="0" kern="1200">
                        <a:solidFill>
                          <a:schemeClr val="tx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850" b="0" strike="noStrike" kern="1200">
                        <a:solidFill>
                          <a:schemeClr val="tx1"/>
                        </a:solidFill>
                        <a:effectLst/>
                        <a:latin typeface="Aptos" panose="020B0004020202020204" pitchFamily="34" charset="0"/>
                        <a:ea typeface="+mn-ea"/>
                        <a:cs typeface="+mn-cs"/>
                      </a:endParaRPr>
                    </a:p>
                  </a:txBody>
                  <a:tcPr marL="9525" marR="9525" marT="9525" marB="0" anchor="ctr">
                    <a:lnL w="12700">
                      <a:solidFill>
                        <a:schemeClr val="tx1"/>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ts val="200"/>
                        </a:spcBef>
                        <a:spcAft>
                          <a:spcPts val="0"/>
                        </a:spcAft>
                        <a:buClrTx/>
                        <a:buSzTx/>
                        <a:buFont typeface="Arial" panose="020B0604020202020204" pitchFamily="34" charset="0"/>
                        <a:buNone/>
                        <a:tabLst/>
                        <a:defRPr/>
                      </a:pPr>
                      <a:endParaRPr lang="en-US" sz="850" b="0" strike="noStrike" kern="1200">
                        <a:solidFill>
                          <a:schemeClr val="tx1"/>
                        </a:solidFill>
                        <a:effectLst/>
                        <a:latin typeface="Aptos" panose="020B0004020202020204" pitchFamily="34" charset="0"/>
                        <a:ea typeface="+mn-ea"/>
                        <a:cs typeface="+mn-cs"/>
                      </a:endParaRP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7499024"/>
                  </a:ext>
                </a:extLst>
              </a:tr>
            </a:tbl>
          </a:graphicData>
        </a:graphic>
      </p:graphicFrame>
      <p:sp>
        <p:nvSpPr>
          <p:cNvPr id="33" name="Flowchart: Connector 32">
            <a:extLst>
              <a:ext uri="{FF2B5EF4-FFF2-40B4-BE49-F238E27FC236}">
                <a16:creationId xmlns:a16="http://schemas.microsoft.com/office/drawing/2014/main" id="{C6B4BBB0-CE24-55E7-FE61-FDB4A01480E4}"/>
              </a:ext>
            </a:extLst>
          </p:cNvPr>
          <p:cNvSpPr/>
          <p:nvPr/>
        </p:nvSpPr>
        <p:spPr>
          <a:xfrm>
            <a:off x="7145312" y="6295894"/>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Flowchart: Connector 33">
            <a:extLst>
              <a:ext uri="{FF2B5EF4-FFF2-40B4-BE49-F238E27FC236}">
                <a16:creationId xmlns:a16="http://schemas.microsoft.com/office/drawing/2014/main" id="{AA1F5982-9460-BF38-F579-245746AC79E2}"/>
              </a:ext>
            </a:extLst>
          </p:cNvPr>
          <p:cNvSpPr/>
          <p:nvPr/>
        </p:nvSpPr>
        <p:spPr>
          <a:xfrm>
            <a:off x="8078441" y="6298353"/>
            <a:ext cx="163286" cy="164592"/>
          </a:xfrm>
          <a:prstGeom prst="flowChartConnector">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Flowchart: Connector 35">
            <a:extLst>
              <a:ext uri="{FF2B5EF4-FFF2-40B4-BE49-F238E27FC236}">
                <a16:creationId xmlns:a16="http://schemas.microsoft.com/office/drawing/2014/main" id="{E434937F-1904-B18A-7562-520A15ED41FB}"/>
              </a:ext>
            </a:extLst>
          </p:cNvPr>
          <p:cNvSpPr/>
          <p:nvPr/>
        </p:nvSpPr>
        <p:spPr>
          <a:xfrm>
            <a:off x="9093213" y="6308967"/>
            <a:ext cx="163285" cy="164592"/>
          </a:xfrm>
          <a:prstGeom prst="flowChartConnector">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088C6CC7-F1C2-7A00-9457-C8B600543DCA}"/>
              </a:ext>
            </a:extLst>
          </p:cNvPr>
          <p:cNvSpPr txBox="1"/>
          <p:nvPr/>
        </p:nvSpPr>
        <p:spPr>
          <a:xfrm>
            <a:off x="159545" y="1948919"/>
            <a:ext cx="5226187" cy="2825069"/>
          </a:xfrm>
          <a:prstGeom prst="rect">
            <a:avLst/>
          </a:prstGeom>
          <a:noFill/>
        </p:spPr>
        <p:txBody>
          <a:bodyPr wrap="square" lIns="91440" tIns="45720" rIns="91440" bIns="45720" anchor="t">
            <a:spAutoFit/>
          </a:bodyPr>
          <a:lstStyle/>
          <a:p>
            <a:pPr>
              <a:lnSpc>
                <a:spcPct val="150000"/>
              </a:lnSpc>
              <a:tabLst>
                <a:tab pos="457200" algn="l"/>
              </a:tabLst>
            </a:pPr>
            <a:r>
              <a:rPr lang="en-US" sz="850" b="1">
                <a:latin typeface="Aptos" panose="020B0004020202020204" pitchFamily="34" charset="0"/>
                <a:cs typeface="Arial"/>
              </a:rPr>
              <a:t>Status Update</a:t>
            </a:r>
            <a:endParaRPr lang="en-US" sz="850">
              <a:latin typeface="Aptos" panose="020B0004020202020204" pitchFamily="34" charset="0"/>
              <a:cs typeface="Arial"/>
            </a:endParaRPr>
          </a:p>
          <a:p>
            <a:pPr>
              <a:lnSpc>
                <a:spcPct val="150000"/>
              </a:lnSpc>
              <a:tabLst>
                <a:tab pos="457200" algn="l"/>
              </a:tabLst>
            </a:pPr>
            <a:r>
              <a:rPr lang="en-US" sz="850" b="1">
                <a:latin typeface="Aptos" panose="020B0004020202020204" pitchFamily="34" charset="0"/>
                <a:cs typeface="Arial"/>
              </a:rPr>
              <a:t>Overall Status: Green</a:t>
            </a:r>
            <a:endParaRPr lang="en-US" sz="850">
              <a:latin typeface="Aptos" panose="020B0004020202020204" pitchFamily="34" charset="0"/>
              <a:cs typeface="Arial"/>
            </a:endParaRPr>
          </a:p>
          <a:p>
            <a:pPr>
              <a:lnSpc>
                <a:spcPct val="150000"/>
              </a:lnSpc>
              <a:tabLst>
                <a:tab pos="457200" algn="l"/>
              </a:tabLst>
            </a:pPr>
            <a:r>
              <a:rPr lang="en-US" sz="850">
                <a:latin typeface="Aptos" panose="020B0004020202020204" pitchFamily="34" charset="0"/>
                <a:ea typeface="+mn-lt"/>
                <a:cs typeface="+mn-lt"/>
              </a:rPr>
              <a:t>Development for the MPPC product began progressing as planned. ETL DEV work starting in the current sprint.  Project on Schedule.</a:t>
            </a:r>
          </a:p>
          <a:p>
            <a:pPr>
              <a:lnSpc>
                <a:spcPct val="150000"/>
              </a:lnSpc>
              <a:tabLst>
                <a:tab pos="457200" algn="l"/>
              </a:tabLst>
            </a:pPr>
            <a:endParaRPr lang="en-US" sz="850">
              <a:latin typeface="Aptos" panose="020B0004020202020204" pitchFamily="34" charset="0"/>
              <a:ea typeface="+mn-lt"/>
              <a:cs typeface="+mn-lt"/>
            </a:endParaRPr>
          </a:p>
          <a:p>
            <a:pPr lvl="0">
              <a:lnSpc>
                <a:spcPct val="150000"/>
              </a:lnSpc>
              <a:tabLst>
                <a:tab pos="457200" algn="l"/>
              </a:tabLst>
            </a:pPr>
            <a:r>
              <a:rPr lang="en-US" sz="850" b="1">
                <a:latin typeface="Aptos" panose="020B0004020202020204" pitchFamily="34" charset="0"/>
                <a:cs typeface="Arial"/>
              </a:rPr>
              <a:t>Accomplishments:</a:t>
            </a:r>
          </a:p>
          <a:p>
            <a:pPr marL="171450" lvl="0" indent="-171450">
              <a:lnSpc>
                <a:spcPct val="150000"/>
              </a:lnSpc>
              <a:buFont typeface="Arial" panose="020B0604020202020204" pitchFamily="34" charset="0"/>
              <a:buChar char="•"/>
              <a:tabLst>
                <a:tab pos="457200" algn="l"/>
              </a:tabLst>
            </a:pPr>
            <a:r>
              <a:rPr lang="en-US" sz="850">
                <a:latin typeface="Aptos" panose="020B0004020202020204" pitchFamily="34" charset="0"/>
                <a:ea typeface="Aptos" panose="020B0004020202020204" pitchFamily="34" charset="0"/>
                <a:cs typeface="Arial"/>
              </a:rPr>
              <a:t>MPPC, MPI  DDIT (Scrum Sharks)</a:t>
            </a:r>
          </a:p>
          <a:p>
            <a:pPr marL="171450" lvl="0" indent="-171450">
              <a:lnSpc>
                <a:spcPct val="150000"/>
              </a:lnSpc>
              <a:buFont typeface="Arial" panose="020B0604020202020204" pitchFamily="34" charset="0"/>
              <a:buChar char="•"/>
              <a:tabLst>
                <a:tab pos="457200" algn="l"/>
              </a:tabLst>
            </a:pPr>
            <a:r>
              <a:rPr lang="en-US" sz="850">
                <a:latin typeface="Aptos" panose="020B0004020202020204" pitchFamily="34" charset="0"/>
                <a:ea typeface="Aptos" panose="020B0004020202020204" pitchFamily="34" charset="0"/>
                <a:cs typeface="Arial"/>
              </a:rPr>
              <a:t>MPPC ETL DDIT (AT)</a:t>
            </a:r>
          </a:p>
          <a:p>
            <a:pPr>
              <a:lnSpc>
                <a:spcPct val="150000"/>
              </a:lnSpc>
              <a:tabLst>
                <a:tab pos="457200" algn="l"/>
              </a:tabLst>
            </a:pPr>
            <a:endParaRPr lang="en-US" sz="850">
              <a:latin typeface="Aptos" panose="020B0004020202020204" pitchFamily="34" charset="0"/>
              <a:ea typeface="Aptos" panose="020B0004020202020204" pitchFamily="34" charset="0"/>
              <a:cs typeface="Arial"/>
            </a:endParaRPr>
          </a:p>
          <a:p>
            <a:pPr>
              <a:lnSpc>
                <a:spcPct val="150000"/>
              </a:lnSpc>
              <a:tabLst>
                <a:tab pos="457200" algn="l"/>
              </a:tabLst>
            </a:pPr>
            <a:r>
              <a:rPr lang="en-US" sz="850" b="1">
                <a:latin typeface="Aptos" panose="020B0004020202020204" pitchFamily="34" charset="0"/>
                <a:ea typeface="Aptos" panose="020B0004020202020204" pitchFamily="34" charset="0"/>
                <a:cs typeface="Arial"/>
              </a:rPr>
              <a:t>Next Steps:</a:t>
            </a:r>
          </a:p>
          <a:p>
            <a:pPr marL="171450" indent="-171450">
              <a:lnSpc>
                <a:spcPct val="150000"/>
              </a:lnSpc>
              <a:buFont typeface="Arial" panose="020B0604020202020204" pitchFamily="34" charset="0"/>
              <a:buChar char="•"/>
              <a:tabLst>
                <a:tab pos="457200" algn="l"/>
              </a:tabLst>
            </a:pPr>
            <a:r>
              <a:rPr lang="en-US" sz="850">
                <a:latin typeface="Aptos" panose="020B0004020202020204" pitchFamily="34" charset="0"/>
                <a:ea typeface="Aptos" panose="020B0004020202020204" pitchFamily="34" charset="0"/>
                <a:cs typeface="Arial"/>
              </a:rPr>
              <a:t>MPPC, MPI DDIT  (Scrum Sharks)</a:t>
            </a:r>
          </a:p>
          <a:p>
            <a:pPr marL="171450" indent="-171450">
              <a:lnSpc>
                <a:spcPct val="150000"/>
              </a:lnSpc>
              <a:buFont typeface="Arial" panose="020B0604020202020204" pitchFamily="34" charset="0"/>
              <a:buChar char="•"/>
              <a:tabLst>
                <a:tab pos="457200" algn="l"/>
              </a:tabLst>
            </a:pPr>
            <a:r>
              <a:rPr lang="en-US" sz="850">
                <a:latin typeface="Aptos" panose="020B0004020202020204" pitchFamily="34" charset="0"/>
                <a:ea typeface="Aptos" panose="020B0004020202020204" pitchFamily="34" charset="0"/>
                <a:cs typeface="Arial"/>
              </a:rPr>
              <a:t>ETL DDIT MPPC (AT)</a:t>
            </a:r>
          </a:p>
          <a:p>
            <a:pPr>
              <a:lnSpc>
                <a:spcPct val="150000"/>
              </a:lnSpc>
              <a:tabLst>
                <a:tab pos="457200" algn="l"/>
              </a:tabLst>
            </a:pPr>
            <a:endParaRPr lang="en-US" sz="850">
              <a:latin typeface="Aptos" panose="020B0004020202020204" pitchFamily="34" charset="0"/>
              <a:ea typeface="+mn-lt"/>
              <a:cs typeface="+mn-lt"/>
            </a:endParaRPr>
          </a:p>
          <a:p>
            <a:pPr>
              <a:lnSpc>
                <a:spcPct val="150000"/>
              </a:lnSpc>
              <a:tabLst>
                <a:tab pos="457200" algn="l"/>
              </a:tabLst>
            </a:pPr>
            <a:endParaRPr lang="en-US" sz="900" b="1">
              <a:ea typeface="+mn-lt"/>
              <a:cs typeface="+mn-lt"/>
            </a:endParaRPr>
          </a:p>
        </p:txBody>
      </p:sp>
      <p:sp>
        <p:nvSpPr>
          <p:cNvPr id="18" name="TextBox 17">
            <a:extLst>
              <a:ext uri="{FF2B5EF4-FFF2-40B4-BE49-F238E27FC236}">
                <a16:creationId xmlns:a16="http://schemas.microsoft.com/office/drawing/2014/main" id="{052C4B62-6DBF-428C-45A0-2247C0360F70}"/>
              </a:ext>
            </a:extLst>
          </p:cNvPr>
          <p:cNvSpPr txBox="1"/>
          <p:nvPr/>
        </p:nvSpPr>
        <p:spPr>
          <a:xfrm>
            <a:off x="9471000" y="122086"/>
            <a:ext cx="4210510" cy="496931"/>
          </a:xfrm>
          <a:prstGeom prst="rect">
            <a:avLst/>
          </a:prstGeom>
          <a:noFill/>
        </p:spPr>
        <p:txBody>
          <a:bodyPr wrap="square" lIns="91440" tIns="45720" rIns="91440" bIns="45720" rtlCol="0" anchor="t">
            <a:spAutoFit/>
          </a:bodyPr>
          <a:lstStyle/>
          <a:p>
            <a:pPr>
              <a:lnSpc>
                <a:spcPct val="112000"/>
              </a:lnSpc>
            </a:pPr>
            <a:r>
              <a:rPr lang="en-US" sz="1200">
                <a:latin typeface="Aptos"/>
              </a:rPr>
              <a:t>Project Manager :  Kinney Barbour</a:t>
            </a:r>
            <a:endParaRPr lang="en-US">
              <a:latin typeface="Aptos"/>
            </a:endParaRPr>
          </a:p>
          <a:p>
            <a:pPr>
              <a:lnSpc>
                <a:spcPct val="112000"/>
              </a:lnSpc>
            </a:pPr>
            <a:r>
              <a:rPr lang="en-US" sz="1200" err="1">
                <a:latin typeface="Aptos"/>
              </a:rPr>
              <a:t>OpEx</a:t>
            </a:r>
            <a:r>
              <a:rPr lang="en-US" sz="1200">
                <a:latin typeface="Aptos"/>
              </a:rPr>
              <a:t> Business : Alex Suarez</a:t>
            </a:r>
          </a:p>
        </p:txBody>
      </p:sp>
      <p:sp>
        <p:nvSpPr>
          <p:cNvPr id="7" name="Flowchart: Connector 6">
            <a:extLst>
              <a:ext uri="{FF2B5EF4-FFF2-40B4-BE49-F238E27FC236}">
                <a16:creationId xmlns:a16="http://schemas.microsoft.com/office/drawing/2014/main" id="{556675C2-CF11-C81E-3552-E8FDFB3541BE}"/>
              </a:ext>
            </a:extLst>
          </p:cNvPr>
          <p:cNvSpPr/>
          <p:nvPr/>
        </p:nvSpPr>
        <p:spPr>
          <a:xfrm>
            <a:off x="4291485" y="1418804"/>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lowchart: Connector 9">
            <a:extLst>
              <a:ext uri="{FF2B5EF4-FFF2-40B4-BE49-F238E27FC236}">
                <a16:creationId xmlns:a16="http://schemas.microsoft.com/office/drawing/2014/main" id="{C87B1842-3324-220F-09F0-42C3C040C015}"/>
              </a:ext>
            </a:extLst>
          </p:cNvPr>
          <p:cNvSpPr/>
          <p:nvPr/>
        </p:nvSpPr>
        <p:spPr>
          <a:xfrm>
            <a:off x="6096000" y="1415063"/>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lowchart: Connector 11">
            <a:extLst>
              <a:ext uri="{FF2B5EF4-FFF2-40B4-BE49-F238E27FC236}">
                <a16:creationId xmlns:a16="http://schemas.microsoft.com/office/drawing/2014/main" id="{6A8EC1E4-C244-AA32-7D35-EE27DAD8AAC0}"/>
              </a:ext>
            </a:extLst>
          </p:cNvPr>
          <p:cNvSpPr/>
          <p:nvPr/>
        </p:nvSpPr>
        <p:spPr>
          <a:xfrm>
            <a:off x="3277814" y="1420202"/>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lowchart: Connector 12">
            <a:extLst>
              <a:ext uri="{FF2B5EF4-FFF2-40B4-BE49-F238E27FC236}">
                <a16:creationId xmlns:a16="http://schemas.microsoft.com/office/drawing/2014/main" id="{4A6520D7-0FFA-DAB6-84AB-CA69F6F2D7AC}"/>
              </a:ext>
            </a:extLst>
          </p:cNvPr>
          <p:cNvSpPr/>
          <p:nvPr/>
        </p:nvSpPr>
        <p:spPr>
          <a:xfrm>
            <a:off x="5182117" y="1411813"/>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lowchart: Connector 7">
            <a:extLst>
              <a:ext uri="{FF2B5EF4-FFF2-40B4-BE49-F238E27FC236}">
                <a16:creationId xmlns:a16="http://schemas.microsoft.com/office/drawing/2014/main" id="{890435F0-1160-0F99-C646-32D9D048021D}"/>
              </a:ext>
            </a:extLst>
          </p:cNvPr>
          <p:cNvSpPr/>
          <p:nvPr/>
        </p:nvSpPr>
        <p:spPr>
          <a:xfrm>
            <a:off x="8113080" y="2957732"/>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lowchart: Connector 3">
            <a:extLst>
              <a:ext uri="{FF2B5EF4-FFF2-40B4-BE49-F238E27FC236}">
                <a16:creationId xmlns:a16="http://schemas.microsoft.com/office/drawing/2014/main" id="{993AED9A-4D83-CC4A-3094-99E33678723C}"/>
              </a:ext>
            </a:extLst>
          </p:cNvPr>
          <p:cNvSpPr/>
          <p:nvPr/>
        </p:nvSpPr>
        <p:spPr>
          <a:xfrm>
            <a:off x="8114409" y="3285056"/>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5143648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1AFF82-0EF9-6143-C97F-EEAD1BBAADCC}"/>
            </a:ext>
          </a:extLst>
        </p:cNvPr>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30F5468D-CCD2-7D54-C51C-9DC727BCE987}"/>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8" imgH="408" progId="TCLayout.ActiveDocument.1">
                  <p:embed/>
                </p:oleObj>
              </mc:Choice>
              <mc:Fallback>
                <p:oleObj name="think-cell Slide" r:id="rId4" imgW="408" imgH="408" progId="TCLayout.ActiveDocument.1">
                  <p:embed/>
                  <p:pic>
                    <p:nvPicPr>
                      <p:cNvPr id="9" name="think-cell data - do not delete" hidden="1">
                        <a:extLst>
                          <a:ext uri="{FF2B5EF4-FFF2-40B4-BE49-F238E27FC236}">
                            <a16:creationId xmlns:a16="http://schemas.microsoft.com/office/drawing/2014/main" id="{30F5468D-CCD2-7D54-C51C-9DC727BCE98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graphicFrame>
        <p:nvGraphicFramePr>
          <p:cNvPr id="32" name="Group 614">
            <a:extLst>
              <a:ext uri="{FF2B5EF4-FFF2-40B4-BE49-F238E27FC236}">
                <a16:creationId xmlns:a16="http://schemas.microsoft.com/office/drawing/2014/main" id="{120FFE11-E5E1-74A8-30B4-1B9DCE592CE8}"/>
              </a:ext>
            </a:extLst>
          </p:cNvPr>
          <p:cNvGraphicFramePr>
            <a:graphicFrameLocks noGrp="1"/>
          </p:cNvGraphicFramePr>
          <p:nvPr/>
        </p:nvGraphicFramePr>
        <p:xfrm>
          <a:off x="5583499" y="6195328"/>
          <a:ext cx="6491452" cy="386554"/>
        </p:xfrm>
        <a:graphic>
          <a:graphicData uri="http://schemas.openxmlformats.org/drawingml/2006/table">
            <a:tbl>
              <a:tblPr/>
              <a:tblGrid>
                <a:gridCol w="551585">
                  <a:extLst>
                    <a:ext uri="{9D8B030D-6E8A-4147-A177-3AD203B41FA5}">
                      <a16:colId xmlns:a16="http://schemas.microsoft.com/office/drawing/2014/main" val="20000"/>
                    </a:ext>
                  </a:extLst>
                </a:gridCol>
                <a:gridCol w="279566">
                  <a:extLst>
                    <a:ext uri="{9D8B030D-6E8A-4147-A177-3AD203B41FA5}">
                      <a16:colId xmlns:a16="http://schemas.microsoft.com/office/drawing/2014/main" val="20001"/>
                    </a:ext>
                  </a:extLst>
                </a:gridCol>
                <a:gridCol w="689073">
                  <a:extLst>
                    <a:ext uri="{9D8B030D-6E8A-4147-A177-3AD203B41FA5}">
                      <a16:colId xmlns:a16="http://schemas.microsoft.com/office/drawing/2014/main" val="20002"/>
                    </a:ext>
                  </a:extLst>
                </a:gridCol>
                <a:gridCol w="275428">
                  <a:extLst>
                    <a:ext uri="{9D8B030D-6E8A-4147-A177-3AD203B41FA5}">
                      <a16:colId xmlns:a16="http://schemas.microsoft.com/office/drawing/2014/main" val="20003"/>
                    </a:ext>
                  </a:extLst>
                </a:gridCol>
                <a:gridCol w="605150">
                  <a:extLst>
                    <a:ext uri="{9D8B030D-6E8A-4147-A177-3AD203B41FA5}">
                      <a16:colId xmlns:a16="http://schemas.microsoft.com/office/drawing/2014/main" val="20004"/>
                    </a:ext>
                  </a:extLst>
                </a:gridCol>
                <a:gridCol w="471179">
                  <a:extLst>
                    <a:ext uri="{9D8B030D-6E8A-4147-A177-3AD203B41FA5}">
                      <a16:colId xmlns:a16="http://schemas.microsoft.com/office/drawing/2014/main" val="20005"/>
                    </a:ext>
                  </a:extLst>
                </a:gridCol>
                <a:gridCol w="517061">
                  <a:extLst>
                    <a:ext uri="{9D8B030D-6E8A-4147-A177-3AD203B41FA5}">
                      <a16:colId xmlns:a16="http://schemas.microsoft.com/office/drawing/2014/main" val="20006"/>
                    </a:ext>
                  </a:extLst>
                </a:gridCol>
                <a:gridCol w="335614">
                  <a:extLst>
                    <a:ext uri="{9D8B030D-6E8A-4147-A177-3AD203B41FA5}">
                      <a16:colId xmlns:a16="http://schemas.microsoft.com/office/drawing/2014/main" val="20007"/>
                    </a:ext>
                  </a:extLst>
                </a:gridCol>
                <a:gridCol w="1247930">
                  <a:extLst>
                    <a:ext uri="{9D8B030D-6E8A-4147-A177-3AD203B41FA5}">
                      <a16:colId xmlns:a16="http://schemas.microsoft.com/office/drawing/2014/main" val="20008"/>
                    </a:ext>
                  </a:extLst>
                </a:gridCol>
                <a:gridCol w="344009">
                  <a:extLst>
                    <a:ext uri="{9D8B030D-6E8A-4147-A177-3AD203B41FA5}">
                      <a16:colId xmlns:a16="http://schemas.microsoft.com/office/drawing/2014/main" val="20009"/>
                    </a:ext>
                  </a:extLst>
                </a:gridCol>
                <a:gridCol w="1174857">
                  <a:extLst>
                    <a:ext uri="{9D8B030D-6E8A-4147-A177-3AD203B41FA5}">
                      <a16:colId xmlns:a16="http://schemas.microsoft.com/office/drawing/2014/main" val="20010"/>
                    </a:ext>
                  </a:extLst>
                </a:gridCol>
              </a:tblGrid>
              <a:tr h="386554">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Arial" charset="0"/>
                          <a:cs typeface="Arial" charset="0"/>
                        </a:rPr>
                        <a:t>Status Key</a:t>
                      </a:r>
                      <a:endParaRPr kumimoji="0" lang="en-GB" sz="1600" b="0" i="0" u="none" strike="noStrike" cap="none" normalizeH="0" baseline="0">
                        <a:ln>
                          <a:noFill/>
                        </a:ln>
                        <a:solidFill>
                          <a:srgbClr val="002060"/>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mj-lt"/>
                        </a:rPr>
                        <a:t>C</a:t>
                      </a: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Arial" charset="0"/>
                          <a:cs typeface="Arial" charset="0"/>
                        </a:rPr>
                        <a:t>Completed</a:t>
                      </a:r>
                      <a:endParaRPr kumimoji="0" lang="en-GB" sz="1600" b="0" i="0" u="none" strike="noStrike" cap="none" normalizeH="0" baseline="0">
                        <a:ln>
                          <a:noFill/>
                        </a:ln>
                        <a:solidFill>
                          <a:srgbClr val="002060"/>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On-Schedule</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Major Issues</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Some Issues</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NS</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Not Started</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2" name="Title 1">
            <a:extLst>
              <a:ext uri="{FF2B5EF4-FFF2-40B4-BE49-F238E27FC236}">
                <a16:creationId xmlns:a16="http://schemas.microsoft.com/office/drawing/2014/main" id="{1ABE5BD6-4C14-C93E-586B-6DB89C2FDFE9}"/>
              </a:ext>
            </a:extLst>
          </p:cNvPr>
          <p:cNvSpPr>
            <a:spLocks noGrp="1"/>
          </p:cNvSpPr>
          <p:nvPr>
            <p:ph type="title"/>
          </p:nvPr>
        </p:nvSpPr>
        <p:spPr>
          <a:xfrm>
            <a:off x="290868" y="186479"/>
            <a:ext cx="6937246" cy="517320"/>
          </a:xfrm>
        </p:spPr>
        <p:txBody>
          <a:bodyPr vert="horz">
            <a:noAutofit/>
          </a:bodyPr>
          <a:lstStyle/>
          <a:p>
            <a:r>
              <a:rPr lang="fr-FR" sz="2400" b="1">
                <a:solidFill>
                  <a:srgbClr val="29389F"/>
                </a:solidFill>
                <a:latin typeface="Arial" pitchFamily="34" charset="0"/>
                <a:cs typeface="Arial" pitchFamily="34" charset="0"/>
              </a:rPr>
              <a:t>MPI Pricing Segmentation Sophistication</a:t>
            </a:r>
          </a:p>
        </p:txBody>
      </p:sp>
      <p:graphicFrame>
        <p:nvGraphicFramePr>
          <p:cNvPr id="11" name="Group 513">
            <a:extLst>
              <a:ext uri="{FF2B5EF4-FFF2-40B4-BE49-F238E27FC236}">
                <a16:creationId xmlns:a16="http://schemas.microsoft.com/office/drawing/2014/main" id="{BFC921B7-8473-F0B2-DE79-1DD183682645}"/>
              </a:ext>
            </a:extLst>
          </p:cNvPr>
          <p:cNvGraphicFramePr>
            <a:graphicFrameLocks noGrp="1"/>
          </p:cNvGraphicFramePr>
          <p:nvPr>
            <p:extLst>
              <p:ext uri="{D42A27DB-BD31-4B8C-83A1-F6EECF244321}">
                <p14:modId xmlns:p14="http://schemas.microsoft.com/office/powerpoint/2010/main" val="715916822"/>
              </p:ext>
            </p:extLst>
          </p:nvPr>
        </p:nvGraphicFramePr>
        <p:xfrm>
          <a:off x="234455" y="927650"/>
          <a:ext cx="2638218" cy="344301"/>
        </p:xfrm>
        <a:graphic>
          <a:graphicData uri="http://schemas.openxmlformats.org/drawingml/2006/table">
            <a:tbl>
              <a:tblPr/>
              <a:tblGrid>
                <a:gridCol w="990046">
                  <a:extLst>
                    <a:ext uri="{9D8B030D-6E8A-4147-A177-3AD203B41FA5}">
                      <a16:colId xmlns:a16="http://schemas.microsoft.com/office/drawing/2014/main" val="20000"/>
                    </a:ext>
                  </a:extLst>
                </a:gridCol>
                <a:gridCol w="1648172">
                  <a:extLst>
                    <a:ext uri="{9D8B030D-6E8A-4147-A177-3AD203B41FA5}">
                      <a16:colId xmlns:a16="http://schemas.microsoft.com/office/drawing/2014/main" val="20001"/>
                    </a:ext>
                  </a:extLst>
                </a:gridCol>
              </a:tblGrid>
              <a:tr h="344301">
                <a:tc>
                  <a:txBody>
                    <a:bodyPr/>
                    <a:lstStyle/>
                    <a:p>
                      <a:pPr marL="0" marR="0" lvl="0" indent="0" algn="l" defTabSz="914400" rtl="0" eaLnBrk="0" fontAlgn="base" latinLnBrk="0" hangingPunct="0">
                        <a:lnSpc>
                          <a:spcPct val="95000"/>
                        </a:lnSpc>
                        <a:spcBef>
                          <a:spcPct val="0"/>
                        </a:spcBef>
                        <a:spcAft>
                          <a:spcPct val="50000"/>
                        </a:spcAft>
                        <a:buClrTx/>
                        <a:buSzTx/>
                        <a:buFontTx/>
                        <a:buNone/>
                        <a:tabLst/>
                      </a:pPr>
                      <a:r>
                        <a:rPr kumimoji="0" lang="en-GB" sz="1050" b="1" i="0" u="none" strike="noStrike" kern="1200" cap="none" normalizeH="0" baseline="0">
                          <a:ln>
                            <a:noFill/>
                          </a:ln>
                          <a:solidFill>
                            <a:schemeClr val="bg1"/>
                          </a:solidFill>
                          <a:effectLst/>
                          <a:latin typeface="Arial"/>
                          <a:ea typeface="+mn-ea"/>
                          <a:cs typeface="+mn-cs"/>
                        </a:rPr>
                        <a:t>Status Date:</a:t>
                      </a:r>
                    </a:p>
                  </a:txBody>
                  <a:tcPr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GB" sz="850" b="1" i="0" u="none" strike="noStrike" kern="1200" cap="none" normalizeH="0" baseline="0">
                          <a:ln>
                            <a:noFill/>
                          </a:ln>
                          <a:solidFill>
                            <a:schemeClr val="tx1"/>
                          </a:solidFill>
                          <a:effectLst/>
                          <a:latin typeface="Aptos" panose="020B0004020202020204" pitchFamily="34" charset="0"/>
                          <a:ea typeface="+mn-ea"/>
                          <a:cs typeface="+mn-cs"/>
                        </a:rPr>
                        <a:t>08/28/2026</a:t>
                      </a:r>
                    </a:p>
                  </a:txBody>
                  <a:tcPr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14" name="Table 13">
            <a:extLst>
              <a:ext uri="{FF2B5EF4-FFF2-40B4-BE49-F238E27FC236}">
                <a16:creationId xmlns:a16="http://schemas.microsoft.com/office/drawing/2014/main" id="{73CC002A-2DFC-C8F3-6C81-9574B1340A99}"/>
              </a:ext>
            </a:extLst>
          </p:cNvPr>
          <p:cNvGraphicFramePr>
            <a:graphicFrameLocks noGrp="1"/>
          </p:cNvGraphicFramePr>
          <p:nvPr>
            <p:extLst>
              <p:ext uri="{D42A27DB-BD31-4B8C-83A1-F6EECF244321}">
                <p14:modId xmlns:p14="http://schemas.microsoft.com/office/powerpoint/2010/main" val="657403160"/>
              </p:ext>
            </p:extLst>
          </p:nvPr>
        </p:nvGraphicFramePr>
        <p:xfrm>
          <a:off x="6640300" y="920667"/>
          <a:ext cx="5352360" cy="749848"/>
        </p:xfrm>
        <a:graphic>
          <a:graphicData uri="http://schemas.openxmlformats.org/drawingml/2006/table">
            <a:tbl>
              <a:tblPr>
                <a:tableStyleId>{5C22544A-7EE6-4342-B048-85BDC9FD1C3A}</a:tableStyleId>
              </a:tblPr>
              <a:tblGrid>
                <a:gridCol w="1045337">
                  <a:extLst>
                    <a:ext uri="{9D8B030D-6E8A-4147-A177-3AD203B41FA5}">
                      <a16:colId xmlns:a16="http://schemas.microsoft.com/office/drawing/2014/main" val="2456552316"/>
                    </a:ext>
                  </a:extLst>
                </a:gridCol>
                <a:gridCol w="926511">
                  <a:extLst>
                    <a:ext uri="{9D8B030D-6E8A-4147-A177-3AD203B41FA5}">
                      <a16:colId xmlns:a16="http://schemas.microsoft.com/office/drawing/2014/main" val="2327174630"/>
                    </a:ext>
                  </a:extLst>
                </a:gridCol>
                <a:gridCol w="1514970">
                  <a:extLst>
                    <a:ext uri="{9D8B030D-6E8A-4147-A177-3AD203B41FA5}">
                      <a16:colId xmlns:a16="http://schemas.microsoft.com/office/drawing/2014/main" val="1100051595"/>
                    </a:ext>
                  </a:extLst>
                </a:gridCol>
                <a:gridCol w="913991">
                  <a:extLst>
                    <a:ext uri="{9D8B030D-6E8A-4147-A177-3AD203B41FA5}">
                      <a16:colId xmlns:a16="http://schemas.microsoft.com/office/drawing/2014/main" val="2042261034"/>
                    </a:ext>
                  </a:extLst>
                </a:gridCol>
                <a:gridCol w="951551">
                  <a:extLst>
                    <a:ext uri="{9D8B030D-6E8A-4147-A177-3AD203B41FA5}">
                      <a16:colId xmlns:a16="http://schemas.microsoft.com/office/drawing/2014/main" val="2815874248"/>
                    </a:ext>
                  </a:extLst>
                </a:gridCol>
              </a:tblGrid>
              <a:tr h="366567">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2026 Budget</a:t>
                      </a:r>
                      <a:r>
                        <a:rPr lang="en-US" sz="1050" b="1" i="0" u="none" strike="noStrike" kern="1200" cap="none" normalizeH="0" baseline="0">
                          <a:ln>
                            <a:noFill/>
                          </a:ln>
                          <a:solidFill>
                            <a:schemeClr val="bg1"/>
                          </a:solidFill>
                          <a:effectLst/>
                          <a:latin typeface="Arial"/>
                          <a:ea typeface="+mn-ea"/>
                          <a:cs typeface="+mn-cs"/>
                        </a:rPr>
                        <a:t> </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YTD Actuals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Remaining 2026 Forecast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Current YE Forecast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Total Budget</a:t>
                      </a:r>
                      <a:r>
                        <a:rPr lang="en-US" sz="1050" b="1" i="0" u="none" strike="noStrike" kern="1200" cap="none" normalizeH="0" baseline="0">
                          <a:ln>
                            <a:noFill/>
                          </a:ln>
                          <a:solidFill>
                            <a:schemeClr val="bg1"/>
                          </a:solidFill>
                          <a:effectLst/>
                          <a:latin typeface="Arial"/>
                          <a:ea typeface="+mn-ea"/>
                          <a:cs typeface="+mn-cs"/>
                        </a:rPr>
                        <a:t> </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383281">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$200,000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144,918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47,489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192,403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200,000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7499024"/>
                  </a:ext>
                </a:extLst>
              </a:tr>
            </a:tbl>
          </a:graphicData>
        </a:graphic>
      </p:graphicFrame>
      <p:graphicFrame>
        <p:nvGraphicFramePr>
          <p:cNvPr id="25" name="Table 24">
            <a:extLst>
              <a:ext uri="{FF2B5EF4-FFF2-40B4-BE49-F238E27FC236}">
                <a16:creationId xmlns:a16="http://schemas.microsoft.com/office/drawing/2014/main" id="{B6E895CC-BDB5-A791-481B-35F9B3910FB0}"/>
              </a:ext>
            </a:extLst>
          </p:cNvPr>
          <p:cNvGraphicFramePr>
            <a:graphicFrameLocks noGrp="1"/>
          </p:cNvGraphicFramePr>
          <p:nvPr>
            <p:extLst>
              <p:ext uri="{D42A27DB-BD31-4B8C-83A1-F6EECF244321}">
                <p14:modId xmlns:p14="http://schemas.microsoft.com/office/powerpoint/2010/main" val="1514511066"/>
              </p:ext>
            </p:extLst>
          </p:nvPr>
        </p:nvGraphicFramePr>
        <p:xfrm>
          <a:off x="2811025" y="920667"/>
          <a:ext cx="3829275" cy="749848"/>
        </p:xfrm>
        <a:graphic>
          <a:graphicData uri="http://schemas.openxmlformats.org/drawingml/2006/table">
            <a:tbl>
              <a:tblPr>
                <a:tableStyleId>{5C22544A-7EE6-4342-B048-85BDC9FD1C3A}</a:tableStyleId>
              </a:tblPr>
              <a:tblGrid>
                <a:gridCol w="1042158">
                  <a:extLst>
                    <a:ext uri="{9D8B030D-6E8A-4147-A177-3AD203B41FA5}">
                      <a16:colId xmlns:a16="http://schemas.microsoft.com/office/drawing/2014/main" val="2456552316"/>
                    </a:ext>
                  </a:extLst>
                </a:gridCol>
                <a:gridCol w="961214">
                  <a:extLst>
                    <a:ext uri="{9D8B030D-6E8A-4147-A177-3AD203B41FA5}">
                      <a16:colId xmlns:a16="http://schemas.microsoft.com/office/drawing/2014/main" val="1100051595"/>
                    </a:ext>
                  </a:extLst>
                </a:gridCol>
                <a:gridCol w="920742">
                  <a:extLst>
                    <a:ext uri="{9D8B030D-6E8A-4147-A177-3AD203B41FA5}">
                      <a16:colId xmlns:a16="http://schemas.microsoft.com/office/drawing/2014/main" val="2042261034"/>
                    </a:ext>
                  </a:extLst>
                </a:gridCol>
                <a:gridCol w="905161">
                  <a:extLst>
                    <a:ext uri="{9D8B030D-6E8A-4147-A177-3AD203B41FA5}">
                      <a16:colId xmlns:a16="http://schemas.microsoft.com/office/drawing/2014/main" val="2815874248"/>
                    </a:ext>
                  </a:extLst>
                </a:gridCol>
              </a:tblGrid>
              <a:tr h="409508">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Overall</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Scope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Schedule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Financials</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340340">
                <a:tc>
                  <a:txBody>
                    <a:bodyPr/>
                    <a:lstStyle/>
                    <a:p>
                      <a:pPr marL="0" marR="0" lvl="0" indent="0" algn="ctr" rtl="0" eaLnBrk="1" fontAlgn="ctr" latinLnBrk="0" hangingPunct="1">
                        <a:lnSpc>
                          <a:spcPct val="95000"/>
                        </a:lnSpc>
                        <a:spcBef>
                          <a:spcPct val="0"/>
                        </a:spcBef>
                        <a:spcAft>
                          <a:spcPct val="50000"/>
                        </a:spcAft>
                        <a:buClrTx/>
                        <a:buSzTx/>
                        <a:buFontTx/>
                        <a:buNone/>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rtl="0" eaLnBrk="1" fontAlgn="ctr" latinLnBrk="0" hangingPunct="1">
                        <a:lnSpc>
                          <a:spcPct val="95000"/>
                        </a:lnSpc>
                        <a:spcBef>
                          <a:spcPct val="0"/>
                        </a:spcBef>
                        <a:spcAft>
                          <a:spcPct val="50000"/>
                        </a:spcAft>
                        <a:buClrTx/>
                        <a:buSzTx/>
                        <a:buFontTx/>
                        <a:buNone/>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7499024"/>
                  </a:ext>
                </a:extLst>
              </a:tr>
            </a:tbl>
          </a:graphicData>
        </a:graphic>
      </p:graphicFrame>
      <p:graphicFrame>
        <p:nvGraphicFramePr>
          <p:cNvPr id="26" name="Group 513">
            <a:extLst>
              <a:ext uri="{FF2B5EF4-FFF2-40B4-BE49-F238E27FC236}">
                <a16:creationId xmlns:a16="http://schemas.microsoft.com/office/drawing/2014/main" id="{F652D2C5-410F-BAFF-DE54-F0ED0E9CD5D4}"/>
              </a:ext>
            </a:extLst>
          </p:cNvPr>
          <p:cNvGraphicFramePr>
            <a:graphicFrameLocks noGrp="1"/>
          </p:cNvGraphicFramePr>
          <p:nvPr>
            <p:extLst>
              <p:ext uri="{D42A27DB-BD31-4B8C-83A1-F6EECF244321}">
                <p14:modId xmlns:p14="http://schemas.microsoft.com/office/powerpoint/2010/main" val="2672302554"/>
              </p:ext>
            </p:extLst>
          </p:nvPr>
        </p:nvGraphicFramePr>
        <p:xfrm>
          <a:off x="231953" y="1271951"/>
          <a:ext cx="2581575" cy="402546"/>
        </p:xfrm>
        <a:graphic>
          <a:graphicData uri="http://schemas.openxmlformats.org/drawingml/2006/table">
            <a:tbl>
              <a:tblPr/>
              <a:tblGrid>
                <a:gridCol w="998602">
                  <a:extLst>
                    <a:ext uri="{9D8B030D-6E8A-4147-A177-3AD203B41FA5}">
                      <a16:colId xmlns:a16="http://schemas.microsoft.com/office/drawing/2014/main" val="20000"/>
                    </a:ext>
                  </a:extLst>
                </a:gridCol>
                <a:gridCol w="1582973">
                  <a:extLst>
                    <a:ext uri="{9D8B030D-6E8A-4147-A177-3AD203B41FA5}">
                      <a16:colId xmlns:a16="http://schemas.microsoft.com/office/drawing/2014/main" val="20001"/>
                    </a:ext>
                  </a:extLst>
                </a:gridCol>
              </a:tblGrid>
              <a:tr h="344301">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GB" sz="1050" b="1" i="0" u="none" strike="noStrike" kern="1200" cap="none" normalizeH="0" baseline="0">
                          <a:ln>
                            <a:noFill/>
                          </a:ln>
                          <a:solidFill>
                            <a:schemeClr val="bg1"/>
                          </a:solidFill>
                          <a:effectLst/>
                          <a:latin typeface="Arial"/>
                          <a:ea typeface="+mn-ea"/>
                          <a:cs typeface="+mn-cs"/>
                        </a:rPr>
                        <a:t>Target Delivery:</a:t>
                      </a:r>
                    </a:p>
                  </a:txBody>
                  <a:tcPr marL="0" marR="0"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9/16/26</a:t>
                      </a:r>
                    </a:p>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10/14/26</a:t>
                      </a:r>
                    </a:p>
                  </a:txBody>
                  <a:tcPr marL="0" marR="0"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27" name="Table 26">
            <a:extLst>
              <a:ext uri="{FF2B5EF4-FFF2-40B4-BE49-F238E27FC236}">
                <a16:creationId xmlns:a16="http://schemas.microsoft.com/office/drawing/2014/main" id="{BA723C90-E347-BE4F-2081-3B1F7E848FD7}"/>
              </a:ext>
            </a:extLst>
          </p:cNvPr>
          <p:cNvGraphicFramePr>
            <a:graphicFrameLocks noGrp="1"/>
          </p:cNvGraphicFramePr>
          <p:nvPr>
            <p:extLst>
              <p:ext uri="{D42A27DB-BD31-4B8C-83A1-F6EECF244321}">
                <p14:modId xmlns:p14="http://schemas.microsoft.com/office/powerpoint/2010/main" val="2006943826"/>
              </p:ext>
            </p:extLst>
          </p:nvPr>
        </p:nvGraphicFramePr>
        <p:xfrm>
          <a:off x="5561918" y="1810328"/>
          <a:ext cx="6484606" cy="2931602"/>
        </p:xfrm>
        <a:graphic>
          <a:graphicData uri="http://schemas.openxmlformats.org/drawingml/2006/table">
            <a:tbl>
              <a:tblPr>
                <a:tableStyleId>{5C22544A-7EE6-4342-B048-85BDC9FD1C3A}</a:tableStyleId>
              </a:tblPr>
              <a:tblGrid>
                <a:gridCol w="2373495">
                  <a:extLst>
                    <a:ext uri="{9D8B030D-6E8A-4147-A177-3AD203B41FA5}">
                      <a16:colId xmlns:a16="http://schemas.microsoft.com/office/drawing/2014/main" val="2456552316"/>
                    </a:ext>
                  </a:extLst>
                </a:gridCol>
                <a:gridCol w="491195">
                  <a:extLst>
                    <a:ext uri="{9D8B030D-6E8A-4147-A177-3AD203B41FA5}">
                      <a16:colId xmlns:a16="http://schemas.microsoft.com/office/drawing/2014/main" val="1100051595"/>
                    </a:ext>
                  </a:extLst>
                </a:gridCol>
                <a:gridCol w="569320">
                  <a:extLst>
                    <a:ext uri="{9D8B030D-6E8A-4147-A177-3AD203B41FA5}">
                      <a16:colId xmlns:a16="http://schemas.microsoft.com/office/drawing/2014/main" val="2042261034"/>
                    </a:ext>
                  </a:extLst>
                </a:gridCol>
                <a:gridCol w="3050596">
                  <a:extLst>
                    <a:ext uri="{9D8B030D-6E8A-4147-A177-3AD203B41FA5}">
                      <a16:colId xmlns:a16="http://schemas.microsoft.com/office/drawing/2014/main" val="2815874248"/>
                    </a:ext>
                  </a:extLst>
                </a:gridCol>
              </a:tblGrid>
              <a:tr h="502269">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Milestone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Status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Due Date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Notes</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268124">
                <a:tc>
                  <a:txBody>
                    <a:bodyPr/>
                    <a:lstStyle/>
                    <a:p>
                      <a:r>
                        <a:rPr lang="en-US" sz="850">
                          <a:latin typeface="Aptos" panose="020B0004020202020204" pitchFamily="34" charset="0"/>
                        </a:rPr>
                        <a:t>     Dev Completion (R9)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850">
                          <a:latin typeface="Aptos" panose="020B0004020202020204" pitchFamily="34" charset="0"/>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850">
                          <a:latin typeface="Aptos" panose="020B0004020202020204" pitchFamily="34" charset="0"/>
                        </a:rPr>
                        <a:t>8/5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rtl="0" eaLnBrk="1" fontAlgn="ctr" latinLnBrk="0" hangingPunct="1">
                        <a:lnSpc>
                          <a:spcPct val="95000"/>
                        </a:lnSpc>
                        <a:spcBef>
                          <a:spcPct val="0"/>
                        </a:spcBef>
                        <a:spcAft>
                          <a:spcPct val="50000"/>
                        </a:spcAft>
                        <a:buClrTx/>
                        <a:buSzTx/>
                        <a:buFontTx/>
                        <a:buNone/>
                      </a:pPr>
                      <a:endParaRPr lang="en-US" sz="850" b="0" kern="1200">
                        <a:solidFill>
                          <a:schemeClr val="tx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693983725"/>
                  </a:ext>
                </a:extLst>
              </a:tr>
              <a:tr h="241992">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50" kern="1200">
                          <a:solidFill>
                            <a:schemeClr val="dk1"/>
                          </a:solidFill>
                          <a:latin typeface="Aptos" panose="020B0004020202020204" pitchFamily="34" charset="0"/>
                          <a:ea typeface="+mn-ea"/>
                          <a:cs typeface="+mn-cs"/>
                        </a:rPr>
                        <a:t>Stage Validation (R8)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850">
                          <a:latin typeface="Aptos" panose="020B0004020202020204" pitchFamily="34" charset="0"/>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850">
                          <a:latin typeface="Aptos" panose="020B0004020202020204" pitchFamily="34" charset="0"/>
                        </a:rPr>
                        <a:t>8/11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rtl="0" eaLnBrk="1" fontAlgn="ctr" latinLnBrk="0" hangingPunct="1">
                        <a:lnSpc>
                          <a:spcPct val="95000"/>
                        </a:lnSpc>
                        <a:spcBef>
                          <a:spcPct val="0"/>
                        </a:spcBef>
                        <a:spcAft>
                          <a:spcPct val="50000"/>
                        </a:spcAft>
                        <a:buClrTx/>
                        <a:buSzTx/>
                        <a:buFontTx/>
                        <a:buNone/>
                      </a:pPr>
                      <a:endParaRPr lang="en-US" sz="850" b="0" kern="1200">
                        <a:solidFill>
                          <a:schemeClr val="tx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748893264"/>
                  </a:ext>
                </a:extLst>
              </a:tr>
              <a:tr h="248963">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50" kern="1200">
                          <a:solidFill>
                            <a:schemeClr val="dk1"/>
                          </a:solidFill>
                          <a:latin typeface="+mn-lt"/>
                          <a:ea typeface="+mn-ea"/>
                          <a:cs typeface="+mn-cs"/>
                        </a:rPr>
                        <a:t>Production Release (R8)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lvl="0" algn="ctr">
                        <a:buNone/>
                      </a:pPr>
                      <a:r>
                        <a:rPr lang="en-US" sz="850">
                          <a:latin typeface="+mn-lt"/>
                        </a:rPr>
                        <a:t>C</a:t>
                      </a:r>
                    </a:p>
                  </a:txBody>
                  <a:tcPr marL="9524" marR="9524" marT="952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lvl="0" algn="ctr">
                        <a:buNone/>
                      </a:pPr>
                      <a:r>
                        <a:rPr lang="en-US" sz="850">
                          <a:latin typeface="+mn-lt"/>
                        </a:rPr>
                        <a:t>8/12</a:t>
                      </a:r>
                    </a:p>
                  </a:txBody>
                  <a:tcPr marL="9524" marR="9524" marT="952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r>
                        <a:rPr lang="en-US" sz="850">
                          <a:latin typeface="+mn-lt"/>
                        </a:rPr>
                        <a:t> </a:t>
                      </a:r>
                      <a:r>
                        <a:rPr lang="nb-NO" sz="850">
                          <a:latin typeface="+mn-lt"/>
                          <a:ea typeface="+mn-lt"/>
                          <a:cs typeface="+mn-lt"/>
                        </a:rPr>
                        <a:t>LA, VT, FL, MT, MD, GA, NH, TN states </a:t>
                      </a:r>
                      <a:endParaRPr lang="en-US" sz="850">
                        <a:latin typeface="+mn-l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2168126963"/>
                  </a:ext>
                </a:extLst>
              </a:tr>
              <a:tr h="286574">
                <a:tc>
                  <a:txBody>
                    <a:bodyPr/>
                    <a:lstStyle/>
                    <a:p>
                      <a:r>
                        <a:rPr lang="en-US" sz="850">
                          <a:latin typeface="+mn-lt"/>
                        </a:rPr>
                        <a:t>     DDIT Completion (R9)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850">
                          <a:latin typeface="+mn-lt"/>
                        </a:rPr>
                        <a:t>C</a:t>
                      </a:r>
                    </a:p>
                  </a:txBody>
                  <a:tcPr marL="9524" marR="9524" marT="952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850">
                          <a:latin typeface="+mn-lt"/>
                        </a:rPr>
                        <a:t>8/12</a:t>
                      </a:r>
                    </a:p>
                  </a:txBody>
                  <a:tcPr marL="9524" marR="9524" marT="952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lvl="0" indent="0" algn="l">
                        <a:lnSpc>
                          <a:spcPct val="95000"/>
                        </a:lnSpc>
                        <a:spcBef>
                          <a:spcPct val="0"/>
                        </a:spcBef>
                        <a:spcAft>
                          <a:spcPct val="50000"/>
                        </a:spcAft>
                        <a:buNone/>
                      </a:pPr>
                      <a:endParaRPr lang="en-US" sz="850" b="0" kern="1200">
                        <a:solidFill>
                          <a:schemeClr val="tx1"/>
                        </a:solidFill>
                        <a:effectLst/>
                        <a:latin typeface="+mn-lt"/>
                        <a:ea typeface="+mn-ea"/>
                        <a:cs typeface="+mn-cs"/>
                      </a:endParaRPr>
                    </a:p>
                  </a:txBody>
                  <a:tcPr marL="9524" marR="9524" marT="952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617819655"/>
                  </a:ext>
                </a:extLst>
              </a:tr>
              <a:tr h="217899">
                <a:tc>
                  <a:txBody>
                    <a:bodyPr/>
                    <a:lstStyle/>
                    <a:p>
                      <a:r>
                        <a:rPr lang="en-US" sz="850">
                          <a:latin typeface="+mn-lt"/>
                        </a:rPr>
                        <a:t>     E2E Completion (R9)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850">
                          <a:latin typeface="+mn-lt"/>
                        </a:rPr>
                        <a:t>C</a:t>
                      </a:r>
                    </a:p>
                  </a:txBody>
                  <a:tcPr marL="9524" marR="9524" marT="952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850">
                          <a:latin typeface="+mn-lt"/>
                        </a:rPr>
                        <a:t>8/19</a:t>
                      </a:r>
                    </a:p>
                  </a:txBody>
                  <a:tcPr marL="9524" marR="9524" marT="952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lvl="0" indent="0" algn="l">
                        <a:lnSpc>
                          <a:spcPct val="95000"/>
                        </a:lnSpc>
                        <a:spcBef>
                          <a:spcPct val="0"/>
                        </a:spcBef>
                        <a:spcAft>
                          <a:spcPct val="50000"/>
                        </a:spcAft>
                        <a:buNone/>
                      </a:pPr>
                      <a:endParaRPr lang="en-US" sz="850" b="0" kern="1200">
                        <a:solidFill>
                          <a:schemeClr val="tx1"/>
                        </a:solidFill>
                        <a:effectLst/>
                        <a:latin typeface="+mn-lt"/>
                        <a:ea typeface="+mn-ea"/>
                        <a:cs typeface="+mn-cs"/>
                      </a:endParaRPr>
                    </a:p>
                  </a:txBody>
                  <a:tcPr marL="9524" marR="9524" marT="952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162506059"/>
                  </a:ext>
                </a:extLst>
              </a:tr>
              <a:tr h="254265">
                <a:tc>
                  <a:txBody>
                    <a:bodyPr/>
                    <a:lstStyle/>
                    <a:p>
                      <a:r>
                        <a:rPr lang="en-US" sz="850">
                          <a:latin typeface="+mn-lt"/>
                          <a:cs typeface="Arial" panose="020B0604020202020204" pitchFamily="34" charset="0"/>
                        </a:rPr>
                        <a:t>     UAT Completion (R9)</a:t>
                      </a:r>
                    </a:p>
                  </a:txBody>
                  <a:tcPr marL="9525" marR="9525" marT="9525" marB="0" anchor="ctr">
                    <a:lnL w="12700">
                      <a:solidFill>
                        <a:schemeClr val="tx1"/>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0">
                      <a:noFill/>
                    </a:lnTlToBr>
                    <a:lnBlToTr w="0">
                      <a:noFill/>
                    </a:lnBlToTr>
                    <a:solidFill>
                      <a:schemeClr val="bg1"/>
                    </a:solidFill>
                  </a:tcPr>
                </a:tc>
                <a:tc>
                  <a:txBody>
                    <a:bodyPr/>
                    <a:lstStyle/>
                    <a:p>
                      <a:pPr algn="ctr"/>
                      <a:endParaRPr lang="en-US" sz="850">
                        <a:latin typeface="+mn-lt"/>
                        <a:cs typeface="Arial" panose="020B0604020202020204" pitchFamily="34" charset="0"/>
                      </a:endParaRPr>
                    </a:p>
                  </a:txBody>
                  <a:tcPr marL="9524" marR="9524" marT="952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0">
                      <a:noFill/>
                    </a:lnTlToBr>
                    <a:lnBlToTr w="0">
                      <a:noFill/>
                    </a:lnBlToTr>
                    <a:solidFill>
                      <a:schemeClr val="bg1"/>
                    </a:solidFill>
                  </a:tcPr>
                </a:tc>
                <a:tc>
                  <a:txBody>
                    <a:bodyPr/>
                    <a:lstStyle/>
                    <a:p>
                      <a:pPr algn="ctr"/>
                      <a:r>
                        <a:rPr lang="en-US" sz="850">
                          <a:latin typeface="+mn-lt"/>
                          <a:cs typeface="Arial" panose="020B0604020202020204" pitchFamily="34" charset="0"/>
                        </a:rPr>
                        <a:t>9/4</a:t>
                      </a:r>
                    </a:p>
                  </a:txBody>
                  <a:tcPr marL="9524" marR="9524" marT="952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0">
                      <a:noFill/>
                    </a:lnTlToBr>
                    <a:lnBlToTr w="0">
                      <a:noFill/>
                    </a:lnBlToTr>
                    <a:solidFill>
                      <a:schemeClr val="bg1"/>
                    </a:solidFill>
                  </a:tcPr>
                </a:tc>
                <a:tc>
                  <a:txBody>
                    <a:bodyPr/>
                    <a:lstStyle/>
                    <a:p>
                      <a:pPr marL="0" lvl="0" indent="0" algn="l">
                        <a:lnSpc>
                          <a:spcPct val="95000"/>
                        </a:lnSpc>
                        <a:spcBef>
                          <a:spcPct val="0"/>
                        </a:spcBef>
                        <a:spcAft>
                          <a:spcPct val="50000"/>
                        </a:spcAft>
                        <a:buNone/>
                      </a:pPr>
                      <a:endParaRPr lang="en-US" sz="850" b="0" kern="1200">
                        <a:solidFill>
                          <a:schemeClr val="tx1"/>
                        </a:solidFill>
                        <a:effectLst/>
                        <a:latin typeface="+mn-lt"/>
                        <a:ea typeface="+mn-ea"/>
                        <a:cs typeface="Arial" panose="020B0604020202020204" pitchFamily="34" charset="0"/>
                      </a:endParaRPr>
                    </a:p>
                  </a:txBody>
                  <a:tcPr marL="9524" marR="9524" marT="9524" marB="0" anchor="ct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0">
                      <a:noFill/>
                    </a:lnTlToBr>
                    <a:lnBlToTr w="0">
                      <a:noFill/>
                    </a:lnBlToTr>
                    <a:solidFill>
                      <a:schemeClr val="bg1"/>
                    </a:solidFill>
                  </a:tcPr>
                </a:tc>
                <a:extLst>
                  <a:ext uri="{0D108BD9-81ED-4DB2-BD59-A6C34878D82A}">
                    <a16:rowId xmlns:a16="http://schemas.microsoft.com/office/drawing/2014/main" val="786728858"/>
                  </a:ext>
                </a:extLst>
              </a:tr>
              <a:tr h="274692">
                <a:tc>
                  <a:txBody>
                    <a:bodyPr/>
                    <a:lstStyle/>
                    <a:p>
                      <a:r>
                        <a:rPr lang="en-US" sz="850">
                          <a:latin typeface="+mn-lt"/>
                          <a:cs typeface="Arial" panose="020B0604020202020204" pitchFamily="34" charset="0"/>
                        </a:rPr>
                        <a:t>     Production Release  (R9)</a:t>
                      </a:r>
                    </a:p>
                  </a:txBody>
                  <a:tcPr marL="9525" marR="9525" marT="9525" marB="0" anchor="ctr">
                    <a:lnL w="12700">
                      <a:solidFill>
                        <a:schemeClr val="tx1"/>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0">
                      <a:noFill/>
                    </a:lnTlToBr>
                    <a:lnBlToTr w="0">
                      <a:noFill/>
                    </a:lnBlToTr>
                    <a:solidFill>
                      <a:schemeClr val="bg1"/>
                    </a:solidFill>
                  </a:tcPr>
                </a:tc>
                <a:tc>
                  <a:txBody>
                    <a:bodyPr/>
                    <a:lstStyle/>
                    <a:p>
                      <a:pPr algn="ctr"/>
                      <a:r>
                        <a:rPr lang="en-US" sz="850">
                          <a:latin typeface="+mn-lt"/>
                          <a:cs typeface="Arial" panose="020B0604020202020204" pitchFamily="34" charset="0"/>
                        </a:rPr>
                        <a:t>NS</a:t>
                      </a:r>
                    </a:p>
                  </a:txBody>
                  <a:tcPr marL="9524" marR="9524" marT="952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0">
                      <a:noFill/>
                    </a:lnTlToBr>
                    <a:lnBlToTr w="0">
                      <a:noFill/>
                    </a:lnBlToTr>
                    <a:solidFill>
                      <a:schemeClr val="bg1"/>
                    </a:solidFill>
                  </a:tcPr>
                </a:tc>
                <a:tc>
                  <a:txBody>
                    <a:bodyPr/>
                    <a:lstStyle/>
                    <a:p>
                      <a:pPr algn="ctr"/>
                      <a:r>
                        <a:rPr lang="en-US" sz="850">
                          <a:latin typeface="+mn-lt"/>
                          <a:cs typeface="Arial" panose="020B0604020202020204" pitchFamily="34" charset="0"/>
                        </a:rPr>
                        <a:t>9/16</a:t>
                      </a:r>
                    </a:p>
                  </a:txBody>
                  <a:tcPr marL="9524" marR="9524" marT="952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0">
                      <a:noFill/>
                    </a:lnTlToBr>
                    <a:lnBlToTr w="0">
                      <a:noFill/>
                    </a:lnBlToTr>
                    <a:solidFill>
                      <a:schemeClr val="bg1"/>
                    </a:solidFill>
                  </a:tcPr>
                </a:tc>
                <a:tc>
                  <a:txBody>
                    <a:bodyPr/>
                    <a:lstStyle/>
                    <a:p>
                      <a:pPr marL="0" lvl="0" indent="0" algn="l">
                        <a:lnSpc>
                          <a:spcPct val="95000"/>
                        </a:lnSpc>
                        <a:spcBef>
                          <a:spcPct val="0"/>
                        </a:spcBef>
                        <a:spcAft>
                          <a:spcPct val="50000"/>
                        </a:spcAft>
                        <a:buNone/>
                      </a:pPr>
                      <a:r>
                        <a:rPr lang="en-US" sz="850" b="0" kern="1200">
                          <a:solidFill>
                            <a:schemeClr val="tx1"/>
                          </a:solidFill>
                          <a:effectLst/>
                          <a:latin typeface="+mn-lt"/>
                          <a:ea typeface="+mn-ea"/>
                          <a:cs typeface="Arial" panose="020B0604020202020204" pitchFamily="34" charset="0"/>
                        </a:rPr>
                        <a:t> </a:t>
                      </a:r>
                      <a:r>
                        <a:rPr lang="en-US" sz="850">
                          <a:latin typeface="+mn-lt"/>
                          <a:cs typeface="Arial" panose="020B0604020202020204" pitchFamily="34" charset="0"/>
                        </a:rPr>
                        <a:t> NV, AK, ND States</a:t>
                      </a:r>
                      <a:endParaRPr lang="en-US" sz="850" b="0" kern="1200">
                        <a:solidFill>
                          <a:schemeClr val="tx1"/>
                        </a:solidFill>
                        <a:effectLst/>
                        <a:latin typeface="+mn-lt"/>
                        <a:ea typeface="+mn-ea"/>
                        <a:cs typeface="Arial" panose="020B0604020202020204" pitchFamily="34" charset="0"/>
                      </a:endParaRPr>
                    </a:p>
                  </a:txBody>
                  <a:tcPr marL="9524" marR="9524" marT="9524" marB="0" anchor="ct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0">
                      <a:noFill/>
                    </a:lnTlToBr>
                    <a:lnBlToTr w="0">
                      <a:noFill/>
                    </a:lnBlToTr>
                    <a:solidFill>
                      <a:schemeClr val="bg1"/>
                    </a:solidFill>
                  </a:tcPr>
                </a:tc>
                <a:extLst>
                  <a:ext uri="{0D108BD9-81ED-4DB2-BD59-A6C34878D82A}">
                    <a16:rowId xmlns:a16="http://schemas.microsoft.com/office/drawing/2014/main" val="704749405"/>
                  </a:ext>
                </a:extLst>
              </a:tr>
              <a:tr h="318412">
                <a:tc>
                  <a:txBody>
                    <a:bodyPr/>
                    <a:lstStyle/>
                    <a:p>
                      <a:r>
                        <a:rPr lang="en-US" sz="850">
                          <a:latin typeface="+mn-lt"/>
                          <a:cs typeface="Arial" panose="020B0604020202020204" pitchFamily="34" charset="0"/>
                        </a:rPr>
                        <a:t>    Scope Cutoff (R10)</a:t>
                      </a:r>
                    </a:p>
                  </a:txBody>
                  <a:tcPr marL="9525" marR="9525" marT="9525" marB="0" anchor="ctr">
                    <a:lnL w="12700">
                      <a:solidFill>
                        <a:schemeClr val="tx1"/>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0">
                      <a:noFill/>
                    </a:lnTlToBr>
                    <a:lnBlToTr w="0">
                      <a:noFill/>
                    </a:lnBlToTr>
                    <a:noFill/>
                  </a:tcPr>
                </a:tc>
                <a:tc>
                  <a:txBody>
                    <a:bodyPr/>
                    <a:lstStyle/>
                    <a:p>
                      <a:pPr algn="ctr"/>
                      <a:r>
                        <a:rPr lang="en-US" sz="850">
                          <a:latin typeface="+mn-lt"/>
                          <a:cs typeface="Arial" panose="020B0604020202020204" pitchFamily="34" charset="0"/>
                        </a:rPr>
                        <a:t>C</a:t>
                      </a:r>
                    </a:p>
                  </a:txBody>
                  <a:tcPr marL="9524" marR="9524" marT="952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0">
                      <a:noFill/>
                    </a:lnTlToBr>
                    <a:lnBlToTr w="0">
                      <a:noFill/>
                    </a:lnBlToTr>
                    <a:noFill/>
                  </a:tcPr>
                </a:tc>
                <a:tc>
                  <a:txBody>
                    <a:bodyPr/>
                    <a:lstStyle/>
                    <a:p>
                      <a:pPr algn="ctr"/>
                      <a:r>
                        <a:rPr lang="en-US" sz="850">
                          <a:latin typeface="+mn-lt"/>
                          <a:cs typeface="Arial" panose="020B0604020202020204" pitchFamily="34" charset="0"/>
                        </a:rPr>
                        <a:t>8/26</a:t>
                      </a:r>
                    </a:p>
                  </a:txBody>
                  <a:tcPr marL="9524" marR="9524" marT="952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0">
                      <a:noFill/>
                    </a:lnTlToBr>
                    <a:lnBlToTr w="0">
                      <a:noFill/>
                    </a:lnBlToTr>
                    <a:noFill/>
                  </a:tcPr>
                </a:tc>
                <a:tc>
                  <a:txBody>
                    <a:bodyPr/>
                    <a:lstStyle/>
                    <a:p>
                      <a:r>
                        <a:rPr lang="en-US" sz="850">
                          <a:latin typeface="+mn-lt"/>
                          <a:cs typeface="Arial" panose="020B0604020202020204" pitchFamily="34" charset="0"/>
                        </a:rPr>
                        <a:t>   Approved States - RI, DC, CT</a:t>
                      </a:r>
                    </a:p>
                  </a:txBody>
                  <a:tcPr marL="9524" marR="9524" marT="9524" marB="0" anchor="ct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0">
                      <a:noFill/>
                    </a:lnTlToBr>
                    <a:lnBlToTr w="0">
                      <a:noFill/>
                    </a:lnBlToTr>
                    <a:noFill/>
                  </a:tcPr>
                </a:tc>
                <a:extLst>
                  <a:ext uri="{0D108BD9-81ED-4DB2-BD59-A6C34878D82A}">
                    <a16:rowId xmlns:a16="http://schemas.microsoft.com/office/drawing/2014/main" val="2535251139"/>
                  </a:ext>
                </a:extLst>
              </a:tr>
              <a:tr h="318412">
                <a:tc>
                  <a:txBody>
                    <a:bodyPr/>
                    <a:lstStyle/>
                    <a:p>
                      <a:r>
                        <a:rPr lang="en-US" sz="850">
                          <a:latin typeface="+mn-lt"/>
                          <a:cs typeface="Arial" panose="020B0604020202020204" pitchFamily="34" charset="0"/>
                        </a:rPr>
                        <a:t>    DDIT Complete (R10)</a:t>
                      </a:r>
                    </a:p>
                  </a:txBody>
                  <a:tcPr marL="9525" marR="9525" marT="9525" marB="0"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lnTlToBr w="0">
                      <a:noFill/>
                    </a:lnTlToBr>
                    <a:lnBlToTr w="0">
                      <a:noFill/>
                    </a:lnBlToTr>
                    <a:noFill/>
                  </a:tcPr>
                </a:tc>
                <a:tc>
                  <a:txBody>
                    <a:bodyPr/>
                    <a:lstStyle/>
                    <a:p>
                      <a:pPr algn="ctr"/>
                      <a:r>
                        <a:rPr lang="en-US" sz="850">
                          <a:latin typeface="+mn-lt"/>
                          <a:cs typeface="Arial" panose="020B0604020202020204" pitchFamily="34" charset="0"/>
                        </a:rPr>
                        <a:t>NS</a:t>
                      </a:r>
                    </a:p>
                  </a:txBody>
                  <a:tcPr marL="9524" marR="9524" marT="952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lnTlToBr w="0">
                      <a:noFill/>
                    </a:lnTlToBr>
                    <a:lnBlToTr w="0">
                      <a:noFill/>
                    </a:lnBlToTr>
                    <a:noFill/>
                  </a:tcPr>
                </a:tc>
                <a:tc>
                  <a:txBody>
                    <a:bodyPr/>
                    <a:lstStyle/>
                    <a:p>
                      <a:pPr algn="ctr"/>
                      <a:r>
                        <a:rPr lang="en-US" sz="850">
                          <a:latin typeface="+mn-lt"/>
                          <a:cs typeface="Arial" panose="020B0604020202020204" pitchFamily="34" charset="0"/>
                        </a:rPr>
                        <a:t> 9/16</a:t>
                      </a:r>
                    </a:p>
                  </a:txBody>
                  <a:tcPr marL="9524" marR="9524" marT="952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lnTlToBr w="0">
                      <a:noFill/>
                    </a:lnTlToBr>
                    <a:lnBlToTr w="0">
                      <a:noFill/>
                    </a:lnBlToTr>
                    <a:noFill/>
                  </a:tcPr>
                </a:tc>
                <a:tc>
                  <a:txBody>
                    <a:bodyPr/>
                    <a:lstStyle/>
                    <a:p>
                      <a:r>
                        <a:rPr lang="en-US" sz="850">
                          <a:latin typeface="+mn-lt"/>
                          <a:cs typeface="Arial" panose="020B0604020202020204" pitchFamily="34" charset="0"/>
                        </a:rPr>
                        <a:t>    </a:t>
                      </a:r>
                    </a:p>
                  </a:txBody>
                  <a:tcPr marL="9524" marR="9524" marT="9524" marB="0" anchor="ctr">
                    <a:lnL w="12700" cap="flat" cmpd="sng" algn="ctr">
                      <a:solidFill>
                        <a:schemeClr val="tx1"/>
                      </a:solidFill>
                      <a:prstDash val="solid"/>
                      <a:round/>
                      <a:headEnd type="none" w="med" len="med"/>
                      <a:tailEnd type="none" w="med" len="med"/>
                    </a:lnL>
                    <a:lnR w="12700">
                      <a:solidFill>
                        <a:schemeClr val="tx1"/>
                      </a:solidFill>
                    </a:lnR>
                    <a:lnT w="12700">
                      <a:solidFill>
                        <a:schemeClr val="tx1"/>
                      </a:solidFill>
                    </a:lnT>
                    <a:lnB w="12700">
                      <a:solidFill>
                        <a:schemeClr val="tx1"/>
                      </a:solidFill>
                    </a:lnB>
                    <a:lnTlToBr w="0">
                      <a:noFill/>
                    </a:lnTlToBr>
                    <a:lnBlToTr w="0">
                      <a:noFill/>
                    </a:lnBlToTr>
                    <a:noFill/>
                  </a:tcPr>
                </a:tc>
                <a:extLst>
                  <a:ext uri="{0D108BD9-81ED-4DB2-BD59-A6C34878D82A}">
                    <a16:rowId xmlns:a16="http://schemas.microsoft.com/office/drawing/2014/main" val="471914335"/>
                  </a:ext>
                </a:extLst>
              </a:tr>
            </a:tbl>
          </a:graphicData>
        </a:graphic>
      </p:graphicFrame>
      <p:graphicFrame>
        <p:nvGraphicFramePr>
          <p:cNvPr id="29" name="Table 28">
            <a:extLst>
              <a:ext uri="{FF2B5EF4-FFF2-40B4-BE49-F238E27FC236}">
                <a16:creationId xmlns:a16="http://schemas.microsoft.com/office/drawing/2014/main" id="{4CB587BE-A2EE-21D7-2123-1DAB04D6EF69}"/>
              </a:ext>
            </a:extLst>
          </p:cNvPr>
          <p:cNvGraphicFramePr>
            <a:graphicFrameLocks noGrp="1"/>
          </p:cNvGraphicFramePr>
          <p:nvPr>
            <p:extLst>
              <p:ext uri="{D42A27DB-BD31-4B8C-83A1-F6EECF244321}">
                <p14:modId xmlns:p14="http://schemas.microsoft.com/office/powerpoint/2010/main" val="2629375383"/>
              </p:ext>
            </p:extLst>
          </p:nvPr>
        </p:nvGraphicFramePr>
        <p:xfrm>
          <a:off x="5590344" y="5066298"/>
          <a:ext cx="6484607" cy="871186"/>
        </p:xfrm>
        <a:graphic>
          <a:graphicData uri="http://schemas.openxmlformats.org/drawingml/2006/table">
            <a:tbl>
              <a:tblPr>
                <a:tableStyleId>{5C22544A-7EE6-4342-B048-85BDC9FD1C3A}</a:tableStyleId>
              </a:tblPr>
              <a:tblGrid>
                <a:gridCol w="2392727">
                  <a:extLst>
                    <a:ext uri="{9D8B030D-6E8A-4147-A177-3AD203B41FA5}">
                      <a16:colId xmlns:a16="http://schemas.microsoft.com/office/drawing/2014/main" val="2456552316"/>
                    </a:ext>
                  </a:extLst>
                </a:gridCol>
                <a:gridCol w="469863">
                  <a:extLst>
                    <a:ext uri="{9D8B030D-6E8A-4147-A177-3AD203B41FA5}">
                      <a16:colId xmlns:a16="http://schemas.microsoft.com/office/drawing/2014/main" val="1100051595"/>
                    </a:ext>
                  </a:extLst>
                </a:gridCol>
                <a:gridCol w="521848">
                  <a:extLst>
                    <a:ext uri="{9D8B030D-6E8A-4147-A177-3AD203B41FA5}">
                      <a16:colId xmlns:a16="http://schemas.microsoft.com/office/drawing/2014/main" val="2042261034"/>
                    </a:ext>
                  </a:extLst>
                </a:gridCol>
                <a:gridCol w="3100169">
                  <a:extLst>
                    <a:ext uri="{9D8B030D-6E8A-4147-A177-3AD203B41FA5}">
                      <a16:colId xmlns:a16="http://schemas.microsoft.com/office/drawing/2014/main" val="2815874248"/>
                    </a:ext>
                  </a:extLst>
                </a:gridCol>
              </a:tblGrid>
              <a:tr h="389213">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Critical Risks/Issues</a:t>
                      </a:r>
                      <a:endParaRPr kumimoji="0" lang="en-US" sz="1050" b="1" i="0" u="none" strike="noStrike" kern="1200" cap="none" normalizeH="0" baseline="0">
                        <a:ln>
                          <a:noFill/>
                        </a:ln>
                        <a:solidFill>
                          <a:schemeClr val="bg1"/>
                        </a:solidFill>
                        <a:effectLst/>
                        <a:latin typeface="Arial" charset="0"/>
                        <a:ea typeface="+mn-ea"/>
                        <a:cs typeface="+mn-cs"/>
                      </a:endParaRP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Status</a:t>
                      </a:r>
                    </a:p>
                  </a:txBody>
                  <a:tcPr marL="9525" marR="9525" marT="9525" marB="0" anchor="ct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1" fontAlgn="auto" latinLnBrk="0" hangingPunct="1">
                        <a:lnSpc>
                          <a:spcPct val="95000"/>
                        </a:lnSpc>
                        <a:spcBef>
                          <a:spcPct val="0"/>
                        </a:spcBef>
                        <a:spcAft>
                          <a:spcPct val="50000"/>
                        </a:spcAft>
                        <a:buClrTx/>
                        <a:buSzTx/>
                        <a:buFontTx/>
                        <a:buNone/>
                        <a:tabLst/>
                        <a:defRPr/>
                      </a:pPr>
                      <a:r>
                        <a:rPr kumimoji="0" lang="en-US" sz="1050" b="1" i="0" u="none" strike="noStrike" kern="1200" cap="none" normalizeH="0" baseline="0">
                          <a:ln>
                            <a:noFill/>
                          </a:ln>
                          <a:solidFill>
                            <a:schemeClr val="bg1"/>
                          </a:solidFill>
                          <a:effectLst/>
                          <a:latin typeface="+mn-lt"/>
                          <a:ea typeface="+mn-ea"/>
                          <a:cs typeface="+mn-cs"/>
                        </a:rPr>
                        <a:t>Target Date</a:t>
                      </a:r>
                    </a:p>
                    <a:p>
                      <a:pPr marL="0" marR="0" lvl="0" indent="0" algn="ctr" defTabSz="914400">
                        <a:lnSpc>
                          <a:spcPct val="95000"/>
                        </a:lnSpc>
                        <a:spcBef>
                          <a:spcPct val="0"/>
                        </a:spcBef>
                        <a:spcAft>
                          <a:spcPct val="50000"/>
                        </a:spcAft>
                        <a:buNone/>
                        <a:tabLst/>
                      </a:pPr>
                      <a:endParaRPr kumimoji="0" lang="en-US" sz="1050" b="1" i="0" u="none" strike="noStrike" kern="1200" cap="none" normalizeH="0" baseline="0">
                        <a:ln>
                          <a:noFill/>
                        </a:ln>
                        <a:solidFill>
                          <a:schemeClr val="bg1"/>
                        </a:solidFill>
                        <a:effectLst/>
                        <a:latin typeface="Arial"/>
                        <a:ea typeface="+mn-ea"/>
                        <a:cs typeface="+mn-cs"/>
                      </a:endParaRPr>
                    </a:p>
                  </a:txBody>
                  <a:tcPr marL="9525" marR="9525" marT="9525" marB="0" anchor="ctr">
                    <a:lnL w="12700">
                      <a:solidFill>
                        <a:schemeClr val="tx1"/>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Resolution / Mitigation</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325594">
                <a:tc>
                  <a:txBody>
                    <a:bodyPr/>
                    <a:lstStyle/>
                    <a:p>
                      <a:pPr marL="0" marR="0" lvl="0" indent="0" algn="l" defTabSz="914400" rtl="0" eaLnBrk="1" fontAlgn="auto" latinLnBrk="0" hangingPunct="1">
                        <a:lnSpc>
                          <a:spcPct val="115000"/>
                        </a:lnSpc>
                        <a:spcBef>
                          <a:spcPts val="0"/>
                        </a:spcBef>
                        <a:spcAft>
                          <a:spcPts val="800"/>
                        </a:spcAft>
                        <a:buClrTx/>
                        <a:buSzTx/>
                        <a:buFontTx/>
                        <a:buNone/>
                        <a:tabLst/>
                        <a:defRPr/>
                      </a:pPr>
                      <a:endParaRPr lang="en-US" sz="850">
                        <a:latin typeface="Aptos" panose="020B0004020202020204" pitchFamily="34" charset="0"/>
                      </a:endParaRP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850" b="0" kern="1200">
                        <a:solidFill>
                          <a:schemeClr val="tx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850" b="0" strike="noStrike" kern="1200">
                        <a:solidFill>
                          <a:schemeClr val="tx1"/>
                        </a:solidFill>
                        <a:effectLst/>
                        <a:latin typeface="Aptos" panose="020B0004020202020204" pitchFamily="34" charset="0"/>
                        <a:ea typeface="+mn-ea"/>
                        <a:cs typeface="+mn-cs"/>
                      </a:endParaRPr>
                    </a:p>
                  </a:txBody>
                  <a:tcPr marL="9525" marR="9525" marT="9525" marB="0" anchor="ctr">
                    <a:lnL w="12700">
                      <a:solidFill>
                        <a:schemeClr val="tx1"/>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ts val="200"/>
                        </a:spcBef>
                        <a:spcAft>
                          <a:spcPts val="0"/>
                        </a:spcAft>
                        <a:buClrTx/>
                        <a:buSzTx/>
                        <a:buFont typeface="Arial" panose="020B0604020202020204" pitchFamily="34" charset="0"/>
                        <a:buNone/>
                        <a:tabLst/>
                        <a:defRPr/>
                      </a:pPr>
                      <a:endParaRPr lang="en-US" sz="850" b="0" strike="noStrike" kern="1200">
                        <a:solidFill>
                          <a:schemeClr val="tx1"/>
                        </a:solidFill>
                        <a:effectLst/>
                        <a:latin typeface="Aptos" panose="020B0004020202020204" pitchFamily="34" charset="0"/>
                        <a:ea typeface="+mn-ea"/>
                        <a:cs typeface="+mn-cs"/>
                      </a:endParaRP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7499024"/>
                  </a:ext>
                </a:extLst>
              </a:tr>
            </a:tbl>
          </a:graphicData>
        </a:graphic>
      </p:graphicFrame>
      <p:sp>
        <p:nvSpPr>
          <p:cNvPr id="33" name="Flowchart: Connector 32">
            <a:extLst>
              <a:ext uri="{FF2B5EF4-FFF2-40B4-BE49-F238E27FC236}">
                <a16:creationId xmlns:a16="http://schemas.microsoft.com/office/drawing/2014/main" id="{416448B3-C471-06D2-E214-8208E6A1C858}"/>
              </a:ext>
            </a:extLst>
          </p:cNvPr>
          <p:cNvSpPr/>
          <p:nvPr/>
        </p:nvSpPr>
        <p:spPr>
          <a:xfrm>
            <a:off x="7145312" y="6295894"/>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Flowchart: Connector 33">
            <a:extLst>
              <a:ext uri="{FF2B5EF4-FFF2-40B4-BE49-F238E27FC236}">
                <a16:creationId xmlns:a16="http://schemas.microsoft.com/office/drawing/2014/main" id="{16113AD1-0727-29D7-165A-26751F365F7C}"/>
              </a:ext>
            </a:extLst>
          </p:cNvPr>
          <p:cNvSpPr/>
          <p:nvPr/>
        </p:nvSpPr>
        <p:spPr>
          <a:xfrm>
            <a:off x="8078441" y="6298353"/>
            <a:ext cx="163286" cy="164592"/>
          </a:xfrm>
          <a:prstGeom prst="flowChartConnector">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Flowchart: Connector 35">
            <a:extLst>
              <a:ext uri="{FF2B5EF4-FFF2-40B4-BE49-F238E27FC236}">
                <a16:creationId xmlns:a16="http://schemas.microsoft.com/office/drawing/2014/main" id="{A148D622-9D77-6567-3AD5-2241D9AAD96E}"/>
              </a:ext>
            </a:extLst>
          </p:cNvPr>
          <p:cNvSpPr/>
          <p:nvPr/>
        </p:nvSpPr>
        <p:spPr>
          <a:xfrm>
            <a:off x="9093213" y="6308967"/>
            <a:ext cx="163285" cy="164592"/>
          </a:xfrm>
          <a:prstGeom prst="flowChartConnector">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44D2CC87-946C-19E5-8C22-504B3023D9E1}"/>
              </a:ext>
            </a:extLst>
          </p:cNvPr>
          <p:cNvSpPr txBox="1"/>
          <p:nvPr/>
        </p:nvSpPr>
        <p:spPr>
          <a:xfrm>
            <a:off x="159545" y="1948919"/>
            <a:ext cx="5226187" cy="2436886"/>
          </a:xfrm>
          <a:prstGeom prst="rect">
            <a:avLst/>
          </a:prstGeom>
          <a:noFill/>
        </p:spPr>
        <p:txBody>
          <a:bodyPr wrap="square" lIns="91440" tIns="45720" rIns="91440" bIns="45720" anchor="t">
            <a:spAutoFit/>
          </a:bodyPr>
          <a:lstStyle/>
          <a:p>
            <a:pPr>
              <a:lnSpc>
                <a:spcPct val="150000"/>
              </a:lnSpc>
              <a:tabLst>
                <a:tab pos="457200" algn="l"/>
              </a:tabLst>
            </a:pPr>
            <a:r>
              <a:rPr lang="en-US" sz="850" b="1">
                <a:latin typeface="Aptos" panose="020B0004020202020204" pitchFamily="34" charset="0"/>
                <a:cs typeface="Arial"/>
              </a:rPr>
              <a:t>Status Update</a:t>
            </a:r>
            <a:endParaRPr lang="en-US" sz="850">
              <a:latin typeface="Aptos" panose="020B0004020202020204" pitchFamily="34" charset="0"/>
              <a:cs typeface="Arial"/>
            </a:endParaRPr>
          </a:p>
          <a:p>
            <a:pPr>
              <a:lnSpc>
                <a:spcPct val="150000"/>
              </a:lnSpc>
              <a:tabLst>
                <a:tab pos="457200" algn="l"/>
              </a:tabLst>
            </a:pPr>
            <a:r>
              <a:rPr lang="en-US" sz="850" b="1">
                <a:latin typeface="Aptos" panose="020B0004020202020204" pitchFamily="34" charset="0"/>
                <a:cs typeface="Arial"/>
              </a:rPr>
              <a:t>Overall Status: Green</a:t>
            </a:r>
            <a:endParaRPr lang="en-US" sz="850">
              <a:latin typeface="Aptos" panose="020B0004020202020204" pitchFamily="34" charset="0"/>
              <a:cs typeface="Arial"/>
            </a:endParaRPr>
          </a:p>
          <a:p>
            <a:pPr>
              <a:lnSpc>
                <a:spcPct val="150000"/>
              </a:lnSpc>
              <a:tabLst>
                <a:tab pos="457200" algn="l"/>
              </a:tabLst>
            </a:pPr>
            <a:r>
              <a:rPr lang="nb-NO" sz="850">
                <a:latin typeface="Aptos" panose="020B0004020202020204" pitchFamily="34" charset="0"/>
                <a:ea typeface="+mn-lt"/>
                <a:cs typeface="+mn-lt"/>
              </a:rPr>
              <a:t>R9 states (</a:t>
            </a:r>
            <a:r>
              <a:rPr lang="en-US" sz="850">
                <a:latin typeface="Aptos" panose="020B0004020202020204" pitchFamily="34" charset="0"/>
                <a:ea typeface="Aptos" panose="020B0004020202020204" pitchFamily="34" charset="0"/>
                <a:cs typeface="Arial"/>
              </a:rPr>
              <a:t>NV, AK, ND) on schedule for September 16h.</a:t>
            </a:r>
            <a:endParaRPr lang="en-US" sz="850">
              <a:latin typeface="Aptos" panose="020B0004020202020204" pitchFamily="34" charset="0"/>
              <a:ea typeface="+mn-lt"/>
              <a:cs typeface="+mn-lt"/>
            </a:endParaRPr>
          </a:p>
          <a:p>
            <a:pPr>
              <a:lnSpc>
                <a:spcPct val="150000"/>
              </a:lnSpc>
              <a:tabLst>
                <a:tab pos="457200" algn="l"/>
              </a:tabLst>
            </a:pPr>
            <a:endParaRPr lang="en-US" sz="850">
              <a:latin typeface="Aptos" panose="020B0004020202020204" pitchFamily="34" charset="0"/>
              <a:ea typeface="+mn-lt"/>
              <a:cs typeface="+mn-lt"/>
            </a:endParaRPr>
          </a:p>
          <a:p>
            <a:pPr lvl="0">
              <a:lnSpc>
                <a:spcPct val="150000"/>
              </a:lnSpc>
              <a:tabLst>
                <a:tab pos="457200" algn="l"/>
              </a:tabLst>
            </a:pPr>
            <a:r>
              <a:rPr lang="en-US" sz="850" b="1">
                <a:latin typeface="Aptos" panose="020B0004020202020204" pitchFamily="34" charset="0"/>
                <a:cs typeface="Arial"/>
              </a:rPr>
              <a:t>Accomplishments:</a:t>
            </a:r>
          </a:p>
          <a:p>
            <a:pPr marL="171450" lvl="0" indent="-171450">
              <a:lnSpc>
                <a:spcPct val="150000"/>
              </a:lnSpc>
              <a:buFont typeface="Arial" panose="020B0604020202020204" pitchFamily="34" charset="0"/>
              <a:buChar char="•"/>
              <a:tabLst>
                <a:tab pos="457200" algn="l"/>
              </a:tabLst>
            </a:pPr>
            <a:r>
              <a:rPr lang="en-US" sz="850">
                <a:latin typeface="Aptos" panose="020B0004020202020204" pitchFamily="34" charset="0"/>
                <a:ea typeface="Aptos" panose="020B0004020202020204" pitchFamily="34" charset="0"/>
                <a:cs typeface="Arial"/>
              </a:rPr>
              <a:t>R9  E2E Completion</a:t>
            </a:r>
          </a:p>
          <a:p>
            <a:pPr marL="171450" lvl="0" indent="-171450">
              <a:lnSpc>
                <a:spcPct val="150000"/>
              </a:lnSpc>
              <a:buFont typeface="Arial" panose="020B0604020202020204" pitchFamily="34" charset="0"/>
              <a:buChar char="•"/>
              <a:tabLst>
                <a:tab pos="457200" algn="l"/>
              </a:tabLst>
            </a:pPr>
            <a:r>
              <a:rPr lang="en-US" sz="850">
                <a:latin typeface="Aptos" panose="020B0004020202020204" pitchFamily="34" charset="0"/>
                <a:ea typeface="Aptos" panose="020B0004020202020204" pitchFamily="34" charset="0"/>
                <a:cs typeface="Arial"/>
              </a:rPr>
              <a:t>R10  Scope Frozen for next wave of states (RI, DC, CT)</a:t>
            </a:r>
          </a:p>
          <a:p>
            <a:pPr>
              <a:lnSpc>
                <a:spcPct val="150000"/>
              </a:lnSpc>
              <a:tabLst>
                <a:tab pos="457200" algn="l"/>
              </a:tabLst>
            </a:pPr>
            <a:endParaRPr lang="en-US" sz="850">
              <a:latin typeface="Aptos" panose="020B0004020202020204" pitchFamily="34" charset="0"/>
              <a:ea typeface="Aptos" panose="020B0004020202020204" pitchFamily="34" charset="0"/>
              <a:cs typeface="Arial"/>
            </a:endParaRPr>
          </a:p>
          <a:p>
            <a:pPr>
              <a:lnSpc>
                <a:spcPct val="150000"/>
              </a:lnSpc>
              <a:tabLst>
                <a:tab pos="457200" algn="l"/>
              </a:tabLst>
            </a:pPr>
            <a:r>
              <a:rPr lang="en-US" sz="850" b="1">
                <a:latin typeface="Aptos" panose="020B0004020202020204" pitchFamily="34" charset="0"/>
                <a:ea typeface="Aptos" panose="020B0004020202020204" pitchFamily="34" charset="0"/>
                <a:cs typeface="Arial"/>
              </a:rPr>
              <a:t>Next Steps:</a:t>
            </a:r>
          </a:p>
          <a:p>
            <a:pPr marL="171450" indent="-171450">
              <a:lnSpc>
                <a:spcPct val="150000"/>
              </a:lnSpc>
              <a:buFont typeface="Arial" panose="020B0604020202020204" pitchFamily="34" charset="0"/>
              <a:buChar char="•"/>
              <a:tabLst>
                <a:tab pos="457200" algn="l"/>
              </a:tabLst>
            </a:pPr>
            <a:r>
              <a:rPr lang="en-US" sz="850">
                <a:latin typeface="Aptos" panose="020B0004020202020204" pitchFamily="34" charset="0"/>
                <a:ea typeface="Aptos" panose="020B0004020202020204" pitchFamily="34" charset="0"/>
                <a:cs typeface="Arial"/>
              </a:rPr>
              <a:t>R9 States  UAT Completion</a:t>
            </a:r>
          </a:p>
          <a:p>
            <a:pPr marL="171450" indent="-171450">
              <a:lnSpc>
                <a:spcPct val="150000"/>
              </a:lnSpc>
              <a:buFont typeface="Arial" panose="020B0604020202020204" pitchFamily="34" charset="0"/>
              <a:buChar char="•"/>
              <a:tabLst>
                <a:tab pos="457200" algn="l"/>
              </a:tabLst>
            </a:pPr>
            <a:r>
              <a:rPr lang="en-US" sz="850">
                <a:latin typeface="Aptos" panose="020B0004020202020204" pitchFamily="34" charset="0"/>
                <a:ea typeface="Aptos" panose="020B0004020202020204" pitchFamily="34" charset="0"/>
                <a:cs typeface="Arial"/>
              </a:rPr>
              <a:t>R10 DDIT </a:t>
            </a:r>
          </a:p>
          <a:p>
            <a:pPr>
              <a:lnSpc>
                <a:spcPct val="150000"/>
              </a:lnSpc>
              <a:tabLst>
                <a:tab pos="457200" algn="l"/>
              </a:tabLst>
            </a:pPr>
            <a:endParaRPr lang="en-US" sz="900">
              <a:ea typeface="Aptos" panose="020B0004020202020204" pitchFamily="34" charset="0"/>
              <a:cs typeface="Arial"/>
            </a:endParaRPr>
          </a:p>
        </p:txBody>
      </p:sp>
      <p:sp>
        <p:nvSpPr>
          <p:cNvPr id="18" name="TextBox 17">
            <a:extLst>
              <a:ext uri="{FF2B5EF4-FFF2-40B4-BE49-F238E27FC236}">
                <a16:creationId xmlns:a16="http://schemas.microsoft.com/office/drawing/2014/main" id="{21D33B76-9480-B3DD-5A56-0F37DB3D8563}"/>
              </a:ext>
            </a:extLst>
          </p:cNvPr>
          <p:cNvSpPr txBox="1"/>
          <p:nvPr/>
        </p:nvSpPr>
        <p:spPr>
          <a:xfrm>
            <a:off x="9370344" y="76867"/>
            <a:ext cx="4210510" cy="496931"/>
          </a:xfrm>
          <a:prstGeom prst="rect">
            <a:avLst/>
          </a:prstGeom>
          <a:noFill/>
        </p:spPr>
        <p:txBody>
          <a:bodyPr wrap="square" lIns="91440" tIns="45720" rIns="91440" bIns="45720" rtlCol="0" anchor="t">
            <a:spAutoFit/>
          </a:bodyPr>
          <a:lstStyle/>
          <a:p>
            <a:pPr>
              <a:lnSpc>
                <a:spcPct val="112000"/>
              </a:lnSpc>
            </a:pPr>
            <a:r>
              <a:rPr lang="en-US" sz="1200">
                <a:latin typeface="Aptos"/>
              </a:rPr>
              <a:t>Project Manager : Kinney Barbour</a:t>
            </a:r>
            <a:endParaRPr lang="en-US">
              <a:latin typeface="Aptos"/>
            </a:endParaRPr>
          </a:p>
          <a:p>
            <a:pPr>
              <a:lnSpc>
                <a:spcPct val="112000"/>
              </a:lnSpc>
            </a:pPr>
            <a:r>
              <a:rPr lang="en-US" sz="1200" err="1">
                <a:latin typeface="Aptos"/>
              </a:rPr>
              <a:t>OpEx</a:t>
            </a:r>
            <a:r>
              <a:rPr lang="en-US" sz="1200">
                <a:latin typeface="Aptos"/>
              </a:rPr>
              <a:t> Business : Alex Suarez</a:t>
            </a:r>
          </a:p>
        </p:txBody>
      </p:sp>
      <p:sp>
        <p:nvSpPr>
          <p:cNvPr id="7" name="Flowchart: Connector 6">
            <a:extLst>
              <a:ext uri="{FF2B5EF4-FFF2-40B4-BE49-F238E27FC236}">
                <a16:creationId xmlns:a16="http://schemas.microsoft.com/office/drawing/2014/main" id="{546CC65E-EE09-3212-9D40-AB552E16FFA3}"/>
              </a:ext>
            </a:extLst>
          </p:cNvPr>
          <p:cNvSpPr/>
          <p:nvPr/>
        </p:nvSpPr>
        <p:spPr>
          <a:xfrm>
            <a:off x="4291485" y="1418804"/>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lowchart: Connector 9">
            <a:extLst>
              <a:ext uri="{FF2B5EF4-FFF2-40B4-BE49-F238E27FC236}">
                <a16:creationId xmlns:a16="http://schemas.microsoft.com/office/drawing/2014/main" id="{8AA105E7-DD05-B9EE-F65B-728B46AAED1A}"/>
              </a:ext>
            </a:extLst>
          </p:cNvPr>
          <p:cNvSpPr/>
          <p:nvPr/>
        </p:nvSpPr>
        <p:spPr>
          <a:xfrm>
            <a:off x="6096000" y="1415063"/>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Flowchart: Connector 2">
            <a:extLst>
              <a:ext uri="{FF2B5EF4-FFF2-40B4-BE49-F238E27FC236}">
                <a16:creationId xmlns:a16="http://schemas.microsoft.com/office/drawing/2014/main" id="{CF4B2F9F-7ACE-ED0F-A856-0547C67299F9}"/>
              </a:ext>
            </a:extLst>
          </p:cNvPr>
          <p:cNvSpPr/>
          <p:nvPr/>
        </p:nvSpPr>
        <p:spPr>
          <a:xfrm>
            <a:off x="3261036" y="1403424"/>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lowchart: Connector 11">
            <a:extLst>
              <a:ext uri="{FF2B5EF4-FFF2-40B4-BE49-F238E27FC236}">
                <a16:creationId xmlns:a16="http://schemas.microsoft.com/office/drawing/2014/main" id="{15C7DB62-80BB-76F5-17D8-58C5DC9AF39C}"/>
              </a:ext>
            </a:extLst>
          </p:cNvPr>
          <p:cNvSpPr/>
          <p:nvPr/>
        </p:nvSpPr>
        <p:spPr>
          <a:xfrm>
            <a:off x="5207284" y="1403424"/>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lowchart: Connector 5">
            <a:extLst>
              <a:ext uri="{FF2B5EF4-FFF2-40B4-BE49-F238E27FC236}">
                <a16:creationId xmlns:a16="http://schemas.microsoft.com/office/drawing/2014/main" id="{054CED19-284D-2BB1-FC86-F1A6B873A0C8}"/>
              </a:ext>
            </a:extLst>
          </p:cNvPr>
          <p:cNvSpPr/>
          <p:nvPr/>
        </p:nvSpPr>
        <p:spPr>
          <a:xfrm>
            <a:off x="8117218" y="3620943"/>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lowchart: Connector 7">
            <a:extLst>
              <a:ext uri="{FF2B5EF4-FFF2-40B4-BE49-F238E27FC236}">
                <a16:creationId xmlns:a16="http://schemas.microsoft.com/office/drawing/2014/main" id="{D6B10479-BDA0-7940-6036-FFE648399DF1}"/>
              </a:ext>
            </a:extLst>
          </p:cNvPr>
          <p:cNvSpPr/>
          <p:nvPr/>
        </p:nvSpPr>
        <p:spPr>
          <a:xfrm>
            <a:off x="8126496" y="4488962"/>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3049996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D81D0A-FD40-557F-6352-D366CA7A0592}"/>
            </a:ext>
          </a:extLst>
        </p:cNvPr>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392492BD-29CD-5FDD-F291-35ABCB36981A}"/>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8" imgH="408" progId="TCLayout.ActiveDocument.1">
                  <p:embed/>
                </p:oleObj>
              </mc:Choice>
              <mc:Fallback>
                <p:oleObj name="think-cell Slide" r:id="rId4" imgW="408" imgH="408" progId="TCLayout.ActiveDocument.1">
                  <p:embed/>
                  <p:pic>
                    <p:nvPicPr>
                      <p:cNvPr id="9" name="think-cell data - do not delete" hidden="1">
                        <a:extLst>
                          <a:ext uri="{FF2B5EF4-FFF2-40B4-BE49-F238E27FC236}">
                            <a16:creationId xmlns:a16="http://schemas.microsoft.com/office/drawing/2014/main" id="{392492BD-29CD-5FDD-F291-35ABCB36981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graphicFrame>
        <p:nvGraphicFramePr>
          <p:cNvPr id="32" name="Group 614">
            <a:extLst>
              <a:ext uri="{FF2B5EF4-FFF2-40B4-BE49-F238E27FC236}">
                <a16:creationId xmlns:a16="http://schemas.microsoft.com/office/drawing/2014/main" id="{C199C3EF-6C15-E863-D1A9-770887138EF8}"/>
              </a:ext>
            </a:extLst>
          </p:cNvPr>
          <p:cNvGraphicFramePr>
            <a:graphicFrameLocks noGrp="1"/>
          </p:cNvGraphicFramePr>
          <p:nvPr>
            <p:extLst>
              <p:ext uri="{D42A27DB-BD31-4B8C-83A1-F6EECF244321}">
                <p14:modId xmlns:p14="http://schemas.microsoft.com/office/powerpoint/2010/main" val="4251370714"/>
              </p:ext>
            </p:extLst>
          </p:nvPr>
        </p:nvGraphicFramePr>
        <p:xfrm>
          <a:off x="4877597" y="6378993"/>
          <a:ext cx="7136859" cy="386554"/>
        </p:xfrm>
        <a:graphic>
          <a:graphicData uri="http://schemas.openxmlformats.org/drawingml/2006/table">
            <a:tbl>
              <a:tblPr/>
              <a:tblGrid>
                <a:gridCol w="606425">
                  <a:extLst>
                    <a:ext uri="{9D8B030D-6E8A-4147-A177-3AD203B41FA5}">
                      <a16:colId xmlns:a16="http://schemas.microsoft.com/office/drawing/2014/main" val="20000"/>
                    </a:ext>
                  </a:extLst>
                </a:gridCol>
                <a:gridCol w="307361">
                  <a:extLst>
                    <a:ext uri="{9D8B030D-6E8A-4147-A177-3AD203B41FA5}">
                      <a16:colId xmlns:a16="http://schemas.microsoft.com/office/drawing/2014/main" val="20001"/>
                    </a:ext>
                  </a:extLst>
                </a:gridCol>
                <a:gridCol w="757584">
                  <a:extLst>
                    <a:ext uri="{9D8B030D-6E8A-4147-A177-3AD203B41FA5}">
                      <a16:colId xmlns:a16="http://schemas.microsoft.com/office/drawing/2014/main" val="20002"/>
                    </a:ext>
                  </a:extLst>
                </a:gridCol>
                <a:gridCol w="302812">
                  <a:extLst>
                    <a:ext uri="{9D8B030D-6E8A-4147-A177-3AD203B41FA5}">
                      <a16:colId xmlns:a16="http://schemas.microsoft.com/office/drawing/2014/main" val="20003"/>
                    </a:ext>
                  </a:extLst>
                </a:gridCol>
                <a:gridCol w="665317">
                  <a:extLst>
                    <a:ext uri="{9D8B030D-6E8A-4147-A177-3AD203B41FA5}">
                      <a16:colId xmlns:a16="http://schemas.microsoft.com/office/drawing/2014/main" val="20004"/>
                    </a:ext>
                  </a:extLst>
                </a:gridCol>
                <a:gridCol w="518025">
                  <a:extLst>
                    <a:ext uri="{9D8B030D-6E8A-4147-A177-3AD203B41FA5}">
                      <a16:colId xmlns:a16="http://schemas.microsoft.com/office/drawing/2014/main" val="20005"/>
                    </a:ext>
                  </a:extLst>
                </a:gridCol>
                <a:gridCol w="568469">
                  <a:extLst>
                    <a:ext uri="{9D8B030D-6E8A-4147-A177-3AD203B41FA5}">
                      <a16:colId xmlns:a16="http://schemas.microsoft.com/office/drawing/2014/main" val="20006"/>
                    </a:ext>
                  </a:extLst>
                </a:gridCol>
                <a:gridCol w="368983">
                  <a:extLst>
                    <a:ext uri="{9D8B030D-6E8A-4147-A177-3AD203B41FA5}">
                      <a16:colId xmlns:a16="http://schemas.microsoft.com/office/drawing/2014/main" val="20007"/>
                    </a:ext>
                  </a:extLst>
                </a:gridCol>
                <a:gridCol w="1372005">
                  <a:extLst>
                    <a:ext uri="{9D8B030D-6E8A-4147-A177-3AD203B41FA5}">
                      <a16:colId xmlns:a16="http://schemas.microsoft.com/office/drawing/2014/main" val="20008"/>
                    </a:ext>
                  </a:extLst>
                </a:gridCol>
                <a:gridCol w="378212">
                  <a:extLst>
                    <a:ext uri="{9D8B030D-6E8A-4147-A177-3AD203B41FA5}">
                      <a16:colId xmlns:a16="http://schemas.microsoft.com/office/drawing/2014/main" val="20009"/>
                    </a:ext>
                  </a:extLst>
                </a:gridCol>
                <a:gridCol w="1291666">
                  <a:extLst>
                    <a:ext uri="{9D8B030D-6E8A-4147-A177-3AD203B41FA5}">
                      <a16:colId xmlns:a16="http://schemas.microsoft.com/office/drawing/2014/main" val="20010"/>
                    </a:ext>
                  </a:extLst>
                </a:gridCol>
              </a:tblGrid>
              <a:tr h="386554">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Arial" charset="0"/>
                          <a:cs typeface="Arial" charset="0"/>
                        </a:rPr>
                        <a:t>Status Key</a:t>
                      </a:r>
                      <a:endParaRPr kumimoji="0" lang="en-GB" sz="1600" b="0" i="0" u="none" strike="noStrike" cap="none" normalizeH="0" baseline="0">
                        <a:ln>
                          <a:noFill/>
                        </a:ln>
                        <a:solidFill>
                          <a:srgbClr val="002060"/>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mj-lt"/>
                        </a:rPr>
                        <a:t>C</a:t>
                      </a: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Arial" charset="0"/>
                          <a:cs typeface="Arial" charset="0"/>
                        </a:rPr>
                        <a:t>Completed</a:t>
                      </a:r>
                      <a:endParaRPr kumimoji="0" lang="en-GB" sz="1600" b="0" i="0" u="none" strike="noStrike" cap="none" normalizeH="0" baseline="0">
                        <a:ln>
                          <a:noFill/>
                        </a:ln>
                        <a:solidFill>
                          <a:srgbClr val="002060"/>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On-Schedule</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Major Issues</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Some Issues</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NS</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Not Started</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2" name="Title 1">
            <a:extLst>
              <a:ext uri="{FF2B5EF4-FFF2-40B4-BE49-F238E27FC236}">
                <a16:creationId xmlns:a16="http://schemas.microsoft.com/office/drawing/2014/main" id="{183CDDAE-1C72-D70F-47A7-8E88DA516AE8}"/>
              </a:ext>
            </a:extLst>
          </p:cNvPr>
          <p:cNvSpPr>
            <a:spLocks noGrp="1"/>
          </p:cNvSpPr>
          <p:nvPr>
            <p:ph type="title"/>
          </p:nvPr>
        </p:nvSpPr>
        <p:spPr>
          <a:xfrm>
            <a:off x="299258" y="186479"/>
            <a:ext cx="4603580" cy="517320"/>
          </a:xfrm>
        </p:spPr>
        <p:txBody>
          <a:bodyPr vert="horz">
            <a:noAutofit/>
          </a:bodyPr>
          <a:lstStyle/>
          <a:p>
            <a:r>
              <a:rPr lang="en-US">
                <a:solidFill>
                  <a:srgbClr val="29389F"/>
                </a:solidFill>
              </a:rPr>
              <a:t>Pet Model Law Reboot </a:t>
            </a:r>
            <a:br>
              <a:rPr sz="2000">
                <a:solidFill>
                  <a:srgbClr val="1C57A5"/>
                </a:solidFill>
                <a:latin typeface="Times New Roman" panose="02020603050405020304" pitchFamily="18" charset="0"/>
                <a:cs typeface="Times New Roman" panose="02020603050405020304" pitchFamily="18" charset="0"/>
              </a:rPr>
            </a:br>
            <a:r>
              <a:rPr lang="en-US" sz="1400">
                <a:solidFill>
                  <a:srgbClr val="0070C0"/>
                </a:solidFill>
              </a:rPr>
              <a:t>Weekly Status Update</a:t>
            </a:r>
          </a:p>
        </p:txBody>
      </p:sp>
      <p:graphicFrame>
        <p:nvGraphicFramePr>
          <p:cNvPr id="11" name="Group 513">
            <a:extLst>
              <a:ext uri="{FF2B5EF4-FFF2-40B4-BE49-F238E27FC236}">
                <a16:creationId xmlns:a16="http://schemas.microsoft.com/office/drawing/2014/main" id="{BCD8AD20-8D23-4E13-5FDE-96104037AA4E}"/>
              </a:ext>
            </a:extLst>
          </p:cNvPr>
          <p:cNvGraphicFramePr>
            <a:graphicFrameLocks noGrp="1"/>
          </p:cNvGraphicFramePr>
          <p:nvPr>
            <p:extLst>
              <p:ext uri="{D42A27DB-BD31-4B8C-83A1-F6EECF244321}">
                <p14:modId xmlns:p14="http://schemas.microsoft.com/office/powerpoint/2010/main" val="1876795936"/>
              </p:ext>
            </p:extLst>
          </p:nvPr>
        </p:nvGraphicFramePr>
        <p:xfrm>
          <a:off x="159657" y="928914"/>
          <a:ext cx="2710533" cy="344301"/>
        </p:xfrm>
        <a:graphic>
          <a:graphicData uri="http://schemas.openxmlformats.org/drawingml/2006/table">
            <a:tbl>
              <a:tblPr/>
              <a:tblGrid>
                <a:gridCol w="1055411">
                  <a:extLst>
                    <a:ext uri="{9D8B030D-6E8A-4147-A177-3AD203B41FA5}">
                      <a16:colId xmlns:a16="http://schemas.microsoft.com/office/drawing/2014/main" val="20000"/>
                    </a:ext>
                  </a:extLst>
                </a:gridCol>
                <a:gridCol w="1655122">
                  <a:extLst>
                    <a:ext uri="{9D8B030D-6E8A-4147-A177-3AD203B41FA5}">
                      <a16:colId xmlns:a16="http://schemas.microsoft.com/office/drawing/2014/main" val="20001"/>
                    </a:ext>
                  </a:extLst>
                </a:gridCol>
              </a:tblGrid>
              <a:tr h="344301">
                <a:tc>
                  <a:txBody>
                    <a:bodyPr/>
                    <a:lstStyle/>
                    <a:p>
                      <a:pPr marL="0" marR="0" lvl="0" indent="0" algn="l" defTabSz="914400" rtl="0" eaLnBrk="0" fontAlgn="base" latinLnBrk="0" hangingPunct="0">
                        <a:lnSpc>
                          <a:spcPct val="95000"/>
                        </a:lnSpc>
                        <a:spcBef>
                          <a:spcPct val="0"/>
                        </a:spcBef>
                        <a:spcAft>
                          <a:spcPct val="50000"/>
                        </a:spcAft>
                        <a:buClrTx/>
                        <a:buSzTx/>
                        <a:buFontTx/>
                        <a:buNone/>
                        <a:tabLst/>
                      </a:pPr>
                      <a:r>
                        <a:rPr kumimoji="0" lang="en-GB" sz="1050" b="1" i="0" u="none" strike="noStrike" kern="1200" cap="none" normalizeH="0" baseline="0">
                          <a:ln>
                            <a:noFill/>
                          </a:ln>
                          <a:solidFill>
                            <a:schemeClr val="bg1"/>
                          </a:solidFill>
                          <a:effectLst/>
                          <a:latin typeface="Arial"/>
                          <a:ea typeface="+mn-ea"/>
                          <a:cs typeface="+mn-cs"/>
                        </a:rPr>
                        <a:t>Status Date:</a:t>
                      </a:r>
                    </a:p>
                  </a:txBody>
                  <a:tcPr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GB" sz="850" b="1" i="0" u="none" strike="noStrike" kern="1200" cap="none" normalizeH="0" baseline="0">
                          <a:ln>
                            <a:noFill/>
                          </a:ln>
                          <a:solidFill>
                            <a:schemeClr val="tx1"/>
                          </a:solidFill>
                          <a:effectLst/>
                          <a:latin typeface="Aptos" panose="020B0004020202020204" pitchFamily="34" charset="0"/>
                          <a:ea typeface="+mn-ea"/>
                          <a:cs typeface="+mn-cs"/>
                        </a:rPr>
                        <a:t>08/28/2026</a:t>
                      </a:r>
                    </a:p>
                  </a:txBody>
                  <a:tcPr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14" name="Table 13">
            <a:extLst>
              <a:ext uri="{FF2B5EF4-FFF2-40B4-BE49-F238E27FC236}">
                <a16:creationId xmlns:a16="http://schemas.microsoft.com/office/drawing/2014/main" id="{4203962F-408F-9672-0283-78668AF624C4}"/>
              </a:ext>
            </a:extLst>
          </p:cNvPr>
          <p:cNvGraphicFramePr>
            <a:graphicFrameLocks noGrp="1"/>
          </p:cNvGraphicFramePr>
          <p:nvPr>
            <p:extLst>
              <p:ext uri="{D42A27DB-BD31-4B8C-83A1-F6EECF244321}">
                <p14:modId xmlns:p14="http://schemas.microsoft.com/office/powerpoint/2010/main" val="1764795503"/>
              </p:ext>
            </p:extLst>
          </p:nvPr>
        </p:nvGraphicFramePr>
        <p:xfrm>
          <a:off x="6640300" y="920667"/>
          <a:ext cx="5352360" cy="693634"/>
        </p:xfrm>
        <a:graphic>
          <a:graphicData uri="http://schemas.openxmlformats.org/drawingml/2006/table">
            <a:tbl>
              <a:tblPr>
                <a:tableStyleId>{5C22544A-7EE6-4342-B048-85BDC9FD1C3A}</a:tableStyleId>
              </a:tblPr>
              <a:tblGrid>
                <a:gridCol w="1045337">
                  <a:extLst>
                    <a:ext uri="{9D8B030D-6E8A-4147-A177-3AD203B41FA5}">
                      <a16:colId xmlns:a16="http://schemas.microsoft.com/office/drawing/2014/main" val="2456552316"/>
                    </a:ext>
                  </a:extLst>
                </a:gridCol>
                <a:gridCol w="926511">
                  <a:extLst>
                    <a:ext uri="{9D8B030D-6E8A-4147-A177-3AD203B41FA5}">
                      <a16:colId xmlns:a16="http://schemas.microsoft.com/office/drawing/2014/main" val="2327174630"/>
                    </a:ext>
                  </a:extLst>
                </a:gridCol>
                <a:gridCol w="1514970">
                  <a:extLst>
                    <a:ext uri="{9D8B030D-6E8A-4147-A177-3AD203B41FA5}">
                      <a16:colId xmlns:a16="http://schemas.microsoft.com/office/drawing/2014/main" val="1100051595"/>
                    </a:ext>
                  </a:extLst>
                </a:gridCol>
                <a:gridCol w="913991">
                  <a:extLst>
                    <a:ext uri="{9D8B030D-6E8A-4147-A177-3AD203B41FA5}">
                      <a16:colId xmlns:a16="http://schemas.microsoft.com/office/drawing/2014/main" val="2042261034"/>
                    </a:ext>
                  </a:extLst>
                </a:gridCol>
                <a:gridCol w="951551">
                  <a:extLst>
                    <a:ext uri="{9D8B030D-6E8A-4147-A177-3AD203B41FA5}">
                      <a16:colId xmlns:a16="http://schemas.microsoft.com/office/drawing/2014/main" val="2815874248"/>
                    </a:ext>
                  </a:extLst>
                </a:gridCol>
              </a:tblGrid>
              <a:tr h="339087">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2026 Budget</a:t>
                      </a:r>
                      <a:r>
                        <a:rPr lang="en-US" sz="1050" b="1" i="0" u="none" strike="noStrike" kern="1200" cap="none" normalizeH="0" baseline="0">
                          <a:ln>
                            <a:noFill/>
                          </a:ln>
                          <a:solidFill>
                            <a:schemeClr val="bg1"/>
                          </a:solidFill>
                          <a:effectLst/>
                          <a:latin typeface="Arial"/>
                          <a:ea typeface="+mn-ea"/>
                          <a:cs typeface="+mn-cs"/>
                        </a:rPr>
                        <a:t> </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YTD Actuals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Remaining 2026 Forecast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Current YE Forecast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Total Budget</a:t>
                      </a:r>
                      <a:r>
                        <a:rPr lang="en-US" sz="1050" b="1" i="0" u="none" strike="noStrike" kern="1200" cap="none" normalizeH="0" baseline="0">
                          <a:ln>
                            <a:noFill/>
                          </a:ln>
                          <a:solidFill>
                            <a:schemeClr val="bg1"/>
                          </a:solidFill>
                          <a:effectLst/>
                          <a:latin typeface="Arial"/>
                          <a:ea typeface="+mn-ea"/>
                          <a:cs typeface="+mn-cs"/>
                        </a:rPr>
                        <a:t> </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354547">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$750,000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$554,981.75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$194,172.70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$194,994.70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$749,153.45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7499024"/>
                  </a:ext>
                </a:extLst>
              </a:tr>
            </a:tbl>
          </a:graphicData>
        </a:graphic>
      </p:graphicFrame>
      <p:graphicFrame>
        <p:nvGraphicFramePr>
          <p:cNvPr id="25" name="Table 24">
            <a:extLst>
              <a:ext uri="{FF2B5EF4-FFF2-40B4-BE49-F238E27FC236}">
                <a16:creationId xmlns:a16="http://schemas.microsoft.com/office/drawing/2014/main" id="{249F8920-87C3-BE57-9B72-60604C061094}"/>
              </a:ext>
            </a:extLst>
          </p:cNvPr>
          <p:cNvGraphicFramePr>
            <a:graphicFrameLocks noGrp="1"/>
          </p:cNvGraphicFramePr>
          <p:nvPr>
            <p:extLst>
              <p:ext uri="{D42A27DB-BD31-4B8C-83A1-F6EECF244321}">
                <p14:modId xmlns:p14="http://schemas.microsoft.com/office/powerpoint/2010/main" val="1745084983"/>
              </p:ext>
            </p:extLst>
          </p:nvPr>
        </p:nvGraphicFramePr>
        <p:xfrm>
          <a:off x="2811025" y="920667"/>
          <a:ext cx="3829275" cy="693955"/>
        </p:xfrm>
        <a:graphic>
          <a:graphicData uri="http://schemas.openxmlformats.org/drawingml/2006/table">
            <a:tbl>
              <a:tblPr>
                <a:tableStyleId>{5C22544A-7EE6-4342-B048-85BDC9FD1C3A}</a:tableStyleId>
              </a:tblPr>
              <a:tblGrid>
                <a:gridCol w="1042158">
                  <a:extLst>
                    <a:ext uri="{9D8B030D-6E8A-4147-A177-3AD203B41FA5}">
                      <a16:colId xmlns:a16="http://schemas.microsoft.com/office/drawing/2014/main" val="2456552316"/>
                    </a:ext>
                  </a:extLst>
                </a:gridCol>
                <a:gridCol w="961214">
                  <a:extLst>
                    <a:ext uri="{9D8B030D-6E8A-4147-A177-3AD203B41FA5}">
                      <a16:colId xmlns:a16="http://schemas.microsoft.com/office/drawing/2014/main" val="1100051595"/>
                    </a:ext>
                  </a:extLst>
                </a:gridCol>
                <a:gridCol w="920742">
                  <a:extLst>
                    <a:ext uri="{9D8B030D-6E8A-4147-A177-3AD203B41FA5}">
                      <a16:colId xmlns:a16="http://schemas.microsoft.com/office/drawing/2014/main" val="2042261034"/>
                    </a:ext>
                  </a:extLst>
                </a:gridCol>
                <a:gridCol w="905161">
                  <a:extLst>
                    <a:ext uri="{9D8B030D-6E8A-4147-A177-3AD203B41FA5}">
                      <a16:colId xmlns:a16="http://schemas.microsoft.com/office/drawing/2014/main" val="2815874248"/>
                    </a:ext>
                  </a:extLst>
                </a:gridCol>
              </a:tblGrid>
              <a:tr h="353615">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Overall</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Scope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Schedule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Financials</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340340">
                <a:tc>
                  <a:txBody>
                    <a:bodyPr/>
                    <a:lstStyle/>
                    <a:p>
                      <a:pPr marL="0" marR="0" lvl="0" indent="0" algn="ctr" rtl="0" eaLnBrk="1" fontAlgn="ctr" latinLnBrk="0" hangingPunct="1">
                        <a:lnSpc>
                          <a:spcPct val="95000"/>
                        </a:lnSpc>
                        <a:spcBef>
                          <a:spcPct val="0"/>
                        </a:spcBef>
                        <a:spcAft>
                          <a:spcPct val="50000"/>
                        </a:spcAft>
                        <a:buClrTx/>
                        <a:buSzTx/>
                        <a:buFontTx/>
                        <a:buNone/>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rtl="0" eaLnBrk="1" fontAlgn="ctr" latinLnBrk="0" hangingPunct="1">
                        <a:lnSpc>
                          <a:spcPct val="95000"/>
                        </a:lnSpc>
                        <a:spcBef>
                          <a:spcPct val="0"/>
                        </a:spcBef>
                        <a:spcAft>
                          <a:spcPct val="50000"/>
                        </a:spcAft>
                        <a:buClrTx/>
                        <a:buSzTx/>
                        <a:buFontTx/>
                        <a:buNone/>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7499024"/>
                  </a:ext>
                </a:extLst>
              </a:tr>
            </a:tbl>
          </a:graphicData>
        </a:graphic>
      </p:graphicFrame>
      <p:graphicFrame>
        <p:nvGraphicFramePr>
          <p:cNvPr id="26" name="Group 513">
            <a:extLst>
              <a:ext uri="{FF2B5EF4-FFF2-40B4-BE49-F238E27FC236}">
                <a16:creationId xmlns:a16="http://schemas.microsoft.com/office/drawing/2014/main" id="{734A771F-4785-3237-D3EB-67AC8438DDFB}"/>
              </a:ext>
            </a:extLst>
          </p:cNvPr>
          <p:cNvGraphicFramePr>
            <a:graphicFrameLocks noGrp="1"/>
          </p:cNvGraphicFramePr>
          <p:nvPr>
            <p:extLst>
              <p:ext uri="{D42A27DB-BD31-4B8C-83A1-F6EECF244321}">
                <p14:modId xmlns:p14="http://schemas.microsoft.com/office/powerpoint/2010/main" val="4282006404"/>
              </p:ext>
            </p:extLst>
          </p:nvPr>
        </p:nvGraphicFramePr>
        <p:xfrm>
          <a:off x="159657" y="1270000"/>
          <a:ext cx="2653888" cy="344301"/>
        </p:xfrm>
        <a:graphic>
          <a:graphicData uri="http://schemas.openxmlformats.org/drawingml/2006/table">
            <a:tbl>
              <a:tblPr/>
              <a:tblGrid>
                <a:gridCol w="1041155">
                  <a:extLst>
                    <a:ext uri="{9D8B030D-6E8A-4147-A177-3AD203B41FA5}">
                      <a16:colId xmlns:a16="http://schemas.microsoft.com/office/drawing/2014/main" val="20000"/>
                    </a:ext>
                  </a:extLst>
                </a:gridCol>
                <a:gridCol w="1612733">
                  <a:extLst>
                    <a:ext uri="{9D8B030D-6E8A-4147-A177-3AD203B41FA5}">
                      <a16:colId xmlns:a16="http://schemas.microsoft.com/office/drawing/2014/main" val="20001"/>
                    </a:ext>
                  </a:extLst>
                </a:gridCol>
              </a:tblGrid>
              <a:tr h="344301">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GB" sz="1050" b="1" i="0" u="none" strike="noStrike" kern="1200" cap="none" normalizeH="0" baseline="0">
                          <a:ln>
                            <a:noFill/>
                          </a:ln>
                          <a:solidFill>
                            <a:schemeClr val="bg1"/>
                          </a:solidFill>
                          <a:effectLst/>
                          <a:latin typeface="Arial"/>
                          <a:ea typeface="+mn-ea"/>
                          <a:cs typeface="+mn-cs"/>
                        </a:rPr>
                        <a:t>Target Delivery:</a:t>
                      </a:r>
                    </a:p>
                  </a:txBody>
                  <a:tcPr marL="0" marR="0" marT="45825" marB="45825" anchor="ctr" horzOverflow="overflow">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09/16/2026</a:t>
                      </a:r>
                    </a:p>
                  </a:txBody>
                  <a:tcPr marL="0" marR="0"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27" name="Table 26">
            <a:extLst>
              <a:ext uri="{FF2B5EF4-FFF2-40B4-BE49-F238E27FC236}">
                <a16:creationId xmlns:a16="http://schemas.microsoft.com/office/drawing/2014/main" id="{2D8C1337-4B73-EDFC-498C-13F6621AADE6}"/>
              </a:ext>
            </a:extLst>
          </p:cNvPr>
          <p:cNvGraphicFramePr>
            <a:graphicFrameLocks noGrp="1"/>
          </p:cNvGraphicFramePr>
          <p:nvPr>
            <p:extLst>
              <p:ext uri="{D42A27DB-BD31-4B8C-83A1-F6EECF244321}">
                <p14:modId xmlns:p14="http://schemas.microsoft.com/office/powerpoint/2010/main" val="1953375170"/>
              </p:ext>
            </p:extLst>
          </p:nvPr>
        </p:nvGraphicFramePr>
        <p:xfrm>
          <a:off x="4855800" y="1614268"/>
          <a:ext cx="7136859" cy="3971782"/>
        </p:xfrm>
        <a:graphic>
          <a:graphicData uri="http://schemas.openxmlformats.org/drawingml/2006/table">
            <a:tbl>
              <a:tblPr>
                <a:tableStyleId>{5C22544A-7EE6-4342-B048-85BDC9FD1C3A}</a:tableStyleId>
              </a:tblPr>
              <a:tblGrid>
                <a:gridCol w="2695660">
                  <a:extLst>
                    <a:ext uri="{9D8B030D-6E8A-4147-A177-3AD203B41FA5}">
                      <a16:colId xmlns:a16="http://schemas.microsoft.com/office/drawing/2014/main" val="2456552316"/>
                    </a:ext>
                  </a:extLst>
                </a:gridCol>
                <a:gridCol w="457174">
                  <a:extLst>
                    <a:ext uri="{9D8B030D-6E8A-4147-A177-3AD203B41FA5}">
                      <a16:colId xmlns:a16="http://schemas.microsoft.com/office/drawing/2014/main" val="1100051595"/>
                    </a:ext>
                  </a:extLst>
                </a:gridCol>
                <a:gridCol w="527564">
                  <a:extLst>
                    <a:ext uri="{9D8B030D-6E8A-4147-A177-3AD203B41FA5}">
                      <a16:colId xmlns:a16="http://schemas.microsoft.com/office/drawing/2014/main" val="2042261034"/>
                    </a:ext>
                  </a:extLst>
                </a:gridCol>
                <a:gridCol w="3456461">
                  <a:extLst>
                    <a:ext uri="{9D8B030D-6E8A-4147-A177-3AD203B41FA5}">
                      <a16:colId xmlns:a16="http://schemas.microsoft.com/office/drawing/2014/main" val="2815874248"/>
                    </a:ext>
                  </a:extLst>
                </a:gridCol>
              </a:tblGrid>
              <a:tr h="301522">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Milestone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Status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Due Date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Notes</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242473">
                <a:tc>
                  <a:txBody>
                    <a:bodyPr/>
                    <a:lstStyle/>
                    <a:p>
                      <a:pPr marL="114300" marR="0" lvl="0" indent="0" algn="l" rtl="0" eaLnBrk="1" fontAlgn="ctr" latinLnBrk="0" hangingPunct="1">
                        <a:lnSpc>
                          <a:spcPct val="95000"/>
                        </a:lnSpc>
                        <a:spcBef>
                          <a:spcPct val="0"/>
                        </a:spcBef>
                        <a:spcAft>
                          <a:spcPct val="50000"/>
                        </a:spcAft>
                        <a:buClrTx/>
                        <a:buSzTx/>
                        <a:buFontTx/>
                        <a:buNone/>
                      </a:pPr>
                      <a:r>
                        <a:rPr lang="en-US" sz="850" b="0" kern="1200">
                          <a:solidFill>
                            <a:schemeClr val="tx1"/>
                          </a:solidFill>
                          <a:effectLst/>
                          <a:latin typeface="Aptos" panose="020B0004020202020204" pitchFamily="34" charset="0"/>
                          <a:ea typeface="+mn-ea"/>
                          <a:cs typeface="+mn-cs"/>
                        </a:rPr>
                        <a:t>Validate and Lock business requirements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r>
                        <a:rPr lang="en-US" sz="850" b="0" kern="1200">
                          <a:solidFill>
                            <a:schemeClr val="tx1"/>
                          </a:solidFill>
                          <a:effectLst/>
                          <a:latin typeface="Aptos" panose="020B0004020202020204" pitchFamily="34" charset="0"/>
                          <a:ea typeface="+mn-ea"/>
                          <a:cs typeface="+mn-cs"/>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r>
                        <a:rPr lang="en-US" sz="850" b="0" strike="noStrike" kern="1200">
                          <a:solidFill>
                            <a:schemeClr val="tx1"/>
                          </a:solidFill>
                          <a:effectLst/>
                          <a:latin typeface="Aptos" panose="020B0004020202020204" pitchFamily="34" charset="0"/>
                          <a:ea typeface="+mn-ea"/>
                          <a:cs typeface="+mn-cs"/>
                        </a:rPr>
                        <a:t>1/23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0" hangingPunct="1">
                        <a:lnSpc>
                          <a:spcPts val="600"/>
                        </a:lnSpc>
                        <a:spcBef>
                          <a:spcPts val="300"/>
                        </a:spcBef>
                        <a:spcAft>
                          <a:spcPts val="0"/>
                        </a:spcAft>
                        <a:buClrTx/>
                        <a:buSzTx/>
                        <a:buFontTx/>
                        <a:buNone/>
                        <a:tabLst/>
                        <a:defRPr/>
                      </a:pPr>
                      <a:endParaRPr lang="en-US" sz="850" b="0" i="0">
                        <a:solidFill>
                          <a:srgbClr val="000000"/>
                        </a:solidFill>
                        <a:effectLst/>
                        <a:latin typeface="Aptos" panose="020B00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748893264"/>
                  </a:ext>
                </a:extLst>
              </a:tr>
              <a:tr h="232538">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50">
                          <a:latin typeface="Aptos" panose="020B0004020202020204" pitchFamily="34" charset="0"/>
                        </a:rPr>
                        <a:t>Obtain approval from leadership team (BDE &amp; ITDE)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a:lnSpc>
                          <a:spcPct val="95000"/>
                        </a:lnSpc>
                        <a:spcBef>
                          <a:spcPct val="0"/>
                        </a:spcBef>
                        <a:spcAft>
                          <a:spcPct val="50000"/>
                        </a:spcAft>
                        <a:buClrTx/>
                        <a:buSzTx/>
                        <a:buFontTx/>
                        <a:buNone/>
                        <a:tabLst/>
                      </a:pPr>
                      <a:r>
                        <a:rPr lang="en-US" sz="850" b="0" kern="1200">
                          <a:solidFill>
                            <a:schemeClr val="tx1"/>
                          </a:solidFill>
                          <a:effectLst/>
                          <a:latin typeface="Aptos" panose="020B0004020202020204" pitchFamily="34" charset="0"/>
                          <a:ea typeface="+mn-ea"/>
                          <a:cs typeface="+mn-cs"/>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0" hangingPunct="1">
                        <a:lnSpc>
                          <a:spcPct val="95000"/>
                        </a:lnSpc>
                        <a:spcBef>
                          <a:spcPct val="0"/>
                        </a:spcBef>
                        <a:spcAft>
                          <a:spcPct val="50000"/>
                        </a:spcAft>
                        <a:buClrTx/>
                        <a:buSzTx/>
                        <a:buFontTx/>
                        <a:buNone/>
                        <a:tabLst/>
                        <a:defRPr/>
                      </a:pPr>
                      <a:r>
                        <a:rPr lang="en-US" sz="850" b="0" strike="noStrike" kern="1200">
                          <a:solidFill>
                            <a:schemeClr val="tx1"/>
                          </a:solidFill>
                          <a:effectLst/>
                          <a:latin typeface="Aptos" panose="020B0004020202020204" pitchFamily="34" charset="0"/>
                          <a:ea typeface="+mn-ea"/>
                          <a:cs typeface="+mn-cs"/>
                        </a:rPr>
                        <a:t>1/26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a:lnSpc>
                          <a:spcPct val="114999"/>
                        </a:lnSpc>
                        <a:spcAft>
                          <a:spcPts val="800"/>
                        </a:spcAft>
                        <a:buNone/>
                      </a:pPr>
                      <a:endParaRPr lang="en-US" sz="850" b="0" i="0" u="none" strike="noStrike" kern="100" noProof="0">
                        <a:solidFill>
                          <a:schemeClr val="dk1"/>
                        </a:solidFill>
                        <a:effectLst/>
                        <a:latin typeface="Aptos" panose="020B00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805706767"/>
                  </a:ext>
                </a:extLst>
              </a:tr>
              <a:tr h="260595">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50">
                          <a:latin typeface="Aptos" panose="020B0004020202020204" pitchFamily="34" charset="0"/>
                        </a:rPr>
                        <a:t>Provide effort estimates for all changes without new architectural solution based on Line Dev/TA designs.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a:lnSpc>
                          <a:spcPct val="95000"/>
                        </a:lnSpc>
                        <a:spcBef>
                          <a:spcPct val="0"/>
                        </a:spcBef>
                        <a:spcAft>
                          <a:spcPct val="50000"/>
                        </a:spcAft>
                        <a:buClrTx/>
                        <a:buSzTx/>
                        <a:buFontTx/>
                        <a:buNone/>
                        <a:tabLst/>
                      </a:pPr>
                      <a:r>
                        <a:rPr lang="en-US" sz="850" b="0" kern="1200">
                          <a:solidFill>
                            <a:schemeClr val="tx1"/>
                          </a:solidFill>
                          <a:effectLst/>
                          <a:latin typeface="Aptos" panose="020B0004020202020204" pitchFamily="34" charset="0"/>
                          <a:ea typeface="+mn-ea"/>
                          <a:cs typeface="+mn-cs"/>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0" hangingPunct="1">
                        <a:lnSpc>
                          <a:spcPct val="95000"/>
                        </a:lnSpc>
                        <a:spcBef>
                          <a:spcPct val="0"/>
                        </a:spcBef>
                        <a:spcAft>
                          <a:spcPct val="50000"/>
                        </a:spcAft>
                        <a:buClrTx/>
                        <a:buSzTx/>
                        <a:buFontTx/>
                        <a:buNone/>
                        <a:tabLst/>
                        <a:defRPr/>
                      </a:pPr>
                      <a:r>
                        <a:rPr lang="en-US" sz="850" b="0" strike="noStrike" kern="1200">
                          <a:solidFill>
                            <a:schemeClr val="tx1"/>
                          </a:solidFill>
                          <a:effectLst/>
                          <a:latin typeface="Aptos" panose="020B0004020202020204" pitchFamily="34" charset="0"/>
                          <a:ea typeface="+mn-ea"/>
                          <a:cs typeface="+mn-cs"/>
                        </a:rPr>
                        <a:t>1/30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a:lnSpc>
                          <a:spcPct val="114999"/>
                        </a:lnSpc>
                        <a:spcAft>
                          <a:spcPts val="800"/>
                        </a:spcAft>
                        <a:buNone/>
                      </a:pPr>
                      <a:endParaRPr lang="en-US" sz="850" b="0" i="0" u="none" strike="noStrike" kern="100" noProof="0">
                        <a:solidFill>
                          <a:schemeClr val="dk1"/>
                        </a:solidFill>
                        <a:effectLst/>
                        <a:latin typeface="Aptos" panose="020B00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943924009"/>
                  </a:ext>
                </a:extLst>
              </a:tr>
              <a:tr h="237034">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50" kern="1200">
                          <a:solidFill>
                            <a:schemeClr val="dk1"/>
                          </a:solidFill>
                          <a:latin typeface="Aptos" panose="020B0004020202020204" pitchFamily="34" charset="0"/>
                          <a:ea typeface="+mn-ea"/>
                          <a:cs typeface="+mn-cs"/>
                        </a:rPr>
                        <a:t>Business requirements on open questions; Pi.com</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r>
                        <a:rPr lang="en-US" sz="850" b="0" kern="1200">
                          <a:solidFill>
                            <a:schemeClr val="tx1"/>
                          </a:solidFill>
                          <a:effectLst/>
                          <a:latin typeface="Aptos" panose="020B0004020202020204" pitchFamily="34" charset="0"/>
                          <a:ea typeface="+mn-ea"/>
                          <a:cs typeface="+mn-cs"/>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r>
                        <a:rPr lang="en-US" sz="850" b="0" strike="noStrike" kern="1200">
                          <a:solidFill>
                            <a:schemeClr val="tx1"/>
                          </a:solidFill>
                          <a:effectLst/>
                          <a:latin typeface="Aptos" panose="020B0004020202020204" pitchFamily="34" charset="0"/>
                          <a:ea typeface="+mn-ea"/>
                          <a:cs typeface="+mn-cs"/>
                        </a:rPr>
                        <a:t>1/16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l" rtl="0" fontAlgn="base">
                        <a:lnSpc>
                          <a:spcPts val="600"/>
                        </a:lnSpc>
                        <a:spcBef>
                          <a:spcPts val="300"/>
                        </a:spcBef>
                        <a:buNone/>
                      </a:pPr>
                      <a:endParaRPr lang="en-US" sz="850" b="0" i="0">
                        <a:solidFill>
                          <a:srgbClr val="000000"/>
                        </a:solidFill>
                        <a:effectLst/>
                        <a:latin typeface="Aptos" panose="020B00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073210692"/>
                  </a:ext>
                </a:extLst>
              </a:tr>
              <a:tr h="247540">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50" kern="1200">
                          <a:solidFill>
                            <a:schemeClr val="dk1"/>
                          </a:solidFill>
                          <a:latin typeface="Aptos" panose="020B0004020202020204" pitchFamily="34" charset="0"/>
                          <a:ea typeface="+mn-ea"/>
                          <a:cs typeface="+mn-cs"/>
                        </a:rPr>
                        <a:t>Deliver end‑to‑end architectural design for the new solution. Technical design walkthrough</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850">
                          <a:latin typeface="Aptos" panose="020B0004020202020204" pitchFamily="34" charset="0"/>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850" b="0" strike="noStrike" kern="1200">
                          <a:solidFill>
                            <a:schemeClr val="tx1"/>
                          </a:solidFill>
                          <a:effectLst/>
                          <a:latin typeface="Aptos" panose="020B0004020202020204" pitchFamily="34" charset="0"/>
                          <a:ea typeface="+mn-ea"/>
                          <a:cs typeface="+mn-cs"/>
                        </a:rPr>
                        <a:t>1/30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base" latinLnBrk="0" hangingPunct="1">
                        <a:lnSpc>
                          <a:spcPct val="100000"/>
                        </a:lnSpc>
                        <a:spcBef>
                          <a:spcPts val="200"/>
                        </a:spcBef>
                        <a:spcAft>
                          <a:spcPts val="0"/>
                        </a:spcAft>
                        <a:buClrTx/>
                        <a:buSzTx/>
                        <a:buFontTx/>
                        <a:buNone/>
                        <a:tabLst/>
                        <a:defRPr/>
                      </a:pPr>
                      <a:endParaRPr lang="en-US" sz="850" kern="100">
                        <a:solidFill>
                          <a:schemeClr val="dk1"/>
                        </a:solidFill>
                        <a:latin typeface="Aptos" panose="020B0004020202020204" pitchFamily="34" charset="0"/>
                        <a:cs typeface="Times New Roman"/>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387139067"/>
                  </a:ext>
                </a:extLst>
              </a:tr>
              <a:tr h="262543">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50" kern="1200">
                          <a:solidFill>
                            <a:schemeClr val="dk1"/>
                          </a:solidFill>
                          <a:latin typeface="Aptos" panose="020B0004020202020204" pitchFamily="34" charset="0"/>
                          <a:ea typeface="+mn-ea"/>
                          <a:cs typeface="+mn-cs"/>
                        </a:rPr>
                        <a:t>Provide L1 project estimates with high‑level scope and effort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850">
                          <a:latin typeface="Aptos" panose="020B0004020202020204" pitchFamily="34" charset="0"/>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lvl="0" algn="ctr">
                        <a:buNone/>
                      </a:pPr>
                      <a:r>
                        <a:rPr lang="en-US" sz="850" b="0" strike="noStrike" kern="1200">
                          <a:solidFill>
                            <a:schemeClr val="tx1"/>
                          </a:solidFill>
                          <a:effectLst/>
                          <a:latin typeface="Aptos" panose="020B0004020202020204" pitchFamily="34" charset="0"/>
                          <a:ea typeface="+mn-ea"/>
                          <a:cs typeface="+mn-cs"/>
                        </a:rPr>
                        <a:t>2/6</a:t>
                      </a:r>
                      <a:endParaRPr lang="en-US" sz="850">
                        <a:latin typeface="Aptos"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rtl="0" eaLnBrk="1" fontAlgn="base" latinLnBrk="0" hangingPunct="1">
                        <a:lnSpc>
                          <a:spcPct val="114999"/>
                        </a:lnSpc>
                        <a:spcBef>
                          <a:spcPts val="200"/>
                        </a:spcBef>
                        <a:spcAft>
                          <a:spcPts val="800"/>
                        </a:spcAft>
                        <a:buClrTx/>
                        <a:buSzTx/>
                        <a:buFontTx/>
                        <a:buNone/>
                      </a:pPr>
                      <a:endParaRPr lang="en-US" sz="850" b="0" i="0" u="none" strike="noStrike" kern="100">
                        <a:solidFill>
                          <a:schemeClr val="dk1"/>
                        </a:solidFill>
                        <a:effectLst/>
                        <a:latin typeface="Aptos" panose="020B0004020202020204" pitchFamily="34" charset="0"/>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775249404"/>
                  </a:ext>
                </a:extLst>
              </a:tr>
              <a:tr h="267711">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50" kern="1200">
                          <a:solidFill>
                            <a:schemeClr val="dk1"/>
                          </a:solidFill>
                          <a:latin typeface="Aptos" panose="020B0004020202020204" pitchFamily="34" charset="0"/>
                          <a:ea typeface="+mn-ea"/>
                          <a:cs typeface="+mn-cs"/>
                        </a:rPr>
                        <a:t>Perform a line walkthrough to review processes and ensure cross‑team alignment. For line estimation</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850">
                          <a:latin typeface="Aptos" panose="020B0004020202020204" pitchFamily="34" charset="0"/>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850" strike="noStrike">
                          <a:latin typeface="Aptos" panose="020B0004020202020204" pitchFamily="34" charset="0"/>
                        </a:rPr>
                        <a:t>1/30-2/13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rtl="0" eaLnBrk="1" fontAlgn="ctr" latinLnBrk="0" hangingPunct="1">
                        <a:lnSpc>
                          <a:spcPct val="114999"/>
                        </a:lnSpc>
                        <a:spcBef>
                          <a:spcPct val="0"/>
                        </a:spcBef>
                        <a:spcAft>
                          <a:spcPts val="800"/>
                        </a:spcAft>
                        <a:buClrTx/>
                        <a:buSzTx/>
                        <a:buFontTx/>
                        <a:buNone/>
                      </a:pPr>
                      <a:r>
                        <a:rPr lang="en-US" sz="850" b="0" i="0" u="none" strike="noStrike" kern="100">
                          <a:solidFill>
                            <a:schemeClr val="dk1"/>
                          </a:solidFill>
                          <a:effectLst/>
                          <a:latin typeface="Aptos" panose="020B0004020202020204" pitchFamily="34" charset="0"/>
                          <a:ea typeface="+mn-ea"/>
                          <a:cs typeface="+mn-cs"/>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676961585"/>
                  </a:ext>
                </a:extLst>
              </a:tr>
              <a:tr h="300665">
                <a:tc>
                  <a:txBody>
                    <a:bodyPr/>
                    <a:lstStyle/>
                    <a:p>
                      <a:pPr marL="114300" marR="0" lvl="0" indent="0" algn="l" rtl="0" eaLnBrk="1" fontAlgn="auto" latinLnBrk="0" hangingPunct="1">
                        <a:lnSpc>
                          <a:spcPct val="95000"/>
                        </a:lnSpc>
                        <a:spcBef>
                          <a:spcPct val="0"/>
                        </a:spcBef>
                        <a:spcAft>
                          <a:spcPct val="50000"/>
                        </a:spcAft>
                        <a:buClrTx/>
                        <a:buSzTx/>
                        <a:buFontTx/>
                        <a:buNone/>
                      </a:pPr>
                      <a:r>
                        <a:rPr lang="en-US" sz="850" kern="1200">
                          <a:solidFill>
                            <a:schemeClr val="dk1"/>
                          </a:solidFill>
                          <a:latin typeface="Aptos" panose="020B0004020202020204" pitchFamily="34" charset="0"/>
                          <a:ea typeface="+mn-ea"/>
                          <a:cs typeface="+mn-cs"/>
                        </a:rPr>
                        <a:t>Complete line‑level effort estimation for all impacted changes. (L2)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850">
                          <a:latin typeface="Aptos" panose="020B0004020202020204" pitchFamily="34" charset="0"/>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850" strike="noStrike">
                          <a:latin typeface="Aptos" panose="020B0004020202020204" pitchFamily="34" charset="0"/>
                        </a:rPr>
                        <a:t>2/9 – 2/20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rtl="0" eaLnBrk="1" fontAlgn="ctr" latinLnBrk="0" hangingPunct="1">
                        <a:lnSpc>
                          <a:spcPct val="95000"/>
                        </a:lnSpc>
                        <a:spcBef>
                          <a:spcPct val="0"/>
                        </a:spcBef>
                        <a:spcAft>
                          <a:spcPct val="50000"/>
                        </a:spcAft>
                        <a:buClrTx/>
                        <a:buSzTx/>
                        <a:buFontTx/>
                        <a:buNone/>
                      </a:pPr>
                      <a:r>
                        <a:rPr lang="en-US" sz="850" b="0" kern="1200">
                          <a:solidFill>
                            <a:schemeClr val="tx1"/>
                          </a:solidFill>
                          <a:effectLst/>
                          <a:latin typeface="Aptos" panose="020B0004020202020204" pitchFamily="34" charset="0"/>
                          <a:ea typeface="+mn-ea"/>
                          <a:cs typeface="+mn-cs"/>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617819655"/>
                  </a:ext>
                </a:extLst>
              </a:tr>
              <a:tr h="218965">
                <a:tc>
                  <a:txBody>
                    <a:bodyPr/>
                    <a:lstStyle/>
                    <a:p>
                      <a:pPr marL="114300" marR="0" lvl="0" indent="0" algn="l" rtl="0" eaLnBrk="1" fontAlgn="auto" latinLnBrk="0" hangingPunct="1">
                        <a:lnSpc>
                          <a:spcPct val="95000"/>
                        </a:lnSpc>
                        <a:spcBef>
                          <a:spcPct val="0"/>
                        </a:spcBef>
                        <a:spcAft>
                          <a:spcPct val="50000"/>
                        </a:spcAft>
                        <a:buClrTx/>
                        <a:buSzTx/>
                        <a:buFontTx/>
                        <a:buNone/>
                      </a:pPr>
                      <a:r>
                        <a:rPr lang="en-US" sz="850" kern="1200">
                          <a:solidFill>
                            <a:schemeClr val="dk1"/>
                          </a:solidFill>
                          <a:latin typeface="Aptos" panose="020B0004020202020204" pitchFamily="34" charset="0"/>
                          <a:ea typeface="+mn-ea"/>
                          <a:cs typeface="+mn-cs"/>
                        </a:rPr>
                        <a:t>Wave – 3 : DDIT activities.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850">
                          <a:latin typeface="Aptos" panose="020B0004020202020204" pitchFamily="34" charset="0"/>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850">
                          <a:latin typeface="Aptos" panose="020B0004020202020204" pitchFamily="34" charset="0"/>
                        </a:rPr>
                        <a:t>07/20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rtl="0" eaLnBrk="1" fontAlgn="ctr" latinLnBrk="0" hangingPunct="1">
                        <a:lnSpc>
                          <a:spcPct val="95000"/>
                        </a:lnSpc>
                        <a:spcBef>
                          <a:spcPct val="0"/>
                        </a:spcBef>
                        <a:spcAft>
                          <a:spcPct val="50000"/>
                        </a:spcAft>
                        <a:buClrTx/>
                        <a:buSzTx/>
                        <a:buFontTx/>
                        <a:buNone/>
                      </a:pPr>
                      <a:r>
                        <a:rPr lang="en-US" sz="850" b="0" kern="1200">
                          <a:solidFill>
                            <a:schemeClr val="tx1"/>
                          </a:solidFill>
                          <a:effectLst/>
                          <a:latin typeface="Aptos" panose="020B0004020202020204" pitchFamily="34" charset="0"/>
                          <a:ea typeface="+mn-ea"/>
                          <a:cs typeface="+mn-cs"/>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162506059"/>
                  </a:ext>
                </a:extLst>
              </a:tr>
              <a:tr h="198782">
                <a:tc>
                  <a:txBody>
                    <a:bodyPr/>
                    <a:lstStyle/>
                    <a:p>
                      <a:pPr marL="114300" lvl="0" indent="0" algn="l">
                        <a:lnSpc>
                          <a:spcPct val="95000"/>
                        </a:lnSpc>
                        <a:spcBef>
                          <a:spcPct val="0"/>
                        </a:spcBef>
                        <a:spcAft>
                          <a:spcPct val="50000"/>
                        </a:spcAft>
                        <a:buNone/>
                      </a:pPr>
                      <a:r>
                        <a:rPr lang="en-US" sz="850" kern="1200">
                          <a:solidFill>
                            <a:schemeClr val="dk1"/>
                          </a:solidFill>
                          <a:latin typeface="Aptos" panose="020B0004020202020204" pitchFamily="34" charset="0"/>
                          <a:ea typeface="+mn-ea"/>
                          <a:cs typeface="+mn-cs"/>
                        </a:rPr>
                        <a:t>Wave – 3 : E2E Testing</a:t>
                      </a:r>
                    </a:p>
                  </a:txBody>
                  <a:tcPr marL="9524" marR="9524" marT="9524" marB="0" anchor="ctr">
                    <a:lnL w="12700">
                      <a:solidFill>
                        <a:schemeClr val="tx1"/>
                      </a:solidFill>
                    </a:lnL>
                    <a:lnR w="12700">
                      <a:solidFill>
                        <a:schemeClr val="tx1"/>
                      </a:solidFill>
                    </a:lnR>
                    <a:lnT w="12700">
                      <a:solidFill>
                        <a:schemeClr val="tx1"/>
                      </a:solidFill>
                    </a:lnT>
                    <a:lnB w="12700">
                      <a:solidFill>
                        <a:schemeClr val="tx1"/>
                      </a:solidFill>
                    </a:lnB>
                    <a:lnTlToBr w="0">
                      <a:noFill/>
                    </a:lnTlToBr>
                    <a:lnBlToTr w="0">
                      <a:noFill/>
                    </a:lnBlToTr>
                    <a:solidFill>
                      <a:schemeClr val="bg1">
                        <a:lumMod val="85000"/>
                      </a:schemeClr>
                    </a:solidFill>
                  </a:tcPr>
                </a:tc>
                <a:tc>
                  <a:txBody>
                    <a:bodyPr/>
                    <a:lstStyle/>
                    <a:p>
                      <a:pPr lvl="0" algn="ctr">
                        <a:buNone/>
                      </a:pPr>
                      <a:r>
                        <a:rPr lang="en-US" sz="850">
                          <a:latin typeface="Aptos" panose="020B0004020202020204" pitchFamily="34" charset="0"/>
                        </a:rPr>
                        <a:t>C</a:t>
                      </a:r>
                    </a:p>
                  </a:txBody>
                  <a:tcPr marL="9524" marR="9524" marT="9524" marB="0" anchor="ctr">
                    <a:lnL w="12700">
                      <a:solidFill>
                        <a:schemeClr val="tx1"/>
                      </a:solidFill>
                    </a:lnL>
                    <a:lnR w="12700">
                      <a:solidFill>
                        <a:schemeClr val="tx1"/>
                      </a:solidFill>
                    </a:lnR>
                    <a:lnT w="12700">
                      <a:solidFill>
                        <a:schemeClr val="tx1"/>
                      </a:solidFill>
                    </a:lnT>
                    <a:lnB w="12700">
                      <a:solidFill>
                        <a:schemeClr val="tx1"/>
                      </a:solidFill>
                    </a:lnB>
                    <a:lnTlToBr w="0">
                      <a:noFill/>
                    </a:lnTlToBr>
                    <a:lnBlToTr w="0">
                      <a:noFill/>
                    </a:lnBlToTr>
                    <a:solidFill>
                      <a:schemeClr val="bg1">
                        <a:lumMod val="85000"/>
                      </a:schemeClr>
                    </a:solidFill>
                  </a:tcPr>
                </a:tc>
                <a:tc>
                  <a:txBody>
                    <a:bodyPr/>
                    <a:lstStyle/>
                    <a:p>
                      <a:pPr lvl="0" algn="ctr">
                        <a:buNone/>
                      </a:pPr>
                      <a:r>
                        <a:rPr lang="en-US" sz="850">
                          <a:latin typeface="Aptos" panose="020B0004020202020204" pitchFamily="34" charset="0"/>
                        </a:rPr>
                        <a:t>07/20</a:t>
                      </a:r>
                    </a:p>
                  </a:txBody>
                  <a:tcPr marL="9524" marR="9524" marT="9524" marB="0" anchor="ct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0">
                      <a:noFill/>
                    </a:lnTlToBr>
                    <a:lnBlToTr w="0">
                      <a:noFill/>
                    </a:lnBlToTr>
                    <a:solidFill>
                      <a:schemeClr val="bg1">
                        <a:lumMod val="85000"/>
                      </a:schemeClr>
                    </a:solidFill>
                  </a:tcPr>
                </a:tc>
                <a:tc>
                  <a:txBody>
                    <a:bodyPr/>
                    <a:lstStyle/>
                    <a:p>
                      <a:pPr marL="0" lvl="0" indent="0" algn="l">
                        <a:lnSpc>
                          <a:spcPct val="95000"/>
                        </a:lnSpc>
                        <a:spcBef>
                          <a:spcPct val="0"/>
                        </a:spcBef>
                        <a:spcAft>
                          <a:spcPct val="50000"/>
                        </a:spcAft>
                        <a:buNone/>
                      </a:pPr>
                      <a:endParaRPr lang="en-US" sz="850" b="0" kern="1200">
                        <a:solidFill>
                          <a:schemeClr val="tx1"/>
                        </a:solidFill>
                        <a:effectLst/>
                        <a:latin typeface="Aptos" panose="020B0004020202020204" pitchFamily="34" charset="0"/>
                        <a:ea typeface="+mn-ea"/>
                        <a:cs typeface="+mn-cs"/>
                      </a:endParaRPr>
                    </a:p>
                  </a:txBody>
                  <a:tcPr marL="9524" marR="9524" marT="9524" marB="0" anchor="ctr">
                    <a:lnL w="12700">
                      <a:solidFill>
                        <a:schemeClr val="tx1"/>
                      </a:solidFill>
                    </a:lnL>
                    <a:lnR w="12700">
                      <a:solidFill>
                        <a:schemeClr val="tx1"/>
                      </a:solidFill>
                    </a:lnR>
                    <a:lnT w="12700">
                      <a:solidFill>
                        <a:schemeClr val="tx1"/>
                      </a:solidFill>
                    </a:lnT>
                    <a:lnB w="12700">
                      <a:solidFill>
                        <a:schemeClr val="tx1"/>
                      </a:solidFill>
                    </a:lnB>
                    <a:lnTlToBr w="0">
                      <a:noFill/>
                    </a:lnTlToBr>
                    <a:lnBlToTr w="0">
                      <a:noFill/>
                    </a:lnBlToTr>
                    <a:solidFill>
                      <a:schemeClr val="bg1">
                        <a:lumMod val="85000"/>
                      </a:schemeClr>
                    </a:solidFill>
                  </a:tcPr>
                </a:tc>
                <a:extLst>
                  <a:ext uri="{0D108BD9-81ED-4DB2-BD59-A6C34878D82A}">
                    <a16:rowId xmlns:a16="http://schemas.microsoft.com/office/drawing/2014/main" val="704749405"/>
                  </a:ext>
                </a:extLst>
              </a:tr>
              <a:tr h="198783">
                <a:tc>
                  <a:txBody>
                    <a:bodyPr/>
                    <a:lstStyle/>
                    <a:p>
                      <a:pPr marL="114300" marR="0" lvl="0" indent="0" algn="l" rtl="0" eaLnBrk="1" fontAlgn="auto" latinLnBrk="0" hangingPunct="1">
                        <a:lnSpc>
                          <a:spcPct val="95000"/>
                        </a:lnSpc>
                        <a:spcBef>
                          <a:spcPct val="0"/>
                        </a:spcBef>
                        <a:spcAft>
                          <a:spcPct val="50000"/>
                        </a:spcAft>
                        <a:buClrTx/>
                        <a:buSzTx/>
                        <a:buFontTx/>
                        <a:buNone/>
                      </a:pPr>
                      <a:r>
                        <a:rPr lang="en-US" sz="850" kern="1200">
                          <a:solidFill>
                            <a:schemeClr val="dk1"/>
                          </a:solidFill>
                          <a:latin typeface="Aptos" panose="020B0004020202020204" pitchFamily="34" charset="0"/>
                          <a:ea typeface="+mn-ea"/>
                          <a:cs typeface="+mn-cs"/>
                        </a:rPr>
                        <a:t>Wave – 3 : UAT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850">
                          <a:latin typeface="Aptos" panose="020B0004020202020204" pitchFamily="34" charset="0"/>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850">
                          <a:latin typeface="Aptos" panose="020B0004020202020204" pitchFamily="34" charset="0"/>
                        </a:rPr>
                        <a:t>07/31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rtl="0" eaLnBrk="1" fontAlgn="ctr" latinLnBrk="0" hangingPunct="1">
                        <a:lnSpc>
                          <a:spcPct val="95000"/>
                        </a:lnSpc>
                        <a:spcBef>
                          <a:spcPct val="0"/>
                        </a:spcBef>
                        <a:spcAft>
                          <a:spcPct val="50000"/>
                        </a:spcAft>
                        <a:buClrTx/>
                        <a:buSzTx/>
                        <a:buFontTx/>
                        <a:buNone/>
                      </a:pPr>
                      <a:endParaRPr lang="en-US" sz="850" b="0" kern="1200">
                        <a:solidFill>
                          <a:schemeClr val="tx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491871358"/>
                  </a:ext>
                </a:extLst>
              </a:tr>
              <a:tr h="222637">
                <a:tc>
                  <a:txBody>
                    <a:bodyPr/>
                    <a:lstStyle/>
                    <a:p>
                      <a:pPr marL="114300" marR="0" lvl="0" indent="0" algn="l" rtl="0" eaLnBrk="1" fontAlgn="auto" latinLnBrk="0" hangingPunct="1">
                        <a:lnSpc>
                          <a:spcPct val="95000"/>
                        </a:lnSpc>
                        <a:spcBef>
                          <a:spcPct val="0"/>
                        </a:spcBef>
                        <a:spcAft>
                          <a:spcPct val="50000"/>
                        </a:spcAft>
                        <a:buClrTx/>
                        <a:buSzTx/>
                        <a:buFontTx/>
                        <a:buNone/>
                      </a:pPr>
                      <a:r>
                        <a:rPr lang="en-US" sz="850" kern="1200">
                          <a:solidFill>
                            <a:schemeClr val="dk1"/>
                          </a:solidFill>
                          <a:latin typeface="Aptos" panose="020B0004020202020204" pitchFamily="34" charset="0"/>
                          <a:ea typeface="+mn-ea"/>
                          <a:cs typeface="+mn-cs"/>
                        </a:rPr>
                        <a:t>Wave – 3 : Implementation Planning</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850">
                          <a:latin typeface="Aptos" panose="020B0004020202020204" pitchFamily="34" charset="0"/>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850">
                          <a:latin typeface="Aptos" panose="020B0004020202020204" pitchFamily="34" charset="0"/>
                        </a:rPr>
                        <a:t>08/03 - 08/05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rtl="0" eaLnBrk="1" fontAlgn="ctr" latinLnBrk="0" hangingPunct="1">
                        <a:lnSpc>
                          <a:spcPct val="95000"/>
                        </a:lnSpc>
                        <a:spcBef>
                          <a:spcPct val="0"/>
                        </a:spcBef>
                        <a:spcAft>
                          <a:spcPct val="50000"/>
                        </a:spcAft>
                        <a:buClrTx/>
                        <a:buSzTx/>
                        <a:buFontTx/>
                        <a:buNone/>
                      </a:pPr>
                      <a:endParaRPr lang="en-US" sz="850" b="0" kern="1200">
                        <a:solidFill>
                          <a:schemeClr val="tx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571060909"/>
                  </a:ext>
                </a:extLst>
              </a:tr>
              <a:tr h="206733">
                <a:tc>
                  <a:txBody>
                    <a:bodyPr/>
                    <a:lstStyle/>
                    <a:p>
                      <a:pPr marL="114300" marR="0" lvl="0" indent="0" algn="l" rtl="0" eaLnBrk="1" fontAlgn="auto" latinLnBrk="0" hangingPunct="1">
                        <a:lnSpc>
                          <a:spcPct val="95000"/>
                        </a:lnSpc>
                        <a:spcBef>
                          <a:spcPct val="0"/>
                        </a:spcBef>
                        <a:spcAft>
                          <a:spcPct val="50000"/>
                        </a:spcAft>
                        <a:buClrTx/>
                        <a:buSzTx/>
                        <a:buFontTx/>
                        <a:buNone/>
                      </a:pPr>
                      <a:r>
                        <a:rPr lang="en-US" sz="850" kern="1200">
                          <a:solidFill>
                            <a:schemeClr val="dk1"/>
                          </a:solidFill>
                          <a:latin typeface="Aptos" panose="020B0004020202020204" pitchFamily="34" charset="0"/>
                          <a:ea typeface="+mn-ea"/>
                          <a:cs typeface="+mn-cs"/>
                        </a:rPr>
                        <a:t>GO / No Go</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850">
                          <a:latin typeface="Aptos" panose="020B0004020202020204" pitchFamily="34" charset="0"/>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850">
                          <a:latin typeface="Aptos" panose="020B0004020202020204" pitchFamily="34" charset="0"/>
                        </a:rPr>
                        <a:t>08/10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rtl="0" eaLnBrk="1" fontAlgn="ctr" latinLnBrk="0" hangingPunct="1">
                        <a:lnSpc>
                          <a:spcPct val="95000"/>
                        </a:lnSpc>
                        <a:spcBef>
                          <a:spcPct val="0"/>
                        </a:spcBef>
                        <a:spcAft>
                          <a:spcPct val="50000"/>
                        </a:spcAft>
                        <a:buClrTx/>
                        <a:buSzTx/>
                        <a:buFontTx/>
                        <a:buNone/>
                      </a:pPr>
                      <a:endParaRPr lang="en-US" sz="850" b="0" kern="1200">
                        <a:solidFill>
                          <a:schemeClr val="tx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096385430"/>
                  </a:ext>
                </a:extLst>
              </a:tr>
              <a:tr h="204437">
                <a:tc>
                  <a:txBody>
                    <a:bodyPr/>
                    <a:lstStyle/>
                    <a:p>
                      <a:pPr marL="114300" marR="0" lvl="0" indent="0" algn="l" rtl="0" eaLnBrk="1" fontAlgn="auto" latinLnBrk="0" hangingPunct="1">
                        <a:lnSpc>
                          <a:spcPct val="95000"/>
                        </a:lnSpc>
                        <a:spcBef>
                          <a:spcPct val="0"/>
                        </a:spcBef>
                        <a:spcAft>
                          <a:spcPct val="50000"/>
                        </a:spcAft>
                        <a:buClrTx/>
                        <a:buSzTx/>
                        <a:buFontTx/>
                        <a:buNone/>
                      </a:pPr>
                      <a:r>
                        <a:rPr lang="en-US" sz="850" kern="1200">
                          <a:solidFill>
                            <a:schemeClr val="dk1"/>
                          </a:solidFill>
                          <a:latin typeface="Aptos" panose="020B0004020202020204" pitchFamily="34" charset="0"/>
                          <a:ea typeface="+mn-ea"/>
                          <a:cs typeface="+mn-cs"/>
                        </a:rPr>
                        <a:t>Go Live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0D3D4"/>
                    </a:solidFill>
                  </a:tcPr>
                </a:tc>
                <a:tc>
                  <a:txBody>
                    <a:bodyPr/>
                    <a:lstStyle/>
                    <a:p>
                      <a:pPr algn="ctr"/>
                      <a:r>
                        <a:rPr lang="en-US" sz="850">
                          <a:latin typeface="Aptos" panose="020B0004020202020204" pitchFamily="34" charset="0"/>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0D3D4"/>
                    </a:solidFill>
                  </a:tcPr>
                </a:tc>
                <a:tc>
                  <a:txBody>
                    <a:bodyPr/>
                    <a:lstStyle/>
                    <a:p>
                      <a:pPr marL="114300" marR="0" lvl="0" indent="0" algn="l" defTabSz="914400" rtl="0" eaLnBrk="1" fontAlgn="auto" latinLnBrk="0" hangingPunct="1">
                        <a:lnSpc>
                          <a:spcPct val="95000"/>
                        </a:lnSpc>
                        <a:spcBef>
                          <a:spcPct val="0"/>
                        </a:spcBef>
                        <a:spcAft>
                          <a:spcPct val="50000"/>
                        </a:spcAft>
                        <a:buClrTx/>
                        <a:buSzTx/>
                        <a:buFontTx/>
                        <a:buNone/>
                      </a:pPr>
                      <a:r>
                        <a:rPr lang="en-US" sz="850" kern="1200">
                          <a:solidFill>
                            <a:schemeClr val="dk1"/>
                          </a:solidFill>
                          <a:latin typeface="Aptos" panose="020B0004020202020204" pitchFamily="34" charset="0"/>
                          <a:ea typeface="+mn-ea"/>
                          <a:cs typeface="+mn-cs"/>
                        </a:rPr>
                        <a:t>08/12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0D3D4"/>
                    </a:solidFill>
                  </a:tcPr>
                </a:tc>
                <a:tc>
                  <a:txBody>
                    <a:bodyPr/>
                    <a:lstStyle/>
                    <a:p>
                      <a:pPr marL="114300" marR="0" lvl="0" indent="0" algn="l" defTabSz="914400" rtl="0" eaLnBrk="1" fontAlgn="auto" latinLnBrk="0" hangingPunct="1">
                        <a:lnSpc>
                          <a:spcPct val="95000"/>
                        </a:lnSpc>
                        <a:spcBef>
                          <a:spcPct val="0"/>
                        </a:spcBef>
                        <a:spcAft>
                          <a:spcPct val="50000"/>
                        </a:spcAft>
                        <a:buClrTx/>
                        <a:buSzTx/>
                        <a:buFontTx/>
                        <a:buNone/>
                      </a:pPr>
                      <a:endParaRPr lang="en-US" sz="850" kern="1200">
                        <a:solidFill>
                          <a:schemeClr val="dk1"/>
                        </a:solidFill>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0D3D4"/>
                    </a:solidFill>
                  </a:tcPr>
                </a:tc>
                <a:extLst>
                  <a:ext uri="{0D108BD9-81ED-4DB2-BD59-A6C34878D82A}">
                    <a16:rowId xmlns:a16="http://schemas.microsoft.com/office/drawing/2014/main" val="3942347387"/>
                  </a:ext>
                </a:extLst>
              </a:tr>
              <a:tr h="204437">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00">
                          <a:latin typeface="Aptos" panose="020B0004020202020204" pitchFamily="34" charset="0"/>
                          <a:ea typeface="Aptos" panose="020B0004020202020204" pitchFamily="34" charset="0"/>
                          <a:cs typeface="Arial"/>
                        </a:rPr>
                        <a:t>REN CR - </a:t>
                      </a:r>
                      <a:r>
                        <a:rPr lang="en-US" sz="800">
                          <a:latin typeface="Aptos" panose="020B0004020202020204" pitchFamily="34" charset="0"/>
                          <a:cs typeface="Arial"/>
                        </a:rPr>
                        <a:t>PML Form Updates </a:t>
                      </a:r>
                    </a:p>
                    <a:p>
                      <a:pPr marL="114300" marR="0" lvl="0" indent="0" algn="l" defTabSz="914400" rtl="0" eaLnBrk="1" fontAlgn="auto" latinLnBrk="0" hangingPunct="1">
                        <a:lnSpc>
                          <a:spcPct val="95000"/>
                        </a:lnSpc>
                        <a:spcBef>
                          <a:spcPct val="0"/>
                        </a:spcBef>
                        <a:spcAft>
                          <a:spcPct val="50000"/>
                        </a:spcAft>
                        <a:buClrTx/>
                        <a:buSzTx/>
                        <a:buFontTx/>
                        <a:buNone/>
                        <a:tabLst/>
                        <a:defRPr/>
                      </a:pPr>
                      <a:endParaRPr lang="en-US" sz="800" kern="1200">
                        <a:solidFill>
                          <a:schemeClr val="dk1"/>
                        </a:solidFill>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latin typeface="+mn-l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00">
                          <a:latin typeface="+mn-lt"/>
                        </a:rPr>
                        <a:t>09/16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eaLnBrk="1" fontAlgn="ctr" latinLnBrk="0" hangingPunct="1">
                        <a:lnSpc>
                          <a:spcPct val="95000"/>
                        </a:lnSpc>
                        <a:spcBef>
                          <a:spcPct val="0"/>
                        </a:spcBef>
                        <a:spcAft>
                          <a:spcPct val="50000"/>
                        </a:spcAft>
                        <a:buClrTx/>
                        <a:buSzTx/>
                        <a:buFontTx/>
                        <a:buNone/>
                      </a:pPr>
                      <a:r>
                        <a:rPr lang="en-US" sz="800" b="0" kern="1200">
                          <a:solidFill>
                            <a:schemeClr val="tx1"/>
                          </a:solidFill>
                          <a:effectLst/>
                          <a:latin typeface="+mn-lt"/>
                          <a:ea typeface="+mn-ea"/>
                          <a:cs typeface="+mn-cs"/>
                        </a:rPr>
                        <a:t>UAT completed. Ready for prod release for 09/16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4125628"/>
                  </a:ext>
                </a:extLst>
              </a:tr>
            </a:tbl>
          </a:graphicData>
        </a:graphic>
      </p:graphicFrame>
      <p:graphicFrame>
        <p:nvGraphicFramePr>
          <p:cNvPr id="29" name="Table 28">
            <a:extLst>
              <a:ext uri="{FF2B5EF4-FFF2-40B4-BE49-F238E27FC236}">
                <a16:creationId xmlns:a16="http://schemas.microsoft.com/office/drawing/2014/main" id="{CA4961B3-0BF9-23B0-0987-6591FCA1E979}"/>
              </a:ext>
            </a:extLst>
          </p:cNvPr>
          <p:cNvGraphicFramePr>
            <a:graphicFrameLocks noGrp="1"/>
          </p:cNvGraphicFramePr>
          <p:nvPr>
            <p:extLst>
              <p:ext uri="{D42A27DB-BD31-4B8C-83A1-F6EECF244321}">
                <p14:modId xmlns:p14="http://schemas.microsoft.com/office/powerpoint/2010/main" val="3893667084"/>
              </p:ext>
            </p:extLst>
          </p:nvPr>
        </p:nvGraphicFramePr>
        <p:xfrm>
          <a:off x="4855801" y="5540360"/>
          <a:ext cx="7136859" cy="714807"/>
        </p:xfrm>
        <a:graphic>
          <a:graphicData uri="http://schemas.openxmlformats.org/drawingml/2006/table">
            <a:tbl>
              <a:tblPr>
                <a:tableStyleId>{5C22544A-7EE6-4342-B048-85BDC9FD1C3A}</a:tableStyleId>
              </a:tblPr>
              <a:tblGrid>
                <a:gridCol w="2700559">
                  <a:extLst>
                    <a:ext uri="{9D8B030D-6E8A-4147-A177-3AD203B41FA5}">
                      <a16:colId xmlns:a16="http://schemas.microsoft.com/office/drawing/2014/main" val="2456552316"/>
                    </a:ext>
                  </a:extLst>
                </a:gridCol>
                <a:gridCol w="482321">
                  <a:extLst>
                    <a:ext uri="{9D8B030D-6E8A-4147-A177-3AD203B41FA5}">
                      <a16:colId xmlns:a16="http://schemas.microsoft.com/office/drawing/2014/main" val="1100051595"/>
                    </a:ext>
                  </a:extLst>
                </a:gridCol>
                <a:gridCol w="482321">
                  <a:extLst>
                    <a:ext uri="{9D8B030D-6E8A-4147-A177-3AD203B41FA5}">
                      <a16:colId xmlns:a16="http://schemas.microsoft.com/office/drawing/2014/main" val="2042261034"/>
                    </a:ext>
                  </a:extLst>
                </a:gridCol>
                <a:gridCol w="3471658">
                  <a:extLst>
                    <a:ext uri="{9D8B030D-6E8A-4147-A177-3AD203B41FA5}">
                      <a16:colId xmlns:a16="http://schemas.microsoft.com/office/drawing/2014/main" val="2815874248"/>
                    </a:ext>
                  </a:extLst>
                </a:gridCol>
              </a:tblGrid>
              <a:tr h="389213">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Critical Risks/Issues</a:t>
                      </a:r>
                      <a:endParaRPr kumimoji="0" lang="en-US" sz="1050" b="1" i="0" u="none" strike="noStrike" kern="1200" cap="none" normalizeH="0" baseline="0">
                        <a:ln>
                          <a:noFill/>
                        </a:ln>
                        <a:solidFill>
                          <a:schemeClr val="bg1"/>
                        </a:solidFill>
                        <a:effectLst/>
                        <a:latin typeface="Arial" charset="0"/>
                        <a:ea typeface="+mn-ea"/>
                        <a:cs typeface="+mn-cs"/>
                      </a:endParaRP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Status</a:t>
                      </a:r>
                    </a:p>
                  </a:txBody>
                  <a:tcPr marL="9525" marR="9525" marT="9525" marB="0" anchor="ct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1" fontAlgn="auto" latinLnBrk="0" hangingPunct="1">
                        <a:lnSpc>
                          <a:spcPct val="95000"/>
                        </a:lnSpc>
                        <a:spcBef>
                          <a:spcPct val="0"/>
                        </a:spcBef>
                        <a:spcAft>
                          <a:spcPct val="50000"/>
                        </a:spcAft>
                        <a:buClrTx/>
                        <a:buSzTx/>
                        <a:buFontTx/>
                        <a:buNone/>
                        <a:tabLst/>
                        <a:defRPr/>
                      </a:pPr>
                      <a:r>
                        <a:rPr kumimoji="0" lang="en-US" sz="1050" b="1" i="0" u="none" strike="noStrike" kern="1200" cap="none" normalizeH="0" baseline="0">
                          <a:ln>
                            <a:noFill/>
                          </a:ln>
                          <a:solidFill>
                            <a:schemeClr val="bg1"/>
                          </a:solidFill>
                          <a:effectLst/>
                          <a:latin typeface="+mn-lt"/>
                          <a:ea typeface="+mn-ea"/>
                          <a:cs typeface="+mn-cs"/>
                        </a:rPr>
                        <a:t>Target Date</a:t>
                      </a:r>
                    </a:p>
                  </a:txBody>
                  <a:tcPr marL="9525" marR="9525" marT="9525" marB="0" anchor="ctr">
                    <a:lnL w="12700">
                      <a:solidFill>
                        <a:schemeClr val="tx1"/>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Resolution / Mitigation</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325594">
                <a:tc>
                  <a:txBody>
                    <a:bodyPr/>
                    <a:lstStyle/>
                    <a:p>
                      <a:pPr marL="0" marR="0" lvl="0" indent="0" algn="l" defTabSz="914400" rtl="0" eaLnBrk="1" fontAlgn="auto" latinLnBrk="0" hangingPunct="1">
                        <a:lnSpc>
                          <a:spcPct val="115000"/>
                        </a:lnSpc>
                        <a:spcBef>
                          <a:spcPts val="0"/>
                        </a:spcBef>
                        <a:spcAft>
                          <a:spcPts val="800"/>
                        </a:spcAft>
                        <a:buClrTx/>
                        <a:buSzTx/>
                        <a:buFontTx/>
                        <a:buNone/>
                        <a:tabLst/>
                        <a:defRPr/>
                      </a:pPr>
                      <a:endParaRPr lang="en-US" sz="800">
                        <a:latin typeface="+mn-lt"/>
                      </a:endParaRP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800" b="0"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800" b="0" strike="noStrike" kern="1200">
                        <a:solidFill>
                          <a:schemeClr val="tx1"/>
                        </a:solidFill>
                        <a:effectLst/>
                        <a:latin typeface="+mn-lt"/>
                        <a:ea typeface="+mn-ea"/>
                        <a:cs typeface="+mn-cs"/>
                      </a:endParaRPr>
                    </a:p>
                  </a:txBody>
                  <a:tcPr marL="9525" marR="9525" marT="9525" marB="0" anchor="ctr">
                    <a:lnL w="12700">
                      <a:solidFill>
                        <a:schemeClr val="tx1"/>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ts val="200"/>
                        </a:spcBef>
                        <a:spcAft>
                          <a:spcPts val="0"/>
                        </a:spcAft>
                        <a:buClrTx/>
                        <a:buSzTx/>
                        <a:buFont typeface="Arial" panose="020B0604020202020204" pitchFamily="34" charset="0"/>
                        <a:buNone/>
                        <a:tabLst/>
                        <a:defRPr/>
                      </a:pPr>
                      <a:endParaRPr lang="en-US" sz="800" b="0" strike="noStrike" kern="1200">
                        <a:solidFill>
                          <a:schemeClr val="tx1"/>
                        </a:solidFill>
                        <a:effectLst/>
                        <a:latin typeface="+mn-lt"/>
                        <a:ea typeface="+mn-ea"/>
                        <a:cs typeface="+mn-cs"/>
                      </a:endParaRP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7499024"/>
                  </a:ext>
                </a:extLst>
              </a:tr>
            </a:tbl>
          </a:graphicData>
        </a:graphic>
      </p:graphicFrame>
      <p:sp>
        <p:nvSpPr>
          <p:cNvPr id="33" name="Flowchart: Connector 32">
            <a:extLst>
              <a:ext uri="{FF2B5EF4-FFF2-40B4-BE49-F238E27FC236}">
                <a16:creationId xmlns:a16="http://schemas.microsoft.com/office/drawing/2014/main" id="{93C6E7AD-445E-D669-B3AF-BA0150F743CD}"/>
              </a:ext>
            </a:extLst>
          </p:cNvPr>
          <p:cNvSpPr/>
          <p:nvPr/>
        </p:nvSpPr>
        <p:spPr>
          <a:xfrm>
            <a:off x="6610395" y="6444099"/>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Flowchart: Connector 33">
            <a:extLst>
              <a:ext uri="{FF2B5EF4-FFF2-40B4-BE49-F238E27FC236}">
                <a16:creationId xmlns:a16="http://schemas.microsoft.com/office/drawing/2014/main" id="{D8798DA8-D91E-C7BB-7EB6-11A6880AFA60}"/>
              </a:ext>
            </a:extLst>
          </p:cNvPr>
          <p:cNvSpPr/>
          <p:nvPr/>
        </p:nvSpPr>
        <p:spPr>
          <a:xfrm>
            <a:off x="7688689" y="6489974"/>
            <a:ext cx="163286" cy="164592"/>
          </a:xfrm>
          <a:prstGeom prst="flowChartConnector">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Flowchart: Connector 35">
            <a:extLst>
              <a:ext uri="{FF2B5EF4-FFF2-40B4-BE49-F238E27FC236}">
                <a16:creationId xmlns:a16="http://schemas.microsoft.com/office/drawing/2014/main" id="{3E65D73E-38F9-30A6-842F-E3A97030640E}"/>
              </a:ext>
            </a:extLst>
          </p:cNvPr>
          <p:cNvSpPr/>
          <p:nvPr/>
        </p:nvSpPr>
        <p:spPr>
          <a:xfrm>
            <a:off x="8685341" y="6505686"/>
            <a:ext cx="163285" cy="164592"/>
          </a:xfrm>
          <a:prstGeom prst="flowChartConnector">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Flowchart: Connector 42">
            <a:extLst>
              <a:ext uri="{FF2B5EF4-FFF2-40B4-BE49-F238E27FC236}">
                <a16:creationId xmlns:a16="http://schemas.microsoft.com/office/drawing/2014/main" id="{1BDE033F-0570-7F5B-365C-FB1BB7D0B121}"/>
              </a:ext>
            </a:extLst>
          </p:cNvPr>
          <p:cNvSpPr/>
          <p:nvPr/>
        </p:nvSpPr>
        <p:spPr>
          <a:xfrm>
            <a:off x="3303638" y="1403331"/>
            <a:ext cx="163285" cy="164592"/>
          </a:xfrm>
          <a:prstGeom prst="flowChartConnector">
            <a:avLst/>
          </a:prstGeom>
          <a:solidFill>
            <a:srgbClr val="58C14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highlight>
                <a:srgbClr val="00FF00"/>
              </a:highlight>
            </a:endParaRPr>
          </a:p>
        </p:txBody>
      </p:sp>
      <p:sp>
        <p:nvSpPr>
          <p:cNvPr id="46" name="Flowchart: Connector 45">
            <a:extLst>
              <a:ext uri="{FF2B5EF4-FFF2-40B4-BE49-F238E27FC236}">
                <a16:creationId xmlns:a16="http://schemas.microsoft.com/office/drawing/2014/main" id="{A683ED0E-2BD7-2E2B-312E-0F01D223DD6B}"/>
              </a:ext>
            </a:extLst>
          </p:cNvPr>
          <p:cNvSpPr/>
          <p:nvPr/>
        </p:nvSpPr>
        <p:spPr>
          <a:xfrm>
            <a:off x="5143033" y="1403331"/>
            <a:ext cx="163285" cy="164592"/>
          </a:xfrm>
          <a:prstGeom prst="flowChartConnector">
            <a:avLst/>
          </a:prstGeom>
          <a:solidFill>
            <a:srgbClr val="58C14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Flowchart: Connector 46">
            <a:extLst>
              <a:ext uri="{FF2B5EF4-FFF2-40B4-BE49-F238E27FC236}">
                <a16:creationId xmlns:a16="http://schemas.microsoft.com/office/drawing/2014/main" id="{5459DA90-485B-B62E-0AF1-5C5220628211}"/>
              </a:ext>
            </a:extLst>
          </p:cNvPr>
          <p:cNvSpPr/>
          <p:nvPr/>
        </p:nvSpPr>
        <p:spPr>
          <a:xfrm>
            <a:off x="6078524" y="1403331"/>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22A49F73-AA44-73D0-D577-81C667789E5B}"/>
              </a:ext>
            </a:extLst>
          </p:cNvPr>
          <p:cNvSpPr txBox="1"/>
          <p:nvPr/>
        </p:nvSpPr>
        <p:spPr>
          <a:xfrm>
            <a:off x="159545" y="1777635"/>
            <a:ext cx="4743293" cy="4843634"/>
          </a:xfrm>
          <a:prstGeom prst="rect">
            <a:avLst/>
          </a:prstGeom>
          <a:noFill/>
        </p:spPr>
        <p:txBody>
          <a:bodyPr wrap="square" lIns="91440" tIns="45720" rIns="91440" bIns="45720" anchor="t">
            <a:spAutoFit/>
          </a:bodyPr>
          <a:lstStyle/>
          <a:p>
            <a:pPr>
              <a:lnSpc>
                <a:spcPct val="150000"/>
              </a:lnSpc>
              <a:tabLst>
                <a:tab pos="457200" algn="l"/>
              </a:tabLst>
            </a:pPr>
            <a:r>
              <a:rPr lang="en-US" sz="850" b="1">
                <a:latin typeface="Aptos" panose="020B0004020202020204" pitchFamily="34" charset="0"/>
                <a:cs typeface="Arial"/>
              </a:rPr>
              <a:t>Status Update</a:t>
            </a:r>
            <a:endParaRPr lang="en-US" sz="850">
              <a:latin typeface="Aptos" panose="020B0004020202020204" pitchFamily="34" charset="0"/>
              <a:cs typeface="Arial"/>
            </a:endParaRPr>
          </a:p>
          <a:p>
            <a:pPr>
              <a:lnSpc>
                <a:spcPct val="150000"/>
              </a:lnSpc>
              <a:tabLst>
                <a:tab pos="457200" algn="l"/>
              </a:tabLst>
            </a:pPr>
            <a:r>
              <a:rPr lang="en-US" sz="850" b="1">
                <a:latin typeface="Aptos" panose="020B0004020202020204" pitchFamily="34" charset="0"/>
                <a:cs typeface="Arial"/>
              </a:rPr>
              <a:t>Overall Status: Green</a:t>
            </a:r>
            <a:endParaRPr lang="en-US" sz="850">
              <a:latin typeface="Aptos" panose="020B0004020202020204" pitchFamily="34" charset="0"/>
              <a:cs typeface="Arial"/>
            </a:endParaRPr>
          </a:p>
          <a:p>
            <a:pPr marL="171450" indent="-171450">
              <a:lnSpc>
                <a:spcPct val="150000"/>
              </a:lnSpc>
              <a:buFont typeface="Arial,Sans-Serif"/>
              <a:buChar char="•"/>
              <a:tabLst>
                <a:tab pos="457200" algn="l"/>
              </a:tabLst>
            </a:pPr>
            <a:r>
              <a:rPr lang="en-US" sz="850">
                <a:latin typeface="Aptos" panose="020B0004020202020204" pitchFamily="34" charset="0"/>
                <a:ea typeface="+mn-lt"/>
                <a:cs typeface="+mn-lt"/>
              </a:rPr>
              <a:t>PML Reboot Wave 3 got implemented Successfully on 08/12</a:t>
            </a:r>
            <a:endParaRPr lang="en-US" sz="850">
              <a:latin typeface="Aptos" panose="020B0004020202020204" pitchFamily="34" charset="0"/>
              <a:cs typeface="Arial"/>
            </a:endParaRPr>
          </a:p>
          <a:p>
            <a:pPr lvl="0">
              <a:lnSpc>
                <a:spcPct val="150000"/>
              </a:lnSpc>
              <a:tabLst>
                <a:tab pos="457200" algn="l"/>
              </a:tabLst>
            </a:pPr>
            <a:r>
              <a:rPr lang="en-US" sz="850" b="1">
                <a:latin typeface="Aptos" panose="020B0004020202020204" pitchFamily="34" charset="0"/>
                <a:cs typeface="Arial"/>
              </a:rPr>
              <a:t>Highlights</a:t>
            </a:r>
            <a:endParaRPr lang="en-US" sz="850">
              <a:latin typeface="Aptos" panose="020B0004020202020204" pitchFamily="34" charset="0"/>
              <a:cs typeface="Arial"/>
            </a:endParaRPr>
          </a:p>
          <a:p>
            <a:pPr marL="171450" indent="-171450">
              <a:lnSpc>
                <a:spcPct val="150000"/>
              </a:lnSpc>
              <a:buFont typeface="Arial,Sans-Serif"/>
              <a:buChar char="•"/>
              <a:tabLst>
                <a:tab pos="457200" algn="l"/>
              </a:tabLst>
            </a:pPr>
            <a:r>
              <a:rPr lang="en-US" sz="850">
                <a:latin typeface="Aptos" panose="020B0004020202020204" pitchFamily="34" charset="0"/>
                <a:ea typeface="Aptos" panose="020B0004020202020204" pitchFamily="34" charset="0"/>
                <a:cs typeface="Arial"/>
              </a:rPr>
              <a:t>Received leadership approval for Salesforce CR on 4/15</a:t>
            </a:r>
          </a:p>
          <a:p>
            <a:pPr marL="171450" indent="-171450">
              <a:lnSpc>
                <a:spcPct val="150000"/>
              </a:lnSpc>
              <a:buFont typeface="Arial,Sans-Serif"/>
              <a:buChar char="•"/>
              <a:tabLst>
                <a:tab pos="457200" algn="l"/>
              </a:tabLst>
            </a:pPr>
            <a:r>
              <a:rPr lang="en-US" sz="850">
                <a:latin typeface="Aptos" panose="020B0004020202020204" pitchFamily="34" charset="0"/>
                <a:ea typeface="Aptos" panose="020B0004020202020204" pitchFamily="34" charset="0"/>
                <a:cs typeface="Arial"/>
              </a:rPr>
              <a:t>Discovery for Salesforce scope clarified and locked on 4/17</a:t>
            </a:r>
          </a:p>
          <a:p>
            <a:pPr marL="171450" indent="-171450">
              <a:lnSpc>
                <a:spcPct val="150000"/>
              </a:lnSpc>
              <a:buFont typeface="Arial,Sans-Serif"/>
              <a:buChar char="•"/>
              <a:tabLst>
                <a:tab pos="457200" algn="l"/>
              </a:tabLst>
            </a:pPr>
            <a:r>
              <a:rPr lang="en-US" sz="850">
                <a:latin typeface="Aptos" panose="020B0004020202020204" pitchFamily="34" charset="0"/>
                <a:ea typeface="Aptos" panose="020B0004020202020204" pitchFamily="34" charset="0"/>
                <a:cs typeface="Arial"/>
              </a:rPr>
              <a:t>Refined PR estimate entered in Planview and line commitment logged</a:t>
            </a:r>
          </a:p>
          <a:p>
            <a:pPr marL="171450" indent="-171450">
              <a:lnSpc>
                <a:spcPct val="150000"/>
              </a:lnSpc>
              <a:buFont typeface="Arial,Sans-Serif"/>
              <a:buChar char="•"/>
              <a:tabLst>
                <a:tab pos="457200" algn="l"/>
              </a:tabLst>
            </a:pPr>
            <a:r>
              <a:rPr lang="en-US" sz="850">
                <a:latin typeface="Aptos" panose="020B0004020202020204" pitchFamily="34" charset="0"/>
                <a:ea typeface="Aptos" panose="020B0004020202020204" pitchFamily="34" charset="0"/>
                <a:cs typeface="Arial"/>
              </a:rPr>
              <a:t>CR approvals in progress for </a:t>
            </a:r>
            <a:r>
              <a:rPr lang="en-US" sz="850">
                <a:latin typeface="Aptos" panose="020B0004020202020204" pitchFamily="34" charset="0"/>
                <a:ea typeface="+mn-lt"/>
                <a:cs typeface="+mn-lt"/>
              </a:rPr>
              <a:t>PML Reboot - Add REN Form Updates</a:t>
            </a:r>
          </a:p>
          <a:p>
            <a:pPr marL="171450" indent="-171450">
              <a:lnSpc>
                <a:spcPct val="150000"/>
              </a:lnSpc>
              <a:buFont typeface="Arial,Sans-Serif"/>
              <a:buChar char="•"/>
              <a:tabLst>
                <a:tab pos="457200" algn="l"/>
              </a:tabLst>
            </a:pPr>
            <a:r>
              <a:rPr lang="en-US" sz="850">
                <a:latin typeface="Aptos" panose="020B0004020202020204" pitchFamily="34" charset="0"/>
                <a:ea typeface="+mn-lt"/>
                <a:cs typeface="+mn-lt"/>
              </a:rPr>
              <a:t>PML Reboot Wave 1 got implemented Successfully on 06/19</a:t>
            </a:r>
          </a:p>
          <a:p>
            <a:pPr marL="171450" indent="-171450">
              <a:lnSpc>
                <a:spcPct val="150000"/>
              </a:lnSpc>
              <a:buFont typeface="Arial,Sans-Serif"/>
              <a:buChar char="•"/>
              <a:tabLst>
                <a:tab pos="457200" algn="l"/>
              </a:tabLst>
            </a:pPr>
            <a:r>
              <a:rPr lang="en-US" sz="850">
                <a:latin typeface="Aptos" panose="020B0004020202020204" pitchFamily="34" charset="0"/>
                <a:ea typeface="+mn-lt"/>
                <a:cs typeface="+mn-lt"/>
              </a:rPr>
              <a:t>PML Reboot Wave 2 got implemented Successfully on 07/15</a:t>
            </a:r>
            <a:endParaRPr lang="en-US" sz="850">
              <a:latin typeface="Aptos" panose="020B0004020202020204" pitchFamily="34" charset="0"/>
              <a:cs typeface="Arial"/>
            </a:endParaRPr>
          </a:p>
          <a:p>
            <a:pPr>
              <a:tabLst>
                <a:tab pos="457200" algn="l"/>
              </a:tabLst>
            </a:pPr>
            <a:endParaRPr lang="en-US" sz="850">
              <a:latin typeface="Aptos" panose="020B0004020202020204" pitchFamily="34" charset="0"/>
            </a:endParaRPr>
          </a:p>
          <a:p>
            <a:pPr lvl="0">
              <a:tabLst>
                <a:tab pos="457200" algn="l"/>
              </a:tabLst>
            </a:pPr>
            <a:r>
              <a:rPr lang="en-US" sz="850" b="1">
                <a:latin typeface="Aptos" panose="020B0004020202020204" pitchFamily="34" charset="0"/>
              </a:rPr>
              <a:t>Next Steps</a:t>
            </a:r>
            <a:endParaRPr lang="en-US" sz="850" b="1">
              <a:latin typeface="Aptos" panose="020B0004020202020204" pitchFamily="34" charset="0"/>
              <a:ea typeface="Aptos" panose="020B0004020202020204" pitchFamily="34" charset="0"/>
              <a:cs typeface="Arial"/>
            </a:endParaRPr>
          </a:p>
          <a:p>
            <a:pPr marL="171450" indent="-171450">
              <a:lnSpc>
                <a:spcPct val="150000"/>
              </a:lnSpc>
              <a:buFont typeface="Arial,Sans-Serif"/>
              <a:buChar char="•"/>
              <a:tabLst>
                <a:tab pos="457200" algn="l"/>
              </a:tabLst>
            </a:pPr>
            <a:r>
              <a:rPr lang="en-US" sz="850">
                <a:latin typeface="Aptos" panose="020B0004020202020204" pitchFamily="34" charset="0"/>
                <a:ea typeface="Aptos" panose="020B0004020202020204" pitchFamily="34" charset="0"/>
                <a:cs typeface="Arial"/>
              </a:rPr>
              <a:t>REN CR - </a:t>
            </a:r>
            <a:r>
              <a:rPr lang="en-US" sz="850">
                <a:latin typeface="Aptos" panose="020B0004020202020204" pitchFamily="34" charset="0"/>
                <a:cs typeface="Arial"/>
              </a:rPr>
              <a:t>PML Form Updates  </a:t>
            </a:r>
          </a:p>
          <a:p>
            <a:pPr marL="171450" indent="-171450">
              <a:lnSpc>
                <a:spcPct val="150000"/>
              </a:lnSpc>
              <a:buFont typeface="Arial,Sans-Serif"/>
              <a:buChar char="•"/>
              <a:tabLst>
                <a:tab pos="457200" algn="l"/>
              </a:tabLst>
            </a:pPr>
            <a:r>
              <a:rPr lang="en-US" sz="850">
                <a:latin typeface="Aptos" panose="020B0004020202020204" pitchFamily="34" charset="0"/>
                <a:cs typeface="Arial"/>
              </a:rPr>
              <a:t>DDIT – complete</a:t>
            </a:r>
          </a:p>
          <a:p>
            <a:pPr marL="171450" indent="-171450">
              <a:lnSpc>
                <a:spcPct val="150000"/>
              </a:lnSpc>
              <a:buFont typeface="Arial,Sans-Serif"/>
              <a:buChar char="•"/>
              <a:tabLst>
                <a:tab pos="457200" algn="l"/>
              </a:tabLst>
            </a:pPr>
            <a:r>
              <a:rPr lang="en-US" sz="850">
                <a:latin typeface="Aptos" panose="020B0004020202020204" pitchFamily="34" charset="0"/>
                <a:cs typeface="Arial"/>
              </a:rPr>
              <a:t>UAT – Complete</a:t>
            </a:r>
          </a:p>
          <a:p>
            <a:pPr marL="171450" indent="-171450">
              <a:lnSpc>
                <a:spcPct val="150000"/>
              </a:lnSpc>
              <a:buFont typeface="Arial,Sans-Serif"/>
              <a:buChar char="•"/>
              <a:tabLst>
                <a:tab pos="457200" algn="l"/>
              </a:tabLst>
            </a:pPr>
            <a:r>
              <a:rPr lang="en-US" sz="850">
                <a:latin typeface="Aptos" panose="020B0004020202020204" pitchFamily="34" charset="0"/>
                <a:cs typeface="Arial"/>
              </a:rPr>
              <a:t>Prod release – 09/16</a:t>
            </a:r>
          </a:p>
          <a:p>
            <a:pPr>
              <a:lnSpc>
                <a:spcPct val="150000"/>
              </a:lnSpc>
              <a:tabLst>
                <a:tab pos="457200" algn="l"/>
              </a:tabLst>
            </a:pPr>
            <a:r>
              <a:rPr lang="en-US" sz="850" b="1">
                <a:latin typeface="Aptos" panose="020B0004020202020204" pitchFamily="34" charset="0"/>
                <a:cs typeface="Arial"/>
              </a:rPr>
              <a:t>Wave 4</a:t>
            </a:r>
          </a:p>
          <a:p>
            <a:pPr marL="171450" indent="-171450">
              <a:lnSpc>
                <a:spcPct val="150000"/>
              </a:lnSpc>
              <a:buFont typeface="Arial" panose="020B0604020202020204" pitchFamily="34" charset="0"/>
              <a:buChar char="•"/>
              <a:tabLst>
                <a:tab pos="457200" algn="l"/>
              </a:tabLst>
            </a:pPr>
            <a:r>
              <a:rPr lang="en-US" sz="850">
                <a:latin typeface="Aptos" panose="020B0004020202020204" pitchFamily="34" charset="0"/>
                <a:ea typeface="Aptos" panose="020B0004020202020204" pitchFamily="34" charset="0"/>
                <a:cs typeface="Arial"/>
              </a:rPr>
              <a:t>Gary is working with Business teams to finalize the Wave 4 requirements</a:t>
            </a:r>
          </a:p>
          <a:p>
            <a:pPr marL="171450" indent="-171450">
              <a:lnSpc>
                <a:spcPct val="150000"/>
              </a:lnSpc>
              <a:buFont typeface="Arial" panose="020B0604020202020204" pitchFamily="34" charset="0"/>
              <a:buChar char="•"/>
              <a:tabLst>
                <a:tab pos="457200" algn="l"/>
              </a:tabLst>
            </a:pPr>
            <a:r>
              <a:rPr lang="en-US" sz="850">
                <a:latin typeface="Aptos" panose="020B0004020202020204" pitchFamily="34" charset="0"/>
                <a:ea typeface="Aptos" panose="020B0004020202020204" pitchFamily="34" charset="0"/>
                <a:cs typeface="Arial"/>
              </a:rPr>
              <a:t>Wave 4 is planned for Nov release. Based on Gary’s discussion on requirements this week the release timelines will be confirmed.</a:t>
            </a:r>
          </a:p>
          <a:p>
            <a:pPr marL="171450" indent="-171450">
              <a:lnSpc>
                <a:spcPct val="150000"/>
              </a:lnSpc>
              <a:buFont typeface="Arial" panose="020B0604020202020204" pitchFamily="34" charset="0"/>
              <a:buChar char="•"/>
              <a:tabLst>
                <a:tab pos="457200" algn="l"/>
              </a:tabLst>
            </a:pPr>
            <a:r>
              <a:rPr lang="en-US" sz="850">
                <a:latin typeface="Aptos" panose="020B0004020202020204" pitchFamily="34" charset="0"/>
                <a:ea typeface="Aptos" panose="020B0004020202020204" pitchFamily="34" charset="0"/>
                <a:cs typeface="Arial"/>
              </a:rPr>
              <a:t>Business requirements need to be finalized by 09/01 for teams to plan the work</a:t>
            </a:r>
          </a:p>
          <a:p>
            <a:pPr marL="171450" indent="-171450">
              <a:lnSpc>
                <a:spcPct val="150000"/>
              </a:lnSpc>
              <a:buFont typeface="Arial,Sans-Serif"/>
              <a:buChar char="•"/>
              <a:tabLst>
                <a:tab pos="457200" algn="l"/>
              </a:tabLst>
            </a:pPr>
            <a:endParaRPr lang="en-US" sz="900">
              <a:latin typeface="Arial"/>
              <a:ea typeface="Aptos" panose="020B0004020202020204" pitchFamily="34" charset="0"/>
              <a:cs typeface="Arial"/>
            </a:endParaRPr>
          </a:p>
          <a:p>
            <a:pPr marL="285750" indent="-285750">
              <a:lnSpc>
                <a:spcPct val="150000"/>
              </a:lnSpc>
              <a:buFont typeface="Arial,Sans-Serif"/>
              <a:buChar char="•"/>
              <a:tabLst>
                <a:tab pos="457200" algn="l"/>
              </a:tabLst>
            </a:pPr>
            <a:endParaRPr lang="en-US" sz="900">
              <a:latin typeface="Arial"/>
              <a:ea typeface="Aptos" panose="020B0004020202020204" pitchFamily="34" charset="0"/>
              <a:cs typeface="Arial"/>
            </a:endParaRPr>
          </a:p>
          <a:p>
            <a:pPr>
              <a:lnSpc>
                <a:spcPct val="150000"/>
              </a:lnSpc>
              <a:tabLst>
                <a:tab pos="457200" algn="l"/>
              </a:tabLst>
            </a:pPr>
            <a:endParaRPr lang="en-US" sz="900" b="1">
              <a:latin typeface="Arial"/>
              <a:ea typeface="Aptos" panose="020B0004020202020204" pitchFamily="34" charset="0"/>
              <a:cs typeface="Segoe UI"/>
            </a:endParaRPr>
          </a:p>
          <a:p>
            <a:pPr>
              <a:tabLst>
                <a:tab pos="457200" algn="l"/>
              </a:tabLst>
            </a:pPr>
            <a:endParaRPr lang="en-US" sz="900" b="1">
              <a:latin typeface="Arial"/>
              <a:ea typeface="Aptos" panose="020B0004020202020204" pitchFamily="34" charset="0"/>
              <a:cs typeface="Arial"/>
            </a:endParaRPr>
          </a:p>
        </p:txBody>
      </p:sp>
      <p:sp>
        <p:nvSpPr>
          <p:cNvPr id="18" name="TextBox 17">
            <a:extLst>
              <a:ext uri="{FF2B5EF4-FFF2-40B4-BE49-F238E27FC236}">
                <a16:creationId xmlns:a16="http://schemas.microsoft.com/office/drawing/2014/main" id="{DF9509AC-632F-DA8A-4072-A40C5A3D969E}"/>
              </a:ext>
            </a:extLst>
          </p:cNvPr>
          <p:cNvSpPr txBox="1"/>
          <p:nvPr/>
        </p:nvSpPr>
        <p:spPr>
          <a:xfrm>
            <a:off x="9410709" y="133061"/>
            <a:ext cx="3557368" cy="496931"/>
          </a:xfrm>
          <a:prstGeom prst="rect">
            <a:avLst/>
          </a:prstGeom>
          <a:noFill/>
        </p:spPr>
        <p:txBody>
          <a:bodyPr wrap="square" lIns="91440" tIns="45720" rIns="91440" bIns="45720" rtlCol="0" anchor="t">
            <a:spAutoFit/>
          </a:bodyPr>
          <a:lstStyle/>
          <a:p>
            <a:pPr>
              <a:lnSpc>
                <a:spcPct val="112000"/>
              </a:lnSpc>
            </a:pPr>
            <a:r>
              <a:rPr lang="en-US" sz="1200">
                <a:latin typeface="Aptos"/>
              </a:rPr>
              <a:t>Project Manager :  Venkata Dinesh</a:t>
            </a:r>
            <a:endParaRPr lang="en-US">
              <a:latin typeface="Aptos"/>
            </a:endParaRPr>
          </a:p>
          <a:p>
            <a:pPr>
              <a:lnSpc>
                <a:spcPct val="112000"/>
              </a:lnSpc>
            </a:pPr>
            <a:r>
              <a:rPr lang="en-US" sz="1200" err="1">
                <a:latin typeface="Aptos"/>
              </a:rPr>
              <a:t>OpEx</a:t>
            </a:r>
            <a:r>
              <a:rPr lang="en-US" sz="1200">
                <a:latin typeface="Aptos"/>
              </a:rPr>
              <a:t> Business Lead: Gary Wilson</a:t>
            </a:r>
          </a:p>
        </p:txBody>
      </p:sp>
      <p:sp>
        <p:nvSpPr>
          <p:cNvPr id="19" name="Flowchart: Connector 18">
            <a:extLst>
              <a:ext uri="{FF2B5EF4-FFF2-40B4-BE49-F238E27FC236}">
                <a16:creationId xmlns:a16="http://schemas.microsoft.com/office/drawing/2014/main" id="{AA520A7D-4011-C8FA-DD9C-4E33B9A7E130}"/>
              </a:ext>
            </a:extLst>
          </p:cNvPr>
          <p:cNvSpPr/>
          <p:nvPr/>
        </p:nvSpPr>
        <p:spPr>
          <a:xfrm>
            <a:off x="4224134" y="1400283"/>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highlight>
                <a:srgbClr val="00FF00"/>
              </a:highlight>
            </a:endParaRPr>
          </a:p>
        </p:txBody>
      </p:sp>
      <p:sp>
        <p:nvSpPr>
          <p:cNvPr id="4" name="Flowchart: Connector 3">
            <a:extLst>
              <a:ext uri="{FF2B5EF4-FFF2-40B4-BE49-F238E27FC236}">
                <a16:creationId xmlns:a16="http://schemas.microsoft.com/office/drawing/2014/main" id="{094F6614-72E4-FFBE-F21C-01A751DA1A4C}"/>
              </a:ext>
            </a:extLst>
          </p:cNvPr>
          <p:cNvSpPr/>
          <p:nvPr/>
        </p:nvSpPr>
        <p:spPr>
          <a:xfrm>
            <a:off x="7688689" y="5294730"/>
            <a:ext cx="163285" cy="164592"/>
          </a:xfrm>
          <a:prstGeom prst="flowChartConnector">
            <a:avLst/>
          </a:prstGeom>
          <a:solidFill>
            <a:srgbClr val="58C14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5091711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B05D1C-85C1-90DC-954B-FD6C2D2A2DA9}"/>
            </a:ext>
          </a:extLst>
        </p:cNvPr>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E866CEA4-F594-509A-0F78-005AEB0BF167}"/>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8" imgH="408" progId="TCLayout.ActiveDocument.1">
                  <p:embed/>
                </p:oleObj>
              </mc:Choice>
              <mc:Fallback>
                <p:oleObj name="think-cell Slide" r:id="rId4" imgW="408" imgH="408" progId="TCLayout.ActiveDocument.1">
                  <p:embed/>
                  <p:pic>
                    <p:nvPicPr>
                      <p:cNvPr id="9" name="think-cell data - do not delete" hidden="1">
                        <a:extLst>
                          <a:ext uri="{FF2B5EF4-FFF2-40B4-BE49-F238E27FC236}">
                            <a16:creationId xmlns:a16="http://schemas.microsoft.com/office/drawing/2014/main" id="{E866CEA4-F594-509A-0F78-005AEB0BF16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graphicFrame>
        <p:nvGraphicFramePr>
          <p:cNvPr id="32" name="Group 614">
            <a:extLst>
              <a:ext uri="{FF2B5EF4-FFF2-40B4-BE49-F238E27FC236}">
                <a16:creationId xmlns:a16="http://schemas.microsoft.com/office/drawing/2014/main" id="{BE1FCDA1-83AF-6705-BC8F-850A4C218E93}"/>
              </a:ext>
            </a:extLst>
          </p:cNvPr>
          <p:cNvGraphicFramePr>
            <a:graphicFrameLocks noGrp="1"/>
          </p:cNvGraphicFramePr>
          <p:nvPr/>
        </p:nvGraphicFramePr>
        <p:xfrm>
          <a:off x="6160165" y="6274540"/>
          <a:ext cx="5865669" cy="386554"/>
        </p:xfrm>
        <a:graphic>
          <a:graphicData uri="http://schemas.openxmlformats.org/drawingml/2006/table">
            <a:tbl>
              <a:tblPr/>
              <a:tblGrid>
                <a:gridCol w="450184">
                  <a:extLst>
                    <a:ext uri="{9D8B030D-6E8A-4147-A177-3AD203B41FA5}">
                      <a16:colId xmlns:a16="http://schemas.microsoft.com/office/drawing/2014/main" val="20000"/>
                    </a:ext>
                  </a:extLst>
                </a:gridCol>
                <a:gridCol w="290261">
                  <a:extLst>
                    <a:ext uri="{9D8B030D-6E8A-4147-A177-3AD203B41FA5}">
                      <a16:colId xmlns:a16="http://schemas.microsoft.com/office/drawing/2014/main" val="20001"/>
                    </a:ext>
                  </a:extLst>
                </a:gridCol>
                <a:gridCol w="613871">
                  <a:extLst>
                    <a:ext uri="{9D8B030D-6E8A-4147-A177-3AD203B41FA5}">
                      <a16:colId xmlns:a16="http://schemas.microsoft.com/office/drawing/2014/main" val="20002"/>
                    </a:ext>
                  </a:extLst>
                </a:gridCol>
                <a:gridCol w="245369">
                  <a:extLst>
                    <a:ext uri="{9D8B030D-6E8A-4147-A177-3AD203B41FA5}">
                      <a16:colId xmlns:a16="http://schemas.microsoft.com/office/drawing/2014/main" val="20003"/>
                    </a:ext>
                  </a:extLst>
                </a:gridCol>
                <a:gridCol w="539106">
                  <a:extLst>
                    <a:ext uri="{9D8B030D-6E8A-4147-A177-3AD203B41FA5}">
                      <a16:colId xmlns:a16="http://schemas.microsoft.com/office/drawing/2014/main" val="20004"/>
                    </a:ext>
                  </a:extLst>
                </a:gridCol>
                <a:gridCol w="419757">
                  <a:extLst>
                    <a:ext uri="{9D8B030D-6E8A-4147-A177-3AD203B41FA5}">
                      <a16:colId xmlns:a16="http://schemas.microsoft.com/office/drawing/2014/main" val="20005"/>
                    </a:ext>
                  </a:extLst>
                </a:gridCol>
                <a:gridCol w="460632">
                  <a:extLst>
                    <a:ext uri="{9D8B030D-6E8A-4147-A177-3AD203B41FA5}">
                      <a16:colId xmlns:a16="http://schemas.microsoft.com/office/drawing/2014/main" val="20006"/>
                    </a:ext>
                  </a:extLst>
                </a:gridCol>
                <a:gridCol w="298987">
                  <a:extLst>
                    <a:ext uri="{9D8B030D-6E8A-4147-A177-3AD203B41FA5}">
                      <a16:colId xmlns:a16="http://schemas.microsoft.com/office/drawing/2014/main" val="20007"/>
                    </a:ext>
                  </a:extLst>
                </a:gridCol>
                <a:gridCol w="1111740">
                  <a:extLst>
                    <a:ext uri="{9D8B030D-6E8A-4147-A177-3AD203B41FA5}">
                      <a16:colId xmlns:a16="http://schemas.microsoft.com/office/drawing/2014/main" val="20008"/>
                    </a:ext>
                  </a:extLst>
                </a:gridCol>
                <a:gridCol w="306465">
                  <a:extLst>
                    <a:ext uri="{9D8B030D-6E8A-4147-A177-3AD203B41FA5}">
                      <a16:colId xmlns:a16="http://schemas.microsoft.com/office/drawing/2014/main" val="20009"/>
                    </a:ext>
                  </a:extLst>
                </a:gridCol>
                <a:gridCol w="1129297">
                  <a:extLst>
                    <a:ext uri="{9D8B030D-6E8A-4147-A177-3AD203B41FA5}">
                      <a16:colId xmlns:a16="http://schemas.microsoft.com/office/drawing/2014/main" val="20010"/>
                    </a:ext>
                  </a:extLst>
                </a:gridCol>
              </a:tblGrid>
              <a:tr h="386554">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Arial" charset="0"/>
                          <a:cs typeface="Arial" charset="0"/>
                        </a:rPr>
                        <a:t>Status Key</a:t>
                      </a:r>
                      <a:endParaRPr kumimoji="0" lang="en-GB" sz="1600" b="0" i="0" u="none" strike="noStrike" cap="none" normalizeH="0" baseline="0">
                        <a:ln>
                          <a:noFill/>
                        </a:ln>
                        <a:solidFill>
                          <a:srgbClr val="002060"/>
                        </a:solidFill>
                        <a:effectLst/>
                        <a:latin typeface="Times New Roman" pitchFamily="18" charset="0"/>
                      </a:endParaRPr>
                    </a:p>
                  </a:txBody>
                  <a:tcPr marL="75570" marR="75570"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mj-lt"/>
                        </a:rPr>
                        <a:t>C</a:t>
                      </a:r>
                    </a:p>
                  </a:txBody>
                  <a:tcPr marL="75570" marR="75570"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Arial" charset="0"/>
                          <a:cs typeface="Arial" charset="0"/>
                        </a:rPr>
                        <a:t>Completed</a:t>
                      </a:r>
                      <a:endParaRPr kumimoji="0" lang="en-GB" sz="1600" b="0" i="0" u="none" strike="noStrike" cap="none" normalizeH="0" baseline="0">
                        <a:ln>
                          <a:noFill/>
                        </a:ln>
                        <a:solidFill>
                          <a:srgbClr val="002060"/>
                        </a:solidFill>
                        <a:effectLst/>
                        <a:latin typeface="Times New Roman" pitchFamily="18" charset="0"/>
                      </a:endParaRPr>
                    </a:p>
                  </a:txBody>
                  <a:tcPr marL="75570" marR="75570"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L="75570" marR="75570"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On-Schedule</a:t>
                      </a:r>
                      <a:endParaRPr kumimoji="0" lang="en-GB" sz="1600" b="0" i="0" u="none" strike="noStrike" cap="none" normalizeH="0" baseline="0">
                        <a:ln>
                          <a:noFill/>
                        </a:ln>
                        <a:solidFill>
                          <a:srgbClr val="1D3A6A"/>
                        </a:solidFill>
                        <a:effectLst/>
                        <a:latin typeface="Times New Roman" pitchFamily="18" charset="0"/>
                      </a:endParaRPr>
                    </a:p>
                  </a:txBody>
                  <a:tcPr marL="75570" marR="75570"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L="75570" marR="75570"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Major Issues</a:t>
                      </a:r>
                      <a:endParaRPr kumimoji="0" lang="en-GB" sz="1600" b="0" i="0" u="none" strike="noStrike" cap="none" normalizeH="0" baseline="0">
                        <a:ln>
                          <a:noFill/>
                        </a:ln>
                        <a:solidFill>
                          <a:srgbClr val="1D3A6A"/>
                        </a:solidFill>
                        <a:effectLst/>
                        <a:latin typeface="Times New Roman" pitchFamily="18" charset="0"/>
                      </a:endParaRPr>
                    </a:p>
                  </a:txBody>
                  <a:tcPr marL="75570" marR="75570"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L="75570" marR="75570"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Some Issues</a:t>
                      </a:r>
                      <a:endParaRPr kumimoji="0" lang="en-GB" sz="1600" b="0" i="0" u="none" strike="noStrike" cap="none" normalizeH="0" baseline="0">
                        <a:ln>
                          <a:noFill/>
                        </a:ln>
                        <a:solidFill>
                          <a:srgbClr val="1D3A6A"/>
                        </a:solidFill>
                        <a:effectLst/>
                        <a:latin typeface="Times New Roman" pitchFamily="18" charset="0"/>
                      </a:endParaRPr>
                    </a:p>
                  </a:txBody>
                  <a:tcPr marL="75570" marR="75570"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NS</a:t>
                      </a:r>
                      <a:endParaRPr kumimoji="0" lang="en-GB" sz="1600" b="0" i="0" u="none" strike="noStrike" cap="none" normalizeH="0" baseline="0">
                        <a:ln>
                          <a:noFill/>
                        </a:ln>
                        <a:solidFill>
                          <a:srgbClr val="1D3A6A"/>
                        </a:solidFill>
                        <a:effectLst/>
                        <a:latin typeface="Times New Roman" pitchFamily="18" charset="0"/>
                      </a:endParaRPr>
                    </a:p>
                  </a:txBody>
                  <a:tcPr marL="75570" marR="75570"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Not Started</a:t>
                      </a:r>
                      <a:endParaRPr kumimoji="0" lang="en-GB" sz="1600" b="0" i="0" u="none" strike="noStrike" cap="none" normalizeH="0" baseline="0">
                        <a:ln>
                          <a:noFill/>
                        </a:ln>
                        <a:solidFill>
                          <a:srgbClr val="1D3A6A"/>
                        </a:solidFill>
                        <a:effectLst/>
                        <a:latin typeface="Times New Roman" pitchFamily="18" charset="0"/>
                      </a:endParaRPr>
                    </a:p>
                  </a:txBody>
                  <a:tcPr marL="75570" marR="75570"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11" name="Group 513">
            <a:extLst>
              <a:ext uri="{FF2B5EF4-FFF2-40B4-BE49-F238E27FC236}">
                <a16:creationId xmlns:a16="http://schemas.microsoft.com/office/drawing/2014/main" id="{02FE6EE0-C3DE-5674-5BEA-500C6EAF38E4}"/>
              </a:ext>
            </a:extLst>
          </p:cNvPr>
          <p:cNvGraphicFramePr>
            <a:graphicFrameLocks noGrp="1"/>
          </p:cNvGraphicFramePr>
          <p:nvPr>
            <p:extLst>
              <p:ext uri="{D42A27DB-BD31-4B8C-83A1-F6EECF244321}">
                <p14:modId xmlns:p14="http://schemas.microsoft.com/office/powerpoint/2010/main" val="3396985101"/>
              </p:ext>
            </p:extLst>
          </p:nvPr>
        </p:nvGraphicFramePr>
        <p:xfrm>
          <a:off x="197511" y="790490"/>
          <a:ext cx="2638218" cy="344301"/>
        </p:xfrm>
        <a:graphic>
          <a:graphicData uri="http://schemas.openxmlformats.org/drawingml/2006/table">
            <a:tbl>
              <a:tblPr/>
              <a:tblGrid>
                <a:gridCol w="984745">
                  <a:extLst>
                    <a:ext uri="{9D8B030D-6E8A-4147-A177-3AD203B41FA5}">
                      <a16:colId xmlns:a16="http://schemas.microsoft.com/office/drawing/2014/main" val="20000"/>
                    </a:ext>
                  </a:extLst>
                </a:gridCol>
                <a:gridCol w="1653473">
                  <a:extLst>
                    <a:ext uri="{9D8B030D-6E8A-4147-A177-3AD203B41FA5}">
                      <a16:colId xmlns:a16="http://schemas.microsoft.com/office/drawing/2014/main" val="20001"/>
                    </a:ext>
                  </a:extLst>
                </a:gridCol>
              </a:tblGrid>
              <a:tr h="344301">
                <a:tc>
                  <a:txBody>
                    <a:bodyPr/>
                    <a:lstStyle/>
                    <a:p>
                      <a:pPr marL="0" marR="0" lvl="0" indent="0" algn="l" defTabSz="914400" rtl="0" eaLnBrk="0" fontAlgn="base" latinLnBrk="0" hangingPunct="0">
                        <a:lnSpc>
                          <a:spcPct val="95000"/>
                        </a:lnSpc>
                        <a:spcBef>
                          <a:spcPct val="0"/>
                        </a:spcBef>
                        <a:spcAft>
                          <a:spcPct val="50000"/>
                        </a:spcAft>
                        <a:buClrTx/>
                        <a:buSzTx/>
                        <a:buFontTx/>
                        <a:buNone/>
                        <a:tabLst/>
                      </a:pPr>
                      <a:r>
                        <a:rPr kumimoji="0" lang="en-GB" sz="1050" b="1" i="0" u="none" strike="noStrike" kern="1200" cap="none" normalizeH="0" baseline="0">
                          <a:ln>
                            <a:noFill/>
                          </a:ln>
                          <a:solidFill>
                            <a:schemeClr val="bg1"/>
                          </a:solidFill>
                          <a:effectLst/>
                          <a:latin typeface="Arial"/>
                          <a:ea typeface="+mn-ea"/>
                          <a:cs typeface="+mn-cs"/>
                        </a:rPr>
                        <a:t>Status Date:</a:t>
                      </a:r>
                    </a:p>
                  </a:txBody>
                  <a:tcPr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lang="en-GB" sz="1050" b="1" i="0" u="none" strike="noStrike" cap="none" normalizeH="0" baseline="0">
                          <a:ln>
                            <a:noFill/>
                          </a:ln>
                          <a:solidFill>
                            <a:schemeClr val="tx1"/>
                          </a:solidFill>
                          <a:effectLst/>
                          <a:latin typeface="Arial"/>
                        </a:rPr>
                        <a:t>08/28/2026</a:t>
                      </a:r>
                      <a:endParaRPr kumimoji="0" lang="en-GB" sz="1050" b="1" i="0" u="none" strike="noStrike" cap="none" normalizeH="0" baseline="0">
                        <a:ln>
                          <a:noFill/>
                        </a:ln>
                        <a:solidFill>
                          <a:schemeClr val="tx1"/>
                        </a:solidFill>
                        <a:effectLst/>
                        <a:latin typeface="Arial" charset="0"/>
                      </a:endParaRPr>
                    </a:p>
                  </a:txBody>
                  <a:tcPr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14" name="Table 13">
            <a:extLst>
              <a:ext uri="{FF2B5EF4-FFF2-40B4-BE49-F238E27FC236}">
                <a16:creationId xmlns:a16="http://schemas.microsoft.com/office/drawing/2014/main" id="{5B907DAD-A3CF-46B5-48E5-6DACD2B8E8C8}"/>
              </a:ext>
            </a:extLst>
          </p:cNvPr>
          <p:cNvGraphicFramePr>
            <a:graphicFrameLocks noGrp="1"/>
          </p:cNvGraphicFramePr>
          <p:nvPr/>
        </p:nvGraphicFramePr>
        <p:xfrm>
          <a:off x="6679775" y="797998"/>
          <a:ext cx="5352360" cy="730385"/>
        </p:xfrm>
        <a:graphic>
          <a:graphicData uri="http://schemas.openxmlformats.org/drawingml/2006/table">
            <a:tbl>
              <a:tblPr>
                <a:tableStyleId>{5C22544A-7EE6-4342-B048-85BDC9FD1C3A}</a:tableStyleId>
              </a:tblPr>
              <a:tblGrid>
                <a:gridCol w="1045337">
                  <a:extLst>
                    <a:ext uri="{9D8B030D-6E8A-4147-A177-3AD203B41FA5}">
                      <a16:colId xmlns:a16="http://schemas.microsoft.com/office/drawing/2014/main" val="2456552316"/>
                    </a:ext>
                  </a:extLst>
                </a:gridCol>
                <a:gridCol w="926511">
                  <a:extLst>
                    <a:ext uri="{9D8B030D-6E8A-4147-A177-3AD203B41FA5}">
                      <a16:colId xmlns:a16="http://schemas.microsoft.com/office/drawing/2014/main" val="2327174630"/>
                    </a:ext>
                  </a:extLst>
                </a:gridCol>
                <a:gridCol w="1514970">
                  <a:extLst>
                    <a:ext uri="{9D8B030D-6E8A-4147-A177-3AD203B41FA5}">
                      <a16:colId xmlns:a16="http://schemas.microsoft.com/office/drawing/2014/main" val="1100051595"/>
                    </a:ext>
                  </a:extLst>
                </a:gridCol>
                <a:gridCol w="913991">
                  <a:extLst>
                    <a:ext uri="{9D8B030D-6E8A-4147-A177-3AD203B41FA5}">
                      <a16:colId xmlns:a16="http://schemas.microsoft.com/office/drawing/2014/main" val="2042261034"/>
                    </a:ext>
                  </a:extLst>
                </a:gridCol>
                <a:gridCol w="951551">
                  <a:extLst>
                    <a:ext uri="{9D8B030D-6E8A-4147-A177-3AD203B41FA5}">
                      <a16:colId xmlns:a16="http://schemas.microsoft.com/office/drawing/2014/main" val="2815874248"/>
                    </a:ext>
                  </a:extLst>
                </a:gridCol>
              </a:tblGrid>
              <a:tr h="354378">
                <a:tc>
                  <a:txBody>
                    <a:bodyPr/>
                    <a:lstStyle/>
                    <a:p>
                      <a:pPr marL="0" marR="0" lvl="0" indent="0" algn="ctr" rtl="0" eaLnBrk="0" fontAlgn="base" latinLnBrk="0" hangingPunct="0">
                        <a:lnSpc>
                          <a:spcPct val="95000"/>
                        </a:lnSpc>
                        <a:spcBef>
                          <a:spcPct val="0"/>
                        </a:spcBef>
                        <a:spcAft>
                          <a:spcPct val="50000"/>
                        </a:spcAft>
                        <a:buClrTx/>
                        <a:buSzTx/>
                        <a:buFontTx/>
                        <a:buNone/>
                      </a:pPr>
                      <a:r>
                        <a:rPr lang="en-US" sz="900" b="1" i="0" u="none" strike="noStrike" kern="1200" cap="none" normalizeH="0" baseline="0">
                          <a:ln>
                            <a:noFill/>
                          </a:ln>
                          <a:solidFill>
                            <a:schemeClr val="bg1"/>
                          </a:solidFill>
                          <a:effectLst/>
                          <a:latin typeface="Arial"/>
                          <a:ea typeface="+mn-ea"/>
                          <a:cs typeface="+mn-cs"/>
                        </a:rPr>
                        <a:t> </a:t>
                      </a:r>
                      <a:r>
                        <a:rPr kumimoji="0" lang="en-US" sz="900" b="1" i="0" u="none" strike="noStrike" kern="1200" cap="none" normalizeH="0" baseline="0">
                          <a:ln>
                            <a:noFill/>
                          </a:ln>
                          <a:solidFill>
                            <a:schemeClr val="bg1"/>
                          </a:solidFill>
                          <a:effectLst/>
                          <a:latin typeface="Arial"/>
                          <a:ea typeface="+mn-ea"/>
                          <a:cs typeface="+mn-cs"/>
                        </a:rPr>
                        <a:t>2026 Revised Budget</a:t>
                      </a:r>
                      <a:r>
                        <a:rPr lang="en-US" sz="900" b="1" i="0" u="none" strike="noStrike" kern="1200" cap="none" normalizeH="0" baseline="0">
                          <a:ln>
                            <a:noFill/>
                          </a:ln>
                          <a:solidFill>
                            <a:schemeClr val="bg1"/>
                          </a:solidFill>
                          <a:effectLst/>
                          <a:latin typeface="Arial"/>
                          <a:ea typeface="+mn-ea"/>
                          <a:cs typeface="+mn-cs"/>
                        </a:rPr>
                        <a:t> </a:t>
                      </a:r>
                      <a:endParaRPr kumimoji="0" lang="en-US" sz="900" b="1" i="0" u="none" strike="noStrike" kern="1200" cap="none" normalizeH="0" baseline="0">
                        <a:ln>
                          <a:noFill/>
                        </a:ln>
                        <a:solidFill>
                          <a:schemeClr val="bg1"/>
                        </a:solidFill>
                        <a:effectLst/>
                        <a:latin typeface="Arial" charset="0"/>
                        <a:ea typeface="+mn-ea"/>
                        <a:cs typeface="+mn-cs"/>
                      </a:endParaRPr>
                    </a:p>
                  </a:txBody>
                  <a:tcPr marL="9525" marR="9525" marT="715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900" b="1" i="0" u="none" strike="noStrike" kern="1200" cap="none" normalizeH="0" baseline="0">
                          <a:ln>
                            <a:noFill/>
                          </a:ln>
                          <a:solidFill>
                            <a:schemeClr val="bg1"/>
                          </a:solidFill>
                          <a:effectLst/>
                          <a:latin typeface="Arial"/>
                          <a:ea typeface="+mn-ea"/>
                          <a:cs typeface="+mn-cs"/>
                        </a:rPr>
                        <a:t>YTD </a:t>
                      </a:r>
                      <a:r>
                        <a:rPr kumimoji="0" lang="en-US" sz="900" b="1" i="0" u="none" strike="noStrike" kern="1200" cap="none" normalizeH="0" baseline="0">
                          <a:ln>
                            <a:noFill/>
                          </a:ln>
                          <a:solidFill>
                            <a:schemeClr val="bg1"/>
                          </a:solidFill>
                          <a:effectLst/>
                          <a:latin typeface="Arial"/>
                          <a:ea typeface="+mn-ea"/>
                          <a:cs typeface="+mn-cs"/>
                        </a:rPr>
                        <a:t>Actuals</a:t>
                      </a:r>
                    </a:p>
                  </a:txBody>
                  <a:tcPr marL="9525" marR="9525" marT="715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900" b="1" i="0" u="none" strike="noStrike" kern="1200" cap="none" normalizeH="0" baseline="0">
                          <a:ln>
                            <a:noFill/>
                          </a:ln>
                          <a:solidFill>
                            <a:schemeClr val="bg1"/>
                          </a:solidFill>
                          <a:effectLst/>
                          <a:latin typeface="Arial"/>
                          <a:ea typeface="+mn-ea"/>
                          <a:cs typeface="+mn-cs"/>
                        </a:rPr>
                        <a:t>Remaining 2026 Forecast</a:t>
                      </a:r>
                    </a:p>
                  </a:txBody>
                  <a:tcPr marL="9525" marR="9525" marT="715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900" b="1" i="0" u="none" strike="noStrike" kern="1200" cap="none" normalizeH="0" baseline="0">
                          <a:ln>
                            <a:noFill/>
                          </a:ln>
                          <a:solidFill>
                            <a:schemeClr val="bg1"/>
                          </a:solidFill>
                          <a:effectLst/>
                          <a:latin typeface="Arial"/>
                          <a:ea typeface="+mn-ea"/>
                          <a:cs typeface="+mn-cs"/>
                        </a:rPr>
                        <a:t>Total </a:t>
                      </a:r>
                    </a:p>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900" b="1" i="0" u="none" strike="noStrike" kern="1200" cap="none" normalizeH="0" baseline="0">
                          <a:ln>
                            <a:noFill/>
                          </a:ln>
                          <a:solidFill>
                            <a:schemeClr val="bg1"/>
                          </a:solidFill>
                          <a:effectLst/>
                          <a:latin typeface="Arial"/>
                          <a:ea typeface="+mn-ea"/>
                          <a:cs typeface="+mn-cs"/>
                        </a:rPr>
                        <a:t>Actuals +Fcst</a:t>
                      </a:r>
                    </a:p>
                  </a:txBody>
                  <a:tcPr marL="9525" marR="9525" marT="715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900" b="1" i="0" u="none" strike="noStrike" kern="1200" cap="none" normalizeH="0" baseline="0">
                          <a:ln>
                            <a:noFill/>
                          </a:ln>
                          <a:solidFill>
                            <a:schemeClr val="bg1"/>
                          </a:solidFill>
                          <a:effectLst/>
                          <a:latin typeface="Arial"/>
                          <a:ea typeface="+mn-ea"/>
                          <a:cs typeface="+mn-cs"/>
                        </a:rPr>
                        <a:t> </a:t>
                      </a:r>
                      <a:r>
                        <a:rPr kumimoji="0" lang="en-US" sz="900" b="1" i="0" u="none" strike="noStrike" kern="1200" cap="none" normalizeH="0" baseline="0">
                          <a:ln>
                            <a:noFill/>
                          </a:ln>
                          <a:solidFill>
                            <a:schemeClr val="bg1"/>
                          </a:solidFill>
                          <a:effectLst/>
                          <a:latin typeface="Arial"/>
                          <a:ea typeface="+mn-ea"/>
                          <a:cs typeface="+mn-cs"/>
                        </a:rPr>
                        <a:t>Original</a:t>
                      </a:r>
                    </a:p>
                    <a:p>
                      <a:pPr marL="0" marR="0" lvl="0" indent="0" algn="ctr" rtl="0" eaLnBrk="0" fontAlgn="base" latinLnBrk="0" hangingPunct="0">
                        <a:lnSpc>
                          <a:spcPct val="95000"/>
                        </a:lnSpc>
                        <a:spcBef>
                          <a:spcPct val="0"/>
                        </a:spcBef>
                        <a:spcAft>
                          <a:spcPct val="50000"/>
                        </a:spcAft>
                        <a:buClrTx/>
                        <a:buSzTx/>
                        <a:buFontTx/>
                        <a:buNone/>
                      </a:pPr>
                      <a:r>
                        <a:rPr kumimoji="0" lang="en-US" sz="900" b="1" i="0" u="none" strike="noStrike" kern="1200" cap="none" normalizeH="0" baseline="0">
                          <a:ln>
                            <a:noFill/>
                          </a:ln>
                          <a:solidFill>
                            <a:schemeClr val="bg1"/>
                          </a:solidFill>
                          <a:effectLst/>
                          <a:latin typeface="Arial"/>
                          <a:ea typeface="+mn-ea"/>
                          <a:cs typeface="+mn-cs"/>
                        </a:rPr>
                        <a:t>Budget</a:t>
                      </a:r>
                      <a:r>
                        <a:rPr lang="en-US" sz="900" b="1" i="0" u="none" strike="noStrike" kern="1200" cap="none" normalizeH="0" baseline="0">
                          <a:ln>
                            <a:noFill/>
                          </a:ln>
                          <a:solidFill>
                            <a:schemeClr val="bg1"/>
                          </a:solidFill>
                          <a:effectLst/>
                          <a:latin typeface="Arial"/>
                          <a:ea typeface="+mn-ea"/>
                          <a:cs typeface="+mn-cs"/>
                        </a:rPr>
                        <a:t> </a:t>
                      </a:r>
                      <a:endParaRPr kumimoji="0" lang="en-US" sz="900" b="1" i="0" u="none" strike="noStrike" kern="1200" cap="none" normalizeH="0" baseline="0">
                        <a:ln>
                          <a:noFill/>
                        </a:ln>
                        <a:solidFill>
                          <a:schemeClr val="bg1"/>
                        </a:solidFill>
                        <a:effectLst/>
                        <a:latin typeface="Arial" charset="0"/>
                        <a:ea typeface="+mn-ea"/>
                        <a:cs typeface="+mn-cs"/>
                      </a:endParaRPr>
                    </a:p>
                  </a:txBody>
                  <a:tcPr marL="9525" marR="9525" marT="715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376007">
                <a:tc>
                  <a:txBody>
                    <a:bodyPr/>
                    <a:lstStyle/>
                    <a:p>
                      <a:pPr marL="0" marR="0" lvl="0" indent="0" algn="ctr" rtl="0" eaLnBrk="0" fontAlgn="base" latinLnBrk="0" hangingPunct="0">
                        <a:lnSpc>
                          <a:spcPct val="95000"/>
                        </a:lnSpc>
                        <a:spcBef>
                          <a:spcPct val="0"/>
                        </a:spcBef>
                        <a:spcAft>
                          <a:spcPct val="50000"/>
                        </a:spcAft>
                        <a:buClrTx/>
                        <a:buSzTx/>
                        <a:buFontTx/>
                        <a:buNone/>
                      </a:pPr>
                      <a:r>
                        <a:rPr lang="en-US" sz="900" b="1" i="0" u="none" strike="noStrike" kern="1200" cap="none" normalizeH="0" baseline="0">
                          <a:ln>
                            <a:noFill/>
                          </a:ln>
                          <a:solidFill>
                            <a:schemeClr val="bg1"/>
                          </a:solidFill>
                          <a:effectLst/>
                          <a:latin typeface="Arial"/>
                          <a:ea typeface="+mn-ea"/>
                          <a:cs typeface="+mn-cs"/>
                        </a:rPr>
                        <a:t> </a:t>
                      </a:r>
                      <a:r>
                        <a:rPr kumimoji="0" lang="en-US" sz="900" b="1" i="0" u="none" strike="noStrike" kern="1200" cap="none" normalizeH="0" baseline="0">
                          <a:ln>
                            <a:noFill/>
                          </a:ln>
                          <a:solidFill>
                            <a:schemeClr val="bg1"/>
                          </a:solidFill>
                          <a:effectLst/>
                          <a:latin typeface="Arial"/>
                          <a:ea typeface="+mn-ea"/>
                          <a:cs typeface="+mn-cs"/>
                        </a:rPr>
                        <a:t>2026 Revised Budget</a:t>
                      </a:r>
                      <a:r>
                        <a:rPr lang="en-US" sz="900" b="1" i="0" u="none" strike="noStrike" kern="1200" cap="none" normalizeH="0" baseline="0">
                          <a:ln>
                            <a:noFill/>
                          </a:ln>
                          <a:solidFill>
                            <a:schemeClr val="bg1"/>
                          </a:solidFill>
                          <a:effectLst/>
                          <a:latin typeface="Arial"/>
                          <a:ea typeface="+mn-ea"/>
                          <a:cs typeface="+mn-cs"/>
                        </a:rPr>
                        <a:t> </a:t>
                      </a:r>
                      <a:endParaRPr kumimoji="0" lang="en-US" sz="900" b="1" i="0" u="none" strike="noStrike" kern="1200" cap="none" normalizeH="0" baseline="0">
                        <a:ln>
                          <a:noFill/>
                        </a:ln>
                        <a:solidFill>
                          <a:schemeClr val="bg1"/>
                        </a:solidFill>
                        <a:effectLst/>
                        <a:latin typeface="Arial" charset="0"/>
                        <a:ea typeface="+mn-ea"/>
                        <a:cs typeface="+mn-cs"/>
                      </a:endParaRPr>
                    </a:p>
                  </a:txBody>
                  <a:tcPr marL="9525" marR="9525" marT="715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900" b="1" i="0" u="none" strike="noStrike" kern="1200" cap="none" normalizeH="0" baseline="0">
                          <a:ln>
                            <a:noFill/>
                          </a:ln>
                          <a:solidFill>
                            <a:schemeClr val="bg1"/>
                          </a:solidFill>
                          <a:effectLst/>
                          <a:latin typeface="Arial"/>
                          <a:ea typeface="+mn-ea"/>
                          <a:cs typeface="+mn-cs"/>
                        </a:rPr>
                        <a:t>YTD </a:t>
                      </a:r>
                      <a:r>
                        <a:rPr kumimoji="0" lang="en-US" sz="900" b="1" i="0" u="none" strike="noStrike" kern="1200" cap="none" normalizeH="0" baseline="0">
                          <a:ln>
                            <a:noFill/>
                          </a:ln>
                          <a:solidFill>
                            <a:schemeClr val="bg1"/>
                          </a:solidFill>
                          <a:effectLst/>
                          <a:latin typeface="Arial"/>
                          <a:ea typeface="+mn-ea"/>
                          <a:cs typeface="+mn-cs"/>
                        </a:rPr>
                        <a:t>Actuals</a:t>
                      </a:r>
                    </a:p>
                  </a:txBody>
                  <a:tcPr marL="9525" marR="9525" marT="715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900" b="1" i="0" u="none" strike="noStrike" kern="1200" cap="none" normalizeH="0" baseline="0">
                          <a:ln>
                            <a:noFill/>
                          </a:ln>
                          <a:solidFill>
                            <a:schemeClr val="bg1"/>
                          </a:solidFill>
                          <a:effectLst/>
                          <a:latin typeface="Arial"/>
                          <a:ea typeface="+mn-ea"/>
                          <a:cs typeface="+mn-cs"/>
                        </a:rPr>
                        <a:t>Remaining 2026 Forecast</a:t>
                      </a:r>
                    </a:p>
                  </a:txBody>
                  <a:tcPr marL="9525" marR="9525" marT="715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900" b="1" i="0" u="none" strike="noStrike" kern="1200" cap="none" normalizeH="0" baseline="0">
                          <a:ln>
                            <a:noFill/>
                          </a:ln>
                          <a:solidFill>
                            <a:schemeClr val="bg1"/>
                          </a:solidFill>
                          <a:effectLst/>
                          <a:latin typeface="Arial"/>
                          <a:ea typeface="+mn-ea"/>
                          <a:cs typeface="+mn-cs"/>
                        </a:rPr>
                        <a:t>Total </a:t>
                      </a:r>
                    </a:p>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900" b="1" i="0" u="none" strike="noStrike" kern="1200" cap="none" normalizeH="0" baseline="0">
                          <a:ln>
                            <a:noFill/>
                          </a:ln>
                          <a:solidFill>
                            <a:schemeClr val="bg1"/>
                          </a:solidFill>
                          <a:effectLst/>
                          <a:latin typeface="Arial"/>
                          <a:ea typeface="+mn-ea"/>
                          <a:cs typeface="+mn-cs"/>
                        </a:rPr>
                        <a:t>Actuals +Fcst</a:t>
                      </a:r>
                    </a:p>
                  </a:txBody>
                  <a:tcPr marL="9525" marR="9525" marT="715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900" b="1" i="0" u="none" strike="noStrike" kern="1200" cap="none" normalizeH="0" baseline="0">
                          <a:ln>
                            <a:noFill/>
                          </a:ln>
                          <a:solidFill>
                            <a:schemeClr val="bg1"/>
                          </a:solidFill>
                          <a:effectLst/>
                          <a:latin typeface="Arial"/>
                          <a:ea typeface="+mn-ea"/>
                          <a:cs typeface="+mn-cs"/>
                        </a:rPr>
                        <a:t> </a:t>
                      </a:r>
                      <a:r>
                        <a:rPr kumimoji="0" lang="en-US" sz="900" b="1" i="0" u="none" strike="noStrike" kern="1200" cap="none" normalizeH="0" baseline="0">
                          <a:ln>
                            <a:noFill/>
                          </a:ln>
                          <a:solidFill>
                            <a:schemeClr val="bg1"/>
                          </a:solidFill>
                          <a:effectLst/>
                          <a:latin typeface="Arial"/>
                          <a:ea typeface="+mn-ea"/>
                          <a:cs typeface="+mn-cs"/>
                        </a:rPr>
                        <a:t>Original</a:t>
                      </a:r>
                    </a:p>
                    <a:p>
                      <a:pPr marL="0" marR="0" lvl="0" indent="0" algn="ctr" rtl="0" eaLnBrk="0" fontAlgn="base" latinLnBrk="0" hangingPunct="0">
                        <a:lnSpc>
                          <a:spcPct val="95000"/>
                        </a:lnSpc>
                        <a:spcBef>
                          <a:spcPct val="0"/>
                        </a:spcBef>
                        <a:spcAft>
                          <a:spcPct val="50000"/>
                        </a:spcAft>
                        <a:buClrTx/>
                        <a:buSzTx/>
                        <a:buFontTx/>
                        <a:buNone/>
                      </a:pPr>
                      <a:r>
                        <a:rPr kumimoji="0" lang="en-US" sz="900" b="1" i="0" u="none" strike="noStrike" kern="1200" cap="none" normalizeH="0" baseline="0">
                          <a:ln>
                            <a:noFill/>
                          </a:ln>
                          <a:solidFill>
                            <a:schemeClr val="bg1"/>
                          </a:solidFill>
                          <a:effectLst/>
                          <a:latin typeface="Arial"/>
                          <a:ea typeface="+mn-ea"/>
                          <a:cs typeface="+mn-cs"/>
                        </a:rPr>
                        <a:t>Budget</a:t>
                      </a:r>
                      <a:r>
                        <a:rPr lang="en-US" sz="900" b="1" i="0" u="none" strike="noStrike" kern="1200" cap="none" normalizeH="0" baseline="0">
                          <a:ln>
                            <a:noFill/>
                          </a:ln>
                          <a:solidFill>
                            <a:schemeClr val="bg1"/>
                          </a:solidFill>
                          <a:effectLst/>
                          <a:latin typeface="Arial"/>
                          <a:ea typeface="+mn-ea"/>
                          <a:cs typeface="+mn-cs"/>
                        </a:rPr>
                        <a:t> </a:t>
                      </a:r>
                      <a:endParaRPr kumimoji="0" lang="en-US" sz="900" b="1" i="0" u="none" strike="noStrike" kern="1200" cap="none" normalizeH="0" baseline="0">
                        <a:ln>
                          <a:noFill/>
                        </a:ln>
                        <a:solidFill>
                          <a:schemeClr val="bg1"/>
                        </a:solidFill>
                        <a:effectLst/>
                        <a:latin typeface="Arial" charset="0"/>
                        <a:ea typeface="+mn-ea"/>
                        <a:cs typeface="+mn-cs"/>
                      </a:endParaRPr>
                    </a:p>
                  </a:txBody>
                  <a:tcPr marL="9525" marR="9525" marT="715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7499024"/>
                  </a:ext>
                </a:extLst>
              </a:tr>
            </a:tbl>
          </a:graphicData>
        </a:graphic>
      </p:graphicFrame>
      <p:graphicFrame>
        <p:nvGraphicFramePr>
          <p:cNvPr id="25" name="Table 24">
            <a:extLst>
              <a:ext uri="{FF2B5EF4-FFF2-40B4-BE49-F238E27FC236}">
                <a16:creationId xmlns:a16="http://schemas.microsoft.com/office/drawing/2014/main" id="{EDBC6EF8-3C3A-E900-40DD-6CFC655F12E2}"/>
              </a:ext>
            </a:extLst>
          </p:cNvPr>
          <p:cNvGraphicFramePr>
            <a:graphicFrameLocks noGrp="1"/>
          </p:cNvGraphicFramePr>
          <p:nvPr/>
        </p:nvGraphicFramePr>
        <p:xfrm>
          <a:off x="2811025" y="792650"/>
          <a:ext cx="3829275" cy="743175"/>
        </p:xfrm>
        <a:graphic>
          <a:graphicData uri="http://schemas.openxmlformats.org/drawingml/2006/table">
            <a:tbl>
              <a:tblPr>
                <a:tableStyleId>{5C22544A-7EE6-4342-B048-85BDC9FD1C3A}</a:tableStyleId>
              </a:tblPr>
              <a:tblGrid>
                <a:gridCol w="1042158">
                  <a:extLst>
                    <a:ext uri="{9D8B030D-6E8A-4147-A177-3AD203B41FA5}">
                      <a16:colId xmlns:a16="http://schemas.microsoft.com/office/drawing/2014/main" val="2456552316"/>
                    </a:ext>
                  </a:extLst>
                </a:gridCol>
                <a:gridCol w="961214">
                  <a:extLst>
                    <a:ext uri="{9D8B030D-6E8A-4147-A177-3AD203B41FA5}">
                      <a16:colId xmlns:a16="http://schemas.microsoft.com/office/drawing/2014/main" val="1100051595"/>
                    </a:ext>
                  </a:extLst>
                </a:gridCol>
                <a:gridCol w="920742">
                  <a:extLst>
                    <a:ext uri="{9D8B030D-6E8A-4147-A177-3AD203B41FA5}">
                      <a16:colId xmlns:a16="http://schemas.microsoft.com/office/drawing/2014/main" val="2042261034"/>
                    </a:ext>
                  </a:extLst>
                </a:gridCol>
                <a:gridCol w="905161">
                  <a:extLst>
                    <a:ext uri="{9D8B030D-6E8A-4147-A177-3AD203B41FA5}">
                      <a16:colId xmlns:a16="http://schemas.microsoft.com/office/drawing/2014/main" val="2815874248"/>
                    </a:ext>
                  </a:extLst>
                </a:gridCol>
              </a:tblGrid>
              <a:tr h="380368">
                <a:tc>
                  <a:txBody>
                    <a:bodyPr/>
                    <a:lstStyle/>
                    <a:p>
                      <a:pPr marL="0" marR="0" lvl="0" indent="0" algn="ctr" rtl="0" eaLnBrk="0" fontAlgn="base" latinLnBrk="0" hangingPunct="0">
                        <a:lnSpc>
                          <a:spcPct val="95000"/>
                        </a:lnSpc>
                        <a:spcBef>
                          <a:spcPct val="0"/>
                        </a:spcBef>
                        <a:spcAft>
                          <a:spcPct val="50000"/>
                        </a:spcAft>
                        <a:buClrTx/>
                        <a:buSzTx/>
                        <a:buFontTx/>
                        <a:buNone/>
                      </a:pPr>
                      <a:r>
                        <a:rPr lang="en-US" sz="1100" b="1" i="0" u="none" strike="noStrike" kern="1200" cap="none" normalizeH="0" baseline="0">
                          <a:ln>
                            <a:noFill/>
                          </a:ln>
                          <a:solidFill>
                            <a:schemeClr val="bg1"/>
                          </a:solidFill>
                          <a:effectLst/>
                          <a:latin typeface="Arial"/>
                          <a:ea typeface="+mn-ea"/>
                          <a:cs typeface="+mn-cs"/>
                        </a:rPr>
                        <a:t> </a:t>
                      </a:r>
                      <a:r>
                        <a:rPr kumimoji="0" lang="en-US" sz="1100" b="1" i="0" u="none" strike="noStrike" kern="1200" cap="none" normalizeH="0" baseline="0">
                          <a:ln>
                            <a:noFill/>
                          </a:ln>
                          <a:solidFill>
                            <a:schemeClr val="bg1"/>
                          </a:solidFill>
                          <a:effectLst/>
                          <a:latin typeface="Arial"/>
                          <a:ea typeface="+mn-ea"/>
                          <a:cs typeface="+mn-cs"/>
                        </a:rPr>
                        <a:t>Overall</a:t>
                      </a:r>
                      <a:endParaRPr kumimoji="0" lang="en-US" sz="110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100" b="1" i="0" u="none" strike="noStrike" kern="1200" cap="none" normalizeH="0" baseline="0">
                          <a:ln>
                            <a:noFill/>
                          </a:ln>
                          <a:solidFill>
                            <a:schemeClr val="bg1"/>
                          </a:solidFill>
                          <a:effectLst/>
                          <a:latin typeface="Arial"/>
                          <a:ea typeface="+mn-ea"/>
                          <a:cs typeface="+mn-cs"/>
                        </a:rPr>
                        <a:t>Scope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100" b="1" i="0" u="none" strike="noStrike" kern="1200" cap="none" normalizeH="0" baseline="0">
                          <a:ln>
                            <a:noFill/>
                          </a:ln>
                          <a:solidFill>
                            <a:schemeClr val="bg1"/>
                          </a:solidFill>
                          <a:effectLst/>
                          <a:latin typeface="Arial"/>
                          <a:ea typeface="+mn-ea"/>
                          <a:cs typeface="+mn-cs"/>
                        </a:rPr>
                        <a:t>Schedule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100" b="1" i="0" u="none" strike="noStrike" kern="1200" cap="none" normalizeH="0" baseline="0">
                          <a:ln>
                            <a:noFill/>
                          </a:ln>
                          <a:solidFill>
                            <a:schemeClr val="bg1"/>
                          </a:solidFill>
                          <a:effectLst/>
                          <a:latin typeface="Arial"/>
                          <a:ea typeface="+mn-ea"/>
                          <a:cs typeface="+mn-cs"/>
                        </a:rPr>
                        <a:t>Financials</a:t>
                      </a:r>
                      <a:endParaRPr kumimoji="0" lang="en-US" sz="110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362807">
                <a:tc>
                  <a:txBody>
                    <a:bodyPr/>
                    <a:lstStyle/>
                    <a:p>
                      <a:pPr marL="0" marR="0" lvl="0" indent="0" algn="ctr" rtl="0" eaLnBrk="1" fontAlgn="ctr" latinLnBrk="0" hangingPunct="1">
                        <a:lnSpc>
                          <a:spcPct val="95000"/>
                        </a:lnSpc>
                        <a:spcBef>
                          <a:spcPct val="0"/>
                        </a:spcBef>
                        <a:spcAft>
                          <a:spcPct val="50000"/>
                        </a:spcAft>
                        <a:buClrTx/>
                        <a:buSzTx/>
                        <a:buFontTx/>
                        <a:buNone/>
                      </a:pPr>
                      <a:endParaRPr lang="en-US" sz="110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110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110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rtl="0" eaLnBrk="1" fontAlgn="ctr" latinLnBrk="0" hangingPunct="1">
                        <a:lnSpc>
                          <a:spcPct val="95000"/>
                        </a:lnSpc>
                        <a:spcBef>
                          <a:spcPct val="0"/>
                        </a:spcBef>
                        <a:spcAft>
                          <a:spcPct val="50000"/>
                        </a:spcAft>
                        <a:buClrTx/>
                        <a:buSzTx/>
                        <a:buFontTx/>
                        <a:buNone/>
                      </a:pPr>
                      <a:endParaRPr lang="en-US" sz="110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7499024"/>
                  </a:ext>
                </a:extLst>
              </a:tr>
            </a:tbl>
          </a:graphicData>
        </a:graphic>
      </p:graphicFrame>
      <p:graphicFrame>
        <p:nvGraphicFramePr>
          <p:cNvPr id="26" name="Group 513">
            <a:extLst>
              <a:ext uri="{FF2B5EF4-FFF2-40B4-BE49-F238E27FC236}">
                <a16:creationId xmlns:a16="http://schemas.microsoft.com/office/drawing/2014/main" id="{CE3ACF4B-CC76-61E5-8D70-B681060BC528}"/>
              </a:ext>
            </a:extLst>
          </p:cNvPr>
          <p:cNvGraphicFramePr>
            <a:graphicFrameLocks noGrp="1"/>
          </p:cNvGraphicFramePr>
          <p:nvPr/>
        </p:nvGraphicFramePr>
        <p:xfrm>
          <a:off x="204245" y="1143935"/>
          <a:ext cx="2581575" cy="395688"/>
        </p:xfrm>
        <a:graphic>
          <a:graphicData uri="http://schemas.openxmlformats.org/drawingml/2006/table">
            <a:tbl>
              <a:tblPr/>
              <a:tblGrid>
                <a:gridCol w="978010">
                  <a:extLst>
                    <a:ext uri="{9D8B030D-6E8A-4147-A177-3AD203B41FA5}">
                      <a16:colId xmlns:a16="http://schemas.microsoft.com/office/drawing/2014/main" val="20000"/>
                    </a:ext>
                  </a:extLst>
                </a:gridCol>
                <a:gridCol w="1603565">
                  <a:extLst>
                    <a:ext uri="{9D8B030D-6E8A-4147-A177-3AD203B41FA5}">
                      <a16:colId xmlns:a16="http://schemas.microsoft.com/office/drawing/2014/main" val="20001"/>
                    </a:ext>
                  </a:extLst>
                </a:gridCol>
              </a:tblGrid>
              <a:tr h="351480">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GB" sz="1050" b="1" i="0" u="none" strike="noStrike" kern="1200" cap="none" normalizeH="0" baseline="0">
                          <a:ln>
                            <a:noFill/>
                          </a:ln>
                          <a:solidFill>
                            <a:schemeClr val="bg1"/>
                          </a:solidFill>
                          <a:effectLst/>
                          <a:latin typeface="Arial"/>
                          <a:ea typeface="+mn-ea"/>
                          <a:cs typeface="+mn-cs"/>
                        </a:rPr>
                        <a:t>Target Delivery:</a:t>
                      </a:r>
                    </a:p>
                  </a:txBody>
                  <a:tcPr marL="0" marR="0"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2060"/>
                    </a:solidFill>
                  </a:tcPr>
                </a:tc>
                <a:tc>
                  <a:txBody>
                    <a:bodyPr/>
                    <a:lstStyle/>
                    <a:p>
                      <a:pPr marL="0" marR="0" lvl="0" indent="0" algn="ctr" rtl="0" eaLnBrk="0" fontAlgn="base" latinLnBrk="0" hangingPunct="0">
                        <a:lnSpc>
                          <a:spcPct val="80000"/>
                        </a:lnSpc>
                        <a:spcBef>
                          <a:spcPct val="0"/>
                        </a:spcBef>
                        <a:spcAft>
                          <a:spcPts val="0"/>
                        </a:spcAft>
                        <a:buClrTx/>
                        <a:buSzTx/>
                        <a:buFontTx/>
                        <a:buNone/>
                      </a:pPr>
                      <a:r>
                        <a:rPr lang="en-US" sz="900" b="1" i="0" u="none" strike="noStrike" cap="none" normalizeH="0" baseline="0">
                          <a:ln>
                            <a:noFill/>
                          </a:ln>
                          <a:solidFill>
                            <a:schemeClr val="tx1"/>
                          </a:solidFill>
                          <a:effectLst/>
                          <a:latin typeface="+mn-lt"/>
                        </a:rPr>
                        <a:t>Every Month starting July, Aug, Sep, Oct, Nov</a:t>
                      </a:r>
                      <a:endParaRPr kumimoji="0" lang="en-US" sz="900" b="1" i="0" u="none" strike="noStrike" cap="none" normalizeH="0" baseline="0">
                        <a:ln>
                          <a:noFill/>
                        </a:ln>
                        <a:solidFill>
                          <a:schemeClr val="tx1"/>
                        </a:solidFill>
                        <a:effectLst/>
                        <a:latin typeface="+mn-lt"/>
                      </a:endParaRPr>
                    </a:p>
                  </a:txBody>
                  <a:tcPr marL="0" marR="0"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27" name="Table 26">
            <a:extLst>
              <a:ext uri="{FF2B5EF4-FFF2-40B4-BE49-F238E27FC236}">
                <a16:creationId xmlns:a16="http://schemas.microsoft.com/office/drawing/2014/main" id="{E4812FB4-EC52-543D-0EBE-9C5346E9C391}"/>
              </a:ext>
            </a:extLst>
          </p:cNvPr>
          <p:cNvGraphicFramePr>
            <a:graphicFrameLocks noGrp="1"/>
          </p:cNvGraphicFramePr>
          <p:nvPr>
            <p:extLst>
              <p:ext uri="{D42A27DB-BD31-4B8C-83A1-F6EECF244321}">
                <p14:modId xmlns:p14="http://schemas.microsoft.com/office/powerpoint/2010/main" val="1334695489"/>
              </p:ext>
            </p:extLst>
          </p:nvPr>
        </p:nvGraphicFramePr>
        <p:xfrm>
          <a:off x="6141912" y="1582326"/>
          <a:ext cx="5890223" cy="2868777"/>
        </p:xfrm>
        <a:graphic>
          <a:graphicData uri="http://schemas.openxmlformats.org/drawingml/2006/table">
            <a:tbl>
              <a:tblPr>
                <a:tableStyleId>{5C22544A-7EE6-4342-B048-85BDC9FD1C3A}</a:tableStyleId>
              </a:tblPr>
              <a:tblGrid>
                <a:gridCol w="2155939">
                  <a:extLst>
                    <a:ext uri="{9D8B030D-6E8A-4147-A177-3AD203B41FA5}">
                      <a16:colId xmlns:a16="http://schemas.microsoft.com/office/drawing/2014/main" val="2456552316"/>
                    </a:ext>
                  </a:extLst>
                </a:gridCol>
                <a:gridCol w="443796">
                  <a:extLst>
                    <a:ext uri="{9D8B030D-6E8A-4147-A177-3AD203B41FA5}">
                      <a16:colId xmlns:a16="http://schemas.microsoft.com/office/drawing/2014/main" val="1100051595"/>
                    </a:ext>
                  </a:extLst>
                </a:gridCol>
                <a:gridCol w="624914">
                  <a:extLst>
                    <a:ext uri="{9D8B030D-6E8A-4147-A177-3AD203B41FA5}">
                      <a16:colId xmlns:a16="http://schemas.microsoft.com/office/drawing/2014/main" val="2042261034"/>
                    </a:ext>
                  </a:extLst>
                </a:gridCol>
                <a:gridCol w="2665574">
                  <a:extLst>
                    <a:ext uri="{9D8B030D-6E8A-4147-A177-3AD203B41FA5}">
                      <a16:colId xmlns:a16="http://schemas.microsoft.com/office/drawing/2014/main" val="2815874248"/>
                    </a:ext>
                  </a:extLst>
                </a:gridCol>
              </a:tblGrid>
              <a:tr h="284708">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Milestone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Status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Due Date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Notes</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209416">
                <a:tc>
                  <a:txBody>
                    <a:bodyPr/>
                    <a:lstStyle/>
                    <a:p>
                      <a:pPr marL="0" marR="0" lvl="0" indent="0" algn="l" defTabSz="914400" rtl="0" eaLnBrk="1" fontAlgn="ctr" latinLnBrk="0" hangingPunct="1">
                        <a:lnSpc>
                          <a:spcPct val="95000"/>
                        </a:lnSpc>
                        <a:spcBef>
                          <a:spcPct val="0"/>
                        </a:spcBef>
                        <a:spcAft>
                          <a:spcPct val="50000"/>
                        </a:spcAft>
                        <a:buClrTx/>
                        <a:buSzTx/>
                        <a:buFont typeface="Arial" panose="020B0604020202020204" pitchFamily="34" charset="0"/>
                        <a:buNone/>
                        <a:tabLst/>
                        <a:defRPr/>
                      </a:pPr>
                      <a:r>
                        <a:rPr lang="en-US" sz="800" b="0" kern="1200">
                          <a:solidFill>
                            <a:schemeClr val="tx1"/>
                          </a:solidFill>
                          <a:effectLst/>
                          <a:latin typeface="+mn-lt"/>
                          <a:ea typeface="+mn-ea"/>
                          <a:cs typeface="+mn-cs"/>
                        </a:rPr>
                        <a:t>Critical defects PP 2 &amp; 166 Prod deployment</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r>
                        <a:rPr lang="en-US" sz="800" b="0" kern="1200">
                          <a:solidFill>
                            <a:schemeClr val="tx1"/>
                          </a:solidFill>
                          <a:effectLst/>
                          <a:latin typeface="+mn-lt"/>
                          <a:ea typeface="+mn-ea"/>
                          <a:cs typeface="+mn-cs"/>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r>
                        <a:rPr lang="en-US" sz="800" b="0" strike="noStrike" kern="1200">
                          <a:solidFill>
                            <a:schemeClr val="tx1"/>
                          </a:solidFill>
                          <a:effectLst/>
                          <a:latin typeface="+mn-lt"/>
                          <a:ea typeface="+mn-ea"/>
                          <a:cs typeface="+mn-cs"/>
                        </a:rPr>
                        <a:t>2/20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base" latinLnBrk="0" hangingPunct="1">
                        <a:lnSpc>
                          <a:spcPts val="600"/>
                        </a:lnSpc>
                        <a:spcBef>
                          <a:spcPts val="300"/>
                        </a:spcBef>
                        <a:spcAft>
                          <a:spcPts val="0"/>
                        </a:spcAft>
                        <a:buClrTx/>
                        <a:buSzTx/>
                        <a:buFontTx/>
                        <a:buNone/>
                        <a:tabLst/>
                        <a:defRPr/>
                      </a:pPr>
                      <a:endParaRPr lang="en-US" sz="800" b="0" i="0">
                        <a:solidFill>
                          <a:srgbClr val="000000"/>
                        </a:solidFill>
                        <a:effectLst/>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265776197"/>
                  </a:ext>
                </a:extLst>
              </a:tr>
              <a:tr h="161925">
                <a:tc>
                  <a:txBody>
                    <a:bodyPr/>
                    <a:lstStyle/>
                    <a:p>
                      <a:pPr marL="0" marR="0" lvl="0" indent="0" algn="l" defTabSz="914400" rtl="0" eaLnBrk="1" fontAlgn="ctr" latinLnBrk="0" hangingPunct="1">
                        <a:lnSpc>
                          <a:spcPct val="95000"/>
                        </a:lnSpc>
                        <a:spcBef>
                          <a:spcPct val="0"/>
                        </a:spcBef>
                        <a:spcAft>
                          <a:spcPct val="50000"/>
                        </a:spcAft>
                        <a:buClrTx/>
                        <a:buSzTx/>
                        <a:buFont typeface="Arial" panose="020B0604020202020204" pitchFamily="34" charset="0"/>
                        <a:buNone/>
                        <a:tabLst/>
                        <a:defRPr/>
                      </a:pPr>
                      <a:r>
                        <a:rPr lang="en-US" sz="800" b="0" kern="1200">
                          <a:solidFill>
                            <a:schemeClr val="tx1"/>
                          </a:solidFill>
                          <a:effectLst/>
                          <a:latin typeface="+mn-lt"/>
                          <a:ea typeface="+mn-ea"/>
                          <a:cs typeface="+mn-cs"/>
                        </a:rPr>
                        <a:t>Defects Prioritization </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r>
                        <a:rPr lang="en-US" sz="800" b="0" kern="1200">
                          <a:solidFill>
                            <a:schemeClr val="tx1"/>
                          </a:solidFill>
                          <a:effectLst/>
                          <a:latin typeface="+mn-lt"/>
                          <a:ea typeface="+mn-ea"/>
                          <a:cs typeface="+mn-cs"/>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ctr" latinLnBrk="0" hangingPunct="1">
                        <a:lnSpc>
                          <a:spcPct val="100000"/>
                        </a:lnSpc>
                        <a:spcBef>
                          <a:spcPct val="0"/>
                        </a:spcBef>
                        <a:spcAft>
                          <a:spcPts val="0"/>
                        </a:spcAft>
                        <a:buClrTx/>
                        <a:buSzTx/>
                        <a:buFontTx/>
                        <a:buNone/>
                        <a:tabLst/>
                      </a:pPr>
                      <a:r>
                        <a:rPr lang="en-US" sz="800" b="0" strike="noStrike" kern="1200">
                          <a:solidFill>
                            <a:schemeClr val="tx1"/>
                          </a:solidFill>
                          <a:effectLst/>
                          <a:latin typeface="+mn-lt"/>
                          <a:ea typeface="+mn-ea"/>
                          <a:cs typeface="+mn-cs"/>
                        </a:rPr>
                        <a:t>3/6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base" latinLnBrk="0" hangingPunct="1">
                        <a:lnSpc>
                          <a:spcPts val="600"/>
                        </a:lnSpc>
                        <a:spcBef>
                          <a:spcPts val="300"/>
                        </a:spcBef>
                        <a:spcAft>
                          <a:spcPts val="0"/>
                        </a:spcAft>
                        <a:buClrTx/>
                        <a:buSzTx/>
                        <a:buFont typeface="Arial" panose="020B0604020202020204" pitchFamily="34" charset="0"/>
                        <a:buNone/>
                        <a:tabLst/>
                        <a:defRPr/>
                      </a:pPr>
                      <a:endParaRPr lang="en-US" sz="800" b="0" i="0">
                        <a:solidFill>
                          <a:srgbClr val="000000"/>
                        </a:solidFill>
                        <a:effectLst/>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073210692"/>
                  </a:ext>
                </a:extLst>
              </a:tr>
              <a:tr h="200025">
                <a:tc>
                  <a:txBody>
                    <a:bodyPr/>
                    <a:lstStyle/>
                    <a:p>
                      <a:pPr marL="0" marR="0" lvl="0" indent="0" algn="l" defTabSz="914400" rtl="0" eaLnBrk="1" fontAlgn="ctr" latinLnBrk="0" hangingPunct="1">
                        <a:lnSpc>
                          <a:spcPct val="95000"/>
                        </a:lnSpc>
                        <a:spcBef>
                          <a:spcPct val="0"/>
                        </a:spcBef>
                        <a:spcAft>
                          <a:spcPct val="50000"/>
                        </a:spcAft>
                        <a:buClrTx/>
                        <a:buSzTx/>
                        <a:buFont typeface="Arial" panose="020B0604020202020204" pitchFamily="34" charset="0"/>
                        <a:buNone/>
                        <a:tabLst/>
                        <a:defRPr/>
                      </a:pPr>
                      <a:r>
                        <a:rPr lang="en-US" sz="800" b="0" kern="1200">
                          <a:solidFill>
                            <a:schemeClr val="tx1"/>
                          </a:solidFill>
                          <a:effectLst/>
                          <a:latin typeface="+mn-lt"/>
                          <a:ea typeface="+mn-ea"/>
                          <a:cs typeface="+mn-cs"/>
                        </a:rPr>
                        <a:t>Defect AI Generated analysis</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r>
                        <a:rPr lang="en-US" sz="800" b="0" kern="1200">
                          <a:solidFill>
                            <a:schemeClr val="tx1"/>
                          </a:solidFill>
                          <a:effectLst/>
                          <a:latin typeface="+mn-lt"/>
                          <a:ea typeface="+mn-ea"/>
                          <a:cs typeface="+mn-cs"/>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ctr" latinLnBrk="0" hangingPunct="1">
                        <a:lnSpc>
                          <a:spcPct val="100000"/>
                        </a:lnSpc>
                        <a:spcBef>
                          <a:spcPct val="0"/>
                        </a:spcBef>
                        <a:spcAft>
                          <a:spcPts val="0"/>
                        </a:spcAft>
                        <a:buClrTx/>
                        <a:buSzTx/>
                        <a:buFontTx/>
                        <a:buNone/>
                        <a:tabLst/>
                      </a:pPr>
                      <a:r>
                        <a:rPr lang="en-US" sz="800" b="0" strike="noStrike" kern="1200">
                          <a:solidFill>
                            <a:schemeClr val="tx1"/>
                          </a:solidFill>
                          <a:effectLst/>
                          <a:latin typeface="+mn-lt"/>
                          <a:ea typeface="+mn-ea"/>
                          <a:cs typeface="+mn-cs"/>
                        </a:rPr>
                        <a:t>3/10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base" latinLnBrk="0" hangingPunct="1">
                        <a:lnSpc>
                          <a:spcPts val="600"/>
                        </a:lnSpc>
                        <a:spcBef>
                          <a:spcPts val="300"/>
                        </a:spcBef>
                        <a:spcAft>
                          <a:spcPts val="0"/>
                        </a:spcAft>
                        <a:buClrTx/>
                        <a:buSzTx/>
                        <a:buFont typeface="Arial" panose="020B0604020202020204" pitchFamily="34" charset="0"/>
                        <a:buNone/>
                        <a:tabLst/>
                        <a:defRPr/>
                      </a:pPr>
                      <a:endParaRPr lang="en-US" sz="800" b="0" i="0">
                        <a:solidFill>
                          <a:srgbClr val="000000"/>
                        </a:solidFill>
                        <a:effectLst/>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2568287172"/>
                  </a:ext>
                </a:extLst>
              </a:tr>
              <a:tr h="171450">
                <a:tc>
                  <a:txBody>
                    <a:bodyPr/>
                    <a:lstStyle/>
                    <a:p>
                      <a:pPr marL="0" marR="0" lvl="0" indent="0" algn="l" defTabSz="914400" rtl="0" eaLnBrk="1" fontAlgn="ctr" latinLnBrk="0" hangingPunct="1">
                        <a:lnSpc>
                          <a:spcPct val="95000"/>
                        </a:lnSpc>
                        <a:spcBef>
                          <a:spcPct val="0"/>
                        </a:spcBef>
                        <a:spcAft>
                          <a:spcPct val="50000"/>
                        </a:spcAft>
                        <a:buClrTx/>
                        <a:buSzTx/>
                        <a:buFont typeface="Arial" panose="020B0604020202020204" pitchFamily="34" charset="0"/>
                        <a:buNone/>
                        <a:tabLst/>
                        <a:defRPr/>
                      </a:pPr>
                      <a:r>
                        <a:rPr lang="en-US" sz="800" b="0" kern="1200">
                          <a:solidFill>
                            <a:schemeClr val="tx1"/>
                          </a:solidFill>
                          <a:effectLst/>
                          <a:latin typeface="+mn-lt"/>
                          <a:ea typeface="+mn-ea"/>
                          <a:cs typeface="+mn-cs"/>
                        </a:rPr>
                        <a:t>Revised Release Plan</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r>
                        <a:rPr lang="en-US" sz="800" b="0" kern="1200">
                          <a:solidFill>
                            <a:schemeClr val="tx1"/>
                          </a:solidFill>
                          <a:effectLst/>
                          <a:latin typeface="+mn-lt"/>
                          <a:ea typeface="+mn-ea"/>
                          <a:cs typeface="+mn-cs"/>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ctr" latinLnBrk="0" hangingPunct="1">
                        <a:lnSpc>
                          <a:spcPct val="100000"/>
                        </a:lnSpc>
                        <a:spcBef>
                          <a:spcPct val="0"/>
                        </a:spcBef>
                        <a:spcAft>
                          <a:spcPts val="0"/>
                        </a:spcAft>
                        <a:buClrTx/>
                        <a:buSzTx/>
                        <a:buFontTx/>
                        <a:buNone/>
                        <a:tabLst/>
                      </a:pPr>
                      <a:r>
                        <a:rPr lang="en-US" sz="800" b="0" strike="noStrike" kern="1200">
                          <a:solidFill>
                            <a:schemeClr val="tx1"/>
                          </a:solidFill>
                          <a:effectLst/>
                          <a:latin typeface="+mn-lt"/>
                          <a:ea typeface="+mn-ea"/>
                          <a:cs typeface="+mn-cs"/>
                        </a:rPr>
                        <a:t>4/24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base" latinLnBrk="0" hangingPunct="1">
                        <a:lnSpc>
                          <a:spcPts val="600"/>
                        </a:lnSpc>
                        <a:spcBef>
                          <a:spcPts val="300"/>
                        </a:spcBef>
                        <a:spcAft>
                          <a:spcPts val="0"/>
                        </a:spcAft>
                        <a:buClrTx/>
                        <a:buSzTx/>
                        <a:buFont typeface="Arial" panose="020B0604020202020204" pitchFamily="34" charset="0"/>
                        <a:buNone/>
                        <a:tabLst/>
                        <a:defRPr/>
                      </a:pPr>
                      <a:endParaRPr lang="en-US" sz="800" b="0" i="0">
                        <a:solidFill>
                          <a:srgbClr val="000000"/>
                        </a:solidFill>
                        <a:effectLst/>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13196933"/>
                  </a:ext>
                </a:extLst>
              </a:tr>
              <a:tr h="179958">
                <a:tc>
                  <a:txBody>
                    <a:bodyPr/>
                    <a:lstStyle/>
                    <a:p>
                      <a:pPr marL="0" marR="0" lvl="0" indent="0" algn="l" rtl="0" eaLnBrk="1" fontAlgn="auto" latinLnBrk="0" hangingPunct="1">
                        <a:lnSpc>
                          <a:spcPct val="100000"/>
                        </a:lnSpc>
                        <a:spcBef>
                          <a:spcPts val="0"/>
                        </a:spcBef>
                        <a:spcAft>
                          <a:spcPts val="0"/>
                        </a:spcAft>
                        <a:buClrTx/>
                        <a:buSzTx/>
                        <a:buFont typeface="Arial" panose="020B0604020202020204" pitchFamily="34" charset="0"/>
                        <a:buNone/>
                      </a:pPr>
                      <a:r>
                        <a:rPr lang="en-US" sz="800" b="0" kern="1200">
                          <a:solidFill>
                            <a:schemeClr val="tx1"/>
                          </a:solidFill>
                          <a:latin typeface="+mn-lt"/>
                          <a:ea typeface="+mn-ea"/>
                          <a:cs typeface="+mn-cs"/>
                        </a:rPr>
                        <a:t>Talend to Python Phase 1 UAT </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800">
                          <a:latin typeface="+mn-lt"/>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800" b="0" strike="noStrike" kern="1200">
                          <a:solidFill>
                            <a:schemeClr val="tx1"/>
                          </a:solidFill>
                          <a:effectLst/>
                          <a:latin typeface="+mn-lt"/>
                          <a:ea typeface="+mn-ea"/>
                          <a:cs typeface="+mn-cs"/>
                        </a:rPr>
                        <a:t>4/30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base" latinLnBrk="0" hangingPunct="1">
                        <a:lnSpc>
                          <a:spcPct val="100000"/>
                        </a:lnSpc>
                        <a:spcBef>
                          <a:spcPts val="200"/>
                        </a:spcBef>
                        <a:spcAft>
                          <a:spcPts val="0"/>
                        </a:spcAft>
                        <a:buClrTx/>
                        <a:buSzTx/>
                        <a:buFont typeface="Arial" panose="020B0604020202020204" pitchFamily="34" charset="0"/>
                        <a:buNone/>
                        <a:tabLst/>
                        <a:defRPr/>
                      </a:pPr>
                      <a:r>
                        <a:rPr lang="en-US" sz="800" kern="100">
                          <a:solidFill>
                            <a:schemeClr val="dk1"/>
                          </a:solidFill>
                          <a:latin typeface="+mn-lt"/>
                          <a:cs typeface="Times New Roman"/>
                        </a:rPr>
                        <a:t>Re-baseline due to  UAT testing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387139067"/>
                  </a:ext>
                </a:extLst>
              </a:tr>
              <a:tr h="137031">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800" b="0" kern="1200">
                          <a:solidFill>
                            <a:schemeClr val="tx1"/>
                          </a:solidFill>
                          <a:latin typeface="+mn-lt"/>
                          <a:ea typeface="+mn-ea"/>
                          <a:cs typeface="+mn-cs"/>
                        </a:rPr>
                        <a:t>Talend to Python Phase 1 Prod</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800">
                          <a:latin typeface="+mn-lt"/>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800" b="0" strike="noStrike" kern="1200">
                          <a:solidFill>
                            <a:schemeClr val="tx1"/>
                          </a:solidFill>
                          <a:effectLst/>
                          <a:latin typeface="+mn-lt"/>
                          <a:ea typeface="+mn-ea"/>
                          <a:cs typeface="+mn-cs"/>
                        </a:rPr>
                        <a:t>5/26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base" latinLnBrk="0" hangingPunct="1">
                        <a:lnSpc>
                          <a:spcPct val="100000"/>
                        </a:lnSpc>
                        <a:spcBef>
                          <a:spcPts val="200"/>
                        </a:spcBef>
                        <a:spcAft>
                          <a:spcPts val="0"/>
                        </a:spcAft>
                        <a:buClrTx/>
                        <a:buSzTx/>
                        <a:buFont typeface="Arial" panose="020B0604020202020204" pitchFamily="34" charset="0"/>
                        <a:buNone/>
                        <a:tabLst/>
                        <a:defRPr/>
                      </a:pPr>
                      <a:r>
                        <a:rPr lang="en-US" sz="800" kern="100">
                          <a:solidFill>
                            <a:schemeClr val="dk1"/>
                          </a:solidFill>
                          <a:latin typeface="+mn-lt"/>
                          <a:cs typeface="Times New Roman"/>
                        </a:rPr>
                        <a:t>5 defects have been identified - Completed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815597873"/>
                  </a:ext>
                </a:extLst>
              </a:tr>
              <a:tr h="257175">
                <a:tc>
                  <a:txBody>
                    <a:bodyPr/>
                    <a:lstStyle/>
                    <a:p>
                      <a:pPr algn="l" rtl="0" fontAlgn="base">
                        <a:lnSpc>
                          <a:spcPts val="525"/>
                        </a:lnSpc>
                        <a:buNone/>
                      </a:pPr>
                      <a:r>
                        <a:rPr lang="en-US" sz="800" b="0" kern="1200">
                          <a:solidFill>
                            <a:schemeClr val="tx1"/>
                          </a:solidFill>
                          <a:latin typeface="+mn-lt"/>
                          <a:ea typeface="+mn-ea"/>
                          <a:cs typeface="+mn-cs"/>
                        </a:rPr>
                        <a:t>Critical Defects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rtl="0" fontAlgn="auto">
                        <a:lnSpc>
                          <a:spcPts val="525"/>
                        </a:lnSpc>
                        <a:buNone/>
                      </a:pPr>
                      <a:r>
                        <a:rPr lang="en-US" sz="800" kern="1200">
                          <a:solidFill>
                            <a:schemeClr val="dk1"/>
                          </a:solidFill>
                          <a:latin typeface="+mn-lt"/>
                          <a:ea typeface="+mn-ea"/>
                          <a:cs typeface="+mn-cs"/>
                        </a:rPr>
                        <a:t>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rtl="0" fontAlgn="auto">
                        <a:lnSpc>
                          <a:spcPts val="525"/>
                        </a:lnSpc>
                        <a:buNone/>
                      </a:pPr>
                      <a:r>
                        <a:rPr lang="en-US" sz="800" b="0" strike="noStrike" kern="1200">
                          <a:solidFill>
                            <a:schemeClr val="tx1"/>
                          </a:solidFill>
                          <a:effectLst/>
                          <a:latin typeface="+mn-lt"/>
                          <a:ea typeface="+mn-ea"/>
                          <a:cs typeface="+mn-cs"/>
                        </a:rPr>
                        <a:t>6/29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rtl="0" eaLnBrk="1" fontAlgn="base" latinLnBrk="0" hangingPunct="1">
                        <a:lnSpc>
                          <a:spcPts val="600"/>
                        </a:lnSpc>
                        <a:spcBef>
                          <a:spcPts val="300"/>
                        </a:spcBef>
                        <a:spcAft>
                          <a:spcPts val="0"/>
                        </a:spcAft>
                        <a:buClrTx/>
                        <a:buSzTx/>
                        <a:buFont typeface="Arial" panose="020B0604020202020204" pitchFamily="34" charset="0"/>
                        <a:buNone/>
                      </a:pPr>
                      <a:r>
                        <a:rPr lang="en-US" sz="800" b="0" i="0">
                          <a:solidFill>
                            <a:srgbClr val="000000"/>
                          </a:solidFill>
                          <a:effectLst/>
                          <a:latin typeface="+mn-lt"/>
                        </a:rPr>
                        <a:t>3 defects have been planned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681701892"/>
                  </a:ext>
                </a:extLst>
              </a:tr>
              <a:tr h="257175">
                <a:tc>
                  <a:txBody>
                    <a:bodyPr/>
                    <a:lstStyle/>
                    <a:p>
                      <a:pPr algn="l" rtl="0" fontAlgn="base">
                        <a:lnSpc>
                          <a:spcPts val="525"/>
                        </a:lnSpc>
                        <a:buNone/>
                      </a:pPr>
                      <a:r>
                        <a:rPr lang="en-US" sz="800" b="0" kern="1200">
                          <a:solidFill>
                            <a:schemeClr val="tx1"/>
                          </a:solidFill>
                          <a:latin typeface="+mn-lt"/>
                          <a:ea typeface="+mn-ea"/>
                          <a:cs typeface="+mn-cs"/>
                        </a:rPr>
                        <a:t>Wave 1 - Prod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rtl="0" fontAlgn="base">
                        <a:lnSpc>
                          <a:spcPts val="525"/>
                        </a:lnSpc>
                        <a:buNone/>
                      </a:pPr>
                      <a:r>
                        <a:rPr lang="en-US" sz="800" b="0" kern="1200">
                          <a:solidFill>
                            <a:schemeClr val="tx1"/>
                          </a:solidFill>
                          <a:effectLst/>
                          <a:latin typeface="+mn-lt"/>
                          <a:ea typeface="+mn-ea"/>
                          <a:cs typeface="+mn-cs"/>
                        </a:rPr>
                        <a:t>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rtl="0" fontAlgn="base">
                        <a:lnSpc>
                          <a:spcPts val="525"/>
                        </a:lnSpc>
                        <a:buNone/>
                      </a:pPr>
                      <a:r>
                        <a:rPr lang="en-US" sz="800" b="0" strike="sngStrike" kern="1200">
                          <a:solidFill>
                            <a:schemeClr val="tx1"/>
                          </a:solidFill>
                          <a:effectLst/>
                          <a:latin typeface="+mn-lt"/>
                          <a:ea typeface="+mn-ea"/>
                          <a:cs typeface="+mn-cs"/>
                        </a:rPr>
                        <a:t>7/9</a:t>
                      </a:r>
                      <a:r>
                        <a:rPr lang="en-US" sz="800" b="0" strike="noStrike" kern="1200">
                          <a:solidFill>
                            <a:schemeClr val="tx1"/>
                          </a:solidFill>
                          <a:effectLst/>
                          <a:latin typeface="+mn-lt"/>
                          <a:ea typeface="+mn-ea"/>
                          <a:cs typeface="+mn-cs"/>
                        </a:rPr>
                        <a:t> 7/14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base" latinLnBrk="0" hangingPunct="1">
                        <a:lnSpc>
                          <a:spcPts val="600"/>
                        </a:lnSpc>
                        <a:spcBef>
                          <a:spcPts val="300"/>
                        </a:spcBef>
                        <a:spcAft>
                          <a:spcPts val="0"/>
                        </a:spcAft>
                        <a:buClrTx/>
                        <a:buSzTx/>
                        <a:buFont typeface="Arial" panose="020B0604020202020204" pitchFamily="34" charset="0"/>
                        <a:buNone/>
                        <a:tabLst/>
                        <a:defRPr/>
                      </a:pPr>
                      <a:r>
                        <a:rPr lang="en-US" sz="800" b="0" i="0">
                          <a:solidFill>
                            <a:srgbClr val="000000"/>
                          </a:solidFill>
                          <a:effectLst/>
                          <a:latin typeface="+mn-lt"/>
                        </a:rPr>
                        <a:t>8 defects have been planned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879858627"/>
                  </a:ext>
                </a:extLst>
              </a:tr>
              <a:tr h="219075">
                <a:tc>
                  <a:txBody>
                    <a:bodyPr/>
                    <a:lstStyle/>
                    <a:p>
                      <a:pPr lvl="0" algn="l">
                        <a:lnSpc>
                          <a:spcPts val="525"/>
                        </a:lnSpc>
                        <a:buNone/>
                      </a:pPr>
                      <a:r>
                        <a:rPr lang="en-US" sz="800" b="0" i="0" u="none" strike="noStrike" kern="1200" noProof="0">
                          <a:solidFill>
                            <a:schemeClr val="tx1"/>
                          </a:solidFill>
                          <a:latin typeface="Aptos"/>
                          <a:ea typeface="+mn-ea"/>
                          <a:cs typeface="+mn-cs"/>
                        </a:rPr>
                        <a:t>Wave 2 - Prod</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rtl="0" fontAlgn="base">
                        <a:lnSpc>
                          <a:spcPts val="525"/>
                        </a:lnSpc>
                        <a:buNone/>
                      </a:pPr>
                      <a:r>
                        <a:rPr lang="en-US" sz="800" b="0" kern="1200">
                          <a:solidFill>
                            <a:schemeClr val="tx1"/>
                          </a:solidFill>
                          <a:effectLst/>
                          <a:latin typeface="+mn-lt"/>
                          <a:ea typeface="+mn-ea"/>
                          <a:cs typeface="+mn-cs"/>
                        </a:rPr>
                        <a:t>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rtl="0" fontAlgn="base">
                        <a:lnSpc>
                          <a:spcPts val="525"/>
                        </a:lnSpc>
                        <a:buNone/>
                      </a:pPr>
                      <a:r>
                        <a:rPr lang="en-US" sz="800" b="0" strike="noStrike" kern="1200">
                          <a:solidFill>
                            <a:schemeClr val="tx1"/>
                          </a:solidFill>
                          <a:effectLst/>
                          <a:latin typeface="+mn-lt"/>
                          <a:ea typeface="+mn-ea"/>
                          <a:cs typeface="+mn-cs"/>
                        </a:rPr>
                        <a:t>8/20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base" latinLnBrk="0" hangingPunct="1">
                        <a:lnSpc>
                          <a:spcPts val="600"/>
                        </a:lnSpc>
                        <a:spcBef>
                          <a:spcPts val="300"/>
                        </a:spcBef>
                        <a:spcAft>
                          <a:spcPts val="0"/>
                        </a:spcAft>
                        <a:buClrTx/>
                        <a:buSzTx/>
                        <a:buFont typeface="Arial" panose="020B0604020202020204" pitchFamily="34" charset="0"/>
                        <a:buNone/>
                        <a:tabLst/>
                        <a:defRPr/>
                      </a:pPr>
                      <a:r>
                        <a:rPr lang="en-US" sz="800" b="0" i="0">
                          <a:solidFill>
                            <a:srgbClr val="000000"/>
                          </a:solidFill>
                          <a:effectLst/>
                          <a:latin typeface="+mn-lt"/>
                        </a:rPr>
                        <a:t>25 defects have been planned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758595933"/>
                  </a:ext>
                </a:extLst>
              </a:tr>
              <a:tr h="199644">
                <a:tc>
                  <a:txBody>
                    <a:bodyPr/>
                    <a:lstStyle/>
                    <a:p>
                      <a:pPr lvl="0" algn="l">
                        <a:lnSpc>
                          <a:spcPts val="525"/>
                        </a:lnSpc>
                        <a:buNone/>
                      </a:pPr>
                      <a:r>
                        <a:rPr lang="en-US" sz="800" b="0" i="0" u="none" strike="noStrike" kern="1200" noProof="0">
                          <a:solidFill>
                            <a:schemeClr val="tx1"/>
                          </a:solidFill>
                          <a:latin typeface="Aptos"/>
                          <a:ea typeface="+mn-ea"/>
                          <a:cs typeface="+mn-cs"/>
                        </a:rPr>
                        <a:t>Wave 3 - Prod</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ase">
                        <a:lnSpc>
                          <a:spcPts val="525"/>
                        </a:lnSpc>
                        <a:buNone/>
                      </a:pPr>
                      <a:endParaRPr lang="en-US" sz="800" b="0" kern="1200">
                        <a:solidFill>
                          <a:schemeClr val="tx1"/>
                        </a:solidFill>
                        <a:effectLst/>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ase">
                        <a:lnSpc>
                          <a:spcPts val="525"/>
                        </a:lnSpc>
                        <a:buNone/>
                      </a:pPr>
                      <a:r>
                        <a:rPr lang="en-US" sz="800" b="0" strike="noStrike" kern="1200">
                          <a:solidFill>
                            <a:schemeClr val="tx1"/>
                          </a:solidFill>
                          <a:effectLst/>
                          <a:latin typeface="+mn-lt"/>
                          <a:ea typeface="+mn-ea"/>
                          <a:cs typeface="+mn-cs"/>
                        </a:rPr>
                        <a:t>9/17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ts val="600"/>
                        </a:lnSpc>
                        <a:spcBef>
                          <a:spcPts val="300"/>
                        </a:spcBef>
                        <a:spcAft>
                          <a:spcPts val="0"/>
                        </a:spcAft>
                        <a:buClrTx/>
                        <a:buSzTx/>
                        <a:buFont typeface="Arial" panose="020B0604020202020204" pitchFamily="34" charset="0"/>
                        <a:buNone/>
                        <a:tabLst/>
                        <a:defRPr/>
                      </a:pPr>
                      <a:r>
                        <a:rPr lang="en-US" sz="800" b="0" i="0">
                          <a:solidFill>
                            <a:srgbClr val="000000"/>
                          </a:solidFill>
                          <a:effectLst/>
                          <a:latin typeface="+mn-lt"/>
                        </a:rPr>
                        <a:t>31 defects have been planned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72322867"/>
                  </a:ext>
                </a:extLst>
              </a:tr>
              <a:tr h="219075">
                <a:tc>
                  <a:txBody>
                    <a:bodyPr/>
                    <a:lstStyle/>
                    <a:p>
                      <a:pPr lvl="0" algn="l">
                        <a:lnSpc>
                          <a:spcPts val="525"/>
                        </a:lnSpc>
                        <a:buNone/>
                      </a:pPr>
                      <a:r>
                        <a:rPr lang="en-US" sz="800" b="0" i="0" u="none" strike="noStrike" kern="1200" noProof="0">
                          <a:solidFill>
                            <a:schemeClr val="tx1"/>
                          </a:solidFill>
                          <a:latin typeface="Aptos"/>
                          <a:ea typeface="+mn-ea"/>
                          <a:cs typeface="+mn-cs"/>
                        </a:rPr>
                        <a:t>Wave 4 - Prod</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ase">
                        <a:lnSpc>
                          <a:spcPts val="525"/>
                        </a:lnSpc>
                        <a:buNone/>
                      </a:pPr>
                      <a:endParaRPr lang="en-US" sz="800" b="0" kern="1200">
                        <a:solidFill>
                          <a:schemeClr val="tx1"/>
                        </a:solidFill>
                        <a:effectLst/>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ase">
                        <a:lnSpc>
                          <a:spcPts val="525"/>
                        </a:lnSpc>
                        <a:buNone/>
                      </a:pPr>
                      <a:r>
                        <a:rPr lang="en-US" sz="800" b="0" strike="noStrike" kern="1200">
                          <a:solidFill>
                            <a:schemeClr val="tx1"/>
                          </a:solidFill>
                          <a:effectLst/>
                          <a:latin typeface="+mn-lt"/>
                          <a:ea typeface="+mn-ea"/>
                          <a:cs typeface="+mn-cs"/>
                        </a:rPr>
                        <a:t>10/15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ts val="600"/>
                        </a:lnSpc>
                        <a:spcBef>
                          <a:spcPts val="300"/>
                        </a:spcBef>
                        <a:spcAft>
                          <a:spcPts val="0"/>
                        </a:spcAft>
                        <a:buClrTx/>
                        <a:buSzTx/>
                        <a:buFont typeface="Arial" panose="020B0604020202020204" pitchFamily="34" charset="0"/>
                        <a:buNone/>
                        <a:tabLst/>
                        <a:defRPr/>
                      </a:pPr>
                      <a:r>
                        <a:rPr lang="en-US" sz="800" b="0" i="0">
                          <a:solidFill>
                            <a:srgbClr val="000000"/>
                          </a:solidFill>
                          <a:effectLst/>
                          <a:latin typeface="+mn-lt"/>
                        </a:rPr>
                        <a:t>34 defects have been planned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86108022"/>
                  </a:ext>
                </a:extLst>
              </a:tr>
              <a:tr h="228600">
                <a:tc>
                  <a:txBody>
                    <a:bodyPr/>
                    <a:lstStyle/>
                    <a:p>
                      <a:pPr lvl="0" algn="l">
                        <a:lnSpc>
                          <a:spcPts val="525"/>
                        </a:lnSpc>
                        <a:buNone/>
                      </a:pPr>
                      <a:r>
                        <a:rPr lang="en-US" sz="800" b="0" i="0" u="none" strike="noStrike" kern="1200" noProof="0">
                          <a:solidFill>
                            <a:schemeClr val="tx1"/>
                          </a:solidFill>
                          <a:latin typeface="Aptos"/>
                          <a:ea typeface="+mn-ea"/>
                          <a:cs typeface="+mn-cs"/>
                        </a:rPr>
                        <a:t>Wave 5 - Prod</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ase">
                        <a:lnSpc>
                          <a:spcPts val="525"/>
                        </a:lnSpc>
                        <a:buNone/>
                      </a:pPr>
                      <a:r>
                        <a:rPr lang="en-US" sz="800" b="0" kern="1200">
                          <a:solidFill>
                            <a:schemeClr val="tx1"/>
                          </a:solidFill>
                          <a:effectLst/>
                          <a:latin typeface="+mn-lt"/>
                          <a:ea typeface="+mn-ea"/>
                          <a:cs typeface="+mn-cs"/>
                        </a:rPr>
                        <a:t>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ase">
                        <a:lnSpc>
                          <a:spcPts val="525"/>
                        </a:lnSpc>
                        <a:buNone/>
                      </a:pPr>
                      <a:r>
                        <a:rPr lang="en-US" sz="800" b="0" strike="noStrike" kern="1200">
                          <a:solidFill>
                            <a:schemeClr val="tx1"/>
                          </a:solidFill>
                          <a:effectLst/>
                          <a:latin typeface="+mn-lt"/>
                          <a:ea typeface="+mn-ea"/>
                          <a:cs typeface="+mn-cs"/>
                        </a:rPr>
                        <a:t>11/12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ts val="600"/>
                        </a:lnSpc>
                        <a:spcBef>
                          <a:spcPts val="300"/>
                        </a:spcBef>
                        <a:spcAft>
                          <a:spcPts val="0"/>
                        </a:spcAft>
                        <a:buClrTx/>
                        <a:buSzTx/>
                        <a:buFont typeface="Arial" panose="020B0604020202020204" pitchFamily="34" charset="0"/>
                        <a:buNone/>
                        <a:tabLst/>
                        <a:defRPr/>
                      </a:pPr>
                      <a:r>
                        <a:rPr lang="en-US" sz="800" b="0" i="0">
                          <a:solidFill>
                            <a:srgbClr val="000000"/>
                          </a:solidFill>
                          <a:effectLst/>
                          <a:latin typeface="+mn-lt"/>
                        </a:rPr>
                        <a:t>26 defects have been planned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7591612"/>
                  </a:ext>
                </a:extLst>
              </a:tr>
            </a:tbl>
          </a:graphicData>
        </a:graphic>
      </p:graphicFrame>
      <p:graphicFrame>
        <p:nvGraphicFramePr>
          <p:cNvPr id="29" name="Table 28">
            <a:extLst>
              <a:ext uri="{FF2B5EF4-FFF2-40B4-BE49-F238E27FC236}">
                <a16:creationId xmlns:a16="http://schemas.microsoft.com/office/drawing/2014/main" id="{C61BD453-E1B3-2BD5-E0C2-7EAACF5CC434}"/>
              </a:ext>
            </a:extLst>
          </p:cNvPr>
          <p:cNvGraphicFramePr>
            <a:graphicFrameLocks noGrp="1"/>
          </p:cNvGraphicFramePr>
          <p:nvPr>
            <p:extLst>
              <p:ext uri="{D42A27DB-BD31-4B8C-83A1-F6EECF244321}">
                <p14:modId xmlns:p14="http://schemas.microsoft.com/office/powerpoint/2010/main" val="1399205444"/>
              </p:ext>
            </p:extLst>
          </p:nvPr>
        </p:nvGraphicFramePr>
        <p:xfrm>
          <a:off x="6160166" y="4512620"/>
          <a:ext cx="5865668" cy="1547382"/>
        </p:xfrm>
        <a:graphic>
          <a:graphicData uri="http://schemas.openxmlformats.org/drawingml/2006/table">
            <a:tbl>
              <a:tblPr>
                <a:tableStyleId>{5C22544A-7EE6-4342-B048-85BDC9FD1C3A}</a:tableStyleId>
              </a:tblPr>
              <a:tblGrid>
                <a:gridCol w="2650459">
                  <a:extLst>
                    <a:ext uri="{9D8B030D-6E8A-4147-A177-3AD203B41FA5}">
                      <a16:colId xmlns:a16="http://schemas.microsoft.com/office/drawing/2014/main" val="2456552316"/>
                    </a:ext>
                  </a:extLst>
                </a:gridCol>
                <a:gridCol w="428625">
                  <a:extLst>
                    <a:ext uri="{9D8B030D-6E8A-4147-A177-3AD203B41FA5}">
                      <a16:colId xmlns:a16="http://schemas.microsoft.com/office/drawing/2014/main" val="1100051595"/>
                    </a:ext>
                  </a:extLst>
                </a:gridCol>
                <a:gridCol w="514350">
                  <a:extLst>
                    <a:ext uri="{9D8B030D-6E8A-4147-A177-3AD203B41FA5}">
                      <a16:colId xmlns:a16="http://schemas.microsoft.com/office/drawing/2014/main" val="2042261034"/>
                    </a:ext>
                  </a:extLst>
                </a:gridCol>
                <a:gridCol w="2272234">
                  <a:extLst>
                    <a:ext uri="{9D8B030D-6E8A-4147-A177-3AD203B41FA5}">
                      <a16:colId xmlns:a16="http://schemas.microsoft.com/office/drawing/2014/main" val="2815874248"/>
                    </a:ext>
                  </a:extLst>
                </a:gridCol>
              </a:tblGrid>
              <a:tr h="418227">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Critical Risks/Issues</a:t>
                      </a:r>
                      <a:endParaRPr kumimoji="0" lang="en-US" sz="1050" b="1" i="0" u="none" strike="noStrike" kern="1200" cap="none" normalizeH="0" baseline="0">
                        <a:ln>
                          <a:noFill/>
                        </a:ln>
                        <a:solidFill>
                          <a:schemeClr val="bg1"/>
                        </a:solidFill>
                        <a:effectLst/>
                        <a:latin typeface="Arial" charset="0"/>
                        <a:ea typeface="+mn-ea"/>
                        <a:cs typeface="+mn-cs"/>
                      </a:endParaRP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Status</a:t>
                      </a:r>
                    </a:p>
                  </a:txBody>
                  <a:tcPr marL="9525" marR="9525" marT="9525" marB="0" anchor="ct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Target Date</a:t>
                      </a:r>
                    </a:p>
                  </a:txBody>
                  <a:tcPr marL="9525" marR="9525" marT="9525" marB="0" anchor="ctr">
                    <a:lnL w="12700">
                      <a:solidFill>
                        <a:schemeClr val="tx1"/>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Resolution / Mitigation</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774284">
                <a:tc>
                  <a:txBody>
                    <a:bodyPr/>
                    <a:lstStyle/>
                    <a:p>
                      <a:pPr marL="0" marR="0" lvl="0" indent="0" algn="l" rtl="0">
                        <a:lnSpc>
                          <a:spcPct val="114999"/>
                        </a:lnSpc>
                        <a:spcBef>
                          <a:spcPts val="0"/>
                        </a:spcBef>
                        <a:spcAft>
                          <a:spcPts val="800"/>
                        </a:spcAft>
                        <a:buClrTx/>
                        <a:buSzTx/>
                        <a:buFontTx/>
                        <a:buNone/>
                      </a:pPr>
                      <a:r>
                        <a:rPr lang="en-US" sz="800" kern="100">
                          <a:cs typeface="Times New Roman"/>
                        </a:rPr>
                        <a:t>Overall Testing delays caused by CDC and infrastructure dependencies.</a:t>
                      </a:r>
                    </a:p>
                    <a:p>
                      <a:pPr marL="0" marR="0" lvl="0" indent="0" algn="l" rtl="0">
                        <a:lnSpc>
                          <a:spcPct val="114999"/>
                        </a:lnSpc>
                        <a:spcBef>
                          <a:spcPts val="0"/>
                        </a:spcBef>
                        <a:spcAft>
                          <a:spcPts val="800"/>
                        </a:spcAft>
                        <a:buClrTx/>
                        <a:buSzTx/>
                        <a:buFontTx/>
                        <a:buNone/>
                      </a:pPr>
                      <a:r>
                        <a:rPr lang="en-US" sz="800"/>
                        <a:t>CDC enablement is not built in Non-Prod and resulting in ODS data inconsistency which is affecting testing.</a:t>
                      </a:r>
                      <a:endParaRPr kumimoji="0" lang="en-US" sz="800" kern="100">
                        <a:cs typeface="Times New Roman"/>
                      </a:endParaRPr>
                    </a:p>
                  </a:txBody>
                  <a:tcPr marR="9524" marT="9524" marB="0" anchor="ctr">
                    <a:lnL w="12700">
                      <a:solidFill>
                        <a:schemeClr val="tx1"/>
                      </a:solidFill>
                    </a:lnL>
                    <a:lnR w="12700">
                      <a:solidFill>
                        <a:schemeClr val="tx1"/>
                      </a:solidFill>
                    </a:lnR>
                    <a:lnT w="12700">
                      <a:solidFill>
                        <a:schemeClr val="tx1"/>
                      </a:solidFill>
                    </a:lnT>
                    <a:lnB w="12700">
                      <a:solidFill>
                        <a:schemeClr val="tx1"/>
                      </a:solidFill>
                    </a:lnB>
                    <a:lnTlToBr w="0">
                      <a:noFill/>
                    </a:lnTlToBr>
                    <a:lnBlToTr w="0">
                      <a:noFill/>
                    </a:lnBlToTr>
                    <a:noFill/>
                  </a:tcPr>
                </a:tc>
                <a:tc>
                  <a:txBody>
                    <a:bodyPr/>
                    <a:lstStyle/>
                    <a:p>
                      <a:pPr marL="0" marR="0" lvl="0" indent="0" algn="ctr" rtl="0">
                        <a:lnSpc>
                          <a:spcPct val="95000"/>
                        </a:lnSpc>
                        <a:spcBef>
                          <a:spcPct val="0"/>
                        </a:spcBef>
                        <a:spcAft>
                          <a:spcPct val="50000"/>
                        </a:spcAft>
                        <a:buClrTx/>
                        <a:buSzTx/>
                        <a:buFontTx/>
                        <a:buNone/>
                      </a:pPr>
                      <a:endParaRPr kumimoji="0" lang="en-US" sz="800" b="0" kern="1200">
                        <a:solidFill>
                          <a:schemeClr val="tx1"/>
                        </a:solidFill>
                        <a:effectLst/>
                        <a:latin typeface="+mn-lt"/>
                        <a:ea typeface="+mn-ea"/>
                        <a:cs typeface="+mn-cs"/>
                      </a:endParaRPr>
                    </a:p>
                  </a:txBody>
                  <a:tcPr marL="9524" marR="9524" marT="9524" marB="0" anchor="ctr">
                    <a:lnL w="12700">
                      <a:solidFill>
                        <a:schemeClr val="tx1"/>
                      </a:solidFill>
                    </a:lnL>
                    <a:lnR w="12700">
                      <a:solidFill>
                        <a:schemeClr val="tx1"/>
                      </a:solidFill>
                    </a:lnR>
                    <a:lnT w="12700">
                      <a:solidFill>
                        <a:schemeClr val="tx1"/>
                      </a:solidFill>
                    </a:lnT>
                    <a:lnB w="12700">
                      <a:solidFill>
                        <a:schemeClr val="tx1"/>
                      </a:solidFill>
                    </a:lnB>
                    <a:lnTlToBr w="0">
                      <a:noFill/>
                    </a:lnTlToBr>
                    <a:lnBlToTr w="0">
                      <a:noFill/>
                    </a:lnBlToTr>
                    <a:noFill/>
                  </a:tcPr>
                </a:tc>
                <a:tc>
                  <a:txBody>
                    <a:bodyPr/>
                    <a:lstStyle/>
                    <a:p>
                      <a:pPr marL="0" marR="0" lvl="0" indent="0" algn="ctr" rtl="0">
                        <a:lnSpc>
                          <a:spcPct val="95000"/>
                        </a:lnSpc>
                        <a:spcBef>
                          <a:spcPct val="0"/>
                        </a:spcBef>
                        <a:spcAft>
                          <a:spcPct val="50000"/>
                        </a:spcAft>
                        <a:buClrTx/>
                        <a:buSzTx/>
                        <a:buFontTx/>
                        <a:buNone/>
                      </a:pPr>
                      <a:r>
                        <a:rPr lang="en-US" sz="800" b="0" strike="noStrike" kern="1200">
                          <a:solidFill>
                            <a:schemeClr val="tx1"/>
                          </a:solidFill>
                          <a:effectLst/>
                          <a:latin typeface="+mn-lt"/>
                          <a:ea typeface="+mn-ea"/>
                          <a:cs typeface="+mn-cs"/>
                        </a:rPr>
                        <a:t>TBD</a:t>
                      </a:r>
                      <a:endParaRPr kumimoji="0" lang="en-US" sz="800" b="0" strike="noStrike" kern="1200">
                        <a:solidFill>
                          <a:schemeClr val="tx1"/>
                        </a:solidFill>
                        <a:effectLst/>
                        <a:latin typeface="+mn-lt"/>
                        <a:ea typeface="+mn-ea"/>
                        <a:cs typeface="+mn-cs"/>
                      </a:endParaRPr>
                    </a:p>
                  </a:txBody>
                  <a:tcPr marL="9524" marR="9524" marT="9524" marB="0" anchor="ctr">
                    <a:lnL w="12700">
                      <a:solidFill>
                        <a:schemeClr val="tx1"/>
                      </a:solidFill>
                    </a:lnL>
                    <a:lnR w="12700">
                      <a:solidFill>
                        <a:schemeClr val="tx1"/>
                      </a:solidFill>
                    </a:lnR>
                    <a:lnT w="12700">
                      <a:solidFill>
                        <a:schemeClr val="tx1"/>
                      </a:solidFill>
                    </a:lnT>
                    <a:lnB w="12700">
                      <a:solidFill>
                        <a:schemeClr val="tx1"/>
                      </a:solidFill>
                    </a:lnB>
                    <a:lnTlToBr w="0">
                      <a:noFill/>
                    </a:lnTlToBr>
                    <a:lnBlToTr w="0">
                      <a:noFill/>
                    </a:lnBlToTr>
                    <a:noFill/>
                  </a:tcPr>
                </a:tc>
                <a:tc>
                  <a:txBody>
                    <a:bodyPr/>
                    <a:lstStyle/>
                    <a:p>
                      <a:pPr marL="0" marR="0" lvl="0" indent="0" algn="l" rtl="0">
                        <a:lnSpc>
                          <a:spcPct val="100000"/>
                        </a:lnSpc>
                        <a:spcBef>
                          <a:spcPts val="200"/>
                        </a:spcBef>
                        <a:spcAft>
                          <a:spcPts val="0"/>
                        </a:spcAft>
                        <a:buClrTx/>
                        <a:buSzTx/>
                        <a:buFontTx/>
                        <a:buNone/>
                      </a:pPr>
                      <a:r>
                        <a:rPr kumimoji="0" lang="en-US" sz="800"/>
                        <a:t>Team is having a workaround to perform the testing and not to impact the targeted release date</a:t>
                      </a:r>
                    </a:p>
                  </a:txBody>
                  <a:tcPr marR="9524" marT="9524" marB="0" anchor="ctr">
                    <a:lnL w="12700">
                      <a:solidFill>
                        <a:schemeClr val="tx1"/>
                      </a:solidFill>
                    </a:lnL>
                    <a:lnR w="12700">
                      <a:solidFill>
                        <a:schemeClr val="tx1"/>
                      </a:solidFill>
                    </a:lnR>
                    <a:lnT w="12700">
                      <a:solidFill>
                        <a:schemeClr val="tx1"/>
                      </a:solidFill>
                    </a:lnT>
                    <a:lnB w="12700">
                      <a:solidFill>
                        <a:schemeClr val="tx1"/>
                      </a:solidFill>
                    </a:lnB>
                    <a:lnTlToBr w="0">
                      <a:noFill/>
                    </a:lnTlToBr>
                    <a:lnBlToTr w="0">
                      <a:noFill/>
                    </a:lnBlToTr>
                    <a:noFill/>
                  </a:tcPr>
                </a:tc>
                <a:extLst>
                  <a:ext uri="{0D108BD9-81ED-4DB2-BD59-A6C34878D82A}">
                    <a16:rowId xmlns:a16="http://schemas.microsoft.com/office/drawing/2014/main" val="1337499024"/>
                  </a:ext>
                </a:extLst>
              </a:tr>
              <a:tr h="354871">
                <a:tc>
                  <a:txBody>
                    <a:bodyPr/>
                    <a:lstStyle/>
                    <a:p>
                      <a:pPr marL="0" marR="0" lvl="0" indent="0" algn="l" rtl="0">
                        <a:lnSpc>
                          <a:spcPct val="114999"/>
                        </a:lnSpc>
                        <a:spcBef>
                          <a:spcPts val="0"/>
                        </a:spcBef>
                        <a:spcAft>
                          <a:spcPts val="800"/>
                        </a:spcAft>
                        <a:buClrTx/>
                        <a:buSzTx/>
                        <a:buFontTx/>
                        <a:buNone/>
                      </a:pPr>
                      <a:endParaRPr kumimoji="0" lang="en-US" sz="800" kern="100">
                        <a:cs typeface="Times New Roman"/>
                      </a:endParaRPr>
                    </a:p>
                  </a:txBody>
                  <a:tcPr marR="9524" marT="9524" marB="0" anchor="ctr">
                    <a:lnL w="12700">
                      <a:solidFill>
                        <a:schemeClr val="tx1"/>
                      </a:solidFill>
                    </a:lnL>
                    <a:lnR w="12700">
                      <a:solidFill>
                        <a:schemeClr val="tx1"/>
                      </a:solidFill>
                    </a:lnR>
                    <a:lnT w="12700">
                      <a:solidFill>
                        <a:schemeClr val="tx1"/>
                      </a:solidFill>
                    </a:lnT>
                    <a:lnB w="12700">
                      <a:solidFill>
                        <a:schemeClr val="tx1"/>
                      </a:solidFill>
                    </a:lnB>
                    <a:lnTlToBr w="0">
                      <a:noFill/>
                    </a:lnTlToBr>
                    <a:lnBlToTr w="0">
                      <a:noFill/>
                    </a:lnBlToTr>
                    <a:noFill/>
                  </a:tcPr>
                </a:tc>
                <a:tc>
                  <a:txBody>
                    <a:bodyPr/>
                    <a:lstStyle/>
                    <a:p>
                      <a:pPr marL="0" marR="0" lvl="0" indent="0" algn="ctr" rtl="0">
                        <a:lnSpc>
                          <a:spcPct val="95000"/>
                        </a:lnSpc>
                        <a:spcBef>
                          <a:spcPct val="0"/>
                        </a:spcBef>
                        <a:spcAft>
                          <a:spcPct val="50000"/>
                        </a:spcAft>
                        <a:buClrTx/>
                        <a:buSzTx/>
                        <a:buFontTx/>
                        <a:buNone/>
                      </a:pPr>
                      <a:endParaRPr kumimoji="0" lang="en-US" sz="800" b="0" kern="1200">
                        <a:solidFill>
                          <a:schemeClr val="tx1"/>
                        </a:solidFill>
                        <a:effectLst/>
                        <a:latin typeface="+mn-lt"/>
                        <a:ea typeface="+mn-ea"/>
                        <a:cs typeface="+mn-cs"/>
                      </a:endParaRPr>
                    </a:p>
                  </a:txBody>
                  <a:tcPr marL="9524" marR="9524" marT="9524" marB="0" anchor="ctr">
                    <a:lnL w="12700">
                      <a:solidFill>
                        <a:schemeClr val="tx1"/>
                      </a:solidFill>
                    </a:lnL>
                    <a:lnR w="12700">
                      <a:solidFill>
                        <a:schemeClr val="tx1"/>
                      </a:solidFill>
                    </a:lnR>
                    <a:lnT w="12700">
                      <a:solidFill>
                        <a:schemeClr val="tx1"/>
                      </a:solidFill>
                    </a:lnT>
                    <a:lnB w="12700">
                      <a:solidFill>
                        <a:schemeClr val="tx1"/>
                      </a:solidFill>
                    </a:lnB>
                    <a:lnTlToBr w="0">
                      <a:noFill/>
                    </a:lnTlToBr>
                    <a:lnBlToTr w="0">
                      <a:noFill/>
                    </a:lnBlToTr>
                    <a:noFill/>
                  </a:tcPr>
                </a:tc>
                <a:tc>
                  <a:txBody>
                    <a:bodyPr/>
                    <a:lstStyle/>
                    <a:p>
                      <a:pPr marL="0" marR="0" lvl="0" indent="0" algn="ctr" defTabSz="914400" rtl="0">
                        <a:lnSpc>
                          <a:spcPct val="95000"/>
                        </a:lnSpc>
                        <a:spcBef>
                          <a:spcPct val="0"/>
                        </a:spcBef>
                        <a:spcAft>
                          <a:spcPct val="50000"/>
                        </a:spcAft>
                        <a:buClrTx/>
                        <a:buSzTx/>
                        <a:buFontTx/>
                        <a:buNone/>
                        <a:tabLst/>
                      </a:pPr>
                      <a:endParaRPr kumimoji="0" lang="en-US" sz="800" b="0" strike="noStrike" kern="1200">
                        <a:solidFill>
                          <a:schemeClr val="tx1"/>
                        </a:solidFill>
                        <a:effectLst/>
                        <a:latin typeface="+mn-lt"/>
                        <a:ea typeface="+mn-ea"/>
                        <a:cs typeface="+mn-cs"/>
                      </a:endParaRPr>
                    </a:p>
                  </a:txBody>
                  <a:tcPr marL="9524" marR="9524" marT="9524" marB="0" anchor="ctr">
                    <a:lnL w="12700">
                      <a:solidFill>
                        <a:schemeClr val="tx1"/>
                      </a:solidFill>
                    </a:lnL>
                    <a:lnR w="12700">
                      <a:solidFill>
                        <a:schemeClr val="tx1"/>
                      </a:solidFill>
                    </a:lnR>
                    <a:lnT w="12700">
                      <a:solidFill>
                        <a:schemeClr val="tx1"/>
                      </a:solidFill>
                    </a:lnT>
                    <a:lnB w="12700">
                      <a:solidFill>
                        <a:schemeClr val="tx1"/>
                      </a:solidFill>
                    </a:lnB>
                    <a:lnTlToBr w="0">
                      <a:noFill/>
                    </a:lnTlToBr>
                    <a:lnBlToTr w="0">
                      <a:noFill/>
                    </a:lnBlToTr>
                    <a:noFill/>
                  </a:tcPr>
                </a:tc>
                <a:tc>
                  <a:txBody>
                    <a:bodyPr/>
                    <a:lstStyle/>
                    <a:p>
                      <a:pPr marL="0" marR="0" lvl="0" indent="0" algn="l" rtl="0">
                        <a:lnSpc>
                          <a:spcPct val="100000"/>
                        </a:lnSpc>
                        <a:spcBef>
                          <a:spcPts val="200"/>
                        </a:spcBef>
                        <a:spcAft>
                          <a:spcPts val="0"/>
                        </a:spcAft>
                        <a:buClrTx/>
                        <a:buSzTx/>
                        <a:buFontTx/>
                        <a:buNone/>
                      </a:pPr>
                      <a:endParaRPr kumimoji="0" lang="en-US" sz="800" kern="100">
                        <a:solidFill>
                          <a:schemeClr val="dk1"/>
                        </a:solidFill>
                        <a:latin typeface="+mn-lt"/>
                        <a:ea typeface="+mn-ea"/>
                        <a:cs typeface="Times New Roman"/>
                      </a:endParaRPr>
                    </a:p>
                  </a:txBody>
                  <a:tcPr marR="9524" marT="9524" marB="0" anchor="ctr">
                    <a:lnL w="12700">
                      <a:solidFill>
                        <a:schemeClr val="tx1"/>
                      </a:solidFill>
                    </a:lnL>
                    <a:lnR w="12700">
                      <a:solidFill>
                        <a:schemeClr val="tx1"/>
                      </a:solidFill>
                    </a:lnR>
                    <a:lnT w="12700">
                      <a:solidFill>
                        <a:schemeClr val="tx1"/>
                      </a:solidFill>
                    </a:lnT>
                    <a:lnB w="12700">
                      <a:solidFill>
                        <a:schemeClr val="tx1"/>
                      </a:solidFill>
                    </a:lnB>
                    <a:lnTlToBr w="0">
                      <a:noFill/>
                    </a:lnTlToBr>
                    <a:lnBlToTr w="0">
                      <a:noFill/>
                    </a:lnBlToTr>
                    <a:noFill/>
                  </a:tcPr>
                </a:tc>
                <a:extLst>
                  <a:ext uri="{0D108BD9-81ED-4DB2-BD59-A6C34878D82A}">
                    <a16:rowId xmlns:a16="http://schemas.microsoft.com/office/drawing/2014/main" val="1495380454"/>
                  </a:ext>
                </a:extLst>
              </a:tr>
            </a:tbl>
          </a:graphicData>
        </a:graphic>
      </p:graphicFrame>
      <p:sp>
        <p:nvSpPr>
          <p:cNvPr id="33" name="Flowchart: Connector 32">
            <a:extLst>
              <a:ext uri="{FF2B5EF4-FFF2-40B4-BE49-F238E27FC236}">
                <a16:creationId xmlns:a16="http://schemas.microsoft.com/office/drawing/2014/main" id="{6FAF102F-A663-0461-9B43-6E39F86BE8AF}"/>
              </a:ext>
            </a:extLst>
          </p:cNvPr>
          <p:cNvSpPr/>
          <p:nvPr/>
        </p:nvSpPr>
        <p:spPr>
          <a:xfrm>
            <a:off x="7563179" y="6385521"/>
            <a:ext cx="148441"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4" name="Flowchart: Connector 33">
            <a:extLst>
              <a:ext uri="{FF2B5EF4-FFF2-40B4-BE49-F238E27FC236}">
                <a16:creationId xmlns:a16="http://schemas.microsoft.com/office/drawing/2014/main" id="{C009E432-2042-719E-851F-881C1DD971F1}"/>
              </a:ext>
            </a:extLst>
          </p:cNvPr>
          <p:cNvSpPr/>
          <p:nvPr/>
        </p:nvSpPr>
        <p:spPr>
          <a:xfrm>
            <a:off x="8400652" y="6369761"/>
            <a:ext cx="148442" cy="164592"/>
          </a:xfrm>
          <a:prstGeom prst="flowChartConnector">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6" name="Flowchart: Connector 35">
            <a:extLst>
              <a:ext uri="{FF2B5EF4-FFF2-40B4-BE49-F238E27FC236}">
                <a16:creationId xmlns:a16="http://schemas.microsoft.com/office/drawing/2014/main" id="{BD51AF12-351F-1BB7-E406-C28E24CAA53A}"/>
              </a:ext>
            </a:extLst>
          </p:cNvPr>
          <p:cNvSpPr/>
          <p:nvPr/>
        </p:nvSpPr>
        <p:spPr>
          <a:xfrm>
            <a:off x="9238126" y="6369761"/>
            <a:ext cx="148441" cy="164592"/>
          </a:xfrm>
          <a:prstGeom prst="flowChartConnector">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3" name="Flowchart: Connector 42">
            <a:extLst>
              <a:ext uri="{FF2B5EF4-FFF2-40B4-BE49-F238E27FC236}">
                <a16:creationId xmlns:a16="http://schemas.microsoft.com/office/drawing/2014/main" id="{AC206C15-1DC8-A360-BBDA-9B529DE06FA8}"/>
              </a:ext>
            </a:extLst>
          </p:cNvPr>
          <p:cNvSpPr/>
          <p:nvPr/>
        </p:nvSpPr>
        <p:spPr>
          <a:xfrm>
            <a:off x="3303638" y="1266171"/>
            <a:ext cx="163285" cy="164592"/>
          </a:xfrm>
          <a:prstGeom prst="flowChartConnector">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highlight>
                <a:srgbClr val="FF0000"/>
              </a:highlight>
              <a:uLnTx/>
              <a:uFillTx/>
              <a:latin typeface="Aptos" panose="02110004020202020204"/>
              <a:ea typeface="+mn-ea"/>
              <a:cs typeface="+mn-cs"/>
            </a:endParaRPr>
          </a:p>
        </p:txBody>
      </p:sp>
      <p:sp>
        <p:nvSpPr>
          <p:cNvPr id="45" name="Flowchart: Connector 44">
            <a:extLst>
              <a:ext uri="{FF2B5EF4-FFF2-40B4-BE49-F238E27FC236}">
                <a16:creationId xmlns:a16="http://schemas.microsoft.com/office/drawing/2014/main" id="{3D23B6C4-848A-2071-B725-99E7F4A6ECEA}"/>
              </a:ext>
            </a:extLst>
          </p:cNvPr>
          <p:cNvSpPr/>
          <p:nvPr/>
        </p:nvSpPr>
        <p:spPr>
          <a:xfrm>
            <a:off x="4286105" y="1266171"/>
            <a:ext cx="163285" cy="164592"/>
          </a:xfrm>
          <a:prstGeom prst="flowChartConnector">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6" name="Flowchart: Connector 45">
            <a:extLst>
              <a:ext uri="{FF2B5EF4-FFF2-40B4-BE49-F238E27FC236}">
                <a16:creationId xmlns:a16="http://schemas.microsoft.com/office/drawing/2014/main" id="{8774D8AE-96DB-CD4B-A7E5-716C6BBAAD57}"/>
              </a:ext>
            </a:extLst>
          </p:cNvPr>
          <p:cNvSpPr/>
          <p:nvPr/>
        </p:nvSpPr>
        <p:spPr>
          <a:xfrm>
            <a:off x="5143033" y="1266171"/>
            <a:ext cx="163285" cy="164592"/>
          </a:xfrm>
          <a:prstGeom prst="flowChartConnector">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7" name="Flowchart: Connector 46">
            <a:extLst>
              <a:ext uri="{FF2B5EF4-FFF2-40B4-BE49-F238E27FC236}">
                <a16:creationId xmlns:a16="http://schemas.microsoft.com/office/drawing/2014/main" id="{D934C5AD-AB85-29C0-3A02-B7952E457DDC}"/>
              </a:ext>
            </a:extLst>
          </p:cNvPr>
          <p:cNvSpPr/>
          <p:nvPr/>
        </p:nvSpPr>
        <p:spPr>
          <a:xfrm>
            <a:off x="6078524" y="1256935"/>
            <a:ext cx="163285" cy="164592"/>
          </a:xfrm>
          <a:prstGeom prst="flowChartConnector">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 name="TextBox 4">
            <a:extLst>
              <a:ext uri="{FF2B5EF4-FFF2-40B4-BE49-F238E27FC236}">
                <a16:creationId xmlns:a16="http://schemas.microsoft.com/office/drawing/2014/main" id="{ADCB7F4E-9E6A-7F8F-40DC-282AC692FB10}"/>
              </a:ext>
            </a:extLst>
          </p:cNvPr>
          <p:cNvSpPr txBox="1"/>
          <p:nvPr/>
        </p:nvSpPr>
        <p:spPr>
          <a:xfrm>
            <a:off x="130674" y="1580491"/>
            <a:ext cx="6010907" cy="5336333"/>
          </a:xfrm>
          <a:prstGeom prst="rect">
            <a:avLst/>
          </a:prstGeom>
          <a:noFill/>
        </p:spPr>
        <p:txBody>
          <a:bodyPr wrap="square" lIns="91440" tIns="45720" rIns="91440" bIns="45720" anchor="t">
            <a:spAutoFit/>
          </a:bodyPr>
          <a:lstStyle/>
          <a:p>
            <a:pPr>
              <a:defRPr/>
            </a:pPr>
            <a:r>
              <a:rPr kumimoji="0" lang="en-US" sz="1000" b="1" i="0" u="sng" strike="noStrike" kern="1200" cap="none" spc="0" normalizeH="0" baseline="0" noProof="0">
                <a:ln>
                  <a:noFill/>
                </a:ln>
                <a:solidFill>
                  <a:prstClr val="black"/>
                </a:solidFill>
                <a:effectLst/>
                <a:uLnTx/>
                <a:uFillTx/>
                <a:latin typeface="Aptos" panose="02110004020202020204"/>
                <a:ea typeface="+mn-ea"/>
                <a:cs typeface="+mn-cs"/>
              </a:rPr>
              <a:t>Status:</a:t>
            </a:r>
            <a:r>
              <a:rPr lang="en-US" sz="1000" b="1">
                <a:solidFill>
                  <a:prstClr val="black"/>
                </a:solidFill>
                <a:latin typeface="Aptos" panose="02110004020202020204"/>
              </a:rPr>
              <a:t>  </a:t>
            </a:r>
            <a:r>
              <a:rPr lang="en-US" sz="1000" b="1">
                <a:solidFill>
                  <a:prstClr val="black"/>
                </a:solidFill>
                <a:highlight>
                  <a:srgbClr val="008000"/>
                </a:highlight>
                <a:latin typeface="Aptos" panose="02110004020202020204"/>
              </a:rPr>
              <a:t>Green</a:t>
            </a:r>
            <a:endParaRPr lang="en-US" sz="1000" kern="100">
              <a:solidFill>
                <a:prstClr val="black"/>
              </a:solidFill>
              <a:highlight>
                <a:srgbClr val="008000"/>
              </a:highlight>
              <a:latin typeface="Aptos" panose="02110004020202020204"/>
              <a:cs typeface="Times New Roman"/>
            </a:endParaRPr>
          </a:p>
          <a:p>
            <a:pPr>
              <a:defRPr/>
            </a:pPr>
            <a:endParaRPr lang="en-US" sz="1000">
              <a:solidFill>
                <a:prstClr val="black"/>
              </a:solidFill>
              <a:latin typeface="Aptos" panose="02110004020202020204"/>
            </a:endParaRPr>
          </a:p>
          <a:p>
            <a:r>
              <a:rPr lang="en-US" sz="1000">
                <a:solidFill>
                  <a:prstClr val="black"/>
                </a:solidFill>
                <a:latin typeface="Aptos" panose="02110004020202020204"/>
              </a:rPr>
              <a:t>The overall project status is Green. Wave 2 has been successfully completed, with all planned objectives delivered and business signoff obtained. Throughout the release cycle, the project team effectively managed several unexpected challenges, including intermittent environment issues and temporary GitHub outages, while maintaining focus on critical delivery milestones. The team proactively resolved blockers, implemented necessary workarounds, and ensured successful execution of testing and deployment activities. As a result, Wave 2 has been deployed successfully, all key deliverables have been completed, and the project has achieved its planned outcomes. No critical issues remain that impact project objectives, and the solution is now operating as expected in production. The successful completion of Wave 2 demonstrates strong cross-functional collaboration, effective risk management, and overall delivery excellence.</a:t>
            </a:r>
          </a:p>
          <a:p>
            <a:pPr>
              <a:lnSpc>
                <a:spcPts val="1500"/>
              </a:lnSpc>
              <a:defRPr/>
            </a:pPr>
            <a:endParaRPr lang="en-US" sz="1050">
              <a:latin typeface="Segoe UI"/>
              <a:cs typeface="Segoe UI"/>
            </a:endParaRPr>
          </a:p>
          <a:p>
            <a:pPr>
              <a:lnSpc>
                <a:spcPts val="1500"/>
              </a:lnSpc>
              <a:defRPr/>
            </a:pPr>
            <a:r>
              <a:rPr lang="en-US" sz="1050" b="1">
                <a:latin typeface="Segoe UI"/>
                <a:cs typeface="Segoe UI"/>
              </a:rPr>
              <a:t>Issue:</a:t>
            </a:r>
          </a:p>
          <a:p>
            <a:pPr>
              <a:defRPr/>
            </a:pPr>
            <a:r>
              <a:rPr lang="en-US" sz="1000">
                <a:solidFill>
                  <a:prstClr val="black"/>
                </a:solidFill>
                <a:latin typeface="Aptos" panose="02110004020202020204"/>
              </a:rPr>
              <a:t>The project encountered several environmental and infrastructure-related challenges during testing and release preparation. These included intermittent issues with the Test environment, CDC refresh delays, and occasional availability issues with GIN2SNF processing agents.</a:t>
            </a:r>
          </a:p>
          <a:p>
            <a:pPr>
              <a:defRPr/>
            </a:pPr>
            <a:endParaRPr lang="en-US" sz="1000">
              <a:solidFill>
                <a:prstClr val="black"/>
              </a:solidFill>
              <a:latin typeface="Aptos" panose="02110004020202020204"/>
            </a:endParaRPr>
          </a:p>
          <a:p>
            <a:pPr>
              <a:defRPr/>
            </a:pPr>
            <a:r>
              <a:rPr lang="en-US" sz="1000">
                <a:solidFill>
                  <a:prstClr val="black"/>
                </a:solidFill>
                <a:latin typeface="Aptos" panose="02110004020202020204"/>
              </a:rPr>
              <a:t>Despite these challenges, the team established effective workarounds and maintained testing and deployment activities without impacting the release schedule.</a:t>
            </a:r>
          </a:p>
          <a:p>
            <a:pPr>
              <a:defRPr/>
            </a:pPr>
            <a:endParaRPr lang="en-US" sz="1000">
              <a:solidFill>
                <a:prstClr val="black"/>
              </a:solidFill>
              <a:latin typeface="Aptos" panose="02110004020202020204"/>
            </a:endParaRPr>
          </a:p>
          <a:p>
            <a:pPr>
              <a:defRPr/>
            </a:pPr>
            <a:r>
              <a:rPr kumimoji="0" lang="en-US" sz="1000" b="1" i="0" u="sng" strike="noStrike" kern="100" cap="none" spc="0" normalizeH="0" baseline="0" noProof="0">
                <a:ln>
                  <a:noFill/>
                </a:ln>
                <a:solidFill>
                  <a:prstClr val="black"/>
                </a:solidFill>
                <a:effectLst/>
                <a:uLnTx/>
                <a:uFillTx/>
                <a:latin typeface="Aptos"/>
                <a:ea typeface="Aptos" panose="020B0004020202020204" pitchFamily="34" charset="0"/>
                <a:cs typeface="Times New Roman"/>
              </a:rPr>
              <a:t>Highlights:</a:t>
            </a:r>
            <a:endParaRPr lang="en-US" sz="1000" i="0" strike="noStrike" kern="100" cap="none" spc="0" normalizeH="0" baseline="0" noProof="0">
              <a:ln>
                <a:noFill/>
              </a:ln>
              <a:solidFill>
                <a:prstClr val="black"/>
              </a:solidFill>
              <a:effectLst/>
              <a:uLnTx/>
              <a:uFillTx/>
              <a:latin typeface="Aptos" panose="02110004020202020204"/>
              <a:ea typeface="Aptos" panose="020B0004020202020204" pitchFamily="34" charset="0"/>
              <a:cs typeface="Times New Roman"/>
            </a:endParaRPr>
          </a:p>
          <a:p>
            <a:pPr marL="171450" indent="-171450">
              <a:buSzPts val="1000"/>
              <a:buFont typeface="Arial"/>
              <a:buChar char="•"/>
              <a:tabLst>
                <a:tab pos="457200" algn="l"/>
              </a:tabLst>
              <a:defRPr/>
            </a:pPr>
            <a:r>
              <a:rPr lang="en-US" sz="1000">
                <a:solidFill>
                  <a:prstClr val="black"/>
                </a:solidFill>
                <a:latin typeface="Aptos" panose="02110004020202020204"/>
              </a:rPr>
              <a:t>Critical Hotfix Defects migrated to Production on 06/29</a:t>
            </a:r>
          </a:p>
          <a:p>
            <a:pPr marL="171450" indent="-171450">
              <a:lnSpc>
                <a:spcPct val="115000"/>
              </a:lnSpc>
              <a:spcBef>
                <a:spcPts val="200"/>
              </a:spcBef>
              <a:buSzPts val="1000"/>
              <a:buFont typeface="Arial"/>
              <a:buChar char="•"/>
              <a:tabLst>
                <a:tab pos="457200" algn="l"/>
              </a:tabLst>
              <a:defRPr/>
            </a:pPr>
            <a:r>
              <a:rPr lang="en-US" sz="1000">
                <a:solidFill>
                  <a:prstClr val="black"/>
                </a:solidFill>
                <a:latin typeface="Aptos" panose="02110004020202020204"/>
              </a:rPr>
              <a:t>Wave 1 completed and deployed to Production on 07/14</a:t>
            </a:r>
          </a:p>
          <a:p>
            <a:pPr marL="171450" indent="-171450">
              <a:buSzPts val="1000"/>
              <a:buFont typeface="Arial"/>
              <a:buChar char="•"/>
              <a:tabLst>
                <a:tab pos="457200" algn="l"/>
              </a:tabLst>
              <a:defRPr/>
            </a:pPr>
            <a:r>
              <a:rPr lang="en-US" sz="1000">
                <a:solidFill>
                  <a:prstClr val="black"/>
                </a:solidFill>
                <a:latin typeface="Aptos" panose="02110004020202020204"/>
              </a:rPr>
              <a:t>Business signoff received for Wave 2 on 8/17</a:t>
            </a:r>
          </a:p>
          <a:p>
            <a:pPr marL="171450" indent="-171450">
              <a:buSzPts val="1000"/>
              <a:buFont typeface="Arial"/>
              <a:buChar char="•"/>
              <a:tabLst>
                <a:tab pos="457200" algn="l"/>
              </a:tabLst>
              <a:defRPr/>
            </a:pPr>
            <a:r>
              <a:rPr lang="en-US" sz="1000">
                <a:solidFill>
                  <a:prstClr val="black"/>
                </a:solidFill>
                <a:latin typeface="Aptos" panose="02110004020202020204"/>
              </a:rPr>
              <a:t>Wave 2 completed and deployed to Production on 08/19</a:t>
            </a:r>
          </a:p>
          <a:p>
            <a:pPr marL="171450" indent="-171450">
              <a:buSzPts val="1000"/>
              <a:buFont typeface="Arial"/>
              <a:buChar char="•"/>
              <a:tabLst>
                <a:tab pos="457200" algn="l"/>
              </a:tabLst>
              <a:defRPr/>
            </a:pPr>
            <a:r>
              <a:rPr lang="en-US" sz="1000">
                <a:solidFill>
                  <a:prstClr val="black"/>
                </a:solidFill>
                <a:latin typeface="Aptos" panose="02110004020202020204"/>
              </a:rPr>
              <a:t>Wave 3 defect analysis and development in progress</a:t>
            </a:r>
          </a:p>
          <a:p>
            <a:pPr marL="171450" indent="-171450">
              <a:buSzPts val="1000"/>
              <a:buFont typeface="Arial"/>
              <a:buChar char="•"/>
              <a:tabLst>
                <a:tab pos="457200" algn="l"/>
              </a:tabLst>
              <a:defRPr/>
            </a:pPr>
            <a:r>
              <a:rPr lang="en-US" sz="1000">
                <a:solidFill>
                  <a:prstClr val="black"/>
                </a:solidFill>
                <a:latin typeface="Aptos" panose="02110004020202020204"/>
              </a:rPr>
              <a:t>Wave 4 defect analysis initiated</a:t>
            </a:r>
          </a:p>
          <a:p>
            <a:pPr marL="171450" indent="-171450">
              <a:buSzPts val="1000"/>
              <a:buFont typeface="Arial"/>
              <a:buChar char="•"/>
              <a:tabLst>
                <a:tab pos="457200" algn="l"/>
              </a:tabLst>
              <a:defRPr/>
            </a:pPr>
            <a:r>
              <a:rPr lang="en-US" sz="1000">
                <a:solidFill>
                  <a:prstClr val="black"/>
                </a:solidFill>
                <a:latin typeface="Aptos" panose="02110004020202020204"/>
              </a:rPr>
              <a:t>Team successfully overcame numerous release blockers, including environment challenges and temporary GitHub service disruptions</a:t>
            </a:r>
          </a:p>
          <a:p>
            <a:pPr marL="171450" indent="-171450">
              <a:buSzPts val="1000"/>
              <a:buFont typeface="Arial"/>
              <a:buChar char="•"/>
              <a:tabLst>
                <a:tab pos="457200" algn="l"/>
              </a:tabLst>
              <a:defRPr/>
            </a:pPr>
            <a:r>
              <a:rPr lang="en-US" sz="1000">
                <a:solidFill>
                  <a:prstClr val="black"/>
                </a:solidFill>
                <a:latin typeface="Aptos" panose="02110004020202020204"/>
              </a:rPr>
              <a:t>Strong collaboration across business and technology teams enabled achievement of August release goals</a:t>
            </a:r>
          </a:p>
          <a:p>
            <a:pPr marL="171450" indent="-171450">
              <a:lnSpc>
                <a:spcPct val="114999"/>
              </a:lnSpc>
              <a:spcBef>
                <a:spcPts val="200"/>
              </a:spcBef>
              <a:buSzPts val="1000"/>
              <a:buFont typeface="Arial" panose="020B0604020202020204" pitchFamily="34" charset="0"/>
              <a:buChar char="•"/>
              <a:tabLst>
                <a:tab pos="457200" algn="l"/>
              </a:tabLst>
              <a:defRPr/>
            </a:pPr>
            <a:endParaRPr lang="en-US" sz="1000" kern="100">
              <a:solidFill>
                <a:prstClr val="black"/>
              </a:solidFill>
              <a:cs typeface="Times New Roman"/>
            </a:endParaRPr>
          </a:p>
        </p:txBody>
      </p:sp>
      <p:sp>
        <p:nvSpPr>
          <p:cNvPr id="12" name="Title 1">
            <a:extLst>
              <a:ext uri="{FF2B5EF4-FFF2-40B4-BE49-F238E27FC236}">
                <a16:creationId xmlns:a16="http://schemas.microsoft.com/office/drawing/2014/main" id="{C8ACD4F8-2610-D224-6128-20E46C7BA653}"/>
              </a:ext>
            </a:extLst>
          </p:cNvPr>
          <p:cNvSpPr>
            <a:spLocks noGrp="1"/>
          </p:cNvSpPr>
          <p:nvPr/>
        </p:nvSpPr>
        <p:spPr>
          <a:xfrm>
            <a:off x="252469" y="209973"/>
            <a:ext cx="11652110" cy="517320"/>
          </a:xfrm>
          <a:prstGeom prst="rect">
            <a:avLst/>
          </a:prstGeom>
        </p:spPr>
        <p:txBody>
          <a:bodyPr vert="horz" lIns="0" tIns="0" rIns="0" bIns="0" rtlCol="0" anchor="t" anchorCtr="0">
            <a:normAutofit fontScale="92500" lnSpcReduction="20000"/>
          </a:bodyPr>
          <a:lstStyle>
            <a:lvl1pPr algn="l" defTabSz="685858" rtl="0" eaLnBrk="1" latinLnBrk="0" hangingPunct="1">
              <a:lnSpc>
                <a:spcPct val="90000"/>
              </a:lnSpc>
              <a:spcBef>
                <a:spcPts val="0"/>
              </a:spcBef>
              <a:buNone/>
              <a:defRPr sz="2100" b="1" kern="1200">
                <a:solidFill>
                  <a:schemeClr val="bg2"/>
                </a:solidFill>
                <a:latin typeface="+mj-lt"/>
                <a:ea typeface="+mj-ea"/>
                <a:cs typeface="+mj-cs"/>
              </a:defRPr>
            </a:lvl1pPr>
          </a:lstStyle>
          <a:p>
            <a:pPr marL="0" marR="0" lvl="0" indent="0" algn="l" defTabSz="685858" rtl="0" eaLnBrk="1" fontAlgn="auto" latinLnBrk="0" hangingPunct="1">
              <a:lnSpc>
                <a:spcPct val="90000"/>
              </a:lnSpc>
              <a:spcBef>
                <a:spcPts val="0"/>
              </a:spcBef>
              <a:spcAft>
                <a:spcPts val="0"/>
              </a:spcAft>
              <a:buClrTx/>
              <a:buSzTx/>
              <a:buFontTx/>
              <a:buNone/>
              <a:tabLst/>
              <a:defRPr/>
            </a:pPr>
            <a:r>
              <a:rPr lang="en-US" sz="2400">
                <a:solidFill>
                  <a:srgbClr val="29389F"/>
                </a:solidFill>
                <a:latin typeface="Arial" pitchFamily="34" charset="0"/>
                <a:cs typeface="Arial" pitchFamily="34" charset="0"/>
              </a:rPr>
              <a:t>Payroll Billing Defect Fixes</a:t>
            </a:r>
            <a:br>
              <a:rPr lang="en-US" sz="2400">
                <a:solidFill>
                  <a:srgbClr val="29389F"/>
                </a:solidFill>
                <a:latin typeface="Arial" pitchFamily="34" charset="0"/>
                <a:cs typeface="Arial" pitchFamily="34" charset="0"/>
              </a:rPr>
            </a:br>
            <a:endParaRPr lang="en-US" sz="2400">
              <a:solidFill>
                <a:srgbClr val="29389F"/>
              </a:solidFill>
              <a:latin typeface="Arial" pitchFamily="34" charset="0"/>
              <a:cs typeface="Arial" pitchFamily="34" charset="0"/>
            </a:endParaRPr>
          </a:p>
        </p:txBody>
      </p:sp>
      <p:sp>
        <p:nvSpPr>
          <p:cNvPr id="13" name="TextBox 2">
            <a:extLst>
              <a:ext uri="{FF2B5EF4-FFF2-40B4-BE49-F238E27FC236}">
                <a16:creationId xmlns:a16="http://schemas.microsoft.com/office/drawing/2014/main" id="{EFC2432D-CF54-99E1-449F-91564C9C48AD}"/>
              </a:ext>
            </a:extLst>
          </p:cNvPr>
          <p:cNvSpPr txBox="1"/>
          <p:nvPr/>
        </p:nvSpPr>
        <p:spPr>
          <a:xfrm>
            <a:off x="9448315" y="275329"/>
            <a:ext cx="2676180" cy="517320"/>
          </a:xfrm>
          <a:prstGeom prst="rect">
            <a:avLst/>
          </a:prstGeom>
          <a:noFill/>
        </p:spPr>
        <p:txBody>
          <a:bodyPr wrap="none" lIns="0" tIns="0" rIns="0" bIns="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12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t>Delivery Leader: Rekha Kothandaraman</a:t>
            </a:r>
          </a:p>
          <a:p>
            <a:pPr marL="0" marR="0" lvl="0" indent="0" algn="l" defTabSz="914400" rtl="0" eaLnBrk="1" fontAlgn="auto" latinLnBrk="0" hangingPunct="1">
              <a:lnSpc>
                <a:spcPct val="112000"/>
              </a:lnSpc>
              <a:spcBef>
                <a:spcPts val="0"/>
              </a:spcBef>
              <a:spcAft>
                <a:spcPts val="0"/>
              </a:spcAft>
              <a:buClrTx/>
              <a:buSzTx/>
              <a:buFontTx/>
              <a:buNone/>
              <a:tabLst/>
              <a:defRPr/>
            </a:pPr>
            <a:r>
              <a:rPr kumimoji="0" lang="en-US" sz="1200" b="0" i="0" u="none" strike="noStrike" kern="1200" cap="none" spc="0" normalizeH="0" baseline="0" noProof="0" err="1">
                <a:ln>
                  <a:noFill/>
                </a:ln>
                <a:solidFill>
                  <a:prstClr val="black"/>
                </a:solidFill>
                <a:effectLst/>
                <a:uLnTx/>
                <a:uFillTx/>
                <a:latin typeface="Aptos" panose="02110004020202020204"/>
                <a:ea typeface="+mn-ea"/>
                <a:cs typeface="+mn-cs"/>
              </a:rPr>
              <a:t>OpEx</a:t>
            </a:r>
            <a:r>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t> Business Lead: Victor Nas</a:t>
            </a:r>
          </a:p>
        </p:txBody>
      </p:sp>
      <p:sp>
        <p:nvSpPr>
          <p:cNvPr id="3" name="Flowchart: Connector 2">
            <a:extLst>
              <a:ext uri="{FF2B5EF4-FFF2-40B4-BE49-F238E27FC236}">
                <a16:creationId xmlns:a16="http://schemas.microsoft.com/office/drawing/2014/main" id="{9400F433-5539-5632-9F60-F40AC89FE0BD}"/>
              </a:ext>
            </a:extLst>
          </p:cNvPr>
          <p:cNvSpPr/>
          <p:nvPr/>
        </p:nvSpPr>
        <p:spPr>
          <a:xfrm>
            <a:off x="8400652" y="3802280"/>
            <a:ext cx="170450" cy="164592"/>
          </a:xfrm>
          <a:prstGeom prst="flowChartConnector">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highlight>
                <a:srgbClr val="FFFF00"/>
              </a:highlight>
              <a:uLnTx/>
              <a:uFillTx/>
              <a:latin typeface="Aptos" panose="02110004020202020204"/>
              <a:ea typeface="+mn-ea"/>
              <a:cs typeface="+mn-cs"/>
            </a:endParaRPr>
          </a:p>
        </p:txBody>
      </p:sp>
      <p:sp>
        <p:nvSpPr>
          <p:cNvPr id="4" name="Flowchart: Connector 3">
            <a:extLst>
              <a:ext uri="{FF2B5EF4-FFF2-40B4-BE49-F238E27FC236}">
                <a16:creationId xmlns:a16="http://schemas.microsoft.com/office/drawing/2014/main" id="{CAD8311C-A1E4-FBD3-9ADF-FB7C4106B2F5}"/>
              </a:ext>
            </a:extLst>
          </p:cNvPr>
          <p:cNvSpPr/>
          <p:nvPr/>
        </p:nvSpPr>
        <p:spPr>
          <a:xfrm>
            <a:off x="8935041" y="5193485"/>
            <a:ext cx="148442" cy="164592"/>
          </a:xfrm>
          <a:prstGeom prst="flowChartConnector">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7" name="Flowchart: Connector 6">
            <a:extLst>
              <a:ext uri="{FF2B5EF4-FFF2-40B4-BE49-F238E27FC236}">
                <a16:creationId xmlns:a16="http://schemas.microsoft.com/office/drawing/2014/main" id="{C189D952-BBB2-BECD-60EF-E825D73B9EBC}"/>
              </a:ext>
            </a:extLst>
          </p:cNvPr>
          <p:cNvSpPr/>
          <p:nvPr/>
        </p:nvSpPr>
        <p:spPr>
          <a:xfrm>
            <a:off x="8400652" y="4028389"/>
            <a:ext cx="170450" cy="164592"/>
          </a:xfrm>
          <a:prstGeom prst="flowChartConnector">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highlight>
                <a:srgbClr val="FFFF00"/>
              </a:highlight>
              <a:uLnTx/>
              <a:uFillTx/>
              <a:latin typeface="Aptos" panose="02110004020202020204"/>
              <a:ea typeface="+mn-ea"/>
              <a:cs typeface="+mn-cs"/>
            </a:endParaRPr>
          </a:p>
        </p:txBody>
      </p:sp>
    </p:spTree>
    <p:extLst>
      <p:ext uri="{BB962C8B-B14F-4D97-AF65-F5344CB8AC3E}">
        <p14:creationId xmlns:p14="http://schemas.microsoft.com/office/powerpoint/2010/main" val="392636779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CFE844-0C24-C2D1-3EEA-DB3A34FF6B3D}"/>
            </a:ext>
          </a:extLst>
        </p:cNvPr>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CD77A0B7-E5C7-DEB7-167D-12A5F166FC48}"/>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8" imgH="408" progId="TCLayout.ActiveDocument.1">
                  <p:embed/>
                </p:oleObj>
              </mc:Choice>
              <mc:Fallback>
                <p:oleObj name="think-cell Slide" r:id="rId4" imgW="408" imgH="408" progId="TCLayout.ActiveDocument.1">
                  <p:embed/>
                  <p:pic>
                    <p:nvPicPr>
                      <p:cNvPr id="9" name="think-cell data - do not delete" hidden="1">
                        <a:extLst>
                          <a:ext uri="{FF2B5EF4-FFF2-40B4-BE49-F238E27FC236}">
                            <a16:creationId xmlns:a16="http://schemas.microsoft.com/office/drawing/2014/main" id="{CD77A0B7-E5C7-DEB7-167D-12A5F166FC48}"/>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graphicFrame>
        <p:nvGraphicFramePr>
          <p:cNvPr id="32" name="Group 614">
            <a:extLst>
              <a:ext uri="{FF2B5EF4-FFF2-40B4-BE49-F238E27FC236}">
                <a16:creationId xmlns:a16="http://schemas.microsoft.com/office/drawing/2014/main" id="{FDF2129D-8B1B-30FC-1D44-9F740DDEAFC9}"/>
              </a:ext>
            </a:extLst>
          </p:cNvPr>
          <p:cNvGraphicFramePr>
            <a:graphicFrameLocks noGrp="1"/>
          </p:cNvGraphicFramePr>
          <p:nvPr/>
        </p:nvGraphicFramePr>
        <p:xfrm>
          <a:off x="4980036" y="6305845"/>
          <a:ext cx="7136859" cy="386554"/>
        </p:xfrm>
        <a:graphic>
          <a:graphicData uri="http://schemas.openxmlformats.org/drawingml/2006/table">
            <a:tbl>
              <a:tblPr/>
              <a:tblGrid>
                <a:gridCol w="606425">
                  <a:extLst>
                    <a:ext uri="{9D8B030D-6E8A-4147-A177-3AD203B41FA5}">
                      <a16:colId xmlns:a16="http://schemas.microsoft.com/office/drawing/2014/main" val="20000"/>
                    </a:ext>
                  </a:extLst>
                </a:gridCol>
                <a:gridCol w="307361">
                  <a:extLst>
                    <a:ext uri="{9D8B030D-6E8A-4147-A177-3AD203B41FA5}">
                      <a16:colId xmlns:a16="http://schemas.microsoft.com/office/drawing/2014/main" val="20001"/>
                    </a:ext>
                  </a:extLst>
                </a:gridCol>
                <a:gridCol w="757584">
                  <a:extLst>
                    <a:ext uri="{9D8B030D-6E8A-4147-A177-3AD203B41FA5}">
                      <a16:colId xmlns:a16="http://schemas.microsoft.com/office/drawing/2014/main" val="20002"/>
                    </a:ext>
                  </a:extLst>
                </a:gridCol>
                <a:gridCol w="302812">
                  <a:extLst>
                    <a:ext uri="{9D8B030D-6E8A-4147-A177-3AD203B41FA5}">
                      <a16:colId xmlns:a16="http://schemas.microsoft.com/office/drawing/2014/main" val="20003"/>
                    </a:ext>
                  </a:extLst>
                </a:gridCol>
                <a:gridCol w="665317">
                  <a:extLst>
                    <a:ext uri="{9D8B030D-6E8A-4147-A177-3AD203B41FA5}">
                      <a16:colId xmlns:a16="http://schemas.microsoft.com/office/drawing/2014/main" val="20004"/>
                    </a:ext>
                  </a:extLst>
                </a:gridCol>
                <a:gridCol w="518025">
                  <a:extLst>
                    <a:ext uri="{9D8B030D-6E8A-4147-A177-3AD203B41FA5}">
                      <a16:colId xmlns:a16="http://schemas.microsoft.com/office/drawing/2014/main" val="20005"/>
                    </a:ext>
                  </a:extLst>
                </a:gridCol>
                <a:gridCol w="568469">
                  <a:extLst>
                    <a:ext uri="{9D8B030D-6E8A-4147-A177-3AD203B41FA5}">
                      <a16:colId xmlns:a16="http://schemas.microsoft.com/office/drawing/2014/main" val="20006"/>
                    </a:ext>
                  </a:extLst>
                </a:gridCol>
                <a:gridCol w="368983">
                  <a:extLst>
                    <a:ext uri="{9D8B030D-6E8A-4147-A177-3AD203B41FA5}">
                      <a16:colId xmlns:a16="http://schemas.microsoft.com/office/drawing/2014/main" val="20007"/>
                    </a:ext>
                  </a:extLst>
                </a:gridCol>
                <a:gridCol w="1372005">
                  <a:extLst>
                    <a:ext uri="{9D8B030D-6E8A-4147-A177-3AD203B41FA5}">
                      <a16:colId xmlns:a16="http://schemas.microsoft.com/office/drawing/2014/main" val="20008"/>
                    </a:ext>
                  </a:extLst>
                </a:gridCol>
                <a:gridCol w="378212">
                  <a:extLst>
                    <a:ext uri="{9D8B030D-6E8A-4147-A177-3AD203B41FA5}">
                      <a16:colId xmlns:a16="http://schemas.microsoft.com/office/drawing/2014/main" val="20009"/>
                    </a:ext>
                  </a:extLst>
                </a:gridCol>
                <a:gridCol w="1291666">
                  <a:extLst>
                    <a:ext uri="{9D8B030D-6E8A-4147-A177-3AD203B41FA5}">
                      <a16:colId xmlns:a16="http://schemas.microsoft.com/office/drawing/2014/main" val="20010"/>
                    </a:ext>
                  </a:extLst>
                </a:gridCol>
              </a:tblGrid>
              <a:tr h="386554">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Arial" charset="0"/>
                          <a:cs typeface="Arial" charset="0"/>
                        </a:rPr>
                        <a:t>Status Key</a:t>
                      </a:r>
                      <a:endParaRPr kumimoji="0" lang="en-GB" sz="1600" b="0" i="0" u="none" strike="noStrike" cap="none" normalizeH="0" baseline="0">
                        <a:ln>
                          <a:noFill/>
                        </a:ln>
                        <a:solidFill>
                          <a:srgbClr val="002060"/>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mj-lt"/>
                        </a:rPr>
                        <a:t>C</a:t>
                      </a: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Arial" charset="0"/>
                          <a:cs typeface="Arial" charset="0"/>
                        </a:rPr>
                        <a:t>Completed</a:t>
                      </a:r>
                      <a:endParaRPr kumimoji="0" lang="en-GB" sz="1600" b="0" i="0" u="none" strike="noStrike" cap="none" normalizeH="0" baseline="0">
                        <a:ln>
                          <a:noFill/>
                        </a:ln>
                        <a:solidFill>
                          <a:srgbClr val="002060"/>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On-Schedule</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Major Issues</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Some Issues</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NS</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Not Started</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2" name="Title 1">
            <a:extLst>
              <a:ext uri="{FF2B5EF4-FFF2-40B4-BE49-F238E27FC236}">
                <a16:creationId xmlns:a16="http://schemas.microsoft.com/office/drawing/2014/main" id="{944FB93D-C26F-1960-94DD-C3DF7D2F49C1}"/>
              </a:ext>
            </a:extLst>
          </p:cNvPr>
          <p:cNvSpPr>
            <a:spLocks noGrp="1"/>
          </p:cNvSpPr>
          <p:nvPr>
            <p:ph type="title"/>
          </p:nvPr>
        </p:nvSpPr>
        <p:spPr>
          <a:xfrm>
            <a:off x="231954" y="101795"/>
            <a:ext cx="9281086" cy="788695"/>
          </a:xfrm>
        </p:spPr>
        <p:txBody>
          <a:bodyPr vert="horz">
            <a:normAutofit/>
          </a:bodyPr>
          <a:lstStyle/>
          <a:p>
            <a:pPr lvl="0">
              <a:lnSpc>
                <a:spcPct val="100000"/>
              </a:lnSpc>
              <a:spcBef>
                <a:spcPts val="0"/>
              </a:spcBef>
              <a:defRPr/>
            </a:pPr>
            <a:r>
              <a:rPr lang="en-US" sz="2400">
                <a:solidFill>
                  <a:srgbClr val="29389F"/>
                </a:solidFill>
                <a:latin typeface="Arial" pitchFamily="34" charset="0"/>
                <a:cs typeface="Arial" pitchFamily="34" charset="0"/>
              </a:rPr>
              <a:t>Refresh the Windows 2022 Server</a:t>
            </a:r>
          </a:p>
        </p:txBody>
      </p:sp>
      <p:graphicFrame>
        <p:nvGraphicFramePr>
          <p:cNvPr id="11" name="Group 513">
            <a:extLst>
              <a:ext uri="{FF2B5EF4-FFF2-40B4-BE49-F238E27FC236}">
                <a16:creationId xmlns:a16="http://schemas.microsoft.com/office/drawing/2014/main" id="{28D4CDE5-AA0C-D07F-EDAD-F755DF057F6A}"/>
              </a:ext>
            </a:extLst>
          </p:cNvPr>
          <p:cNvGraphicFramePr>
            <a:graphicFrameLocks noGrp="1"/>
          </p:cNvGraphicFramePr>
          <p:nvPr>
            <p:extLst>
              <p:ext uri="{D42A27DB-BD31-4B8C-83A1-F6EECF244321}">
                <p14:modId xmlns:p14="http://schemas.microsoft.com/office/powerpoint/2010/main" val="2253903554"/>
              </p:ext>
            </p:extLst>
          </p:nvPr>
        </p:nvGraphicFramePr>
        <p:xfrm>
          <a:off x="234455" y="927650"/>
          <a:ext cx="2638218" cy="344301"/>
        </p:xfrm>
        <a:graphic>
          <a:graphicData uri="http://schemas.openxmlformats.org/drawingml/2006/table">
            <a:tbl>
              <a:tblPr/>
              <a:tblGrid>
                <a:gridCol w="984745">
                  <a:extLst>
                    <a:ext uri="{9D8B030D-6E8A-4147-A177-3AD203B41FA5}">
                      <a16:colId xmlns:a16="http://schemas.microsoft.com/office/drawing/2014/main" val="20000"/>
                    </a:ext>
                  </a:extLst>
                </a:gridCol>
                <a:gridCol w="1653473">
                  <a:extLst>
                    <a:ext uri="{9D8B030D-6E8A-4147-A177-3AD203B41FA5}">
                      <a16:colId xmlns:a16="http://schemas.microsoft.com/office/drawing/2014/main" val="20001"/>
                    </a:ext>
                  </a:extLst>
                </a:gridCol>
              </a:tblGrid>
              <a:tr h="344301">
                <a:tc>
                  <a:txBody>
                    <a:bodyPr/>
                    <a:lstStyle/>
                    <a:p>
                      <a:pPr marL="0" marR="0" lvl="0" indent="0" algn="l" defTabSz="914400" rtl="0" eaLnBrk="0" fontAlgn="base" latinLnBrk="0" hangingPunct="0">
                        <a:lnSpc>
                          <a:spcPct val="95000"/>
                        </a:lnSpc>
                        <a:spcBef>
                          <a:spcPct val="0"/>
                        </a:spcBef>
                        <a:spcAft>
                          <a:spcPct val="50000"/>
                        </a:spcAft>
                        <a:buClrTx/>
                        <a:buSzTx/>
                        <a:buFontTx/>
                        <a:buNone/>
                        <a:tabLst/>
                      </a:pPr>
                      <a:r>
                        <a:rPr kumimoji="0" lang="en-GB" sz="1050" b="1" i="0" u="none" strike="noStrike" kern="1200" cap="none" normalizeH="0" baseline="0">
                          <a:ln>
                            <a:noFill/>
                          </a:ln>
                          <a:solidFill>
                            <a:schemeClr val="bg1"/>
                          </a:solidFill>
                          <a:effectLst/>
                          <a:latin typeface="Arial"/>
                          <a:ea typeface="+mn-ea"/>
                          <a:cs typeface="+mn-cs"/>
                        </a:rPr>
                        <a:t>Status Date:</a:t>
                      </a:r>
                    </a:p>
                  </a:txBody>
                  <a:tcPr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defRPr/>
                      </a:pPr>
                      <a:r>
                        <a:rPr kumimoji="0" lang="en-GB" sz="850" b="1" i="0" u="none" strike="noStrike" kern="1200" cap="none" normalizeH="0" baseline="0">
                          <a:ln>
                            <a:noFill/>
                          </a:ln>
                          <a:solidFill>
                            <a:schemeClr val="tx1"/>
                          </a:solidFill>
                          <a:effectLst/>
                          <a:latin typeface="Aptos" panose="020B0004020202020204" pitchFamily="34" charset="0"/>
                          <a:ea typeface="+mn-ea"/>
                          <a:cs typeface="+mn-cs"/>
                        </a:rPr>
                        <a:t>08/28/26</a:t>
                      </a:r>
                    </a:p>
                  </a:txBody>
                  <a:tcPr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14" name="Table 13">
            <a:extLst>
              <a:ext uri="{FF2B5EF4-FFF2-40B4-BE49-F238E27FC236}">
                <a16:creationId xmlns:a16="http://schemas.microsoft.com/office/drawing/2014/main" id="{7D5B7545-EF29-C405-42BE-10F0CF1D162F}"/>
              </a:ext>
            </a:extLst>
          </p:cNvPr>
          <p:cNvGraphicFramePr>
            <a:graphicFrameLocks noGrp="1"/>
          </p:cNvGraphicFramePr>
          <p:nvPr>
            <p:extLst>
              <p:ext uri="{D42A27DB-BD31-4B8C-83A1-F6EECF244321}">
                <p14:modId xmlns:p14="http://schemas.microsoft.com/office/powerpoint/2010/main" val="2270012368"/>
              </p:ext>
            </p:extLst>
          </p:nvPr>
        </p:nvGraphicFramePr>
        <p:xfrm>
          <a:off x="6640300" y="920667"/>
          <a:ext cx="5352360" cy="749848"/>
        </p:xfrm>
        <a:graphic>
          <a:graphicData uri="http://schemas.openxmlformats.org/drawingml/2006/table">
            <a:tbl>
              <a:tblPr>
                <a:tableStyleId>{5C22544A-7EE6-4342-B048-85BDC9FD1C3A}</a:tableStyleId>
              </a:tblPr>
              <a:tblGrid>
                <a:gridCol w="1045337">
                  <a:extLst>
                    <a:ext uri="{9D8B030D-6E8A-4147-A177-3AD203B41FA5}">
                      <a16:colId xmlns:a16="http://schemas.microsoft.com/office/drawing/2014/main" val="2456552316"/>
                    </a:ext>
                  </a:extLst>
                </a:gridCol>
                <a:gridCol w="926511">
                  <a:extLst>
                    <a:ext uri="{9D8B030D-6E8A-4147-A177-3AD203B41FA5}">
                      <a16:colId xmlns:a16="http://schemas.microsoft.com/office/drawing/2014/main" val="2327174630"/>
                    </a:ext>
                  </a:extLst>
                </a:gridCol>
                <a:gridCol w="1514970">
                  <a:extLst>
                    <a:ext uri="{9D8B030D-6E8A-4147-A177-3AD203B41FA5}">
                      <a16:colId xmlns:a16="http://schemas.microsoft.com/office/drawing/2014/main" val="1100051595"/>
                    </a:ext>
                  </a:extLst>
                </a:gridCol>
                <a:gridCol w="913991">
                  <a:extLst>
                    <a:ext uri="{9D8B030D-6E8A-4147-A177-3AD203B41FA5}">
                      <a16:colId xmlns:a16="http://schemas.microsoft.com/office/drawing/2014/main" val="2042261034"/>
                    </a:ext>
                  </a:extLst>
                </a:gridCol>
                <a:gridCol w="951551">
                  <a:extLst>
                    <a:ext uri="{9D8B030D-6E8A-4147-A177-3AD203B41FA5}">
                      <a16:colId xmlns:a16="http://schemas.microsoft.com/office/drawing/2014/main" val="2815874248"/>
                    </a:ext>
                  </a:extLst>
                </a:gridCol>
              </a:tblGrid>
              <a:tr h="366567">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2026 Budget</a:t>
                      </a:r>
                      <a:r>
                        <a:rPr lang="en-US" sz="1050" b="1" i="0" u="none" strike="noStrike" kern="1200" cap="none" normalizeH="0" baseline="0">
                          <a:ln>
                            <a:noFill/>
                          </a:ln>
                          <a:solidFill>
                            <a:schemeClr val="bg1"/>
                          </a:solidFill>
                          <a:effectLst/>
                          <a:latin typeface="Arial"/>
                          <a:ea typeface="+mn-ea"/>
                          <a:cs typeface="+mn-cs"/>
                        </a:rPr>
                        <a:t> </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YTD Actuals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Remaining 2026 Forecast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Current YE Forecast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Total Budget</a:t>
                      </a:r>
                      <a:r>
                        <a:rPr lang="en-US" sz="1050" b="1" i="0" u="none" strike="noStrike" kern="1200" cap="none" normalizeH="0" baseline="0">
                          <a:ln>
                            <a:noFill/>
                          </a:ln>
                          <a:solidFill>
                            <a:schemeClr val="bg1"/>
                          </a:solidFill>
                          <a:effectLst/>
                          <a:latin typeface="Arial"/>
                          <a:ea typeface="+mn-ea"/>
                          <a:cs typeface="+mn-cs"/>
                        </a:rPr>
                        <a:t> </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383281">
                <a:tc>
                  <a:txBody>
                    <a:bodyPr/>
                    <a:lstStyle/>
                    <a:p>
                      <a:pPr marL="0" marR="0" lvl="0" indent="0" algn="ctr" defTabSz="914400" rtl="0" eaLnBrk="0" fontAlgn="base" latinLnBrk="0" hangingPunct="0">
                        <a:lnSpc>
                          <a:spcPct val="95000"/>
                        </a:lnSpc>
                        <a:spcBef>
                          <a:spcPct val="0"/>
                        </a:spcBef>
                        <a:spcAft>
                          <a:spcPct val="50000"/>
                        </a:spcAft>
                        <a:buClrTx/>
                        <a:buSzTx/>
                        <a:buFontTx/>
                        <a:buNone/>
                        <a:tabLst/>
                        <a:defRPr/>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$50,000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defRPr/>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defRPr/>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defRPr/>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defRPr/>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7499024"/>
                  </a:ext>
                </a:extLst>
              </a:tr>
            </a:tbl>
          </a:graphicData>
        </a:graphic>
      </p:graphicFrame>
      <p:graphicFrame>
        <p:nvGraphicFramePr>
          <p:cNvPr id="25" name="Table 24">
            <a:extLst>
              <a:ext uri="{FF2B5EF4-FFF2-40B4-BE49-F238E27FC236}">
                <a16:creationId xmlns:a16="http://schemas.microsoft.com/office/drawing/2014/main" id="{976595D2-445E-A71D-77BB-6C89DBB52298}"/>
              </a:ext>
            </a:extLst>
          </p:cNvPr>
          <p:cNvGraphicFramePr>
            <a:graphicFrameLocks noGrp="1"/>
          </p:cNvGraphicFramePr>
          <p:nvPr/>
        </p:nvGraphicFramePr>
        <p:xfrm>
          <a:off x="2811025" y="920667"/>
          <a:ext cx="3829275" cy="749848"/>
        </p:xfrm>
        <a:graphic>
          <a:graphicData uri="http://schemas.openxmlformats.org/drawingml/2006/table">
            <a:tbl>
              <a:tblPr>
                <a:tableStyleId>{5C22544A-7EE6-4342-B048-85BDC9FD1C3A}</a:tableStyleId>
              </a:tblPr>
              <a:tblGrid>
                <a:gridCol w="1042158">
                  <a:extLst>
                    <a:ext uri="{9D8B030D-6E8A-4147-A177-3AD203B41FA5}">
                      <a16:colId xmlns:a16="http://schemas.microsoft.com/office/drawing/2014/main" val="2456552316"/>
                    </a:ext>
                  </a:extLst>
                </a:gridCol>
                <a:gridCol w="961214">
                  <a:extLst>
                    <a:ext uri="{9D8B030D-6E8A-4147-A177-3AD203B41FA5}">
                      <a16:colId xmlns:a16="http://schemas.microsoft.com/office/drawing/2014/main" val="1100051595"/>
                    </a:ext>
                  </a:extLst>
                </a:gridCol>
                <a:gridCol w="920742">
                  <a:extLst>
                    <a:ext uri="{9D8B030D-6E8A-4147-A177-3AD203B41FA5}">
                      <a16:colId xmlns:a16="http://schemas.microsoft.com/office/drawing/2014/main" val="2042261034"/>
                    </a:ext>
                  </a:extLst>
                </a:gridCol>
                <a:gridCol w="905161">
                  <a:extLst>
                    <a:ext uri="{9D8B030D-6E8A-4147-A177-3AD203B41FA5}">
                      <a16:colId xmlns:a16="http://schemas.microsoft.com/office/drawing/2014/main" val="2815874248"/>
                    </a:ext>
                  </a:extLst>
                </a:gridCol>
              </a:tblGrid>
              <a:tr h="409508">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Overall</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Scope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Schedule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Financials</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340340">
                <a:tc>
                  <a:txBody>
                    <a:bodyPr/>
                    <a:lstStyle/>
                    <a:p>
                      <a:pPr marL="0" marR="0" lvl="0" indent="0" algn="ctr" rtl="0" eaLnBrk="1" fontAlgn="ctr" latinLnBrk="0" hangingPunct="1">
                        <a:lnSpc>
                          <a:spcPct val="95000"/>
                        </a:lnSpc>
                        <a:spcBef>
                          <a:spcPct val="0"/>
                        </a:spcBef>
                        <a:spcAft>
                          <a:spcPct val="50000"/>
                        </a:spcAft>
                        <a:buClrTx/>
                        <a:buSzTx/>
                        <a:buFontTx/>
                        <a:buNone/>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rtl="0" eaLnBrk="1" fontAlgn="ctr" latinLnBrk="0" hangingPunct="1">
                        <a:lnSpc>
                          <a:spcPct val="95000"/>
                        </a:lnSpc>
                        <a:spcBef>
                          <a:spcPct val="0"/>
                        </a:spcBef>
                        <a:spcAft>
                          <a:spcPct val="50000"/>
                        </a:spcAft>
                        <a:buClrTx/>
                        <a:buSzTx/>
                        <a:buFontTx/>
                        <a:buNone/>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7499024"/>
                  </a:ext>
                </a:extLst>
              </a:tr>
            </a:tbl>
          </a:graphicData>
        </a:graphic>
      </p:graphicFrame>
      <p:graphicFrame>
        <p:nvGraphicFramePr>
          <p:cNvPr id="26" name="Group 513">
            <a:extLst>
              <a:ext uri="{FF2B5EF4-FFF2-40B4-BE49-F238E27FC236}">
                <a16:creationId xmlns:a16="http://schemas.microsoft.com/office/drawing/2014/main" id="{5B8BCEE9-765A-D5E9-59F6-CBBF4980FB58}"/>
              </a:ext>
            </a:extLst>
          </p:cNvPr>
          <p:cNvGraphicFramePr>
            <a:graphicFrameLocks noGrp="1"/>
          </p:cNvGraphicFramePr>
          <p:nvPr>
            <p:extLst>
              <p:ext uri="{D42A27DB-BD31-4B8C-83A1-F6EECF244321}">
                <p14:modId xmlns:p14="http://schemas.microsoft.com/office/powerpoint/2010/main" val="1205789698"/>
              </p:ext>
            </p:extLst>
          </p:nvPr>
        </p:nvGraphicFramePr>
        <p:xfrm>
          <a:off x="231953" y="1271951"/>
          <a:ext cx="2581575" cy="395688"/>
        </p:xfrm>
        <a:graphic>
          <a:graphicData uri="http://schemas.openxmlformats.org/drawingml/2006/table">
            <a:tbl>
              <a:tblPr/>
              <a:tblGrid>
                <a:gridCol w="998602">
                  <a:extLst>
                    <a:ext uri="{9D8B030D-6E8A-4147-A177-3AD203B41FA5}">
                      <a16:colId xmlns:a16="http://schemas.microsoft.com/office/drawing/2014/main" val="20000"/>
                    </a:ext>
                  </a:extLst>
                </a:gridCol>
                <a:gridCol w="1582973">
                  <a:extLst>
                    <a:ext uri="{9D8B030D-6E8A-4147-A177-3AD203B41FA5}">
                      <a16:colId xmlns:a16="http://schemas.microsoft.com/office/drawing/2014/main" val="20001"/>
                    </a:ext>
                  </a:extLst>
                </a:gridCol>
              </a:tblGrid>
              <a:tr h="344301">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GB" sz="1050" b="1" i="0" u="none" strike="noStrike" kern="1200" cap="none" normalizeH="0" baseline="0">
                          <a:ln>
                            <a:noFill/>
                          </a:ln>
                          <a:solidFill>
                            <a:schemeClr val="bg1"/>
                          </a:solidFill>
                          <a:effectLst/>
                          <a:latin typeface="Arial"/>
                          <a:ea typeface="+mn-ea"/>
                          <a:cs typeface="+mn-cs"/>
                        </a:rPr>
                        <a:t>Target Delivery:</a:t>
                      </a:r>
                    </a:p>
                  </a:txBody>
                  <a:tcPr marL="0" marR="0"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defRPr/>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9/30/2026</a:t>
                      </a:r>
                    </a:p>
                  </a:txBody>
                  <a:tcPr marL="0" marR="0"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27" name="Table 26">
            <a:extLst>
              <a:ext uri="{FF2B5EF4-FFF2-40B4-BE49-F238E27FC236}">
                <a16:creationId xmlns:a16="http://schemas.microsoft.com/office/drawing/2014/main" id="{6F91E75E-026E-1264-95CE-F1A3FDE7586F}"/>
              </a:ext>
            </a:extLst>
          </p:cNvPr>
          <p:cNvGraphicFramePr>
            <a:graphicFrameLocks noGrp="1"/>
          </p:cNvGraphicFramePr>
          <p:nvPr>
            <p:extLst>
              <p:ext uri="{D42A27DB-BD31-4B8C-83A1-F6EECF244321}">
                <p14:modId xmlns:p14="http://schemas.microsoft.com/office/powerpoint/2010/main" val="3319548895"/>
              </p:ext>
            </p:extLst>
          </p:nvPr>
        </p:nvGraphicFramePr>
        <p:xfrm>
          <a:off x="4854769" y="1696099"/>
          <a:ext cx="7137890" cy="2892018"/>
        </p:xfrm>
        <a:graphic>
          <a:graphicData uri="http://schemas.openxmlformats.org/drawingml/2006/table">
            <a:tbl>
              <a:tblPr>
                <a:tableStyleId>{5C22544A-7EE6-4342-B048-85BDC9FD1C3A}</a:tableStyleId>
              </a:tblPr>
              <a:tblGrid>
                <a:gridCol w="2612611">
                  <a:extLst>
                    <a:ext uri="{9D8B030D-6E8A-4147-A177-3AD203B41FA5}">
                      <a16:colId xmlns:a16="http://schemas.microsoft.com/office/drawing/2014/main" val="2456552316"/>
                    </a:ext>
                  </a:extLst>
                </a:gridCol>
                <a:gridCol w="462937">
                  <a:extLst>
                    <a:ext uri="{9D8B030D-6E8A-4147-A177-3AD203B41FA5}">
                      <a16:colId xmlns:a16="http://schemas.microsoft.com/office/drawing/2014/main" val="1100051595"/>
                    </a:ext>
                  </a:extLst>
                </a:gridCol>
                <a:gridCol w="486790">
                  <a:extLst>
                    <a:ext uri="{9D8B030D-6E8A-4147-A177-3AD203B41FA5}">
                      <a16:colId xmlns:a16="http://schemas.microsoft.com/office/drawing/2014/main" val="2042261034"/>
                    </a:ext>
                  </a:extLst>
                </a:gridCol>
                <a:gridCol w="3575552">
                  <a:extLst>
                    <a:ext uri="{9D8B030D-6E8A-4147-A177-3AD203B41FA5}">
                      <a16:colId xmlns:a16="http://schemas.microsoft.com/office/drawing/2014/main" val="2815874248"/>
                    </a:ext>
                  </a:extLst>
                </a:gridCol>
              </a:tblGrid>
              <a:tr h="304528">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Milestone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Status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Due Date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Notes</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225904">
                <a:tc>
                  <a:txBody>
                    <a:bodyPr/>
                    <a:lstStyle/>
                    <a:p>
                      <a:pPr marL="114300" marR="0" lvl="0" indent="0" algn="l" rtl="0" eaLnBrk="1" fontAlgn="ctr" latinLnBrk="0" hangingPunct="1">
                        <a:lnSpc>
                          <a:spcPct val="95000"/>
                        </a:lnSpc>
                        <a:spcBef>
                          <a:spcPct val="0"/>
                        </a:spcBef>
                        <a:spcAft>
                          <a:spcPct val="50000"/>
                        </a:spcAft>
                        <a:buClrTx/>
                        <a:buSzTx/>
                        <a:buFontTx/>
                        <a:buNone/>
                      </a:pPr>
                      <a:r>
                        <a:rPr lang="en-US" sz="850" b="0" kern="1200">
                          <a:solidFill>
                            <a:schemeClr val="tx1"/>
                          </a:solidFill>
                          <a:effectLst/>
                          <a:latin typeface="Aptos" panose="020B0004020202020204" pitchFamily="34" charset="0"/>
                          <a:ea typeface="+mn-ea"/>
                          <a:cs typeface="+mn-cs"/>
                        </a:rPr>
                        <a:t>Validate and Lock business requirements</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r>
                        <a:rPr lang="en-US" sz="850" b="0" kern="1200">
                          <a:solidFill>
                            <a:schemeClr val="tx1"/>
                          </a:solidFill>
                          <a:effectLst/>
                          <a:latin typeface="Aptos" panose="020B0004020202020204" pitchFamily="34" charset="0"/>
                          <a:ea typeface="+mn-ea"/>
                          <a:cs typeface="+mn-cs"/>
                        </a:rPr>
                        <a:t>C</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850" b="0" strike="noStrike" kern="1200">
                        <a:solidFill>
                          <a:schemeClr val="tx1"/>
                        </a:solidFill>
                        <a:effectLst/>
                        <a:latin typeface="Aptos" panose="020B0004020202020204" pitchFamily="34" charset="0"/>
                        <a:ea typeface="+mn-ea"/>
                        <a:cs typeface="+mn-cs"/>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0" hangingPunct="1">
                        <a:lnSpc>
                          <a:spcPts val="600"/>
                        </a:lnSpc>
                        <a:spcBef>
                          <a:spcPts val="300"/>
                        </a:spcBef>
                        <a:spcAft>
                          <a:spcPts val="0"/>
                        </a:spcAft>
                        <a:buClrTx/>
                        <a:buSzTx/>
                        <a:buFontTx/>
                        <a:buNone/>
                        <a:tabLst/>
                        <a:defRPr/>
                      </a:pPr>
                      <a:endParaRPr lang="en-US" sz="850" b="0" i="0">
                        <a:solidFill>
                          <a:srgbClr val="000000"/>
                        </a:solidFill>
                        <a:effectLst/>
                        <a:latin typeface="Aptos" panose="020B00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748893264"/>
                  </a:ext>
                </a:extLst>
              </a:tr>
              <a:tr h="213379">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50">
                          <a:latin typeface="Aptos" panose="020B0004020202020204" pitchFamily="34" charset="0"/>
                        </a:rPr>
                        <a:t>Obtain approval from BDE</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0" hangingPunct="1">
                        <a:lnSpc>
                          <a:spcPct val="95000"/>
                        </a:lnSpc>
                        <a:spcBef>
                          <a:spcPct val="0"/>
                        </a:spcBef>
                        <a:spcAft>
                          <a:spcPct val="50000"/>
                        </a:spcAft>
                        <a:buClrTx/>
                        <a:buSzTx/>
                        <a:buFontTx/>
                        <a:buNone/>
                        <a:tabLst/>
                        <a:defRPr/>
                      </a:pPr>
                      <a:r>
                        <a:rPr lang="en-US" sz="850" b="0" kern="1200">
                          <a:solidFill>
                            <a:schemeClr val="tx1"/>
                          </a:solidFill>
                          <a:effectLst/>
                          <a:latin typeface="Aptos" panose="020B0004020202020204" pitchFamily="34" charset="0"/>
                          <a:ea typeface="+mn-ea"/>
                          <a:cs typeface="+mn-cs"/>
                        </a:rPr>
                        <a:t>C</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0" hangingPunct="1">
                        <a:lnSpc>
                          <a:spcPct val="95000"/>
                        </a:lnSpc>
                        <a:spcBef>
                          <a:spcPct val="0"/>
                        </a:spcBef>
                        <a:spcAft>
                          <a:spcPct val="50000"/>
                        </a:spcAft>
                        <a:buClrTx/>
                        <a:buSzTx/>
                        <a:buFontTx/>
                        <a:buNone/>
                        <a:tabLst/>
                        <a:defRPr/>
                      </a:pPr>
                      <a:endParaRPr lang="en-US" sz="850" b="0" strike="noStrike" kern="1200">
                        <a:solidFill>
                          <a:schemeClr val="tx1"/>
                        </a:solidFill>
                        <a:effectLst/>
                        <a:latin typeface="Aptos" panose="020B0004020202020204" pitchFamily="34" charset="0"/>
                        <a:ea typeface="+mn-ea"/>
                        <a:cs typeface="+mn-cs"/>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algn="l">
                        <a:lnSpc>
                          <a:spcPct val="114999"/>
                        </a:lnSpc>
                        <a:spcAft>
                          <a:spcPts val="800"/>
                        </a:spcAft>
                        <a:buNone/>
                      </a:pPr>
                      <a:endParaRPr lang="en-US" sz="850" b="0" i="0" u="none" strike="noStrike" kern="100" noProof="0">
                        <a:solidFill>
                          <a:schemeClr val="dk1"/>
                        </a:solidFill>
                        <a:effectLst/>
                        <a:latin typeface="Aptos" panose="020B0004020202020204"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805706767"/>
                  </a:ext>
                </a:extLst>
              </a:tr>
              <a:tr h="213379">
                <a:tc>
                  <a:txBody>
                    <a:bodyPr/>
                    <a:lstStyle/>
                    <a:p>
                      <a:pPr algn="l" fontAlgn="b">
                        <a:buNone/>
                      </a:pPr>
                      <a:r>
                        <a:rPr lang="en-US" sz="900" b="0" i="0" u="none" strike="noStrike">
                          <a:solidFill>
                            <a:srgbClr val="000000"/>
                          </a:solidFill>
                          <a:effectLst/>
                          <a:latin typeface="Aptos Narrow" panose="020B0004020202020204" pitchFamily="34" charset="0"/>
                        </a:rPr>
                        <a:t>Non Prod servers</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rtl="0" eaLnBrk="1" fontAlgn="auto" latinLnBrk="0" hangingPunct="1">
                        <a:lnSpc>
                          <a:spcPct val="95000"/>
                        </a:lnSpc>
                        <a:spcBef>
                          <a:spcPct val="0"/>
                        </a:spcBef>
                        <a:spcAft>
                          <a:spcPct val="50000"/>
                        </a:spcAft>
                        <a:buClrTx/>
                        <a:buSzTx/>
                        <a:buFontTx/>
                        <a:buNone/>
                      </a:pPr>
                      <a:r>
                        <a:rPr lang="en-US" sz="850" b="0" kern="1200">
                          <a:solidFill>
                            <a:schemeClr val="tx1"/>
                          </a:solidFill>
                          <a:effectLst/>
                          <a:latin typeface="Aptos" panose="020B0004020202020204" pitchFamily="34" charset="0"/>
                          <a:ea typeface="+mn-ea"/>
                          <a:cs typeface="+mn-cs"/>
                        </a:rPr>
                        <a:t>         C</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0" hangingPunct="1">
                        <a:lnSpc>
                          <a:spcPct val="95000"/>
                        </a:lnSpc>
                        <a:spcBef>
                          <a:spcPct val="0"/>
                        </a:spcBef>
                        <a:spcAft>
                          <a:spcPct val="50000"/>
                        </a:spcAft>
                        <a:buClrTx/>
                        <a:buSzTx/>
                        <a:buFontTx/>
                        <a:buNone/>
                        <a:tabLst/>
                        <a:defRPr/>
                      </a:pPr>
                      <a:endParaRPr lang="en-US" sz="850" b="0" strike="noStrike" kern="1200">
                        <a:solidFill>
                          <a:schemeClr val="tx1"/>
                        </a:solidFill>
                        <a:effectLst/>
                        <a:latin typeface="Aptos" panose="020B0004020202020204" pitchFamily="34" charset="0"/>
                        <a:ea typeface="+mn-ea"/>
                        <a:cs typeface="+mn-cs"/>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685858" rtl="0" eaLnBrk="1" fontAlgn="auto" latinLnBrk="0" hangingPunct="1">
                        <a:lnSpc>
                          <a:spcPct val="114999"/>
                        </a:lnSpc>
                        <a:spcBef>
                          <a:spcPts val="0"/>
                        </a:spcBef>
                        <a:spcAft>
                          <a:spcPts val="800"/>
                        </a:spcAft>
                        <a:buClrTx/>
                        <a:buSzTx/>
                        <a:buFontTx/>
                        <a:buNone/>
                        <a:tabLst/>
                        <a:defRPr/>
                      </a:pPr>
                      <a:r>
                        <a:rPr lang="en-US" sz="900" b="0" i="0" u="none" strike="noStrike">
                          <a:solidFill>
                            <a:srgbClr val="000000"/>
                          </a:solidFill>
                          <a:effectLst/>
                          <a:latin typeface="Aptos Narrow" panose="020B0004020202020204" pitchFamily="34" charset="0"/>
                        </a:rPr>
                        <a:t>All 41 non prod servers completed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943924009"/>
                  </a:ext>
                </a:extLst>
              </a:tr>
              <a:tr h="257053">
                <a:tc>
                  <a:txBody>
                    <a:bodyPr/>
                    <a:lstStyle/>
                    <a:p>
                      <a:pPr algn="l" fontAlgn="b">
                        <a:buNone/>
                      </a:pPr>
                      <a:r>
                        <a:rPr lang="en-US" sz="900" b="0" i="0" u="none" strike="noStrike">
                          <a:solidFill>
                            <a:srgbClr val="000000"/>
                          </a:solidFill>
                          <a:effectLst/>
                          <a:latin typeface="Aptos Narrow" panose="020B0004020202020204" pitchFamily="34" charset="0"/>
                        </a:rPr>
                        <a:t>MIM Production servers </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50" b="0" kern="1200">
                          <a:solidFill>
                            <a:schemeClr val="tx1"/>
                          </a:solidFill>
                          <a:effectLst/>
                          <a:latin typeface="Aptos" panose="020B0004020202020204" pitchFamily="34" charset="0"/>
                          <a:ea typeface="+mn-ea"/>
                          <a:cs typeface="+mn-cs"/>
                        </a:rPr>
                        <a:t>C</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endParaRPr lang="en-US" sz="850" b="0" strike="sngStrike" kern="1200">
                        <a:solidFill>
                          <a:schemeClr val="tx1"/>
                        </a:solidFill>
                        <a:effectLst/>
                        <a:latin typeface="Aptos" panose="020B0004020202020204" pitchFamily="34" charset="0"/>
                        <a:ea typeface="+mn-ea"/>
                        <a:cs typeface="+mn-cs"/>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base" latinLnBrk="0" hangingPunct="1">
                        <a:lnSpc>
                          <a:spcPct val="100000"/>
                        </a:lnSpc>
                        <a:spcBef>
                          <a:spcPts val="200"/>
                        </a:spcBef>
                        <a:spcAft>
                          <a:spcPts val="0"/>
                        </a:spcAft>
                        <a:buClrTx/>
                        <a:buSzTx/>
                        <a:buFontTx/>
                        <a:buNone/>
                        <a:tabLst/>
                        <a:defRPr/>
                      </a:pPr>
                      <a:r>
                        <a:rPr lang="en-US" sz="900" b="0" i="0" u="none" strike="noStrike">
                          <a:solidFill>
                            <a:srgbClr val="000000"/>
                          </a:solidFill>
                          <a:effectLst/>
                          <a:latin typeface="Aptos Narrow" panose="020B0004020202020204" pitchFamily="34" charset="0"/>
                        </a:rPr>
                        <a:t>16 Production completed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387139067"/>
                  </a:ext>
                </a:extLst>
              </a:tr>
              <a:tr h="234224">
                <a:tc>
                  <a:txBody>
                    <a:bodyPr/>
                    <a:lstStyle/>
                    <a:p>
                      <a:pPr algn="l" fontAlgn="b">
                        <a:buNone/>
                      </a:pPr>
                      <a:r>
                        <a:rPr lang="en-US" sz="900" b="0" i="0" u="none" strike="noStrike">
                          <a:solidFill>
                            <a:srgbClr val="000000"/>
                          </a:solidFill>
                          <a:effectLst/>
                          <a:latin typeface="Aptos Narrow" panose="020B0004020202020204" pitchFamily="34" charset="0"/>
                        </a:rPr>
                        <a:t>Analyze this – 4</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50" b="0" kern="1200">
                          <a:solidFill>
                            <a:schemeClr val="tx1"/>
                          </a:solidFill>
                          <a:effectLst/>
                          <a:latin typeface="Aptos" panose="020B0004020202020204" pitchFamily="34" charset="0"/>
                          <a:ea typeface="+mn-ea"/>
                          <a:cs typeface="+mn-cs"/>
                        </a:rPr>
                        <a:t>TBD</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endParaRPr lang="en-US" sz="850" strike="noStrike">
                        <a:latin typeface="Aptos" panose="020B00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base" latinLnBrk="0" hangingPunct="1">
                        <a:lnSpc>
                          <a:spcPct val="100000"/>
                        </a:lnSpc>
                        <a:spcBef>
                          <a:spcPts val="200"/>
                        </a:spcBef>
                        <a:spcAft>
                          <a:spcPts val="0"/>
                        </a:spcAft>
                        <a:buClrTx/>
                        <a:buSzTx/>
                        <a:buFontTx/>
                        <a:buNone/>
                        <a:tabLst/>
                        <a:defRPr/>
                      </a:pPr>
                      <a:endParaRPr lang="en-US" sz="850" b="0" i="0">
                        <a:solidFill>
                          <a:srgbClr val="000000"/>
                        </a:solidFill>
                        <a:effectLst/>
                        <a:latin typeface="Aptos" panose="020B0004020202020204" pitchFamily="34" charset="0"/>
                        <a:cs typeface="Times New Roma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775249404"/>
                  </a:ext>
                </a:extLst>
              </a:tr>
              <a:tr h="305268">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50" kern="1200">
                          <a:solidFill>
                            <a:schemeClr val="dk1"/>
                          </a:solidFill>
                          <a:latin typeface="Aptos" panose="020B0004020202020204" pitchFamily="34" charset="0"/>
                          <a:ea typeface="+mn-ea"/>
                          <a:cs typeface="+mn-cs"/>
                        </a:rPr>
                        <a:t>EW</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850">
                          <a:latin typeface="Aptos" panose="020B0004020202020204" pitchFamily="34" charset="0"/>
                        </a:rPr>
                        <a:t>Sep 10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endParaRPr lang="en-US" sz="850" strike="noStrike">
                        <a:latin typeface="Aptos" panose="020B00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rtl="0" eaLnBrk="1" fontAlgn="ctr" latinLnBrk="0" hangingPunct="1">
                        <a:lnSpc>
                          <a:spcPct val="95000"/>
                        </a:lnSpc>
                        <a:spcBef>
                          <a:spcPct val="0"/>
                        </a:spcBef>
                        <a:spcAft>
                          <a:spcPct val="50000"/>
                        </a:spcAft>
                        <a:buClrTx/>
                        <a:buSzTx/>
                        <a:buFontTx/>
                        <a:buNone/>
                      </a:pPr>
                      <a:r>
                        <a:rPr lang="en-US" sz="850" b="0" strike="noStrike" kern="1200">
                          <a:solidFill>
                            <a:schemeClr val="tx1"/>
                          </a:solidFill>
                          <a:effectLst/>
                          <a:latin typeface="Aptos" panose="020B0004020202020204" pitchFamily="34" charset="0"/>
                          <a:ea typeface="+mn-ea"/>
                          <a:cs typeface="+mn-cs"/>
                        </a:rPr>
                        <a:t>8 servers were planned</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676961585"/>
                  </a:ext>
                </a:extLst>
              </a:tr>
              <a:tr h="223959">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50" kern="1200">
                          <a:solidFill>
                            <a:schemeClr val="dk1"/>
                          </a:solidFill>
                          <a:latin typeface="Aptos" panose="020B0004020202020204" pitchFamily="34" charset="0"/>
                          <a:ea typeface="+mn-ea"/>
                          <a:cs typeface="+mn-cs"/>
                        </a:rPr>
                        <a:t>Technical Design</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850">
                          <a:latin typeface="Aptos" panose="020B0004020202020204" pitchFamily="34" charset="0"/>
                        </a:rPr>
                        <a:t>NA</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endParaRPr lang="en-US" sz="850" strike="noStrike">
                        <a:latin typeface="Aptos" panose="020B00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rtl="0" eaLnBrk="1" fontAlgn="ctr" latinLnBrk="0" hangingPunct="1">
                        <a:lnSpc>
                          <a:spcPct val="95000"/>
                        </a:lnSpc>
                        <a:spcBef>
                          <a:spcPct val="0"/>
                        </a:spcBef>
                        <a:spcAft>
                          <a:spcPct val="50000"/>
                        </a:spcAft>
                        <a:buClrTx/>
                        <a:buSzTx/>
                        <a:buFontTx/>
                        <a:buNone/>
                      </a:pPr>
                      <a:endParaRPr lang="en-US" sz="850" b="0" kern="1200">
                        <a:solidFill>
                          <a:schemeClr val="tx1"/>
                        </a:solidFill>
                        <a:effectLst/>
                        <a:latin typeface="Aptos" panose="020B0004020202020204" pitchFamily="34" charset="0"/>
                        <a:ea typeface="+mn-ea"/>
                        <a:cs typeface="+mn-cs"/>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617819655"/>
                  </a:ext>
                </a:extLst>
              </a:tr>
              <a:tr h="385224">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900" b="0" i="0" u="none" strike="noStrike">
                          <a:solidFill>
                            <a:srgbClr val="000000"/>
                          </a:solidFill>
                          <a:effectLst/>
                          <a:latin typeface="Aptos Narrow" panose="020B0004020202020204" pitchFamily="34" charset="0"/>
                        </a:rPr>
                        <a:t>1 S&amp;I and 1 Help Desk</a:t>
                      </a:r>
                      <a:endParaRPr lang="en-US" sz="850" kern="1200">
                        <a:solidFill>
                          <a:schemeClr val="dk1"/>
                        </a:solidFill>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50">
                          <a:latin typeface="Aptos" panose="020B0004020202020204" pitchFamily="34" charset="0"/>
                        </a:rPr>
                        <a:t>TBD</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50">
                        <a:latin typeface="Aptos"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endParaRPr lang="en-US" sz="850" kern="1200">
                        <a:solidFill>
                          <a:schemeClr val="dk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62506059"/>
                  </a:ext>
                </a:extLst>
              </a:tr>
              <a:tr h="236175">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50" kern="1200">
                          <a:solidFill>
                            <a:schemeClr val="dk1"/>
                          </a:solidFill>
                          <a:latin typeface="Aptos" panose="020B0004020202020204" pitchFamily="34" charset="0"/>
                          <a:ea typeface="+mn-ea"/>
                          <a:cs typeface="+mn-cs"/>
                        </a:rPr>
                        <a:t>Non prod servers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50">
                          <a:latin typeface="Aptos" panose="020B0004020202020204" pitchFamily="34" charset="0"/>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50">
                        <a:latin typeface="Aptos"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endParaRPr lang="en-US" sz="850" kern="1200">
                        <a:solidFill>
                          <a:schemeClr val="dk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20125674"/>
                  </a:ext>
                </a:extLst>
              </a:tr>
              <a:tr h="236175">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50" kern="1200">
                          <a:solidFill>
                            <a:schemeClr val="dk1"/>
                          </a:solidFill>
                          <a:latin typeface="Aptos" panose="020B0004020202020204" pitchFamily="34" charset="0"/>
                          <a:ea typeface="+mn-ea"/>
                          <a:cs typeface="+mn-cs"/>
                        </a:rPr>
                        <a:t>Dev Ops server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50">
                          <a:latin typeface="Aptos" panose="020B0004020202020204" pitchFamily="34" charset="0"/>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50">
                        <a:latin typeface="Aptos"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endParaRPr lang="en-US" sz="850" kern="1200">
                        <a:solidFill>
                          <a:schemeClr val="dk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53880179"/>
                  </a:ext>
                </a:extLst>
              </a:tr>
            </a:tbl>
          </a:graphicData>
        </a:graphic>
      </p:graphicFrame>
      <p:graphicFrame>
        <p:nvGraphicFramePr>
          <p:cNvPr id="29" name="Table 28">
            <a:extLst>
              <a:ext uri="{FF2B5EF4-FFF2-40B4-BE49-F238E27FC236}">
                <a16:creationId xmlns:a16="http://schemas.microsoft.com/office/drawing/2014/main" id="{DC8546AD-1AD7-08E6-E348-E6830249CF0C}"/>
              </a:ext>
            </a:extLst>
          </p:cNvPr>
          <p:cNvGraphicFramePr>
            <a:graphicFrameLocks noGrp="1"/>
          </p:cNvGraphicFramePr>
          <p:nvPr>
            <p:extLst>
              <p:ext uri="{D42A27DB-BD31-4B8C-83A1-F6EECF244321}">
                <p14:modId xmlns:p14="http://schemas.microsoft.com/office/powerpoint/2010/main" val="797605033"/>
              </p:ext>
            </p:extLst>
          </p:nvPr>
        </p:nvGraphicFramePr>
        <p:xfrm>
          <a:off x="4864608" y="4913937"/>
          <a:ext cx="7136859" cy="627071"/>
        </p:xfrm>
        <a:graphic>
          <a:graphicData uri="http://schemas.openxmlformats.org/drawingml/2006/table">
            <a:tbl>
              <a:tblPr>
                <a:tableStyleId>{5C22544A-7EE6-4342-B048-85BDC9FD1C3A}</a:tableStyleId>
              </a:tblPr>
              <a:tblGrid>
                <a:gridCol w="2571172">
                  <a:extLst>
                    <a:ext uri="{9D8B030D-6E8A-4147-A177-3AD203B41FA5}">
                      <a16:colId xmlns:a16="http://schemas.microsoft.com/office/drawing/2014/main" val="2456552316"/>
                    </a:ext>
                  </a:extLst>
                </a:gridCol>
                <a:gridCol w="512466">
                  <a:extLst>
                    <a:ext uri="{9D8B030D-6E8A-4147-A177-3AD203B41FA5}">
                      <a16:colId xmlns:a16="http://schemas.microsoft.com/office/drawing/2014/main" val="1100051595"/>
                    </a:ext>
                  </a:extLst>
                </a:gridCol>
                <a:gridCol w="532563">
                  <a:extLst>
                    <a:ext uri="{9D8B030D-6E8A-4147-A177-3AD203B41FA5}">
                      <a16:colId xmlns:a16="http://schemas.microsoft.com/office/drawing/2014/main" val="2042261034"/>
                    </a:ext>
                  </a:extLst>
                </a:gridCol>
                <a:gridCol w="3520658">
                  <a:extLst>
                    <a:ext uri="{9D8B030D-6E8A-4147-A177-3AD203B41FA5}">
                      <a16:colId xmlns:a16="http://schemas.microsoft.com/office/drawing/2014/main" val="2815874248"/>
                    </a:ext>
                  </a:extLst>
                </a:gridCol>
              </a:tblGrid>
              <a:tr h="258561">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Critical Risks/Issues</a:t>
                      </a:r>
                      <a:endParaRPr kumimoji="0" lang="en-US" sz="1050" b="1" i="0" u="none" strike="noStrike" kern="1200" cap="none" normalizeH="0" baseline="0">
                        <a:ln>
                          <a:noFill/>
                        </a:ln>
                        <a:solidFill>
                          <a:schemeClr val="bg1"/>
                        </a:solidFill>
                        <a:effectLst/>
                        <a:latin typeface="Arial" charset="0"/>
                        <a:ea typeface="+mn-ea"/>
                        <a:cs typeface="+mn-cs"/>
                      </a:endParaRP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Status</a:t>
                      </a:r>
                    </a:p>
                  </a:txBody>
                  <a:tcPr marL="9525" marR="9525" marT="9525" marB="0" anchor="ct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Target Date</a:t>
                      </a:r>
                    </a:p>
                  </a:txBody>
                  <a:tcPr marL="9525" marR="9525" marT="9525" marB="0" anchor="ctr">
                    <a:lnL w="12700">
                      <a:solidFill>
                        <a:schemeClr val="tx1"/>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Resolution / Mitigation</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313508">
                <a:tc>
                  <a:txBody>
                    <a:bodyPr/>
                    <a:lstStyle/>
                    <a:p>
                      <a:pPr fontAlgn="t">
                        <a:lnSpc>
                          <a:spcPts val="1500"/>
                        </a:lnSpc>
                        <a:buNone/>
                      </a:pPr>
                      <a:endParaRPr lang="en-US" sz="850" kern="100">
                        <a:solidFill>
                          <a:prstClr val="black"/>
                        </a:solidFill>
                        <a:latin typeface="Aptos" panose="020B0004020202020204" pitchFamily="34" charset="0"/>
                        <a:ea typeface="+mn-ea"/>
                        <a:cs typeface="Times New Roma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850" b="0" kern="1200">
                        <a:solidFill>
                          <a:schemeClr val="tx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850" b="0" strike="noStrike" kern="1200">
                        <a:solidFill>
                          <a:schemeClr val="tx1"/>
                        </a:solidFill>
                        <a:effectLst/>
                        <a:latin typeface="Aptos" panose="020B0004020202020204" pitchFamily="34" charset="0"/>
                        <a:ea typeface="+mn-ea"/>
                        <a:cs typeface="+mn-cs"/>
                      </a:endParaRPr>
                    </a:p>
                  </a:txBody>
                  <a:tcPr marL="9525" marR="9525" marT="9525" marB="0" anchor="ctr">
                    <a:lnL w="12700">
                      <a:solidFill>
                        <a:schemeClr val="tx1"/>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ts val="200"/>
                        </a:spcBef>
                        <a:spcAft>
                          <a:spcPts val="0"/>
                        </a:spcAft>
                        <a:buClrTx/>
                        <a:buSzTx/>
                        <a:buFont typeface="Arial" panose="020B0604020202020204" pitchFamily="34" charset="0"/>
                        <a:buNone/>
                        <a:tabLst/>
                        <a:defRPr/>
                      </a:pPr>
                      <a:endParaRPr lang="en-US" sz="850" b="0" strike="noStrike" kern="1200">
                        <a:solidFill>
                          <a:schemeClr val="tx1"/>
                        </a:solidFill>
                        <a:effectLst/>
                        <a:latin typeface="Aptos" panose="020B0004020202020204" pitchFamily="34" charset="0"/>
                        <a:ea typeface="+mn-ea"/>
                        <a:cs typeface="+mn-cs"/>
                      </a:endParaRP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7499024"/>
                  </a:ext>
                </a:extLst>
              </a:tr>
            </a:tbl>
          </a:graphicData>
        </a:graphic>
      </p:graphicFrame>
      <p:sp>
        <p:nvSpPr>
          <p:cNvPr id="33" name="Flowchart: Connector 32">
            <a:extLst>
              <a:ext uri="{FF2B5EF4-FFF2-40B4-BE49-F238E27FC236}">
                <a16:creationId xmlns:a16="http://schemas.microsoft.com/office/drawing/2014/main" id="{FB0E3ABA-6F6D-165A-D7D9-7EF8E56BF04D}"/>
              </a:ext>
            </a:extLst>
          </p:cNvPr>
          <p:cNvSpPr/>
          <p:nvPr/>
        </p:nvSpPr>
        <p:spPr>
          <a:xfrm>
            <a:off x="6729886" y="6416791"/>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4" name="Flowchart: Connector 33">
            <a:extLst>
              <a:ext uri="{FF2B5EF4-FFF2-40B4-BE49-F238E27FC236}">
                <a16:creationId xmlns:a16="http://schemas.microsoft.com/office/drawing/2014/main" id="{93C9A56D-33A4-9B1D-3889-40FDB79BD554}"/>
              </a:ext>
            </a:extLst>
          </p:cNvPr>
          <p:cNvSpPr/>
          <p:nvPr/>
        </p:nvSpPr>
        <p:spPr>
          <a:xfrm>
            <a:off x="7797764" y="6417067"/>
            <a:ext cx="163286" cy="164592"/>
          </a:xfrm>
          <a:prstGeom prst="flowChartConnector">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6" name="Flowchart: Connector 35">
            <a:extLst>
              <a:ext uri="{FF2B5EF4-FFF2-40B4-BE49-F238E27FC236}">
                <a16:creationId xmlns:a16="http://schemas.microsoft.com/office/drawing/2014/main" id="{E6ACD552-90F3-05D0-AE39-90E3FD64B9A2}"/>
              </a:ext>
            </a:extLst>
          </p:cNvPr>
          <p:cNvSpPr/>
          <p:nvPr/>
        </p:nvSpPr>
        <p:spPr>
          <a:xfrm>
            <a:off x="8784000" y="6405062"/>
            <a:ext cx="163285" cy="164592"/>
          </a:xfrm>
          <a:prstGeom prst="flowChartConnector">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7" name="Flowchart: Connector 46">
            <a:extLst>
              <a:ext uri="{FF2B5EF4-FFF2-40B4-BE49-F238E27FC236}">
                <a16:creationId xmlns:a16="http://schemas.microsoft.com/office/drawing/2014/main" id="{2D686EDB-5FD6-98FB-991E-62449C756852}"/>
              </a:ext>
            </a:extLst>
          </p:cNvPr>
          <p:cNvSpPr/>
          <p:nvPr/>
        </p:nvSpPr>
        <p:spPr>
          <a:xfrm>
            <a:off x="6078524" y="1403331"/>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 name="TextBox 4">
            <a:extLst>
              <a:ext uri="{FF2B5EF4-FFF2-40B4-BE49-F238E27FC236}">
                <a16:creationId xmlns:a16="http://schemas.microsoft.com/office/drawing/2014/main" id="{D6031EF6-0C9A-C082-FA53-B11B7A253FC8}"/>
              </a:ext>
            </a:extLst>
          </p:cNvPr>
          <p:cNvSpPr txBox="1"/>
          <p:nvPr/>
        </p:nvSpPr>
        <p:spPr>
          <a:xfrm>
            <a:off x="111476" y="1707675"/>
            <a:ext cx="4743293" cy="2399696"/>
          </a:xfrm>
          <a:prstGeom prst="rect">
            <a:avLst/>
          </a:prstGeom>
          <a:noFill/>
        </p:spPr>
        <p:txBody>
          <a:bodyPr wrap="square" lIns="91440" tIns="45720" rIns="91440" bIns="4572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1200" cap="none" spc="0" normalizeH="0" baseline="0" noProof="0">
                <a:ln>
                  <a:noFill/>
                </a:ln>
                <a:solidFill>
                  <a:prstClr val="black"/>
                </a:solidFill>
                <a:effectLst/>
                <a:uLnTx/>
                <a:uFillTx/>
                <a:latin typeface="Aptos" panose="020B0004020202020204" pitchFamily="34" charset="0"/>
              </a:rPr>
              <a:t>Status: </a:t>
            </a:r>
          </a:p>
          <a:p>
            <a:pPr>
              <a:defRPr/>
            </a:pPr>
            <a:r>
              <a:rPr kumimoji="0" lang="en-US" sz="850" b="0" i="0" u="none" strike="noStrike" kern="100" cap="none" spc="0" normalizeH="0" baseline="0" noProof="0">
                <a:ln>
                  <a:noFill/>
                </a:ln>
                <a:solidFill>
                  <a:prstClr val="black"/>
                </a:solidFill>
                <a:effectLst/>
                <a:uLnTx/>
                <a:uFillTx/>
                <a:latin typeface="Aptos" panose="020B0004020202020204" pitchFamily="34" charset="0"/>
                <a:cs typeface="Times New Roman"/>
              </a:rPr>
              <a:t>Overall Status</a:t>
            </a:r>
            <a:r>
              <a:rPr lang="en-US" sz="850" kern="100">
                <a:solidFill>
                  <a:prstClr val="black"/>
                </a:solidFill>
                <a:latin typeface="Aptos" panose="020B0004020202020204" pitchFamily="34" charset="0"/>
                <a:cs typeface="Times New Roman"/>
              </a:rPr>
              <a:t> Green</a:t>
            </a:r>
            <a:endParaRPr lang="en-US" sz="850" b="0" i="0" u="none" strike="noStrike" kern="100" cap="none" spc="0" normalizeH="0" baseline="0" noProof="0">
              <a:ln>
                <a:noFill/>
              </a:ln>
              <a:solidFill>
                <a:prstClr val="black"/>
              </a:solidFill>
              <a:effectLst/>
              <a:highlight>
                <a:srgbClr val="92D050"/>
              </a:highlight>
              <a:uLnTx/>
              <a:uFillTx/>
              <a:latin typeface="Aptos" panose="020B0004020202020204" pitchFamily="34" charset="0"/>
              <a:cs typeface="Times New Roman"/>
            </a:endParaRPr>
          </a:p>
          <a:p>
            <a:pPr marL="171450" marR="0" lvl="0" indent="-171450" algn="l" defTabSz="914400" rtl="0" eaLnBrk="1" fontAlgn="auto" latinLnBrk="0" hangingPunct="1">
              <a:lnSpc>
                <a:spcPct val="115000"/>
              </a:lnSpc>
              <a:spcBef>
                <a:spcPts val="200"/>
              </a:spcBef>
              <a:spcAft>
                <a:spcPts val="0"/>
              </a:spcAft>
              <a:buClrTx/>
              <a:buSzPts val="1000"/>
              <a:buFont typeface="Arial" panose="020B0604020202020204" pitchFamily="34" charset="0"/>
              <a:buChar char="•"/>
              <a:tabLst>
                <a:tab pos="457200" algn="l"/>
              </a:tabLst>
              <a:defRPr/>
            </a:pPr>
            <a:r>
              <a:rPr kumimoji="0" lang="en-US" sz="850" b="1" i="0" u="none" strike="noStrike" kern="100" cap="none" spc="0" normalizeH="0" baseline="0" noProof="0">
                <a:ln>
                  <a:noFill/>
                </a:ln>
                <a:solidFill>
                  <a:prstClr val="black"/>
                </a:solidFill>
                <a:effectLst/>
                <a:uLnTx/>
                <a:uFillTx/>
                <a:latin typeface="Aptos" panose="020B0004020202020204" pitchFamily="34" charset="0"/>
                <a:ea typeface="Aptos" panose="020B0004020202020204" pitchFamily="34" charset="0"/>
                <a:cs typeface="Times New Roman"/>
              </a:rPr>
              <a:t>Business requirements: </a:t>
            </a:r>
            <a:r>
              <a:rPr kumimoji="0" lang="en-US" sz="850" i="0" u="none" strike="noStrike" kern="100" cap="none" spc="0" normalizeH="0" baseline="0" noProof="0">
                <a:ln>
                  <a:noFill/>
                </a:ln>
                <a:solidFill>
                  <a:prstClr val="black"/>
                </a:solidFill>
                <a:effectLst/>
                <a:uLnTx/>
                <a:uFillTx/>
                <a:latin typeface="Aptos" panose="020B0004020202020204" pitchFamily="34" charset="0"/>
                <a:ea typeface="Aptos" panose="020B0004020202020204" pitchFamily="34" charset="0"/>
                <a:cs typeface="Times New Roman"/>
              </a:rPr>
              <a:t>Approved</a:t>
            </a:r>
          </a:p>
          <a:p>
            <a:pPr marL="0" marR="0" lvl="0" indent="0" algn="l" defTabSz="914400" rtl="0" eaLnBrk="1" fontAlgn="auto" latinLnBrk="0" hangingPunct="1">
              <a:lnSpc>
                <a:spcPct val="114999"/>
              </a:lnSpc>
              <a:spcBef>
                <a:spcPts val="200"/>
              </a:spcBef>
              <a:spcAft>
                <a:spcPts val="0"/>
              </a:spcAft>
              <a:buClrTx/>
              <a:buSzPts val="1000"/>
              <a:buFontTx/>
              <a:buNone/>
              <a:tabLst>
                <a:tab pos="457200" algn="l"/>
              </a:tabLst>
              <a:defRPr/>
            </a:pPr>
            <a:r>
              <a:rPr kumimoji="0" lang="en-US" sz="850" b="1" i="0" u="none" strike="noStrike" kern="100" cap="none" spc="0" normalizeH="0" baseline="0" noProof="0">
                <a:ln>
                  <a:noFill/>
                </a:ln>
                <a:solidFill>
                  <a:prstClr val="black"/>
                </a:solidFill>
                <a:effectLst/>
                <a:uLnTx/>
                <a:uFillTx/>
                <a:latin typeface="Aptos" panose="020B0004020202020204" pitchFamily="34" charset="0"/>
                <a:cs typeface="Times New Roman"/>
              </a:rPr>
              <a:t>Next Steps:</a:t>
            </a:r>
          </a:p>
          <a:p>
            <a:pPr marL="171450" indent="-171450">
              <a:lnSpc>
                <a:spcPct val="114999"/>
              </a:lnSpc>
              <a:spcBef>
                <a:spcPts val="200"/>
              </a:spcBef>
              <a:buSzPts val="1000"/>
              <a:buFont typeface="Arial" panose="020B0604020202020204" pitchFamily="34" charset="0"/>
              <a:buChar char="•"/>
              <a:tabLst>
                <a:tab pos="457200" algn="l"/>
              </a:tabLst>
              <a:defRPr/>
            </a:pPr>
            <a:r>
              <a:rPr lang="en-US" sz="850" kern="100">
                <a:solidFill>
                  <a:prstClr val="black"/>
                </a:solidFill>
                <a:latin typeface="Aptos" panose="020B0004020202020204" pitchFamily="34" charset="0"/>
                <a:cs typeface="Times New Roman"/>
              </a:rPr>
              <a:t>All lower environments were upgraded, and Production servers to start after Python and DCM migration as few servers were being decommissioned and getting upgraded.</a:t>
            </a:r>
          </a:p>
          <a:p>
            <a:pPr marL="171450" indent="-171450">
              <a:lnSpc>
                <a:spcPct val="114999"/>
              </a:lnSpc>
              <a:spcBef>
                <a:spcPts val="200"/>
              </a:spcBef>
              <a:buSzPts val="1000"/>
              <a:buFont typeface="Arial" panose="020B0604020202020204" pitchFamily="34" charset="0"/>
              <a:buChar char="•"/>
              <a:tabLst>
                <a:tab pos="457200" algn="l"/>
              </a:tabLst>
              <a:defRPr/>
            </a:pPr>
            <a:r>
              <a:rPr lang="en-US" sz="850" kern="100">
                <a:solidFill>
                  <a:prstClr val="black"/>
                </a:solidFill>
                <a:latin typeface="Aptos" panose="020B0004020202020204" pitchFamily="34" charset="0"/>
                <a:cs typeface="Times New Roman"/>
              </a:rPr>
              <a:t>Schedule provided for the Prod servers and ETA to complete all the servers is Sep 30th before open enrollment </a:t>
            </a:r>
          </a:p>
          <a:p>
            <a:pPr marL="171450" marR="0" lvl="1" indent="-171450" algn="l" defTabSz="914400" rtl="0" eaLnBrk="1" fontAlgn="auto" latinLnBrk="0" hangingPunct="1">
              <a:lnSpc>
                <a:spcPct val="114999"/>
              </a:lnSpc>
              <a:spcBef>
                <a:spcPts val="200"/>
              </a:spcBef>
              <a:spcAft>
                <a:spcPts val="0"/>
              </a:spcAft>
              <a:buClrTx/>
              <a:buSzPts val="1000"/>
              <a:buFont typeface="Arial" panose="020B0604020202020204" pitchFamily="34" charset="0"/>
              <a:buChar char="•"/>
              <a:tabLst>
                <a:tab pos="457200" algn="l"/>
              </a:tabLst>
              <a:defRPr/>
            </a:pPr>
            <a:r>
              <a:rPr kumimoji="0" lang="en-US" sz="850" b="0" i="0" u="none" strike="noStrike" kern="100" cap="none" spc="0" normalizeH="0" baseline="0" noProof="0">
                <a:ln>
                  <a:noFill/>
                </a:ln>
                <a:solidFill>
                  <a:prstClr val="black"/>
                </a:solidFill>
                <a:effectLst/>
                <a:uLnTx/>
                <a:uFillTx/>
                <a:latin typeface="Aptos" panose="020B0004020202020204" pitchFamily="34" charset="0"/>
                <a:cs typeface="Times New Roman"/>
              </a:rPr>
              <a:t>Target is to complete all the upgrades by end of Sep before the open </a:t>
            </a:r>
            <a:r>
              <a:rPr lang="en-US" sz="850" kern="100">
                <a:solidFill>
                  <a:prstClr val="black"/>
                </a:solidFill>
                <a:latin typeface="Aptos" panose="020B0004020202020204" pitchFamily="34" charset="0"/>
                <a:cs typeface="Times New Roman"/>
              </a:rPr>
              <a:t>enrollment</a:t>
            </a:r>
            <a:r>
              <a:rPr kumimoji="0" lang="en-US" sz="850" b="0" i="0" u="none" strike="noStrike" kern="100" cap="none" spc="0" normalizeH="0" baseline="0" noProof="0">
                <a:ln>
                  <a:noFill/>
                </a:ln>
                <a:solidFill>
                  <a:prstClr val="black"/>
                </a:solidFill>
                <a:effectLst/>
                <a:uLnTx/>
                <a:uFillTx/>
                <a:latin typeface="Aptos" panose="020B0004020202020204" pitchFamily="34" charset="0"/>
                <a:cs typeface="Times New Roman"/>
              </a:rPr>
              <a:t> starts.</a:t>
            </a:r>
          </a:p>
          <a:p>
            <a:pPr marL="171450" marR="0" lvl="1" indent="-171450" algn="l" defTabSz="914400" rtl="0" eaLnBrk="1" fontAlgn="auto" latinLnBrk="0" hangingPunct="1">
              <a:lnSpc>
                <a:spcPct val="114999"/>
              </a:lnSpc>
              <a:spcBef>
                <a:spcPts val="200"/>
              </a:spcBef>
              <a:spcAft>
                <a:spcPts val="0"/>
              </a:spcAft>
              <a:buClrTx/>
              <a:buSzPts val="1000"/>
              <a:buFont typeface="Arial" panose="020B0604020202020204" pitchFamily="34" charset="0"/>
              <a:buChar char="•"/>
              <a:tabLst>
                <a:tab pos="457200" algn="l"/>
              </a:tabLst>
              <a:defRPr/>
            </a:pPr>
            <a:r>
              <a:rPr lang="en-US" sz="850" kern="100">
                <a:solidFill>
                  <a:prstClr val="black"/>
                </a:solidFill>
                <a:latin typeface="Aptos" panose="020B0004020202020204" pitchFamily="34" charset="0"/>
                <a:cs typeface="Times New Roman"/>
              </a:rPr>
              <a:t>Total 26 servers to be upgraded.</a:t>
            </a:r>
          </a:p>
          <a:p>
            <a:pPr marL="171450" marR="0" lvl="1" indent="-171450" algn="l" defTabSz="914400" rtl="0" eaLnBrk="1" fontAlgn="auto" latinLnBrk="0" hangingPunct="1">
              <a:lnSpc>
                <a:spcPct val="114999"/>
              </a:lnSpc>
              <a:spcBef>
                <a:spcPts val="200"/>
              </a:spcBef>
              <a:spcAft>
                <a:spcPts val="0"/>
              </a:spcAft>
              <a:buClrTx/>
              <a:buSzPts val="1000"/>
              <a:buFont typeface="Arial" panose="020B0604020202020204" pitchFamily="34" charset="0"/>
              <a:buChar char="•"/>
              <a:tabLst>
                <a:tab pos="457200" algn="l"/>
              </a:tabLst>
              <a:defRPr/>
            </a:pPr>
            <a:r>
              <a:rPr lang="en-US" sz="850" kern="100">
                <a:solidFill>
                  <a:prstClr val="black"/>
                </a:solidFill>
                <a:latin typeface="Aptos" panose="020B0004020202020204" pitchFamily="34" charset="0"/>
                <a:cs typeface="Times New Roman"/>
              </a:rPr>
              <a:t>Production servers upgrade schedule to  finalize.</a:t>
            </a:r>
          </a:p>
          <a:p>
            <a:pPr marL="171450" marR="0" lvl="1" indent="-171450" algn="l" defTabSz="914400" rtl="0" eaLnBrk="1" fontAlgn="auto" latinLnBrk="0" hangingPunct="1">
              <a:lnSpc>
                <a:spcPct val="114999"/>
              </a:lnSpc>
              <a:spcBef>
                <a:spcPts val="200"/>
              </a:spcBef>
              <a:spcAft>
                <a:spcPts val="0"/>
              </a:spcAft>
              <a:buClrTx/>
              <a:buSzPts val="1000"/>
              <a:buFont typeface="Arial" panose="020B0604020202020204" pitchFamily="34" charset="0"/>
              <a:buChar char="•"/>
              <a:tabLst>
                <a:tab pos="457200" algn="l"/>
              </a:tabLst>
              <a:defRPr/>
            </a:pPr>
            <a:r>
              <a:rPr lang="en-US" sz="850" b="0" i="0" u="none" strike="noStrike" kern="100" cap="none" spc="0" normalizeH="0" baseline="0" noProof="0">
                <a:ln>
                  <a:noFill/>
                </a:ln>
                <a:solidFill>
                  <a:prstClr val="black"/>
                </a:solidFill>
                <a:effectLst/>
                <a:uLnTx/>
                <a:uFillTx/>
                <a:latin typeface="Aptos" panose="020B0004020202020204" pitchFamily="34" charset="0"/>
                <a:cs typeface="Times New Roman"/>
              </a:rPr>
              <a:t>Meeting with teams to finalize the schedule on upgrade</a:t>
            </a:r>
          </a:p>
          <a:p>
            <a:pPr marL="171450" marR="0" lvl="1" indent="-171450" algn="l" defTabSz="914400" rtl="0" eaLnBrk="1" fontAlgn="auto" latinLnBrk="0" hangingPunct="1">
              <a:lnSpc>
                <a:spcPct val="114999"/>
              </a:lnSpc>
              <a:spcBef>
                <a:spcPts val="200"/>
              </a:spcBef>
              <a:spcAft>
                <a:spcPts val="0"/>
              </a:spcAft>
              <a:buClrTx/>
              <a:buSzPts val="1000"/>
              <a:buFont typeface="Arial" panose="020B0604020202020204" pitchFamily="34" charset="0"/>
              <a:buChar char="•"/>
              <a:tabLst>
                <a:tab pos="457200" algn="l"/>
              </a:tabLst>
              <a:defRPr/>
            </a:pPr>
            <a:r>
              <a:rPr lang="en-US" sz="850" kern="100">
                <a:solidFill>
                  <a:prstClr val="black"/>
                </a:solidFill>
                <a:latin typeface="Aptos" panose="020B0004020202020204" pitchFamily="34" charset="0"/>
                <a:cs typeface="Times New Roman"/>
              </a:rPr>
              <a:t>MIM team has provided schedule to upgrade target to complete by end of Aug</a:t>
            </a:r>
            <a:endParaRPr lang="en-US" sz="850" b="0" i="0" u="none" strike="noStrike" kern="100" cap="none" spc="0" normalizeH="0" baseline="0" noProof="0">
              <a:ln>
                <a:noFill/>
              </a:ln>
              <a:solidFill>
                <a:prstClr val="black"/>
              </a:solidFill>
              <a:effectLst/>
              <a:uLnTx/>
              <a:uFillTx/>
              <a:latin typeface="Aptos" panose="020B0004020202020204" pitchFamily="34" charset="0"/>
              <a:cs typeface="Times New Roman"/>
            </a:endParaRPr>
          </a:p>
          <a:p>
            <a:pPr marL="0" marR="0" lvl="0" indent="0" algn="l" defTabSz="914400" rtl="0" eaLnBrk="1" fontAlgn="auto" latinLnBrk="0" hangingPunct="1">
              <a:lnSpc>
                <a:spcPct val="114999"/>
              </a:lnSpc>
              <a:spcBef>
                <a:spcPts val="200"/>
              </a:spcBef>
              <a:spcAft>
                <a:spcPts val="0"/>
              </a:spcAft>
              <a:buClrTx/>
              <a:buSzPts val="1000"/>
              <a:buFontTx/>
              <a:buNone/>
              <a:tabLst>
                <a:tab pos="457200" algn="l"/>
              </a:tabLst>
              <a:defRPr/>
            </a:pPr>
            <a:endParaRPr kumimoji="0" lang="en-US" sz="800" b="1" i="0" u="sng" strike="noStrike" kern="100" cap="none" spc="0" normalizeH="0" baseline="0" noProof="0">
              <a:ln>
                <a:noFill/>
              </a:ln>
              <a:solidFill>
                <a:prstClr val="black"/>
              </a:solidFill>
              <a:effectLst/>
              <a:uLnTx/>
              <a:uFillTx/>
              <a:latin typeface="Aptos" panose="02110004020202020204"/>
              <a:ea typeface="Aptos" panose="020B0004020202020204" pitchFamily="34" charset="0"/>
              <a:cs typeface="Times New Roman"/>
            </a:endParaRPr>
          </a:p>
        </p:txBody>
      </p:sp>
      <p:sp>
        <p:nvSpPr>
          <p:cNvPr id="3" name="TextBox 2">
            <a:extLst>
              <a:ext uri="{FF2B5EF4-FFF2-40B4-BE49-F238E27FC236}">
                <a16:creationId xmlns:a16="http://schemas.microsoft.com/office/drawing/2014/main" id="{E04FFBF7-313B-B510-5AC5-0BA618019219}"/>
              </a:ext>
            </a:extLst>
          </p:cNvPr>
          <p:cNvSpPr txBox="1"/>
          <p:nvPr/>
        </p:nvSpPr>
        <p:spPr>
          <a:xfrm>
            <a:off x="9515820" y="104132"/>
            <a:ext cx="2676180" cy="517320"/>
          </a:xfrm>
          <a:prstGeom prst="rect">
            <a:avLst/>
          </a:prstGeom>
          <a:noFill/>
        </p:spPr>
        <p:txBody>
          <a:bodyPr wrap="none" lIns="0" tIns="0" rIns="0" bIns="0" rtlCol="0" anchor="t">
            <a:noAutofit/>
          </a:bodyPr>
          <a:lstStyle/>
          <a:p>
            <a:pPr>
              <a:lnSpc>
                <a:spcPct val="112000"/>
              </a:lnSpc>
              <a:defRPr/>
            </a:pPr>
            <a:r>
              <a:rPr lang="en-US" sz="1200">
                <a:latin typeface="Aptos"/>
              </a:rPr>
              <a:t>Project Manager :  Chalam Buddha</a:t>
            </a:r>
            <a:endParaRPr lang="en-US">
              <a:latin typeface="Aptos"/>
            </a:endParaRPr>
          </a:p>
        </p:txBody>
      </p:sp>
      <p:sp>
        <p:nvSpPr>
          <p:cNvPr id="6" name="Flowchart: Connector 5">
            <a:extLst>
              <a:ext uri="{FF2B5EF4-FFF2-40B4-BE49-F238E27FC236}">
                <a16:creationId xmlns:a16="http://schemas.microsoft.com/office/drawing/2014/main" id="{E63A196E-440A-E378-CE03-C74AE2847C55}"/>
              </a:ext>
            </a:extLst>
          </p:cNvPr>
          <p:cNvSpPr/>
          <p:nvPr/>
        </p:nvSpPr>
        <p:spPr>
          <a:xfrm>
            <a:off x="4250024" y="1406342"/>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 name="Flowchart: Connector 9">
            <a:extLst>
              <a:ext uri="{FF2B5EF4-FFF2-40B4-BE49-F238E27FC236}">
                <a16:creationId xmlns:a16="http://schemas.microsoft.com/office/drawing/2014/main" id="{6CBEE329-93CD-7CE2-4A7B-0D5E868A91FB}"/>
              </a:ext>
            </a:extLst>
          </p:cNvPr>
          <p:cNvSpPr/>
          <p:nvPr/>
        </p:nvSpPr>
        <p:spPr>
          <a:xfrm>
            <a:off x="3335774" y="1430190"/>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 name="Flowchart: Connector 11">
            <a:extLst>
              <a:ext uri="{FF2B5EF4-FFF2-40B4-BE49-F238E27FC236}">
                <a16:creationId xmlns:a16="http://schemas.microsoft.com/office/drawing/2014/main" id="{5D4DD2F3-9488-F6ED-E662-B116C3D365DB}"/>
              </a:ext>
            </a:extLst>
          </p:cNvPr>
          <p:cNvSpPr/>
          <p:nvPr/>
        </p:nvSpPr>
        <p:spPr>
          <a:xfrm>
            <a:off x="5226813" y="1413726"/>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aphicFrame>
        <p:nvGraphicFramePr>
          <p:cNvPr id="7" name="Table 6">
            <a:extLst>
              <a:ext uri="{FF2B5EF4-FFF2-40B4-BE49-F238E27FC236}">
                <a16:creationId xmlns:a16="http://schemas.microsoft.com/office/drawing/2014/main" id="{C5BFABD9-5EAF-1E7A-1B65-321E55E04C14}"/>
              </a:ext>
            </a:extLst>
          </p:cNvPr>
          <p:cNvGraphicFramePr>
            <a:graphicFrameLocks noGrp="1"/>
          </p:cNvGraphicFramePr>
          <p:nvPr>
            <p:extLst>
              <p:ext uri="{D42A27DB-BD31-4B8C-83A1-F6EECF244321}">
                <p14:modId xmlns:p14="http://schemas.microsoft.com/office/powerpoint/2010/main" val="1800236571"/>
              </p:ext>
            </p:extLst>
          </p:nvPr>
        </p:nvGraphicFramePr>
        <p:xfrm>
          <a:off x="231953" y="4217977"/>
          <a:ext cx="4318508" cy="1226820"/>
        </p:xfrm>
        <a:graphic>
          <a:graphicData uri="http://schemas.openxmlformats.org/drawingml/2006/table">
            <a:tbl>
              <a:tblPr/>
              <a:tblGrid>
                <a:gridCol w="1904741">
                  <a:extLst>
                    <a:ext uri="{9D8B030D-6E8A-4147-A177-3AD203B41FA5}">
                      <a16:colId xmlns:a16="http://schemas.microsoft.com/office/drawing/2014/main" val="3498648671"/>
                    </a:ext>
                  </a:extLst>
                </a:gridCol>
                <a:gridCol w="2413767">
                  <a:extLst>
                    <a:ext uri="{9D8B030D-6E8A-4147-A177-3AD203B41FA5}">
                      <a16:colId xmlns:a16="http://schemas.microsoft.com/office/drawing/2014/main" val="32519702"/>
                    </a:ext>
                  </a:extLst>
                </a:gridCol>
              </a:tblGrid>
              <a:tr h="154178">
                <a:tc>
                  <a:txBody>
                    <a:bodyPr/>
                    <a:lstStyle/>
                    <a:p>
                      <a:pPr algn="l" fontAlgn="b">
                        <a:buNone/>
                      </a:pPr>
                      <a:r>
                        <a:rPr lang="en-US" sz="1000" b="0" i="0" u="none" strike="noStrike">
                          <a:solidFill>
                            <a:srgbClr val="000000"/>
                          </a:solidFill>
                          <a:effectLst/>
                          <a:latin typeface="Aptos Narrow" panose="020B0004020202020204" pitchFamily="34" charset="0"/>
                        </a:rPr>
                        <a:t>Total servers to be upgraded</a:t>
                      </a:r>
                    </a:p>
                  </a:txBody>
                  <a:tcPr marL="6350" marR="6350" marT="635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Total 71 Server need upgrade</a:t>
                      </a:r>
                    </a:p>
                  </a:txBody>
                  <a:tcPr marL="6350" marR="6350" marT="635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48594469"/>
                  </a:ext>
                </a:extLst>
              </a:tr>
              <a:tr h="154178">
                <a:tc>
                  <a:txBody>
                    <a:bodyPr/>
                    <a:lstStyle/>
                    <a:p>
                      <a:pPr algn="l" fontAlgn="b">
                        <a:buNone/>
                      </a:pPr>
                      <a:r>
                        <a:rPr lang="en-US" sz="1000" b="0" i="0" u="none" strike="noStrike">
                          <a:solidFill>
                            <a:srgbClr val="000000"/>
                          </a:solidFill>
                          <a:effectLst/>
                          <a:latin typeface="Aptos Narrow" panose="020B0004020202020204" pitchFamily="34" charset="0"/>
                        </a:rPr>
                        <a:t>Non Prod servers</a:t>
                      </a:r>
                    </a:p>
                  </a:txBody>
                  <a:tcPr marL="6350" marR="6350" marT="635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All 41 non prod servers completed</a:t>
                      </a:r>
                    </a:p>
                  </a:txBody>
                  <a:tcPr marL="6350" marR="6350" marT="635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49575835"/>
                  </a:ext>
                </a:extLst>
              </a:tr>
              <a:tr h="154178">
                <a:tc>
                  <a:txBody>
                    <a:bodyPr/>
                    <a:lstStyle/>
                    <a:p>
                      <a:pPr algn="l" fontAlgn="b">
                        <a:buNone/>
                      </a:pPr>
                      <a:r>
                        <a:rPr lang="en-US" sz="1000" b="0" i="0" u="none" strike="noStrike">
                          <a:solidFill>
                            <a:srgbClr val="000000"/>
                          </a:solidFill>
                          <a:effectLst/>
                          <a:latin typeface="Aptos Narrow" panose="020B0004020202020204" pitchFamily="34" charset="0"/>
                        </a:rPr>
                        <a:t>MIM Production servers </a:t>
                      </a:r>
                    </a:p>
                  </a:txBody>
                  <a:tcPr marL="6350" marR="6350" marT="635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16 completed</a:t>
                      </a:r>
                    </a:p>
                  </a:txBody>
                  <a:tcPr marL="6350" marR="6350" marT="635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22985822"/>
                  </a:ext>
                </a:extLst>
              </a:tr>
              <a:tr h="154178">
                <a:tc>
                  <a:txBody>
                    <a:bodyPr/>
                    <a:lstStyle/>
                    <a:p>
                      <a:pPr algn="l" fontAlgn="b">
                        <a:buNone/>
                      </a:pPr>
                      <a:r>
                        <a:rPr lang="en-US" sz="1000" b="0" i="0" u="none" strike="noStrike">
                          <a:solidFill>
                            <a:srgbClr val="000000"/>
                          </a:solidFill>
                          <a:effectLst/>
                          <a:latin typeface="Aptos Narrow" panose="020B0004020202020204" pitchFamily="34" charset="0"/>
                        </a:rPr>
                        <a:t>Analyze this – 4</a:t>
                      </a:r>
                    </a:p>
                  </a:txBody>
                  <a:tcPr marL="6350" marR="6350" marT="635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Target to complete in Sep</a:t>
                      </a:r>
                    </a:p>
                  </a:txBody>
                  <a:tcPr marL="6350" marR="6350" marT="635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43076744"/>
                  </a:ext>
                </a:extLst>
              </a:tr>
              <a:tr h="154178">
                <a:tc>
                  <a:txBody>
                    <a:bodyPr/>
                    <a:lstStyle/>
                    <a:p>
                      <a:pPr algn="l" fontAlgn="b">
                        <a:buNone/>
                      </a:pPr>
                      <a:r>
                        <a:rPr lang="en-US" sz="1000" b="0" i="0" u="none" strike="noStrike">
                          <a:solidFill>
                            <a:srgbClr val="000000"/>
                          </a:solidFill>
                          <a:effectLst/>
                          <a:latin typeface="Aptos Narrow" panose="020B0004020202020204" pitchFamily="34" charset="0"/>
                        </a:rPr>
                        <a:t>EW- 8</a:t>
                      </a:r>
                    </a:p>
                  </a:txBody>
                  <a:tcPr marL="6350" marR="6350" marT="635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Target to complete in Sep</a:t>
                      </a:r>
                    </a:p>
                  </a:txBody>
                  <a:tcPr marL="6350" marR="6350" marT="635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44176055"/>
                  </a:ext>
                </a:extLst>
              </a:tr>
              <a:tr h="154178">
                <a:tc>
                  <a:txBody>
                    <a:bodyPr/>
                    <a:lstStyle/>
                    <a:p>
                      <a:pPr algn="l" fontAlgn="b">
                        <a:buNone/>
                      </a:pPr>
                      <a:r>
                        <a:rPr lang="en-US" sz="1000" b="0" i="0" u="none" strike="noStrike">
                          <a:solidFill>
                            <a:srgbClr val="000000"/>
                          </a:solidFill>
                          <a:effectLst/>
                          <a:latin typeface="Aptos Narrow" panose="020B0004020202020204" pitchFamily="34" charset="0"/>
                        </a:rPr>
                        <a:t>1 S&amp;I and 1 Help Desk</a:t>
                      </a:r>
                    </a:p>
                  </a:txBody>
                  <a:tcPr marL="6350" marR="6350" marT="635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TBD</a:t>
                      </a:r>
                    </a:p>
                  </a:txBody>
                  <a:tcPr marL="6350" marR="6350" marT="635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24706433"/>
                  </a:ext>
                </a:extLst>
              </a:tr>
            </a:tbl>
          </a:graphicData>
        </a:graphic>
      </p:graphicFrame>
    </p:spTree>
    <p:extLst>
      <p:ext uri="{BB962C8B-B14F-4D97-AF65-F5344CB8AC3E}">
        <p14:creationId xmlns:p14="http://schemas.microsoft.com/office/powerpoint/2010/main" val="242609129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9FAC32-B2C7-426A-D9D9-9D65385819C7}"/>
            </a:ext>
          </a:extLst>
        </p:cNvPr>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9FE262B5-A834-F588-368F-8755BB5355CD}"/>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8" imgH="408" progId="TCLayout.ActiveDocument.1">
                  <p:embed/>
                </p:oleObj>
              </mc:Choice>
              <mc:Fallback>
                <p:oleObj name="think-cell Slide" r:id="rId4" imgW="408" imgH="408" progId="TCLayout.ActiveDocument.1">
                  <p:embed/>
                  <p:pic>
                    <p:nvPicPr>
                      <p:cNvPr id="9" name="think-cell data - do not delete" hidden="1">
                        <a:extLst>
                          <a:ext uri="{FF2B5EF4-FFF2-40B4-BE49-F238E27FC236}">
                            <a16:creationId xmlns:a16="http://schemas.microsoft.com/office/drawing/2014/main" id="{9FE262B5-A834-F588-368F-8755BB5355CD}"/>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graphicFrame>
        <p:nvGraphicFramePr>
          <p:cNvPr id="32" name="Group 614">
            <a:extLst>
              <a:ext uri="{FF2B5EF4-FFF2-40B4-BE49-F238E27FC236}">
                <a16:creationId xmlns:a16="http://schemas.microsoft.com/office/drawing/2014/main" id="{BCAC624A-5019-20FF-5352-65CD54B94F48}"/>
              </a:ext>
            </a:extLst>
          </p:cNvPr>
          <p:cNvGraphicFramePr>
            <a:graphicFrameLocks noGrp="1"/>
          </p:cNvGraphicFramePr>
          <p:nvPr/>
        </p:nvGraphicFramePr>
        <p:xfrm>
          <a:off x="4980036" y="6305845"/>
          <a:ext cx="7136859" cy="386554"/>
        </p:xfrm>
        <a:graphic>
          <a:graphicData uri="http://schemas.openxmlformats.org/drawingml/2006/table">
            <a:tbl>
              <a:tblPr/>
              <a:tblGrid>
                <a:gridCol w="606425">
                  <a:extLst>
                    <a:ext uri="{9D8B030D-6E8A-4147-A177-3AD203B41FA5}">
                      <a16:colId xmlns:a16="http://schemas.microsoft.com/office/drawing/2014/main" val="20000"/>
                    </a:ext>
                  </a:extLst>
                </a:gridCol>
                <a:gridCol w="307361">
                  <a:extLst>
                    <a:ext uri="{9D8B030D-6E8A-4147-A177-3AD203B41FA5}">
                      <a16:colId xmlns:a16="http://schemas.microsoft.com/office/drawing/2014/main" val="20001"/>
                    </a:ext>
                  </a:extLst>
                </a:gridCol>
                <a:gridCol w="757584">
                  <a:extLst>
                    <a:ext uri="{9D8B030D-6E8A-4147-A177-3AD203B41FA5}">
                      <a16:colId xmlns:a16="http://schemas.microsoft.com/office/drawing/2014/main" val="20002"/>
                    </a:ext>
                  </a:extLst>
                </a:gridCol>
                <a:gridCol w="302812">
                  <a:extLst>
                    <a:ext uri="{9D8B030D-6E8A-4147-A177-3AD203B41FA5}">
                      <a16:colId xmlns:a16="http://schemas.microsoft.com/office/drawing/2014/main" val="20003"/>
                    </a:ext>
                  </a:extLst>
                </a:gridCol>
                <a:gridCol w="665317">
                  <a:extLst>
                    <a:ext uri="{9D8B030D-6E8A-4147-A177-3AD203B41FA5}">
                      <a16:colId xmlns:a16="http://schemas.microsoft.com/office/drawing/2014/main" val="20004"/>
                    </a:ext>
                  </a:extLst>
                </a:gridCol>
                <a:gridCol w="518025">
                  <a:extLst>
                    <a:ext uri="{9D8B030D-6E8A-4147-A177-3AD203B41FA5}">
                      <a16:colId xmlns:a16="http://schemas.microsoft.com/office/drawing/2014/main" val="20005"/>
                    </a:ext>
                  </a:extLst>
                </a:gridCol>
                <a:gridCol w="568469">
                  <a:extLst>
                    <a:ext uri="{9D8B030D-6E8A-4147-A177-3AD203B41FA5}">
                      <a16:colId xmlns:a16="http://schemas.microsoft.com/office/drawing/2014/main" val="20006"/>
                    </a:ext>
                  </a:extLst>
                </a:gridCol>
                <a:gridCol w="368983">
                  <a:extLst>
                    <a:ext uri="{9D8B030D-6E8A-4147-A177-3AD203B41FA5}">
                      <a16:colId xmlns:a16="http://schemas.microsoft.com/office/drawing/2014/main" val="20007"/>
                    </a:ext>
                  </a:extLst>
                </a:gridCol>
                <a:gridCol w="1372005">
                  <a:extLst>
                    <a:ext uri="{9D8B030D-6E8A-4147-A177-3AD203B41FA5}">
                      <a16:colId xmlns:a16="http://schemas.microsoft.com/office/drawing/2014/main" val="20008"/>
                    </a:ext>
                  </a:extLst>
                </a:gridCol>
                <a:gridCol w="378212">
                  <a:extLst>
                    <a:ext uri="{9D8B030D-6E8A-4147-A177-3AD203B41FA5}">
                      <a16:colId xmlns:a16="http://schemas.microsoft.com/office/drawing/2014/main" val="20009"/>
                    </a:ext>
                  </a:extLst>
                </a:gridCol>
                <a:gridCol w="1291666">
                  <a:extLst>
                    <a:ext uri="{9D8B030D-6E8A-4147-A177-3AD203B41FA5}">
                      <a16:colId xmlns:a16="http://schemas.microsoft.com/office/drawing/2014/main" val="20010"/>
                    </a:ext>
                  </a:extLst>
                </a:gridCol>
              </a:tblGrid>
              <a:tr h="386554">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Arial" charset="0"/>
                          <a:cs typeface="Arial" charset="0"/>
                        </a:rPr>
                        <a:t>Status Key</a:t>
                      </a:r>
                      <a:endParaRPr kumimoji="0" lang="en-GB" sz="1600" b="0" i="0" u="none" strike="noStrike" cap="none" normalizeH="0" baseline="0">
                        <a:ln>
                          <a:noFill/>
                        </a:ln>
                        <a:solidFill>
                          <a:srgbClr val="002060"/>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mj-lt"/>
                        </a:rPr>
                        <a:t>C</a:t>
                      </a: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Arial" charset="0"/>
                          <a:cs typeface="Arial" charset="0"/>
                        </a:rPr>
                        <a:t>Completed</a:t>
                      </a:r>
                      <a:endParaRPr kumimoji="0" lang="en-GB" sz="1600" b="0" i="0" u="none" strike="noStrike" cap="none" normalizeH="0" baseline="0">
                        <a:ln>
                          <a:noFill/>
                        </a:ln>
                        <a:solidFill>
                          <a:srgbClr val="002060"/>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On-Schedule</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Major Issues</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Some Issues</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NS</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Not Started</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2" name="Title 1">
            <a:extLst>
              <a:ext uri="{FF2B5EF4-FFF2-40B4-BE49-F238E27FC236}">
                <a16:creationId xmlns:a16="http://schemas.microsoft.com/office/drawing/2014/main" id="{0E4A78B5-B103-8BCE-55D1-052B3A8C7486}"/>
              </a:ext>
            </a:extLst>
          </p:cNvPr>
          <p:cNvSpPr>
            <a:spLocks noGrp="1"/>
          </p:cNvSpPr>
          <p:nvPr>
            <p:ph type="title"/>
          </p:nvPr>
        </p:nvSpPr>
        <p:spPr>
          <a:xfrm>
            <a:off x="231954" y="101795"/>
            <a:ext cx="9281086" cy="788695"/>
          </a:xfrm>
        </p:spPr>
        <p:txBody>
          <a:bodyPr vert="horz">
            <a:normAutofit/>
          </a:bodyPr>
          <a:lstStyle/>
          <a:p>
            <a:pPr lvl="0">
              <a:lnSpc>
                <a:spcPct val="100000"/>
              </a:lnSpc>
              <a:spcBef>
                <a:spcPts val="0"/>
              </a:spcBef>
              <a:defRPr/>
            </a:pPr>
            <a:r>
              <a:rPr lang="en-US" sz="2400">
                <a:solidFill>
                  <a:srgbClr val="29389F"/>
                </a:solidFill>
                <a:latin typeface="Arial" pitchFamily="34" charset="0"/>
                <a:cs typeface="Arial" pitchFamily="34" charset="0"/>
              </a:rPr>
              <a:t>NW Pet: Enhancement for Commission Reporting  - Internal Batch </a:t>
            </a:r>
          </a:p>
        </p:txBody>
      </p:sp>
      <p:graphicFrame>
        <p:nvGraphicFramePr>
          <p:cNvPr id="11" name="Group 513">
            <a:extLst>
              <a:ext uri="{FF2B5EF4-FFF2-40B4-BE49-F238E27FC236}">
                <a16:creationId xmlns:a16="http://schemas.microsoft.com/office/drawing/2014/main" id="{01DD775B-B1B3-036E-DAB4-1B32940EDE22}"/>
              </a:ext>
            </a:extLst>
          </p:cNvPr>
          <p:cNvGraphicFramePr>
            <a:graphicFrameLocks noGrp="1"/>
          </p:cNvGraphicFramePr>
          <p:nvPr>
            <p:extLst>
              <p:ext uri="{D42A27DB-BD31-4B8C-83A1-F6EECF244321}">
                <p14:modId xmlns:p14="http://schemas.microsoft.com/office/powerpoint/2010/main" val="971753155"/>
              </p:ext>
            </p:extLst>
          </p:nvPr>
        </p:nvGraphicFramePr>
        <p:xfrm>
          <a:off x="234455" y="927650"/>
          <a:ext cx="2638218" cy="344301"/>
        </p:xfrm>
        <a:graphic>
          <a:graphicData uri="http://schemas.openxmlformats.org/drawingml/2006/table">
            <a:tbl>
              <a:tblPr/>
              <a:tblGrid>
                <a:gridCol w="984745">
                  <a:extLst>
                    <a:ext uri="{9D8B030D-6E8A-4147-A177-3AD203B41FA5}">
                      <a16:colId xmlns:a16="http://schemas.microsoft.com/office/drawing/2014/main" val="20000"/>
                    </a:ext>
                  </a:extLst>
                </a:gridCol>
                <a:gridCol w="1653473">
                  <a:extLst>
                    <a:ext uri="{9D8B030D-6E8A-4147-A177-3AD203B41FA5}">
                      <a16:colId xmlns:a16="http://schemas.microsoft.com/office/drawing/2014/main" val="20001"/>
                    </a:ext>
                  </a:extLst>
                </a:gridCol>
              </a:tblGrid>
              <a:tr h="344301">
                <a:tc>
                  <a:txBody>
                    <a:bodyPr/>
                    <a:lstStyle/>
                    <a:p>
                      <a:pPr marL="0" marR="0" lvl="0" indent="0" algn="l" defTabSz="914400" rtl="0" eaLnBrk="0" fontAlgn="base" latinLnBrk="0" hangingPunct="0">
                        <a:lnSpc>
                          <a:spcPct val="95000"/>
                        </a:lnSpc>
                        <a:spcBef>
                          <a:spcPct val="0"/>
                        </a:spcBef>
                        <a:spcAft>
                          <a:spcPct val="50000"/>
                        </a:spcAft>
                        <a:buClrTx/>
                        <a:buSzTx/>
                        <a:buFontTx/>
                        <a:buNone/>
                        <a:tabLst/>
                      </a:pPr>
                      <a:r>
                        <a:rPr kumimoji="0" lang="en-GB" sz="1050" b="1" i="0" u="none" strike="noStrike" kern="1200" cap="none" normalizeH="0" baseline="0">
                          <a:ln>
                            <a:noFill/>
                          </a:ln>
                          <a:solidFill>
                            <a:schemeClr val="bg1"/>
                          </a:solidFill>
                          <a:effectLst/>
                          <a:latin typeface="Arial"/>
                          <a:ea typeface="+mn-ea"/>
                          <a:cs typeface="+mn-cs"/>
                        </a:rPr>
                        <a:t>Status Date:</a:t>
                      </a:r>
                    </a:p>
                  </a:txBody>
                  <a:tcPr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defRPr/>
                      </a:pPr>
                      <a:r>
                        <a:rPr kumimoji="0" lang="en-GB" sz="850" b="1" i="0" u="none" strike="noStrike" kern="1200" cap="none" normalizeH="0" baseline="0">
                          <a:ln>
                            <a:noFill/>
                          </a:ln>
                          <a:solidFill>
                            <a:schemeClr val="tx1"/>
                          </a:solidFill>
                          <a:effectLst/>
                          <a:latin typeface="Aptos" panose="020B0004020202020204" pitchFamily="34" charset="0"/>
                          <a:ea typeface="+mn-ea"/>
                          <a:cs typeface="+mn-cs"/>
                        </a:rPr>
                        <a:t>08/28/26</a:t>
                      </a:r>
                    </a:p>
                  </a:txBody>
                  <a:tcPr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14" name="Table 13">
            <a:extLst>
              <a:ext uri="{FF2B5EF4-FFF2-40B4-BE49-F238E27FC236}">
                <a16:creationId xmlns:a16="http://schemas.microsoft.com/office/drawing/2014/main" id="{393E8E5E-A5C1-A064-9CB0-A0F5957D802C}"/>
              </a:ext>
            </a:extLst>
          </p:cNvPr>
          <p:cNvGraphicFramePr>
            <a:graphicFrameLocks noGrp="1"/>
          </p:cNvGraphicFramePr>
          <p:nvPr>
            <p:extLst>
              <p:ext uri="{D42A27DB-BD31-4B8C-83A1-F6EECF244321}">
                <p14:modId xmlns:p14="http://schemas.microsoft.com/office/powerpoint/2010/main" val="2089653750"/>
              </p:ext>
            </p:extLst>
          </p:nvPr>
        </p:nvGraphicFramePr>
        <p:xfrm>
          <a:off x="6640300" y="920667"/>
          <a:ext cx="5352360" cy="749848"/>
        </p:xfrm>
        <a:graphic>
          <a:graphicData uri="http://schemas.openxmlformats.org/drawingml/2006/table">
            <a:tbl>
              <a:tblPr>
                <a:tableStyleId>{5C22544A-7EE6-4342-B048-85BDC9FD1C3A}</a:tableStyleId>
              </a:tblPr>
              <a:tblGrid>
                <a:gridCol w="1045337">
                  <a:extLst>
                    <a:ext uri="{9D8B030D-6E8A-4147-A177-3AD203B41FA5}">
                      <a16:colId xmlns:a16="http://schemas.microsoft.com/office/drawing/2014/main" val="2456552316"/>
                    </a:ext>
                  </a:extLst>
                </a:gridCol>
                <a:gridCol w="926511">
                  <a:extLst>
                    <a:ext uri="{9D8B030D-6E8A-4147-A177-3AD203B41FA5}">
                      <a16:colId xmlns:a16="http://schemas.microsoft.com/office/drawing/2014/main" val="2327174630"/>
                    </a:ext>
                  </a:extLst>
                </a:gridCol>
                <a:gridCol w="1514970">
                  <a:extLst>
                    <a:ext uri="{9D8B030D-6E8A-4147-A177-3AD203B41FA5}">
                      <a16:colId xmlns:a16="http://schemas.microsoft.com/office/drawing/2014/main" val="1100051595"/>
                    </a:ext>
                  </a:extLst>
                </a:gridCol>
                <a:gridCol w="913991">
                  <a:extLst>
                    <a:ext uri="{9D8B030D-6E8A-4147-A177-3AD203B41FA5}">
                      <a16:colId xmlns:a16="http://schemas.microsoft.com/office/drawing/2014/main" val="2042261034"/>
                    </a:ext>
                  </a:extLst>
                </a:gridCol>
                <a:gridCol w="951551">
                  <a:extLst>
                    <a:ext uri="{9D8B030D-6E8A-4147-A177-3AD203B41FA5}">
                      <a16:colId xmlns:a16="http://schemas.microsoft.com/office/drawing/2014/main" val="2815874248"/>
                    </a:ext>
                  </a:extLst>
                </a:gridCol>
              </a:tblGrid>
              <a:tr h="366567">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2026 Budget</a:t>
                      </a:r>
                      <a:r>
                        <a:rPr lang="en-US" sz="1050" b="1" i="0" u="none" strike="noStrike" kern="1200" cap="none" normalizeH="0" baseline="0">
                          <a:ln>
                            <a:noFill/>
                          </a:ln>
                          <a:solidFill>
                            <a:schemeClr val="bg1"/>
                          </a:solidFill>
                          <a:effectLst/>
                          <a:latin typeface="Arial"/>
                          <a:ea typeface="+mn-ea"/>
                          <a:cs typeface="+mn-cs"/>
                        </a:rPr>
                        <a:t> </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YTD Actuals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Remaining 2026 Forecast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Current YE Forecast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Total Budget</a:t>
                      </a:r>
                      <a:r>
                        <a:rPr lang="en-US" sz="1050" b="1" i="0" u="none" strike="noStrike" kern="1200" cap="none" normalizeH="0" baseline="0">
                          <a:ln>
                            <a:noFill/>
                          </a:ln>
                          <a:solidFill>
                            <a:schemeClr val="bg1"/>
                          </a:solidFill>
                          <a:effectLst/>
                          <a:latin typeface="Arial"/>
                          <a:ea typeface="+mn-ea"/>
                          <a:cs typeface="+mn-cs"/>
                        </a:rPr>
                        <a:t> </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383281">
                <a:tc>
                  <a:txBody>
                    <a:bodyPr/>
                    <a:lstStyle/>
                    <a:p>
                      <a:pPr marL="0" marR="0" lvl="0" indent="0" algn="ctr" defTabSz="914400" rtl="0" eaLnBrk="0" fontAlgn="base" latinLnBrk="0" hangingPunct="0">
                        <a:lnSpc>
                          <a:spcPct val="95000"/>
                        </a:lnSpc>
                        <a:spcBef>
                          <a:spcPct val="0"/>
                        </a:spcBef>
                        <a:spcAft>
                          <a:spcPct val="50000"/>
                        </a:spcAft>
                        <a:buClrTx/>
                        <a:buSzTx/>
                        <a:buFontTx/>
                        <a:buNone/>
                        <a:tabLst/>
                        <a:defRPr/>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$60,000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defRPr/>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$ 31,344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defRPr/>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$91,344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defRPr/>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defRPr/>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7499024"/>
                  </a:ext>
                </a:extLst>
              </a:tr>
            </a:tbl>
          </a:graphicData>
        </a:graphic>
      </p:graphicFrame>
      <p:graphicFrame>
        <p:nvGraphicFramePr>
          <p:cNvPr id="25" name="Table 24">
            <a:extLst>
              <a:ext uri="{FF2B5EF4-FFF2-40B4-BE49-F238E27FC236}">
                <a16:creationId xmlns:a16="http://schemas.microsoft.com/office/drawing/2014/main" id="{A0774F42-96D1-B9EE-BDCE-6C1306AC6C5F}"/>
              </a:ext>
            </a:extLst>
          </p:cNvPr>
          <p:cNvGraphicFramePr>
            <a:graphicFrameLocks noGrp="1"/>
          </p:cNvGraphicFramePr>
          <p:nvPr/>
        </p:nvGraphicFramePr>
        <p:xfrm>
          <a:off x="2811025" y="920667"/>
          <a:ext cx="3829275" cy="749848"/>
        </p:xfrm>
        <a:graphic>
          <a:graphicData uri="http://schemas.openxmlformats.org/drawingml/2006/table">
            <a:tbl>
              <a:tblPr>
                <a:tableStyleId>{5C22544A-7EE6-4342-B048-85BDC9FD1C3A}</a:tableStyleId>
              </a:tblPr>
              <a:tblGrid>
                <a:gridCol w="1042158">
                  <a:extLst>
                    <a:ext uri="{9D8B030D-6E8A-4147-A177-3AD203B41FA5}">
                      <a16:colId xmlns:a16="http://schemas.microsoft.com/office/drawing/2014/main" val="2456552316"/>
                    </a:ext>
                  </a:extLst>
                </a:gridCol>
                <a:gridCol w="961214">
                  <a:extLst>
                    <a:ext uri="{9D8B030D-6E8A-4147-A177-3AD203B41FA5}">
                      <a16:colId xmlns:a16="http://schemas.microsoft.com/office/drawing/2014/main" val="1100051595"/>
                    </a:ext>
                  </a:extLst>
                </a:gridCol>
                <a:gridCol w="920742">
                  <a:extLst>
                    <a:ext uri="{9D8B030D-6E8A-4147-A177-3AD203B41FA5}">
                      <a16:colId xmlns:a16="http://schemas.microsoft.com/office/drawing/2014/main" val="2042261034"/>
                    </a:ext>
                  </a:extLst>
                </a:gridCol>
                <a:gridCol w="905161">
                  <a:extLst>
                    <a:ext uri="{9D8B030D-6E8A-4147-A177-3AD203B41FA5}">
                      <a16:colId xmlns:a16="http://schemas.microsoft.com/office/drawing/2014/main" val="2815874248"/>
                    </a:ext>
                  </a:extLst>
                </a:gridCol>
              </a:tblGrid>
              <a:tr h="409508">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Overall</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Scope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Schedule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Financials</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340340">
                <a:tc>
                  <a:txBody>
                    <a:bodyPr/>
                    <a:lstStyle/>
                    <a:p>
                      <a:pPr marL="0" marR="0" lvl="0" indent="0" algn="ctr" rtl="0" eaLnBrk="1" fontAlgn="ctr" latinLnBrk="0" hangingPunct="1">
                        <a:lnSpc>
                          <a:spcPct val="95000"/>
                        </a:lnSpc>
                        <a:spcBef>
                          <a:spcPct val="0"/>
                        </a:spcBef>
                        <a:spcAft>
                          <a:spcPct val="50000"/>
                        </a:spcAft>
                        <a:buClrTx/>
                        <a:buSzTx/>
                        <a:buFontTx/>
                        <a:buNone/>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rtl="0" eaLnBrk="1" fontAlgn="ctr" latinLnBrk="0" hangingPunct="1">
                        <a:lnSpc>
                          <a:spcPct val="95000"/>
                        </a:lnSpc>
                        <a:spcBef>
                          <a:spcPct val="0"/>
                        </a:spcBef>
                        <a:spcAft>
                          <a:spcPct val="50000"/>
                        </a:spcAft>
                        <a:buClrTx/>
                        <a:buSzTx/>
                        <a:buFontTx/>
                        <a:buNone/>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7499024"/>
                  </a:ext>
                </a:extLst>
              </a:tr>
            </a:tbl>
          </a:graphicData>
        </a:graphic>
      </p:graphicFrame>
      <p:graphicFrame>
        <p:nvGraphicFramePr>
          <p:cNvPr id="26" name="Group 513">
            <a:extLst>
              <a:ext uri="{FF2B5EF4-FFF2-40B4-BE49-F238E27FC236}">
                <a16:creationId xmlns:a16="http://schemas.microsoft.com/office/drawing/2014/main" id="{E9F8DEDD-1245-5179-3CAC-D00536CA6F90}"/>
              </a:ext>
            </a:extLst>
          </p:cNvPr>
          <p:cNvGraphicFramePr>
            <a:graphicFrameLocks noGrp="1"/>
          </p:cNvGraphicFramePr>
          <p:nvPr>
            <p:extLst>
              <p:ext uri="{D42A27DB-BD31-4B8C-83A1-F6EECF244321}">
                <p14:modId xmlns:p14="http://schemas.microsoft.com/office/powerpoint/2010/main" val="1967756867"/>
              </p:ext>
            </p:extLst>
          </p:nvPr>
        </p:nvGraphicFramePr>
        <p:xfrm>
          <a:off x="231953" y="1271951"/>
          <a:ext cx="2581575" cy="402546"/>
        </p:xfrm>
        <a:graphic>
          <a:graphicData uri="http://schemas.openxmlformats.org/drawingml/2006/table">
            <a:tbl>
              <a:tblPr/>
              <a:tblGrid>
                <a:gridCol w="998602">
                  <a:extLst>
                    <a:ext uri="{9D8B030D-6E8A-4147-A177-3AD203B41FA5}">
                      <a16:colId xmlns:a16="http://schemas.microsoft.com/office/drawing/2014/main" val="20000"/>
                    </a:ext>
                  </a:extLst>
                </a:gridCol>
                <a:gridCol w="1582973">
                  <a:extLst>
                    <a:ext uri="{9D8B030D-6E8A-4147-A177-3AD203B41FA5}">
                      <a16:colId xmlns:a16="http://schemas.microsoft.com/office/drawing/2014/main" val="20001"/>
                    </a:ext>
                  </a:extLst>
                </a:gridCol>
              </a:tblGrid>
              <a:tr h="344301">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GB" sz="1050" b="1" i="0" u="none" strike="noStrike" kern="1200" cap="none" normalizeH="0" baseline="0">
                          <a:ln>
                            <a:noFill/>
                          </a:ln>
                          <a:solidFill>
                            <a:schemeClr val="bg1"/>
                          </a:solidFill>
                          <a:effectLst/>
                          <a:latin typeface="Arial"/>
                          <a:ea typeface="+mn-ea"/>
                          <a:cs typeface="+mn-cs"/>
                        </a:rPr>
                        <a:t>Target Delivery:</a:t>
                      </a:r>
                    </a:p>
                  </a:txBody>
                  <a:tcPr marL="0" marR="0"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defRPr/>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9/30/2026</a:t>
                      </a:r>
                    </a:p>
                    <a:p>
                      <a:pPr marL="0" marR="0" lvl="0" indent="0" algn="ctr" defTabSz="914400" rtl="0" eaLnBrk="0" fontAlgn="base" latinLnBrk="0" hangingPunct="0">
                        <a:lnSpc>
                          <a:spcPct val="95000"/>
                        </a:lnSpc>
                        <a:spcBef>
                          <a:spcPct val="0"/>
                        </a:spcBef>
                        <a:spcAft>
                          <a:spcPct val="50000"/>
                        </a:spcAft>
                        <a:buClrTx/>
                        <a:buSzTx/>
                        <a:buFontTx/>
                        <a:buNone/>
                        <a:tabLst/>
                        <a:defRPr/>
                      </a:pPr>
                      <a:endParaRPr kumimoji="0" lang="en-US" sz="850" b="1" i="0" u="none" strike="noStrike" kern="1200" cap="none" normalizeH="0" baseline="0">
                        <a:ln>
                          <a:noFill/>
                        </a:ln>
                        <a:solidFill>
                          <a:schemeClr val="tx1"/>
                        </a:solidFill>
                        <a:effectLst/>
                        <a:latin typeface="Aptos" panose="020B0004020202020204" pitchFamily="34" charset="0"/>
                        <a:ea typeface="+mn-ea"/>
                        <a:cs typeface="+mn-cs"/>
                      </a:endParaRPr>
                    </a:p>
                  </a:txBody>
                  <a:tcPr marL="0" marR="0"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27" name="Table 26">
            <a:extLst>
              <a:ext uri="{FF2B5EF4-FFF2-40B4-BE49-F238E27FC236}">
                <a16:creationId xmlns:a16="http://schemas.microsoft.com/office/drawing/2014/main" id="{819C021D-B279-86D1-6CE6-1F1F4F6FAFCB}"/>
              </a:ext>
            </a:extLst>
          </p:cNvPr>
          <p:cNvGraphicFramePr>
            <a:graphicFrameLocks noGrp="1"/>
          </p:cNvGraphicFramePr>
          <p:nvPr>
            <p:extLst>
              <p:ext uri="{D42A27DB-BD31-4B8C-83A1-F6EECF244321}">
                <p14:modId xmlns:p14="http://schemas.microsoft.com/office/powerpoint/2010/main" val="3484482589"/>
              </p:ext>
            </p:extLst>
          </p:nvPr>
        </p:nvGraphicFramePr>
        <p:xfrm>
          <a:off x="4854769" y="1696099"/>
          <a:ext cx="7137891" cy="3141365"/>
        </p:xfrm>
        <a:graphic>
          <a:graphicData uri="http://schemas.openxmlformats.org/drawingml/2006/table">
            <a:tbl>
              <a:tblPr>
                <a:tableStyleId>{5C22544A-7EE6-4342-B048-85BDC9FD1C3A}</a:tableStyleId>
              </a:tblPr>
              <a:tblGrid>
                <a:gridCol w="2546155">
                  <a:extLst>
                    <a:ext uri="{9D8B030D-6E8A-4147-A177-3AD203B41FA5}">
                      <a16:colId xmlns:a16="http://schemas.microsoft.com/office/drawing/2014/main" val="2456552316"/>
                    </a:ext>
                  </a:extLst>
                </a:gridCol>
                <a:gridCol w="458555">
                  <a:extLst>
                    <a:ext uri="{9D8B030D-6E8A-4147-A177-3AD203B41FA5}">
                      <a16:colId xmlns:a16="http://schemas.microsoft.com/office/drawing/2014/main" val="1100051595"/>
                    </a:ext>
                  </a:extLst>
                </a:gridCol>
                <a:gridCol w="428519">
                  <a:extLst>
                    <a:ext uri="{9D8B030D-6E8A-4147-A177-3AD203B41FA5}">
                      <a16:colId xmlns:a16="http://schemas.microsoft.com/office/drawing/2014/main" val="2042261034"/>
                    </a:ext>
                  </a:extLst>
                </a:gridCol>
                <a:gridCol w="3704662">
                  <a:extLst>
                    <a:ext uri="{9D8B030D-6E8A-4147-A177-3AD203B41FA5}">
                      <a16:colId xmlns:a16="http://schemas.microsoft.com/office/drawing/2014/main" val="2815874248"/>
                    </a:ext>
                  </a:extLst>
                </a:gridCol>
              </a:tblGrid>
              <a:tr h="304528">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Milestone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Status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Due Date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225904">
                <a:tc>
                  <a:txBody>
                    <a:bodyPr/>
                    <a:lstStyle/>
                    <a:p>
                      <a:pPr marL="114300" marR="0" lvl="0" indent="0" algn="l" rtl="0" eaLnBrk="1" fontAlgn="ctr" latinLnBrk="0" hangingPunct="1">
                        <a:lnSpc>
                          <a:spcPct val="95000"/>
                        </a:lnSpc>
                        <a:spcBef>
                          <a:spcPct val="0"/>
                        </a:spcBef>
                        <a:spcAft>
                          <a:spcPct val="50000"/>
                        </a:spcAft>
                        <a:buClrTx/>
                        <a:buSzTx/>
                        <a:buFontTx/>
                        <a:buNone/>
                      </a:pPr>
                      <a:r>
                        <a:rPr lang="en-US" sz="850" b="0" kern="1200">
                          <a:solidFill>
                            <a:schemeClr val="tx1"/>
                          </a:solidFill>
                          <a:effectLst/>
                          <a:latin typeface="Aptos" panose="020B0004020202020204" pitchFamily="34" charset="0"/>
                          <a:ea typeface="+mn-ea"/>
                          <a:cs typeface="+mn-cs"/>
                        </a:rPr>
                        <a:t>Validate and Lock business requirements</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a:ln>
                            <a:noFill/>
                          </a:ln>
                          <a:solidFill>
                            <a:prstClr val="black"/>
                          </a:solidFill>
                          <a:effectLst/>
                          <a:uLnTx/>
                          <a:uFillTx/>
                          <a:latin typeface="Aptos" panose="020B0004020202020204" pitchFamily="34" charset="0"/>
                          <a:ea typeface="+mn-ea"/>
                          <a:cs typeface="+mn-cs"/>
                        </a:rPr>
                        <a:t>C</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850" b="0" strike="noStrike" kern="1200">
                        <a:solidFill>
                          <a:schemeClr val="tx1"/>
                        </a:solidFill>
                        <a:effectLst/>
                        <a:latin typeface="Aptos" panose="020B0004020202020204" pitchFamily="34" charset="0"/>
                        <a:ea typeface="+mn-ea"/>
                        <a:cs typeface="+mn-cs"/>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0" hangingPunct="1">
                        <a:lnSpc>
                          <a:spcPts val="600"/>
                        </a:lnSpc>
                        <a:spcBef>
                          <a:spcPts val="300"/>
                        </a:spcBef>
                        <a:spcAft>
                          <a:spcPts val="0"/>
                        </a:spcAft>
                        <a:buClrTx/>
                        <a:buSzTx/>
                        <a:buFontTx/>
                        <a:buNone/>
                        <a:tabLst/>
                        <a:defRPr/>
                      </a:pPr>
                      <a:endParaRPr lang="en-US" sz="850" b="0" i="0">
                        <a:solidFill>
                          <a:srgbClr val="000000"/>
                        </a:solidFill>
                        <a:effectLst/>
                        <a:latin typeface="Aptos" panose="020B00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748893264"/>
                  </a:ext>
                </a:extLst>
              </a:tr>
              <a:tr h="213379">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50">
                          <a:latin typeface="Aptos" panose="020B0004020202020204" pitchFamily="34" charset="0"/>
                        </a:rPr>
                        <a:t>Obtain approval from BDE</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a:ln>
                            <a:noFill/>
                          </a:ln>
                          <a:solidFill>
                            <a:prstClr val="black"/>
                          </a:solidFill>
                          <a:effectLst/>
                          <a:uLnTx/>
                          <a:uFillTx/>
                          <a:latin typeface="Aptos" panose="020B0004020202020204" pitchFamily="34" charset="0"/>
                          <a:ea typeface="+mn-ea"/>
                          <a:cs typeface="+mn-cs"/>
                        </a:rPr>
                        <a:t>C</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0" hangingPunct="1">
                        <a:lnSpc>
                          <a:spcPct val="95000"/>
                        </a:lnSpc>
                        <a:spcBef>
                          <a:spcPct val="0"/>
                        </a:spcBef>
                        <a:spcAft>
                          <a:spcPct val="50000"/>
                        </a:spcAft>
                        <a:buClrTx/>
                        <a:buSzTx/>
                        <a:buFontTx/>
                        <a:buNone/>
                        <a:tabLst/>
                        <a:defRPr/>
                      </a:pPr>
                      <a:endParaRPr lang="en-US" sz="850" b="0" strike="noStrike" kern="1200">
                        <a:solidFill>
                          <a:schemeClr val="tx1"/>
                        </a:solidFill>
                        <a:effectLst/>
                        <a:latin typeface="Aptos" panose="020B0004020202020204" pitchFamily="34" charset="0"/>
                        <a:ea typeface="+mn-ea"/>
                        <a:cs typeface="+mn-cs"/>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algn="l">
                        <a:lnSpc>
                          <a:spcPct val="114999"/>
                        </a:lnSpc>
                        <a:spcAft>
                          <a:spcPts val="800"/>
                        </a:spcAft>
                        <a:buNone/>
                      </a:pPr>
                      <a:endParaRPr lang="en-US" sz="850" b="0" i="0" u="none" strike="noStrike" kern="100" noProof="0">
                        <a:solidFill>
                          <a:schemeClr val="dk1"/>
                        </a:solidFill>
                        <a:effectLst/>
                        <a:latin typeface="Aptos" panose="020B0004020202020204"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805706767"/>
                  </a:ext>
                </a:extLst>
              </a:tr>
              <a:tr h="213379">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50">
                          <a:latin typeface="Aptos" panose="020B0004020202020204" pitchFamily="34" charset="0"/>
                        </a:rPr>
                        <a:t>Detail Requirements and Epic Creations</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a:ln>
                            <a:noFill/>
                          </a:ln>
                          <a:solidFill>
                            <a:prstClr val="black"/>
                          </a:solidFill>
                          <a:effectLst/>
                          <a:uLnTx/>
                          <a:uFillTx/>
                          <a:latin typeface="Aptos" panose="020B0004020202020204" pitchFamily="34" charset="0"/>
                          <a:ea typeface="+mn-ea"/>
                          <a:cs typeface="+mn-cs"/>
                        </a:rPr>
                        <a:t>C</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0" hangingPunct="1">
                        <a:lnSpc>
                          <a:spcPct val="95000"/>
                        </a:lnSpc>
                        <a:spcBef>
                          <a:spcPct val="0"/>
                        </a:spcBef>
                        <a:spcAft>
                          <a:spcPct val="50000"/>
                        </a:spcAft>
                        <a:buClrTx/>
                        <a:buSzTx/>
                        <a:buFontTx/>
                        <a:buNone/>
                        <a:tabLst/>
                        <a:defRPr/>
                      </a:pPr>
                      <a:endParaRPr lang="en-US" sz="850" b="0" strike="noStrike" kern="1200">
                        <a:solidFill>
                          <a:schemeClr val="tx1"/>
                        </a:solidFill>
                        <a:effectLst/>
                        <a:latin typeface="Aptos" panose="020B0004020202020204" pitchFamily="34" charset="0"/>
                        <a:ea typeface="+mn-ea"/>
                        <a:cs typeface="+mn-cs"/>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algn="l">
                        <a:lnSpc>
                          <a:spcPct val="114999"/>
                        </a:lnSpc>
                        <a:spcAft>
                          <a:spcPts val="800"/>
                        </a:spcAft>
                        <a:buNone/>
                      </a:pPr>
                      <a:endParaRPr lang="en-US" sz="850" b="0" i="0" u="none" strike="noStrike" kern="100" noProof="0">
                        <a:solidFill>
                          <a:schemeClr val="dk1"/>
                        </a:solidFill>
                        <a:effectLst/>
                        <a:latin typeface="Aptos" panose="020B00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943924009"/>
                  </a:ext>
                </a:extLst>
              </a:tr>
              <a:tr h="257053">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50" kern="1200">
                          <a:solidFill>
                            <a:schemeClr val="dk1"/>
                          </a:solidFill>
                          <a:latin typeface="Aptos" panose="020B0004020202020204" pitchFamily="34" charset="0"/>
                          <a:ea typeface="+mn-ea"/>
                          <a:cs typeface="+mn-cs"/>
                        </a:rPr>
                        <a:t>Deliver end‑to‑end architectural design for the new solution.</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a:ln>
                            <a:noFill/>
                          </a:ln>
                          <a:solidFill>
                            <a:prstClr val="black"/>
                          </a:solidFill>
                          <a:effectLst/>
                          <a:uLnTx/>
                          <a:uFillTx/>
                          <a:latin typeface="Aptos" panose="020B0004020202020204" pitchFamily="34" charset="0"/>
                          <a:ea typeface="+mn-ea"/>
                          <a:cs typeface="+mn-cs"/>
                        </a:rPr>
                        <a:t>C</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endParaRPr lang="en-US" sz="850" b="0" strike="sngStrike" kern="1200">
                        <a:solidFill>
                          <a:schemeClr val="tx1"/>
                        </a:solidFill>
                        <a:effectLst/>
                        <a:latin typeface="Aptos" panose="020B0004020202020204" pitchFamily="34" charset="0"/>
                        <a:ea typeface="+mn-ea"/>
                        <a:cs typeface="+mn-cs"/>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base" latinLnBrk="0" hangingPunct="1">
                        <a:lnSpc>
                          <a:spcPct val="100000"/>
                        </a:lnSpc>
                        <a:spcBef>
                          <a:spcPts val="200"/>
                        </a:spcBef>
                        <a:spcAft>
                          <a:spcPts val="0"/>
                        </a:spcAft>
                        <a:buClrTx/>
                        <a:buSzTx/>
                        <a:buFontTx/>
                        <a:buNone/>
                        <a:tabLst/>
                        <a:defRPr/>
                      </a:pPr>
                      <a:endParaRPr lang="en-US" sz="850" kern="100">
                        <a:solidFill>
                          <a:schemeClr val="dk1"/>
                        </a:solidFill>
                        <a:latin typeface="Aptos" panose="020B0004020202020204" pitchFamily="34" charset="0"/>
                        <a:cs typeface="Times New Roma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387139067"/>
                  </a:ext>
                </a:extLst>
              </a:tr>
              <a:tr h="234224">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50" kern="1200">
                          <a:solidFill>
                            <a:schemeClr val="dk1"/>
                          </a:solidFill>
                          <a:latin typeface="Aptos" panose="020B0004020202020204" pitchFamily="34" charset="0"/>
                          <a:ea typeface="+mn-ea"/>
                          <a:cs typeface="+mn-cs"/>
                        </a:rPr>
                        <a:t>Provide L0 project estimates with high‑level scope and effort</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a:ln>
                            <a:noFill/>
                          </a:ln>
                          <a:solidFill>
                            <a:prstClr val="black"/>
                          </a:solidFill>
                          <a:effectLst/>
                          <a:uLnTx/>
                          <a:uFillTx/>
                          <a:latin typeface="Aptos" panose="020B0004020202020204" pitchFamily="34" charset="0"/>
                          <a:ea typeface="+mn-ea"/>
                          <a:cs typeface="+mn-cs"/>
                        </a:rPr>
                        <a:t>C</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endParaRPr lang="en-US" sz="850" strike="noStrike">
                        <a:latin typeface="Aptos" panose="020B00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base" latinLnBrk="0" hangingPunct="1">
                        <a:lnSpc>
                          <a:spcPct val="100000"/>
                        </a:lnSpc>
                        <a:spcBef>
                          <a:spcPts val="200"/>
                        </a:spcBef>
                        <a:spcAft>
                          <a:spcPts val="0"/>
                        </a:spcAft>
                        <a:buClrTx/>
                        <a:buSzTx/>
                        <a:buFontTx/>
                        <a:buNone/>
                        <a:tabLst/>
                        <a:defRPr/>
                      </a:pPr>
                      <a:endParaRPr lang="en-US" sz="850" b="0" i="0">
                        <a:solidFill>
                          <a:srgbClr val="000000"/>
                        </a:solidFill>
                        <a:effectLst/>
                        <a:latin typeface="Aptos" panose="020B0004020202020204" pitchFamily="34" charset="0"/>
                        <a:cs typeface="Times New Roma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775249404"/>
                  </a:ext>
                </a:extLst>
              </a:tr>
              <a:tr h="305268">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50" kern="1200">
                          <a:solidFill>
                            <a:schemeClr val="dk1"/>
                          </a:solidFill>
                          <a:latin typeface="Aptos" panose="020B0004020202020204" pitchFamily="34" charset="0"/>
                          <a:ea typeface="+mn-ea"/>
                          <a:cs typeface="+mn-cs"/>
                        </a:rPr>
                        <a:t>Project kick off</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a:ln>
                            <a:noFill/>
                          </a:ln>
                          <a:solidFill>
                            <a:prstClr val="black"/>
                          </a:solidFill>
                          <a:effectLst/>
                          <a:uLnTx/>
                          <a:uFillTx/>
                          <a:latin typeface="Aptos" panose="020B0004020202020204" pitchFamily="34" charset="0"/>
                          <a:ea typeface="+mn-ea"/>
                          <a:cs typeface="+mn-cs"/>
                        </a:rPr>
                        <a:t>8/26</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a:ln>
                            <a:noFill/>
                          </a:ln>
                          <a:solidFill>
                            <a:prstClr val="black"/>
                          </a:solidFill>
                          <a:effectLst/>
                          <a:uLnTx/>
                          <a:uFillTx/>
                          <a:latin typeface="Aptos" panose="020B0004020202020204" pitchFamily="34" charset="0"/>
                          <a:ea typeface="+mn-ea"/>
                          <a:cs typeface="+mn-cs"/>
                        </a:rPr>
                        <a:t>C</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50" strike="noStrike">
                        <a:latin typeface="Aptos" panose="020B00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eaLnBrk="1" fontAlgn="ctr" latinLnBrk="0" hangingPunct="1">
                        <a:lnSpc>
                          <a:spcPct val="95000"/>
                        </a:lnSpc>
                        <a:spcBef>
                          <a:spcPct val="0"/>
                        </a:spcBef>
                        <a:spcAft>
                          <a:spcPct val="50000"/>
                        </a:spcAft>
                        <a:buClrTx/>
                        <a:buSzTx/>
                        <a:buFontTx/>
                        <a:buNone/>
                      </a:pPr>
                      <a:endParaRPr lang="en-US" sz="850" b="0" strike="noStrike" kern="1200">
                        <a:solidFill>
                          <a:schemeClr val="tx1"/>
                        </a:solidFill>
                        <a:effectLst/>
                        <a:latin typeface="Aptos" panose="020B0004020202020204" pitchFamily="34" charset="0"/>
                        <a:ea typeface="+mn-ea"/>
                        <a:cs typeface="+mn-cs"/>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76961585"/>
                  </a:ext>
                </a:extLst>
              </a:tr>
              <a:tr h="223959">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50" kern="1200">
                          <a:solidFill>
                            <a:schemeClr val="dk1"/>
                          </a:solidFill>
                          <a:latin typeface="Aptos" panose="020B0004020202020204" pitchFamily="34" charset="0"/>
                          <a:ea typeface="+mn-ea"/>
                          <a:cs typeface="+mn-cs"/>
                        </a:rPr>
                        <a:t>Technical Design</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a:ln>
                            <a:noFill/>
                          </a:ln>
                          <a:solidFill>
                            <a:prstClr val="black"/>
                          </a:solidFill>
                          <a:effectLst/>
                          <a:uLnTx/>
                          <a:uFillTx/>
                          <a:latin typeface="Aptos" panose="020B0004020202020204" pitchFamily="34" charset="0"/>
                          <a:ea typeface="+mn-ea"/>
                          <a:cs typeface="+mn-cs"/>
                        </a:rPr>
                        <a:t>C</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endParaRPr lang="en-US" sz="850" strike="noStrike">
                        <a:latin typeface="Aptos" panose="020B00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rtl="0" eaLnBrk="1" fontAlgn="ctr" latinLnBrk="0" hangingPunct="1">
                        <a:lnSpc>
                          <a:spcPct val="95000"/>
                        </a:lnSpc>
                        <a:spcBef>
                          <a:spcPct val="0"/>
                        </a:spcBef>
                        <a:spcAft>
                          <a:spcPct val="50000"/>
                        </a:spcAft>
                        <a:buClrTx/>
                        <a:buSzTx/>
                        <a:buFontTx/>
                        <a:buNone/>
                      </a:pPr>
                      <a:endParaRPr lang="en-US" sz="850" b="0" kern="1200">
                        <a:solidFill>
                          <a:schemeClr val="tx1"/>
                        </a:solidFill>
                        <a:effectLst/>
                        <a:latin typeface="Aptos" panose="020B0004020202020204" pitchFamily="34" charset="0"/>
                        <a:ea typeface="+mn-ea"/>
                        <a:cs typeface="+mn-cs"/>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617819655"/>
                  </a:ext>
                </a:extLst>
              </a:tr>
              <a:tr h="385224">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50" kern="1200">
                          <a:solidFill>
                            <a:schemeClr val="dk1"/>
                          </a:solidFill>
                          <a:latin typeface="Aptos" panose="020B0004020202020204" pitchFamily="34" charset="0"/>
                          <a:ea typeface="+mn-ea"/>
                          <a:cs typeface="+mn-cs"/>
                        </a:rPr>
                        <a:t>DDIT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50">
                          <a:latin typeface="Aptos" panose="020B0004020202020204" pitchFamily="34" charset="0"/>
                        </a:rPr>
                        <a:t>NS</a:t>
                      </a:r>
                    </a:p>
                    <a:p>
                      <a:pPr algn="ctr"/>
                      <a:endParaRPr lang="en-US" sz="850">
                        <a:latin typeface="Aptos"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50">
                        <a:latin typeface="Aptos"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endParaRPr lang="en-US" sz="850" kern="1200">
                        <a:solidFill>
                          <a:schemeClr val="dk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62506059"/>
                  </a:ext>
                </a:extLst>
              </a:tr>
              <a:tr h="236175">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50" kern="1200">
                          <a:solidFill>
                            <a:schemeClr val="dk1"/>
                          </a:solidFill>
                          <a:latin typeface="Aptos" panose="020B0004020202020204" pitchFamily="34" charset="0"/>
                          <a:ea typeface="+mn-ea"/>
                          <a:cs typeface="+mn-cs"/>
                        </a:rPr>
                        <a:t>E2E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50">
                          <a:latin typeface="Aptos" panose="020B0004020202020204" pitchFamily="34" charset="0"/>
                        </a:rPr>
                        <a:t>NS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50">
                        <a:latin typeface="Aptos"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endParaRPr lang="en-US" sz="850" kern="1200">
                        <a:solidFill>
                          <a:schemeClr val="dk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20125674"/>
                  </a:ext>
                </a:extLst>
              </a:tr>
              <a:tr h="236175">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50" kern="1200">
                          <a:solidFill>
                            <a:schemeClr val="dk1"/>
                          </a:solidFill>
                          <a:latin typeface="Aptos" panose="020B0004020202020204" pitchFamily="34" charset="0"/>
                          <a:ea typeface="+mn-ea"/>
                          <a:cs typeface="+mn-cs"/>
                        </a:rPr>
                        <a:t>UAT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50">
                          <a:latin typeface="Aptos" panose="020B0004020202020204" pitchFamily="34" charset="0"/>
                        </a:rPr>
                        <a:t>NS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50">
                        <a:latin typeface="Aptos"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endParaRPr lang="en-US" sz="850" kern="1200">
                        <a:solidFill>
                          <a:schemeClr val="dk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53880179"/>
                  </a:ext>
                </a:extLst>
              </a:tr>
              <a:tr h="236175">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50" kern="1200">
                          <a:solidFill>
                            <a:schemeClr val="dk1"/>
                          </a:solidFill>
                          <a:latin typeface="Aptos" panose="020B0004020202020204" pitchFamily="34" charset="0"/>
                          <a:ea typeface="+mn-ea"/>
                          <a:cs typeface="+mn-cs"/>
                        </a:rPr>
                        <a:t>Stage Validation</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50">
                          <a:latin typeface="Aptos" panose="020B0004020202020204" pitchFamily="34" charset="0"/>
                        </a:rPr>
                        <a:t>NS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50">
                        <a:latin typeface="Aptos"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endParaRPr lang="en-US" sz="850" kern="1200">
                        <a:solidFill>
                          <a:schemeClr val="dk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64433576"/>
                  </a:ext>
                </a:extLst>
              </a:tr>
            </a:tbl>
          </a:graphicData>
        </a:graphic>
      </p:graphicFrame>
      <p:graphicFrame>
        <p:nvGraphicFramePr>
          <p:cNvPr id="29" name="Table 28">
            <a:extLst>
              <a:ext uri="{FF2B5EF4-FFF2-40B4-BE49-F238E27FC236}">
                <a16:creationId xmlns:a16="http://schemas.microsoft.com/office/drawing/2014/main" id="{F3CDB105-699B-1CD3-CB09-22FD2C29BC95}"/>
              </a:ext>
            </a:extLst>
          </p:cNvPr>
          <p:cNvGraphicFramePr>
            <a:graphicFrameLocks noGrp="1"/>
          </p:cNvGraphicFramePr>
          <p:nvPr>
            <p:extLst>
              <p:ext uri="{D42A27DB-BD31-4B8C-83A1-F6EECF244321}">
                <p14:modId xmlns:p14="http://schemas.microsoft.com/office/powerpoint/2010/main" val="2581095780"/>
              </p:ext>
            </p:extLst>
          </p:nvPr>
        </p:nvGraphicFramePr>
        <p:xfrm>
          <a:off x="4854769" y="4913937"/>
          <a:ext cx="7136859" cy="715328"/>
        </p:xfrm>
        <a:graphic>
          <a:graphicData uri="http://schemas.openxmlformats.org/drawingml/2006/table">
            <a:tbl>
              <a:tblPr>
                <a:tableStyleId>{5C22544A-7EE6-4342-B048-85BDC9FD1C3A}</a:tableStyleId>
              </a:tblPr>
              <a:tblGrid>
                <a:gridCol w="2560915">
                  <a:extLst>
                    <a:ext uri="{9D8B030D-6E8A-4147-A177-3AD203B41FA5}">
                      <a16:colId xmlns:a16="http://schemas.microsoft.com/office/drawing/2014/main" val="2456552316"/>
                    </a:ext>
                  </a:extLst>
                </a:gridCol>
                <a:gridCol w="462224">
                  <a:extLst>
                    <a:ext uri="{9D8B030D-6E8A-4147-A177-3AD203B41FA5}">
                      <a16:colId xmlns:a16="http://schemas.microsoft.com/office/drawing/2014/main" val="1100051595"/>
                    </a:ext>
                  </a:extLst>
                </a:gridCol>
                <a:gridCol w="482321">
                  <a:extLst>
                    <a:ext uri="{9D8B030D-6E8A-4147-A177-3AD203B41FA5}">
                      <a16:colId xmlns:a16="http://schemas.microsoft.com/office/drawing/2014/main" val="2042261034"/>
                    </a:ext>
                  </a:extLst>
                </a:gridCol>
                <a:gridCol w="3631399">
                  <a:extLst>
                    <a:ext uri="{9D8B030D-6E8A-4147-A177-3AD203B41FA5}">
                      <a16:colId xmlns:a16="http://schemas.microsoft.com/office/drawing/2014/main" val="2815874248"/>
                    </a:ext>
                  </a:extLst>
                </a:gridCol>
              </a:tblGrid>
              <a:tr h="258561">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Critical Risks/Issues</a:t>
                      </a:r>
                      <a:endParaRPr kumimoji="0" lang="en-US" sz="1050" b="1" i="0" u="none" strike="noStrike" kern="1200" cap="none" normalizeH="0" baseline="0">
                        <a:ln>
                          <a:noFill/>
                        </a:ln>
                        <a:solidFill>
                          <a:schemeClr val="bg1"/>
                        </a:solidFill>
                        <a:effectLst/>
                        <a:latin typeface="Arial" charset="0"/>
                        <a:ea typeface="+mn-ea"/>
                        <a:cs typeface="+mn-cs"/>
                      </a:endParaRP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Status</a:t>
                      </a:r>
                    </a:p>
                  </a:txBody>
                  <a:tcPr marL="9525" marR="9525" marT="9525" marB="0" anchor="ct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Target Date</a:t>
                      </a:r>
                    </a:p>
                  </a:txBody>
                  <a:tcPr marL="9525" marR="9525" marT="9525" marB="0" anchor="ctr">
                    <a:lnL w="12700">
                      <a:solidFill>
                        <a:schemeClr val="tx1"/>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Resolution / Mitigation</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313508">
                <a:tc>
                  <a:txBody>
                    <a:bodyPr/>
                    <a:lstStyle/>
                    <a:p>
                      <a:pPr marL="0" marR="0" lvl="0" indent="0" algn="l" defTabSz="914400" rtl="0" eaLnBrk="1" fontAlgn="auto" latinLnBrk="0" hangingPunct="1">
                        <a:lnSpc>
                          <a:spcPct val="115000"/>
                        </a:lnSpc>
                        <a:spcBef>
                          <a:spcPts val="0"/>
                        </a:spcBef>
                        <a:spcAft>
                          <a:spcPts val="800"/>
                        </a:spcAft>
                        <a:buClrTx/>
                        <a:buSzTx/>
                        <a:buFontTx/>
                        <a:buNone/>
                        <a:tabLst/>
                        <a:defRPr/>
                      </a:pPr>
                      <a:endParaRPr lang="en-US" sz="850">
                        <a:latin typeface="Aptos" panose="020B0004020202020204" pitchFamily="34" charset="0"/>
                      </a:endParaRPr>
                    </a:p>
                    <a:p>
                      <a:pPr marL="0" marR="0" lvl="0" indent="0" algn="l" defTabSz="914400" rtl="0" eaLnBrk="1" fontAlgn="auto" latinLnBrk="0" hangingPunct="1">
                        <a:lnSpc>
                          <a:spcPct val="115000"/>
                        </a:lnSpc>
                        <a:spcBef>
                          <a:spcPts val="0"/>
                        </a:spcBef>
                        <a:spcAft>
                          <a:spcPts val="800"/>
                        </a:spcAft>
                        <a:buClrTx/>
                        <a:buSzTx/>
                        <a:buFontTx/>
                        <a:buNone/>
                        <a:tabLst/>
                        <a:defRPr/>
                      </a:pPr>
                      <a:r>
                        <a:rPr lang="en-US" sz="850">
                          <a:latin typeface="Aptos" panose="020B0004020202020204" pitchFamily="34" charset="0"/>
                        </a:rPr>
                        <a:t> </a:t>
                      </a: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850" b="0" kern="1200">
                        <a:solidFill>
                          <a:schemeClr val="tx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850" b="0" strike="noStrike" kern="1200">
                        <a:solidFill>
                          <a:schemeClr val="tx1"/>
                        </a:solidFill>
                        <a:effectLst/>
                        <a:latin typeface="Aptos" panose="020B0004020202020204" pitchFamily="34" charset="0"/>
                        <a:ea typeface="+mn-ea"/>
                        <a:cs typeface="+mn-cs"/>
                      </a:endParaRPr>
                    </a:p>
                  </a:txBody>
                  <a:tcPr marL="9525" marR="9525" marT="9525" marB="0" anchor="ctr">
                    <a:lnL w="12700">
                      <a:solidFill>
                        <a:schemeClr val="tx1"/>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ts val="200"/>
                        </a:spcBef>
                        <a:spcAft>
                          <a:spcPts val="0"/>
                        </a:spcAft>
                        <a:buClrTx/>
                        <a:buSzTx/>
                        <a:buFont typeface="Arial" panose="020B0604020202020204" pitchFamily="34" charset="0"/>
                        <a:buNone/>
                        <a:tabLst/>
                        <a:defRPr/>
                      </a:pPr>
                      <a:endParaRPr lang="en-US" sz="850" b="0" strike="noStrike" kern="1200">
                        <a:solidFill>
                          <a:schemeClr val="tx1"/>
                        </a:solidFill>
                        <a:effectLst/>
                        <a:latin typeface="Aptos" panose="020B0004020202020204" pitchFamily="34" charset="0"/>
                        <a:ea typeface="+mn-ea"/>
                        <a:cs typeface="+mn-cs"/>
                      </a:endParaRP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7499024"/>
                  </a:ext>
                </a:extLst>
              </a:tr>
            </a:tbl>
          </a:graphicData>
        </a:graphic>
      </p:graphicFrame>
      <p:sp>
        <p:nvSpPr>
          <p:cNvPr id="33" name="Flowchart: Connector 32">
            <a:extLst>
              <a:ext uri="{FF2B5EF4-FFF2-40B4-BE49-F238E27FC236}">
                <a16:creationId xmlns:a16="http://schemas.microsoft.com/office/drawing/2014/main" id="{197364A5-1456-3339-5770-00DD07B78FFF}"/>
              </a:ext>
            </a:extLst>
          </p:cNvPr>
          <p:cNvSpPr/>
          <p:nvPr/>
        </p:nvSpPr>
        <p:spPr>
          <a:xfrm>
            <a:off x="6729886" y="6416791"/>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4" name="Flowchart: Connector 33">
            <a:extLst>
              <a:ext uri="{FF2B5EF4-FFF2-40B4-BE49-F238E27FC236}">
                <a16:creationId xmlns:a16="http://schemas.microsoft.com/office/drawing/2014/main" id="{E95253F7-1B08-045D-A956-3455B641660F}"/>
              </a:ext>
            </a:extLst>
          </p:cNvPr>
          <p:cNvSpPr/>
          <p:nvPr/>
        </p:nvSpPr>
        <p:spPr>
          <a:xfrm>
            <a:off x="7797764" y="6417067"/>
            <a:ext cx="163286" cy="164592"/>
          </a:xfrm>
          <a:prstGeom prst="flowChartConnector">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6" name="Flowchart: Connector 35">
            <a:extLst>
              <a:ext uri="{FF2B5EF4-FFF2-40B4-BE49-F238E27FC236}">
                <a16:creationId xmlns:a16="http://schemas.microsoft.com/office/drawing/2014/main" id="{61667447-E467-23BA-6295-34DEC15F1DD4}"/>
              </a:ext>
            </a:extLst>
          </p:cNvPr>
          <p:cNvSpPr/>
          <p:nvPr/>
        </p:nvSpPr>
        <p:spPr>
          <a:xfrm>
            <a:off x="8784000" y="6405062"/>
            <a:ext cx="163285" cy="164592"/>
          </a:xfrm>
          <a:prstGeom prst="flowChartConnector">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7" name="Flowchart: Connector 46">
            <a:extLst>
              <a:ext uri="{FF2B5EF4-FFF2-40B4-BE49-F238E27FC236}">
                <a16:creationId xmlns:a16="http://schemas.microsoft.com/office/drawing/2014/main" id="{4E3060FA-6BFB-0071-BEAB-1C0BA4CE47BD}"/>
              </a:ext>
            </a:extLst>
          </p:cNvPr>
          <p:cNvSpPr/>
          <p:nvPr/>
        </p:nvSpPr>
        <p:spPr>
          <a:xfrm>
            <a:off x="6078524" y="1403331"/>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 name="TextBox 4">
            <a:extLst>
              <a:ext uri="{FF2B5EF4-FFF2-40B4-BE49-F238E27FC236}">
                <a16:creationId xmlns:a16="http://schemas.microsoft.com/office/drawing/2014/main" id="{8D81D393-AB09-A717-CB22-2D83664B4E9F}"/>
              </a:ext>
            </a:extLst>
          </p:cNvPr>
          <p:cNvSpPr txBox="1"/>
          <p:nvPr/>
        </p:nvSpPr>
        <p:spPr>
          <a:xfrm>
            <a:off x="306251" y="2846257"/>
            <a:ext cx="4743293" cy="2425344"/>
          </a:xfrm>
          <a:prstGeom prst="rect">
            <a:avLst/>
          </a:prstGeom>
          <a:noFill/>
        </p:spPr>
        <p:txBody>
          <a:bodyPr wrap="square" lIns="91440" tIns="45720" rIns="91440" bIns="4572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1200" cap="none" spc="0" normalizeH="0" baseline="0" noProof="0">
                <a:ln>
                  <a:noFill/>
                </a:ln>
                <a:solidFill>
                  <a:prstClr val="black"/>
                </a:solidFill>
                <a:effectLst/>
                <a:uLnTx/>
                <a:uFillTx/>
                <a:latin typeface="Aptos" panose="020B0004020202020204" pitchFamily="34" charset="0"/>
              </a:rPr>
              <a:t>Status: </a:t>
            </a:r>
          </a:p>
          <a:p>
            <a:pPr>
              <a:defRPr/>
            </a:pPr>
            <a:r>
              <a:rPr kumimoji="0" lang="en-US" sz="850" b="0" i="0" u="none" strike="noStrike" kern="100" cap="none" spc="0" normalizeH="0" baseline="0" noProof="0">
                <a:ln>
                  <a:noFill/>
                </a:ln>
                <a:solidFill>
                  <a:prstClr val="black"/>
                </a:solidFill>
                <a:effectLst/>
                <a:uLnTx/>
                <a:uFillTx/>
                <a:latin typeface="Aptos" panose="020B0004020202020204" pitchFamily="34" charset="0"/>
                <a:cs typeface="Times New Roman"/>
              </a:rPr>
              <a:t>Overall Status</a:t>
            </a:r>
            <a:r>
              <a:rPr lang="en-US" sz="850" kern="100">
                <a:solidFill>
                  <a:prstClr val="black"/>
                </a:solidFill>
                <a:latin typeface="Aptos" panose="020B0004020202020204" pitchFamily="34" charset="0"/>
                <a:cs typeface="Times New Roman"/>
              </a:rPr>
              <a:t> Green</a:t>
            </a:r>
            <a:endParaRPr lang="en-US" sz="850" b="0" i="0" u="none" strike="noStrike" kern="100" cap="none" spc="0" normalizeH="0" baseline="0" noProof="0">
              <a:ln>
                <a:noFill/>
              </a:ln>
              <a:solidFill>
                <a:prstClr val="black"/>
              </a:solidFill>
              <a:effectLst/>
              <a:highlight>
                <a:srgbClr val="92D050"/>
              </a:highlight>
              <a:uLnTx/>
              <a:uFillTx/>
              <a:latin typeface="Aptos" panose="020B0004020202020204" pitchFamily="34" charset="0"/>
              <a:cs typeface="Times New Roman"/>
            </a:endParaRPr>
          </a:p>
          <a:p>
            <a:pPr marL="171450" marR="0" lvl="0" indent="-171450" algn="l" defTabSz="914400" rtl="0" eaLnBrk="1" fontAlgn="auto" latinLnBrk="0" hangingPunct="1">
              <a:lnSpc>
                <a:spcPct val="115000"/>
              </a:lnSpc>
              <a:spcBef>
                <a:spcPts val="200"/>
              </a:spcBef>
              <a:spcAft>
                <a:spcPts val="0"/>
              </a:spcAft>
              <a:buClrTx/>
              <a:buSzPts val="1000"/>
              <a:buFont typeface="Arial" panose="020B0604020202020204" pitchFamily="34" charset="0"/>
              <a:buChar char="•"/>
              <a:tabLst>
                <a:tab pos="457200" algn="l"/>
              </a:tabLst>
              <a:defRPr/>
            </a:pPr>
            <a:r>
              <a:rPr kumimoji="0" lang="en-US" sz="850" b="1" i="0" u="none" strike="noStrike" kern="100" cap="none" spc="0" normalizeH="0" baseline="0" noProof="0">
                <a:ln>
                  <a:noFill/>
                </a:ln>
                <a:solidFill>
                  <a:prstClr val="black"/>
                </a:solidFill>
                <a:effectLst/>
                <a:uLnTx/>
                <a:uFillTx/>
                <a:latin typeface="Aptos" panose="020B0004020202020204" pitchFamily="34" charset="0"/>
                <a:ea typeface="Aptos" panose="020B0004020202020204" pitchFamily="34" charset="0"/>
                <a:cs typeface="Times New Roman"/>
              </a:rPr>
              <a:t>Business requirements: </a:t>
            </a:r>
            <a:r>
              <a:rPr kumimoji="0" lang="en-US" sz="850" i="0" u="none" strike="noStrike" kern="100" cap="none" spc="0" normalizeH="0" baseline="0" noProof="0">
                <a:ln>
                  <a:noFill/>
                </a:ln>
                <a:solidFill>
                  <a:prstClr val="black"/>
                </a:solidFill>
                <a:effectLst/>
                <a:uLnTx/>
                <a:uFillTx/>
                <a:latin typeface="Aptos" panose="020B0004020202020204" pitchFamily="34" charset="0"/>
                <a:ea typeface="Aptos" panose="020B0004020202020204" pitchFamily="34" charset="0"/>
                <a:cs typeface="Times New Roman"/>
              </a:rPr>
              <a:t>Approved</a:t>
            </a:r>
          </a:p>
          <a:p>
            <a:pPr marL="0" marR="0" lvl="0" indent="0" algn="l" defTabSz="914400" rtl="0" eaLnBrk="1" fontAlgn="auto" latinLnBrk="0" hangingPunct="1">
              <a:lnSpc>
                <a:spcPct val="114999"/>
              </a:lnSpc>
              <a:spcBef>
                <a:spcPts val="200"/>
              </a:spcBef>
              <a:spcAft>
                <a:spcPts val="0"/>
              </a:spcAft>
              <a:buClrTx/>
              <a:buSzPts val="1000"/>
              <a:buFontTx/>
              <a:buNone/>
              <a:tabLst>
                <a:tab pos="457200" algn="l"/>
              </a:tabLst>
              <a:defRPr/>
            </a:pPr>
            <a:r>
              <a:rPr kumimoji="0" lang="en-US" sz="850" b="1" i="0" u="none" strike="noStrike" kern="100" cap="none" spc="0" normalizeH="0" baseline="0" noProof="0">
                <a:ln>
                  <a:noFill/>
                </a:ln>
                <a:solidFill>
                  <a:prstClr val="black"/>
                </a:solidFill>
                <a:effectLst/>
                <a:uLnTx/>
                <a:uFillTx/>
                <a:latin typeface="Aptos" panose="020B0004020202020204" pitchFamily="34" charset="0"/>
                <a:cs typeface="Times New Roman"/>
              </a:rPr>
              <a:t>Next Steps:</a:t>
            </a:r>
          </a:p>
          <a:p>
            <a:pPr marL="171450" indent="-171450">
              <a:lnSpc>
                <a:spcPct val="114999"/>
              </a:lnSpc>
              <a:spcBef>
                <a:spcPts val="200"/>
              </a:spcBef>
              <a:buSzPts val="1000"/>
              <a:buFont typeface="Arial" panose="020B0604020202020204" pitchFamily="34" charset="0"/>
              <a:buChar char="•"/>
              <a:tabLst>
                <a:tab pos="457200" algn="l"/>
              </a:tabLst>
              <a:defRPr/>
            </a:pPr>
            <a:r>
              <a:rPr lang="en-US" sz="850" kern="100">
                <a:solidFill>
                  <a:prstClr val="black"/>
                </a:solidFill>
                <a:latin typeface="Aptos" panose="020B0004020202020204" pitchFamily="34" charset="0"/>
                <a:cs typeface="Times New Roman"/>
              </a:rPr>
              <a:t>Requirements and scope to be finalized; estimated delivery is Nov</a:t>
            </a:r>
          </a:p>
          <a:p>
            <a:pPr marL="171450" indent="-171450">
              <a:lnSpc>
                <a:spcPct val="114999"/>
              </a:lnSpc>
              <a:spcBef>
                <a:spcPts val="200"/>
              </a:spcBef>
              <a:buSzPts val="1000"/>
              <a:buFont typeface="Arial" panose="020B0604020202020204" pitchFamily="34" charset="0"/>
              <a:buChar char="•"/>
              <a:tabLst>
                <a:tab pos="457200" algn="l"/>
              </a:tabLst>
              <a:defRPr/>
            </a:pPr>
            <a:r>
              <a:rPr lang="en-US" sz="850" kern="100">
                <a:solidFill>
                  <a:prstClr val="black"/>
                </a:solidFill>
                <a:latin typeface="Aptos" panose="020B0004020202020204" pitchFamily="34" charset="0"/>
                <a:cs typeface="Times New Roman"/>
              </a:rPr>
              <a:t>Had discussion the Scope, need to summarize the scope with Sastry and Ronda</a:t>
            </a:r>
          </a:p>
          <a:p>
            <a:pPr marL="171450" indent="-171450">
              <a:lnSpc>
                <a:spcPct val="114999"/>
              </a:lnSpc>
              <a:spcBef>
                <a:spcPts val="200"/>
              </a:spcBef>
              <a:buSzPts val="1000"/>
              <a:buFont typeface="Arial" panose="020B0604020202020204" pitchFamily="34" charset="0"/>
              <a:buChar char="•"/>
              <a:tabLst>
                <a:tab pos="457200" algn="l"/>
              </a:tabLst>
              <a:defRPr/>
            </a:pPr>
            <a:r>
              <a:rPr lang="en-US" sz="850" kern="100">
                <a:solidFill>
                  <a:prstClr val="black"/>
                </a:solidFill>
                <a:latin typeface="Aptos" panose="020B0004020202020204" pitchFamily="34" charset="0"/>
                <a:cs typeface="Times New Roman"/>
              </a:rPr>
              <a:t>Had technical discussion with Tech arch on the solution and Scope. Have follow up call  on  7/20 to finalize the technical design.</a:t>
            </a:r>
          </a:p>
          <a:p>
            <a:pPr marL="171450" indent="-171450">
              <a:lnSpc>
                <a:spcPct val="114999"/>
              </a:lnSpc>
              <a:spcBef>
                <a:spcPts val="200"/>
              </a:spcBef>
              <a:buSzPts val="1000"/>
              <a:buFont typeface="Arial" panose="020B0604020202020204" pitchFamily="34" charset="0"/>
              <a:buChar char="•"/>
              <a:tabLst>
                <a:tab pos="457200" algn="l"/>
              </a:tabLst>
              <a:defRPr/>
            </a:pPr>
            <a:r>
              <a:rPr lang="en-US" sz="850" kern="100">
                <a:solidFill>
                  <a:prstClr val="black"/>
                </a:solidFill>
                <a:latin typeface="Aptos" panose="020B0004020202020204" pitchFamily="34" charset="0"/>
                <a:cs typeface="Times New Roman"/>
              </a:rPr>
              <a:t>Scope discussion was complete and high level solution yet to come scheduled on 7/29.</a:t>
            </a:r>
          </a:p>
          <a:p>
            <a:pPr marL="171450" indent="-171450">
              <a:lnSpc>
                <a:spcPct val="114999"/>
              </a:lnSpc>
              <a:spcBef>
                <a:spcPts val="200"/>
              </a:spcBef>
              <a:buSzPts val="1000"/>
              <a:buFont typeface="Arial" panose="020B0604020202020204" pitchFamily="34" charset="0"/>
              <a:buChar char="•"/>
              <a:tabLst>
                <a:tab pos="457200" algn="l"/>
              </a:tabLst>
              <a:defRPr/>
            </a:pPr>
            <a:r>
              <a:rPr lang="en-US" sz="850" kern="100">
                <a:solidFill>
                  <a:prstClr val="black"/>
                </a:solidFill>
                <a:latin typeface="Aptos" panose="020B0004020202020204" pitchFamily="34" charset="0"/>
                <a:cs typeface="Times New Roman"/>
              </a:rPr>
              <a:t>Scope finalization in process.</a:t>
            </a:r>
          </a:p>
          <a:p>
            <a:pPr marL="171450" indent="-171450">
              <a:lnSpc>
                <a:spcPct val="114999"/>
              </a:lnSpc>
              <a:spcBef>
                <a:spcPts val="200"/>
              </a:spcBef>
              <a:buSzPts val="1000"/>
              <a:buFont typeface="Arial" panose="020B0604020202020204" pitchFamily="34" charset="0"/>
              <a:buChar char="•"/>
              <a:tabLst>
                <a:tab pos="457200" algn="l"/>
              </a:tabLst>
              <a:defRPr/>
            </a:pPr>
            <a:r>
              <a:rPr lang="en-US" sz="850" kern="100">
                <a:solidFill>
                  <a:prstClr val="black"/>
                </a:solidFill>
                <a:latin typeface="Aptos" panose="020B0004020202020204" pitchFamily="34" charset="0"/>
                <a:cs typeface="Times New Roman"/>
              </a:rPr>
              <a:t>Technical design in process Schedule from the line pending</a:t>
            </a:r>
          </a:p>
          <a:p>
            <a:pPr marL="171450" indent="-171450">
              <a:lnSpc>
                <a:spcPct val="114999"/>
              </a:lnSpc>
              <a:spcBef>
                <a:spcPts val="200"/>
              </a:spcBef>
              <a:buSzPts val="1000"/>
              <a:buFont typeface="Arial" panose="020B0604020202020204" pitchFamily="34" charset="0"/>
              <a:buChar char="•"/>
              <a:tabLst>
                <a:tab pos="457200" algn="l"/>
              </a:tabLst>
              <a:defRPr/>
            </a:pPr>
            <a:r>
              <a:rPr lang="en-US" sz="850" kern="100">
                <a:solidFill>
                  <a:prstClr val="black"/>
                </a:solidFill>
                <a:latin typeface="Aptos" panose="020B0004020202020204" pitchFamily="34" charset="0"/>
                <a:cs typeface="Times New Roman"/>
              </a:rPr>
              <a:t>Kick off  call scheduled on Aug 26</a:t>
            </a:r>
            <a:r>
              <a:rPr lang="en-US" sz="850" kern="100" baseline="30000">
                <a:solidFill>
                  <a:prstClr val="black"/>
                </a:solidFill>
                <a:latin typeface="Aptos" panose="020B0004020202020204" pitchFamily="34" charset="0"/>
                <a:cs typeface="Times New Roman"/>
              </a:rPr>
              <a:t>th</a:t>
            </a:r>
            <a:r>
              <a:rPr lang="en-US" sz="850" kern="100">
                <a:solidFill>
                  <a:prstClr val="black"/>
                </a:solidFill>
                <a:latin typeface="Aptos" panose="020B0004020202020204" pitchFamily="34" charset="0"/>
                <a:cs typeface="Times New Roman"/>
              </a:rPr>
              <a:t> </a:t>
            </a:r>
          </a:p>
          <a:p>
            <a:pPr marL="171450" marR="0" lvl="1" indent="-171450" algn="l" defTabSz="914400" rtl="0" eaLnBrk="1" fontAlgn="auto" latinLnBrk="0" hangingPunct="1">
              <a:lnSpc>
                <a:spcPct val="114999"/>
              </a:lnSpc>
              <a:spcBef>
                <a:spcPts val="200"/>
              </a:spcBef>
              <a:spcAft>
                <a:spcPts val="0"/>
              </a:spcAft>
              <a:buClrTx/>
              <a:buSzPts val="1000"/>
              <a:buFont typeface="Arial" panose="020B0604020202020204" pitchFamily="34" charset="0"/>
              <a:buChar char="•"/>
              <a:tabLst>
                <a:tab pos="457200" algn="l"/>
              </a:tabLst>
              <a:defRPr/>
            </a:pPr>
            <a:r>
              <a:rPr kumimoji="0" lang="en-US" sz="850" b="0" i="0" u="none" strike="noStrike" kern="100" cap="none" spc="0" normalizeH="0" baseline="0" noProof="0">
                <a:ln>
                  <a:noFill/>
                </a:ln>
                <a:solidFill>
                  <a:prstClr val="black"/>
                </a:solidFill>
                <a:effectLst/>
                <a:uLnTx/>
                <a:uFillTx/>
                <a:latin typeface="Aptos" panose="020B0004020202020204" pitchFamily="34" charset="0"/>
                <a:cs typeface="Times New Roman"/>
              </a:rPr>
              <a:t>Scope Finalized</a:t>
            </a:r>
          </a:p>
          <a:p>
            <a:pPr marL="0" marR="0" lvl="0" indent="0" algn="l" defTabSz="914400" rtl="0" eaLnBrk="1" fontAlgn="auto" latinLnBrk="0" hangingPunct="1">
              <a:lnSpc>
                <a:spcPct val="114999"/>
              </a:lnSpc>
              <a:spcBef>
                <a:spcPts val="200"/>
              </a:spcBef>
              <a:spcAft>
                <a:spcPts val="0"/>
              </a:spcAft>
              <a:buClrTx/>
              <a:buSzPts val="1000"/>
              <a:buFontTx/>
              <a:buNone/>
              <a:tabLst>
                <a:tab pos="457200" algn="l"/>
              </a:tabLst>
              <a:defRPr/>
            </a:pPr>
            <a:endParaRPr kumimoji="0" lang="en-US" sz="800" b="1" i="0" u="sng" strike="noStrike" kern="100" cap="none" spc="0" normalizeH="0" baseline="0" noProof="0">
              <a:ln>
                <a:noFill/>
              </a:ln>
              <a:solidFill>
                <a:prstClr val="black"/>
              </a:solidFill>
              <a:effectLst/>
              <a:uLnTx/>
              <a:uFillTx/>
              <a:latin typeface="Aptos" panose="02110004020202020204"/>
              <a:ea typeface="Aptos" panose="020B0004020202020204" pitchFamily="34" charset="0"/>
              <a:cs typeface="Times New Roman"/>
            </a:endParaRPr>
          </a:p>
        </p:txBody>
      </p:sp>
      <p:sp>
        <p:nvSpPr>
          <p:cNvPr id="3" name="TextBox 2">
            <a:extLst>
              <a:ext uri="{FF2B5EF4-FFF2-40B4-BE49-F238E27FC236}">
                <a16:creationId xmlns:a16="http://schemas.microsoft.com/office/drawing/2014/main" id="{592E208F-0564-DAEF-75C3-6D581879A9FF}"/>
              </a:ext>
            </a:extLst>
          </p:cNvPr>
          <p:cNvSpPr txBox="1"/>
          <p:nvPr/>
        </p:nvSpPr>
        <p:spPr>
          <a:xfrm>
            <a:off x="9492974" y="227718"/>
            <a:ext cx="2676180" cy="517320"/>
          </a:xfrm>
          <a:prstGeom prst="rect">
            <a:avLst/>
          </a:prstGeom>
          <a:noFill/>
        </p:spPr>
        <p:txBody>
          <a:bodyPr wrap="none" lIns="0" tIns="0" rIns="0" bIns="0" rtlCol="0" anchor="t">
            <a:noAutofit/>
          </a:bodyPr>
          <a:lstStyle/>
          <a:p>
            <a:pPr>
              <a:lnSpc>
                <a:spcPct val="112000"/>
              </a:lnSpc>
              <a:defRPr/>
            </a:pPr>
            <a:r>
              <a:rPr lang="en-US" sz="1200">
                <a:latin typeface="Aptos"/>
              </a:rPr>
              <a:t>Project Manager :  Chalam Buddha</a:t>
            </a:r>
            <a:endParaRPr lang="en-US">
              <a:latin typeface="Aptos"/>
            </a:endParaRPr>
          </a:p>
        </p:txBody>
      </p:sp>
      <p:sp>
        <p:nvSpPr>
          <p:cNvPr id="4" name="Flowchart: Connector 3">
            <a:extLst>
              <a:ext uri="{FF2B5EF4-FFF2-40B4-BE49-F238E27FC236}">
                <a16:creationId xmlns:a16="http://schemas.microsoft.com/office/drawing/2014/main" id="{63400A2B-A1D4-3C66-1B9A-279C6DD3F084}"/>
              </a:ext>
            </a:extLst>
          </p:cNvPr>
          <p:cNvSpPr/>
          <p:nvPr/>
        </p:nvSpPr>
        <p:spPr>
          <a:xfrm>
            <a:off x="3278895" y="1403331"/>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7" name="Flowchart: Connector 6">
            <a:extLst>
              <a:ext uri="{FF2B5EF4-FFF2-40B4-BE49-F238E27FC236}">
                <a16:creationId xmlns:a16="http://schemas.microsoft.com/office/drawing/2014/main" id="{F250654C-FC55-46AE-4840-9BB61872FDC9}"/>
              </a:ext>
            </a:extLst>
          </p:cNvPr>
          <p:cNvSpPr/>
          <p:nvPr/>
        </p:nvSpPr>
        <p:spPr>
          <a:xfrm>
            <a:off x="5122882" y="1410975"/>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3" name="Flowchart: Connector 12">
            <a:extLst>
              <a:ext uri="{FF2B5EF4-FFF2-40B4-BE49-F238E27FC236}">
                <a16:creationId xmlns:a16="http://schemas.microsoft.com/office/drawing/2014/main" id="{0149B957-08BB-81EC-5214-772F6D7A43D5}"/>
              </a:ext>
            </a:extLst>
          </p:cNvPr>
          <p:cNvSpPr/>
          <p:nvPr/>
        </p:nvSpPr>
        <p:spPr>
          <a:xfrm>
            <a:off x="4234537" y="1403331"/>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6" name="TextBox 15">
            <a:extLst>
              <a:ext uri="{FF2B5EF4-FFF2-40B4-BE49-F238E27FC236}">
                <a16:creationId xmlns:a16="http://schemas.microsoft.com/office/drawing/2014/main" id="{626AF709-8257-BD01-688B-5D08FE34BE71}"/>
              </a:ext>
            </a:extLst>
          </p:cNvPr>
          <p:cNvSpPr txBox="1"/>
          <p:nvPr/>
        </p:nvSpPr>
        <p:spPr>
          <a:xfrm>
            <a:off x="501026" y="1831276"/>
            <a:ext cx="4743293" cy="885050"/>
          </a:xfrm>
          <a:prstGeom prst="rect">
            <a:avLst/>
          </a:prstGeom>
          <a:noFill/>
        </p:spPr>
        <p:txBody>
          <a:bodyPr wrap="square" lIns="91440" tIns="45720" rIns="91440" bIns="4572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1200" cap="none" spc="0" normalizeH="0" baseline="0" noProof="0">
                <a:ln>
                  <a:noFill/>
                </a:ln>
                <a:solidFill>
                  <a:prstClr val="black"/>
                </a:solidFill>
                <a:effectLst/>
                <a:uLnTx/>
                <a:uFillTx/>
                <a:latin typeface="Aptos" panose="020B0004020202020204" pitchFamily="34" charset="0"/>
              </a:rPr>
              <a:t>Scope</a:t>
            </a:r>
          </a:p>
          <a:p>
            <a:pPr marL="171450" marR="0" lvl="0" indent="-171450" algn="l" defTabSz="914400" rtl="0" eaLnBrk="1" fontAlgn="auto" latinLnBrk="0" hangingPunct="1">
              <a:lnSpc>
                <a:spcPct val="114999"/>
              </a:lnSpc>
              <a:spcBef>
                <a:spcPts val="200"/>
              </a:spcBef>
              <a:spcAft>
                <a:spcPts val="0"/>
              </a:spcAft>
              <a:buClrTx/>
              <a:buSzPts val="1000"/>
              <a:buFont typeface="Arial" panose="020B0604020202020204" pitchFamily="34" charset="0"/>
              <a:buChar char="•"/>
              <a:tabLst>
                <a:tab pos="457200" algn="l"/>
              </a:tabLst>
              <a:defRPr/>
            </a:pPr>
            <a:r>
              <a:rPr kumimoji="0" lang="en-US" sz="800" i="0" strike="noStrike" kern="100" cap="none" spc="0" normalizeH="0" baseline="0" noProof="0">
                <a:ln>
                  <a:noFill/>
                </a:ln>
                <a:solidFill>
                  <a:prstClr val="black"/>
                </a:solidFill>
                <a:effectLst/>
                <a:uLnTx/>
                <a:uFillTx/>
                <a:latin typeface="Aptos" panose="02110004020202020204"/>
                <a:ea typeface="Aptos" panose="020B0004020202020204" pitchFamily="34" charset="0"/>
                <a:cs typeface="Times New Roman"/>
              </a:rPr>
              <a:t>There were 3 reports identified which will be converted from BO to Power BI.</a:t>
            </a:r>
          </a:p>
          <a:p>
            <a:pPr marL="171450" marR="0" lvl="0" indent="-171450" algn="l" defTabSz="914400" rtl="0" eaLnBrk="1" fontAlgn="auto" latinLnBrk="0" hangingPunct="1">
              <a:lnSpc>
                <a:spcPct val="114999"/>
              </a:lnSpc>
              <a:spcBef>
                <a:spcPts val="200"/>
              </a:spcBef>
              <a:spcAft>
                <a:spcPts val="0"/>
              </a:spcAft>
              <a:buClrTx/>
              <a:buSzPts val="1000"/>
              <a:buFont typeface="Arial" panose="020B0604020202020204" pitchFamily="34" charset="0"/>
              <a:buChar char="•"/>
              <a:tabLst>
                <a:tab pos="457200" algn="l"/>
              </a:tabLst>
              <a:defRPr/>
            </a:pPr>
            <a:r>
              <a:rPr lang="en-US" sz="800" kern="100">
                <a:solidFill>
                  <a:prstClr val="black"/>
                </a:solidFill>
                <a:latin typeface="Aptos" panose="02110004020202020204"/>
                <a:ea typeface="Aptos" panose="020B0004020202020204" pitchFamily="34" charset="0"/>
                <a:cs typeface="Times New Roman"/>
              </a:rPr>
              <a:t>The underlying data from oracle also need to be moved to Snowflake</a:t>
            </a:r>
          </a:p>
          <a:p>
            <a:pPr marL="171450" indent="-171450">
              <a:lnSpc>
                <a:spcPct val="114999"/>
              </a:lnSpc>
              <a:spcBef>
                <a:spcPts val="200"/>
              </a:spcBef>
              <a:buSzPts val="1000"/>
              <a:buFont typeface="Arial" panose="020B0604020202020204" pitchFamily="34" charset="0"/>
              <a:buChar char="•"/>
              <a:tabLst>
                <a:tab pos="457200" algn="l"/>
              </a:tabLst>
              <a:defRPr/>
            </a:pPr>
            <a:r>
              <a:rPr kumimoji="0" lang="en-US" sz="800" i="0" strike="noStrike" kern="100" cap="none" spc="0" normalizeH="0" baseline="0" noProof="0">
                <a:ln>
                  <a:noFill/>
                </a:ln>
                <a:solidFill>
                  <a:prstClr val="black"/>
                </a:solidFill>
                <a:effectLst/>
                <a:uLnTx/>
                <a:uFillTx/>
                <a:latin typeface="Aptos" panose="02110004020202020204"/>
                <a:ea typeface="Aptos" panose="020B0004020202020204" pitchFamily="34" charset="0"/>
                <a:cs typeface="Times New Roman"/>
              </a:rPr>
              <a:t>Reports to be converted are </a:t>
            </a:r>
            <a:r>
              <a:rPr lang="en-US" sz="800" kern="100">
                <a:solidFill>
                  <a:prstClr val="black"/>
                </a:solidFill>
                <a:latin typeface="Aptos" panose="02110004020202020204"/>
                <a:cs typeface="Times New Roman"/>
              </a:rPr>
              <a:t>SA4070, SA4072, and SA4073</a:t>
            </a:r>
          </a:p>
          <a:p>
            <a:pPr marL="171450" marR="0" lvl="0" indent="-171450" algn="l" defTabSz="914400" rtl="0" eaLnBrk="1" fontAlgn="auto" latinLnBrk="0" hangingPunct="1">
              <a:lnSpc>
                <a:spcPct val="114999"/>
              </a:lnSpc>
              <a:spcBef>
                <a:spcPts val="200"/>
              </a:spcBef>
              <a:spcAft>
                <a:spcPts val="0"/>
              </a:spcAft>
              <a:buClrTx/>
              <a:buSzPts val="1000"/>
              <a:buFont typeface="Arial" panose="020B0604020202020204" pitchFamily="34" charset="0"/>
              <a:buChar char="•"/>
              <a:tabLst>
                <a:tab pos="457200" algn="l"/>
              </a:tabLst>
              <a:defRPr/>
            </a:pPr>
            <a:endParaRPr kumimoji="0" lang="en-US" sz="800" i="0" strike="noStrike" kern="100" cap="none" spc="0" normalizeH="0" baseline="0" noProof="0">
              <a:ln>
                <a:noFill/>
              </a:ln>
              <a:solidFill>
                <a:prstClr val="black"/>
              </a:solidFill>
              <a:effectLst/>
              <a:uLnTx/>
              <a:uFillTx/>
              <a:latin typeface="Aptos" panose="02110004020202020204"/>
              <a:ea typeface="Aptos" panose="020B0004020202020204" pitchFamily="34" charset="0"/>
              <a:cs typeface="Times New Roman"/>
            </a:endParaRPr>
          </a:p>
        </p:txBody>
      </p:sp>
    </p:spTree>
    <p:extLst>
      <p:ext uri="{BB962C8B-B14F-4D97-AF65-F5344CB8AC3E}">
        <p14:creationId xmlns:p14="http://schemas.microsoft.com/office/powerpoint/2010/main" val="181991421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72E139-A422-0991-1D0F-3EA270BCE5CC}"/>
            </a:ext>
          </a:extLst>
        </p:cNvPr>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5244F588-6BED-5E7A-FC71-DAE8C836A039}"/>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8" imgH="408" progId="TCLayout.ActiveDocument.1">
                  <p:embed/>
                </p:oleObj>
              </mc:Choice>
              <mc:Fallback>
                <p:oleObj name="think-cell Slide" r:id="rId4" imgW="408" imgH="408" progId="TCLayout.ActiveDocument.1">
                  <p:embed/>
                  <p:pic>
                    <p:nvPicPr>
                      <p:cNvPr id="9" name="think-cell data - do not delete" hidden="1">
                        <a:extLst>
                          <a:ext uri="{FF2B5EF4-FFF2-40B4-BE49-F238E27FC236}">
                            <a16:creationId xmlns:a16="http://schemas.microsoft.com/office/drawing/2014/main" id="{5244F588-6BED-5E7A-FC71-DAE8C836A039}"/>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graphicFrame>
        <p:nvGraphicFramePr>
          <p:cNvPr id="32" name="Group 614">
            <a:extLst>
              <a:ext uri="{FF2B5EF4-FFF2-40B4-BE49-F238E27FC236}">
                <a16:creationId xmlns:a16="http://schemas.microsoft.com/office/drawing/2014/main" id="{F261A4C9-0484-DAA3-3F80-1C0C7F2FA020}"/>
              </a:ext>
            </a:extLst>
          </p:cNvPr>
          <p:cNvGraphicFramePr>
            <a:graphicFrameLocks noGrp="1"/>
          </p:cNvGraphicFramePr>
          <p:nvPr/>
        </p:nvGraphicFramePr>
        <p:xfrm>
          <a:off x="4980036" y="6305845"/>
          <a:ext cx="7136859" cy="386554"/>
        </p:xfrm>
        <a:graphic>
          <a:graphicData uri="http://schemas.openxmlformats.org/drawingml/2006/table">
            <a:tbl>
              <a:tblPr/>
              <a:tblGrid>
                <a:gridCol w="606425">
                  <a:extLst>
                    <a:ext uri="{9D8B030D-6E8A-4147-A177-3AD203B41FA5}">
                      <a16:colId xmlns:a16="http://schemas.microsoft.com/office/drawing/2014/main" val="20000"/>
                    </a:ext>
                  </a:extLst>
                </a:gridCol>
                <a:gridCol w="307361">
                  <a:extLst>
                    <a:ext uri="{9D8B030D-6E8A-4147-A177-3AD203B41FA5}">
                      <a16:colId xmlns:a16="http://schemas.microsoft.com/office/drawing/2014/main" val="20001"/>
                    </a:ext>
                  </a:extLst>
                </a:gridCol>
                <a:gridCol w="757584">
                  <a:extLst>
                    <a:ext uri="{9D8B030D-6E8A-4147-A177-3AD203B41FA5}">
                      <a16:colId xmlns:a16="http://schemas.microsoft.com/office/drawing/2014/main" val="20002"/>
                    </a:ext>
                  </a:extLst>
                </a:gridCol>
                <a:gridCol w="302812">
                  <a:extLst>
                    <a:ext uri="{9D8B030D-6E8A-4147-A177-3AD203B41FA5}">
                      <a16:colId xmlns:a16="http://schemas.microsoft.com/office/drawing/2014/main" val="20003"/>
                    </a:ext>
                  </a:extLst>
                </a:gridCol>
                <a:gridCol w="665317">
                  <a:extLst>
                    <a:ext uri="{9D8B030D-6E8A-4147-A177-3AD203B41FA5}">
                      <a16:colId xmlns:a16="http://schemas.microsoft.com/office/drawing/2014/main" val="20004"/>
                    </a:ext>
                  </a:extLst>
                </a:gridCol>
                <a:gridCol w="518025">
                  <a:extLst>
                    <a:ext uri="{9D8B030D-6E8A-4147-A177-3AD203B41FA5}">
                      <a16:colId xmlns:a16="http://schemas.microsoft.com/office/drawing/2014/main" val="20005"/>
                    </a:ext>
                  </a:extLst>
                </a:gridCol>
                <a:gridCol w="568469">
                  <a:extLst>
                    <a:ext uri="{9D8B030D-6E8A-4147-A177-3AD203B41FA5}">
                      <a16:colId xmlns:a16="http://schemas.microsoft.com/office/drawing/2014/main" val="20006"/>
                    </a:ext>
                  </a:extLst>
                </a:gridCol>
                <a:gridCol w="368983">
                  <a:extLst>
                    <a:ext uri="{9D8B030D-6E8A-4147-A177-3AD203B41FA5}">
                      <a16:colId xmlns:a16="http://schemas.microsoft.com/office/drawing/2014/main" val="20007"/>
                    </a:ext>
                  </a:extLst>
                </a:gridCol>
                <a:gridCol w="1372005">
                  <a:extLst>
                    <a:ext uri="{9D8B030D-6E8A-4147-A177-3AD203B41FA5}">
                      <a16:colId xmlns:a16="http://schemas.microsoft.com/office/drawing/2014/main" val="20008"/>
                    </a:ext>
                  </a:extLst>
                </a:gridCol>
                <a:gridCol w="378212">
                  <a:extLst>
                    <a:ext uri="{9D8B030D-6E8A-4147-A177-3AD203B41FA5}">
                      <a16:colId xmlns:a16="http://schemas.microsoft.com/office/drawing/2014/main" val="20009"/>
                    </a:ext>
                  </a:extLst>
                </a:gridCol>
                <a:gridCol w="1291666">
                  <a:extLst>
                    <a:ext uri="{9D8B030D-6E8A-4147-A177-3AD203B41FA5}">
                      <a16:colId xmlns:a16="http://schemas.microsoft.com/office/drawing/2014/main" val="20010"/>
                    </a:ext>
                  </a:extLst>
                </a:gridCol>
              </a:tblGrid>
              <a:tr h="386554">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Arial" charset="0"/>
                          <a:cs typeface="Arial" charset="0"/>
                        </a:rPr>
                        <a:t>Status Key</a:t>
                      </a:r>
                      <a:endParaRPr kumimoji="0" lang="en-GB" sz="1600" b="0" i="0" u="none" strike="noStrike" cap="none" normalizeH="0" baseline="0">
                        <a:ln>
                          <a:noFill/>
                        </a:ln>
                        <a:solidFill>
                          <a:srgbClr val="002060"/>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mj-lt"/>
                        </a:rPr>
                        <a:t>C</a:t>
                      </a: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Arial" charset="0"/>
                          <a:cs typeface="Arial" charset="0"/>
                        </a:rPr>
                        <a:t>Completed</a:t>
                      </a:r>
                      <a:endParaRPr kumimoji="0" lang="en-GB" sz="1600" b="0" i="0" u="none" strike="noStrike" cap="none" normalizeH="0" baseline="0">
                        <a:ln>
                          <a:noFill/>
                        </a:ln>
                        <a:solidFill>
                          <a:srgbClr val="002060"/>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On-Schedule</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Major Issues</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Some Issues</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NS</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Not Started</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2" name="Title 1">
            <a:extLst>
              <a:ext uri="{FF2B5EF4-FFF2-40B4-BE49-F238E27FC236}">
                <a16:creationId xmlns:a16="http://schemas.microsoft.com/office/drawing/2014/main" id="{EE4D2CF8-90BF-D114-E7CA-25FC26E0C114}"/>
              </a:ext>
            </a:extLst>
          </p:cNvPr>
          <p:cNvSpPr>
            <a:spLocks noGrp="1"/>
          </p:cNvSpPr>
          <p:nvPr>
            <p:ph type="title"/>
          </p:nvPr>
        </p:nvSpPr>
        <p:spPr>
          <a:xfrm>
            <a:off x="231954" y="101795"/>
            <a:ext cx="9281086" cy="788695"/>
          </a:xfrm>
        </p:spPr>
        <p:txBody>
          <a:bodyPr vert="horz">
            <a:normAutofit/>
          </a:bodyPr>
          <a:lstStyle/>
          <a:p>
            <a:pPr lvl="0">
              <a:lnSpc>
                <a:spcPct val="100000"/>
              </a:lnSpc>
              <a:spcBef>
                <a:spcPts val="0"/>
              </a:spcBef>
              <a:defRPr/>
            </a:pPr>
            <a:r>
              <a:rPr lang="en-US" sz="2400">
                <a:solidFill>
                  <a:srgbClr val="29389F"/>
                </a:solidFill>
                <a:latin typeface="Arial" pitchFamily="34" charset="0"/>
                <a:cs typeface="Arial" pitchFamily="34" charset="0"/>
              </a:rPr>
              <a:t>2026 GIN Updates</a:t>
            </a:r>
          </a:p>
        </p:txBody>
      </p:sp>
      <p:graphicFrame>
        <p:nvGraphicFramePr>
          <p:cNvPr id="11" name="Group 513">
            <a:extLst>
              <a:ext uri="{FF2B5EF4-FFF2-40B4-BE49-F238E27FC236}">
                <a16:creationId xmlns:a16="http://schemas.microsoft.com/office/drawing/2014/main" id="{A2B52C97-D713-F7E7-DCA4-315AE9BAAF69}"/>
              </a:ext>
            </a:extLst>
          </p:cNvPr>
          <p:cNvGraphicFramePr>
            <a:graphicFrameLocks noGrp="1"/>
          </p:cNvGraphicFramePr>
          <p:nvPr>
            <p:extLst>
              <p:ext uri="{D42A27DB-BD31-4B8C-83A1-F6EECF244321}">
                <p14:modId xmlns:p14="http://schemas.microsoft.com/office/powerpoint/2010/main" val="2060365603"/>
              </p:ext>
            </p:extLst>
          </p:nvPr>
        </p:nvGraphicFramePr>
        <p:xfrm>
          <a:off x="234455" y="927650"/>
          <a:ext cx="2638218" cy="344301"/>
        </p:xfrm>
        <a:graphic>
          <a:graphicData uri="http://schemas.openxmlformats.org/drawingml/2006/table">
            <a:tbl>
              <a:tblPr/>
              <a:tblGrid>
                <a:gridCol w="984745">
                  <a:extLst>
                    <a:ext uri="{9D8B030D-6E8A-4147-A177-3AD203B41FA5}">
                      <a16:colId xmlns:a16="http://schemas.microsoft.com/office/drawing/2014/main" val="20000"/>
                    </a:ext>
                  </a:extLst>
                </a:gridCol>
                <a:gridCol w="1653473">
                  <a:extLst>
                    <a:ext uri="{9D8B030D-6E8A-4147-A177-3AD203B41FA5}">
                      <a16:colId xmlns:a16="http://schemas.microsoft.com/office/drawing/2014/main" val="20001"/>
                    </a:ext>
                  </a:extLst>
                </a:gridCol>
              </a:tblGrid>
              <a:tr h="344301">
                <a:tc>
                  <a:txBody>
                    <a:bodyPr/>
                    <a:lstStyle/>
                    <a:p>
                      <a:pPr marL="0" marR="0" lvl="0" indent="0" algn="l" defTabSz="914400" rtl="0" eaLnBrk="0" fontAlgn="base" latinLnBrk="0" hangingPunct="0">
                        <a:lnSpc>
                          <a:spcPct val="95000"/>
                        </a:lnSpc>
                        <a:spcBef>
                          <a:spcPct val="0"/>
                        </a:spcBef>
                        <a:spcAft>
                          <a:spcPct val="50000"/>
                        </a:spcAft>
                        <a:buClrTx/>
                        <a:buSzTx/>
                        <a:buFontTx/>
                        <a:buNone/>
                        <a:tabLst/>
                      </a:pPr>
                      <a:r>
                        <a:rPr kumimoji="0" lang="en-GB" sz="1050" b="1" i="0" u="none" strike="noStrike" kern="1200" cap="none" normalizeH="0" baseline="0">
                          <a:ln>
                            <a:noFill/>
                          </a:ln>
                          <a:solidFill>
                            <a:schemeClr val="bg1"/>
                          </a:solidFill>
                          <a:effectLst/>
                          <a:latin typeface="Arial"/>
                          <a:ea typeface="+mn-ea"/>
                          <a:cs typeface="+mn-cs"/>
                        </a:rPr>
                        <a:t>Status Date:</a:t>
                      </a:r>
                    </a:p>
                  </a:txBody>
                  <a:tcPr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defRPr/>
                      </a:pPr>
                      <a:r>
                        <a:rPr kumimoji="0" lang="en-GB" sz="850" b="1" i="0" u="none" strike="noStrike" kern="1200" cap="none" normalizeH="0" baseline="0">
                          <a:ln>
                            <a:noFill/>
                          </a:ln>
                          <a:solidFill>
                            <a:schemeClr val="tx1"/>
                          </a:solidFill>
                          <a:effectLst/>
                          <a:latin typeface="Aptos" panose="020B0004020202020204" pitchFamily="34" charset="0"/>
                          <a:ea typeface="+mn-ea"/>
                          <a:cs typeface="+mn-cs"/>
                        </a:rPr>
                        <a:t>08/28/26</a:t>
                      </a:r>
                    </a:p>
                  </a:txBody>
                  <a:tcPr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14" name="Table 13">
            <a:extLst>
              <a:ext uri="{FF2B5EF4-FFF2-40B4-BE49-F238E27FC236}">
                <a16:creationId xmlns:a16="http://schemas.microsoft.com/office/drawing/2014/main" id="{BBECC696-9559-0D2E-4DE1-6A78DAC4FE0A}"/>
              </a:ext>
            </a:extLst>
          </p:cNvPr>
          <p:cNvGraphicFramePr>
            <a:graphicFrameLocks noGrp="1"/>
          </p:cNvGraphicFramePr>
          <p:nvPr>
            <p:extLst>
              <p:ext uri="{D42A27DB-BD31-4B8C-83A1-F6EECF244321}">
                <p14:modId xmlns:p14="http://schemas.microsoft.com/office/powerpoint/2010/main" val="3140062174"/>
              </p:ext>
            </p:extLst>
          </p:nvPr>
        </p:nvGraphicFramePr>
        <p:xfrm>
          <a:off x="6653182" y="927650"/>
          <a:ext cx="5456112" cy="749848"/>
        </p:xfrm>
        <a:graphic>
          <a:graphicData uri="http://schemas.openxmlformats.org/drawingml/2006/table">
            <a:tbl>
              <a:tblPr>
                <a:tableStyleId>{5C22544A-7EE6-4342-B048-85BDC9FD1C3A}</a:tableStyleId>
              </a:tblPr>
              <a:tblGrid>
                <a:gridCol w="1065600">
                  <a:extLst>
                    <a:ext uri="{9D8B030D-6E8A-4147-A177-3AD203B41FA5}">
                      <a16:colId xmlns:a16="http://schemas.microsoft.com/office/drawing/2014/main" val="2456552316"/>
                    </a:ext>
                  </a:extLst>
                </a:gridCol>
                <a:gridCol w="944471">
                  <a:extLst>
                    <a:ext uri="{9D8B030D-6E8A-4147-A177-3AD203B41FA5}">
                      <a16:colId xmlns:a16="http://schemas.microsoft.com/office/drawing/2014/main" val="2327174630"/>
                    </a:ext>
                  </a:extLst>
                </a:gridCol>
                <a:gridCol w="1544337">
                  <a:extLst>
                    <a:ext uri="{9D8B030D-6E8A-4147-A177-3AD203B41FA5}">
                      <a16:colId xmlns:a16="http://schemas.microsoft.com/office/drawing/2014/main" val="1100051595"/>
                    </a:ext>
                  </a:extLst>
                </a:gridCol>
                <a:gridCol w="931708">
                  <a:extLst>
                    <a:ext uri="{9D8B030D-6E8A-4147-A177-3AD203B41FA5}">
                      <a16:colId xmlns:a16="http://schemas.microsoft.com/office/drawing/2014/main" val="2042261034"/>
                    </a:ext>
                  </a:extLst>
                </a:gridCol>
                <a:gridCol w="969996">
                  <a:extLst>
                    <a:ext uri="{9D8B030D-6E8A-4147-A177-3AD203B41FA5}">
                      <a16:colId xmlns:a16="http://schemas.microsoft.com/office/drawing/2014/main" val="2815874248"/>
                    </a:ext>
                  </a:extLst>
                </a:gridCol>
              </a:tblGrid>
              <a:tr h="366567">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2026 Budget</a:t>
                      </a:r>
                      <a:r>
                        <a:rPr lang="en-US" sz="1050" b="1" i="0" u="none" strike="noStrike" kern="1200" cap="none" normalizeH="0" baseline="0">
                          <a:ln>
                            <a:noFill/>
                          </a:ln>
                          <a:solidFill>
                            <a:schemeClr val="bg1"/>
                          </a:solidFill>
                          <a:effectLst/>
                          <a:latin typeface="Arial"/>
                          <a:ea typeface="+mn-ea"/>
                          <a:cs typeface="+mn-cs"/>
                        </a:rPr>
                        <a:t> </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YTD Actuals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Remaining 2026 Forecast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Current YE Forecast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Total Budget</a:t>
                      </a:r>
                      <a:r>
                        <a:rPr lang="en-US" sz="1050" b="1" i="0" u="none" strike="noStrike" kern="1200" cap="none" normalizeH="0" baseline="0">
                          <a:ln>
                            <a:noFill/>
                          </a:ln>
                          <a:solidFill>
                            <a:schemeClr val="bg1"/>
                          </a:solidFill>
                          <a:effectLst/>
                          <a:latin typeface="Arial"/>
                          <a:ea typeface="+mn-ea"/>
                          <a:cs typeface="+mn-cs"/>
                        </a:rPr>
                        <a:t> </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383281">
                <a:tc>
                  <a:txBody>
                    <a:bodyPr/>
                    <a:lstStyle/>
                    <a:p>
                      <a:pPr marL="0" marR="0" lvl="0" indent="0" algn="ctr" defTabSz="914400" rtl="0" eaLnBrk="0" fontAlgn="base" latinLnBrk="0" hangingPunct="0">
                        <a:lnSpc>
                          <a:spcPct val="95000"/>
                        </a:lnSpc>
                        <a:spcBef>
                          <a:spcPct val="0"/>
                        </a:spcBef>
                        <a:spcAft>
                          <a:spcPct val="50000"/>
                        </a:spcAft>
                        <a:buClrTx/>
                        <a:buSzTx/>
                        <a:buFontTx/>
                        <a:buNone/>
                        <a:tabLst/>
                        <a:defRPr/>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$60,000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defRPr/>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defRPr/>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defRPr/>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defRPr/>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7499024"/>
                  </a:ext>
                </a:extLst>
              </a:tr>
            </a:tbl>
          </a:graphicData>
        </a:graphic>
      </p:graphicFrame>
      <p:graphicFrame>
        <p:nvGraphicFramePr>
          <p:cNvPr id="25" name="Table 24">
            <a:extLst>
              <a:ext uri="{FF2B5EF4-FFF2-40B4-BE49-F238E27FC236}">
                <a16:creationId xmlns:a16="http://schemas.microsoft.com/office/drawing/2014/main" id="{2B55725D-37B7-AA5A-2756-6727E084A5B7}"/>
              </a:ext>
            </a:extLst>
          </p:cNvPr>
          <p:cNvGraphicFramePr>
            <a:graphicFrameLocks noGrp="1"/>
          </p:cNvGraphicFramePr>
          <p:nvPr/>
        </p:nvGraphicFramePr>
        <p:xfrm>
          <a:off x="2811025" y="920667"/>
          <a:ext cx="3829275" cy="749848"/>
        </p:xfrm>
        <a:graphic>
          <a:graphicData uri="http://schemas.openxmlformats.org/drawingml/2006/table">
            <a:tbl>
              <a:tblPr>
                <a:tableStyleId>{5C22544A-7EE6-4342-B048-85BDC9FD1C3A}</a:tableStyleId>
              </a:tblPr>
              <a:tblGrid>
                <a:gridCol w="1042158">
                  <a:extLst>
                    <a:ext uri="{9D8B030D-6E8A-4147-A177-3AD203B41FA5}">
                      <a16:colId xmlns:a16="http://schemas.microsoft.com/office/drawing/2014/main" val="2456552316"/>
                    </a:ext>
                  </a:extLst>
                </a:gridCol>
                <a:gridCol w="961214">
                  <a:extLst>
                    <a:ext uri="{9D8B030D-6E8A-4147-A177-3AD203B41FA5}">
                      <a16:colId xmlns:a16="http://schemas.microsoft.com/office/drawing/2014/main" val="1100051595"/>
                    </a:ext>
                  </a:extLst>
                </a:gridCol>
                <a:gridCol w="920742">
                  <a:extLst>
                    <a:ext uri="{9D8B030D-6E8A-4147-A177-3AD203B41FA5}">
                      <a16:colId xmlns:a16="http://schemas.microsoft.com/office/drawing/2014/main" val="2042261034"/>
                    </a:ext>
                  </a:extLst>
                </a:gridCol>
                <a:gridCol w="905161">
                  <a:extLst>
                    <a:ext uri="{9D8B030D-6E8A-4147-A177-3AD203B41FA5}">
                      <a16:colId xmlns:a16="http://schemas.microsoft.com/office/drawing/2014/main" val="2815874248"/>
                    </a:ext>
                  </a:extLst>
                </a:gridCol>
              </a:tblGrid>
              <a:tr h="409508">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Overall</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Scope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Schedule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Financials</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340340">
                <a:tc>
                  <a:txBody>
                    <a:bodyPr/>
                    <a:lstStyle/>
                    <a:p>
                      <a:pPr marL="0" marR="0" lvl="0" indent="0" algn="ctr" rtl="0" eaLnBrk="1" fontAlgn="ctr" latinLnBrk="0" hangingPunct="1">
                        <a:lnSpc>
                          <a:spcPct val="95000"/>
                        </a:lnSpc>
                        <a:spcBef>
                          <a:spcPct val="0"/>
                        </a:spcBef>
                        <a:spcAft>
                          <a:spcPct val="50000"/>
                        </a:spcAft>
                        <a:buClrTx/>
                        <a:buSzTx/>
                        <a:buFontTx/>
                        <a:buNone/>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rtl="0" eaLnBrk="1" fontAlgn="ctr" latinLnBrk="0" hangingPunct="1">
                        <a:lnSpc>
                          <a:spcPct val="95000"/>
                        </a:lnSpc>
                        <a:spcBef>
                          <a:spcPct val="0"/>
                        </a:spcBef>
                        <a:spcAft>
                          <a:spcPct val="50000"/>
                        </a:spcAft>
                        <a:buClrTx/>
                        <a:buSzTx/>
                        <a:buFontTx/>
                        <a:buNone/>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7499024"/>
                  </a:ext>
                </a:extLst>
              </a:tr>
            </a:tbl>
          </a:graphicData>
        </a:graphic>
      </p:graphicFrame>
      <p:graphicFrame>
        <p:nvGraphicFramePr>
          <p:cNvPr id="26" name="Group 513">
            <a:extLst>
              <a:ext uri="{FF2B5EF4-FFF2-40B4-BE49-F238E27FC236}">
                <a16:creationId xmlns:a16="http://schemas.microsoft.com/office/drawing/2014/main" id="{B572FAB9-5703-54DC-E8A5-8C8838476206}"/>
              </a:ext>
            </a:extLst>
          </p:cNvPr>
          <p:cNvGraphicFramePr>
            <a:graphicFrameLocks noGrp="1"/>
          </p:cNvGraphicFramePr>
          <p:nvPr>
            <p:extLst>
              <p:ext uri="{D42A27DB-BD31-4B8C-83A1-F6EECF244321}">
                <p14:modId xmlns:p14="http://schemas.microsoft.com/office/powerpoint/2010/main" val="3010187505"/>
              </p:ext>
            </p:extLst>
          </p:nvPr>
        </p:nvGraphicFramePr>
        <p:xfrm>
          <a:off x="231953" y="1271951"/>
          <a:ext cx="2581575" cy="395688"/>
        </p:xfrm>
        <a:graphic>
          <a:graphicData uri="http://schemas.openxmlformats.org/drawingml/2006/table">
            <a:tbl>
              <a:tblPr/>
              <a:tblGrid>
                <a:gridCol w="998602">
                  <a:extLst>
                    <a:ext uri="{9D8B030D-6E8A-4147-A177-3AD203B41FA5}">
                      <a16:colId xmlns:a16="http://schemas.microsoft.com/office/drawing/2014/main" val="20000"/>
                    </a:ext>
                  </a:extLst>
                </a:gridCol>
                <a:gridCol w="1582973">
                  <a:extLst>
                    <a:ext uri="{9D8B030D-6E8A-4147-A177-3AD203B41FA5}">
                      <a16:colId xmlns:a16="http://schemas.microsoft.com/office/drawing/2014/main" val="20001"/>
                    </a:ext>
                  </a:extLst>
                </a:gridCol>
              </a:tblGrid>
              <a:tr h="344301">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GB" sz="1050" b="1" i="0" u="none" strike="noStrike" kern="1200" cap="none" normalizeH="0" baseline="0">
                          <a:ln>
                            <a:noFill/>
                          </a:ln>
                          <a:solidFill>
                            <a:schemeClr val="bg1"/>
                          </a:solidFill>
                          <a:effectLst/>
                          <a:latin typeface="Arial"/>
                          <a:ea typeface="+mn-ea"/>
                          <a:cs typeface="+mn-cs"/>
                        </a:rPr>
                        <a:t>Target Delivery:</a:t>
                      </a:r>
                    </a:p>
                  </a:txBody>
                  <a:tcPr marL="0" marR="0"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defRPr/>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9/30/2026</a:t>
                      </a:r>
                    </a:p>
                    <a:p>
                      <a:pPr marL="0" marR="0" lvl="0" indent="0" algn="ctr" defTabSz="685858" rtl="0" eaLnBrk="1" fontAlgn="auto" latinLnBrk="0" hangingPunct="1">
                        <a:lnSpc>
                          <a:spcPct val="100000"/>
                        </a:lnSpc>
                        <a:spcBef>
                          <a:spcPts val="0"/>
                        </a:spcBef>
                        <a:spcAft>
                          <a:spcPts val="0"/>
                        </a:spcAft>
                        <a:buClrTx/>
                        <a:buSzTx/>
                        <a:buFontTx/>
                        <a:buNone/>
                        <a:tabLst/>
                        <a:defRPr/>
                      </a:pPr>
                      <a:endParaRPr lang="en-US" sz="700" b="1" strike="sngStrike">
                        <a:solidFill>
                          <a:schemeClr val="tx1"/>
                        </a:solidFill>
                      </a:endParaRPr>
                    </a:p>
                  </a:txBody>
                  <a:tcPr marL="0" marR="0"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27" name="Table 26">
            <a:extLst>
              <a:ext uri="{FF2B5EF4-FFF2-40B4-BE49-F238E27FC236}">
                <a16:creationId xmlns:a16="http://schemas.microsoft.com/office/drawing/2014/main" id="{90249238-BC97-21B4-21E4-8C36E7E5BF0F}"/>
              </a:ext>
            </a:extLst>
          </p:cNvPr>
          <p:cNvGraphicFramePr>
            <a:graphicFrameLocks noGrp="1"/>
          </p:cNvGraphicFramePr>
          <p:nvPr>
            <p:extLst>
              <p:ext uri="{D42A27DB-BD31-4B8C-83A1-F6EECF244321}">
                <p14:modId xmlns:p14="http://schemas.microsoft.com/office/powerpoint/2010/main" val="383692827"/>
              </p:ext>
            </p:extLst>
          </p:nvPr>
        </p:nvGraphicFramePr>
        <p:xfrm>
          <a:off x="4854769" y="1696099"/>
          <a:ext cx="7269724" cy="3141365"/>
        </p:xfrm>
        <a:graphic>
          <a:graphicData uri="http://schemas.openxmlformats.org/drawingml/2006/table">
            <a:tbl>
              <a:tblPr>
                <a:tableStyleId>{5C22544A-7EE6-4342-B048-85BDC9FD1C3A}</a:tableStyleId>
              </a:tblPr>
              <a:tblGrid>
                <a:gridCol w="2593181">
                  <a:extLst>
                    <a:ext uri="{9D8B030D-6E8A-4147-A177-3AD203B41FA5}">
                      <a16:colId xmlns:a16="http://schemas.microsoft.com/office/drawing/2014/main" val="2456552316"/>
                    </a:ext>
                  </a:extLst>
                </a:gridCol>
                <a:gridCol w="467024">
                  <a:extLst>
                    <a:ext uri="{9D8B030D-6E8A-4147-A177-3AD203B41FA5}">
                      <a16:colId xmlns:a16="http://schemas.microsoft.com/office/drawing/2014/main" val="1100051595"/>
                    </a:ext>
                  </a:extLst>
                </a:gridCol>
                <a:gridCol w="436434">
                  <a:extLst>
                    <a:ext uri="{9D8B030D-6E8A-4147-A177-3AD203B41FA5}">
                      <a16:colId xmlns:a16="http://schemas.microsoft.com/office/drawing/2014/main" val="2042261034"/>
                    </a:ext>
                  </a:extLst>
                </a:gridCol>
                <a:gridCol w="3773085">
                  <a:extLst>
                    <a:ext uri="{9D8B030D-6E8A-4147-A177-3AD203B41FA5}">
                      <a16:colId xmlns:a16="http://schemas.microsoft.com/office/drawing/2014/main" val="2815874248"/>
                    </a:ext>
                  </a:extLst>
                </a:gridCol>
              </a:tblGrid>
              <a:tr h="304528">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Milestone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Status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Due Date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225904">
                <a:tc>
                  <a:txBody>
                    <a:bodyPr/>
                    <a:lstStyle/>
                    <a:p>
                      <a:pPr marL="114300" marR="0" lvl="0" indent="0" algn="l" rtl="0" eaLnBrk="1" fontAlgn="ctr" latinLnBrk="0" hangingPunct="1">
                        <a:lnSpc>
                          <a:spcPct val="95000"/>
                        </a:lnSpc>
                        <a:spcBef>
                          <a:spcPct val="0"/>
                        </a:spcBef>
                        <a:spcAft>
                          <a:spcPct val="50000"/>
                        </a:spcAft>
                        <a:buClrTx/>
                        <a:buSzTx/>
                        <a:buFontTx/>
                        <a:buNone/>
                      </a:pPr>
                      <a:r>
                        <a:rPr lang="en-US" sz="850" b="0" kern="1200">
                          <a:solidFill>
                            <a:schemeClr val="tx1"/>
                          </a:solidFill>
                          <a:effectLst/>
                          <a:latin typeface="Aptos" panose="020B0004020202020204" pitchFamily="34" charset="0"/>
                          <a:ea typeface="+mn-ea"/>
                          <a:cs typeface="+mn-cs"/>
                        </a:rPr>
                        <a:t>Validate and Lock business requirements</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a:ln>
                            <a:noFill/>
                          </a:ln>
                          <a:solidFill>
                            <a:prstClr val="black"/>
                          </a:solidFill>
                          <a:effectLst/>
                          <a:uLnTx/>
                          <a:uFillTx/>
                          <a:latin typeface="Aptos" panose="020B0004020202020204" pitchFamily="34" charset="0"/>
                          <a:ea typeface="+mn-ea"/>
                          <a:cs typeface="+mn-cs"/>
                        </a:rPr>
                        <a:t>C</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850" b="0" strike="noStrike" kern="1200">
                        <a:solidFill>
                          <a:schemeClr val="tx1"/>
                        </a:solidFill>
                        <a:effectLst/>
                        <a:latin typeface="Aptos" panose="020B0004020202020204" pitchFamily="34" charset="0"/>
                        <a:ea typeface="+mn-ea"/>
                        <a:cs typeface="+mn-cs"/>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0" hangingPunct="1">
                        <a:lnSpc>
                          <a:spcPts val="600"/>
                        </a:lnSpc>
                        <a:spcBef>
                          <a:spcPts val="300"/>
                        </a:spcBef>
                        <a:spcAft>
                          <a:spcPts val="0"/>
                        </a:spcAft>
                        <a:buClrTx/>
                        <a:buSzTx/>
                        <a:buFontTx/>
                        <a:buNone/>
                        <a:tabLst/>
                        <a:defRPr/>
                      </a:pPr>
                      <a:endParaRPr lang="en-US" sz="850" b="0" i="0">
                        <a:solidFill>
                          <a:srgbClr val="000000"/>
                        </a:solidFill>
                        <a:effectLst/>
                        <a:latin typeface="Aptos" panose="020B00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748893264"/>
                  </a:ext>
                </a:extLst>
              </a:tr>
              <a:tr h="213379">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50">
                          <a:latin typeface="Aptos" panose="020B0004020202020204" pitchFamily="34" charset="0"/>
                        </a:rPr>
                        <a:t>Obtain approval from BDE</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a:ln>
                            <a:noFill/>
                          </a:ln>
                          <a:solidFill>
                            <a:prstClr val="black"/>
                          </a:solidFill>
                          <a:effectLst/>
                          <a:uLnTx/>
                          <a:uFillTx/>
                          <a:latin typeface="Aptos" panose="020B0004020202020204" pitchFamily="34" charset="0"/>
                          <a:ea typeface="+mn-ea"/>
                          <a:cs typeface="+mn-cs"/>
                        </a:rPr>
                        <a:t>C</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0" hangingPunct="1">
                        <a:lnSpc>
                          <a:spcPct val="95000"/>
                        </a:lnSpc>
                        <a:spcBef>
                          <a:spcPct val="0"/>
                        </a:spcBef>
                        <a:spcAft>
                          <a:spcPct val="50000"/>
                        </a:spcAft>
                        <a:buClrTx/>
                        <a:buSzTx/>
                        <a:buFontTx/>
                        <a:buNone/>
                        <a:tabLst/>
                        <a:defRPr/>
                      </a:pPr>
                      <a:endParaRPr lang="en-US" sz="850" b="0" strike="noStrike" kern="1200">
                        <a:solidFill>
                          <a:schemeClr val="tx1"/>
                        </a:solidFill>
                        <a:effectLst/>
                        <a:latin typeface="Aptos" panose="020B0004020202020204" pitchFamily="34" charset="0"/>
                        <a:ea typeface="+mn-ea"/>
                        <a:cs typeface="+mn-cs"/>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algn="l">
                        <a:lnSpc>
                          <a:spcPct val="114999"/>
                        </a:lnSpc>
                        <a:spcAft>
                          <a:spcPts val="800"/>
                        </a:spcAft>
                        <a:buNone/>
                      </a:pPr>
                      <a:endParaRPr lang="en-US" sz="850" b="0" i="0" u="none" strike="noStrike" kern="100" noProof="0">
                        <a:solidFill>
                          <a:schemeClr val="dk1"/>
                        </a:solidFill>
                        <a:effectLst/>
                        <a:latin typeface="Aptos" panose="020B0004020202020204"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805706767"/>
                  </a:ext>
                </a:extLst>
              </a:tr>
              <a:tr h="213379">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50">
                          <a:latin typeface="Aptos" panose="020B0004020202020204" pitchFamily="34" charset="0"/>
                        </a:rPr>
                        <a:t>Detail Requirements and Epic Creations</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a:ln>
                            <a:noFill/>
                          </a:ln>
                          <a:solidFill>
                            <a:prstClr val="black"/>
                          </a:solidFill>
                          <a:effectLst/>
                          <a:uLnTx/>
                          <a:uFillTx/>
                          <a:latin typeface="Aptos" panose="020B0004020202020204" pitchFamily="34" charset="0"/>
                          <a:ea typeface="+mn-ea"/>
                          <a:cs typeface="+mn-cs"/>
                        </a:rPr>
                        <a:t>NS</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0" hangingPunct="1">
                        <a:lnSpc>
                          <a:spcPct val="95000"/>
                        </a:lnSpc>
                        <a:spcBef>
                          <a:spcPct val="0"/>
                        </a:spcBef>
                        <a:spcAft>
                          <a:spcPct val="50000"/>
                        </a:spcAft>
                        <a:buClrTx/>
                        <a:buSzTx/>
                        <a:buFontTx/>
                        <a:buNone/>
                        <a:tabLst/>
                        <a:defRPr/>
                      </a:pPr>
                      <a:endParaRPr lang="en-US" sz="850" b="0" strike="noStrike" kern="1200">
                        <a:solidFill>
                          <a:schemeClr val="tx1"/>
                        </a:solidFill>
                        <a:effectLst/>
                        <a:latin typeface="Aptos" panose="020B0004020202020204" pitchFamily="34" charset="0"/>
                        <a:ea typeface="+mn-ea"/>
                        <a:cs typeface="+mn-cs"/>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algn="l">
                        <a:lnSpc>
                          <a:spcPct val="114999"/>
                        </a:lnSpc>
                        <a:spcAft>
                          <a:spcPts val="800"/>
                        </a:spcAft>
                        <a:buNone/>
                      </a:pPr>
                      <a:endParaRPr lang="en-US" sz="850" b="0" i="0" u="none" strike="noStrike" kern="100" noProof="0">
                        <a:solidFill>
                          <a:schemeClr val="dk1"/>
                        </a:solidFill>
                        <a:effectLst/>
                        <a:latin typeface="Aptos" panose="020B00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943924009"/>
                  </a:ext>
                </a:extLst>
              </a:tr>
              <a:tr h="257053">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50" kern="1200">
                          <a:solidFill>
                            <a:schemeClr val="dk1"/>
                          </a:solidFill>
                          <a:latin typeface="Aptos" panose="020B0004020202020204" pitchFamily="34" charset="0"/>
                          <a:ea typeface="+mn-ea"/>
                          <a:cs typeface="+mn-cs"/>
                        </a:rPr>
                        <a:t>Deliver end‑to‑end architectural design for the new solution.</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a:ln>
                            <a:noFill/>
                          </a:ln>
                          <a:solidFill>
                            <a:prstClr val="black"/>
                          </a:solidFill>
                          <a:effectLst/>
                          <a:uLnTx/>
                          <a:uFillTx/>
                          <a:latin typeface="Aptos" panose="020B0004020202020204" pitchFamily="34" charset="0"/>
                          <a:ea typeface="+mn-ea"/>
                          <a:cs typeface="+mn-cs"/>
                        </a:rPr>
                        <a:t>NS</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endParaRPr lang="en-US" sz="850" b="0" strike="sngStrike" kern="1200">
                        <a:solidFill>
                          <a:schemeClr val="tx1"/>
                        </a:solidFill>
                        <a:effectLst/>
                        <a:latin typeface="Aptos" panose="020B0004020202020204" pitchFamily="34" charset="0"/>
                        <a:ea typeface="+mn-ea"/>
                        <a:cs typeface="+mn-cs"/>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base" latinLnBrk="0" hangingPunct="1">
                        <a:lnSpc>
                          <a:spcPct val="100000"/>
                        </a:lnSpc>
                        <a:spcBef>
                          <a:spcPts val="200"/>
                        </a:spcBef>
                        <a:spcAft>
                          <a:spcPts val="0"/>
                        </a:spcAft>
                        <a:buClrTx/>
                        <a:buSzTx/>
                        <a:buFontTx/>
                        <a:buNone/>
                        <a:tabLst/>
                        <a:defRPr/>
                      </a:pPr>
                      <a:endParaRPr lang="en-US" sz="850" kern="100">
                        <a:solidFill>
                          <a:schemeClr val="dk1"/>
                        </a:solidFill>
                        <a:latin typeface="Aptos" panose="020B0004020202020204" pitchFamily="34" charset="0"/>
                        <a:cs typeface="Times New Roma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387139067"/>
                  </a:ext>
                </a:extLst>
              </a:tr>
              <a:tr h="234224">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50" kern="1200">
                          <a:solidFill>
                            <a:schemeClr val="dk1"/>
                          </a:solidFill>
                          <a:latin typeface="Aptos" panose="020B0004020202020204" pitchFamily="34" charset="0"/>
                          <a:ea typeface="+mn-ea"/>
                          <a:cs typeface="+mn-cs"/>
                        </a:rPr>
                        <a:t>Provide L0 project estimates with high‑level scope and effort</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a:ln>
                            <a:noFill/>
                          </a:ln>
                          <a:solidFill>
                            <a:prstClr val="black"/>
                          </a:solidFill>
                          <a:effectLst/>
                          <a:uLnTx/>
                          <a:uFillTx/>
                          <a:latin typeface="Aptos" panose="020B0004020202020204" pitchFamily="34" charset="0"/>
                          <a:ea typeface="+mn-ea"/>
                          <a:cs typeface="+mn-cs"/>
                        </a:rPr>
                        <a:t>NS</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endParaRPr lang="en-US" sz="850" strike="noStrike">
                        <a:latin typeface="Aptos" panose="020B00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base" latinLnBrk="0" hangingPunct="1">
                        <a:lnSpc>
                          <a:spcPct val="100000"/>
                        </a:lnSpc>
                        <a:spcBef>
                          <a:spcPts val="200"/>
                        </a:spcBef>
                        <a:spcAft>
                          <a:spcPts val="0"/>
                        </a:spcAft>
                        <a:buClrTx/>
                        <a:buSzTx/>
                        <a:buFontTx/>
                        <a:buNone/>
                        <a:tabLst/>
                        <a:defRPr/>
                      </a:pPr>
                      <a:endParaRPr lang="en-US" sz="850" b="0" i="0">
                        <a:solidFill>
                          <a:srgbClr val="000000"/>
                        </a:solidFill>
                        <a:effectLst/>
                        <a:latin typeface="Aptos" panose="020B0004020202020204" pitchFamily="34" charset="0"/>
                        <a:cs typeface="Times New Roma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775249404"/>
                  </a:ext>
                </a:extLst>
              </a:tr>
              <a:tr h="305268">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50" kern="1200">
                          <a:solidFill>
                            <a:schemeClr val="dk1"/>
                          </a:solidFill>
                          <a:latin typeface="Aptos" panose="020B0004020202020204" pitchFamily="34" charset="0"/>
                          <a:ea typeface="+mn-ea"/>
                          <a:cs typeface="+mn-cs"/>
                        </a:rPr>
                        <a:t>Build project plan based online approval of estimates</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a:ln>
                            <a:noFill/>
                          </a:ln>
                          <a:solidFill>
                            <a:prstClr val="black"/>
                          </a:solidFill>
                          <a:effectLst/>
                          <a:uLnTx/>
                          <a:uFillTx/>
                          <a:latin typeface="Aptos" panose="020B0004020202020204" pitchFamily="34" charset="0"/>
                          <a:ea typeface="+mn-ea"/>
                          <a:cs typeface="+mn-cs"/>
                        </a:rPr>
                        <a:t>NS</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endParaRPr lang="en-US" sz="850" strike="noStrike">
                        <a:latin typeface="Aptos" panose="020B00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rtl="0" eaLnBrk="1" fontAlgn="ctr" latinLnBrk="0" hangingPunct="1">
                        <a:lnSpc>
                          <a:spcPct val="95000"/>
                        </a:lnSpc>
                        <a:spcBef>
                          <a:spcPct val="0"/>
                        </a:spcBef>
                        <a:spcAft>
                          <a:spcPct val="50000"/>
                        </a:spcAft>
                        <a:buClrTx/>
                        <a:buSzTx/>
                        <a:buFontTx/>
                        <a:buNone/>
                      </a:pPr>
                      <a:endParaRPr lang="en-US" sz="850" b="0" strike="noStrike" kern="1200">
                        <a:solidFill>
                          <a:schemeClr val="tx1"/>
                        </a:solidFill>
                        <a:effectLst/>
                        <a:latin typeface="Aptos" panose="020B0004020202020204" pitchFamily="34" charset="0"/>
                        <a:ea typeface="+mn-ea"/>
                        <a:cs typeface="+mn-cs"/>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676961585"/>
                  </a:ext>
                </a:extLst>
              </a:tr>
              <a:tr h="223959">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50" kern="1200">
                          <a:solidFill>
                            <a:schemeClr val="dk1"/>
                          </a:solidFill>
                          <a:latin typeface="Aptos" panose="020B0004020202020204" pitchFamily="34" charset="0"/>
                          <a:ea typeface="+mn-ea"/>
                          <a:cs typeface="+mn-cs"/>
                        </a:rPr>
                        <a:t>Technical Design</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a:ln>
                            <a:noFill/>
                          </a:ln>
                          <a:solidFill>
                            <a:prstClr val="black"/>
                          </a:solidFill>
                          <a:effectLst/>
                          <a:uLnTx/>
                          <a:uFillTx/>
                          <a:latin typeface="Aptos" panose="020B0004020202020204" pitchFamily="34" charset="0"/>
                          <a:ea typeface="+mn-ea"/>
                          <a:cs typeface="+mn-cs"/>
                        </a:rPr>
                        <a:t>NS</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endParaRPr lang="en-US" sz="850" strike="noStrike">
                        <a:latin typeface="Aptos" panose="020B00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rtl="0" eaLnBrk="1" fontAlgn="ctr" latinLnBrk="0" hangingPunct="1">
                        <a:lnSpc>
                          <a:spcPct val="95000"/>
                        </a:lnSpc>
                        <a:spcBef>
                          <a:spcPct val="0"/>
                        </a:spcBef>
                        <a:spcAft>
                          <a:spcPct val="50000"/>
                        </a:spcAft>
                        <a:buClrTx/>
                        <a:buSzTx/>
                        <a:buFontTx/>
                        <a:buNone/>
                      </a:pPr>
                      <a:endParaRPr lang="en-US" sz="850" b="0" kern="1200">
                        <a:solidFill>
                          <a:schemeClr val="tx1"/>
                        </a:solidFill>
                        <a:effectLst/>
                        <a:latin typeface="Aptos" panose="020B0004020202020204" pitchFamily="34" charset="0"/>
                        <a:ea typeface="+mn-ea"/>
                        <a:cs typeface="+mn-cs"/>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617819655"/>
                  </a:ext>
                </a:extLst>
              </a:tr>
              <a:tr h="385224">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50" kern="1200">
                          <a:solidFill>
                            <a:schemeClr val="dk1"/>
                          </a:solidFill>
                          <a:latin typeface="Aptos" panose="020B0004020202020204" pitchFamily="34" charset="0"/>
                          <a:ea typeface="+mn-ea"/>
                          <a:cs typeface="+mn-cs"/>
                        </a:rPr>
                        <a:t>DDIT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50">
                          <a:latin typeface="Aptos" panose="020B0004020202020204" pitchFamily="34" charset="0"/>
                        </a:rPr>
                        <a:t>NS</a:t>
                      </a:r>
                    </a:p>
                    <a:p>
                      <a:pPr algn="ctr"/>
                      <a:endParaRPr lang="en-US" sz="850">
                        <a:latin typeface="Aptos"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50">
                        <a:latin typeface="Aptos"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endParaRPr lang="en-US" sz="850" kern="1200">
                        <a:solidFill>
                          <a:schemeClr val="dk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62506059"/>
                  </a:ext>
                </a:extLst>
              </a:tr>
              <a:tr h="236175">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50" kern="1200">
                          <a:solidFill>
                            <a:schemeClr val="dk1"/>
                          </a:solidFill>
                          <a:latin typeface="Aptos" panose="020B0004020202020204" pitchFamily="34" charset="0"/>
                          <a:ea typeface="+mn-ea"/>
                          <a:cs typeface="+mn-cs"/>
                        </a:rPr>
                        <a:t>E2E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50">
                          <a:latin typeface="Aptos" panose="020B0004020202020204" pitchFamily="34" charset="0"/>
                        </a:rPr>
                        <a:t>NS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50">
                        <a:latin typeface="Aptos"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endParaRPr lang="en-US" sz="850" kern="1200">
                        <a:solidFill>
                          <a:schemeClr val="dk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20125674"/>
                  </a:ext>
                </a:extLst>
              </a:tr>
              <a:tr h="236175">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50" kern="1200">
                          <a:solidFill>
                            <a:schemeClr val="dk1"/>
                          </a:solidFill>
                          <a:latin typeface="Aptos" panose="020B0004020202020204" pitchFamily="34" charset="0"/>
                          <a:ea typeface="+mn-ea"/>
                          <a:cs typeface="+mn-cs"/>
                        </a:rPr>
                        <a:t>UAT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50">
                          <a:latin typeface="Aptos" panose="020B0004020202020204" pitchFamily="34" charset="0"/>
                        </a:rPr>
                        <a:t>NS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50">
                        <a:latin typeface="Aptos"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endParaRPr lang="en-US" sz="850" kern="1200">
                        <a:solidFill>
                          <a:schemeClr val="dk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53880179"/>
                  </a:ext>
                </a:extLst>
              </a:tr>
              <a:tr h="236175">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50" kern="1200">
                          <a:solidFill>
                            <a:schemeClr val="dk1"/>
                          </a:solidFill>
                          <a:latin typeface="Aptos" panose="020B0004020202020204" pitchFamily="34" charset="0"/>
                          <a:ea typeface="+mn-ea"/>
                          <a:cs typeface="+mn-cs"/>
                        </a:rPr>
                        <a:t>Stage Validation</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50">
                          <a:latin typeface="Aptos" panose="020B0004020202020204" pitchFamily="34" charset="0"/>
                        </a:rPr>
                        <a:t>NS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50">
                        <a:latin typeface="Aptos"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endParaRPr lang="en-US" sz="850" kern="1200">
                        <a:solidFill>
                          <a:schemeClr val="dk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64433576"/>
                  </a:ext>
                </a:extLst>
              </a:tr>
            </a:tbl>
          </a:graphicData>
        </a:graphic>
      </p:graphicFrame>
      <p:graphicFrame>
        <p:nvGraphicFramePr>
          <p:cNvPr id="29" name="Table 28">
            <a:extLst>
              <a:ext uri="{FF2B5EF4-FFF2-40B4-BE49-F238E27FC236}">
                <a16:creationId xmlns:a16="http://schemas.microsoft.com/office/drawing/2014/main" id="{A108AF30-C6D5-DB3E-A092-18243B6C326A}"/>
              </a:ext>
            </a:extLst>
          </p:cNvPr>
          <p:cNvGraphicFramePr>
            <a:graphicFrameLocks noGrp="1"/>
          </p:cNvGraphicFramePr>
          <p:nvPr/>
        </p:nvGraphicFramePr>
        <p:xfrm>
          <a:off x="4854769" y="4913937"/>
          <a:ext cx="7254527" cy="693166"/>
        </p:xfrm>
        <a:graphic>
          <a:graphicData uri="http://schemas.openxmlformats.org/drawingml/2006/table">
            <a:tbl>
              <a:tblPr>
                <a:tableStyleId>{5C22544A-7EE6-4342-B048-85BDC9FD1C3A}</a:tableStyleId>
              </a:tblPr>
              <a:tblGrid>
                <a:gridCol w="2676817">
                  <a:extLst>
                    <a:ext uri="{9D8B030D-6E8A-4147-A177-3AD203B41FA5}">
                      <a16:colId xmlns:a16="http://schemas.microsoft.com/office/drawing/2014/main" val="2456552316"/>
                    </a:ext>
                  </a:extLst>
                </a:gridCol>
                <a:gridCol w="525650">
                  <a:extLst>
                    <a:ext uri="{9D8B030D-6E8A-4147-A177-3AD203B41FA5}">
                      <a16:colId xmlns:a16="http://schemas.microsoft.com/office/drawing/2014/main" val="1100051595"/>
                    </a:ext>
                  </a:extLst>
                </a:gridCol>
                <a:gridCol w="583806">
                  <a:extLst>
                    <a:ext uri="{9D8B030D-6E8A-4147-A177-3AD203B41FA5}">
                      <a16:colId xmlns:a16="http://schemas.microsoft.com/office/drawing/2014/main" val="2042261034"/>
                    </a:ext>
                  </a:extLst>
                </a:gridCol>
                <a:gridCol w="3468254">
                  <a:extLst>
                    <a:ext uri="{9D8B030D-6E8A-4147-A177-3AD203B41FA5}">
                      <a16:colId xmlns:a16="http://schemas.microsoft.com/office/drawing/2014/main" val="2815874248"/>
                    </a:ext>
                  </a:extLst>
                </a:gridCol>
              </a:tblGrid>
              <a:tr h="258561">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Critical Risks/Issues</a:t>
                      </a:r>
                      <a:endParaRPr kumimoji="0" lang="en-US" sz="1050" b="1" i="0" u="none" strike="noStrike" kern="1200" cap="none" normalizeH="0" baseline="0">
                        <a:ln>
                          <a:noFill/>
                        </a:ln>
                        <a:solidFill>
                          <a:schemeClr val="bg1"/>
                        </a:solidFill>
                        <a:effectLst/>
                        <a:latin typeface="Arial" charset="0"/>
                        <a:ea typeface="+mn-ea"/>
                        <a:cs typeface="+mn-cs"/>
                      </a:endParaRP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Status</a:t>
                      </a:r>
                    </a:p>
                  </a:txBody>
                  <a:tcPr marL="9525" marR="9525" marT="9525" marB="0" anchor="ct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Target Date</a:t>
                      </a:r>
                    </a:p>
                  </a:txBody>
                  <a:tcPr marL="9525" marR="9525" marT="9525" marB="0" anchor="ctr">
                    <a:lnL w="12700">
                      <a:solidFill>
                        <a:schemeClr val="tx1"/>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Resolution / Mitigation</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313508">
                <a:tc>
                  <a:txBody>
                    <a:bodyPr/>
                    <a:lstStyle/>
                    <a:p>
                      <a:pPr marL="0" marR="0" lvl="0" indent="0" algn="l" defTabSz="914400" rtl="0" eaLnBrk="1" fontAlgn="auto" latinLnBrk="0" hangingPunct="1">
                        <a:lnSpc>
                          <a:spcPct val="115000"/>
                        </a:lnSpc>
                        <a:spcBef>
                          <a:spcPts val="0"/>
                        </a:spcBef>
                        <a:spcAft>
                          <a:spcPts val="800"/>
                        </a:spcAft>
                        <a:buClrTx/>
                        <a:buSzTx/>
                        <a:buFontTx/>
                        <a:buNone/>
                        <a:tabLst/>
                        <a:defRPr/>
                      </a:pPr>
                      <a:endParaRPr lang="en-US" sz="800">
                        <a:latin typeface="+mn-lt"/>
                      </a:endParaRPr>
                    </a:p>
                    <a:p>
                      <a:pPr marL="0" marR="0" lvl="0" indent="0" algn="l" defTabSz="914400" rtl="0" eaLnBrk="1" fontAlgn="auto" latinLnBrk="0" hangingPunct="1">
                        <a:lnSpc>
                          <a:spcPct val="115000"/>
                        </a:lnSpc>
                        <a:spcBef>
                          <a:spcPts val="0"/>
                        </a:spcBef>
                        <a:spcAft>
                          <a:spcPts val="800"/>
                        </a:spcAft>
                        <a:buClrTx/>
                        <a:buSzTx/>
                        <a:buFontTx/>
                        <a:buNone/>
                        <a:tabLst/>
                        <a:defRPr/>
                      </a:pPr>
                      <a:r>
                        <a:rPr lang="en-US" sz="800">
                          <a:latin typeface="+mn-lt"/>
                        </a:rPr>
                        <a:t> </a:t>
                      </a: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800" b="0"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800" b="0" strike="noStrike" kern="1200">
                        <a:solidFill>
                          <a:schemeClr val="tx1"/>
                        </a:solidFill>
                        <a:effectLst/>
                        <a:latin typeface="+mn-lt"/>
                        <a:ea typeface="+mn-ea"/>
                        <a:cs typeface="+mn-cs"/>
                      </a:endParaRPr>
                    </a:p>
                  </a:txBody>
                  <a:tcPr marL="9525" marR="9525" marT="9525" marB="0" anchor="ctr">
                    <a:lnL w="12700">
                      <a:solidFill>
                        <a:schemeClr val="tx1"/>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ts val="200"/>
                        </a:spcBef>
                        <a:spcAft>
                          <a:spcPts val="0"/>
                        </a:spcAft>
                        <a:buClrTx/>
                        <a:buSzTx/>
                        <a:buFont typeface="Arial" panose="020B0604020202020204" pitchFamily="34" charset="0"/>
                        <a:buNone/>
                        <a:tabLst/>
                        <a:defRPr/>
                      </a:pPr>
                      <a:endParaRPr lang="en-US" sz="800" b="0" strike="noStrike" kern="1200">
                        <a:solidFill>
                          <a:schemeClr val="tx1"/>
                        </a:solidFill>
                        <a:effectLst/>
                        <a:latin typeface="+mn-lt"/>
                        <a:ea typeface="+mn-ea"/>
                        <a:cs typeface="+mn-cs"/>
                      </a:endParaRP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7499024"/>
                  </a:ext>
                </a:extLst>
              </a:tr>
            </a:tbl>
          </a:graphicData>
        </a:graphic>
      </p:graphicFrame>
      <p:sp>
        <p:nvSpPr>
          <p:cNvPr id="33" name="Flowchart: Connector 32">
            <a:extLst>
              <a:ext uri="{FF2B5EF4-FFF2-40B4-BE49-F238E27FC236}">
                <a16:creationId xmlns:a16="http://schemas.microsoft.com/office/drawing/2014/main" id="{FC928214-BD6F-44B4-55F0-FDE2C10E8D0C}"/>
              </a:ext>
            </a:extLst>
          </p:cNvPr>
          <p:cNvSpPr/>
          <p:nvPr/>
        </p:nvSpPr>
        <p:spPr>
          <a:xfrm>
            <a:off x="6729886" y="6416791"/>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4" name="Flowchart: Connector 33">
            <a:extLst>
              <a:ext uri="{FF2B5EF4-FFF2-40B4-BE49-F238E27FC236}">
                <a16:creationId xmlns:a16="http://schemas.microsoft.com/office/drawing/2014/main" id="{F888BABC-F081-F3A0-52F7-459B43F85797}"/>
              </a:ext>
            </a:extLst>
          </p:cNvPr>
          <p:cNvSpPr/>
          <p:nvPr/>
        </p:nvSpPr>
        <p:spPr>
          <a:xfrm>
            <a:off x="7797764" y="6417067"/>
            <a:ext cx="163286" cy="164592"/>
          </a:xfrm>
          <a:prstGeom prst="flowChartConnector">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6" name="Flowchart: Connector 35">
            <a:extLst>
              <a:ext uri="{FF2B5EF4-FFF2-40B4-BE49-F238E27FC236}">
                <a16:creationId xmlns:a16="http://schemas.microsoft.com/office/drawing/2014/main" id="{68188C8D-6553-492F-4311-9FFD172F02D5}"/>
              </a:ext>
            </a:extLst>
          </p:cNvPr>
          <p:cNvSpPr/>
          <p:nvPr/>
        </p:nvSpPr>
        <p:spPr>
          <a:xfrm>
            <a:off x="8784000" y="6405062"/>
            <a:ext cx="163285" cy="164592"/>
          </a:xfrm>
          <a:prstGeom prst="flowChartConnector">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7" name="Flowchart: Connector 46">
            <a:extLst>
              <a:ext uri="{FF2B5EF4-FFF2-40B4-BE49-F238E27FC236}">
                <a16:creationId xmlns:a16="http://schemas.microsoft.com/office/drawing/2014/main" id="{53AC621E-E23D-348E-63EB-B1ADFF57EC6E}"/>
              </a:ext>
            </a:extLst>
          </p:cNvPr>
          <p:cNvSpPr/>
          <p:nvPr/>
        </p:nvSpPr>
        <p:spPr>
          <a:xfrm>
            <a:off x="6078524" y="1403331"/>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 name="TextBox 4">
            <a:extLst>
              <a:ext uri="{FF2B5EF4-FFF2-40B4-BE49-F238E27FC236}">
                <a16:creationId xmlns:a16="http://schemas.microsoft.com/office/drawing/2014/main" id="{1435DA70-AF17-3E48-363E-BAF2AD34C1AC}"/>
              </a:ext>
            </a:extLst>
          </p:cNvPr>
          <p:cNvSpPr txBox="1"/>
          <p:nvPr/>
        </p:nvSpPr>
        <p:spPr>
          <a:xfrm>
            <a:off x="111476" y="1707675"/>
            <a:ext cx="4743293" cy="1886350"/>
          </a:xfrm>
          <a:prstGeom prst="rect">
            <a:avLst/>
          </a:prstGeom>
          <a:noFill/>
        </p:spPr>
        <p:txBody>
          <a:bodyPr wrap="square" lIns="91440" tIns="45720" rIns="91440" bIns="4572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1200" cap="none" spc="0" normalizeH="0" baseline="0" noProof="0">
                <a:ln>
                  <a:noFill/>
                </a:ln>
                <a:solidFill>
                  <a:prstClr val="black"/>
                </a:solidFill>
                <a:effectLst/>
                <a:uLnTx/>
                <a:uFillTx/>
                <a:latin typeface="Aptos" panose="020B0004020202020204" pitchFamily="34" charset="0"/>
              </a:rPr>
              <a:t>This project is to have the upgrades from GIN to implement in Nation wide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1200" cap="none" spc="0" normalizeH="0" baseline="0" noProof="0">
                <a:ln>
                  <a:noFill/>
                </a:ln>
                <a:solidFill>
                  <a:prstClr val="black"/>
                </a:solidFill>
                <a:effectLst/>
                <a:uLnTx/>
                <a:uFillTx/>
                <a:latin typeface="Aptos" panose="020B0004020202020204" pitchFamily="34" charset="0"/>
              </a:rPr>
              <a:t>Status: </a:t>
            </a:r>
          </a:p>
          <a:p>
            <a:pPr>
              <a:defRPr/>
            </a:pPr>
            <a:r>
              <a:rPr kumimoji="0" lang="en-US" sz="850" b="0" i="0" u="none" strike="noStrike" kern="100" cap="none" spc="0" normalizeH="0" baseline="0" noProof="0">
                <a:ln>
                  <a:noFill/>
                </a:ln>
                <a:solidFill>
                  <a:prstClr val="black"/>
                </a:solidFill>
                <a:effectLst/>
                <a:uLnTx/>
                <a:uFillTx/>
                <a:latin typeface="Aptos" panose="020B0004020202020204" pitchFamily="34" charset="0"/>
                <a:cs typeface="Times New Roman"/>
              </a:rPr>
              <a:t>Overall Status</a:t>
            </a:r>
            <a:r>
              <a:rPr lang="en-US" sz="850" kern="100">
                <a:solidFill>
                  <a:prstClr val="black"/>
                </a:solidFill>
                <a:latin typeface="Aptos" panose="020B0004020202020204" pitchFamily="34" charset="0"/>
                <a:cs typeface="Times New Roman"/>
              </a:rPr>
              <a:t> Green</a:t>
            </a:r>
            <a:endParaRPr lang="en-US" sz="850" b="0" i="0" u="none" strike="noStrike" kern="100" cap="none" spc="0" normalizeH="0" baseline="0" noProof="0">
              <a:ln>
                <a:noFill/>
              </a:ln>
              <a:solidFill>
                <a:prstClr val="black"/>
              </a:solidFill>
              <a:effectLst/>
              <a:highlight>
                <a:srgbClr val="92D050"/>
              </a:highlight>
              <a:uLnTx/>
              <a:uFillTx/>
              <a:latin typeface="Aptos" panose="020B0004020202020204" pitchFamily="34" charset="0"/>
              <a:cs typeface="Times New Roman"/>
            </a:endParaRPr>
          </a:p>
          <a:p>
            <a:pPr marL="171450" marR="0" lvl="0" indent="-171450" algn="l" defTabSz="914400" rtl="0" eaLnBrk="1" fontAlgn="auto" latinLnBrk="0" hangingPunct="1">
              <a:lnSpc>
                <a:spcPct val="115000"/>
              </a:lnSpc>
              <a:spcBef>
                <a:spcPts val="200"/>
              </a:spcBef>
              <a:spcAft>
                <a:spcPts val="0"/>
              </a:spcAft>
              <a:buClrTx/>
              <a:buSzPts val="1000"/>
              <a:buFont typeface="Arial" panose="020B0604020202020204" pitchFamily="34" charset="0"/>
              <a:buChar char="•"/>
              <a:tabLst>
                <a:tab pos="457200" algn="l"/>
              </a:tabLst>
              <a:defRPr/>
            </a:pPr>
            <a:r>
              <a:rPr kumimoji="0" lang="en-US" sz="850" b="1" i="0" u="none" strike="noStrike" kern="100" cap="none" spc="0" normalizeH="0" baseline="0" noProof="0">
                <a:ln>
                  <a:noFill/>
                </a:ln>
                <a:solidFill>
                  <a:prstClr val="black"/>
                </a:solidFill>
                <a:effectLst/>
                <a:uLnTx/>
                <a:uFillTx/>
                <a:latin typeface="Aptos" panose="020B0004020202020204" pitchFamily="34" charset="0"/>
                <a:ea typeface="Aptos" panose="020B0004020202020204" pitchFamily="34" charset="0"/>
                <a:cs typeface="Times New Roman"/>
              </a:rPr>
              <a:t>Business requirements: </a:t>
            </a:r>
            <a:r>
              <a:rPr kumimoji="0" lang="en-US" sz="850" i="0" u="none" strike="noStrike" kern="100" cap="none" spc="0" normalizeH="0" baseline="0" noProof="0">
                <a:ln>
                  <a:noFill/>
                </a:ln>
                <a:solidFill>
                  <a:prstClr val="black"/>
                </a:solidFill>
                <a:effectLst/>
                <a:uLnTx/>
                <a:uFillTx/>
                <a:latin typeface="Aptos" panose="020B0004020202020204" pitchFamily="34" charset="0"/>
                <a:ea typeface="Aptos" panose="020B0004020202020204" pitchFamily="34" charset="0"/>
                <a:cs typeface="Times New Roman"/>
              </a:rPr>
              <a:t>Approved</a:t>
            </a:r>
          </a:p>
          <a:p>
            <a:pPr marL="0" marR="0" lvl="0" indent="0" algn="l" defTabSz="914400" rtl="0" eaLnBrk="1" fontAlgn="auto" latinLnBrk="0" hangingPunct="1">
              <a:lnSpc>
                <a:spcPct val="114999"/>
              </a:lnSpc>
              <a:spcBef>
                <a:spcPts val="200"/>
              </a:spcBef>
              <a:spcAft>
                <a:spcPts val="0"/>
              </a:spcAft>
              <a:buClrTx/>
              <a:buSzPts val="1000"/>
              <a:buFontTx/>
              <a:buNone/>
              <a:tabLst>
                <a:tab pos="457200" algn="l"/>
              </a:tabLst>
              <a:defRPr/>
            </a:pPr>
            <a:r>
              <a:rPr kumimoji="0" lang="en-US" sz="850" b="1" i="0" u="none" strike="noStrike" kern="100" cap="none" spc="0" normalizeH="0" baseline="0" noProof="0">
                <a:ln>
                  <a:noFill/>
                </a:ln>
                <a:solidFill>
                  <a:prstClr val="black"/>
                </a:solidFill>
                <a:effectLst/>
                <a:uLnTx/>
                <a:uFillTx/>
                <a:latin typeface="Aptos" panose="020B0004020202020204" pitchFamily="34" charset="0"/>
                <a:cs typeface="Times New Roman"/>
              </a:rPr>
              <a:t>Next Steps:</a:t>
            </a:r>
          </a:p>
          <a:p>
            <a:pPr marL="171450" indent="-171450">
              <a:lnSpc>
                <a:spcPct val="114999"/>
              </a:lnSpc>
              <a:spcBef>
                <a:spcPts val="200"/>
              </a:spcBef>
              <a:buSzPts val="1000"/>
              <a:buFont typeface="Arial" panose="020B0604020202020204" pitchFamily="34" charset="0"/>
              <a:buChar char="•"/>
              <a:tabLst>
                <a:tab pos="457200" algn="l"/>
              </a:tabLst>
              <a:defRPr/>
            </a:pPr>
            <a:r>
              <a:rPr lang="en-US" sz="850" kern="100">
                <a:solidFill>
                  <a:prstClr val="black"/>
                </a:solidFill>
                <a:latin typeface="Aptos" panose="020B0004020202020204" pitchFamily="34" charset="0"/>
                <a:cs typeface="Times New Roman"/>
              </a:rPr>
              <a:t>Requirements and scope to be finalized; estimated delivery is Nov</a:t>
            </a:r>
          </a:p>
          <a:p>
            <a:pPr marL="171450" indent="-171450">
              <a:lnSpc>
                <a:spcPct val="114999"/>
              </a:lnSpc>
              <a:spcBef>
                <a:spcPts val="200"/>
              </a:spcBef>
              <a:buSzPts val="1000"/>
              <a:buFont typeface="Arial" panose="020B0604020202020204" pitchFamily="34" charset="0"/>
              <a:buChar char="•"/>
              <a:tabLst>
                <a:tab pos="457200" algn="l"/>
              </a:tabLst>
              <a:defRPr/>
            </a:pPr>
            <a:r>
              <a:rPr lang="en-US" sz="850" kern="100">
                <a:solidFill>
                  <a:prstClr val="black"/>
                </a:solidFill>
                <a:latin typeface="Aptos" panose="020B0004020202020204" pitchFamily="34" charset="0"/>
                <a:cs typeface="Times New Roman"/>
              </a:rPr>
              <a:t>Follow up call scheduled on 7/30</a:t>
            </a:r>
          </a:p>
          <a:p>
            <a:pPr marL="171450" indent="-171450">
              <a:lnSpc>
                <a:spcPct val="114999"/>
              </a:lnSpc>
              <a:spcBef>
                <a:spcPts val="200"/>
              </a:spcBef>
              <a:buSzPts val="1000"/>
              <a:buFont typeface="Arial" panose="020B0604020202020204" pitchFamily="34" charset="0"/>
              <a:buChar char="•"/>
              <a:tabLst>
                <a:tab pos="457200" algn="l"/>
              </a:tabLst>
              <a:defRPr/>
            </a:pPr>
            <a:r>
              <a:rPr lang="en-US" sz="850" kern="100">
                <a:solidFill>
                  <a:prstClr val="black"/>
                </a:solidFill>
                <a:latin typeface="Aptos" panose="020B0004020202020204" pitchFamily="34" charset="0"/>
                <a:cs typeface="Times New Roman"/>
              </a:rPr>
              <a:t>Scope to be finalized</a:t>
            </a:r>
          </a:p>
          <a:p>
            <a:pPr marL="171450" indent="-171450">
              <a:lnSpc>
                <a:spcPct val="114999"/>
              </a:lnSpc>
              <a:spcBef>
                <a:spcPts val="200"/>
              </a:spcBef>
              <a:buSzPts val="1000"/>
              <a:buFont typeface="Arial" panose="020B0604020202020204" pitchFamily="34" charset="0"/>
              <a:buChar char="•"/>
              <a:tabLst>
                <a:tab pos="457200" algn="l"/>
              </a:tabLst>
              <a:defRPr/>
            </a:pPr>
            <a:r>
              <a:rPr lang="en-US" sz="850" kern="100">
                <a:solidFill>
                  <a:prstClr val="black"/>
                </a:solidFill>
                <a:latin typeface="Aptos" panose="020B0004020202020204" pitchFamily="34" charset="0"/>
                <a:cs typeface="Times New Roman"/>
              </a:rPr>
              <a:t>Schedule from the line to be finalized</a:t>
            </a:r>
          </a:p>
          <a:p>
            <a:pPr marL="171450" marR="0" lvl="1" indent="-171450" algn="l" defTabSz="914400" rtl="0" eaLnBrk="1" fontAlgn="auto" latinLnBrk="0" hangingPunct="1">
              <a:lnSpc>
                <a:spcPct val="114999"/>
              </a:lnSpc>
              <a:spcBef>
                <a:spcPts val="200"/>
              </a:spcBef>
              <a:spcAft>
                <a:spcPts val="0"/>
              </a:spcAft>
              <a:buClrTx/>
              <a:buSzPts val="1000"/>
              <a:buFont typeface="Arial" panose="020B0604020202020204" pitchFamily="34" charset="0"/>
              <a:buChar char="•"/>
              <a:tabLst>
                <a:tab pos="457200" algn="l"/>
              </a:tabLst>
              <a:defRPr/>
            </a:pPr>
            <a:endParaRPr kumimoji="0" lang="en-US" sz="900" b="0" i="0" u="none" strike="noStrike" kern="100" cap="none" spc="0" normalizeH="0" baseline="0" noProof="0">
              <a:ln>
                <a:noFill/>
              </a:ln>
              <a:solidFill>
                <a:prstClr val="black"/>
              </a:solidFill>
              <a:effectLst/>
              <a:uLnTx/>
              <a:uFillTx/>
              <a:ea typeface="+mn-ea"/>
              <a:cs typeface="Times New Roman"/>
            </a:endParaRPr>
          </a:p>
          <a:p>
            <a:pPr marL="0" marR="0" lvl="0" indent="0" algn="l" defTabSz="914400" rtl="0" eaLnBrk="1" fontAlgn="auto" latinLnBrk="0" hangingPunct="1">
              <a:lnSpc>
                <a:spcPct val="114999"/>
              </a:lnSpc>
              <a:spcBef>
                <a:spcPts val="200"/>
              </a:spcBef>
              <a:spcAft>
                <a:spcPts val="0"/>
              </a:spcAft>
              <a:buClrTx/>
              <a:buSzPts val="1000"/>
              <a:buFontTx/>
              <a:buNone/>
              <a:tabLst>
                <a:tab pos="457200" algn="l"/>
              </a:tabLst>
              <a:defRPr/>
            </a:pPr>
            <a:endParaRPr kumimoji="0" lang="en-US" sz="800" b="1" i="0" u="sng" strike="noStrike" kern="100" cap="none" spc="0" normalizeH="0" baseline="0" noProof="0">
              <a:ln>
                <a:noFill/>
              </a:ln>
              <a:solidFill>
                <a:prstClr val="black"/>
              </a:solidFill>
              <a:effectLst/>
              <a:uLnTx/>
              <a:uFillTx/>
              <a:latin typeface="Aptos" panose="02110004020202020204"/>
              <a:ea typeface="Aptos" panose="020B0004020202020204" pitchFamily="34" charset="0"/>
              <a:cs typeface="Times New Roman"/>
            </a:endParaRPr>
          </a:p>
        </p:txBody>
      </p:sp>
      <p:sp>
        <p:nvSpPr>
          <p:cNvPr id="3" name="TextBox 2">
            <a:extLst>
              <a:ext uri="{FF2B5EF4-FFF2-40B4-BE49-F238E27FC236}">
                <a16:creationId xmlns:a16="http://schemas.microsoft.com/office/drawing/2014/main" id="{907F35B9-5A00-1057-FD27-F99359AFAFB0}"/>
              </a:ext>
            </a:extLst>
          </p:cNvPr>
          <p:cNvSpPr txBox="1"/>
          <p:nvPr/>
        </p:nvSpPr>
        <p:spPr>
          <a:xfrm>
            <a:off x="9515820" y="166937"/>
            <a:ext cx="2676180" cy="517320"/>
          </a:xfrm>
          <a:prstGeom prst="rect">
            <a:avLst/>
          </a:prstGeom>
          <a:noFill/>
        </p:spPr>
        <p:txBody>
          <a:bodyPr wrap="none" lIns="0" tIns="0" rIns="0" bIns="0" rtlCol="0" anchor="t">
            <a:noAutofit/>
          </a:bodyPr>
          <a:lstStyle/>
          <a:p>
            <a:pPr>
              <a:lnSpc>
                <a:spcPct val="112000"/>
              </a:lnSpc>
              <a:defRPr/>
            </a:pPr>
            <a:r>
              <a:rPr lang="en-US" sz="1200">
                <a:latin typeface="Aptos"/>
              </a:rPr>
              <a:t>Project Manager :  Chalam Buddha</a:t>
            </a:r>
          </a:p>
          <a:p>
            <a:pPr>
              <a:lnSpc>
                <a:spcPct val="112000"/>
              </a:lnSpc>
              <a:defRPr/>
            </a:pPr>
            <a:r>
              <a:rPr lang="en-US" sz="1200">
                <a:latin typeface="Aptos"/>
              </a:rPr>
              <a:t>PO:  Gary Wilson</a:t>
            </a:r>
            <a:endParaRPr lang="en-US">
              <a:latin typeface="Aptos"/>
            </a:endParaRPr>
          </a:p>
        </p:txBody>
      </p:sp>
      <p:sp>
        <p:nvSpPr>
          <p:cNvPr id="10" name="Flowchart: Connector 9">
            <a:extLst>
              <a:ext uri="{FF2B5EF4-FFF2-40B4-BE49-F238E27FC236}">
                <a16:creationId xmlns:a16="http://schemas.microsoft.com/office/drawing/2014/main" id="{DDEC12B4-08A4-91B8-6E04-4D405ED456E0}"/>
              </a:ext>
            </a:extLst>
          </p:cNvPr>
          <p:cNvSpPr/>
          <p:nvPr/>
        </p:nvSpPr>
        <p:spPr>
          <a:xfrm>
            <a:off x="4282740" y="1422297"/>
            <a:ext cx="163285" cy="164592"/>
          </a:xfrm>
          <a:prstGeom prst="flowChartConnector">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 name="Flowchart: Connector 11">
            <a:extLst>
              <a:ext uri="{FF2B5EF4-FFF2-40B4-BE49-F238E27FC236}">
                <a16:creationId xmlns:a16="http://schemas.microsoft.com/office/drawing/2014/main" id="{DF7B2542-368A-BEAB-A715-E25CE671E61C}"/>
              </a:ext>
            </a:extLst>
          </p:cNvPr>
          <p:cNvSpPr/>
          <p:nvPr/>
        </p:nvSpPr>
        <p:spPr>
          <a:xfrm>
            <a:off x="5219710" y="1419623"/>
            <a:ext cx="163285" cy="164592"/>
          </a:xfrm>
          <a:prstGeom prst="flowChartConnector">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 name="Flowchart: Connector 3">
            <a:extLst>
              <a:ext uri="{FF2B5EF4-FFF2-40B4-BE49-F238E27FC236}">
                <a16:creationId xmlns:a16="http://schemas.microsoft.com/office/drawing/2014/main" id="{360B8692-AA81-F50F-DEB6-D19902C7D28B}"/>
              </a:ext>
            </a:extLst>
          </p:cNvPr>
          <p:cNvSpPr/>
          <p:nvPr/>
        </p:nvSpPr>
        <p:spPr>
          <a:xfrm>
            <a:off x="3278895" y="1403331"/>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421537358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13BD7D-EE0D-A519-5DB4-4735A3F104B3}"/>
            </a:ext>
          </a:extLst>
        </p:cNvPr>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AA50E8F8-23FB-0D9D-DB38-6680437A05FE}"/>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8" imgH="408" progId="TCLayout.ActiveDocument.1">
                  <p:embed/>
                </p:oleObj>
              </mc:Choice>
              <mc:Fallback>
                <p:oleObj name="think-cell Slide" r:id="rId4" imgW="408" imgH="408" progId="TCLayout.ActiveDocument.1">
                  <p:embed/>
                  <p:pic>
                    <p:nvPicPr>
                      <p:cNvPr id="9" name="think-cell data - do not delete" hidden="1">
                        <a:extLst>
                          <a:ext uri="{FF2B5EF4-FFF2-40B4-BE49-F238E27FC236}">
                            <a16:creationId xmlns:a16="http://schemas.microsoft.com/office/drawing/2014/main" id="{AA50E8F8-23FB-0D9D-DB38-6680437A05FE}"/>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graphicFrame>
        <p:nvGraphicFramePr>
          <p:cNvPr id="32" name="Group 614">
            <a:extLst>
              <a:ext uri="{FF2B5EF4-FFF2-40B4-BE49-F238E27FC236}">
                <a16:creationId xmlns:a16="http://schemas.microsoft.com/office/drawing/2014/main" id="{5A3DBF6D-64E9-D1B1-E1C7-7994340F6BDF}"/>
              </a:ext>
            </a:extLst>
          </p:cNvPr>
          <p:cNvGraphicFramePr>
            <a:graphicFrameLocks noGrp="1"/>
          </p:cNvGraphicFramePr>
          <p:nvPr/>
        </p:nvGraphicFramePr>
        <p:xfrm>
          <a:off x="4980036" y="6305845"/>
          <a:ext cx="7136859" cy="386554"/>
        </p:xfrm>
        <a:graphic>
          <a:graphicData uri="http://schemas.openxmlformats.org/drawingml/2006/table">
            <a:tbl>
              <a:tblPr/>
              <a:tblGrid>
                <a:gridCol w="606425">
                  <a:extLst>
                    <a:ext uri="{9D8B030D-6E8A-4147-A177-3AD203B41FA5}">
                      <a16:colId xmlns:a16="http://schemas.microsoft.com/office/drawing/2014/main" val="20000"/>
                    </a:ext>
                  </a:extLst>
                </a:gridCol>
                <a:gridCol w="307361">
                  <a:extLst>
                    <a:ext uri="{9D8B030D-6E8A-4147-A177-3AD203B41FA5}">
                      <a16:colId xmlns:a16="http://schemas.microsoft.com/office/drawing/2014/main" val="20001"/>
                    </a:ext>
                  </a:extLst>
                </a:gridCol>
                <a:gridCol w="757584">
                  <a:extLst>
                    <a:ext uri="{9D8B030D-6E8A-4147-A177-3AD203B41FA5}">
                      <a16:colId xmlns:a16="http://schemas.microsoft.com/office/drawing/2014/main" val="20002"/>
                    </a:ext>
                  </a:extLst>
                </a:gridCol>
                <a:gridCol w="302812">
                  <a:extLst>
                    <a:ext uri="{9D8B030D-6E8A-4147-A177-3AD203B41FA5}">
                      <a16:colId xmlns:a16="http://schemas.microsoft.com/office/drawing/2014/main" val="20003"/>
                    </a:ext>
                  </a:extLst>
                </a:gridCol>
                <a:gridCol w="665317">
                  <a:extLst>
                    <a:ext uri="{9D8B030D-6E8A-4147-A177-3AD203B41FA5}">
                      <a16:colId xmlns:a16="http://schemas.microsoft.com/office/drawing/2014/main" val="20004"/>
                    </a:ext>
                  </a:extLst>
                </a:gridCol>
                <a:gridCol w="518025">
                  <a:extLst>
                    <a:ext uri="{9D8B030D-6E8A-4147-A177-3AD203B41FA5}">
                      <a16:colId xmlns:a16="http://schemas.microsoft.com/office/drawing/2014/main" val="20005"/>
                    </a:ext>
                  </a:extLst>
                </a:gridCol>
                <a:gridCol w="568469">
                  <a:extLst>
                    <a:ext uri="{9D8B030D-6E8A-4147-A177-3AD203B41FA5}">
                      <a16:colId xmlns:a16="http://schemas.microsoft.com/office/drawing/2014/main" val="20006"/>
                    </a:ext>
                  </a:extLst>
                </a:gridCol>
                <a:gridCol w="368983">
                  <a:extLst>
                    <a:ext uri="{9D8B030D-6E8A-4147-A177-3AD203B41FA5}">
                      <a16:colId xmlns:a16="http://schemas.microsoft.com/office/drawing/2014/main" val="20007"/>
                    </a:ext>
                  </a:extLst>
                </a:gridCol>
                <a:gridCol w="1372005">
                  <a:extLst>
                    <a:ext uri="{9D8B030D-6E8A-4147-A177-3AD203B41FA5}">
                      <a16:colId xmlns:a16="http://schemas.microsoft.com/office/drawing/2014/main" val="20008"/>
                    </a:ext>
                  </a:extLst>
                </a:gridCol>
                <a:gridCol w="378212">
                  <a:extLst>
                    <a:ext uri="{9D8B030D-6E8A-4147-A177-3AD203B41FA5}">
                      <a16:colId xmlns:a16="http://schemas.microsoft.com/office/drawing/2014/main" val="20009"/>
                    </a:ext>
                  </a:extLst>
                </a:gridCol>
                <a:gridCol w="1291666">
                  <a:extLst>
                    <a:ext uri="{9D8B030D-6E8A-4147-A177-3AD203B41FA5}">
                      <a16:colId xmlns:a16="http://schemas.microsoft.com/office/drawing/2014/main" val="20010"/>
                    </a:ext>
                  </a:extLst>
                </a:gridCol>
              </a:tblGrid>
              <a:tr h="386554">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Arial" charset="0"/>
                          <a:cs typeface="Arial" charset="0"/>
                        </a:rPr>
                        <a:t>Status Key</a:t>
                      </a:r>
                      <a:endParaRPr kumimoji="0" lang="en-GB" sz="1600" b="0" i="0" u="none" strike="noStrike" cap="none" normalizeH="0" baseline="0">
                        <a:ln>
                          <a:noFill/>
                        </a:ln>
                        <a:solidFill>
                          <a:srgbClr val="002060"/>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mj-lt"/>
                        </a:rPr>
                        <a:t>C</a:t>
                      </a: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Arial" charset="0"/>
                          <a:cs typeface="Arial" charset="0"/>
                        </a:rPr>
                        <a:t>Completed</a:t>
                      </a:r>
                      <a:endParaRPr kumimoji="0" lang="en-GB" sz="1600" b="0" i="0" u="none" strike="noStrike" cap="none" normalizeH="0" baseline="0">
                        <a:ln>
                          <a:noFill/>
                        </a:ln>
                        <a:solidFill>
                          <a:srgbClr val="002060"/>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On-Schedule</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Major Issues</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Some Issues</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NS</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Not Started</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2" name="Title 1">
            <a:extLst>
              <a:ext uri="{FF2B5EF4-FFF2-40B4-BE49-F238E27FC236}">
                <a16:creationId xmlns:a16="http://schemas.microsoft.com/office/drawing/2014/main" id="{44731BDC-3B6F-19DB-F015-36E363B14C21}"/>
              </a:ext>
            </a:extLst>
          </p:cNvPr>
          <p:cNvSpPr>
            <a:spLocks noGrp="1"/>
          </p:cNvSpPr>
          <p:nvPr>
            <p:ph type="title"/>
          </p:nvPr>
        </p:nvSpPr>
        <p:spPr>
          <a:xfrm>
            <a:off x="231954" y="101795"/>
            <a:ext cx="9281086" cy="788695"/>
          </a:xfrm>
        </p:spPr>
        <p:txBody>
          <a:bodyPr vert="horz">
            <a:normAutofit/>
          </a:bodyPr>
          <a:lstStyle/>
          <a:p>
            <a:pPr lvl="0">
              <a:lnSpc>
                <a:spcPct val="100000"/>
              </a:lnSpc>
              <a:spcBef>
                <a:spcPts val="0"/>
              </a:spcBef>
              <a:defRPr/>
            </a:pPr>
            <a:r>
              <a:rPr lang="en-US" sz="2400">
                <a:solidFill>
                  <a:srgbClr val="29389F"/>
                </a:solidFill>
                <a:latin typeface="Arial" pitchFamily="34" charset="0"/>
                <a:cs typeface="Arial" pitchFamily="34" charset="0"/>
              </a:rPr>
              <a:t>NW Pet: CPP Right to Delete and Right to access (Externally funded)</a:t>
            </a:r>
          </a:p>
        </p:txBody>
      </p:sp>
      <p:graphicFrame>
        <p:nvGraphicFramePr>
          <p:cNvPr id="11" name="Group 513">
            <a:extLst>
              <a:ext uri="{FF2B5EF4-FFF2-40B4-BE49-F238E27FC236}">
                <a16:creationId xmlns:a16="http://schemas.microsoft.com/office/drawing/2014/main" id="{1F125BFF-AFAE-248A-4FCA-23B7B8B157B0}"/>
              </a:ext>
            </a:extLst>
          </p:cNvPr>
          <p:cNvGraphicFramePr>
            <a:graphicFrameLocks noGrp="1"/>
          </p:cNvGraphicFramePr>
          <p:nvPr>
            <p:extLst>
              <p:ext uri="{D42A27DB-BD31-4B8C-83A1-F6EECF244321}">
                <p14:modId xmlns:p14="http://schemas.microsoft.com/office/powerpoint/2010/main" val="1476990415"/>
              </p:ext>
            </p:extLst>
          </p:nvPr>
        </p:nvGraphicFramePr>
        <p:xfrm>
          <a:off x="234455" y="927650"/>
          <a:ext cx="2638218" cy="344301"/>
        </p:xfrm>
        <a:graphic>
          <a:graphicData uri="http://schemas.openxmlformats.org/drawingml/2006/table">
            <a:tbl>
              <a:tblPr/>
              <a:tblGrid>
                <a:gridCol w="984745">
                  <a:extLst>
                    <a:ext uri="{9D8B030D-6E8A-4147-A177-3AD203B41FA5}">
                      <a16:colId xmlns:a16="http://schemas.microsoft.com/office/drawing/2014/main" val="20000"/>
                    </a:ext>
                  </a:extLst>
                </a:gridCol>
                <a:gridCol w="1653473">
                  <a:extLst>
                    <a:ext uri="{9D8B030D-6E8A-4147-A177-3AD203B41FA5}">
                      <a16:colId xmlns:a16="http://schemas.microsoft.com/office/drawing/2014/main" val="20001"/>
                    </a:ext>
                  </a:extLst>
                </a:gridCol>
              </a:tblGrid>
              <a:tr h="344301">
                <a:tc>
                  <a:txBody>
                    <a:bodyPr/>
                    <a:lstStyle/>
                    <a:p>
                      <a:pPr marL="0" marR="0" lvl="0" indent="0" algn="l" defTabSz="914400" rtl="0" eaLnBrk="0" fontAlgn="base" latinLnBrk="0" hangingPunct="0">
                        <a:lnSpc>
                          <a:spcPct val="95000"/>
                        </a:lnSpc>
                        <a:spcBef>
                          <a:spcPct val="0"/>
                        </a:spcBef>
                        <a:spcAft>
                          <a:spcPct val="50000"/>
                        </a:spcAft>
                        <a:buClrTx/>
                        <a:buSzTx/>
                        <a:buFontTx/>
                        <a:buNone/>
                        <a:tabLst/>
                      </a:pPr>
                      <a:r>
                        <a:rPr kumimoji="0" lang="en-GB" sz="1050" b="1" i="0" u="none" strike="noStrike" kern="1200" cap="none" normalizeH="0" baseline="0">
                          <a:ln>
                            <a:noFill/>
                          </a:ln>
                          <a:solidFill>
                            <a:schemeClr val="bg1"/>
                          </a:solidFill>
                          <a:effectLst/>
                          <a:latin typeface="Arial"/>
                          <a:ea typeface="+mn-ea"/>
                          <a:cs typeface="+mn-cs"/>
                        </a:rPr>
                        <a:t>Status Date:</a:t>
                      </a:r>
                    </a:p>
                  </a:txBody>
                  <a:tcPr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defRPr/>
                      </a:pPr>
                      <a:r>
                        <a:rPr kumimoji="0" lang="en-GB" sz="850" b="1" i="0" u="none" strike="noStrike" kern="1200" cap="none" normalizeH="0" baseline="0">
                          <a:ln>
                            <a:noFill/>
                          </a:ln>
                          <a:solidFill>
                            <a:schemeClr val="tx1"/>
                          </a:solidFill>
                          <a:effectLst/>
                          <a:latin typeface="Aptos" panose="020B0004020202020204" pitchFamily="34" charset="0"/>
                          <a:ea typeface="+mn-ea"/>
                          <a:cs typeface="+mn-cs"/>
                        </a:rPr>
                        <a:t>08/28/26</a:t>
                      </a:r>
                    </a:p>
                  </a:txBody>
                  <a:tcPr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14" name="Table 13">
            <a:extLst>
              <a:ext uri="{FF2B5EF4-FFF2-40B4-BE49-F238E27FC236}">
                <a16:creationId xmlns:a16="http://schemas.microsoft.com/office/drawing/2014/main" id="{2A7738DC-6B6C-B235-C548-36EAFF556E70}"/>
              </a:ext>
            </a:extLst>
          </p:cNvPr>
          <p:cNvGraphicFramePr>
            <a:graphicFrameLocks noGrp="1"/>
          </p:cNvGraphicFramePr>
          <p:nvPr>
            <p:extLst>
              <p:ext uri="{D42A27DB-BD31-4B8C-83A1-F6EECF244321}">
                <p14:modId xmlns:p14="http://schemas.microsoft.com/office/powerpoint/2010/main" val="395209938"/>
              </p:ext>
            </p:extLst>
          </p:nvPr>
        </p:nvGraphicFramePr>
        <p:xfrm>
          <a:off x="6640300" y="920667"/>
          <a:ext cx="5468995" cy="749848"/>
        </p:xfrm>
        <a:graphic>
          <a:graphicData uri="http://schemas.openxmlformats.org/drawingml/2006/table">
            <a:tbl>
              <a:tblPr>
                <a:tableStyleId>{5C22544A-7EE6-4342-B048-85BDC9FD1C3A}</a:tableStyleId>
              </a:tblPr>
              <a:tblGrid>
                <a:gridCol w="1068116">
                  <a:extLst>
                    <a:ext uri="{9D8B030D-6E8A-4147-A177-3AD203B41FA5}">
                      <a16:colId xmlns:a16="http://schemas.microsoft.com/office/drawing/2014/main" val="2456552316"/>
                    </a:ext>
                  </a:extLst>
                </a:gridCol>
                <a:gridCol w="946701">
                  <a:extLst>
                    <a:ext uri="{9D8B030D-6E8A-4147-A177-3AD203B41FA5}">
                      <a16:colId xmlns:a16="http://schemas.microsoft.com/office/drawing/2014/main" val="2327174630"/>
                    </a:ext>
                  </a:extLst>
                </a:gridCol>
                <a:gridCol w="1547983">
                  <a:extLst>
                    <a:ext uri="{9D8B030D-6E8A-4147-A177-3AD203B41FA5}">
                      <a16:colId xmlns:a16="http://schemas.microsoft.com/office/drawing/2014/main" val="1100051595"/>
                    </a:ext>
                  </a:extLst>
                </a:gridCol>
                <a:gridCol w="933908">
                  <a:extLst>
                    <a:ext uri="{9D8B030D-6E8A-4147-A177-3AD203B41FA5}">
                      <a16:colId xmlns:a16="http://schemas.microsoft.com/office/drawing/2014/main" val="2042261034"/>
                    </a:ext>
                  </a:extLst>
                </a:gridCol>
                <a:gridCol w="972287">
                  <a:extLst>
                    <a:ext uri="{9D8B030D-6E8A-4147-A177-3AD203B41FA5}">
                      <a16:colId xmlns:a16="http://schemas.microsoft.com/office/drawing/2014/main" val="2815874248"/>
                    </a:ext>
                  </a:extLst>
                </a:gridCol>
              </a:tblGrid>
              <a:tr h="366567">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2026 Budget</a:t>
                      </a:r>
                      <a:r>
                        <a:rPr lang="en-US" sz="1050" b="1" i="0" u="none" strike="noStrike" kern="1200" cap="none" normalizeH="0" baseline="0">
                          <a:ln>
                            <a:noFill/>
                          </a:ln>
                          <a:solidFill>
                            <a:schemeClr val="bg1"/>
                          </a:solidFill>
                          <a:effectLst/>
                          <a:latin typeface="Arial"/>
                          <a:ea typeface="+mn-ea"/>
                          <a:cs typeface="+mn-cs"/>
                        </a:rPr>
                        <a:t> </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YTD Actuals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Remaining 2026 Forecast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Current YE Forecast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Total Budget</a:t>
                      </a:r>
                      <a:r>
                        <a:rPr lang="en-US" sz="1050" b="1" i="0" u="none" strike="noStrike" kern="1200" cap="none" normalizeH="0" baseline="0">
                          <a:ln>
                            <a:noFill/>
                          </a:ln>
                          <a:solidFill>
                            <a:schemeClr val="bg1"/>
                          </a:solidFill>
                          <a:effectLst/>
                          <a:latin typeface="Arial"/>
                          <a:ea typeface="+mn-ea"/>
                          <a:cs typeface="+mn-cs"/>
                        </a:rPr>
                        <a:t> </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383281">
                <a:tc>
                  <a:txBody>
                    <a:bodyPr/>
                    <a:lstStyle/>
                    <a:p>
                      <a:pPr marL="0" marR="0" lvl="0" indent="0" algn="ctr" defTabSz="914400" rtl="0" eaLnBrk="0" fontAlgn="base" latinLnBrk="0" hangingPunct="0">
                        <a:lnSpc>
                          <a:spcPct val="95000"/>
                        </a:lnSpc>
                        <a:spcBef>
                          <a:spcPct val="0"/>
                        </a:spcBef>
                        <a:spcAft>
                          <a:spcPct val="50000"/>
                        </a:spcAft>
                        <a:buClrTx/>
                        <a:buSzTx/>
                        <a:buFontTx/>
                        <a:buNone/>
                        <a:tabLst/>
                        <a:defRPr/>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$60,000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defRPr/>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defRPr/>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defRPr/>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defRPr/>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7499024"/>
                  </a:ext>
                </a:extLst>
              </a:tr>
            </a:tbl>
          </a:graphicData>
        </a:graphic>
      </p:graphicFrame>
      <p:graphicFrame>
        <p:nvGraphicFramePr>
          <p:cNvPr id="25" name="Table 24">
            <a:extLst>
              <a:ext uri="{FF2B5EF4-FFF2-40B4-BE49-F238E27FC236}">
                <a16:creationId xmlns:a16="http://schemas.microsoft.com/office/drawing/2014/main" id="{A1335355-63BE-67B0-CBD4-E4119BB6CDBF}"/>
              </a:ext>
            </a:extLst>
          </p:cNvPr>
          <p:cNvGraphicFramePr>
            <a:graphicFrameLocks noGrp="1"/>
          </p:cNvGraphicFramePr>
          <p:nvPr/>
        </p:nvGraphicFramePr>
        <p:xfrm>
          <a:off x="2811025" y="920667"/>
          <a:ext cx="3829275" cy="749848"/>
        </p:xfrm>
        <a:graphic>
          <a:graphicData uri="http://schemas.openxmlformats.org/drawingml/2006/table">
            <a:tbl>
              <a:tblPr>
                <a:tableStyleId>{5C22544A-7EE6-4342-B048-85BDC9FD1C3A}</a:tableStyleId>
              </a:tblPr>
              <a:tblGrid>
                <a:gridCol w="1042158">
                  <a:extLst>
                    <a:ext uri="{9D8B030D-6E8A-4147-A177-3AD203B41FA5}">
                      <a16:colId xmlns:a16="http://schemas.microsoft.com/office/drawing/2014/main" val="2456552316"/>
                    </a:ext>
                  </a:extLst>
                </a:gridCol>
                <a:gridCol w="961214">
                  <a:extLst>
                    <a:ext uri="{9D8B030D-6E8A-4147-A177-3AD203B41FA5}">
                      <a16:colId xmlns:a16="http://schemas.microsoft.com/office/drawing/2014/main" val="1100051595"/>
                    </a:ext>
                  </a:extLst>
                </a:gridCol>
                <a:gridCol w="920742">
                  <a:extLst>
                    <a:ext uri="{9D8B030D-6E8A-4147-A177-3AD203B41FA5}">
                      <a16:colId xmlns:a16="http://schemas.microsoft.com/office/drawing/2014/main" val="2042261034"/>
                    </a:ext>
                  </a:extLst>
                </a:gridCol>
                <a:gridCol w="905161">
                  <a:extLst>
                    <a:ext uri="{9D8B030D-6E8A-4147-A177-3AD203B41FA5}">
                      <a16:colId xmlns:a16="http://schemas.microsoft.com/office/drawing/2014/main" val="2815874248"/>
                    </a:ext>
                  </a:extLst>
                </a:gridCol>
              </a:tblGrid>
              <a:tr h="409508">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Overall</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Scope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Schedule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Financials</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340340">
                <a:tc>
                  <a:txBody>
                    <a:bodyPr/>
                    <a:lstStyle/>
                    <a:p>
                      <a:pPr marL="0" marR="0" lvl="0" indent="0" algn="ctr" rtl="0" eaLnBrk="1" fontAlgn="ctr" latinLnBrk="0" hangingPunct="1">
                        <a:lnSpc>
                          <a:spcPct val="95000"/>
                        </a:lnSpc>
                        <a:spcBef>
                          <a:spcPct val="0"/>
                        </a:spcBef>
                        <a:spcAft>
                          <a:spcPct val="50000"/>
                        </a:spcAft>
                        <a:buClrTx/>
                        <a:buSzTx/>
                        <a:buFontTx/>
                        <a:buNone/>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rtl="0" eaLnBrk="1" fontAlgn="ctr" latinLnBrk="0" hangingPunct="1">
                        <a:lnSpc>
                          <a:spcPct val="95000"/>
                        </a:lnSpc>
                        <a:spcBef>
                          <a:spcPct val="0"/>
                        </a:spcBef>
                        <a:spcAft>
                          <a:spcPct val="50000"/>
                        </a:spcAft>
                        <a:buClrTx/>
                        <a:buSzTx/>
                        <a:buFontTx/>
                        <a:buNone/>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7499024"/>
                  </a:ext>
                </a:extLst>
              </a:tr>
            </a:tbl>
          </a:graphicData>
        </a:graphic>
      </p:graphicFrame>
      <p:graphicFrame>
        <p:nvGraphicFramePr>
          <p:cNvPr id="26" name="Group 513">
            <a:extLst>
              <a:ext uri="{FF2B5EF4-FFF2-40B4-BE49-F238E27FC236}">
                <a16:creationId xmlns:a16="http://schemas.microsoft.com/office/drawing/2014/main" id="{3ED9D2C0-51C9-FD40-17C3-CD5B765A991E}"/>
              </a:ext>
            </a:extLst>
          </p:cNvPr>
          <p:cNvGraphicFramePr>
            <a:graphicFrameLocks noGrp="1"/>
          </p:cNvGraphicFramePr>
          <p:nvPr>
            <p:extLst>
              <p:ext uri="{D42A27DB-BD31-4B8C-83A1-F6EECF244321}">
                <p14:modId xmlns:p14="http://schemas.microsoft.com/office/powerpoint/2010/main" val="2200619435"/>
              </p:ext>
            </p:extLst>
          </p:nvPr>
        </p:nvGraphicFramePr>
        <p:xfrm>
          <a:off x="231953" y="1271951"/>
          <a:ext cx="2581575" cy="395688"/>
        </p:xfrm>
        <a:graphic>
          <a:graphicData uri="http://schemas.openxmlformats.org/drawingml/2006/table">
            <a:tbl>
              <a:tblPr/>
              <a:tblGrid>
                <a:gridCol w="998602">
                  <a:extLst>
                    <a:ext uri="{9D8B030D-6E8A-4147-A177-3AD203B41FA5}">
                      <a16:colId xmlns:a16="http://schemas.microsoft.com/office/drawing/2014/main" val="20000"/>
                    </a:ext>
                  </a:extLst>
                </a:gridCol>
                <a:gridCol w="1582973">
                  <a:extLst>
                    <a:ext uri="{9D8B030D-6E8A-4147-A177-3AD203B41FA5}">
                      <a16:colId xmlns:a16="http://schemas.microsoft.com/office/drawing/2014/main" val="20001"/>
                    </a:ext>
                  </a:extLst>
                </a:gridCol>
              </a:tblGrid>
              <a:tr h="344301">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GB" sz="1050" b="1" i="0" u="none" strike="noStrike" kern="1200" cap="none" normalizeH="0" baseline="0">
                          <a:ln>
                            <a:noFill/>
                          </a:ln>
                          <a:solidFill>
                            <a:schemeClr val="bg1"/>
                          </a:solidFill>
                          <a:effectLst/>
                          <a:latin typeface="Arial"/>
                          <a:ea typeface="+mn-ea"/>
                          <a:cs typeface="+mn-cs"/>
                        </a:rPr>
                        <a:t>Target Delivery:</a:t>
                      </a:r>
                    </a:p>
                  </a:txBody>
                  <a:tcPr marL="0" marR="0"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defRPr/>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9/30/2026</a:t>
                      </a:r>
                    </a:p>
                  </a:txBody>
                  <a:tcPr marL="0" marR="0"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27" name="Table 26">
            <a:extLst>
              <a:ext uri="{FF2B5EF4-FFF2-40B4-BE49-F238E27FC236}">
                <a16:creationId xmlns:a16="http://schemas.microsoft.com/office/drawing/2014/main" id="{4677285F-484C-A946-BEE2-0C9792132DC0}"/>
              </a:ext>
            </a:extLst>
          </p:cNvPr>
          <p:cNvGraphicFramePr>
            <a:graphicFrameLocks noGrp="1"/>
          </p:cNvGraphicFramePr>
          <p:nvPr>
            <p:extLst>
              <p:ext uri="{D42A27DB-BD31-4B8C-83A1-F6EECF244321}">
                <p14:modId xmlns:p14="http://schemas.microsoft.com/office/powerpoint/2010/main" val="305608270"/>
              </p:ext>
            </p:extLst>
          </p:nvPr>
        </p:nvGraphicFramePr>
        <p:xfrm>
          <a:off x="4854769" y="1696099"/>
          <a:ext cx="7269724" cy="3141365"/>
        </p:xfrm>
        <a:graphic>
          <a:graphicData uri="http://schemas.openxmlformats.org/drawingml/2006/table">
            <a:tbl>
              <a:tblPr>
                <a:tableStyleId>{5C22544A-7EE6-4342-B048-85BDC9FD1C3A}</a:tableStyleId>
              </a:tblPr>
              <a:tblGrid>
                <a:gridCol w="2593181">
                  <a:extLst>
                    <a:ext uri="{9D8B030D-6E8A-4147-A177-3AD203B41FA5}">
                      <a16:colId xmlns:a16="http://schemas.microsoft.com/office/drawing/2014/main" val="2456552316"/>
                    </a:ext>
                  </a:extLst>
                </a:gridCol>
                <a:gridCol w="467024">
                  <a:extLst>
                    <a:ext uri="{9D8B030D-6E8A-4147-A177-3AD203B41FA5}">
                      <a16:colId xmlns:a16="http://schemas.microsoft.com/office/drawing/2014/main" val="1100051595"/>
                    </a:ext>
                  </a:extLst>
                </a:gridCol>
                <a:gridCol w="436434">
                  <a:extLst>
                    <a:ext uri="{9D8B030D-6E8A-4147-A177-3AD203B41FA5}">
                      <a16:colId xmlns:a16="http://schemas.microsoft.com/office/drawing/2014/main" val="2042261034"/>
                    </a:ext>
                  </a:extLst>
                </a:gridCol>
                <a:gridCol w="3773085">
                  <a:extLst>
                    <a:ext uri="{9D8B030D-6E8A-4147-A177-3AD203B41FA5}">
                      <a16:colId xmlns:a16="http://schemas.microsoft.com/office/drawing/2014/main" val="2815874248"/>
                    </a:ext>
                  </a:extLst>
                </a:gridCol>
              </a:tblGrid>
              <a:tr h="304528">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Milestone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Status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Due Date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225904">
                <a:tc>
                  <a:txBody>
                    <a:bodyPr/>
                    <a:lstStyle/>
                    <a:p>
                      <a:pPr marL="114300" marR="0" lvl="0" indent="0" algn="l" rtl="0" eaLnBrk="1" fontAlgn="ctr" latinLnBrk="0" hangingPunct="1">
                        <a:lnSpc>
                          <a:spcPct val="95000"/>
                        </a:lnSpc>
                        <a:spcBef>
                          <a:spcPct val="0"/>
                        </a:spcBef>
                        <a:spcAft>
                          <a:spcPct val="50000"/>
                        </a:spcAft>
                        <a:buClrTx/>
                        <a:buSzTx/>
                        <a:buFontTx/>
                        <a:buNone/>
                      </a:pPr>
                      <a:r>
                        <a:rPr lang="en-US" sz="850" b="0" kern="1200">
                          <a:solidFill>
                            <a:schemeClr val="tx1"/>
                          </a:solidFill>
                          <a:effectLst/>
                          <a:latin typeface="Aptos" panose="020B0004020202020204" pitchFamily="34" charset="0"/>
                          <a:ea typeface="+mn-ea"/>
                          <a:cs typeface="+mn-cs"/>
                        </a:rPr>
                        <a:t>Validate and Lock business requirements</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a:ln>
                            <a:noFill/>
                          </a:ln>
                          <a:solidFill>
                            <a:prstClr val="black"/>
                          </a:solidFill>
                          <a:effectLst/>
                          <a:uLnTx/>
                          <a:uFillTx/>
                          <a:latin typeface="Aptos" panose="020B0004020202020204" pitchFamily="34" charset="0"/>
                          <a:ea typeface="+mn-ea"/>
                          <a:cs typeface="+mn-cs"/>
                        </a:rPr>
                        <a:t>C</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850" b="0" strike="noStrike" kern="1200">
                        <a:solidFill>
                          <a:schemeClr val="tx1"/>
                        </a:solidFill>
                        <a:effectLst/>
                        <a:latin typeface="Aptos" panose="020B0004020202020204" pitchFamily="34" charset="0"/>
                        <a:ea typeface="+mn-ea"/>
                        <a:cs typeface="+mn-cs"/>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0" hangingPunct="1">
                        <a:lnSpc>
                          <a:spcPts val="600"/>
                        </a:lnSpc>
                        <a:spcBef>
                          <a:spcPts val="300"/>
                        </a:spcBef>
                        <a:spcAft>
                          <a:spcPts val="0"/>
                        </a:spcAft>
                        <a:buClrTx/>
                        <a:buSzTx/>
                        <a:buFontTx/>
                        <a:buNone/>
                        <a:tabLst/>
                        <a:defRPr/>
                      </a:pPr>
                      <a:endParaRPr lang="en-US" sz="850" b="0" i="0">
                        <a:solidFill>
                          <a:srgbClr val="000000"/>
                        </a:solidFill>
                        <a:effectLst/>
                        <a:latin typeface="Aptos" panose="020B00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748893264"/>
                  </a:ext>
                </a:extLst>
              </a:tr>
              <a:tr h="213379">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50">
                          <a:latin typeface="Aptos" panose="020B0004020202020204" pitchFamily="34" charset="0"/>
                        </a:rPr>
                        <a:t>Obtain approval from BDE</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a:ln>
                            <a:noFill/>
                          </a:ln>
                          <a:solidFill>
                            <a:prstClr val="black"/>
                          </a:solidFill>
                          <a:effectLst/>
                          <a:uLnTx/>
                          <a:uFillTx/>
                          <a:latin typeface="Aptos" panose="020B0004020202020204" pitchFamily="34" charset="0"/>
                          <a:ea typeface="+mn-ea"/>
                          <a:cs typeface="+mn-cs"/>
                        </a:rPr>
                        <a:t>C</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0" hangingPunct="1">
                        <a:lnSpc>
                          <a:spcPct val="95000"/>
                        </a:lnSpc>
                        <a:spcBef>
                          <a:spcPct val="0"/>
                        </a:spcBef>
                        <a:spcAft>
                          <a:spcPct val="50000"/>
                        </a:spcAft>
                        <a:buClrTx/>
                        <a:buSzTx/>
                        <a:buFontTx/>
                        <a:buNone/>
                        <a:tabLst/>
                        <a:defRPr/>
                      </a:pPr>
                      <a:endParaRPr lang="en-US" sz="850" b="0" strike="noStrike" kern="1200">
                        <a:solidFill>
                          <a:schemeClr val="tx1"/>
                        </a:solidFill>
                        <a:effectLst/>
                        <a:latin typeface="Aptos" panose="020B0004020202020204" pitchFamily="34" charset="0"/>
                        <a:ea typeface="+mn-ea"/>
                        <a:cs typeface="+mn-cs"/>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algn="l">
                        <a:lnSpc>
                          <a:spcPct val="114999"/>
                        </a:lnSpc>
                        <a:spcAft>
                          <a:spcPts val="800"/>
                        </a:spcAft>
                        <a:buNone/>
                      </a:pPr>
                      <a:endParaRPr lang="en-US" sz="850" b="0" i="0" u="none" strike="noStrike" kern="100" noProof="0">
                        <a:solidFill>
                          <a:schemeClr val="dk1"/>
                        </a:solidFill>
                        <a:effectLst/>
                        <a:latin typeface="Aptos" panose="020B0004020202020204"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805706767"/>
                  </a:ext>
                </a:extLst>
              </a:tr>
              <a:tr h="213379">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50">
                          <a:latin typeface="Aptos" panose="020B0004020202020204" pitchFamily="34" charset="0"/>
                        </a:rPr>
                        <a:t>Detail Requirements and Epic Creations</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a:ln>
                            <a:noFill/>
                          </a:ln>
                          <a:solidFill>
                            <a:prstClr val="black"/>
                          </a:solidFill>
                          <a:effectLst/>
                          <a:uLnTx/>
                          <a:uFillTx/>
                          <a:latin typeface="Aptos" panose="020B0004020202020204" pitchFamily="34" charset="0"/>
                          <a:ea typeface="+mn-ea"/>
                          <a:cs typeface="+mn-cs"/>
                        </a:rPr>
                        <a:t>C</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0" hangingPunct="1">
                        <a:lnSpc>
                          <a:spcPct val="95000"/>
                        </a:lnSpc>
                        <a:spcBef>
                          <a:spcPct val="0"/>
                        </a:spcBef>
                        <a:spcAft>
                          <a:spcPct val="50000"/>
                        </a:spcAft>
                        <a:buClrTx/>
                        <a:buSzTx/>
                        <a:buFontTx/>
                        <a:buNone/>
                        <a:tabLst/>
                        <a:defRPr/>
                      </a:pPr>
                      <a:endParaRPr lang="en-US" sz="850" b="0" strike="noStrike" kern="1200">
                        <a:solidFill>
                          <a:schemeClr val="tx1"/>
                        </a:solidFill>
                        <a:effectLst/>
                        <a:latin typeface="Aptos" panose="020B0004020202020204" pitchFamily="34" charset="0"/>
                        <a:ea typeface="+mn-ea"/>
                        <a:cs typeface="+mn-cs"/>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algn="l">
                        <a:lnSpc>
                          <a:spcPct val="114999"/>
                        </a:lnSpc>
                        <a:spcAft>
                          <a:spcPts val="800"/>
                        </a:spcAft>
                        <a:buNone/>
                      </a:pPr>
                      <a:endParaRPr lang="en-US" sz="850" b="0" i="0" u="none" strike="noStrike" kern="100" noProof="0">
                        <a:solidFill>
                          <a:schemeClr val="dk1"/>
                        </a:solidFill>
                        <a:effectLst/>
                        <a:latin typeface="Aptos" panose="020B00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943924009"/>
                  </a:ext>
                </a:extLst>
              </a:tr>
              <a:tr h="257053">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50" kern="1200">
                          <a:solidFill>
                            <a:schemeClr val="dk1"/>
                          </a:solidFill>
                          <a:latin typeface="Aptos" panose="020B0004020202020204" pitchFamily="34" charset="0"/>
                          <a:ea typeface="+mn-ea"/>
                          <a:cs typeface="+mn-cs"/>
                        </a:rPr>
                        <a:t>Deliver end‑to‑end architectural design for the new solution.</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a:ln>
                            <a:noFill/>
                          </a:ln>
                          <a:solidFill>
                            <a:prstClr val="black"/>
                          </a:solidFill>
                          <a:effectLst/>
                          <a:uLnTx/>
                          <a:uFillTx/>
                          <a:latin typeface="Aptos" panose="020B0004020202020204" pitchFamily="34" charset="0"/>
                          <a:ea typeface="+mn-ea"/>
                          <a:cs typeface="+mn-cs"/>
                        </a:rPr>
                        <a:t>NS</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endParaRPr lang="en-US" sz="850" b="0" strike="sngStrike" kern="1200">
                        <a:solidFill>
                          <a:schemeClr val="tx1"/>
                        </a:solidFill>
                        <a:effectLst/>
                        <a:latin typeface="Aptos" panose="020B0004020202020204" pitchFamily="34" charset="0"/>
                        <a:ea typeface="+mn-ea"/>
                        <a:cs typeface="+mn-cs"/>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base" latinLnBrk="0" hangingPunct="1">
                        <a:lnSpc>
                          <a:spcPct val="100000"/>
                        </a:lnSpc>
                        <a:spcBef>
                          <a:spcPts val="200"/>
                        </a:spcBef>
                        <a:spcAft>
                          <a:spcPts val="0"/>
                        </a:spcAft>
                        <a:buClrTx/>
                        <a:buSzTx/>
                        <a:buFontTx/>
                        <a:buNone/>
                        <a:tabLst/>
                        <a:defRPr/>
                      </a:pPr>
                      <a:endParaRPr lang="en-US" sz="850" kern="100">
                        <a:solidFill>
                          <a:schemeClr val="dk1"/>
                        </a:solidFill>
                        <a:latin typeface="Aptos" panose="020B0004020202020204" pitchFamily="34" charset="0"/>
                        <a:cs typeface="Times New Roma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387139067"/>
                  </a:ext>
                </a:extLst>
              </a:tr>
              <a:tr h="234224">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50" kern="1200">
                          <a:solidFill>
                            <a:schemeClr val="dk1"/>
                          </a:solidFill>
                          <a:latin typeface="Aptos" panose="020B0004020202020204" pitchFamily="34" charset="0"/>
                          <a:ea typeface="+mn-ea"/>
                          <a:cs typeface="+mn-cs"/>
                        </a:rPr>
                        <a:t>Provide L0 project estimates with high‑level scope and effort</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a:ln>
                            <a:noFill/>
                          </a:ln>
                          <a:solidFill>
                            <a:prstClr val="black"/>
                          </a:solidFill>
                          <a:effectLst/>
                          <a:uLnTx/>
                          <a:uFillTx/>
                          <a:latin typeface="Aptos" panose="020B0004020202020204" pitchFamily="34" charset="0"/>
                          <a:ea typeface="+mn-ea"/>
                          <a:cs typeface="+mn-cs"/>
                        </a:rPr>
                        <a:t>NS</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endParaRPr lang="en-US" sz="850" strike="noStrike">
                        <a:latin typeface="Aptos" panose="020B00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base" latinLnBrk="0" hangingPunct="1">
                        <a:lnSpc>
                          <a:spcPct val="100000"/>
                        </a:lnSpc>
                        <a:spcBef>
                          <a:spcPts val="200"/>
                        </a:spcBef>
                        <a:spcAft>
                          <a:spcPts val="0"/>
                        </a:spcAft>
                        <a:buClrTx/>
                        <a:buSzTx/>
                        <a:buFontTx/>
                        <a:buNone/>
                        <a:tabLst/>
                        <a:defRPr/>
                      </a:pPr>
                      <a:endParaRPr lang="en-US" sz="850" b="0" i="0">
                        <a:solidFill>
                          <a:srgbClr val="000000"/>
                        </a:solidFill>
                        <a:effectLst/>
                        <a:latin typeface="Aptos" panose="020B0004020202020204" pitchFamily="34" charset="0"/>
                        <a:cs typeface="Times New Roma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775249404"/>
                  </a:ext>
                </a:extLst>
              </a:tr>
              <a:tr h="305268">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50" kern="1200">
                          <a:solidFill>
                            <a:schemeClr val="dk1"/>
                          </a:solidFill>
                          <a:latin typeface="Aptos" panose="020B0004020202020204" pitchFamily="34" charset="0"/>
                          <a:ea typeface="+mn-ea"/>
                          <a:cs typeface="+mn-cs"/>
                        </a:rPr>
                        <a:t>Build project plan based online approval of estimates</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a:ln>
                            <a:noFill/>
                          </a:ln>
                          <a:solidFill>
                            <a:prstClr val="black"/>
                          </a:solidFill>
                          <a:effectLst/>
                          <a:uLnTx/>
                          <a:uFillTx/>
                          <a:latin typeface="Aptos" panose="020B0004020202020204" pitchFamily="34" charset="0"/>
                          <a:ea typeface="+mn-ea"/>
                          <a:cs typeface="+mn-cs"/>
                        </a:rPr>
                        <a:t>NS</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endParaRPr lang="en-US" sz="850" strike="noStrike">
                        <a:latin typeface="Aptos" panose="020B00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rtl="0" eaLnBrk="1" fontAlgn="ctr" latinLnBrk="0" hangingPunct="1">
                        <a:lnSpc>
                          <a:spcPct val="95000"/>
                        </a:lnSpc>
                        <a:spcBef>
                          <a:spcPct val="0"/>
                        </a:spcBef>
                        <a:spcAft>
                          <a:spcPct val="50000"/>
                        </a:spcAft>
                        <a:buClrTx/>
                        <a:buSzTx/>
                        <a:buFontTx/>
                        <a:buNone/>
                      </a:pPr>
                      <a:endParaRPr lang="en-US" sz="850" b="0" strike="noStrike" kern="1200">
                        <a:solidFill>
                          <a:schemeClr val="tx1"/>
                        </a:solidFill>
                        <a:effectLst/>
                        <a:latin typeface="Aptos" panose="020B0004020202020204" pitchFamily="34" charset="0"/>
                        <a:ea typeface="+mn-ea"/>
                        <a:cs typeface="+mn-cs"/>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676961585"/>
                  </a:ext>
                </a:extLst>
              </a:tr>
              <a:tr h="223959">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50" kern="1200">
                          <a:solidFill>
                            <a:schemeClr val="dk1"/>
                          </a:solidFill>
                          <a:latin typeface="Aptos" panose="020B0004020202020204" pitchFamily="34" charset="0"/>
                          <a:ea typeface="+mn-ea"/>
                          <a:cs typeface="+mn-cs"/>
                        </a:rPr>
                        <a:t>Technical Design</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a:ln>
                            <a:noFill/>
                          </a:ln>
                          <a:solidFill>
                            <a:prstClr val="black"/>
                          </a:solidFill>
                          <a:effectLst/>
                          <a:uLnTx/>
                          <a:uFillTx/>
                          <a:latin typeface="Aptos" panose="020B0004020202020204" pitchFamily="34" charset="0"/>
                          <a:ea typeface="+mn-ea"/>
                          <a:cs typeface="+mn-cs"/>
                        </a:rPr>
                        <a:t>NS</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endParaRPr lang="en-US" sz="850" strike="noStrike">
                        <a:latin typeface="Aptos" panose="020B00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rtl="0" eaLnBrk="1" fontAlgn="ctr" latinLnBrk="0" hangingPunct="1">
                        <a:lnSpc>
                          <a:spcPct val="95000"/>
                        </a:lnSpc>
                        <a:spcBef>
                          <a:spcPct val="0"/>
                        </a:spcBef>
                        <a:spcAft>
                          <a:spcPct val="50000"/>
                        </a:spcAft>
                        <a:buClrTx/>
                        <a:buSzTx/>
                        <a:buFontTx/>
                        <a:buNone/>
                      </a:pPr>
                      <a:endParaRPr lang="en-US" sz="850" b="0" kern="1200">
                        <a:solidFill>
                          <a:schemeClr val="tx1"/>
                        </a:solidFill>
                        <a:effectLst/>
                        <a:latin typeface="Aptos" panose="020B0004020202020204" pitchFamily="34" charset="0"/>
                        <a:ea typeface="+mn-ea"/>
                        <a:cs typeface="+mn-cs"/>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617819655"/>
                  </a:ext>
                </a:extLst>
              </a:tr>
              <a:tr h="385224">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50" kern="1200">
                          <a:solidFill>
                            <a:schemeClr val="dk1"/>
                          </a:solidFill>
                          <a:latin typeface="Aptos" panose="020B0004020202020204" pitchFamily="34" charset="0"/>
                          <a:ea typeface="+mn-ea"/>
                          <a:cs typeface="+mn-cs"/>
                        </a:rPr>
                        <a:t>DDIT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50">
                          <a:latin typeface="Aptos" panose="020B0004020202020204" pitchFamily="34" charset="0"/>
                        </a:rPr>
                        <a:t>NS</a:t>
                      </a:r>
                    </a:p>
                    <a:p>
                      <a:pPr algn="ctr"/>
                      <a:endParaRPr lang="en-US" sz="850">
                        <a:latin typeface="Aptos"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50">
                        <a:latin typeface="Aptos"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endParaRPr lang="en-US" sz="850" kern="1200">
                        <a:solidFill>
                          <a:schemeClr val="dk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62506059"/>
                  </a:ext>
                </a:extLst>
              </a:tr>
              <a:tr h="236175">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50" kern="1200">
                          <a:solidFill>
                            <a:schemeClr val="dk1"/>
                          </a:solidFill>
                          <a:latin typeface="Aptos" panose="020B0004020202020204" pitchFamily="34" charset="0"/>
                          <a:ea typeface="+mn-ea"/>
                          <a:cs typeface="+mn-cs"/>
                        </a:rPr>
                        <a:t>E2E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50">
                          <a:latin typeface="Aptos" panose="020B0004020202020204" pitchFamily="34" charset="0"/>
                        </a:rPr>
                        <a:t>NS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50">
                        <a:latin typeface="Aptos"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endParaRPr lang="en-US" sz="850" kern="1200">
                        <a:solidFill>
                          <a:schemeClr val="dk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20125674"/>
                  </a:ext>
                </a:extLst>
              </a:tr>
              <a:tr h="236175">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50" kern="1200">
                          <a:solidFill>
                            <a:schemeClr val="dk1"/>
                          </a:solidFill>
                          <a:latin typeface="Aptos" panose="020B0004020202020204" pitchFamily="34" charset="0"/>
                          <a:ea typeface="+mn-ea"/>
                          <a:cs typeface="+mn-cs"/>
                        </a:rPr>
                        <a:t>UAT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50">
                          <a:latin typeface="Aptos" panose="020B0004020202020204" pitchFamily="34" charset="0"/>
                        </a:rPr>
                        <a:t>NS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50">
                        <a:latin typeface="Aptos"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endParaRPr lang="en-US" sz="850" kern="1200">
                        <a:solidFill>
                          <a:schemeClr val="dk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53880179"/>
                  </a:ext>
                </a:extLst>
              </a:tr>
              <a:tr h="236175">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50" kern="1200">
                          <a:solidFill>
                            <a:schemeClr val="dk1"/>
                          </a:solidFill>
                          <a:latin typeface="Aptos" panose="020B0004020202020204" pitchFamily="34" charset="0"/>
                          <a:ea typeface="+mn-ea"/>
                          <a:cs typeface="+mn-cs"/>
                        </a:rPr>
                        <a:t>Stage Validation</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50">
                          <a:latin typeface="Aptos" panose="020B0004020202020204" pitchFamily="34" charset="0"/>
                        </a:rPr>
                        <a:t>NS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50">
                        <a:latin typeface="Aptos"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endParaRPr lang="en-US" sz="850" kern="1200">
                        <a:solidFill>
                          <a:schemeClr val="dk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64433576"/>
                  </a:ext>
                </a:extLst>
              </a:tr>
            </a:tbl>
          </a:graphicData>
        </a:graphic>
      </p:graphicFrame>
      <p:graphicFrame>
        <p:nvGraphicFramePr>
          <p:cNvPr id="29" name="Table 28">
            <a:extLst>
              <a:ext uri="{FF2B5EF4-FFF2-40B4-BE49-F238E27FC236}">
                <a16:creationId xmlns:a16="http://schemas.microsoft.com/office/drawing/2014/main" id="{B0AC2432-CF0D-F1A7-26F0-ABDA50540725}"/>
              </a:ext>
            </a:extLst>
          </p:cNvPr>
          <p:cNvGraphicFramePr>
            <a:graphicFrameLocks noGrp="1"/>
          </p:cNvGraphicFramePr>
          <p:nvPr>
            <p:extLst>
              <p:ext uri="{D42A27DB-BD31-4B8C-83A1-F6EECF244321}">
                <p14:modId xmlns:p14="http://schemas.microsoft.com/office/powerpoint/2010/main" val="1178005495"/>
              </p:ext>
            </p:extLst>
          </p:nvPr>
        </p:nvGraphicFramePr>
        <p:xfrm>
          <a:off x="4854769" y="4956196"/>
          <a:ext cx="7254527" cy="633984"/>
        </p:xfrm>
        <a:graphic>
          <a:graphicData uri="http://schemas.openxmlformats.org/drawingml/2006/table">
            <a:tbl>
              <a:tblPr>
                <a:tableStyleId>{5C22544A-7EE6-4342-B048-85BDC9FD1C3A}</a:tableStyleId>
              </a:tblPr>
              <a:tblGrid>
                <a:gridCol w="2591060">
                  <a:extLst>
                    <a:ext uri="{9D8B030D-6E8A-4147-A177-3AD203B41FA5}">
                      <a16:colId xmlns:a16="http://schemas.microsoft.com/office/drawing/2014/main" val="2456552316"/>
                    </a:ext>
                  </a:extLst>
                </a:gridCol>
                <a:gridCol w="482320">
                  <a:extLst>
                    <a:ext uri="{9D8B030D-6E8A-4147-A177-3AD203B41FA5}">
                      <a16:colId xmlns:a16="http://schemas.microsoft.com/office/drawing/2014/main" val="1100051595"/>
                    </a:ext>
                  </a:extLst>
                </a:gridCol>
                <a:gridCol w="492370">
                  <a:extLst>
                    <a:ext uri="{9D8B030D-6E8A-4147-A177-3AD203B41FA5}">
                      <a16:colId xmlns:a16="http://schemas.microsoft.com/office/drawing/2014/main" val="2042261034"/>
                    </a:ext>
                  </a:extLst>
                </a:gridCol>
                <a:gridCol w="3688777">
                  <a:extLst>
                    <a:ext uri="{9D8B030D-6E8A-4147-A177-3AD203B41FA5}">
                      <a16:colId xmlns:a16="http://schemas.microsoft.com/office/drawing/2014/main" val="2815874248"/>
                    </a:ext>
                  </a:extLst>
                </a:gridCol>
              </a:tblGrid>
              <a:tr h="258561">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Critical Risks/Issues</a:t>
                      </a:r>
                      <a:endParaRPr kumimoji="0" lang="en-US" sz="1050" b="1" i="0" u="none" strike="noStrike" kern="1200" cap="none" normalizeH="0" baseline="0">
                        <a:ln>
                          <a:noFill/>
                        </a:ln>
                        <a:solidFill>
                          <a:schemeClr val="bg1"/>
                        </a:solidFill>
                        <a:effectLst/>
                        <a:latin typeface="Arial" charset="0"/>
                        <a:ea typeface="+mn-ea"/>
                        <a:cs typeface="+mn-cs"/>
                      </a:endParaRP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Status</a:t>
                      </a:r>
                    </a:p>
                  </a:txBody>
                  <a:tcPr marL="9525" marR="9525" marT="9525" marB="0" anchor="ct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Target Date</a:t>
                      </a:r>
                    </a:p>
                  </a:txBody>
                  <a:tcPr marL="9525" marR="9525" marT="9525" marB="0" anchor="ctr">
                    <a:lnL w="12700">
                      <a:solidFill>
                        <a:schemeClr val="tx1"/>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Resolution / Mitigation</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313508">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endParaRPr lang="en-US" sz="850" kern="1200">
                        <a:solidFill>
                          <a:schemeClr val="dk1"/>
                        </a:solidFill>
                        <a:latin typeface="Aptos" panose="020B0004020202020204" pitchFamily="34" charset="0"/>
                        <a:ea typeface="+mn-ea"/>
                        <a:cs typeface="+mn-cs"/>
                      </a:endParaRPr>
                    </a:p>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50" kern="1200">
                          <a:solidFill>
                            <a:schemeClr val="dk1"/>
                          </a:solidFill>
                          <a:latin typeface="Aptos" panose="020B0004020202020204" pitchFamily="34" charset="0"/>
                          <a:ea typeface="+mn-ea"/>
                          <a:cs typeface="+mn-cs"/>
                        </a:rPr>
                        <a:t> </a:t>
                      </a: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endParaRPr lang="en-US" sz="850" kern="1200">
                        <a:solidFill>
                          <a:schemeClr val="dk1"/>
                        </a:solidFill>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endParaRPr lang="en-US" sz="850" kern="1200">
                        <a:solidFill>
                          <a:schemeClr val="dk1"/>
                        </a:solidFill>
                        <a:latin typeface="Aptos" panose="020B0004020202020204" pitchFamily="34" charset="0"/>
                        <a:ea typeface="+mn-ea"/>
                        <a:cs typeface="+mn-cs"/>
                      </a:endParaRPr>
                    </a:p>
                  </a:txBody>
                  <a:tcPr marL="9525" marR="9525" marT="9525" marB="0" anchor="ctr">
                    <a:lnL w="12700">
                      <a:solidFill>
                        <a:schemeClr val="tx1"/>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endParaRPr lang="en-US" sz="850" kern="1200">
                        <a:solidFill>
                          <a:schemeClr val="dk1"/>
                        </a:solidFill>
                        <a:latin typeface="Aptos" panose="020B0004020202020204" pitchFamily="34" charset="0"/>
                        <a:ea typeface="+mn-ea"/>
                        <a:cs typeface="+mn-cs"/>
                      </a:endParaRP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7499024"/>
                  </a:ext>
                </a:extLst>
              </a:tr>
            </a:tbl>
          </a:graphicData>
        </a:graphic>
      </p:graphicFrame>
      <p:sp>
        <p:nvSpPr>
          <p:cNvPr id="33" name="Flowchart: Connector 32">
            <a:extLst>
              <a:ext uri="{FF2B5EF4-FFF2-40B4-BE49-F238E27FC236}">
                <a16:creationId xmlns:a16="http://schemas.microsoft.com/office/drawing/2014/main" id="{054D2BDA-F17D-19CF-3B7A-01D1A94BA212}"/>
              </a:ext>
            </a:extLst>
          </p:cNvPr>
          <p:cNvSpPr/>
          <p:nvPr/>
        </p:nvSpPr>
        <p:spPr>
          <a:xfrm>
            <a:off x="6729886" y="6416791"/>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4" name="Flowchart: Connector 33">
            <a:extLst>
              <a:ext uri="{FF2B5EF4-FFF2-40B4-BE49-F238E27FC236}">
                <a16:creationId xmlns:a16="http://schemas.microsoft.com/office/drawing/2014/main" id="{490AECBD-BF53-2A38-F383-F3808A2A75BB}"/>
              </a:ext>
            </a:extLst>
          </p:cNvPr>
          <p:cNvSpPr/>
          <p:nvPr/>
        </p:nvSpPr>
        <p:spPr>
          <a:xfrm>
            <a:off x="7797764" y="6417067"/>
            <a:ext cx="163286" cy="164592"/>
          </a:xfrm>
          <a:prstGeom prst="flowChartConnector">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6" name="Flowchart: Connector 35">
            <a:extLst>
              <a:ext uri="{FF2B5EF4-FFF2-40B4-BE49-F238E27FC236}">
                <a16:creationId xmlns:a16="http://schemas.microsoft.com/office/drawing/2014/main" id="{402996F8-C107-2E74-A76C-0C472A270EF1}"/>
              </a:ext>
            </a:extLst>
          </p:cNvPr>
          <p:cNvSpPr/>
          <p:nvPr/>
        </p:nvSpPr>
        <p:spPr>
          <a:xfrm>
            <a:off x="8784000" y="6405062"/>
            <a:ext cx="163285" cy="164592"/>
          </a:xfrm>
          <a:prstGeom prst="flowChartConnector">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7" name="Flowchart: Connector 46">
            <a:extLst>
              <a:ext uri="{FF2B5EF4-FFF2-40B4-BE49-F238E27FC236}">
                <a16:creationId xmlns:a16="http://schemas.microsoft.com/office/drawing/2014/main" id="{B4E5E35B-C1B0-C490-3951-F27F35951E5A}"/>
              </a:ext>
            </a:extLst>
          </p:cNvPr>
          <p:cNvSpPr/>
          <p:nvPr/>
        </p:nvSpPr>
        <p:spPr>
          <a:xfrm>
            <a:off x="6078524" y="1403331"/>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 name="TextBox 4">
            <a:extLst>
              <a:ext uri="{FF2B5EF4-FFF2-40B4-BE49-F238E27FC236}">
                <a16:creationId xmlns:a16="http://schemas.microsoft.com/office/drawing/2014/main" id="{6B4608C6-76B6-3EBC-6275-A403CEC01DF9}"/>
              </a:ext>
            </a:extLst>
          </p:cNvPr>
          <p:cNvSpPr txBox="1"/>
          <p:nvPr/>
        </p:nvSpPr>
        <p:spPr>
          <a:xfrm>
            <a:off x="111476" y="1707675"/>
            <a:ext cx="4743293" cy="1570623"/>
          </a:xfrm>
          <a:prstGeom prst="rect">
            <a:avLst/>
          </a:prstGeom>
          <a:noFill/>
        </p:spPr>
        <p:txBody>
          <a:bodyPr wrap="square" lIns="91440" tIns="45720" rIns="91440" bIns="4572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1200" cap="none" spc="0" normalizeH="0" baseline="0" noProof="0">
                <a:ln>
                  <a:noFill/>
                </a:ln>
                <a:solidFill>
                  <a:prstClr val="black"/>
                </a:solidFill>
                <a:effectLst/>
                <a:uLnTx/>
                <a:uFillTx/>
                <a:latin typeface="Aptos" panose="020B0004020202020204" pitchFamily="34" charset="0"/>
              </a:rPr>
              <a:t>Status: </a:t>
            </a:r>
          </a:p>
          <a:p>
            <a:pPr>
              <a:defRPr/>
            </a:pPr>
            <a:r>
              <a:rPr kumimoji="0" lang="en-US" sz="850" b="0" i="0" u="none" strike="noStrike" kern="100" cap="none" spc="0" normalizeH="0" baseline="0" noProof="0">
                <a:ln>
                  <a:noFill/>
                </a:ln>
                <a:solidFill>
                  <a:prstClr val="black"/>
                </a:solidFill>
                <a:effectLst/>
                <a:uLnTx/>
                <a:uFillTx/>
                <a:latin typeface="Aptos" panose="020B0004020202020204" pitchFamily="34" charset="0"/>
                <a:cs typeface="Times New Roman"/>
              </a:rPr>
              <a:t>Overall Status</a:t>
            </a:r>
            <a:r>
              <a:rPr lang="en-US" sz="850" kern="100">
                <a:solidFill>
                  <a:prstClr val="black"/>
                </a:solidFill>
                <a:latin typeface="Aptos" panose="020B0004020202020204" pitchFamily="34" charset="0"/>
                <a:cs typeface="Times New Roman"/>
              </a:rPr>
              <a:t> Green</a:t>
            </a:r>
            <a:endParaRPr lang="en-US" sz="850" b="0" i="0" u="none" strike="noStrike" kern="100" cap="none" spc="0" normalizeH="0" baseline="0" noProof="0">
              <a:ln>
                <a:noFill/>
              </a:ln>
              <a:solidFill>
                <a:prstClr val="black"/>
              </a:solidFill>
              <a:effectLst/>
              <a:highlight>
                <a:srgbClr val="92D050"/>
              </a:highlight>
              <a:uLnTx/>
              <a:uFillTx/>
              <a:latin typeface="Aptos" panose="020B0004020202020204" pitchFamily="34" charset="0"/>
              <a:cs typeface="Times New Roman"/>
            </a:endParaRPr>
          </a:p>
          <a:p>
            <a:pPr marL="171450" marR="0" lvl="0" indent="-171450" algn="l" defTabSz="914400" rtl="0" eaLnBrk="1" fontAlgn="auto" latinLnBrk="0" hangingPunct="1">
              <a:lnSpc>
                <a:spcPct val="115000"/>
              </a:lnSpc>
              <a:spcBef>
                <a:spcPts val="200"/>
              </a:spcBef>
              <a:spcAft>
                <a:spcPts val="0"/>
              </a:spcAft>
              <a:buClrTx/>
              <a:buSzPts val="1000"/>
              <a:buFont typeface="Arial" panose="020B0604020202020204" pitchFamily="34" charset="0"/>
              <a:buChar char="•"/>
              <a:tabLst>
                <a:tab pos="457200" algn="l"/>
              </a:tabLst>
              <a:defRPr/>
            </a:pPr>
            <a:r>
              <a:rPr kumimoji="0" lang="en-US" sz="850" b="1" i="0" u="none" strike="noStrike" kern="100" cap="none" spc="0" normalizeH="0" baseline="0" noProof="0">
                <a:ln>
                  <a:noFill/>
                </a:ln>
                <a:solidFill>
                  <a:prstClr val="black"/>
                </a:solidFill>
                <a:effectLst/>
                <a:uLnTx/>
                <a:uFillTx/>
                <a:latin typeface="Aptos" panose="020B0004020202020204" pitchFamily="34" charset="0"/>
                <a:ea typeface="Aptos" panose="020B0004020202020204" pitchFamily="34" charset="0"/>
                <a:cs typeface="Times New Roman"/>
              </a:rPr>
              <a:t>Business requirements: </a:t>
            </a:r>
            <a:r>
              <a:rPr kumimoji="0" lang="en-US" sz="850" i="0" u="none" strike="noStrike" kern="100" cap="none" spc="0" normalizeH="0" baseline="0" noProof="0">
                <a:ln>
                  <a:noFill/>
                </a:ln>
                <a:solidFill>
                  <a:prstClr val="black"/>
                </a:solidFill>
                <a:effectLst/>
                <a:uLnTx/>
                <a:uFillTx/>
                <a:latin typeface="Aptos" panose="020B0004020202020204" pitchFamily="34" charset="0"/>
                <a:ea typeface="Aptos" panose="020B0004020202020204" pitchFamily="34" charset="0"/>
                <a:cs typeface="Times New Roman"/>
              </a:rPr>
              <a:t>Approved</a:t>
            </a:r>
          </a:p>
          <a:p>
            <a:pPr marL="0" marR="0" lvl="0" indent="0" algn="l" defTabSz="914400" rtl="0" eaLnBrk="1" fontAlgn="auto" latinLnBrk="0" hangingPunct="1">
              <a:lnSpc>
                <a:spcPct val="114999"/>
              </a:lnSpc>
              <a:spcBef>
                <a:spcPts val="200"/>
              </a:spcBef>
              <a:spcAft>
                <a:spcPts val="0"/>
              </a:spcAft>
              <a:buClrTx/>
              <a:buSzPts val="1000"/>
              <a:buFontTx/>
              <a:buNone/>
              <a:tabLst>
                <a:tab pos="457200" algn="l"/>
              </a:tabLst>
              <a:defRPr/>
            </a:pPr>
            <a:r>
              <a:rPr kumimoji="0" lang="en-US" sz="850" b="1" i="0" u="none" strike="noStrike" kern="100" cap="none" spc="0" normalizeH="0" baseline="0" noProof="0">
                <a:ln>
                  <a:noFill/>
                </a:ln>
                <a:solidFill>
                  <a:prstClr val="black"/>
                </a:solidFill>
                <a:effectLst/>
                <a:uLnTx/>
                <a:uFillTx/>
                <a:latin typeface="Aptos" panose="020B0004020202020204" pitchFamily="34" charset="0"/>
                <a:cs typeface="Times New Roman"/>
              </a:rPr>
              <a:t>Next Steps:</a:t>
            </a:r>
          </a:p>
          <a:p>
            <a:pPr marL="171450" indent="-171450">
              <a:lnSpc>
                <a:spcPct val="114999"/>
              </a:lnSpc>
              <a:spcBef>
                <a:spcPts val="200"/>
              </a:spcBef>
              <a:buSzPts val="1000"/>
              <a:buFont typeface="Arial" panose="020B0604020202020204" pitchFamily="34" charset="0"/>
              <a:buChar char="•"/>
              <a:tabLst>
                <a:tab pos="457200" algn="l"/>
              </a:tabLst>
              <a:defRPr/>
            </a:pPr>
            <a:r>
              <a:rPr lang="en-US" sz="850" kern="100">
                <a:solidFill>
                  <a:prstClr val="black"/>
                </a:solidFill>
                <a:latin typeface="Aptos" panose="020B0004020202020204" pitchFamily="34" charset="0"/>
                <a:cs typeface="Times New Roman"/>
              </a:rPr>
              <a:t>Requirements and scope to be finalized; estimated delivery is Nov</a:t>
            </a:r>
          </a:p>
          <a:p>
            <a:pPr marL="171450" indent="-171450">
              <a:lnSpc>
                <a:spcPct val="114999"/>
              </a:lnSpc>
              <a:spcBef>
                <a:spcPts val="200"/>
              </a:spcBef>
              <a:buSzPts val="1000"/>
              <a:buFont typeface="Arial" panose="020B0604020202020204" pitchFamily="34" charset="0"/>
              <a:buChar char="•"/>
              <a:tabLst>
                <a:tab pos="457200" algn="l"/>
              </a:tabLst>
              <a:defRPr/>
            </a:pPr>
            <a:r>
              <a:rPr lang="en-US" sz="850" kern="100">
                <a:solidFill>
                  <a:prstClr val="black"/>
                </a:solidFill>
                <a:latin typeface="Aptos" panose="020B0004020202020204" pitchFamily="34" charset="0"/>
                <a:cs typeface="Times New Roman"/>
              </a:rPr>
              <a:t>Kick off call scheduled and scope and estimations pending from Line.</a:t>
            </a:r>
          </a:p>
          <a:p>
            <a:pPr marL="171450" indent="-171450">
              <a:lnSpc>
                <a:spcPct val="114999"/>
              </a:lnSpc>
              <a:spcBef>
                <a:spcPts val="200"/>
              </a:spcBef>
              <a:buSzPts val="1000"/>
              <a:buFont typeface="Arial" panose="020B0604020202020204" pitchFamily="34" charset="0"/>
              <a:buChar char="•"/>
              <a:tabLst>
                <a:tab pos="457200" algn="l"/>
              </a:tabLst>
              <a:defRPr/>
            </a:pPr>
            <a:r>
              <a:rPr lang="en-US" sz="850" kern="100">
                <a:solidFill>
                  <a:prstClr val="black"/>
                </a:solidFill>
                <a:latin typeface="Aptos" panose="020B0004020202020204" pitchFamily="34" charset="0"/>
                <a:cs typeface="Times New Roman"/>
              </a:rPr>
              <a:t>Technical design in process and expected to finalize by  08/21</a:t>
            </a:r>
          </a:p>
          <a:p>
            <a:pPr marL="171450" marR="0" lvl="1" indent="-171450" algn="l" defTabSz="914400" rtl="0" eaLnBrk="1" fontAlgn="auto" latinLnBrk="0" hangingPunct="1">
              <a:lnSpc>
                <a:spcPct val="114999"/>
              </a:lnSpc>
              <a:spcBef>
                <a:spcPts val="200"/>
              </a:spcBef>
              <a:spcAft>
                <a:spcPts val="0"/>
              </a:spcAft>
              <a:buClrTx/>
              <a:buSzPts val="1000"/>
              <a:buFont typeface="Arial" panose="020B0604020202020204" pitchFamily="34" charset="0"/>
              <a:buChar char="•"/>
              <a:tabLst>
                <a:tab pos="457200" algn="l"/>
              </a:tabLst>
              <a:defRPr/>
            </a:pPr>
            <a:endParaRPr kumimoji="0" lang="en-US" sz="850" b="0" i="0" u="none" strike="noStrike" kern="100" cap="none" spc="0" normalizeH="0" baseline="0" noProof="0">
              <a:ln>
                <a:noFill/>
              </a:ln>
              <a:solidFill>
                <a:prstClr val="black"/>
              </a:solidFill>
              <a:effectLst/>
              <a:uLnTx/>
              <a:uFillTx/>
              <a:latin typeface="Aptos" panose="020B0004020202020204" pitchFamily="34" charset="0"/>
              <a:cs typeface="Times New Roman"/>
            </a:endParaRPr>
          </a:p>
          <a:p>
            <a:pPr marL="0" marR="0" lvl="0" indent="0" algn="l" defTabSz="914400" rtl="0" eaLnBrk="1" fontAlgn="auto" latinLnBrk="0" hangingPunct="1">
              <a:lnSpc>
                <a:spcPct val="114999"/>
              </a:lnSpc>
              <a:spcBef>
                <a:spcPts val="200"/>
              </a:spcBef>
              <a:spcAft>
                <a:spcPts val="0"/>
              </a:spcAft>
              <a:buClrTx/>
              <a:buSzPts val="1000"/>
              <a:buFontTx/>
              <a:buNone/>
              <a:tabLst>
                <a:tab pos="457200" algn="l"/>
              </a:tabLst>
              <a:defRPr/>
            </a:pPr>
            <a:endParaRPr kumimoji="0" lang="en-US" sz="800" b="1" i="0" u="sng" strike="noStrike" kern="100" cap="none" spc="0" normalizeH="0" baseline="0" noProof="0">
              <a:ln>
                <a:noFill/>
              </a:ln>
              <a:solidFill>
                <a:prstClr val="black"/>
              </a:solidFill>
              <a:effectLst/>
              <a:uLnTx/>
              <a:uFillTx/>
              <a:latin typeface="Aptos" panose="02110004020202020204"/>
              <a:ea typeface="Aptos" panose="020B0004020202020204" pitchFamily="34" charset="0"/>
              <a:cs typeface="Times New Roman"/>
            </a:endParaRPr>
          </a:p>
        </p:txBody>
      </p:sp>
      <p:sp>
        <p:nvSpPr>
          <p:cNvPr id="3" name="TextBox 2">
            <a:extLst>
              <a:ext uri="{FF2B5EF4-FFF2-40B4-BE49-F238E27FC236}">
                <a16:creationId xmlns:a16="http://schemas.microsoft.com/office/drawing/2014/main" id="{EA169BEF-C7EA-4B10-3B1D-FDA02EF8AFE3}"/>
              </a:ext>
            </a:extLst>
          </p:cNvPr>
          <p:cNvSpPr txBox="1"/>
          <p:nvPr/>
        </p:nvSpPr>
        <p:spPr>
          <a:xfrm>
            <a:off x="9515820" y="237482"/>
            <a:ext cx="2676180" cy="517320"/>
          </a:xfrm>
          <a:prstGeom prst="rect">
            <a:avLst/>
          </a:prstGeom>
          <a:noFill/>
        </p:spPr>
        <p:txBody>
          <a:bodyPr wrap="none" lIns="0" tIns="0" rIns="0" bIns="0" rtlCol="0" anchor="t">
            <a:noAutofit/>
          </a:bodyPr>
          <a:lstStyle/>
          <a:p>
            <a:pPr>
              <a:lnSpc>
                <a:spcPct val="112000"/>
              </a:lnSpc>
              <a:defRPr/>
            </a:pPr>
            <a:r>
              <a:rPr lang="en-US" sz="1200">
                <a:latin typeface="Aptos"/>
              </a:rPr>
              <a:t>Project Manager : Chalam Buddha</a:t>
            </a:r>
            <a:endParaRPr lang="en-US">
              <a:latin typeface="Aptos"/>
            </a:endParaRPr>
          </a:p>
        </p:txBody>
      </p:sp>
      <p:sp>
        <p:nvSpPr>
          <p:cNvPr id="10" name="Flowchart: Connector 9">
            <a:extLst>
              <a:ext uri="{FF2B5EF4-FFF2-40B4-BE49-F238E27FC236}">
                <a16:creationId xmlns:a16="http://schemas.microsoft.com/office/drawing/2014/main" id="{30FF67D6-62FE-98BF-8252-0388F2E07A90}"/>
              </a:ext>
            </a:extLst>
          </p:cNvPr>
          <p:cNvSpPr/>
          <p:nvPr/>
        </p:nvSpPr>
        <p:spPr>
          <a:xfrm>
            <a:off x="4282740" y="1422297"/>
            <a:ext cx="163285" cy="164592"/>
          </a:xfrm>
          <a:prstGeom prst="flowChartConnector">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 name="Flowchart: Connector 11">
            <a:extLst>
              <a:ext uri="{FF2B5EF4-FFF2-40B4-BE49-F238E27FC236}">
                <a16:creationId xmlns:a16="http://schemas.microsoft.com/office/drawing/2014/main" id="{23808660-D0D1-6610-8826-52410B62D6B3}"/>
              </a:ext>
            </a:extLst>
          </p:cNvPr>
          <p:cNvSpPr/>
          <p:nvPr/>
        </p:nvSpPr>
        <p:spPr>
          <a:xfrm>
            <a:off x="5219710" y="1419623"/>
            <a:ext cx="163285" cy="164592"/>
          </a:xfrm>
          <a:prstGeom prst="flowChartConnector">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 name="Flowchart: Connector 3">
            <a:extLst>
              <a:ext uri="{FF2B5EF4-FFF2-40B4-BE49-F238E27FC236}">
                <a16:creationId xmlns:a16="http://schemas.microsoft.com/office/drawing/2014/main" id="{4B492A82-9B50-38C3-76AC-53ECE6198312}"/>
              </a:ext>
            </a:extLst>
          </p:cNvPr>
          <p:cNvSpPr/>
          <p:nvPr/>
        </p:nvSpPr>
        <p:spPr>
          <a:xfrm>
            <a:off x="3278895" y="1403331"/>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115702017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0B4016-29C9-9E5A-7071-75CDE9D45A96}"/>
            </a:ext>
          </a:extLst>
        </p:cNvPr>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EAA185CB-D927-7374-B2A9-C580581FC645}"/>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8" imgH="408" progId="TCLayout.ActiveDocument.1">
                  <p:embed/>
                </p:oleObj>
              </mc:Choice>
              <mc:Fallback>
                <p:oleObj name="think-cell Slide" r:id="rId4" imgW="408" imgH="408" progId="TCLayout.ActiveDocument.1">
                  <p:embed/>
                  <p:pic>
                    <p:nvPicPr>
                      <p:cNvPr id="9" name="think-cell data - do not delete" hidden="1">
                        <a:extLst>
                          <a:ext uri="{FF2B5EF4-FFF2-40B4-BE49-F238E27FC236}">
                            <a16:creationId xmlns:a16="http://schemas.microsoft.com/office/drawing/2014/main" id="{EAA185CB-D927-7374-B2A9-C580581FC645}"/>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graphicFrame>
        <p:nvGraphicFramePr>
          <p:cNvPr id="32" name="Group 614">
            <a:extLst>
              <a:ext uri="{FF2B5EF4-FFF2-40B4-BE49-F238E27FC236}">
                <a16:creationId xmlns:a16="http://schemas.microsoft.com/office/drawing/2014/main" id="{F9C9CA85-7527-3469-704A-5B3FAF576406}"/>
              </a:ext>
            </a:extLst>
          </p:cNvPr>
          <p:cNvGraphicFramePr>
            <a:graphicFrameLocks noGrp="1"/>
          </p:cNvGraphicFramePr>
          <p:nvPr/>
        </p:nvGraphicFramePr>
        <p:xfrm>
          <a:off x="4980036" y="6305845"/>
          <a:ext cx="7136859" cy="386554"/>
        </p:xfrm>
        <a:graphic>
          <a:graphicData uri="http://schemas.openxmlformats.org/drawingml/2006/table">
            <a:tbl>
              <a:tblPr/>
              <a:tblGrid>
                <a:gridCol w="606425">
                  <a:extLst>
                    <a:ext uri="{9D8B030D-6E8A-4147-A177-3AD203B41FA5}">
                      <a16:colId xmlns:a16="http://schemas.microsoft.com/office/drawing/2014/main" val="20000"/>
                    </a:ext>
                  </a:extLst>
                </a:gridCol>
                <a:gridCol w="307361">
                  <a:extLst>
                    <a:ext uri="{9D8B030D-6E8A-4147-A177-3AD203B41FA5}">
                      <a16:colId xmlns:a16="http://schemas.microsoft.com/office/drawing/2014/main" val="20001"/>
                    </a:ext>
                  </a:extLst>
                </a:gridCol>
                <a:gridCol w="757584">
                  <a:extLst>
                    <a:ext uri="{9D8B030D-6E8A-4147-A177-3AD203B41FA5}">
                      <a16:colId xmlns:a16="http://schemas.microsoft.com/office/drawing/2014/main" val="20002"/>
                    </a:ext>
                  </a:extLst>
                </a:gridCol>
                <a:gridCol w="302812">
                  <a:extLst>
                    <a:ext uri="{9D8B030D-6E8A-4147-A177-3AD203B41FA5}">
                      <a16:colId xmlns:a16="http://schemas.microsoft.com/office/drawing/2014/main" val="20003"/>
                    </a:ext>
                  </a:extLst>
                </a:gridCol>
                <a:gridCol w="665317">
                  <a:extLst>
                    <a:ext uri="{9D8B030D-6E8A-4147-A177-3AD203B41FA5}">
                      <a16:colId xmlns:a16="http://schemas.microsoft.com/office/drawing/2014/main" val="20004"/>
                    </a:ext>
                  </a:extLst>
                </a:gridCol>
                <a:gridCol w="518025">
                  <a:extLst>
                    <a:ext uri="{9D8B030D-6E8A-4147-A177-3AD203B41FA5}">
                      <a16:colId xmlns:a16="http://schemas.microsoft.com/office/drawing/2014/main" val="20005"/>
                    </a:ext>
                  </a:extLst>
                </a:gridCol>
                <a:gridCol w="568469">
                  <a:extLst>
                    <a:ext uri="{9D8B030D-6E8A-4147-A177-3AD203B41FA5}">
                      <a16:colId xmlns:a16="http://schemas.microsoft.com/office/drawing/2014/main" val="20006"/>
                    </a:ext>
                  </a:extLst>
                </a:gridCol>
                <a:gridCol w="368983">
                  <a:extLst>
                    <a:ext uri="{9D8B030D-6E8A-4147-A177-3AD203B41FA5}">
                      <a16:colId xmlns:a16="http://schemas.microsoft.com/office/drawing/2014/main" val="20007"/>
                    </a:ext>
                  </a:extLst>
                </a:gridCol>
                <a:gridCol w="1372005">
                  <a:extLst>
                    <a:ext uri="{9D8B030D-6E8A-4147-A177-3AD203B41FA5}">
                      <a16:colId xmlns:a16="http://schemas.microsoft.com/office/drawing/2014/main" val="20008"/>
                    </a:ext>
                  </a:extLst>
                </a:gridCol>
                <a:gridCol w="378212">
                  <a:extLst>
                    <a:ext uri="{9D8B030D-6E8A-4147-A177-3AD203B41FA5}">
                      <a16:colId xmlns:a16="http://schemas.microsoft.com/office/drawing/2014/main" val="20009"/>
                    </a:ext>
                  </a:extLst>
                </a:gridCol>
                <a:gridCol w="1291666">
                  <a:extLst>
                    <a:ext uri="{9D8B030D-6E8A-4147-A177-3AD203B41FA5}">
                      <a16:colId xmlns:a16="http://schemas.microsoft.com/office/drawing/2014/main" val="20010"/>
                    </a:ext>
                  </a:extLst>
                </a:gridCol>
              </a:tblGrid>
              <a:tr h="386554">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Arial" charset="0"/>
                          <a:cs typeface="Arial" charset="0"/>
                        </a:rPr>
                        <a:t>Status Key</a:t>
                      </a:r>
                      <a:endParaRPr kumimoji="0" lang="en-GB" sz="1600" b="0" i="0" u="none" strike="noStrike" cap="none" normalizeH="0" baseline="0">
                        <a:ln>
                          <a:noFill/>
                        </a:ln>
                        <a:solidFill>
                          <a:srgbClr val="002060"/>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mj-lt"/>
                        </a:rPr>
                        <a:t>C</a:t>
                      </a: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Arial" charset="0"/>
                          <a:cs typeface="Arial" charset="0"/>
                        </a:rPr>
                        <a:t>Completed</a:t>
                      </a:r>
                      <a:endParaRPr kumimoji="0" lang="en-GB" sz="1600" b="0" i="0" u="none" strike="noStrike" cap="none" normalizeH="0" baseline="0">
                        <a:ln>
                          <a:noFill/>
                        </a:ln>
                        <a:solidFill>
                          <a:srgbClr val="002060"/>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On-Schedule</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Major Issues</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Some Issues</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NS</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Not Started</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2" name="Title 1">
            <a:extLst>
              <a:ext uri="{FF2B5EF4-FFF2-40B4-BE49-F238E27FC236}">
                <a16:creationId xmlns:a16="http://schemas.microsoft.com/office/drawing/2014/main" id="{CBD0C7A2-E7BB-0387-4328-56C5FFCA5A0C}"/>
              </a:ext>
            </a:extLst>
          </p:cNvPr>
          <p:cNvSpPr>
            <a:spLocks noGrp="1"/>
          </p:cNvSpPr>
          <p:nvPr>
            <p:ph type="title"/>
          </p:nvPr>
        </p:nvSpPr>
        <p:spPr>
          <a:xfrm>
            <a:off x="231954" y="101795"/>
            <a:ext cx="9281086" cy="788695"/>
          </a:xfrm>
        </p:spPr>
        <p:txBody>
          <a:bodyPr vert="horz">
            <a:normAutofit/>
          </a:bodyPr>
          <a:lstStyle/>
          <a:p>
            <a:pPr lvl="0">
              <a:lnSpc>
                <a:spcPct val="100000"/>
              </a:lnSpc>
              <a:spcBef>
                <a:spcPts val="0"/>
              </a:spcBef>
              <a:defRPr/>
            </a:pPr>
            <a:r>
              <a:rPr lang="en-US" sz="2400">
                <a:solidFill>
                  <a:srgbClr val="29389F"/>
                </a:solidFill>
                <a:latin typeface="Arial" pitchFamily="34" charset="0"/>
                <a:cs typeface="Arial" pitchFamily="34" charset="0"/>
              </a:rPr>
              <a:t>NW Pet: Vulnerabilities Remediation</a:t>
            </a:r>
          </a:p>
        </p:txBody>
      </p:sp>
      <p:graphicFrame>
        <p:nvGraphicFramePr>
          <p:cNvPr id="11" name="Group 513">
            <a:extLst>
              <a:ext uri="{FF2B5EF4-FFF2-40B4-BE49-F238E27FC236}">
                <a16:creationId xmlns:a16="http://schemas.microsoft.com/office/drawing/2014/main" id="{CF5D9987-2924-45FB-C2E3-A69FA0B48A0B}"/>
              </a:ext>
            </a:extLst>
          </p:cNvPr>
          <p:cNvGraphicFramePr>
            <a:graphicFrameLocks noGrp="1"/>
          </p:cNvGraphicFramePr>
          <p:nvPr>
            <p:extLst>
              <p:ext uri="{D42A27DB-BD31-4B8C-83A1-F6EECF244321}">
                <p14:modId xmlns:p14="http://schemas.microsoft.com/office/powerpoint/2010/main" val="282315257"/>
              </p:ext>
            </p:extLst>
          </p:nvPr>
        </p:nvGraphicFramePr>
        <p:xfrm>
          <a:off x="234455" y="927650"/>
          <a:ext cx="2638218" cy="406307"/>
        </p:xfrm>
        <a:graphic>
          <a:graphicData uri="http://schemas.openxmlformats.org/drawingml/2006/table">
            <a:tbl>
              <a:tblPr/>
              <a:tblGrid>
                <a:gridCol w="984745">
                  <a:extLst>
                    <a:ext uri="{9D8B030D-6E8A-4147-A177-3AD203B41FA5}">
                      <a16:colId xmlns:a16="http://schemas.microsoft.com/office/drawing/2014/main" val="20000"/>
                    </a:ext>
                  </a:extLst>
                </a:gridCol>
                <a:gridCol w="1653473">
                  <a:extLst>
                    <a:ext uri="{9D8B030D-6E8A-4147-A177-3AD203B41FA5}">
                      <a16:colId xmlns:a16="http://schemas.microsoft.com/office/drawing/2014/main" val="20001"/>
                    </a:ext>
                  </a:extLst>
                </a:gridCol>
              </a:tblGrid>
              <a:tr h="406307">
                <a:tc>
                  <a:txBody>
                    <a:bodyPr/>
                    <a:lstStyle/>
                    <a:p>
                      <a:pPr marL="0" marR="0" lvl="0" indent="0" algn="l" defTabSz="914400" rtl="0" eaLnBrk="0" fontAlgn="base" latinLnBrk="0" hangingPunct="0">
                        <a:lnSpc>
                          <a:spcPct val="95000"/>
                        </a:lnSpc>
                        <a:spcBef>
                          <a:spcPct val="0"/>
                        </a:spcBef>
                        <a:spcAft>
                          <a:spcPct val="50000"/>
                        </a:spcAft>
                        <a:buClrTx/>
                        <a:buSzTx/>
                        <a:buFontTx/>
                        <a:buNone/>
                        <a:tabLst/>
                      </a:pPr>
                      <a:r>
                        <a:rPr kumimoji="0" lang="en-GB" sz="1050" b="1" i="0" u="none" strike="noStrike" kern="1200" cap="none" normalizeH="0" baseline="0">
                          <a:ln>
                            <a:noFill/>
                          </a:ln>
                          <a:solidFill>
                            <a:schemeClr val="bg1"/>
                          </a:solidFill>
                          <a:effectLst/>
                          <a:latin typeface="Arial"/>
                          <a:ea typeface="+mn-ea"/>
                          <a:cs typeface="+mn-cs"/>
                        </a:rPr>
                        <a:t>Status Date:</a:t>
                      </a:r>
                    </a:p>
                  </a:txBody>
                  <a:tcPr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defRPr/>
                      </a:pPr>
                      <a:r>
                        <a:rPr kumimoji="0" lang="en-GB" sz="850" b="1" i="0" u="none" strike="noStrike" kern="1200" cap="none" normalizeH="0" baseline="0">
                          <a:ln>
                            <a:noFill/>
                          </a:ln>
                          <a:solidFill>
                            <a:schemeClr val="tx1"/>
                          </a:solidFill>
                          <a:effectLst/>
                          <a:latin typeface="Aptos" panose="020B0004020202020204" pitchFamily="34" charset="0"/>
                          <a:ea typeface="+mn-ea"/>
                          <a:cs typeface="+mn-cs"/>
                        </a:rPr>
                        <a:t>08/28/26</a:t>
                      </a:r>
                    </a:p>
                  </a:txBody>
                  <a:tcPr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14" name="Table 13">
            <a:extLst>
              <a:ext uri="{FF2B5EF4-FFF2-40B4-BE49-F238E27FC236}">
                <a16:creationId xmlns:a16="http://schemas.microsoft.com/office/drawing/2014/main" id="{7308F2CC-923C-520B-0CE0-E9F83F7A6BA9}"/>
              </a:ext>
            </a:extLst>
          </p:cNvPr>
          <p:cNvGraphicFramePr>
            <a:graphicFrameLocks noGrp="1"/>
          </p:cNvGraphicFramePr>
          <p:nvPr>
            <p:extLst>
              <p:ext uri="{D42A27DB-BD31-4B8C-83A1-F6EECF244321}">
                <p14:modId xmlns:p14="http://schemas.microsoft.com/office/powerpoint/2010/main" val="3073992196"/>
              </p:ext>
            </p:extLst>
          </p:nvPr>
        </p:nvGraphicFramePr>
        <p:xfrm>
          <a:off x="6640300" y="927650"/>
          <a:ext cx="5468995" cy="742865"/>
        </p:xfrm>
        <a:graphic>
          <a:graphicData uri="http://schemas.openxmlformats.org/drawingml/2006/table">
            <a:tbl>
              <a:tblPr>
                <a:tableStyleId>{5C22544A-7EE6-4342-B048-85BDC9FD1C3A}</a:tableStyleId>
              </a:tblPr>
              <a:tblGrid>
                <a:gridCol w="1068116">
                  <a:extLst>
                    <a:ext uri="{9D8B030D-6E8A-4147-A177-3AD203B41FA5}">
                      <a16:colId xmlns:a16="http://schemas.microsoft.com/office/drawing/2014/main" val="2456552316"/>
                    </a:ext>
                  </a:extLst>
                </a:gridCol>
                <a:gridCol w="946701">
                  <a:extLst>
                    <a:ext uri="{9D8B030D-6E8A-4147-A177-3AD203B41FA5}">
                      <a16:colId xmlns:a16="http://schemas.microsoft.com/office/drawing/2014/main" val="2327174630"/>
                    </a:ext>
                  </a:extLst>
                </a:gridCol>
                <a:gridCol w="1547983">
                  <a:extLst>
                    <a:ext uri="{9D8B030D-6E8A-4147-A177-3AD203B41FA5}">
                      <a16:colId xmlns:a16="http://schemas.microsoft.com/office/drawing/2014/main" val="1100051595"/>
                    </a:ext>
                  </a:extLst>
                </a:gridCol>
                <a:gridCol w="933908">
                  <a:extLst>
                    <a:ext uri="{9D8B030D-6E8A-4147-A177-3AD203B41FA5}">
                      <a16:colId xmlns:a16="http://schemas.microsoft.com/office/drawing/2014/main" val="2042261034"/>
                    </a:ext>
                  </a:extLst>
                </a:gridCol>
                <a:gridCol w="972287">
                  <a:extLst>
                    <a:ext uri="{9D8B030D-6E8A-4147-A177-3AD203B41FA5}">
                      <a16:colId xmlns:a16="http://schemas.microsoft.com/office/drawing/2014/main" val="2815874248"/>
                    </a:ext>
                  </a:extLst>
                </a:gridCol>
              </a:tblGrid>
              <a:tr h="388991">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2026 Budget</a:t>
                      </a:r>
                      <a:r>
                        <a:rPr lang="en-US" sz="1050" b="1" i="0" u="none" strike="noStrike" kern="1200" cap="none" normalizeH="0" baseline="0">
                          <a:ln>
                            <a:noFill/>
                          </a:ln>
                          <a:solidFill>
                            <a:schemeClr val="bg1"/>
                          </a:solidFill>
                          <a:effectLst/>
                          <a:latin typeface="Arial"/>
                          <a:ea typeface="+mn-ea"/>
                          <a:cs typeface="+mn-cs"/>
                        </a:rPr>
                        <a:t> </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YTD Actuals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Remaining 2026 Forecast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Current YE Forecast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Total Budget</a:t>
                      </a:r>
                      <a:r>
                        <a:rPr lang="en-US" sz="1050" b="1" i="0" u="none" strike="noStrike" kern="1200" cap="none" normalizeH="0" baseline="0">
                          <a:ln>
                            <a:noFill/>
                          </a:ln>
                          <a:solidFill>
                            <a:schemeClr val="bg1"/>
                          </a:solidFill>
                          <a:effectLst/>
                          <a:latin typeface="Arial"/>
                          <a:ea typeface="+mn-ea"/>
                          <a:cs typeface="+mn-cs"/>
                        </a:rPr>
                        <a:t> </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353874">
                <a:tc>
                  <a:txBody>
                    <a:bodyPr/>
                    <a:lstStyle/>
                    <a:p>
                      <a:pPr marL="0" marR="0" lvl="0" indent="0" algn="ctr" defTabSz="914400" rtl="0" eaLnBrk="0" fontAlgn="base" latinLnBrk="0" hangingPunct="0">
                        <a:lnSpc>
                          <a:spcPct val="95000"/>
                        </a:lnSpc>
                        <a:spcBef>
                          <a:spcPct val="0"/>
                        </a:spcBef>
                        <a:spcAft>
                          <a:spcPct val="50000"/>
                        </a:spcAft>
                        <a:buClrTx/>
                        <a:buSzTx/>
                        <a:buFontTx/>
                        <a:buNone/>
                        <a:tabLst/>
                        <a:defRPr/>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defRPr/>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defRPr/>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defRPr/>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defRPr/>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7499024"/>
                  </a:ext>
                </a:extLst>
              </a:tr>
            </a:tbl>
          </a:graphicData>
        </a:graphic>
      </p:graphicFrame>
      <p:graphicFrame>
        <p:nvGraphicFramePr>
          <p:cNvPr id="25" name="Table 24">
            <a:extLst>
              <a:ext uri="{FF2B5EF4-FFF2-40B4-BE49-F238E27FC236}">
                <a16:creationId xmlns:a16="http://schemas.microsoft.com/office/drawing/2014/main" id="{8CDB0248-F6F4-E083-6D55-1BE53DAE88FE}"/>
              </a:ext>
            </a:extLst>
          </p:cNvPr>
          <p:cNvGraphicFramePr>
            <a:graphicFrameLocks noGrp="1"/>
          </p:cNvGraphicFramePr>
          <p:nvPr/>
        </p:nvGraphicFramePr>
        <p:xfrm>
          <a:off x="2811025" y="920667"/>
          <a:ext cx="3829275" cy="749848"/>
        </p:xfrm>
        <a:graphic>
          <a:graphicData uri="http://schemas.openxmlformats.org/drawingml/2006/table">
            <a:tbl>
              <a:tblPr>
                <a:tableStyleId>{5C22544A-7EE6-4342-B048-85BDC9FD1C3A}</a:tableStyleId>
              </a:tblPr>
              <a:tblGrid>
                <a:gridCol w="1042158">
                  <a:extLst>
                    <a:ext uri="{9D8B030D-6E8A-4147-A177-3AD203B41FA5}">
                      <a16:colId xmlns:a16="http://schemas.microsoft.com/office/drawing/2014/main" val="2456552316"/>
                    </a:ext>
                  </a:extLst>
                </a:gridCol>
                <a:gridCol w="961214">
                  <a:extLst>
                    <a:ext uri="{9D8B030D-6E8A-4147-A177-3AD203B41FA5}">
                      <a16:colId xmlns:a16="http://schemas.microsoft.com/office/drawing/2014/main" val="1100051595"/>
                    </a:ext>
                  </a:extLst>
                </a:gridCol>
                <a:gridCol w="920742">
                  <a:extLst>
                    <a:ext uri="{9D8B030D-6E8A-4147-A177-3AD203B41FA5}">
                      <a16:colId xmlns:a16="http://schemas.microsoft.com/office/drawing/2014/main" val="2042261034"/>
                    </a:ext>
                  </a:extLst>
                </a:gridCol>
                <a:gridCol w="905161">
                  <a:extLst>
                    <a:ext uri="{9D8B030D-6E8A-4147-A177-3AD203B41FA5}">
                      <a16:colId xmlns:a16="http://schemas.microsoft.com/office/drawing/2014/main" val="2815874248"/>
                    </a:ext>
                  </a:extLst>
                </a:gridCol>
              </a:tblGrid>
              <a:tr h="409508">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Overall</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Scope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Schedule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Financials</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340340">
                <a:tc>
                  <a:txBody>
                    <a:bodyPr/>
                    <a:lstStyle/>
                    <a:p>
                      <a:pPr marL="0" marR="0" lvl="0" indent="0" algn="ctr" rtl="0" eaLnBrk="1" fontAlgn="ctr" latinLnBrk="0" hangingPunct="1">
                        <a:lnSpc>
                          <a:spcPct val="95000"/>
                        </a:lnSpc>
                        <a:spcBef>
                          <a:spcPct val="0"/>
                        </a:spcBef>
                        <a:spcAft>
                          <a:spcPct val="50000"/>
                        </a:spcAft>
                        <a:buClrTx/>
                        <a:buSzTx/>
                        <a:buFontTx/>
                        <a:buNone/>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rtl="0" eaLnBrk="1" fontAlgn="ctr" latinLnBrk="0" hangingPunct="1">
                        <a:lnSpc>
                          <a:spcPct val="95000"/>
                        </a:lnSpc>
                        <a:spcBef>
                          <a:spcPct val="0"/>
                        </a:spcBef>
                        <a:spcAft>
                          <a:spcPct val="50000"/>
                        </a:spcAft>
                        <a:buClrTx/>
                        <a:buSzTx/>
                        <a:buFontTx/>
                        <a:buNone/>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7499024"/>
                  </a:ext>
                </a:extLst>
              </a:tr>
            </a:tbl>
          </a:graphicData>
        </a:graphic>
      </p:graphicFrame>
      <p:graphicFrame>
        <p:nvGraphicFramePr>
          <p:cNvPr id="26" name="Group 513">
            <a:extLst>
              <a:ext uri="{FF2B5EF4-FFF2-40B4-BE49-F238E27FC236}">
                <a16:creationId xmlns:a16="http://schemas.microsoft.com/office/drawing/2014/main" id="{7AD1E69C-D2E6-2BEC-094D-6142F8148B48}"/>
              </a:ext>
            </a:extLst>
          </p:cNvPr>
          <p:cNvGraphicFramePr>
            <a:graphicFrameLocks noGrp="1"/>
          </p:cNvGraphicFramePr>
          <p:nvPr>
            <p:extLst>
              <p:ext uri="{D42A27DB-BD31-4B8C-83A1-F6EECF244321}">
                <p14:modId xmlns:p14="http://schemas.microsoft.com/office/powerpoint/2010/main" val="2575943510"/>
              </p:ext>
            </p:extLst>
          </p:nvPr>
        </p:nvGraphicFramePr>
        <p:xfrm>
          <a:off x="231953" y="1333957"/>
          <a:ext cx="2581575" cy="344301"/>
        </p:xfrm>
        <a:graphic>
          <a:graphicData uri="http://schemas.openxmlformats.org/drawingml/2006/table">
            <a:tbl>
              <a:tblPr/>
              <a:tblGrid>
                <a:gridCol w="998602">
                  <a:extLst>
                    <a:ext uri="{9D8B030D-6E8A-4147-A177-3AD203B41FA5}">
                      <a16:colId xmlns:a16="http://schemas.microsoft.com/office/drawing/2014/main" val="20000"/>
                    </a:ext>
                  </a:extLst>
                </a:gridCol>
                <a:gridCol w="1582973">
                  <a:extLst>
                    <a:ext uri="{9D8B030D-6E8A-4147-A177-3AD203B41FA5}">
                      <a16:colId xmlns:a16="http://schemas.microsoft.com/office/drawing/2014/main" val="20001"/>
                    </a:ext>
                  </a:extLst>
                </a:gridCol>
              </a:tblGrid>
              <a:tr h="344301">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GB" sz="1050" b="0" i="0" u="none" strike="noStrike" kern="1200" cap="none" normalizeH="0" baseline="0">
                          <a:ln>
                            <a:noFill/>
                          </a:ln>
                          <a:solidFill>
                            <a:schemeClr val="bg1"/>
                          </a:solidFill>
                          <a:effectLst/>
                          <a:latin typeface="Arial"/>
                          <a:ea typeface="+mn-ea"/>
                          <a:cs typeface="+mn-cs"/>
                        </a:rPr>
                        <a:t>Target Delivery:</a:t>
                      </a:r>
                    </a:p>
                  </a:txBody>
                  <a:tcPr marL="0" marR="0"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defRPr/>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Ongoing</a:t>
                      </a:r>
                    </a:p>
                  </a:txBody>
                  <a:tcPr marL="0" marR="0"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27" name="Table 26">
            <a:extLst>
              <a:ext uri="{FF2B5EF4-FFF2-40B4-BE49-F238E27FC236}">
                <a16:creationId xmlns:a16="http://schemas.microsoft.com/office/drawing/2014/main" id="{F21A09A8-6576-3CC1-5443-3845D0BC2F85}"/>
              </a:ext>
            </a:extLst>
          </p:cNvPr>
          <p:cNvGraphicFramePr>
            <a:graphicFrameLocks noGrp="1"/>
          </p:cNvGraphicFramePr>
          <p:nvPr>
            <p:extLst>
              <p:ext uri="{D42A27DB-BD31-4B8C-83A1-F6EECF244321}">
                <p14:modId xmlns:p14="http://schemas.microsoft.com/office/powerpoint/2010/main" val="2659883118"/>
              </p:ext>
            </p:extLst>
          </p:nvPr>
        </p:nvGraphicFramePr>
        <p:xfrm>
          <a:off x="4854769" y="1696099"/>
          <a:ext cx="7269724" cy="3141365"/>
        </p:xfrm>
        <a:graphic>
          <a:graphicData uri="http://schemas.openxmlformats.org/drawingml/2006/table">
            <a:tbl>
              <a:tblPr>
                <a:tableStyleId>{5C22544A-7EE6-4342-B048-85BDC9FD1C3A}</a:tableStyleId>
              </a:tblPr>
              <a:tblGrid>
                <a:gridCol w="2555676">
                  <a:extLst>
                    <a:ext uri="{9D8B030D-6E8A-4147-A177-3AD203B41FA5}">
                      <a16:colId xmlns:a16="http://schemas.microsoft.com/office/drawing/2014/main" val="2456552316"/>
                    </a:ext>
                  </a:extLst>
                </a:gridCol>
                <a:gridCol w="504529">
                  <a:extLst>
                    <a:ext uri="{9D8B030D-6E8A-4147-A177-3AD203B41FA5}">
                      <a16:colId xmlns:a16="http://schemas.microsoft.com/office/drawing/2014/main" val="1100051595"/>
                    </a:ext>
                  </a:extLst>
                </a:gridCol>
                <a:gridCol w="436434">
                  <a:extLst>
                    <a:ext uri="{9D8B030D-6E8A-4147-A177-3AD203B41FA5}">
                      <a16:colId xmlns:a16="http://schemas.microsoft.com/office/drawing/2014/main" val="2042261034"/>
                    </a:ext>
                  </a:extLst>
                </a:gridCol>
                <a:gridCol w="3773085">
                  <a:extLst>
                    <a:ext uri="{9D8B030D-6E8A-4147-A177-3AD203B41FA5}">
                      <a16:colId xmlns:a16="http://schemas.microsoft.com/office/drawing/2014/main" val="2815874248"/>
                    </a:ext>
                  </a:extLst>
                </a:gridCol>
              </a:tblGrid>
              <a:tr h="304528">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Milestone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Status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Due Date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Notes</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225904">
                <a:tc>
                  <a:txBody>
                    <a:bodyPr/>
                    <a:lstStyle/>
                    <a:p>
                      <a:pPr marL="114300" marR="0" lvl="0" indent="0" algn="l" rtl="0" eaLnBrk="1" fontAlgn="ctr" latinLnBrk="0" hangingPunct="1">
                        <a:lnSpc>
                          <a:spcPct val="95000"/>
                        </a:lnSpc>
                        <a:spcBef>
                          <a:spcPct val="0"/>
                        </a:spcBef>
                        <a:spcAft>
                          <a:spcPct val="50000"/>
                        </a:spcAft>
                        <a:buClrTx/>
                        <a:buSzTx/>
                        <a:buFontTx/>
                        <a:buNone/>
                      </a:pPr>
                      <a:r>
                        <a:rPr lang="en-US" sz="850" b="0" kern="1200">
                          <a:solidFill>
                            <a:schemeClr val="tx1"/>
                          </a:solidFill>
                          <a:effectLst/>
                          <a:latin typeface="Aptos" panose="020B0004020202020204" pitchFamily="34" charset="0"/>
                          <a:ea typeface="+mn-ea"/>
                          <a:cs typeface="+mn-cs"/>
                        </a:rPr>
                        <a:t>Validate and Lock business requirements</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a:ln>
                            <a:noFill/>
                          </a:ln>
                          <a:solidFill>
                            <a:prstClr val="black"/>
                          </a:solidFill>
                          <a:effectLst/>
                          <a:uLnTx/>
                          <a:uFillTx/>
                          <a:latin typeface="Aptos" panose="020B0004020202020204" pitchFamily="34" charset="0"/>
                          <a:ea typeface="+mn-ea"/>
                          <a:cs typeface="+mn-cs"/>
                        </a:rPr>
                        <a:t>NS</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850" b="0" strike="noStrike" kern="1200">
                        <a:solidFill>
                          <a:schemeClr val="tx1"/>
                        </a:solidFill>
                        <a:effectLst/>
                        <a:latin typeface="Aptos" panose="020B0004020202020204" pitchFamily="34" charset="0"/>
                        <a:ea typeface="+mn-ea"/>
                        <a:cs typeface="+mn-cs"/>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0" hangingPunct="1">
                        <a:lnSpc>
                          <a:spcPts val="600"/>
                        </a:lnSpc>
                        <a:spcBef>
                          <a:spcPts val="300"/>
                        </a:spcBef>
                        <a:spcAft>
                          <a:spcPts val="0"/>
                        </a:spcAft>
                        <a:buClrTx/>
                        <a:buSzTx/>
                        <a:buFontTx/>
                        <a:buNone/>
                        <a:tabLst/>
                        <a:defRPr/>
                      </a:pPr>
                      <a:endParaRPr lang="en-US" sz="850" b="0" i="0">
                        <a:solidFill>
                          <a:srgbClr val="000000"/>
                        </a:solidFill>
                        <a:effectLst/>
                        <a:latin typeface="Aptos" panose="020B00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748893264"/>
                  </a:ext>
                </a:extLst>
              </a:tr>
              <a:tr h="213379">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50">
                          <a:latin typeface="Aptos" panose="020B0004020202020204" pitchFamily="34" charset="0"/>
                        </a:rPr>
                        <a:t>Obtain approval from BDE</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a:ln>
                            <a:noFill/>
                          </a:ln>
                          <a:solidFill>
                            <a:prstClr val="black"/>
                          </a:solidFill>
                          <a:effectLst/>
                          <a:uLnTx/>
                          <a:uFillTx/>
                          <a:latin typeface="Aptos" panose="020B0004020202020204" pitchFamily="34" charset="0"/>
                          <a:ea typeface="+mn-ea"/>
                          <a:cs typeface="+mn-cs"/>
                        </a:rPr>
                        <a:t>NS</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0" hangingPunct="1">
                        <a:lnSpc>
                          <a:spcPct val="95000"/>
                        </a:lnSpc>
                        <a:spcBef>
                          <a:spcPct val="0"/>
                        </a:spcBef>
                        <a:spcAft>
                          <a:spcPct val="50000"/>
                        </a:spcAft>
                        <a:buClrTx/>
                        <a:buSzTx/>
                        <a:buFontTx/>
                        <a:buNone/>
                        <a:tabLst/>
                        <a:defRPr/>
                      </a:pPr>
                      <a:endParaRPr lang="en-US" sz="850" b="0" strike="noStrike" kern="1200">
                        <a:solidFill>
                          <a:schemeClr val="tx1"/>
                        </a:solidFill>
                        <a:effectLst/>
                        <a:latin typeface="Aptos" panose="020B0004020202020204" pitchFamily="34" charset="0"/>
                        <a:ea typeface="+mn-ea"/>
                        <a:cs typeface="+mn-cs"/>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algn="l">
                        <a:lnSpc>
                          <a:spcPct val="114999"/>
                        </a:lnSpc>
                        <a:spcAft>
                          <a:spcPts val="800"/>
                        </a:spcAft>
                        <a:buNone/>
                      </a:pPr>
                      <a:endParaRPr lang="en-US" sz="850" b="0" i="0" u="none" strike="noStrike" kern="100" noProof="0">
                        <a:solidFill>
                          <a:schemeClr val="dk1"/>
                        </a:solidFill>
                        <a:effectLst/>
                        <a:latin typeface="Aptos" panose="020B0004020202020204"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805706767"/>
                  </a:ext>
                </a:extLst>
              </a:tr>
              <a:tr h="213379">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50">
                          <a:latin typeface="Aptos" panose="020B0004020202020204" pitchFamily="34" charset="0"/>
                        </a:rPr>
                        <a:t>Detail Requirements and Epic Creations</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a:ln>
                            <a:noFill/>
                          </a:ln>
                          <a:solidFill>
                            <a:prstClr val="black"/>
                          </a:solidFill>
                          <a:effectLst/>
                          <a:uLnTx/>
                          <a:uFillTx/>
                          <a:latin typeface="Aptos" panose="020B0004020202020204" pitchFamily="34" charset="0"/>
                          <a:ea typeface="+mn-ea"/>
                          <a:cs typeface="+mn-cs"/>
                        </a:rPr>
                        <a:t>NS</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0" hangingPunct="1">
                        <a:lnSpc>
                          <a:spcPct val="95000"/>
                        </a:lnSpc>
                        <a:spcBef>
                          <a:spcPct val="0"/>
                        </a:spcBef>
                        <a:spcAft>
                          <a:spcPct val="50000"/>
                        </a:spcAft>
                        <a:buClrTx/>
                        <a:buSzTx/>
                        <a:buFontTx/>
                        <a:buNone/>
                        <a:tabLst/>
                        <a:defRPr/>
                      </a:pPr>
                      <a:endParaRPr lang="en-US" sz="850" b="0" strike="noStrike" kern="1200">
                        <a:solidFill>
                          <a:schemeClr val="tx1"/>
                        </a:solidFill>
                        <a:effectLst/>
                        <a:latin typeface="Aptos" panose="020B0004020202020204" pitchFamily="34" charset="0"/>
                        <a:ea typeface="+mn-ea"/>
                        <a:cs typeface="+mn-cs"/>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algn="l">
                        <a:lnSpc>
                          <a:spcPct val="114999"/>
                        </a:lnSpc>
                        <a:spcAft>
                          <a:spcPts val="800"/>
                        </a:spcAft>
                        <a:buNone/>
                      </a:pPr>
                      <a:endParaRPr lang="en-US" sz="850" b="0" i="0" u="none" strike="noStrike" kern="100" noProof="0">
                        <a:solidFill>
                          <a:schemeClr val="dk1"/>
                        </a:solidFill>
                        <a:effectLst/>
                        <a:latin typeface="Aptos" panose="020B00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943924009"/>
                  </a:ext>
                </a:extLst>
              </a:tr>
              <a:tr h="257053">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50" kern="1200">
                          <a:solidFill>
                            <a:schemeClr val="dk1"/>
                          </a:solidFill>
                          <a:latin typeface="Aptos" panose="020B0004020202020204" pitchFamily="34" charset="0"/>
                          <a:ea typeface="+mn-ea"/>
                          <a:cs typeface="+mn-cs"/>
                        </a:rPr>
                        <a:t>Deliver end‑to‑end architectural design for the new solution.</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a:ln>
                            <a:noFill/>
                          </a:ln>
                          <a:solidFill>
                            <a:prstClr val="black"/>
                          </a:solidFill>
                          <a:effectLst/>
                          <a:uLnTx/>
                          <a:uFillTx/>
                          <a:latin typeface="Aptos" panose="020B0004020202020204" pitchFamily="34" charset="0"/>
                          <a:ea typeface="+mn-ea"/>
                          <a:cs typeface="+mn-cs"/>
                        </a:rPr>
                        <a:t>NS</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endParaRPr lang="en-US" sz="850" b="0" strike="sngStrike" kern="1200">
                        <a:solidFill>
                          <a:schemeClr val="tx1"/>
                        </a:solidFill>
                        <a:effectLst/>
                        <a:latin typeface="Aptos" panose="020B0004020202020204" pitchFamily="34" charset="0"/>
                        <a:ea typeface="+mn-ea"/>
                        <a:cs typeface="+mn-cs"/>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base" latinLnBrk="0" hangingPunct="1">
                        <a:lnSpc>
                          <a:spcPct val="100000"/>
                        </a:lnSpc>
                        <a:spcBef>
                          <a:spcPts val="200"/>
                        </a:spcBef>
                        <a:spcAft>
                          <a:spcPts val="0"/>
                        </a:spcAft>
                        <a:buClrTx/>
                        <a:buSzTx/>
                        <a:buFontTx/>
                        <a:buNone/>
                        <a:tabLst/>
                        <a:defRPr/>
                      </a:pPr>
                      <a:endParaRPr lang="en-US" sz="850" kern="100">
                        <a:solidFill>
                          <a:schemeClr val="dk1"/>
                        </a:solidFill>
                        <a:latin typeface="Aptos" panose="020B0004020202020204" pitchFamily="34" charset="0"/>
                        <a:cs typeface="Times New Roma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387139067"/>
                  </a:ext>
                </a:extLst>
              </a:tr>
              <a:tr h="234224">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50" kern="1200">
                          <a:solidFill>
                            <a:schemeClr val="dk1"/>
                          </a:solidFill>
                          <a:latin typeface="Aptos" panose="020B0004020202020204" pitchFamily="34" charset="0"/>
                          <a:ea typeface="+mn-ea"/>
                          <a:cs typeface="+mn-cs"/>
                        </a:rPr>
                        <a:t>Provide L0 project estimates with high‑level scope and effort</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a:ln>
                            <a:noFill/>
                          </a:ln>
                          <a:solidFill>
                            <a:prstClr val="black"/>
                          </a:solidFill>
                          <a:effectLst/>
                          <a:uLnTx/>
                          <a:uFillTx/>
                          <a:latin typeface="Aptos" panose="020B0004020202020204" pitchFamily="34" charset="0"/>
                          <a:ea typeface="+mn-ea"/>
                          <a:cs typeface="+mn-cs"/>
                        </a:rPr>
                        <a:t>NS</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endParaRPr lang="en-US" sz="850" strike="noStrike">
                        <a:latin typeface="Aptos" panose="020B00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base" latinLnBrk="0" hangingPunct="1">
                        <a:lnSpc>
                          <a:spcPct val="100000"/>
                        </a:lnSpc>
                        <a:spcBef>
                          <a:spcPts val="200"/>
                        </a:spcBef>
                        <a:spcAft>
                          <a:spcPts val="0"/>
                        </a:spcAft>
                        <a:buClrTx/>
                        <a:buSzTx/>
                        <a:buFontTx/>
                        <a:buNone/>
                        <a:tabLst/>
                        <a:defRPr/>
                      </a:pPr>
                      <a:endParaRPr lang="en-US" sz="850" b="0" i="0">
                        <a:solidFill>
                          <a:srgbClr val="000000"/>
                        </a:solidFill>
                        <a:effectLst/>
                        <a:latin typeface="Aptos" panose="020B0004020202020204" pitchFamily="34" charset="0"/>
                        <a:cs typeface="Times New Roma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775249404"/>
                  </a:ext>
                </a:extLst>
              </a:tr>
              <a:tr h="305268">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50" kern="1200">
                          <a:solidFill>
                            <a:schemeClr val="dk1"/>
                          </a:solidFill>
                          <a:latin typeface="Aptos" panose="020B0004020202020204" pitchFamily="34" charset="0"/>
                          <a:ea typeface="+mn-ea"/>
                          <a:cs typeface="+mn-cs"/>
                        </a:rPr>
                        <a:t>Build project plan based online approval of estimates</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a:ln>
                            <a:noFill/>
                          </a:ln>
                          <a:solidFill>
                            <a:prstClr val="black"/>
                          </a:solidFill>
                          <a:effectLst/>
                          <a:uLnTx/>
                          <a:uFillTx/>
                          <a:latin typeface="Aptos" panose="020B0004020202020204" pitchFamily="34" charset="0"/>
                          <a:ea typeface="+mn-ea"/>
                          <a:cs typeface="+mn-cs"/>
                        </a:rPr>
                        <a:t>NS</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endParaRPr lang="en-US" sz="850" strike="noStrike">
                        <a:latin typeface="Aptos" panose="020B00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rtl="0" eaLnBrk="1" fontAlgn="ctr" latinLnBrk="0" hangingPunct="1">
                        <a:lnSpc>
                          <a:spcPct val="95000"/>
                        </a:lnSpc>
                        <a:spcBef>
                          <a:spcPct val="0"/>
                        </a:spcBef>
                        <a:spcAft>
                          <a:spcPct val="50000"/>
                        </a:spcAft>
                        <a:buClrTx/>
                        <a:buSzTx/>
                        <a:buFontTx/>
                        <a:buNone/>
                      </a:pPr>
                      <a:endParaRPr lang="en-US" sz="850" b="0" strike="noStrike" kern="1200">
                        <a:solidFill>
                          <a:schemeClr val="tx1"/>
                        </a:solidFill>
                        <a:effectLst/>
                        <a:latin typeface="Aptos" panose="020B0004020202020204" pitchFamily="34" charset="0"/>
                        <a:ea typeface="+mn-ea"/>
                        <a:cs typeface="+mn-cs"/>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676961585"/>
                  </a:ext>
                </a:extLst>
              </a:tr>
              <a:tr h="223959">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50" kern="1200">
                          <a:solidFill>
                            <a:schemeClr val="dk1"/>
                          </a:solidFill>
                          <a:latin typeface="Aptos" panose="020B0004020202020204" pitchFamily="34" charset="0"/>
                          <a:ea typeface="+mn-ea"/>
                          <a:cs typeface="+mn-cs"/>
                        </a:rPr>
                        <a:t>Technical Design</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a:ln>
                            <a:noFill/>
                          </a:ln>
                          <a:solidFill>
                            <a:prstClr val="black"/>
                          </a:solidFill>
                          <a:effectLst/>
                          <a:uLnTx/>
                          <a:uFillTx/>
                          <a:latin typeface="Aptos" panose="020B0004020202020204" pitchFamily="34" charset="0"/>
                          <a:ea typeface="+mn-ea"/>
                          <a:cs typeface="+mn-cs"/>
                        </a:rPr>
                        <a:t>NS</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endParaRPr lang="en-US" sz="850" strike="noStrike">
                        <a:latin typeface="Aptos" panose="020B00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rtl="0" eaLnBrk="1" fontAlgn="ctr" latinLnBrk="0" hangingPunct="1">
                        <a:lnSpc>
                          <a:spcPct val="95000"/>
                        </a:lnSpc>
                        <a:spcBef>
                          <a:spcPct val="0"/>
                        </a:spcBef>
                        <a:spcAft>
                          <a:spcPct val="50000"/>
                        </a:spcAft>
                        <a:buClrTx/>
                        <a:buSzTx/>
                        <a:buFontTx/>
                        <a:buNone/>
                      </a:pPr>
                      <a:endParaRPr lang="en-US" sz="850" b="0" kern="1200">
                        <a:solidFill>
                          <a:schemeClr val="tx1"/>
                        </a:solidFill>
                        <a:effectLst/>
                        <a:latin typeface="Aptos" panose="020B0004020202020204" pitchFamily="34" charset="0"/>
                        <a:ea typeface="+mn-ea"/>
                        <a:cs typeface="+mn-cs"/>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617819655"/>
                  </a:ext>
                </a:extLst>
              </a:tr>
              <a:tr h="385224">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50" kern="1200">
                          <a:solidFill>
                            <a:schemeClr val="dk1"/>
                          </a:solidFill>
                          <a:latin typeface="Aptos" panose="020B0004020202020204" pitchFamily="34" charset="0"/>
                          <a:ea typeface="+mn-ea"/>
                          <a:cs typeface="+mn-cs"/>
                        </a:rPr>
                        <a:t>DDIT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50">
                          <a:latin typeface="Aptos" panose="020B0004020202020204" pitchFamily="34" charset="0"/>
                        </a:rPr>
                        <a:t>NS</a:t>
                      </a:r>
                    </a:p>
                    <a:p>
                      <a:pPr algn="ctr"/>
                      <a:endParaRPr lang="en-US" sz="850">
                        <a:latin typeface="Aptos"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50">
                        <a:latin typeface="Aptos"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endParaRPr lang="en-US" sz="850" kern="1200">
                        <a:solidFill>
                          <a:schemeClr val="dk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62506059"/>
                  </a:ext>
                </a:extLst>
              </a:tr>
              <a:tr h="236175">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50" kern="1200">
                          <a:solidFill>
                            <a:schemeClr val="dk1"/>
                          </a:solidFill>
                          <a:latin typeface="Aptos" panose="020B0004020202020204" pitchFamily="34" charset="0"/>
                          <a:ea typeface="+mn-ea"/>
                          <a:cs typeface="+mn-cs"/>
                        </a:rPr>
                        <a:t>E2E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50">
                          <a:latin typeface="Aptos" panose="020B0004020202020204" pitchFamily="34" charset="0"/>
                        </a:rPr>
                        <a:t>NS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50">
                        <a:latin typeface="Aptos"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endParaRPr lang="en-US" sz="850" kern="1200">
                        <a:solidFill>
                          <a:schemeClr val="dk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20125674"/>
                  </a:ext>
                </a:extLst>
              </a:tr>
              <a:tr h="236175">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50" kern="1200">
                          <a:solidFill>
                            <a:schemeClr val="dk1"/>
                          </a:solidFill>
                          <a:latin typeface="Aptos" panose="020B0004020202020204" pitchFamily="34" charset="0"/>
                          <a:ea typeface="+mn-ea"/>
                          <a:cs typeface="+mn-cs"/>
                        </a:rPr>
                        <a:t>UAT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50">
                          <a:latin typeface="Aptos" panose="020B0004020202020204" pitchFamily="34" charset="0"/>
                        </a:rPr>
                        <a:t>NS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50">
                        <a:latin typeface="Aptos"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endParaRPr lang="en-US" sz="850" kern="1200">
                        <a:solidFill>
                          <a:schemeClr val="dk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53880179"/>
                  </a:ext>
                </a:extLst>
              </a:tr>
              <a:tr h="236175">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50" kern="1200">
                          <a:solidFill>
                            <a:schemeClr val="dk1"/>
                          </a:solidFill>
                          <a:latin typeface="Aptos" panose="020B0004020202020204" pitchFamily="34" charset="0"/>
                          <a:ea typeface="+mn-ea"/>
                          <a:cs typeface="+mn-cs"/>
                        </a:rPr>
                        <a:t>Stage Validation</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50">
                          <a:latin typeface="Aptos" panose="020B0004020202020204" pitchFamily="34" charset="0"/>
                        </a:rPr>
                        <a:t>NS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50">
                        <a:latin typeface="Aptos"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endParaRPr lang="en-US" sz="850" kern="1200">
                        <a:solidFill>
                          <a:schemeClr val="dk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64433576"/>
                  </a:ext>
                </a:extLst>
              </a:tr>
            </a:tbl>
          </a:graphicData>
        </a:graphic>
      </p:graphicFrame>
      <p:graphicFrame>
        <p:nvGraphicFramePr>
          <p:cNvPr id="29" name="Table 28">
            <a:extLst>
              <a:ext uri="{FF2B5EF4-FFF2-40B4-BE49-F238E27FC236}">
                <a16:creationId xmlns:a16="http://schemas.microsoft.com/office/drawing/2014/main" id="{FCE8D3EA-92F4-7645-DDAC-71643A3838B3}"/>
              </a:ext>
            </a:extLst>
          </p:cNvPr>
          <p:cNvGraphicFramePr>
            <a:graphicFrameLocks noGrp="1"/>
          </p:cNvGraphicFramePr>
          <p:nvPr>
            <p:extLst>
              <p:ext uri="{D42A27DB-BD31-4B8C-83A1-F6EECF244321}">
                <p14:modId xmlns:p14="http://schemas.microsoft.com/office/powerpoint/2010/main" val="1219006654"/>
              </p:ext>
            </p:extLst>
          </p:nvPr>
        </p:nvGraphicFramePr>
        <p:xfrm>
          <a:off x="4854769" y="4913937"/>
          <a:ext cx="7285928" cy="693166"/>
        </p:xfrm>
        <a:graphic>
          <a:graphicData uri="http://schemas.openxmlformats.org/drawingml/2006/table">
            <a:tbl>
              <a:tblPr>
                <a:tableStyleId>{5C22544A-7EE6-4342-B048-85BDC9FD1C3A}</a:tableStyleId>
              </a:tblPr>
              <a:tblGrid>
                <a:gridCol w="2560915">
                  <a:extLst>
                    <a:ext uri="{9D8B030D-6E8A-4147-A177-3AD203B41FA5}">
                      <a16:colId xmlns:a16="http://schemas.microsoft.com/office/drawing/2014/main" val="2456552316"/>
                    </a:ext>
                  </a:extLst>
                </a:gridCol>
                <a:gridCol w="522514">
                  <a:extLst>
                    <a:ext uri="{9D8B030D-6E8A-4147-A177-3AD203B41FA5}">
                      <a16:colId xmlns:a16="http://schemas.microsoft.com/office/drawing/2014/main" val="1100051595"/>
                    </a:ext>
                  </a:extLst>
                </a:gridCol>
                <a:gridCol w="452176">
                  <a:extLst>
                    <a:ext uri="{9D8B030D-6E8A-4147-A177-3AD203B41FA5}">
                      <a16:colId xmlns:a16="http://schemas.microsoft.com/office/drawing/2014/main" val="2042261034"/>
                    </a:ext>
                  </a:extLst>
                </a:gridCol>
                <a:gridCol w="3750323">
                  <a:extLst>
                    <a:ext uri="{9D8B030D-6E8A-4147-A177-3AD203B41FA5}">
                      <a16:colId xmlns:a16="http://schemas.microsoft.com/office/drawing/2014/main" val="2815874248"/>
                    </a:ext>
                  </a:extLst>
                </a:gridCol>
              </a:tblGrid>
              <a:tr h="256204">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Critical Risks/Issues</a:t>
                      </a:r>
                      <a:endParaRPr kumimoji="0" lang="en-US" sz="1050" b="1" i="0" u="none" strike="noStrike" kern="1200" cap="none" normalizeH="0" baseline="0">
                        <a:ln>
                          <a:noFill/>
                        </a:ln>
                        <a:solidFill>
                          <a:schemeClr val="bg1"/>
                        </a:solidFill>
                        <a:effectLst/>
                        <a:latin typeface="Arial" charset="0"/>
                        <a:ea typeface="+mn-ea"/>
                        <a:cs typeface="+mn-cs"/>
                      </a:endParaRP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Status</a:t>
                      </a:r>
                    </a:p>
                  </a:txBody>
                  <a:tcPr marL="9525" marR="9525" marT="9525" marB="0" anchor="ct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Target Date</a:t>
                      </a:r>
                    </a:p>
                  </a:txBody>
                  <a:tcPr marL="9525" marR="9525" marT="9525" marB="0" anchor="ctr">
                    <a:lnL w="12700">
                      <a:solidFill>
                        <a:schemeClr val="tx1"/>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Resolution / Mitigation</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313508">
                <a:tc>
                  <a:txBody>
                    <a:bodyPr/>
                    <a:lstStyle/>
                    <a:p>
                      <a:pPr marL="0" marR="0" lvl="0" indent="0" algn="l" defTabSz="914400" rtl="0" eaLnBrk="1" fontAlgn="auto" latinLnBrk="0" hangingPunct="1">
                        <a:lnSpc>
                          <a:spcPct val="115000"/>
                        </a:lnSpc>
                        <a:spcBef>
                          <a:spcPts val="0"/>
                        </a:spcBef>
                        <a:spcAft>
                          <a:spcPts val="800"/>
                        </a:spcAft>
                        <a:buClrTx/>
                        <a:buSzTx/>
                        <a:buFontTx/>
                        <a:buNone/>
                        <a:tabLst/>
                        <a:defRPr/>
                      </a:pPr>
                      <a:endParaRPr lang="en-US" sz="800">
                        <a:latin typeface="+mn-lt"/>
                      </a:endParaRPr>
                    </a:p>
                    <a:p>
                      <a:pPr marL="0" marR="0" lvl="0" indent="0" algn="l" defTabSz="914400" rtl="0" eaLnBrk="1" fontAlgn="auto" latinLnBrk="0" hangingPunct="1">
                        <a:lnSpc>
                          <a:spcPct val="115000"/>
                        </a:lnSpc>
                        <a:spcBef>
                          <a:spcPts val="0"/>
                        </a:spcBef>
                        <a:spcAft>
                          <a:spcPts val="800"/>
                        </a:spcAft>
                        <a:buClrTx/>
                        <a:buSzTx/>
                        <a:buFontTx/>
                        <a:buNone/>
                        <a:tabLst/>
                        <a:defRPr/>
                      </a:pPr>
                      <a:r>
                        <a:rPr lang="en-US" sz="800">
                          <a:latin typeface="+mn-lt"/>
                        </a:rPr>
                        <a:t> </a:t>
                      </a: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800" b="0"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800" b="0" strike="noStrike" kern="1200">
                        <a:solidFill>
                          <a:schemeClr val="tx1"/>
                        </a:solidFill>
                        <a:effectLst/>
                        <a:latin typeface="+mn-lt"/>
                        <a:ea typeface="+mn-ea"/>
                        <a:cs typeface="+mn-cs"/>
                      </a:endParaRPr>
                    </a:p>
                  </a:txBody>
                  <a:tcPr marL="9525" marR="9525" marT="9525" marB="0" anchor="ctr">
                    <a:lnL w="12700">
                      <a:solidFill>
                        <a:schemeClr val="tx1"/>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ts val="200"/>
                        </a:spcBef>
                        <a:spcAft>
                          <a:spcPts val="0"/>
                        </a:spcAft>
                        <a:buClrTx/>
                        <a:buSzTx/>
                        <a:buFont typeface="Arial" panose="020B0604020202020204" pitchFamily="34" charset="0"/>
                        <a:buNone/>
                        <a:tabLst/>
                        <a:defRPr/>
                      </a:pPr>
                      <a:endParaRPr lang="en-US" sz="800" b="0" strike="noStrike" kern="1200">
                        <a:solidFill>
                          <a:schemeClr val="tx1"/>
                        </a:solidFill>
                        <a:effectLst/>
                        <a:latin typeface="+mn-lt"/>
                        <a:ea typeface="+mn-ea"/>
                        <a:cs typeface="+mn-cs"/>
                      </a:endParaRP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7499024"/>
                  </a:ext>
                </a:extLst>
              </a:tr>
            </a:tbl>
          </a:graphicData>
        </a:graphic>
      </p:graphicFrame>
      <p:sp>
        <p:nvSpPr>
          <p:cNvPr id="33" name="Flowchart: Connector 32">
            <a:extLst>
              <a:ext uri="{FF2B5EF4-FFF2-40B4-BE49-F238E27FC236}">
                <a16:creationId xmlns:a16="http://schemas.microsoft.com/office/drawing/2014/main" id="{84E5FE76-0944-8D0D-E137-323416558590}"/>
              </a:ext>
            </a:extLst>
          </p:cNvPr>
          <p:cNvSpPr/>
          <p:nvPr/>
        </p:nvSpPr>
        <p:spPr>
          <a:xfrm>
            <a:off x="6729886" y="6416791"/>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4" name="Flowchart: Connector 33">
            <a:extLst>
              <a:ext uri="{FF2B5EF4-FFF2-40B4-BE49-F238E27FC236}">
                <a16:creationId xmlns:a16="http://schemas.microsoft.com/office/drawing/2014/main" id="{8D326C61-78EE-14FA-1DE5-FD20249EB125}"/>
              </a:ext>
            </a:extLst>
          </p:cNvPr>
          <p:cNvSpPr/>
          <p:nvPr/>
        </p:nvSpPr>
        <p:spPr>
          <a:xfrm>
            <a:off x="7797764" y="6417067"/>
            <a:ext cx="163286" cy="164592"/>
          </a:xfrm>
          <a:prstGeom prst="flowChartConnector">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6" name="Flowchart: Connector 35">
            <a:extLst>
              <a:ext uri="{FF2B5EF4-FFF2-40B4-BE49-F238E27FC236}">
                <a16:creationId xmlns:a16="http://schemas.microsoft.com/office/drawing/2014/main" id="{7C3026F0-972F-1D32-2A25-CACE1595AF14}"/>
              </a:ext>
            </a:extLst>
          </p:cNvPr>
          <p:cNvSpPr/>
          <p:nvPr/>
        </p:nvSpPr>
        <p:spPr>
          <a:xfrm>
            <a:off x="8784000" y="6405062"/>
            <a:ext cx="163285" cy="164592"/>
          </a:xfrm>
          <a:prstGeom prst="flowChartConnector">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7" name="Flowchart: Connector 46">
            <a:extLst>
              <a:ext uri="{FF2B5EF4-FFF2-40B4-BE49-F238E27FC236}">
                <a16:creationId xmlns:a16="http://schemas.microsoft.com/office/drawing/2014/main" id="{C7930918-274C-95EE-CD41-72E9A477ACC8}"/>
              </a:ext>
            </a:extLst>
          </p:cNvPr>
          <p:cNvSpPr/>
          <p:nvPr/>
        </p:nvSpPr>
        <p:spPr>
          <a:xfrm>
            <a:off x="6078524" y="1403331"/>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 name="TextBox 4">
            <a:extLst>
              <a:ext uri="{FF2B5EF4-FFF2-40B4-BE49-F238E27FC236}">
                <a16:creationId xmlns:a16="http://schemas.microsoft.com/office/drawing/2014/main" id="{71A99DFD-9F7F-6267-BCAE-319F2169E696}"/>
              </a:ext>
            </a:extLst>
          </p:cNvPr>
          <p:cNvSpPr txBox="1"/>
          <p:nvPr/>
        </p:nvSpPr>
        <p:spPr>
          <a:xfrm>
            <a:off x="111476" y="1707675"/>
            <a:ext cx="4743293" cy="2283767"/>
          </a:xfrm>
          <a:prstGeom prst="rect">
            <a:avLst/>
          </a:prstGeom>
          <a:noFill/>
        </p:spPr>
        <p:txBody>
          <a:bodyPr wrap="square" lIns="91440" tIns="45720" rIns="91440" bIns="4572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1200" cap="none" spc="0" normalizeH="0" baseline="0" noProof="0">
                <a:ln>
                  <a:noFill/>
                </a:ln>
                <a:solidFill>
                  <a:prstClr val="black"/>
                </a:solidFill>
                <a:effectLst/>
                <a:uLnTx/>
                <a:uFillTx/>
                <a:latin typeface="Aptos" panose="020B0004020202020204" pitchFamily="34" charset="0"/>
              </a:rPr>
              <a:t>Status: </a:t>
            </a:r>
          </a:p>
          <a:p>
            <a:pPr>
              <a:defRPr/>
            </a:pPr>
            <a:r>
              <a:rPr lang="en-US" sz="850" kern="100">
                <a:solidFill>
                  <a:prstClr val="black"/>
                </a:solidFill>
                <a:latin typeface="Aptos" panose="020B0004020202020204" pitchFamily="34" charset="0"/>
                <a:ea typeface="Aptos" panose="020B0004020202020204" pitchFamily="34" charset="0"/>
                <a:cs typeface="Times New Roman"/>
              </a:rPr>
              <a:t>GIN Data updates to be carried to Ren in batches</a:t>
            </a:r>
            <a:endParaRPr kumimoji="0" lang="en-US" sz="850" i="0" u="none" strike="noStrike" kern="100" cap="none" spc="0" normalizeH="0" baseline="0" noProof="0">
              <a:ln>
                <a:noFill/>
              </a:ln>
              <a:solidFill>
                <a:prstClr val="black"/>
              </a:solidFill>
              <a:effectLst/>
              <a:uLnTx/>
              <a:uFillTx/>
              <a:latin typeface="Aptos" panose="020B0004020202020204" pitchFamily="34" charset="0"/>
              <a:ea typeface="Aptos" panose="020B0004020202020204" pitchFamily="34" charset="0"/>
              <a:cs typeface="Times New Roman"/>
            </a:endParaRPr>
          </a:p>
          <a:p>
            <a:pPr marL="0" marR="0" lvl="0" indent="0" algn="l" defTabSz="914400" rtl="0" eaLnBrk="1" fontAlgn="auto" latinLnBrk="0" hangingPunct="1">
              <a:lnSpc>
                <a:spcPct val="115000"/>
              </a:lnSpc>
              <a:spcBef>
                <a:spcPts val="200"/>
              </a:spcBef>
              <a:spcAft>
                <a:spcPts val="0"/>
              </a:spcAft>
              <a:buClrTx/>
              <a:buSzPts val="1000"/>
              <a:buFontTx/>
              <a:buNone/>
              <a:tabLst>
                <a:tab pos="457200" algn="l"/>
              </a:tabLst>
              <a:defRPr/>
            </a:pPr>
            <a:r>
              <a:rPr kumimoji="0" lang="en-US" sz="850" b="1" i="0" u="none" strike="noStrike" kern="100" cap="none" spc="0" normalizeH="0" baseline="0" noProof="0">
                <a:ln>
                  <a:noFill/>
                </a:ln>
                <a:solidFill>
                  <a:prstClr val="black"/>
                </a:solidFill>
                <a:effectLst/>
                <a:uLnTx/>
                <a:uFillTx/>
                <a:latin typeface="Aptos" panose="020B0004020202020204" pitchFamily="34" charset="0"/>
                <a:ea typeface="Aptos" panose="020B0004020202020204" pitchFamily="34" charset="0"/>
                <a:cs typeface="Times New Roman"/>
              </a:rPr>
              <a:t>Highlights:</a:t>
            </a:r>
          </a:p>
          <a:p>
            <a:pPr marL="171450" marR="0" lvl="0" indent="-171450" algn="l" defTabSz="914400" rtl="0" eaLnBrk="1" fontAlgn="auto" latinLnBrk="0" hangingPunct="1">
              <a:lnSpc>
                <a:spcPct val="114999"/>
              </a:lnSpc>
              <a:spcBef>
                <a:spcPts val="200"/>
              </a:spcBef>
              <a:spcAft>
                <a:spcPts val="0"/>
              </a:spcAft>
              <a:buClrTx/>
              <a:buSzPts val="1000"/>
              <a:buFont typeface="Arial" panose="020B0604020202020204" pitchFamily="34" charset="0"/>
              <a:buChar char="•"/>
              <a:tabLst>
                <a:tab pos="457200" algn="l"/>
              </a:tabLst>
              <a:defRPr/>
            </a:pPr>
            <a:r>
              <a:rPr kumimoji="0" lang="en-US" sz="850" b="0" i="0" u="none" strike="noStrike" kern="100" cap="none" spc="0" normalizeH="0" baseline="0" noProof="0">
                <a:ln>
                  <a:noFill/>
                </a:ln>
                <a:solidFill>
                  <a:prstClr val="black"/>
                </a:solidFill>
                <a:effectLst/>
                <a:uLnTx/>
                <a:uFillTx/>
                <a:latin typeface="Aptos" panose="020B0004020202020204" pitchFamily="34" charset="0"/>
                <a:cs typeface="Times New Roman"/>
              </a:rPr>
              <a:t>Yet to start, scope is defined and will start till Cloud based runs are stabilized</a:t>
            </a:r>
            <a:endParaRPr kumimoji="0" lang="en-US" sz="850" b="1" i="0" u="none" strike="noStrike" kern="100" cap="none" spc="0" normalizeH="0" baseline="0" noProof="0">
              <a:ln>
                <a:noFill/>
              </a:ln>
              <a:solidFill>
                <a:prstClr val="black"/>
              </a:solidFill>
              <a:effectLst/>
              <a:uLnTx/>
              <a:uFillTx/>
              <a:latin typeface="Aptos" panose="020B0004020202020204" pitchFamily="34" charset="0"/>
              <a:cs typeface="Times New Roman"/>
            </a:endParaRPr>
          </a:p>
          <a:p>
            <a:pPr marL="0" marR="0" lvl="0" indent="0" algn="l" defTabSz="914400" rtl="0" eaLnBrk="1" fontAlgn="auto" latinLnBrk="0" hangingPunct="1">
              <a:lnSpc>
                <a:spcPct val="114999"/>
              </a:lnSpc>
              <a:spcBef>
                <a:spcPts val="200"/>
              </a:spcBef>
              <a:spcAft>
                <a:spcPts val="0"/>
              </a:spcAft>
              <a:buClrTx/>
              <a:buSzPts val="1000"/>
              <a:buFontTx/>
              <a:buNone/>
              <a:tabLst>
                <a:tab pos="457200" algn="l"/>
              </a:tabLst>
              <a:defRPr/>
            </a:pPr>
            <a:r>
              <a:rPr kumimoji="0" lang="en-US" sz="850" b="1" i="0" u="none" strike="noStrike" kern="100" cap="none" spc="0" normalizeH="0" baseline="0" noProof="0">
                <a:ln>
                  <a:noFill/>
                </a:ln>
                <a:solidFill>
                  <a:prstClr val="black"/>
                </a:solidFill>
                <a:effectLst/>
                <a:uLnTx/>
                <a:uFillTx/>
                <a:latin typeface="Aptos" panose="020B0004020202020204" pitchFamily="34" charset="0"/>
                <a:cs typeface="Times New Roman"/>
              </a:rPr>
              <a:t>Next Steps:</a:t>
            </a:r>
          </a:p>
          <a:p>
            <a:pPr marL="171450" indent="-171450">
              <a:lnSpc>
                <a:spcPct val="114999"/>
              </a:lnSpc>
              <a:spcBef>
                <a:spcPts val="200"/>
              </a:spcBef>
              <a:buSzPts val="1000"/>
              <a:buFont typeface="Arial" panose="020B0604020202020204" pitchFamily="34" charset="0"/>
              <a:buChar char="•"/>
              <a:tabLst>
                <a:tab pos="457200" algn="l"/>
              </a:tabLst>
              <a:defRPr/>
            </a:pPr>
            <a:r>
              <a:rPr lang="en-US" sz="850" kern="100">
                <a:solidFill>
                  <a:prstClr val="black"/>
                </a:solidFill>
                <a:latin typeface="Aptos" panose="020B0004020202020204" pitchFamily="34" charset="0"/>
                <a:cs typeface="Times New Roman"/>
              </a:rPr>
              <a:t>Scope technical definition and process of updating yet to start</a:t>
            </a:r>
          </a:p>
          <a:p>
            <a:pPr marL="171450" indent="-171450">
              <a:lnSpc>
                <a:spcPct val="114999"/>
              </a:lnSpc>
              <a:spcBef>
                <a:spcPts val="200"/>
              </a:spcBef>
              <a:buSzPts val="1000"/>
              <a:buFont typeface="Arial" panose="020B0604020202020204" pitchFamily="34" charset="0"/>
              <a:buChar char="•"/>
              <a:tabLst>
                <a:tab pos="457200" algn="l"/>
              </a:tabLst>
              <a:defRPr/>
            </a:pPr>
            <a:r>
              <a:rPr lang="en-US" sz="850" kern="100">
                <a:solidFill>
                  <a:prstClr val="black"/>
                </a:solidFill>
                <a:latin typeface="Aptos" panose="020B0004020202020204" pitchFamily="34" charset="0"/>
                <a:cs typeface="Times New Roman"/>
              </a:rPr>
              <a:t>Starting with  automation and self remediation.</a:t>
            </a:r>
          </a:p>
          <a:p>
            <a:pPr marL="171450" indent="-171450">
              <a:lnSpc>
                <a:spcPct val="114999"/>
              </a:lnSpc>
              <a:spcBef>
                <a:spcPts val="200"/>
              </a:spcBef>
              <a:buSzPts val="1000"/>
              <a:buFont typeface="Arial" panose="020B0604020202020204" pitchFamily="34" charset="0"/>
              <a:buChar char="•"/>
              <a:tabLst>
                <a:tab pos="457200" algn="l"/>
              </a:tabLst>
              <a:defRPr/>
            </a:pPr>
            <a:r>
              <a:rPr lang="en-US" sz="850" kern="100">
                <a:solidFill>
                  <a:prstClr val="black"/>
                </a:solidFill>
                <a:latin typeface="Aptos" panose="020B0004020202020204" pitchFamily="34" charset="0"/>
                <a:cs typeface="Times New Roman"/>
              </a:rPr>
              <a:t>Vulnerabilities are at all time low with 1200 count.</a:t>
            </a:r>
          </a:p>
          <a:p>
            <a:pPr marL="171450" indent="-171450">
              <a:lnSpc>
                <a:spcPct val="114999"/>
              </a:lnSpc>
              <a:spcBef>
                <a:spcPts val="200"/>
              </a:spcBef>
              <a:buSzPts val="1000"/>
              <a:buFont typeface="Arial" panose="020B0604020202020204" pitchFamily="34" charset="0"/>
              <a:buChar char="•"/>
              <a:tabLst>
                <a:tab pos="457200" algn="l"/>
              </a:tabLst>
              <a:defRPr/>
            </a:pPr>
            <a:r>
              <a:rPr lang="en-US" sz="850" kern="100">
                <a:solidFill>
                  <a:prstClr val="black"/>
                </a:solidFill>
                <a:latin typeface="Aptos" panose="020B0004020202020204" pitchFamily="34" charset="0"/>
                <a:cs typeface="Times New Roman"/>
              </a:rPr>
              <a:t>Use AI agents for remediation work started</a:t>
            </a:r>
          </a:p>
          <a:p>
            <a:pPr marL="171450" indent="-171450">
              <a:lnSpc>
                <a:spcPct val="114999"/>
              </a:lnSpc>
              <a:spcBef>
                <a:spcPts val="200"/>
              </a:spcBef>
              <a:buSzPts val="1000"/>
              <a:buFont typeface="Arial" panose="020B0604020202020204" pitchFamily="34" charset="0"/>
              <a:buChar char="•"/>
              <a:tabLst>
                <a:tab pos="457200" algn="l"/>
              </a:tabLst>
              <a:defRPr/>
            </a:pPr>
            <a:r>
              <a:rPr lang="en-US" sz="850" kern="100">
                <a:solidFill>
                  <a:prstClr val="black"/>
                </a:solidFill>
                <a:latin typeface="Aptos" panose="020B0004020202020204" pitchFamily="34" charset="0"/>
                <a:cs typeface="Times New Roman"/>
              </a:rPr>
              <a:t>Up coming targets to have all the Past due closed by Aug 31st</a:t>
            </a:r>
          </a:p>
          <a:p>
            <a:pPr marL="171450" marR="0" lvl="1" indent="-171450" algn="l" defTabSz="914400" rtl="0" eaLnBrk="1" fontAlgn="auto" latinLnBrk="0" hangingPunct="1">
              <a:lnSpc>
                <a:spcPct val="114999"/>
              </a:lnSpc>
              <a:spcBef>
                <a:spcPts val="200"/>
              </a:spcBef>
              <a:spcAft>
                <a:spcPts val="0"/>
              </a:spcAft>
              <a:buClrTx/>
              <a:buSzPts val="1000"/>
              <a:buFont typeface="Arial" panose="020B0604020202020204" pitchFamily="34" charset="0"/>
              <a:buChar char="•"/>
              <a:tabLst>
                <a:tab pos="457200" algn="l"/>
              </a:tabLst>
              <a:defRPr/>
            </a:pPr>
            <a:endParaRPr kumimoji="0" lang="en-US" sz="850" b="0" i="0" u="none" strike="noStrike" kern="100" cap="none" spc="0" normalizeH="0" baseline="0" noProof="0">
              <a:ln>
                <a:noFill/>
              </a:ln>
              <a:solidFill>
                <a:prstClr val="black"/>
              </a:solidFill>
              <a:effectLst/>
              <a:uLnTx/>
              <a:uFillTx/>
              <a:latin typeface="Aptos" panose="020B0004020202020204" pitchFamily="34" charset="0"/>
              <a:cs typeface="Times New Roman"/>
            </a:endParaRPr>
          </a:p>
          <a:p>
            <a:pPr marL="171450" marR="0" lvl="1" indent="-171450" algn="l" defTabSz="914400" rtl="0" eaLnBrk="1" fontAlgn="auto" latinLnBrk="0" hangingPunct="1">
              <a:lnSpc>
                <a:spcPct val="114999"/>
              </a:lnSpc>
              <a:spcBef>
                <a:spcPts val="200"/>
              </a:spcBef>
              <a:spcAft>
                <a:spcPts val="0"/>
              </a:spcAft>
              <a:buClrTx/>
              <a:buSzPts val="1000"/>
              <a:buFont typeface="Arial" panose="020B0604020202020204" pitchFamily="34" charset="0"/>
              <a:buChar char="•"/>
              <a:tabLst>
                <a:tab pos="457200" algn="l"/>
              </a:tabLst>
              <a:defRPr/>
            </a:pPr>
            <a:endParaRPr kumimoji="0" lang="en-US" sz="900" b="0" i="0" u="none" strike="noStrike" kern="100" cap="none" spc="0" normalizeH="0" baseline="0" noProof="0">
              <a:ln>
                <a:noFill/>
              </a:ln>
              <a:solidFill>
                <a:prstClr val="black"/>
              </a:solidFill>
              <a:effectLst/>
              <a:uLnTx/>
              <a:uFillTx/>
              <a:ea typeface="+mn-ea"/>
              <a:cs typeface="Times New Roman"/>
            </a:endParaRPr>
          </a:p>
          <a:p>
            <a:pPr marL="0" marR="0" lvl="0" indent="0" algn="l" defTabSz="914400" rtl="0" eaLnBrk="1" fontAlgn="auto" latinLnBrk="0" hangingPunct="1">
              <a:lnSpc>
                <a:spcPct val="114999"/>
              </a:lnSpc>
              <a:spcBef>
                <a:spcPts val="200"/>
              </a:spcBef>
              <a:spcAft>
                <a:spcPts val="0"/>
              </a:spcAft>
              <a:buClrTx/>
              <a:buSzPts val="1000"/>
              <a:buFontTx/>
              <a:buNone/>
              <a:tabLst>
                <a:tab pos="457200" algn="l"/>
              </a:tabLst>
              <a:defRPr/>
            </a:pPr>
            <a:endParaRPr kumimoji="0" lang="en-US" sz="800" b="1" i="0" u="sng" strike="noStrike" kern="100" cap="none" spc="0" normalizeH="0" baseline="0" noProof="0">
              <a:ln>
                <a:noFill/>
              </a:ln>
              <a:solidFill>
                <a:prstClr val="black"/>
              </a:solidFill>
              <a:effectLst/>
              <a:uLnTx/>
              <a:uFillTx/>
              <a:latin typeface="Aptos" panose="02110004020202020204"/>
              <a:ea typeface="Aptos" panose="020B0004020202020204" pitchFamily="34" charset="0"/>
              <a:cs typeface="Times New Roman"/>
            </a:endParaRPr>
          </a:p>
        </p:txBody>
      </p:sp>
      <p:sp>
        <p:nvSpPr>
          <p:cNvPr id="3" name="TextBox 2">
            <a:extLst>
              <a:ext uri="{FF2B5EF4-FFF2-40B4-BE49-F238E27FC236}">
                <a16:creationId xmlns:a16="http://schemas.microsoft.com/office/drawing/2014/main" id="{61B44A5A-E773-0C59-DB94-2BD1C933DB57}"/>
              </a:ext>
            </a:extLst>
          </p:cNvPr>
          <p:cNvSpPr txBox="1"/>
          <p:nvPr/>
        </p:nvSpPr>
        <p:spPr>
          <a:xfrm>
            <a:off x="9515820" y="198444"/>
            <a:ext cx="2676180" cy="517320"/>
          </a:xfrm>
          <a:prstGeom prst="rect">
            <a:avLst/>
          </a:prstGeom>
          <a:noFill/>
        </p:spPr>
        <p:txBody>
          <a:bodyPr wrap="none" lIns="0" tIns="0" rIns="0" bIns="0" rtlCol="0" anchor="t">
            <a:noAutofit/>
          </a:bodyPr>
          <a:lstStyle/>
          <a:p>
            <a:pPr>
              <a:lnSpc>
                <a:spcPct val="112000"/>
              </a:lnSpc>
              <a:defRPr/>
            </a:pPr>
            <a:r>
              <a:rPr lang="en-US" sz="1200">
                <a:latin typeface="Aptos"/>
              </a:rPr>
              <a:t>Project Manager : Chalam Buddha</a:t>
            </a:r>
            <a:endParaRPr lang="en-US">
              <a:latin typeface="Aptos"/>
            </a:endParaRPr>
          </a:p>
        </p:txBody>
      </p:sp>
      <p:sp>
        <p:nvSpPr>
          <p:cNvPr id="6" name="Flowchart: Connector 5">
            <a:extLst>
              <a:ext uri="{FF2B5EF4-FFF2-40B4-BE49-F238E27FC236}">
                <a16:creationId xmlns:a16="http://schemas.microsoft.com/office/drawing/2014/main" id="{7F061EA4-355F-C52C-751A-CB7FF44FF7DF}"/>
              </a:ext>
            </a:extLst>
          </p:cNvPr>
          <p:cNvSpPr/>
          <p:nvPr/>
        </p:nvSpPr>
        <p:spPr>
          <a:xfrm>
            <a:off x="4250024" y="1406342"/>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 name="Flowchart: Connector 9">
            <a:extLst>
              <a:ext uri="{FF2B5EF4-FFF2-40B4-BE49-F238E27FC236}">
                <a16:creationId xmlns:a16="http://schemas.microsoft.com/office/drawing/2014/main" id="{19CBC8B1-CFFC-7AFC-1760-186405C840D0}"/>
              </a:ext>
            </a:extLst>
          </p:cNvPr>
          <p:cNvSpPr/>
          <p:nvPr/>
        </p:nvSpPr>
        <p:spPr>
          <a:xfrm>
            <a:off x="3279142" y="1395500"/>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 name="Flowchart: Connector 11">
            <a:extLst>
              <a:ext uri="{FF2B5EF4-FFF2-40B4-BE49-F238E27FC236}">
                <a16:creationId xmlns:a16="http://schemas.microsoft.com/office/drawing/2014/main" id="{D8A4E450-8B35-B736-7C00-285AE450C117}"/>
              </a:ext>
            </a:extLst>
          </p:cNvPr>
          <p:cNvSpPr/>
          <p:nvPr/>
        </p:nvSpPr>
        <p:spPr>
          <a:xfrm>
            <a:off x="5164274" y="1425016"/>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373064805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B9935D-FADF-150B-76BC-0CC132A486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06548A-6907-A650-DA4B-513DB2218804}"/>
              </a:ext>
            </a:extLst>
          </p:cNvPr>
          <p:cNvSpPr>
            <a:spLocks noGrp="1"/>
          </p:cNvSpPr>
          <p:nvPr>
            <p:ph type="title"/>
          </p:nvPr>
        </p:nvSpPr>
        <p:spPr/>
        <p:txBody>
          <a:bodyPr/>
          <a:lstStyle/>
          <a:p>
            <a:r>
              <a:rPr lang="en-US" sz="6500"/>
              <a:t>Projects on Hold</a:t>
            </a:r>
          </a:p>
        </p:txBody>
      </p:sp>
    </p:spTree>
    <p:extLst>
      <p:ext uri="{BB962C8B-B14F-4D97-AF65-F5344CB8AC3E}">
        <p14:creationId xmlns:p14="http://schemas.microsoft.com/office/powerpoint/2010/main" val="3457911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64006F-24B8-0616-AA07-F189924B98A2}"/>
            </a:ext>
          </a:extLst>
        </p:cNvPr>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3056A6B5-6726-12BF-6DD0-0C302451DF9F}"/>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8" imgH="408" progId="TCLayout.ActiveDocument.1">
                  <p:embed/>
                </p:oleObj>
              </mc:Choice>
              <mc:Fallback>
                <p:oleObj name="think-cell Slide" r:id="rId4" imgW="408" imgH="408" progId="TCLayout.ActiveDocument.1">
                  <p:embed/>
                  <p:pic>
                    <p:nvPicPr>
                      <p:cNvPr id="9" name="think-cell data - do not delete" hidden="1">
                        <a:extLst>
                          <a:ext uri="{FF2B5EF4-FFF2-40B4-BE49-F238E27FC236}">
                            <a16:creationId xmlns:a16="http://schemas.microsoft.com/office/drawing/2014/main" id="{3056A6B5-6726-12BF-6DD0-0C302451DF9F}"/>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graphicFrame>
        <p:nvGraphicFramePr>
          <p:cNvPr id="32" name="Group 614">
            <a:extLst>
              <a:ext uri="{FF2B5EF4-FFF2-40B4-BE49-F238E27FC236}">
                <a16:creationId xmlns:a16="http://schemas.microsoft.com/office/drawing/2014/main" id="{C4A008CE-8947-EC78-41C7-0CA04875C0B3}"/>
              </a:ext>
            </a:extLst>
          </p:cNvPr>
          <p:cNvGraphicFramePr>
            <a:graphicFrameLocks noGrp="1"/>
          </p:cNvGraphicFramePr>
          <p:nvPr/>
        </p:nvGraphicFramePr>
        <p:xfrm>
          <a:off x="4980036" y="6305845"/>
          <a:ext cx="7136859" cy="386554"/>
        </p:xfrm>
        <a:graphic>
          <a:graphicData uri="http://schemas.openxmlformats.org/drawingml/2006/table">
            <a:tbl>
              <a:tblPr/>
              <a:tblGrid>
                <a:gridCol w="606425">
                  <a:extLst>
                    <a:ext uri="{9D8B030D-6E8A-4147-A177-3AD203B41FA5}">
                      <a16:colId xmlns:a16="http://schemas.microsoft.com/office/drawing/2014/main" val="20000"/>
                    </a:ext>
                  </a:extLst>
                </a:gridCol>
                <a:gridCol w="307361">
                  <a:extLst>
                    <a:ext uri="{9D8B030D-6E8A-4147-A177-3AD203B41FA5}">
                      <a16:colId xmlns:a16="http://schemas.microsoft.com/office/drawing/2014/main" val="20001"/>
                    </a:ext>
                  </a:extLst>
                </a:gridCol>
                <a:gridCol w="757584">
                  <a:extLst>
                    <a:ext uri="{9D8B030D-6E8A-4147-A177-3AD203B41FA5}">
                      <a16:colId xmlns:a16="http://schemas.microsoft.com/office/drawing/2014/main" val="20002"/>
                    </a:ext>
                  </a:extLst>
                </a:gridCol>
                <a:gridCol w="302812">
                  <a:extLst>
                    <a:ext uri="{9D8B030D-6E8A-4147-A177-3AD203B41FA5}">
                      <a16:colId xmlns:a16="http://schemas.microsoft.com/office/drawing/2014/main" val="20003"/>
                    </a:ext>
                  </a:extLst>
                </a:gridCol>
                <a:gridCol w="665317">
                  <a:extLst>
                    <a:ext uri="{9D8B030D-6E8A-4147-A177-3AD203B41FA5}">
                      <a16:colId xmlns:a16="http://schemas.microsoft.com/office/drawing/2014/main" val="20004"/>
                    </a:ext>
                  </a:extLst>
                </a:gridCol>
                <a:gridCol w="518025">
                  <a:extLst>
                    <a:ext uri="{9D8B030D-6E8A-4147-A177-3AD203B41FA5}">
                      <a16:colId xmlns:a16="http://schemas.microsoft.com/office/drawing/2014/main" val="20005"/>
                    </a:ext>
                  </a:extLst>
                </a:gridCol>
                <a:gridCol w="568469">
                  <a:extLst>
                    <a:ext uri="{9D8B030D-6E8A-4147-A177-3AD203B41FA5}">
                      <a16:colId xmlns:a16="http://schemas.microsoft.com/office/drawing/2014/main" val="20006"/>
                    </a:ext>
                  </a:extLst>
                </a:gridCol>
                <a:gridCol w="368983">
                  <a:extLst>
                    <a:ext uri="{9D8B030D-6E8A-4147-A177-3AD203B41FA5}">
                      <a16:colId xmlns:a16="http://schemas.microsoft.com/office/drawing/2014/main" val="20007"/>
                    </a:ext>
                  </a:extLst>
                </a:gridCol>
                <a:gridCol w="1372005">
                  <a:extLst>
                    <a:ext uri="{9D8B030D-6E8A-4147-A177-3AD203B41FA5}">
                      <a16:colId xmlns:a16="http://schemas.microsoft.com/office/drawing/2014/main" val="20008"/>
                    </a:ext>
                  </a:extLst>
                </a:gridCol>
                <a:gridCol w="378212">
                  <a:extLst>
                    <a:ext uri="{9D8B030D-6E8A-4147-A177-3AD203B41FA5}">
                      <a16:colId xmlns:a16="http://schemas.microsoft.com/office/drawing/2014/main" val="20009"/>
                    </a:ext>
                  </a:extLst>
                </a:gridCol>
                <a:gridCol w="1291666">
                  <a:extLst>
                    <a:ext uri="{9D8B030D-6E8A-4147-A177-3AD203B41FA5}">
                      <a16:colId xmlns:a16="http://schemas.microsoft.com/office/drawing/2014/main" val="20010"/>
                    </a:ext>
                  </a:extLst>
                </a:gridCol>
              </a:tblGrid>
              <a:tr h="386554">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Arial" charset="0"/>
                          <a:cs typeface="Arial" charset="0"/>
                        </a:rPr>
                        <a:t>Status Key</a:t>
                      </a:r>
                      <a:endParaRPr kumimoji="0" lang="en-GB" sz="1600" b="0" i="0" u="none" strike="noStrike" cap="none" normalizeH="0" baseline="0">
                        <a:ln>
                          <a:noFill/>
                        </a:ln>
                        <a:solidFill>
                          <a:srgbClr val="002060"/>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mj-lt"/>
                        </a:rPr>
                        <a:t>C</a:t>
                      </a: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Arial" charset="0"/>
                          <a:cs typeface="Arial" charset="0"/>
                        </a:rPr>
                        <a:t>Completed</a:t>
                      </a:r>
                      <a:endParaRPr kumimoji="0" lang="en-GB" sz="1600" b="0" i="0" u="none" strike="noStrike" cap="none" normalizeH="0" baseline="0">
                        <a:ln>
                          <a:noFill/>
                        </a:ln>
                        <a:solidFill>
                          <a:srgbClr val="002060"/>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On-Schedule</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Major Issues</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Some Issues</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NS</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Not Started</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2" name="Title 1">
            <a:extLst>
              <a:ext uri="{FF2B5EF4-FFF2-40B4-BE49-F238E27FC236}">
                <a16:creationId xmlns:a16="http://schemas.microsoft.com/office/drawing/2014/main" id="{22D950E4-D285-775C-EB5D-D166CFEF57CF}"/>
              </a:ext>
            </a:extLst>
          </p:cNvPr>
          <p:cNvSpPr>
            <a:spLocks noGrp="1"/>
          </p:cNvSpPr>
          <p:nvPr>
            <p:ph type="title"/>
          </p:nvPr>
        </p:nvSpPr>
        <p:spPr>
          <a:xfrm>
            <a:off x="231954" y="101795"/>
            <a:ext cx="9281086" cy="788695"/>
          </a:xfrm>
        </p:spPr>
        <p:txBody>
          <a:bodyPr vert="horz">
            <a:normAutofit/>
          </a:bodyPr>
          <a:lstStyle/>
          <a:p>
            <a:pPr lvl="0">
              <a:lnSpc>
                <a:spcPct val="100000"/>
              </a:lnSpc>
              <a:spcBef>
                <a:spcPts val="0"/>
              </a:spcBef>
              <a:defRPr/>
            </a:pPr>
            <a:r>
              <a:rPr lang="sv-SE" sz="2400">
                <a:solidFill>
                  <a:srgbClr val="29389F"/>
                </a:solidFill>
                <a:latin typeface="Arial" pitchFamily="34" charset="0"/>
                <a:cs typeface="Arial" pitchFamily="34" charset="0"/>
              </a:rPr>
              <a:t>NW Pet – </a:t>
            </a:r>
            <a:r>
              <a:rPr lang="en-US" sz="2400">
                <a:solidFill>
                  <a:srgbClr val="29389F"/>
                </a:solidFill>
                <a:latin typeface="Arial" pitchFamily="34" charset="0"/>
                <a:cs typeface="Arial" pitchFamily="34" charset="0"/>
              </a:rPr>
              <a:t>Convert: Move Informatica Power Center to Python</a:t>
            </a:r>
          </a:p>
        </p:txBody>
      </p:sp>
      <p:graphicFrame>
        <p:nvGraphicFramePr>
          <p:cNvPr id="11" name="Group 513">
            <a:extLst>
              <a:ext uri="{FF2B5EF4-FFF2-40B4-BE49-F238E27FC236}">
                <a16:creationId xmlns:a16="http://schemas.microsoft.com/office/drawing/2014/main" id="{6CE643CA-8419-1F97-0C7E-8D9863BBEE31}"/>
              </a:ext>
            </a:extLst>
          </p:cNvPr>
          <p:cNvGraphicFramePr>
            <a:graphicFrameLocks noGrp="1"/>
          </p:cNvGraphicFramePr>
          <p:nvPr>
            <p:extLst>
              <p:ext uri="{D42A27DB-BD31-4B8C-83A1-F6EECF244321}">
                <p14:modId xmlns:p14="http://schemas.microsoft.com/office/powerpoint/2010/main" val="752098718"/>
              </p:ext>
            </p:extLst>
          </p:nvPr>
        </p:nvGraphicFramePr>
        <p:xfrm>
          <a:off x="234455" y="927650"/>
          <a:ext cx="2638218" cy="344301"/>
        </p:xfrm>
        <a:graphic>
          <a:graphicData uri="http://schemas.openxmlformats.org/drawingml/2006/table">
            <a:tbl>
              <a:tblPr/>
              <a:tblGrid>
                <a:gridCol w="984745">
                  <a:extLst>
                    <a:ext uri="{9D8B030D-6E8A-4147-A177-3AD203B41FA5}">
                      <a16:colId xmlns:a16="http://schemas.microsoft.com/office/drawing/2014/main" val="20000"/>
                    </a:ext>
                  </a:extLst>
                </a:gridCol>
                <a:gridCol w="1653473">
                  <a:extLst>
                    <a:ext uri="{9D8B030D-6E8A-4147-A177-3AD203B41FA5}">
                      <a16:colId xmlns:a16="http://schemas.microsoft.com/office/drawing/2014/main" val="20001"/>
                    </a:ext>
                  </a:extLst>
                </a:gridCol>
              </a:tblGrid>
              <a:tr h="344301">
                <a:tc>
                  <a:txBody>
                    <a:bodyPr/>
                    <a:lstStyle/>
                    <a:p>
                      <a:pPr marL="0" marR="0" lvl="0" indent="0" algn="l" defTabSz="914400" rtl="0" eaLnBrk="0" fontAlgn="base" latinLnBrk="0" hangingPunct="0">
                        <a:lnSpc>
                          <a:spcPct val="95000"/>
                        </a:lnSpc>
                        <a:spcBef>
                          <a:spcPct val="0"/>
                        </a:spcBef>
                        <a:spcAft>
                          <a:spcPct val="50000"/>
                        </a:spcAft>
                        <a:buClrTx/>
                        <a:buSzTx/>
                        <a:buFontTx/>
                        <a:buNone/>
                        <a:tabLst/>
                      </a:pPr>
                      <a:r>
                        <a:rPr kumimoji="0" lang="en-GB" sz="1050" b="1" i="0" u="none" strike="noStrike" kern="1200" cap="none" normalizeH="0" baseline="0">
                          <a:ln>
                            <a:noFill/>
                          </a:ln>
                          <a:solidFill>
                            <a:schemeClr val="bg1"/>
                          </a:solidFill>
                          <a:effectLst/>
                          <a:latin typeface="Arial"/>
                          <a:ea typeface="+mn-ea"/>
                          <a:cs typeface="+mn-cs"/>
                        </a:rPr>
                        <a:t>Status Date:</a:t>
                      </a:r>
                    </a:p>
                  </a:txBody>
                  <a:tcPr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defRPr/>
                      </a:pPr>
                      <a:r>
                        <a:rPr kumimoji="0" lang="en-GB" sz="850" b="1" i="0" u="none" strike="noStrike" kern="1200" cap="none" normalizeH="0" baseline="0">
                          <a:ln>
                            <a:noFill/>
                          </a:ln>
                          <a:solidFill>
                            <a:schemeClr val="tx1"/>
                          </a:solidFill>
                          <a:effectLst/>
                          <a:latin typeface="Aptos" panose="020B0004020202020204" pitchFamily="34" charset="0"/>
                          <a:ea typeface="+mn-ea"/>
                          <a:cs typeface="+mn-cs"/>
                        </a:rPr>
                        <a:t>08/28/26</a:t>
                      </a:r>
                    </a:p>
                  </a:txBody>
                  <a:tcPr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14" name="Table 13">
            <a:extLst>
              <a:ext uri="{FF2B5EF4-FFF2-40B4-BE49-F238E27FC236}">
                <a16:creationId xmlns:a16="http://schemas.microsoft.com/office/drawing/2014/main" id="{B9410070-21F0-7F89-D8FF-E5EDD5144EFC}"/>
              </a:ext>
            </a:extLst>
          </p:cNvPr>
          <p:cNvGraphicFramePr>
            <a:graphicFrameLocks noGrp="1"/>
          </p:cNvGraphicFramePr>
          <p:nvPr>
            <p:extLst>
              <p:ext uri="{D42A27DB-BD31-4B8C-83A1-F6EECF244321}">
                <p14:modId xmlns:p14="http://schemas.microsoft.com/office/powerpoint/2010/main" val="428368474"/>
              </p:ext>
            </p:extLst>
          </p:nvPr>
        </p:nvGraphicFramePr>
        <p:xfrm>
          <a:off x="6640300" y="920667"/>
          <a:ext cx="5468995" cy="749848"/>
        </p:xfrm>
        <a:graphic>
          <a:graphicData uri="http://schemas.openxmlformats.org/drawingml/2006/table">
            <a:tbl>
              <a:tblPr>
                <a:tableStyleId>{5C22544A-7EE6-4342-B048-85BDC9FD1C3A}</a:tableStyleId>
              </a:tblPr>
              <a:tblGrid>
                <a:gridCol w="1068116">
                  <a:extLst>
                    <a:ext uri="{9D8B030D-6E8A-4147-A177-3AD203B41FA5}">
                      <a16:colId xmlns:a16="http://schemas.microsoft.com/office/drawing/2014/main" val="2456552316"/>
                    </a:ext>
                  </a:extLst>
                </a:gridCol>
                <a:gridCol w="946701">
                  <a:extLst>
                    <a:ext uri="{9D8B030D-6E8A-4147-A177-3AD203B41FA5}">
                      <a16:colId xmlns:a16="http://schemas.microsoft.com/office/drawing/2014/main" val="2327174630"/>
                    </a:ext>
                  </a:extLst>
                </a:gridCol>
                <a:gridCol w="1547983">
                  <a:extLst>
                    <a:ext uri="{9D8B030D-6E8A-4147-A177-3AD203B41FA5}">
                      <a16:colId xmlns:a16="http://schemas.microsoft.com/office/drawing/2014/main" val="1100051595"/>
                    </a:ext>
                  </a:extLst>
                </a:gridCol>
                <a:gridCol w="933908">
                  <a:extLst>
                    <a:ext uri="{9D8B030D-6E8A-4147-A177-3AD203B41FA5}">
                      <a16:colId xmlns:a16="http://schemas.microsoft.com/office/drawing/2014/main" val="2042261034"/>
                    </a:ext>
                  </a:extLst>
                </a:gridCol>
                <a:gridCol w="972287">
                  <a:extLst>
                    <a:ext uri="{9D8B030D-6E8A-4147-A177-3AD203B41FA5}">
                      <a16:colId xmlns:a16="http://schemas.microsoft.com/office/drawing/2014/main" val="2815874248"/>
                    </a:ext>
                  </a:extLst>
                </a:gridCol>
              </a:tblGrid>
              <a:tr h="366567">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2026 Budget</a:t>
                      </a:r>
                      <a:r>
                        <a:rPr lang="en-US" sz="1050" b="1" i="0" u="none" strike="noStrike" kern="1200" cap="none" normalizeH="0" baseline="0">
                          <a:ln>
                            <a:noFill/>
                          </a:ln>
                          <a:solidFill>
                            <a:schemeClr val="bg1"/>
                          </a:solidFill>
                          <a:effectLst/>
                          <a:latin typeface="Arial"/>
                          <a:ea typeface="+mn-ea"/>
                          <a:cs typeface="+mn-cs"/>
                        </a:rPr>
                        <a:t> </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YTD Actuals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Remaining 2026 Forecast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Current YE Forecast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Total Budget</a:t>
                      </a:r>
                      <a:r>
                        <a:rPr lang="en-US" sz="1050" b="1" i="0" u="none" strike="noStrike" kern="1200" cap="none" normalizeH="0" baseline="0">
                          <a:ln>
                            <a:noFill/>
                          </a:ln>
                          <a:solidFill>
                            <a:schemeClr val="bg1"/>
                          </a:solidFill>
                          <a:effectLst/>
                          <a:latin typeface="Arial"/>
                          <a:ea typeface="+mn-ea"/>
                          <a:cs typeface="+mn-cs"/>
                        </a:rPr>
                        <a:t> </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383281">
                <a:tc>
                  <a:txBody>
                    <a:bodyPr/>
                    <a:lstStyle/>
                    <a:p>
                      <a:pPr marL="0" marR="0" lvl="0" indent="0" algn="ctr" defTabSz="914400" rtl="0" eaLnBrk="0" fontAlgn="base" latinLnBrk="0" hangingPunct="0">
                        <a:lnSpc>
                          <a:spcPct val="95000"/>
                        </a:lnSpc>
                        <a:spcBef>
                          <a:spcPct val="0"/>
                        </a:spcBef>
                        <a:spcAft>
                          <a:spcPct val="50000"/>
                        </a:spcAft>
                        <a:buClrTx/>
                        <a:buSzTx/>
                        <a:buFontTx/>
                        <a:buNone/>
                        <a:tabLst/>
                        <a:defRPr/>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$230,000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defRPr/>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$214K</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defRPr/>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$142K</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defRPr/>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$356K</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defRPr/>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$356K</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7499024"/>
                  </a:ext>
                </a:extLst>
              </a:tr>
            </a:tbl>
          </a:graphicData>
        </a:graphic>
      </p:graphicFrame>
      <p:graphicFrame>
        <p:nvGraphicFramePr>
          <p:cNvPr id="25" name="Table 24">
            <a:extLst>
              <a:ext uri="{FF2B5EF4-FFF2-40B4-BE49-F238E27FC236}">
                <a16:creationId xmlns:a16="http://schemas.microsoft.com/office/drawing/2014/main" id="{F22E0E64-58E2-AA5C-5D51-DD0543CEF8D8}"/>
              </a:ext>
            </a:extLst>
          </p:cNvPr>
          <p:cNvGraphicFramePr>
            <a:graphicFrameLocks noGrp="1"/>
          </p:cNvGraphicFramePr>
          <p:nvPr/>
        </p:nvGraphicFramePr>
        <p:xfrm>
          <a:off x="2811025" y="920667"/>
          <a:ext cx="3829275" cy="749848"/>
        </p:xfrm>
        <a:graphic>
          <a:graphicData uri="http://schemas.openxmlformats.org/drawingml/2006/table">
            <a:tbl>
              <a:tblPr>
                <a:tableStyleId>{5C22544A-7EE6-4342-B048-85BDC9FD1C3A}</a:tableStyleId>
              </a:tblPr>
              <a:tblGrid>
                <a:gridCol w="1042158">
                  <a:extLst>
                    <a:ext uri="{9D8B030D-6E8A-4147-A177-3AD203B41FA5}">
                      <a16:colId xmlns:a16="http://schemas.microsoft.com/office/drawing/2014/main" val="2456552316"/>
                    </a:ext>
                  </a:extLst>
                </a:gridCol>
                <a:gridCol w="961214">
                  <a:extLst>
                    <a:ext uri="{9D8B030D-6E8A-4147-A177-3AD203B41FA5}">
                      <a16:colId xmlns:a16="http://schemas.microsoft.com/office/drawing/2014/main" val="1100051595"/>
                    </a:ext>
                  </a:extLst>
                </a:gridCol>
                <a:gridCol w="920742">
                  <a:extLst>
                    <a:ext uri="{9D8B030D-6E8A-4147-A177-3AD203B41FA5}">
                      <a16:colId xmlns:a16="http://schemas.microsoft.com/office/drawing/2014/main" val="2042261034"/>
                    </a:ext>
                  </a:extLst>
                </a:gridCol>
                <a:gridCol w="905161">
                  <a:extLst>
                    <a:ext uri="{9D8B030D-6E8A-4147-A177-3AD203B41FA5}">
                      <a16:colId xmlns:a16="http://schemas.microsoft.com/office/drawing/2014/main" val="2815874248"/>
                    </a:ext>
                  </a:extLst>
                </a:gridCol>
              </a:tblGrid>
              <a:tr h="409508">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Overall</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Scope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Schedule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Financials</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340340">
                <a:tc>
                  <a:txBody>
                    <a:bodyPr/>
                    <a:lstStyle/>
                    <a:p>
                      <a:pPr marL="0" marR="0" lvl="0" indent="0" algn="ctr" rtl="0" eaLnBrk="1" fontAlgn="ctr" latinLnBrk="0" hangingPunct="1">
                        <a:lnSpc>
                          <a:spcPct val="95000"/>
                        </a:lnSpc>
                        <a:spcBef>
                          <a:spcPct val="0"/>
                        </a:spcBef>
                        <a:spcAft>
                          <a:spcPct val="50000"/>
                        </a:spcAft>
                        <a:buClrTx/>
                        <a:buSzTx/>
                        <a:buFontTx/>
                        <a:buNone/>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rtl="0" eaLnBrk="1" fontAlgn="ctr" latinLnBrk="0" hangingPunct="1">
                        <a:lnSpc>
                          <a:spcPct val="95000"/>
                        </a:lnSpc>
                        <a:spcBef>
                          <a:spcPct val="0"/>
                        </a:spcBef>
                        <a:spcAft>
                          <a:spcPct val="50000"/>
                        </a:spcAft>
                        <a:buClrTx/>
                        <a:buSzTx/>
                        <a:buFontTx/>
                        <a:buNone/>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7499024"/>
                  </a:ext>
                </a:extLst>
              </a:tr>
            </a:tbl>
          </a:graphicData>
        </a:graphic>
      </p:graphicFrame>
      <p:graphicFrame>
        <p:nvGraphicFramePr>
          <p:cNvPr id="26" name="Group 513">
            <a:extLst>
              <a:ext uri="{FF2B5EF4-FFF2-40B4-BE49-F238E27FC236}">
                <a16:creationId xmlns:a16="http://schemas.microsoft.com/office/drawing/2014/main" id="{BD181F7A-BC08-A875-3C35-6859EF4247AB}"/>
              </a:ext>
            </a:extLst>
          </p:cNvPr>
          <p:cNvGraphicFramePr>
            <a:graphicFrameLocks noGrp="1"/>
          </p:cNvGraphicFramePr>
          <p:nvPr>
            <p:extLst>
              <p:ext uri="{D42A27DB-BD31-4B8C-83A1-F6EECF244321}">
                <p14:modId xmlns:p14="http://schemas.microsoft.com/office/powerpoint/2010/main" val="2980320694"/>
              </p:ext>
            </p:extLst>
          </p:nvPr>
        </p:nvGraphicFramePr>
        <p:xfrm>
          <a:off x="231953" y="1271951"/>
          <a:ext cx="2581575" cy="395688"/>
        </p:xfrm>
        <a:graphic>
          <a:graphicData uri="http://schemas.openxmlformats.org/drawingml/2006/table">
            <a:tbl>
              <a:tblPr/>
              <a:tblGrid>
                <a:gridCol w="998602">
                  <a:extLst>
                    <a:ext uri="{9D8B030D-6E8A-4147-A177-3AD203B41FA5}">
                      <a16:colId xmlns:a16="http://schemas.microsoft.com/office/drawing/2014/main" val="20000"/>
                    </a:ext>
                  </a:extLst>
                </a:gridCol>
                <a:gridCol w="1582973">
                  <a:extLst>
                    <a:ext uri="{9D8B030D-6E8A-4147-A177-3AD203B41FA5}">
                      <a16:colId xmlns:a16="http://schemas.microsoft.com/office/drawing/2014/main" val="20001"/>
                    </a:ext>
                  </a:extLst>
                </a:gridCol>
              </a:tblGrid>
              <a:tr h="344301">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GB" sz="1050" b="1" i="0" u="none" strike="noStrike" kern="1200" cap="none" normalizeH="0" baseline="0">
                          <a:ln>
                            <a:noFill/>
                          </a:ln>
                          <a:solidFill>
                            <a:schemeClr val="bg1"/>
                          </a:solidFill>
                          <a:effectLst/>
                          <a:latin typeface="Arial"/>
                          <a:ea typeface="+mn-ea"/>
                          <a:cs typeface="+mn-cs"/>
                        </a:rPr>
                        <a:t>Target Delivery:</a:t>
                      </a:r>
                    </a:p>
                  </a:txBody>
                  <a:tcPr marL="0" marR="0"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defRPr/>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Dec 15, 2026</a:t>
                      </a:r>
                    </a:p>
                  </a:txBody>
                  <a:tcPr marL="0" marR="0"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27" name="Table 26">
            <a:extLst>
              <a:ext uri="{FF2B5EF4-FFF2-40B4-BE49-F238E27FC236}">
                <a16:creationId xmlns:a16="http://schemas.microsoft.com/office/drawing/2014/main" id="{21A56700-9565-3394-6DE5-5D82967F1FD3}"/>
              </a:ext>
            </a:extLst>
          </p:cNvPr>
          <p:cNvGraphicFramePr>
            <a:graphicFrameLocks noGrp="1"/>
          </p:cNvGraphicFramePr>
          <p:nvPr>
            <p:extLst>
              <p:ext uri="{D42A27DB-BD31-4B8C-83A1-F6EECF244321}">
                <p14:modId xmlns:p14="http://schemas.microsoft.com/office/powerpoint/2010/main" val="3534011008"/>
              </p:ext>
            </p:extLst>
          </p:nvPr>
        </p:nvGraphicFramePr>
        <p:xfrm>
          <a:off x="4854769" y="1696099"/>
          <a:ext cx="7269726" cy="3417549"/>
        </p:xfrm>
        <a:graphic>
          <a:graphicData uri="http://schemas.openxmlformats.org/drawingml/2006/table">
            <a:tbl>
              <a:tblPr>
                <a:tableStyleId>{5C22544A-7EE6-4342-B048-85BDC9FD1C3A}</a:tableStyleId>
              </a:tblPr>
              <a:tblGrid>
                <a:gridCol w="2660865">
                  <a:extLst>
                    <a:ext uri="{9D8B030D-6E8A-4147-A177-3AD203B41FA5}">
                      <a16:colId xmlns:a16="http://schemas.microsoft.com/office/drawing/2014/main" val="2456552316"/>
                    </a:ext>
                  </a:extLst>
                </a:gridCol>
                <a:gridCol w="399341">
                  <a:extLst>
                    <a:ext uri="{9D8B030D-6E8A-4147-A177-3AD203B41FA5}">
                      <a16:colId xmlns:a16="http://schemas.microsoft.com/office/drawing/2014/main" val="1100051595"/>
                    </a:ext>
                  </a:extLst>
                </a:gridCol>
                <a:gridCol w="436434">
                  <a:extLst>
                    <a:ext uri="{9D8B030D-6E8A-4147-A177-3AD203B41FA5}">
                      <a16:colId xmlns:a16="http://schemas.microsoft.com/office/drawing/2014/main" val="2042261034"/>
                    </a:ext>
                  </a:extLst>
                </a:gridCol>
                <a:gridCol w="3773086">
                  <a:extLst>
                    <a:ext uri="{9D8B030D-6E8A-4147-A177-3AD203B41FA5}">
                      <a16:colId xmlns:a16="http://schemas.microsoft.com/office/drawing/2014/main" val="2815874248"/>
                    </a:ext>
                  </a:extLst>
                </a:gridCol>
              </a:tblGrid>
              <a:tr h="304528">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Milestone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Status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Due Date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Notes</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225904">
                <a:tc>
                  <a:txBody>
                    <a:bodyPr/>
                    <a:lstStyle/>
                    <a:p>
                      <a:pPr marL="114300" marR="0" lvl="0" indent="0" algn="l" rtl="0" eaLnBrk="1" fontAlgn="ctr" latinLnBrk="0" hangingPunct="1">
                        <a:lnSpc>
                          <a:spcPct val="95000"/>
                        </a:lnSpc>
                        <a:spcBef>
                          <a:spcPct val="0"/>
                        </a:spcBef>
                        <a:spcAft>
                          <a:spcPct val="50000"/>
                        </a:spcAft>
                        <a:buClrTx/>
                        <a:buSzTx/>
                        <a:buFontTx/>
                        <a:buNone/>
                      </a:pPr>
                      <a:r>
                        <a:rPr lang="en-US" sz="900" kern="1200">
                          <a:solidFill>
                            <a:schemeClr val="dk1"/>
                          </a:solidFill>
                          <a:effectLst/>
                          <a:latin typeface="+mn-lt"/>
                          <a:ea typeface="+mn-ea"/>
                          <a:cs typeface="+mn-cs"/>
                        </a:rPr>
                        <a:t>figma for Informatica to Python</a:t>
                      </a:r>
                      <a:endParaRPr lang="en-US" sz="800" b="0" kern="1200">
                        <a:solidFill>
                          <a:schemeClr val="tx1"/>
                        </a:solidFill>
                        <a:effectLst/>
                        <a:latin typeface="+mn-lt"/>
                        <a:ea typeface="+mn-ea"/>
                        <a:cs typeface="+mn-cs"/>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black"/>
                          </a:solidFill>
                          <a:effectLst/>
                          <a:uLnTx/>
                          <a:uFillTx/>
                          <a:latin typeface="Aptos" panose="02110004020202020204"/>
                          <a:ea typeface="+mn-ea"/>
                          <a:cs typeface="+mn-cs"/>
                        </a:rPr>
                        <a:t>C</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r>
                        <a:rPr lang="en-US" sz="800" b="0" strike="noStrike" kern="1200">
                          <a:solidFill>
                            <a:schemeClr val="tx1"/>
                          </a:solidFill>
                          <a:effectLst/>
                          <a:latin typeface="+mn-lt"/>
                          <a:ea typeface="+mn-ea"/>
                          <a:cs typeface="+mn-cs"/>
                        </a:rPr>
                        <a:t>05/28</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0" hangingPunct="1">
                        <a:lnSpc>
                          <a:spcPts val="600"/>
                        </a:lnSpc>
                        <a:spcBef>
                          <a:spcPts val="300"/>
                        </a:spcBef>
                        <a:spcAft>
                          <a:spcPts val="0"/>
                        </a:spcAft>
                        <a:buClrTx/>
                        <a:buSzTx/>
                        <a:buFontTx/>
                        <a:buNone/>
                        <a:tabLst/>
                        <a:defRPr/>
                      </a:pPr>
                      <a:endParaRPr lang="en-US" sz="800" b="0" i="0">
                        <a:solidFill>
                          <a:srgbClr val="000000"/>
                        </a:solidFill>
                        <a:effectLst/>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748893264"/>
                  </a:ext>
                </a:extLst>
              </a:tr>
              <a:tr h="213379">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900" kern="1200">
                          <a:solidFill>
                            <a:schemeClr val="dk1"/>
                          </a:solidFill>
                          <a:effectLst/>
                          <a:latin typeface="+mn-lt"/>
                          <a:ea typeface="+mn-ea"/>
                          <a:cs typeface="+mn-cs"/>
                        </a:rPr>
                        <a:t>fight specific for RRD-Redesign.</a:t>
                      </a:r>
                      <a:endParaRPr lang="en-US" sz="800">
                        <a:latin typeface="+mn-lt"/>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black"/>
                          </a:solidFill>
                          <a:effectLst/>
                          <a:uLnTx/>
                          <a:uFillTx/>
                          <a:latin typeface="Aptos" panose="02110004020202020204"/>
                          <a:ea typeface="+mn-ea"/>
                          <a:cs typeface="+mn-cs"/>
                        </a:rPr>
                        <a:t>C</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0" hangingPunct="1">
                        <a:lnSpc>
                          <a:spcPct val="95000"/>
                        </a:lnSpc>
                        <a:spcBef>
                          <a:spcPct val="0"/>
                        </a:spcBef>
                        <a:spcAft>
                          <a:spcPct val="50000"/>
                        </a:spcAft>
                        <a:buClrTx/>
                        <a:buSzTx/>
                        <a:buFontTx/>
                        <a:buNone/>
                        <a:tabLst/>
                        <a:defRPr/>
                      </a:pPr>
                      <a:r>
                        <a:rPr lang="en-US" sz="800" b="0" strike="noStrike" kern="1200">
                          <a:solidFill>
                            <a:schemeClr val="tx1"/>
                          </a:solidFill>
                          <a:effectLst/>
                          <a:latin typeface="+mn-lt"/>
                          <a:ea typeface="+mn-ea"/>
                          <a:cs typeface="+mn-cs"/>
                        </a:rPr>
                        <a:t>05/28</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algn="l">
                        <a:lnSpc>
                          <a:spcPct val="114999"/>
                        </a:lnSpc>
                        <a:spcAft>
                          <a:spcPts val="800"/>
                        </a:spcAft>
                        <a:buNone/>
                      </a:pPr>
                      <a:endParaRPr lang="en-US" sz="800" b="0" i="0" u="none" strike="noStrike" kern="100" noProof="0">
                        <a:solidFill>
                          <a:schemeClr val="dk1"/>
                        </a:solidFill>
                        <a:effectLst/>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805706767"/>
                  </a:ext>
                </a:extLst>
              </a:tr>
              <a:tr h="213379">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900" kern="1200">
                          <a:solidFill>
                            <a:schemeClr val="dk1"/>
                          </a:solidFill>
                          <a:effectLst/>
                          <a:latin typeface="+mn-lt"/>
                          <a:ea typeface="+mn-ea"/>
                          <a:cs typeface="+mn-cs"/>
                        </a:rPr>
                        <a:t>Informatica to Python GitHub link</a:t>
                      </a:r>
                      <a:endParaRPr lang="en-US" sz="800">
                        <a:latin typeface="+mn-lt"/>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black"/>
                          </a:solidFill>
                          <a:effectLst/>
                          <a:uLnTx/>
                          <a:uFillTx/>
                          <a:latin typeface="Aptos" panose="02110004020202020204"/>
                          <a:ea typeface="+mn-ea"/>
                          <a:cs typeface="+mn-cs"/>
                        </a:rPr>
                        <a:t>C</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0" hangingPunct="1">
                        <a:lnSpc>
                          <a:spcPct val="95000"/>
                        </a:lnSpc>
                        <a:spcBef>
                          <a:spcPct val="0"/>
                        </a:spcBef>
                        <a:spcAft>
                          <a:spcPct val="50000"/>
                        </a:spcAft>
                        <a:buClrTx/>
                        <a:buSzTx/>
                        <a:buFontTx/>
                        <a:buNone/>
                        <a:tabLst/>
                        <a:defRPr/>
                      </a:pPr>
                      <a:r>
                        <a:rPr lang="en-US" sz="800" b="0" strike="noStrike" kern="1200">
                          <a:solidFill>
                            <a:schemeClr val="tx1"/>
                          </a:solidFill>
                          <a:effectLst/>
                          <a:latin typeface="+mn-lt"/>
                          <a:ea typeface="+mn-ea"/>
                          <a:cs typeface="+mn-cs"/>
                        </a:rPr>
                        <a:t>05/28</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algn="l">
                        <a:lnSpc>
                          <a:spcPct val="114999"/>
                        </a:lnSpc>
                        <a:spcAft>
                          <a:spcPts val="800"/>
                        </a:spcAft>
                        <a:buNone/>
                      </a:pPr>
                      <a:endParaRPr lang="en-US" sz="800" b="0" i="0" u="none" strike="noStrike" kern="100" noProof="0">
                        <a:solidFill>
                          <a:schemeClr val="dk1"/>
                        </a:solidFill>
                        <a:effectLst/>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943924009"/>
                  </a:ext>
                </a:extLst>
              </a:tr>
              <a:tr h="257053">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900" kern="1200">
                          <a:solidFill>
                            <a:schemeClr val="dk1"/>
                          </a:solidFill>
                          <a:effectLst/>
                          <a:latin typeface="+mn-lt"/>
                          <a:ea typeface="+mn-ea"/>
                          <a:cs typeface="+mn-cs"/>
                        </a:rPr>
                        <a:t>Solution Approach PPT</a:t>
                      </a:r>
                      <a:endParaRPr lang="en-US" sz="800" kern="1200">
                        <a:solidFill>
                          <a:schemeClr val="dk1"/>
                        </a:solidFill>
                        <a:latin typeface="+mn-lt"/>
                        <a:ea typeface="+mn-ea"/>
                        <a:cs typeface="+mn-cs"/>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black"/>
                          </a:solidFill>
                          <a:effectLst/>
                          <a:uLnTx/>
                          <a:uFillTx/>
                          <a:latin typeface="Aptos" panose="02110004020202020204"/>
                          <a:ea typeface="+mn-ea"/>
                          <a:cs typeface="+mn-cs"/>
                        </a:rPr>
                        <a:t>C</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685858" rtl="0" eaLnBrk="1" fontAlgn="auto" latinLnBrk="0" hangingPunct="1">
                        <a:lnSpc>
                          <a:spcPct val="100000"/>
                        </a:lnSpc>
                        <a:spcBef>
                          <a:spcPts val="0"/>
                        </a:spcBef>
                        <a:spcAft>
                          <a:spcPts val="0"/>
                        </a:spcAft>
                        <a:buClrTx/>
                        <a:buSzTx/>
                        <a:buFontTx/>
                        <a:buNone/>
                        <a:tabLst/>
                        <a:defRPr/>
                      </a:pPr>
                      <a:r>
                        <a:rPr lang="en-US" sz="800" b="0" strike="noStrike" kern="1200">
                          <a:solidFill>
                            <a:schemeClr val="tx1"/>
                          </a:solidFill>
                          <a:effectLst/>
                          <a:latin typeface="+mn-lt"/>
                          <a:ea typeface="+mn-ea"/>
                          <a:cs typeface="+mn-cs"/>
                        </a:rPr>
                        <a:t>05/28</a:t>
                      </a:r>
                    </a:p>
                    <a:p>
                      <a:pPr algn="ctr"/>
                      <a:endParaRPr lang="en-US" sz="800" b="0" strike="sngStrike" kern="1200">
                        <a:solidFill>
                          <a:schemeClr val="tx1"/>
                        </a:solidFill>
                        <a:effectLst/>
                        <a:latin typeface="+mn-lt"/>
                        <a:ea typeface="+mn-ea"/>
                        <a:cs typeface="+mn-cs"/>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base" latinLnBrk="0" hangingPunct="1">
                        <a:lnSpc>
                          <a:spcPct val="100000"/>
                        </a:lnSpc>
                        <a:spcBef>
                          <a:spcPts val="200"/>
                        </a:spcBef>
                        <a:spcAft>
                          <a:spcPts val="0"/>
                        </a:spcAft>
                        <a:buClrTx/>
                        <a:buSzTx/>
                        <a:buFontTx/>
                        <a:buNone/>
                        <a:tabLst/>
                        <a:defRPr/>
                      </a:pPr>
                      <a:endParaRPr lang="en-US" sz="800" kern="100">
                        <a:solidFill>
                          <a:schemeClr val="dk1"/>
                        </a:solidFill>
                        <a:latin typeface="+mn-lt"/>
                        <a:cs typeface="Times New Roma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387139067"/>
                  </a:ext>
                </a:extLst>
              </a:tr>
              <a:tr h="234224">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900" kern="1200">
                          <a:solidFill>
                            <a:schemeClr val="dk1"/>
                          </a:solidFill>
                          <a:effectLst/>
                          <a:latin typeface="+mn-lt"/>
                          <a:ea typeface="+mn-ea"/>
                          <a:cs typeface="+mn-cs"/>
                        </a:rPr>
                        <a:t>PET Informatica jobs inventory </a:t>
                      </a:r>
                      <a:endParaRPr lang="en-US" sz="800" kern="1200">
                        <a:solidFill>
                          <a:schemeClr val="dk1"/>
                        </a:solidFill>
                        <a:latin typeface="+mn-lt"/>
                        <a:ea typeface="+mn-ea"/>
                        <a:cs typeface="+mn-cs"/>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black"/>
                          </a:solidFill>
                          <a:effectLst/>
                          <a:uLnTx/>
                          <a:uFillTx/>
                          <a:latin typeface="Aptos" panose="02110004020202020204"/>
                          <a:ea typeface="+mn-ea"/>
                          <a:cs typeface="+mn-cs"/>
                        </a:rPr>
                        <a:t>C</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685858" rtl="0" eaLnBrk="1" fontAlgn="auto" latinLnBrk="0" hangingPunct="1">
                        <a:lnSpc>
                          <a:spcPct val="100000"/>
                        </a:lnSpc>
                        <a:spcBef>
                          <a:spcPts val="0"/>
                        </a:spcBef>
                        <a:spcAft>
                          <a:spcPts val="0"/>
                        </a:spcAft>
                        <a:buClrTx/>
                        <a:buSzTx/>
                        <a:buFontTx/>
                        <a:buNone/>
                        <a:tabLst/>
                        <a:defRPr/>
                      </a:pPr>
                      <a:r>
                        <a:rPr lang="en-US" sz="800" b="0" strike="noStrike" kern="1200">
                          <a:solidFill>
                            <a:schemeClr val="tx1"/>
                          </a:solidFill>
                          <a:effectLst/>
                          <a:latin typeface="+mn-lt"/>
                          <a:ea typeface="+mn-ea"/>
                          <a:cs typeface="+mn-cs"/>
                        </a:rPr>
                        <a:t>05/28</a:t>
                      </a:r>
                    </a:p>
                    <a:p>
                      <a:pPr algn="ctr"/>
                      <a:endParaRPr lang="en-US" sz="800" strike="noStrike">
                        <a:latin typeface="+mn-lt"/>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base" latinLnBrk="0" hangingPunct="1">
                        <a:lnSpc>
                          <a:spcPct val="100000"/>
                        </a:lnSpc>
                        <a:spcBef>
                          <a:spcPts val="200"/>
                        </a:spcBef>
                        <a:spcAft>
                          <a:spcPts val="0"/>
                        </a:spcAft>
                        <a:buClrTx/>
                        <a:buSzTx/>
                        <a:buFontTx/>
                        <a:buNone/>
                        <a:tabLst/>
                        <a:defRPr/>
                      </a:pPr>
                      <a:endParaRPr lang="en-US" sz="800" b="0" i="0">
                        <a:solidFill>
                          <a:srgbClr val="000000"/>
                        </a:solidFill>
                        <a:effectLst/>
                        <a:latin typeface="+mn-lt"/>
                        <a:cs typeface="Times New Roma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775249404"/>
                  </a:ext>
                </a:extLst>
              </a:tr>
              <a:tr h="305268">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00" kern="1200">
                          <a:solidFill>
                            <a:schemeClr val="dk1"/>
                          </a:solidFill>
                          <a:latin typeface="+mn-lt"/>
                          <a:ea typeface="+mn-ea"/>
                          <a:cs typeface="+mn-cs"/>
                        </a:rPr>
                        <a:t>Official kick off</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black"/>
                          </a:solidFill>
                          <a:effectLst/>
                          <a:uLnTx/>
                          <a:uFillTx/>
                          <a:latin typeface="Aptos" panose="02110004020202020204"/>
                          <a:ea typeface="+mn-ea"/>
                          <a:cs typeface="+mn-cs"/>
                        </a:rPr>
                        <a:t>C</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800" strike="noStrike">
                          <a:latin typeface="+mn-lt"/>
                        </a:rPr>
                        <a:t>07/10</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rtl="0" eaLnBrk="1" fontAlgn="ctr" latinLnBrk="0" hangingPunct="1">
                        <a:lnSpc>
                          <a:spcPct val="95000"/>
                        </a:lnSpc>
                        <a:spcBef>
                          <a:spcPct val="0"/>
                        </a:spcBef>
                        <a:spcAft>
                          <a:spcPct val="50000"/>
                        </a:spcAft>
                        <a:buClrTx/>
                        <a:buSzTx/>
                        <a:buFontTx/>
                        <a:buNone/>
                      </a:pPr>
                      <a:endParaRPr lang="en-US" sz="800" b="0" strike="noStrike" kern="1200">
                        <a:solidFill>
                          <a:schemeClr val="tx1"/>
                        </a:solidFill>
                        <a:effectLst/>
                        <a:latin typeface="+mn-lt"/>
                        <a:ea typeface="+mn-ea"/>
                        <a:cs typeface="+mn-cs"/>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2277147821"/>
                  </a:ext>
                </a:extLst>
              </a:tr>
              <a:tr h="305268">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00" kern="1200">
                          <a:solidFill>
                            <a:schemeClr val="dk1"/>
                          </a:solidFill>
                          <a:latin typeface="+mn-lt"/>
                          <a:ea typeface="+mn-ea"/>
                          <a:cs typeface="+mn-cs"/>
                        </a:rPr>
                        <a:t>Build project plan based online approval of estimates</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black"/>
                        </a:solidFill>
                        <a:effectLst/>
                        <a:uLnTx/>
                        <a:uFillTx/>
                        <a:latin typeface="Aptos" panose="02110004020202020204"/>
                        <a:ea typeface="+mn-ea"/>
                        <a:cs typeface="+mn-cs"/>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endParaRPr lang="en-US" sz="800" strike="noStrike">
                        <a:latin typeface="+mn-lt"/>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rtl="0" eaLnBrk="1" fontAlgn="ctr" latinLnBrk="0" hangingPunct="1">
                        <a:lnSpc>
                          <a:spcPct val="95000"/>
                        </a:lnSpc>
                        <a:spcBef>
                          <a:spcPct val="0"/>
                        </a:spcBef>
                        <a:spcAft>
                          <a:spcPct val="50000"/>
                        </a:spcAft>
                        <a:buClrTx/>
                        <a:buSzTx/>
                        <a:buFontTx/>
                        <a:buNone/>
                      </a:pPr>
                      <a:endParaRPr lang="en-US" sz="800" b="0" strike="noStrike" kern="1200">
                        <a:solidFill>
                          <a:schemeClr val="tx1"/>
                        </a:solidFill>
                        <a:effectLst/>
                        <a:latin typeface="+mn-lt"/>
                        <a:ea typeface="+mn-ea"/>
                        <a:cs typeface="+mn-cs"/>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676961585"/>
                  </a:ext>
                </a:extLst>
              </a:tr>
              <a:tr h="223959">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00" kern="1200">
                          <a:solidFill>
                            <a:schemeClr val="dk1"/>
                          </a:solidFill>
                          <a:latin typeface="+mn-lt"/>
                          <a:ea typeface="+mn-ea"/>
                          <a:cs typeface="+mn-cs"/>
                        </a:rPr>
                        <a:t>Technical Design</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black"/>
                          </a:solidFill>
                          <a:effectLst/>
                          <a:uLnTx/>
                          <a:uFillTx/>
                          <a:latin typeface="Aptos" panose="02110004020202020204"/>
                          <a:ea typeface="+mn-ea"/>
                          <a:cs typeface="+mn-cs"/>
                        </a:rPr>
                        <a:t>C</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endParaRPr lang="en-US" sz="800" strike="noStrike">
                        <a:latin typeface="+mn-lt"/>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rtl="0" eaLnBrk="1" fontAlgn="ctr" latinLnBrk="0" hangingPunct="1">
                        <a:lnSpc>
                          <a:spcPct val="95000"/>
                        </a:lnSpc>
                        <a:spcBef>
                          <a:spcPct val="0"/>
                        </a:spcBef>
                        <a:spcAft>
                          <a:spcPct val="50000"/>
                        </a:spcAft>
                        <a:buClrTx/>
                        <a:buSzTx/>
                        <a:buFontTx/>
                        <a:buNone/>
                      </a:pPr>
                      <a:endParaRPr lang="en-US" sz="800" b="0" kern="1200">
                        <a:solidFill>
                          <a:schemeClr val="tx1"/>
                        </a:solidFill>
                        <a:effectLst/>
                        <a:latin typeface="+mn-lt"/>
                        <a:ea typeface="+mn-ea"/>
                        <a:cs typeface="+mn-cs"/>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617819655"/>
                  </a:ext>
                </a:extLst>
              </a:tr>
              <a:tr h="385224">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00" kern="1200">
                          <a:solidFill>
                            <a:schemeClr val="dk1"/>
                          </a:solidFill>
                          <a:latin typeface="+mn-lt"/>
                          <a:ea typeface="+mn-ea"/>
                          <a:cs typeface="+mn-cs"/>
                        </a:rPr>
                        <a:t>DDIT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800">
                        <a:latin typeface="+mn-lt"/>
                      </a:endParaRPr>
                    </a:p>
                    <a:p>
                      <a:pPr algn="ctr"/>
                      <a:endParaRPr lang="en-US" sz="800">
                        <a:latin typeface="+mn-l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latin typeface="+mn-l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endParaRPr lang="en-US" sz="800" kern="1200">
                        <a:solidFill>
                          <a:schemeClr val="dk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62506059"/>
                  </a:ext>
                </a:extLst>
              </a:tr>
              <a:tr h="236175">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00" kern="1200">
                          <a:solidFill>
                            <a:schemeClr val="dk1"/>
                          </a:solidFill>
                          <a:latin typeface="+mn-lt"/>
                          <a:ea typeface="+mn-ea"/>
                          <a:cs typeface="+mn-cs"/>
                        </a:rPr>
                        <a:t>E2E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00">
                          <a:latin typeface="+mn-lt"/>
                        </a:rPr>
                        <a:t>NS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latin typeface="+mn-l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endParaRPr lang="en-US" sz="800" kern="1200">
                        <a:solidFill>
                          <a:schemeClr val="dk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20125674"/>
                  </a:ext>
                </a:extLst>
              </a:tr>
              <a:tr h="236175">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00" kern="1200">
                          <a:solidFill>
                            <a:schemeClr val="dk1"/>
                          </a:solidFill>
                          <a:latin typeface="+mn-lt"/>
                          <a:ea typeface="+mn-ea"/>
                          <a:cs typeface="+mn-cs"/>
                        </a:rPr>
                        <a:t>UAT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00">
                          <a:latin typeface="+mn-lt"/>
                        </a:rPr>
                        <a:t>NS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latin typeface="+mn-l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endParaRPr lang="en-US" sz="800" kern="1200">
                        <a:solidFill>
                          <a:schemeClr val="dk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53880179"/>
                  </a:ext>
                </a:extLst>
              </a:tr>
              <a:tr h="236175">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00" kern="1200">
                          <a:solidFill>
                            <a:schemeClr val="dk1"/>
                          </a:solidFill>
                          <a:latin typeface="+mn-lt"/>
                          <a:ea typeface="+mn-ea"/>
                          <a:cs typeface="+mn-cs"/>
                        </a:rPr>
                        <a:t>Stage Validation</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00">
                          <a:latin typeface="+mn-lt"/>
                        </a:rPr>
                        <a:t>NS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latin typeface="+mn-l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endParaRPr lang="en-US" sz="800" kern="1200">
                        <a:solidFill>
                          <a:schemeClr val="dk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64433576"/>
                  </a:ext>
                </a:extLst>
              </a:tr>
            </a:tbl>
          </a:graphicData>
        </a:graphic>
      </p:graphicFrame>
      <p:graphicFrame>
        <p:nvGraphicFramePr>
          <p:cNvPr id="29" name="Table 28">
            <a:extLst>
              <a:ext uri="{FF2B5EF4-FFF2-40B4-BE49-F238E27FC236}">
                <a16:creationId xmlns:a16="http://schemas.microsoft.com/office/drawing/2014/main" id="{A128F3FC-F0E0-0536-E3C2-E81755B71D3E}"/>
              </a:ext>
            </a:extLst>
          </p:cNvPr>
          <p:cNvGraphicFramePr>
            <a:graphicFrameLocks noGrp="1"/>
          </p:cNvGraphicFramePr>
          <p:nvPr/>
        </p:nvGraphicFramePr>
        <p:xfrm>
          <a:off x="4854769" y="5142448"/>
          <a:ext cx="7254527" cy="973582"/>
        </p:xfrm>
        <a:graphic>
          <a:graphicData uri="http://schemas.openxmlformats.org/drawingml/2006/table">
            <a:tbl>
              <a:tblPr>
                <a:tableStyleId>{5C22544A-7EE6-4342-B048-85BDC9FD1C3A}</a:tableStyleId>
              </a:tblPr>
              <a:tblGrid>
                <a:gridCol w="2676817">
                  <a:extLst>
                    <a:ext uri="{9D8B030D-6E8A-4147-A177-3AD203B41FA5}">
                      <a16:colId xmlns:a16="http://schemas.microsoft.com/office/drawing/2014/main" val="2456552316"/>
                    </a:ext>
                  </a:extLst>
                </a:gridCol>
                <a:gridCol w="525650">
                  <a:extLst>
                    <a:ext uri="{9D8B030D-6E8A-4147-A177-3AD203B41FA5}">
                      <a16:colId xmlns:a16="http://schemas.microsoft.com/office/drawing/2014/main" val="1100051595"/>
                    </a:ext>
                  </a:extLst>
                </a:gridCol>
                <a:gridCol w="583806">
                  <a:extLst>
                    <a:ext uri="{9D8B030D-6E8A-4147-A177-3AD203B41FA5}">
                      <a16:colId xmlns:a16="http://schemas.microsoft.com/office/drawing/2014/main" val="2042261034"/>
                    </a:ext>
                  </a:extLst>
                </a:gridCol>
                <a:gridCol w="3468254">
                  <a:extLst>
                    <a:ext uri="{9D8B030D-6E8A-4147-A177-3AD203B41FA5}">
                      <a16:colId xmlns:a16="http://schemas.microsoft.com/office/drawing/2014/main" val="2815874248"/>
                    </a:ext>
                  </a:extLst>
                </a:gridCol>
              </a:tblGrid>
              <a:tr h="258561">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Critical Risks/Issues</a:t>
                      </a:r>
                      <a:endParaRPr kumimoji="0" lang="en-US" sz="1050" b="1" i="0" u="none" strike="noStrike" kern="1200" cap="none" normalizeH="0" baseline="0">
                        <a:ln>
                          <a:noFill/>
                        </a:ln>
                        <a:solidFill>
                          <a:schemeClr val="bg1"/>
                        </a:solidFill>
                        <a:effectLst/>
                        <a:latin typeface="Arial" charset="0"/>
                        <a:ea typeface="+mn-ea"/>
                        <a:cs typeface="+mn-cs"/>
                      </a:endParaRP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Status</a:t>
                      </a:r>
                    </a:p>
                  </a:txBody>
                  <a:tcPr marL="9525" marR="9525" marT="9525" marB="0" anchor="ct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Target Date</a:t>
                      </a:r>
                    </a:p>
                  </a:txBody>
                  <a:tcPr marL="9525" marR="9525" marT="9525" marB="0" anchor="ctr">
                    <a:lnL w="12700">
                      <a:solidFill>
                        <a:schemeClr val="tx1"/>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Resolution / Mitigation</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313508">
                <a:tc>
                  <a:txBody>
                    <a:bodyPr/>
                    <a:lstStyle/>
                    <a:p>
                      <a:pPr marL="0" marR="0" lvl="0" indent="0" algn="l" defTabSz="914400" rtl="0" eaLnBrk="1" fontAlgn="auto" latinLnBrk="0" hangingPunct="1">
                        <a:lnSpc>
                          <a:spcPct val="115000"/>
                        </a:lnSpc>
                        <a:spcBef>
                          <a:spcPts val="0"/>
                        </a:spcBef>
                        <a:spcAft>
                          <a:spcPts val="800"/>
                        </a:spcAft>
                        <a:buClrTx/>
                        <a:buSzTx/>
                        <a:buFontTx/>
                        <a:buNone/>
                        <a:tabLst/>
                        <a:defRPr/>
                      </a:pPr>
                      <a:r>
                        <a:rPr lang="en-US" sz="800">
                          <a:latin typeface="+mn-lt"/>
                        </a:rPr>
                        <a:t>The estimations from the team is not finalized yet, there could be some slippage in scope or budget after the final estimations.</a:t>
                      </a:r>
                    </a:p>
                    <a:p>
                      <a:pPr marL="0" marR="0" lvl="0" indent="0" algn="l" defTabSz="914400" rtl="0" eaLnBrk="1" fontAlgn="auto" latinLnBrk="0" hangingPunct="1">
                        <a:lnSpc>
                          <a:spcPct val="115000"/>
                        </a:lnSpc>
                        <a:spcBef>
                          <a:spcPts val="0"/>
                        </a:spcBef>
                        <a:spcAft>
                          <a:spcPts val="800"/>
                        </a:spcAft>
                        <a:buClrTx/>
                        <a:buSzTx/>
                        <a:buFontTx/>
                        <a:buNone/>
                        <a:tabLst/>
                        <a:defRPr/>
                      </a:pPr>
                      <a:r>
                        <a:rPr lang="en-US" sz="800">
                          <a:latin typeface="+mn-lt"/>
                        </a:rPr>
                        <a:t> </a:t>
                      </a: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r>
                        <a:rPr lang="en-US" sz="800" b="0" kern="1200">
                          <a:solidFill>
                            <a:schemeClr val="tx1"/>
                          </a:solidFill>
                          <a:effectLst/>
                          <a:latin typeface="+mn-lt"/>
                          <a:ea typeface="+mn-ea"/>
                          <a:cs typeface="+mn-cs"/>
                        </a:rPr>
                        <a:t>C</a:t>
                      </a:r>
                    </a:p>
                  </a:txBody>
                  <a:tcPr marL="9525" marR="9525" marT="9525" marB="0" anchor="ct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r>
                        <a:rPr lang="en-US" sz="800" b="0" strike="sngStrike" kern="1200">
                          <a:solidFill>
                            <a:schemeClr val="tx1"/>
                          </a:solidFill>
                          <a:effectLst/>
                          <a:latin typeface="+mn-lt"/>
                          <a:ea typeface="+mn-ea"/>
                          <a:cs typeface="+mn-cs"/>
                        </a:rPr>
                        <a:t>07/10</a:t>
                      </a:r>
                    </a:p>
                    <a:p>
                      <a:pPr marL="0" marR="0" lvl="0" indent="0" algn="ctr" defTabSz="914400" rtl="0" eaLnBrk="1" fontAlgn="ctr" latinLnBrk="0" hangingPunct="1">
                        <a:lnSpc>
                          <a:spcPct val="95000"/>
                        </a:lnSpc>
                        <a:spcBef>
                          <a:spcPct val="0"/>
                        </a:spcBef>
                        <a:spcAft>
                          <a:spcPct val="50000"/>
                        </a:spcAft>
                        <a:buClrTx/>
                        <a:buSzTx/>
                        <a:buFontTx/>
                        <a:buNone/>
                        <a:tabLst/>
                      </a:pPr>
                      <a:r>
                        <a:rPr lang="en-US" sz="800" b="0" strike="noStrike" kern="1200">
                          <a:solidFill>
                            <a:schemeClr val="tx1"/>
                          </a:solidFill>
                          <a:effectLst/>
                          <a:latin typeface="+mn-lt"/>
                          <a:ea typeface="+mn-ea"/>
                          <a:cs typeface="+mn-cs"/>
                        </a:rPr>
                        <a:t>07/28</a:t>
                      </a:r>
                    </a:p>
                  </a:txBody>
                  <a:tcPr marL="9525" marR="9525" marT="9525" marB="0" anchor="ctr">
                    <a:lnL w="12700">
                      <a:solidFill>
                        <a:schemeClr val="tx1"/>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ts val="200"/>
                        </a:spcBef>
                        <a:spcAft>
                          <a:spcPts val="0"/>
                        </a:spcAft>
                        <a:buClrTx/>
                        <a:buSzTx/>
                        <a:buFont typeface="Arial" panose="020B0604020202020204" pitchFamily="34" charset="0"/>
                        <a:buNone/>
                        <a:tabLst/>
                        <a:defRPr/>
                      </a:pPr>
                      <a:r>
                        <a:rPr lang="en-US" sz="800" b="0" strike="noStrike" kern="1200">
                          <a:solidFill>
                            <a:schemeClr val="tx1"/>
                          </a:solidFill>
                          <a:effectLst/>
                          <a:latin typeface="+mn-lt"/>
                          <a:ea typeface="+mn-ea"/>
                          <a:cs typeface="+mn-cs"/>
                        </a:rPr>
                        <a:t>Working with AT line to have estimations</a:t>
                      </a: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7499024"/>
                  </a:ext>
                </a:extLst>
              </a:tr>
            </a:tbl>
          </a:graphicData>
        </a:graphic>
      </p:graphicFrame>
      <p:sp>
        <p:nvSpPr>
          <p:cNvPr id="33" name="Flowchart: Connector 32">
            <a:extLst>
              <a:ext uri="{FF2B5EF4-FFF2-40B4-BE49-F238E27FC236}">
                <a16:creationId xmlns:a16="http://schemas.microsoft.com/office/drawing/2014/main" id="{B7BFF483-B611-D387-D5BD-D2DF99A990A1}"/>
              </a:ext>
            </a:extLst>
          </p:cNvPr>
          <p:cNvSpPr/>
          <p:nvPr/>
        </p:nvSpPr>
        <p:spPr>
          <a:xfrm>
            <a:off x="6729886" y="6416791"/>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4" name="Flowchart: Connector 33">
            <a:extLst>
              <a:ext uri="{FF2B5EF4-FFF2-40B4-BE49-F238E27FC236}">
                <a16:creationId xmlns:a16="http://schemas.microsoft.com/office/drawing/2014/main" id="{FDBFCC94-6D08-9409-9274-582936D9414D}"/>
              </a:ext>
            </a:extLst>
          </p:cNvPr>
          <p:cNvSpPr/>
          <p:nvPr/>
        </p:nvSpPr>
        <p:spPr>
          <a:xfrm>
            <a:off x="7797764" y="6417067"/>
            <a:ext cx="163286" cy="164592"/>
          </a:xfrm>
          <a:prstGeom prst="flowChartConnector">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6" name="Flowchart: Connector 35">
            <a:extLst>
              <a:ext uri="{FF2B5EF4-FFF2-40B4-BE49-F238E27FC236}">
                <a16:creationId xmlns:a16="http://schemas.microsoft.com/office/drawing/2014/main" id="{B3714BC6-0BC6-FB60-2084-77765FCA69C1}"/>
              </a:ext>
            </a:extLst>
          </p:cNvPr>
          <p:cNvSpPr/>
          <p:nvPr/>
        </p:nvSpPr>
        <p:spPr>
          <a:xfrm>
            <a:off x="8784000" y="6405062"/>
            <a:ext cx="163285" cy="164592"/>
          </a:xfrm>
          <a:prstGeom prst="flowChartConnector">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7" name="Flowchart: Connector 46">
            <a:extLst>
              <a:ext uri="{FF2B5EF4-FFF2-40B4-BE49-F238E27FC236}">
                <a16:creationId xmlns:a16="http://schemas.microsoft.com/office/drawing/2014/main" id="{F74266D8-0B3C-12DE-8B94-9AB7366DD017}"/>
              </a:ext>
            </a:extLst>
          </p:cNvPr>
          <p:cNvSpPr/>
          <p:nvPr/>
        </p:nvSpPr>
        <p:spPr>
          <a:xfrm>
            <a:off x="6078524" y="1403331"/>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 name="TextBox 4">
            <a:extLst>
              <a:ext uri="{FF2B5EF4-FFF2-40B4-BE49-F238E27FC236}">
                <a16:creationId xmlns:a16="http://schemas.microsoft.com/office/drawing/2014/main" id="{1CBF89ED-BF89-A935-4965-1C2070E05399}"/>
              </a:ext>
            </a:extLst>
          </p:cNvPr>
          <p:cNvSpPr txBox="1"/>
          <p:nvPr/>
        </p:nvSpPr>
        <p:spPr>
          <a:xfrm>
            <a:off x="111476" y="1707675"/>
            <a:ext cx="4743293" cy="3368679"/>
          </a:xfrm>
          <a:prstGeom prst="rect">
            <a:avLst/>
          </a:prstGeom>
          <a:noFill/>
        </p:spPr>
        <p:txBody>
          <a:bodyPr wrap="square" lIns="91440" tIns="45720" rIns="91440" bIns="4572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1200" cap="none" spc="0" normalizeH="0" baseline="0" noProof="0">
                <a:ln>
                  <a:noFill/>
                </a:ln>
                <a:solidFill>
                  <a:prstClr val="black"/>
                </a:solidFill>
                <a:effectLst/>
                <a:uLnTx/>
                <a:uFillTx/>
                <a:latin typeface="Aptos" panose="020B0004020202020204" pitchFamily="34" charset="0"/>
              </a:rPr>
              <a:t>Status: </a:t>
            </a:r>
          </a:p>
          <a:p>
            <a:pPr marL="171450" marR="0" lvl="0" indent="-171450" algn="l" defTabSz="914400" rtl="0" eaLnBrk="1" fontAlgn="auto" latinLnBrk="0" hangingPunct="1">
              <a:lnSpc>
                <a:spcPct val="115000"/>
              </a:lnSpc>
              <a:spcBef>
                <a:spcPts val="200"/>
              </a:spcBef>
              <a:spcAft>
                <a:spcPts val="0"/>
              </a:spcAft>
              <a:buClrTx/>
              <a:buSzPts val="1000"/>
              <a:buFont typeface="Arial" panose="020B0604020202020204" pitchFamily="34" charset="0"/>
              <a:buChar char="•"/>
              <a:tabLst>
                <a:tab pos="457200" algn="l"/>
              </a:tabLst>
              <a:defRPr/>
            </a:pPr>
            <a:r>
              <a:rPr kumimoji="0" lang="en-US" sz="850" b="1" i="0" u="none" strike="noStrike" kern="100" cap="none" spc="0" normalizeH="0" baseline="0" noProof="0">
                <a:ln>
                  <a:noFill/>
                </a:ln>
                <a:solidFill>
                  <a:prstClr val="black"/>
                </a:solidFill>
                <a:effectLst/>
                <a:uLnTx/>
                <a:uFillTx/>
                <a:latin typeface="Aptos" panose="020B0004020202020204" pitchFamily="34" charset="0"/>
                <a:ea typeface="Aptos" panose="020B0004020202020204" pitchFamily="34" charset="0"/>
                <a:cs typeface="Times New Roman"/>
              </a:rPr>
              <a:t>Business requirements: </a:t>
            </a:r>
            <a:r>
              <a:rPr kumimoji="0" lang="en-US" sz="850" i="0" u="none" strike="noStrike" kern="100" cap="none" spc="0" normalizeH="0" baseline="0" noProof="0">
                <a:ln>
                  <a:noFill/>
                </a:ln>
                <a:solidFill>
                  <a:prstClr val="black"/>
                </a:solidFill>
                <a:effectLst/>
                <a:uLnTx/>
                <a:uFillTx/>
                <a:latin typeface="Aptos" panose="020B0004020202020204" pitchFamily="34" charset="0"/>
                <a:ea typeface="Aptos" panose="020B0004020202020204" pitchFamily="34" charset="0"/>
                <a:cs typeface="Times New Roman"/>
              </a:rPr>
              <a:t>Approved</a:t>
            </a:r>
            <a:r>
              <a:rPr lang="en-US" sz="850" kern="100">
                <a:solidFill>
                  <a:prstClr val="black"/>
                </a:solidFill>
                <a:latin typeface="Aptos" panose="020B0004020202020204" pitchFamily="34" charset="0"/>
                <a:ea typeface="Aptos" panose="020B0004020202020204" pitchFamily="34" charset="0"/>
                <a:cs typeface="Times New Roman"/>
              </a:rPr>
              <a:t>.</a:t>
            </a:r>
            <a:endParaRPr lang="en-US" sz="850" i="0" u="none" strike="noStrike" kern="100" cap="none" spc="0" normalizeH="0" baseline="0" noProof="0">
              <a:ln>
                <a:noFill/>
              </a:ln>
              <a:solidFill>
                <a:prstClr val="black"/>
              </a:solidFill>
              <a:effectLst/>
              <a:uLnTx/>
              <a:uFillTx/>
              <a:latin typeface="Aptos" panose="020B0004020202020204" pitchFamily="34" charset="0"/>
              <a:ea typeface="Aptos" panose="020B0004020202020204" pitchFamily="34" charset="0"/>
              <a:cs typeface="Times New Roman"/>
            </a:endParaRPr>
          </a:p>
          <a:p>
            <a:pPr marL="0" marR="0" lvl="0" indent="0" algn="l" defTabSz="914400" rtl="0" eaLnBrk="1" fontAlgn="auto" latinLnBrk="0" hangingPunct="1">
              <a:lnSpc>
                <a:spcPct val="115000"/>
              </a:lnSpc>
              <a:spcBef>
                <a:spcPts val="200"/>
              </a:spcBef>
              <a:spcAft>
                <a:spcPts val="0"/>
              </a:spcAft>
              <a:buClrTx/>
              <a:buSzPts val="1000"/>
              <a:buFontTx/>
              <a:buNone/>
              <a:tabLst>
                <a:tab pos="457200" algn="l"/>
              </a:tabLst>
              <a:defRPr/>
            </a:pPr>
            <a:r>
              <a:rPr kumimoji="0" lang="en-US" sz="850" b="1" i="0" u="none" strike="noStrike" kern="100" cap="none" spc="0" normalizeH="0" baseline="0" noProof="0">
                <a:ln>
                  <a:noFill/>
                </a:ln>
                <a:solidFill>
                  <a:prstClr val="black"/>
                </a:solidFill>
                <a:effectLst/>
                <a:uLnTx/>
                <a:uFillTx/>
                <a:latin typeface="Aptos" panose="020B0004020202020204" pitchFamily="34" charset="0"/>
                <a:ea typeface="Aptos" panose="020B0004020202020204" pitchFamily="34" charset="0"/>
                <a:cs typeface="Times New Roman"/>
              </a:rPr>
              <a:t>Highlights:</a:t>
            </a:r>
          </a:p>
          <a:p>
            <a:pPr marL="171450" marR="0" lvl="0" indent="-171450" algn="l" defTabSz="914400" rtl="0" eaLnBrk="1" fontAlgn="auto" latinLnBrk="0" hangingPunct="1">
              <a:lnSpc>
                <a:spcPct val="114999"/>
              </a:lnSpc>
              <a:spcBef>
                <a:spcPts val="200"/>
              </a:spcBef>
              <a:spcAft>
                <a:spcPts val="0"/>
              </a:spcAft>
              <a:buClrTx/>
              <a:buSzPts val="1000"/>
              <a:buFont typeface="Arial" panose="020B0604020202020204" pitchFamily="34" charset="0"/>
              <a:buChar char="•"/>
              <a:tabLst>
                <a:tab pos="457200" algn="l"/>
              </a:tabLst>
              <a:defRPr/>
            </a:pPr>
            <a:r>
              <a:rPr kumimoji="0" lang="en-US" sz="850" i="0" u="none" strike="noStrike" kern="100" cap="none" spc="0" normalizeH="0" baseline="0" noProof="0">
                <a:ln>
                  <a:noFill/>
                </a:ln>
                <a:solidFill>
                  <a:prstClr val="black"/>
                </a:solidFill>
                <a:effectLst/>
                <a:uLnTx/>
                <a:uFillTx/>
                <a:latin typeface="Aptos" panose="020B0004020202020204" pitchFamily="34" charset="0"/>
                <a:cs typeface="Times New Roman"/>
              </a:rPr>
              <a:t>Artifacts required for the next step  like estimations and kick off is ready</a:t>
            </a:r>
            <a:endParaRPr lang="en-US" sz="850" i="0" u="none" strike="noStrike" kern="100" cap="none" spc="0" normalizeH="0" baseline="0" noProof="0">
              <a:ln>
                <a:noFill/>
              </a:ln>
              <a:solidFill>
                <a:prstClr val="black"/>
              </a:solidFill>
              <a:effectLst/>
              <a:uLnTx/>
              <a:uFillTx/>
              <a:latin typeface="Aptos" panose="020B0004020202020204" pitchFamily="34" charset="0"/>
              <a:cs typeface="Times New Roman"/>
            </a:endParaRPr>
          </a:p>
          <a:p>
            <a:pPr marL="171450" marR="0" lvl="0" indent="-171450" algn="l" defTabSz="914400" rtl="0" eaLnBrk="1" fontAlgn="auto" latinLnBrk="0" hangingPunct="1">
              <a:lnSpc>
                <a:spcPct val="114999"/>
              </a:lnSpc>
              <a:spcBef>
                <a:spcPts val="200"/>
              </a:spcBef>
              <a:spcAft>
                <a:spcPts val="0"/>
              </a:spcAft>
              <a:buClrTx/>
              <a:buSzPts val="1000"/>
              <a:buFont typeface="Arial" panose="020B0604020202020204" pitchFamily="34" charset="0"/>
              <a:buChar char="•"/>
              <a:tabLst>
                <a:tab pos="457200" algn="l"/>
              </a:tabLst>
              <a:defRPr/>
            </a:pPr>
            <a:r>
              <a:rPr lang="en-US" sz="850" kern="100">
                <a:solidFill>
                  <a:prstClr val="black"/>
                </a:solidFill>
                <a:latin typeface="Aptos" panose="020B0004020202020204" pitchFamily="34" charset="0"/>
                <a:cs typeface="Times New Roman"/>
              </a:rPr>
              <a:t>Official kick off to happen on 06/30.</a:t>
            </a:r>
          </a:p>
          <a:p>
            <a:pPr marL="171450" marR="0" lvl="0" indent="-171450" algn="l" defTabSz="914400" rtl="0" eaLnBrk="1" fontAlgn="auto" latinLnBrk="0" hangingPunct="1">
              <a:lnSpc>
                <a:spcPct val="114999"/>
              </a:lnSpc>
              <a:spcBef>
                <a:spcPts val="200"/>
              </a:spcBef>
              <a:spcAft>
                <a:spcPts val="0"/>
              </a:spcAft>
              <a:buClrTx/>
              <a:buSzPts val="1000"/>
              <a:buFont typeface="Arial" panose="020B0604020202020204" pitchFamily="34" charset="0"/>
              <a:buChar char="•"/>
              <a:tabLst>
                <a:tab pos="457200" algn="l"/>
              </a:tabLst>
              <a:defRPr/>
            </a:pPr>
            <a:r>
              <a:rPr lang="en-US" sz="850" kern="100">
                <a:solidFill>
                  <a:prstClr val="black"/>
                </a:solidFill>
                <a:latin typeface="Aptos" panose="020B0004020202020204" pitchFamily="34" charset="0"/>
                <a:cs typeface="Times New Roman"/>
              </a:rPr>
              <a:t>AT line occupied with Talend to python and focused on the same</a:t>
            </a:r>
          </a:p>
          <a:p>
            <a:pPr marL="171450" marR="0" lvl="0" indent="-171450" algn="l" defTabSz="914400" rtl="0" eaLnBrk="1" fontAlgn="auto" latinLnBrk="0" hangingPunct="1">
              <a:lnSpc>
                <a:spcPct val="114999"/>
              </a:lnSpc>
              <a:spcBef>
                <a:spcPts val="200"/>
              </a:spcBef>
              <a:spcAft>
                <a:spcPts val="0"/>
              </a:spcAft>
              <a:buClrTx/>
              <a:buSzPts val="1000"/>
              <a:buFont typeface="Arial" panose="020B0604020202020204" pitchFamily="34" charset="0"/>
              <a:buChar char="•"/>
              <a:tabLst>
                <a:tab pos="457200" algn="l"/>
              </a:tabLst>
              <a:defRPr/>
            </a:pPr>
            <a:r>
              <a:rPr lang="en-US" sz="850" kern="100">
                <a:solidFill>
                  <a:prstClr val="black"/>
                </a:solidFill>
                <a:latin typeface="Aptos" panose="020B0004020202020204" pitchFamily="34" charset="0"/>
                <a:cs typeface="Times New Roman"/>
              </a:rPr>
              <a:t>Estimations provided by team.</a:t>
            </a:r>
          </a:p>
          <a:p>
            <a:pPr marL="171450" marR="0" lvl="0" indent="-171450" algn="l" defTabSz="914400" rtl="0" eaLnBrk="1" fontAlgn="auto" latinLnBrk="0" hangingPunct="1">
              <a:lnSpc>
                <a:spcPct val="114999"/>
              </a:lnSpc>
              <a:spcBef>
                <a:spcPts val="200"/>
              </a:spcBef>
              <a:spcAft>
                <a:spcPts val="0"/>
              </a:spcAft>
              <a:buClrTx/>
              <a:buSzPts val="1000"/>
              <a:buFont typeface="Arial" panose="020B0604020202020204" pitchFamily="34" charset="0"/>
              <a:buChar char="•"/>
              <a:tabLst>
                <a:tab pos="457200" algn="l"/>
              </a:tabLst>
              <a:defRPr/>
            </a:pPr>
            <a:r>
              <a:rPr lang="en-US" sz="850" i="0" u="none" strike="noStrike" kern="100" cap="none" spc="0" normalizeH="0" baseline="0" noProof="0">
                <a:ln>
                  <a:noFill/>
                </a:ln>
                <a:solidFill>
                  <a:prstClr val="black"/>
                </a:solidFill>
                <a:effectLst/>
                <a:uLnTx/>
                <a:uFillTx/>
                <a:latin typeface="Aptos" panose="020B0004020202020204" pitchFamily="34" charset="0"/>
                <a:cs typeface="Times New Roman"/>
              </a:rPr>
              <a:t>Work started by AT line</a:t>
            </a:r>
          </a:p>
          <a:p>
            <a:pPr marL="171450" marR="0" lvl="0" indent="-171450" algn="l" defTabSz="914400" rtl="0" eaLnBrk="1" fontAlgn="auto" latinLnBrk="0" hangingPunct="1">
              <a:lnSpc>
                <a:spcPct val="114999"/>
              </a:lnSpc>
              <a:spcBef>
                <a:spcPts val="200"/>
              </a:spcBef>
              <a:spcAft>
                <a:spcPts val="0"/>
              </a:spcAft>
              <a:buClrTx/>
              <a:buSzPts val="1000"/>
              <a:buFont typeface="Arial" panose="020B0604020202020204" pitchFamily="34" charset="0"/>
              <a:buChar char="•"/>
              <a:tabLst>
                <a:tab pos="457200" algn="l"/>
              </a:tabLst>
              <a:defRPr/>
            </a:pPr>
            <a:r>
              <a:rPr lang="en-US" sz="850" kern="100">
                <a:solidFill>
                  <a:prstClr val="black"/>
                </a:solidFill>
                <a:latin typeface="Aptos" panose="020B0004020202020204" pitchFamily="34" charset="0"/>
                <a:cs typeface="Times New Roman"/>
              </a:rPr>
              <a:t>Will be given a logical halt after Sep release</a:t>
            </a:r>
            <a:endParaRPr lang="en-US" sz="850" i="0" u="none" strike="noStrike" kern="100" cap="none" spc="0" normalizeH="0" baseline="0" noProof="0">
              <a:ln>
                <a:noFill/>
              </a:ln>
              <a:solidFill>
                <a:prstClr val="black"/>
              </a:solidFill>
              <a:effectLst/>
              <a:uLnTx/>
              <a:uFillTx/>
              <a:latin typeface="Aptos" panose="020B0004020202020204" pitchFamily="34" charset="0"/>
              <a:cs typeface="Times New Roman"/>
            </a:endParaRPr>
          </a:p>
          <a:p>
            <a:pPr marL="0" marR="0" lvl="0" indent="0" algn="l" defTabSz="914400" rtl="0" eaLnBrk="1" fontAlgn="auto" latinLnBrk="0" hangingPunct="1">
              <a:lnSpc>
                <a:spcPct val="114999"/>
              </a:lnSpc>
              <a:spcBef>
                <a:spcPts val="200"/>
              </a:spcBef>
              <a:spcAft>
                <a:spcPts val="0"/>
              </a:spcAft>
              <a:buClrTx/>
              <a:buSzPts val="1000"/>
              <a:buFontTx/>
              <a:buNone/>
              <a:tabLst>
                <a:tab pos="457200" algn="l"/>
              </a:tabLst>
              <a:defRPr/>
            </a:pPr>
            <a:r>
              <a:rPr kumimoji="0" lang="en-US" sz="850" b="1" i="0" u="none" strike="noStrike" kern="100" cap="none" spc="0" normalizeH="0" baseline="0" noProof="0">
                <a:ln>
                  <a:noFill/>
                </a:ln>
                <a:solidFill>
                  <a:prstClr val="black"/>
                </a:solidFill>
                <a:effectLst/>
                <a:uLnTx/>
                <a:uFillTx/>
                <a:latin typeface="Aptos" panose="020B0004020202020204" pitchFamily="34" charset="0"/>
                <a:cs typeface="Times New Roman"/>
              </a:rPr>
              <a:t>Next Steps:</a:t>
            </a:r>
          </a:p>
          <a:p>
            <a:pPr marL="171450" indent="-171450">
              <a:lnSpc>
                <a:spcPct val="114999"/>
              </a:lnSpc>
              <a:spcBef>
                <a:spcPts val="200"/>
              </a:spcBef>
              <a:buSzPts val="1000"/>
              <a:buFont typeface="Arial" panose="020B0604020202020204" pitchFamily="34" charset="0"/>
              <a:buChar char="•"/>
              <a:tabLst>
                <a:tab pos="457200" algn="l"/>
              </a:tabLst>
              <a:defRPr/>
            </a:pPr>
            <a:r>
              <a:rPr lang="en-US" sz="850" kern="100">
                <a:solidFill>
                  <a:prstClr val="black"/>
                </a:solidFill>
                <a:latin typeface="Aptos" panose="020B0004020202020204" pitchFamily="34" charset="0"/>
                <a:cs typeface="Times New Roman"/>
              </a:rPr>
              <a:t>Connecting with EDO team to use any of the AI agents</a:t>
            </a:r>
          </a:p>
          <a:p>
            <a:pPr marL="171450" indent="-171450">
              <a:lnSpc>
                <a:spcPct val="114999"/>
              </a:lnSpc>
              <a:spcBef>
                <a:spcPts val="200"/>
              </a:spcBef>
              <a:buSzPts val="1000"/>
              <a:buFont typeface="Arial" panose="020B0604020202020204" pitchFamily="34" charset="0"/>
              <a:buChar char="•"/>
              <a:tabLst>
                <a:tab pos="457200" algn="l"/>
              </a:tabLst>
              <a:defRPr/>
            </a:pPr>
            <a:r>
              <a:rPr lang="en-US" sz="850" kern="100">
                <a:solidFill>
                  <a:prstClr val="black"/>
                </a:solidFill>
                <a:latin typeface="Aptos" panose="020B0004020202020204" pitchFamily="34" charset="0"/>
                <a:cs typeface="Times New Roman"/>
              </a:rPr>
              <a:t>Kick off scheduled on July 10</a:t>
            </a:r>
            <a:r>
              <a:rPr lang="en-US" sz="850" kern="100" baseline="30000">
                <a:solidFill>
                  <a:prstClr val="black"/>
                </a:solidFill>
                <a:latin typeface="Aptos" panose="020B0004020202020204" pitchFamily="34" charset="0"/>
                <a:cs typeface="Times New Roman"/>
              </a:rPr>
              <a:t>th</a:t>
            </a:r>
            <a:r>
              <a:rPr lang="en-US" sz="850" kern="100">
                <a:solidFill>
                  <a:prstClr val="black"/>
                </a:solidFill>
                <a:latin typeface="Aptos" panose="020B0004020202020204" pitchFamily="34" charset="0"/>
                <a:cs typeface="Times New Roman"/>
              </a:rPr>
              <a:t>.</a:t>
            </a:r>
          </a:p>
          <a:p>
            <a:pPr marL="171450" indent="-171450">
              <a:lnSpc>
                <a:spcPct val="114999"/>
              </a:lnSpc>
              <a:spcBef>
                <a:spcPts val="200"/>
              </a:spcBef>
              <a:buSzPts val="1000"/>
              <a:buFont typeface="Arial" panose="020B0604020202020204" pitchFamily="34" charset="0"/>
              <a:buChar char="•"/>
              <a:tabLst>
                <a:tab pos="457200" algn="l"/>
              </a:tabLst>
              <a:defRPr/>
            </a:pPr>
            <a:r>
              <a:rPr lang="en-US" sz="850" kern="100">
                <a:solidFill>
                  <a:prstClr val="black"/>
                </a:solidFill>
                <a:latin typeface="Aptos" panose="020B0004020202020204" pitchFamily="34" charset="0"/>
                <a:cs typeface="Times New Roman"/>
              </a:rPr>
              <a:t>Estimations provided were not suitable and looking at options to leverage AI agents to reduce the estimations.</a:t>
            </a:r>
          </a:p>
          <a:p>
            <a:pPr marL="171450" indent="-171450">
              <a:lnSpc>
                <a:spcPct val="114999"/>
              </a:lnSpc>
              <a:spcBef>
                <a:spcPts val="200"/>
              </a:spcBef>
              <a:buSzPts val="1000"/>
              <a:buFont typeface="Arial" panose="020B0604020202020204" pitchFamily="34" charset="0"/>
              <a:buChar char="•"/>
              <a:tabLst>
                <a:tab pos="457200" algn="l"/>
              </a:tabLst>
              <a:defRPr/>
            </a:pPr>
            <a:r>
              <a:rPr lang="en-US" sz="850" kern="100">
                <a:solidFill>
                  <a:prstClr val="black"/>
                </a:solidFill>
                <a:latin typeface="Aptos" panose="020B0004020202020204" pitchFamily="34" charset="0"/>
                <a:cs typeface="Times New Roman"/>
              </a:rPr>
              <a:t>Session with EDO team done and insights shared</a:t>
            </a:r>
          </a:p>
          <a:p>
            <a:pPr marL="171450" indent="-171450">
              <a:lnSpc>
                <a:spcPct val="114999"/>
              </a:lnSpc>
              <a:spcBef>
                <a:spcPts val="200"/>
              </a:spcBef>
              <a:buSzPts val="1000"/>
              <a:buFont typeface="Arial" panose="020B0604020202020204" pitchFamily="34" charset="0"/>
              <a:buChar char="•"/>
              <a:tabLst>
                <a:tab pos="457200" algn="l"/>
              </a:tabLst>
              <a:defRPr/>
            </a:pPr>
            <a:r>
              <a:rPr lang="en-US" sz="850" kern="100">
                <a:solidFill>
                  <a:prstClr val="black"/>
                </a:solidFill>
                <a:latin typeface="Aptos" panose="020B0004020202020204" pitchFamily="34" charset="0"/>
                <a:cs typeface="Times New Roman"/>
              </a:rPr>
              <a:t>Team provided the estimations and in process of preparing plan.</a:t>
            </a:r>
          </a:p>
          <a:p>
            <a:pPr marL="171450" indent="-171450">
              <a:lnSpc>
                <a:spcPct val="114999"/>
              </a:lnSpc>
              <a:spcBef>
                <a:spcPts val="200"/>
              </a:spcBef>
              <a:buSzPts val="1000"/>
              <a:buFont typeface="Arial" panose="020B0604020202020204" pitchFamily="34" charset="0"/>
              <a:buChar char="•"/>
              <a:tabLst>
                <a:tab pos="457200" algn="l"/>
              </a:tabLst>
              <a:defRPr/>
            </a:pPr>
            <a:endParaRPr lang="en-US" sz="900" kern="100">
              <a:solidFill>
                <a:prstClr val="black"/>
              </a:solidFill>
              <a:cs typeface="Times New Roman"/>
            </a:endParaRPr>
          </a:p>
          <a:p>
            <a:pPr marL="171450" marR="0" lvl="1" indent="-171450" algn="l" defTabSz="914400" rtl="0" eaLnBrk="1" fontAlgn="auto" latinLnBrk="0" hangingPunct="1">
              <a:lnSpc>
                <a:spcPct val="114999"/>
              </a:lnSpc>
              <a:spcBef>
                <a:spcPts val="200"/>
              </a:spcBef>
              <a:spcAft>
                <a:spcPts val="0"/>
              </a:spcAft>
              <a:buClrTx/>
              <a:buSzPts val="1000"/>
              <a:buFont typeface="Arial" panose="020B0604020202020204" pitchFamily="34" charset="0"/>
              <a:buChar char="•"/>
              <a:tabLst>
                <a:tab pos="457200" algn="l"/>
              </a:tabLst>
              <a:defRPr/>
            </a:pPr>
            <a:endParaRPr kumimoji="0" lang="en-US" sz="900" b="0" i="0" u="none" strike="noStrike" kern="100" cap="none" spc="0" normalizeH="0" baseline="0" noProof="0">
              <a:ln>
                <a:noFill/>
              </a:ln>
              <a:solidFill>
                <a:prstClr val="black"/>
              </a:solidFill>
              <a:effectLst/>
              <a:uLnTx/>
              <a:uFillTx/>
              <a:ea typeface="+mn-ea"/>
              <a:cs typeface="Times New Roman"/>
            </a:endParaRPr>
          </a:p>
          <a:p>
            <a:pPr marL="0" marR="0" lvl="0" indent="0" algn="l" defTabSz="914400" rtl="0" eaLnBrk="1" fontAlgn="auto" latinLnBrk="0" hangingPunct="1">
              <a:lnSpc>
                <a:spcPct val="114999"/>
              </a:lnSpc>
              <a:spcBef>
                <a:spcPts val="200"/>
              </a:spcBef>
              <a:spcAft>
                <a:spcPts val="0"/>
              </a:spcAft>
              <a:buClrTx/>
              <a:buSzPts val="1000"/>
              <a:buFontTx/>
              <a:buNone/>
              <a:tabLst>
                <a:tab pos="457200" algn="l"/>
              </a:tabLst>
              <a:defRPr/>
            </a:pPr>
            <a:endParaRPr kumimoji="0" lang="en-US" sz="800" b="1" i="0" u="sng" strike="noStrike" kern="100" cap="none" spc="0" normalizeH="0" baseline="0" noProof="0">
              <a:ln>
                <a:noFill/>
              </a:ln>
              <a:solidFill>
                <a:prstClr val="black"/>
              </a:solidFill>
              <a:effectLst/>
              <a:uLnTx/>
              <a:uFillTx/>
              <a:latin typeface="Aptos" panose="02110004020202020204"/>
              <a:ea typeface="Aptos" panose="020B0004020202020204" pitchFamily="34" charset="0"/>
              <a:cs typeface="Times New Roman"/>
            </a:endParaRPr>
          </a:p>
        </p:txBody>
      </p:sp>
      <p:sp>
        <p:nvSpPr>
          <p:cNvPr id="3" name="TextBox 2">
            <a:extLst>
              <a:ext uri="{FF2B5EF4-FFF2-40B4-BE49-F238E27FC236}">
                <a16:creationId xmlns:a16="http://schemas.microsoft.com/office/drawing/2014/main" id="{2CB29BB4-1D10-6E3D-085B-1EB15DA15CD4}"/>
              </a:ext>
            </a:extLst>
          </p:cNvPr>
          <p:cNvSpPr txBox="1"/>
          <p:nvPr/>
        </p:nvSpPr>
        <p:spPr>
          <a:xfrm>
            <a:off x="9515820" y="56135"/>
            <a:ext cx="2676180" cy="517320"/>
          </a:xfrm>
          <a:prstGeom prst="rect">
            <a:avLst/>
          </a:prstGeom>
          <a:noFill/>
        </p:spPr>
        <p:txBody>
          <a:bodyPr wrap="none" lIns="0" tIns="0" rIns="0" bIns="0" rtlCol="0" anchor="t">
            <a:noAutofit/>
          </a:bodyPr>
          <a:lstStyle/>
          <a:p>
            <a:pPr>
              <a:lnSpc>
                <a:spcPct val="112000"/>
              </a:lnSpc>
              <a:defRPr/>
            </a:pPr>
            <a:r>
              <a:rPr lang="en-US" sz="1200">
                <a:solidFill>
                  <a:prstClr val="black"/>
                </a:solidFill>
                <a:latin typeface="Aptos" panose="02110004020202020204"/>
              </a:rPr>
              <a:t>Project Manager </a:t>
            </a:r>
            <a:r>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t>: Chalam Buddha</a:t>
            </a:r>
            <a:endParaRPr lang="en-US">
              <a:solidFill>
                <a:prstClr val="black"/>
              </a:solidFill>
              <a:ea typeface="+mn-ea"/>
              <a:cs typeface="+mn-cs"/>
            </a:endParaRPr>
          </a:p>
        </p:txBody>
      </p:sp>
      <p:sp>
        <p:nvSpPr>
          <p:cNvPr id="6" name="Flowchart: Connector 5">
            <a:extLst>
              <a:ext uri="{FF2B5EF4-FFF2-40B4-BE49-F238E27FC236}">
                <a16:creationId xmlns:a16="http://schemas.microsoft.com/office/drawing/2014/main" id="{374731E6-9338-5992-6BB3-EF890D15BE46}"/>
              </a:ext>
            </a:extLst>
          </p:cNvPr>
          <p:cNvSpPr/>
          <p:nvPr/>
        </p:nvSpPr>
        <p:spPr>
          <a:xfrm>
            <a:off x="4250024" y="1406342"/>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 name="Flowchart: Connector 9">
            <a:extLst>
              <a:ext uri="{FF2B5EF4-FFF2-40B4-BE49-F238E27FC236}">
                <a16:creationId xmlns:a16="http://schemas.microsoft.com/office/drawing/2014/main" id="{AAD39F61-5158-9CB3-4AD6-111941D0E88A}"/>
              </a:ext>
            </a:extLst>
          </p:cNvPr>
          <p:cNvSpPr/>
          <p:nvPr/>
        </p:nvSpPr>
        <p:spPr>
          <a:xfrm>
            <a:off x="3318991" y="1410146"/>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7" name="Flowchart: Connector 6">
            <a:extLst>
              <a:ext uri="{FF2B5EF4-FFF2-40B4-BE49-F238E27FC236}">
                <a16:creationId xmlns:a16="http://schemas.microsoft.com/office/drawing/2014/main" id="{A053954C-6D12-FA72-3FE9-BA98652252F3}"/>
              </a:ext>
            </a:extLst>
          </p:cNvPr>
          <p:cNvSpPr/>
          <p:nvPr/>
        </p:nvSpPr>
        <p:spPr>
          <a:xfrm>
            <a:off x="5193576" y="1418797"/>
            <a:ext cx="163286" cy="164592"/>
          </a:xfrm>
          <a:prstGeom prst="flowChartConnector">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 name="Flowchart: Connector 11">
            <a:extLst>
              <a:ext uri="{FF2B5EF4-FFF2-40B4-BE49-F238E27FC236}">
                <a16:creationId xmlns:a16="http://schemas.microsoft.com/office/drawing/2014/main" id="{1D91F465-8211-4E18-81D3-6E17C61F934D}"/>
              </a:ext>
            </a:extLst>
          </p:cNvPr>
          <p:cNvSpPr/>
          <p:nvPr/>
        </p:nvSpPr>
        <p:spPr>
          <a:xfrm>
            <a:off x="7634479" y="4155175"/>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5" name="Flowchart: Connector 14">
            <a:extLst>
              <a:ext uri="{FF2B5EF4-FFF2-40B4-BE49-F238E27FC236}">
                <a16:creationId xmlns:a16="http://schemas.microsoft.com/office/drawing/2014/main" id="{671E1B62-4DF9-40C8-0DA3-11AC52FCDAF1}"/>
              </a:ext>
            </a:extLst>
          </p:cNvPr>
          <p:cNvSpPr/>
          <p:nvPr/>
        </p:nvSpPr>
        <p:spPr>
          <a:xfrm>
            <a:off x="7639487" y="3545390"/>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52489966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CE07C9-4131-8181-9BA6-E7C20C33D1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B61652-6E99-3906-E950-5616A83A9880}"/>
              </a:ext>
            </a:extLst>
          </p:cNvPr>
          <p:cNvSpPr>
            <a:spLocks noGrp="1"/>
          </p:cNvSpPr>
          <p:nvPr>
            <p:ph type="title"/>
          </p:nvPr>
        </p:nvSpPr>
        <p:spPr/>
        <p:txBody>
          <a:bodyPr/>
          <a:lstStyle/>
          <a:p>
            <a:r>
              <a:rPr lang="en-US"/>
              <a:t>Completed Projects</a:t>
            </a:r>
          </a:p>
        </p:txBody>
      </p:sp>
    </p:spTree>
    <p:extLst>
      <p:ext uri="{BB962C8B-B14F-4D97-AF65-F5344CB8AC3E}">
        <p14:creationId xmlns:p14="http://schemas.microsoft.com/office/powerpoint/2010/main" val="341771948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DCD610-4879-B3F0-C877-C25B99B9E718}"/>
            </a:ext>
          </a:extLst>
        </p:cNvPr>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586A8B60-543B-F3A8-8F2E-DF3E230C7D31}"/>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8" imgH="408" progId="TCLayout.ActiveDocument.1">
                  <p:embed/>
                </p:oleObj>
              </mc:Choice>
              <mc:Fallback>
                <p:oleObj name="think-cell Slide" r:id="rId4" imgW="408" imgH="408" progId="TCLayout.ActiveDocument.1">
                  <p:embed/>
                  <p:pic>
                    <p:nvPicPr>
                      <p:cNvPr id="9" name="think-cell data - do not delete" hidden="1">
                        <a:extLst>
                          <a:ext uri="{FF2B5EF4-FFF2-40B4-BE49-F238E27FC236}">
                            <a16:creationId xmlns:a16="http://schemas.microsoft.com/office/drawing/2014/main" id="{586A8B60-543B-F3A8-8F2E-DF3E230C7D31}"/>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graphicFrame>
        <p:nvGraphicFramePr>
          <p:cNvPr id="32" name="Group 614">
            <a:extLst>
              <a:ext uri="{FF2B5EF4-FFF2-40B4-BE49-F238E27FC236}">
                <a16:creationId xmlns:a16="http://schemas.microsoft.com/office/drawing/2014/main" id="{EB976461-3F7B-A6CC-DFB3-748DCE1EE8B1}"/>
              </a:ext>
            </a:extLst>
          </p:cNvPr>
          <p:cNvGraphicFramePr>
            <a:graphicFrameLocks noGrp="1"/>
          </p:cNvGraphicFramePr>
          <p:nvPr/>
        </p:nvGraphicFramePr>
        <p:xfrm>
          <a:off x="5769030" y="6413123"/>
          <a:ext cx="6385451" cy="386554"/>
        </p:xfrm>
        <a:graphic>
          <a:graphicData uri="http://schemas.openxmlformats.org/drawingml/2006/table">
            <a:tbl>
              <a:tblPr/>
              <a:tblGrid>
                <a:gridCol w="542578">
                  <a:extLst>
                    <a:ext uri="{9D8B030D-6E8A-4147-A177-3AD203B41FA5}">
                      <a16:colId xmlns:a16="http://schemas.microsoft.com/office/drawing/2014/main" val="20000"/>
                    </a:ext>
                  </a:extLst>
                </a:gridCol>
                <a:gridCol w="275000">
                  <a:extLst>
                    <a:ext uri="{9D8B030D-6E8A-4147-A177-3AD203B41FA5}">
                      <a16:colId xmlns:a16="http://schemas.microsoft.com/office/drawing/2014/main" val="20001"/>
                    </a:ext>
                  </a:extLst>
                </a:gridCol>
                <a:gridCol w="677821">
                  <a:extLst>
                    <a:ext uri="{9D8B030D-6E8A-4147-A177-3AD203B41FA5}">
                      <a16:colId xmlns:a16="http://schemas.microsoft.com/office/drawing/2014/main" val="20002"/>
                    </a:ext>
                  </a:extLst>
                </a:gridCol>
                <a:gridCol w="270931">
                  <a:extLst>
                    <a:ext uri="{9D8B030D-6E8A-4147-A177-3AD203B41FA5}">
                      <a16:colId xmlns:a16="http://schemas.microsoft.com/office/drawing/2014/main" val="20003"/>
                    </a:ext>
                  </a:extLst>
                </a:gridCol>
                <a:gridCol w="618040">
                  <a:extLst>
                    <a:ext uri="{9D8B030D-6E8A-4147-A177-3AD203B41FA5}">
                      <a16:colId xmlns:a16="http://schemas.microsoft.com/office/drawing/2014/main" val="20004"/>
                    </a:ext>
                  </a:extLst>
                </a:gridCol>
                <a:gridCol w="495300">
                  <a:extLst>
                    <a:ext uri="{9D8B030D-6E8A-4147-A177-3AD203B41FA5}">
                      <a16:colId xmlns:a16="http://schemas.microsoft.com/office/drawing/2014/main" val="20005"/>
                    </a:ext>
                  </a:extLst>
                </a:gridCol>
                <a:gridCol w="454027">
                  <a:extLst>
                    <a:ext uri="{9D8B030D-6E8A-4147-A177-3AD203B41FA5}">
                      <a16:colId xmlns:a16="http://schemas.microsoft.com/office/drawing/2014/main" val="20006"/>
                    </a:ext>
                  </a:extLst>
                </a:gridCol>
                <a:gridCol w="330133">
                  <a:extLst>
                    <a:ext uri="{9D8B030D-6E8A-4147-A177-3AD203B41FA5}">
                      <a16:colId xmlns:a16="http://schemas.microsoft.com/office/drawing/2014/main" val="20007"/>
                    </a:ext>
                  </a:extLst>
                </a:gridCol>
                <a:gridCol w="1227555">
                  <a:extLst>
                    <a:ext uri="{9D8B030D-6E8A-4147-A177-3AD203B41FA5}">
                      <a16:colId xmlns:a16="http://schemas.microsoft.com/office/drawing/2014/main" val="20008"/>
                    </a:ext>
                  </a:extLst>
                </a:gridCol>
                <a:gridCol w="338392">
                  <a:extLst>
                    <a:ext uri="{9D8B030D-6E8A-4147-A177-3AD203B41FA5}">
                      <a16:colId xmlns:a16="http://schemas.microsoft.com/office/drawing/2014/main" val="20009"/>
                    </a:ext>
                  </a:extLst>
                </a:gridCol>
                <a:gridCol w="1155674">
                  <a:extLst>
                    <a:ext uri="{9D8B030D-6E8A-4147-A177-3AD203B41FA5}">
                      <a16:colId xmlns:a16="http://schemas.microsoft.com/office/drawing/2014/main" val="20010"/>
                    </a:ext>
                  </a:extLst>
                </a:gridCol>
              </a:tblGrid>
              <a:tr h="386554">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Arial" charset="0"/>
                          <a:cs typeface="Arial" charset="0"/>
                        </a:rPr>
                        <a:t>Status Key</a:t>
                      </a:r>
                      <a:endParaRPr kumimoji="0" lang="en-GB" sz="1600" b="0" i="0" u="none" strike="noStrike" cap="none" normalizeH="0" baseline="0">
                        <a:ln>
                          <a:noFill/>
                        </a:ln>
                        <a:solidFill>
                          <a:srgbClr val="002060"/>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mj-lt"/>
                        </a:rPr>
                        <a:t>C</a:t>
                      </a: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Arial" charset="0"/>
                          <a:cs typeface="Arial" charset="0"/>
                        </a:rPr>
                        <a:t>Completed</a:t>
                      </a:r>
                      <a:endParaRPr kumimoji="0" lang="en-GB" sz="1600" b="0" i="0" u="none" strike="noStrike" cap="none" normalizeH="0" baseline="0">
                        <a:ln>
                          <a:noFill/>
                        </a:ln>
                        <a:solidFill>
                          <a:srgbClr val="002060"/>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On-Schedule</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Major Issues</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Some Issues</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NS</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Not Started</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2" name="Title 1">
            <a:extLst>
              <a:ext uri="{FF2B5EF4-FFF2-40B4-BE49-F238E27FC236}">
                <a16:creationId xmlns:a16="http://schemas.microsoft.com/office/drawing/2014/main" id="{CCA2534B-42DB-308F-67A5-259B7D481165}"/>
              </a:ext>
            </a:extLst>
          </p:cNvPr>
          <p:cNvSpPr>
            <a:spLocks noGrp="1"/>
          </p:cNvSpPr>
          <p:nvPr>
            <p:ph type="title"/>
          </p:nvPr>
        </p:nvSpPr>
        <p:spPr>
          <a:xfrm>
            <a:off x="269945" y="58323"/>
            <a:ext cx="7566463" cy="517320"/>
          </a:xfrm>
        </p:spPr>
        <p:txBody>
          <a:bodyPr vert="horz">
            <a:normAutofit/>
          </a:bodyPr>
          <a:lstStyle/>
          <a:p>
            <a:r>
              <a:rPr>
                <a:solidFill>
                  <a:srgbClr val="29389F"/>
                </a:solidFill>
              </a:rPr>
              <a:t>Pet Paperless </a:t>
            </a:r>
            <a:r>
              <a:rPr lang="en-US" err="1">
                <a:solidFill>
                  <a:srgbClr val="29389F"/>
                </a:solidFill>
              </a:rPr>
              <a:t>eDelivery</a:t>
            </a:r>
            <a:r>
              <a:rPr>
                <a:solidFill>
                  <a:srgbClr val="29389F"/>
                </a:solidFill>
              </a:rPr>
              <a:t> – Status</a:t>
            </a:r>
          </a:p>
        </p:txBody>
      </p:sp>
      <p:graphicFrame>
        <p:nvGraphicFramePr>
          <p:cNvPr id="11" name="Group 513">
            <a:extLst>
              <a:ext uri="{FF2B5EF4-FFF2-40B4-BE49-F238E27FC236}">
                <a16:creationId xmlns:a16="http://schemas.microsoft.com/office/drawing/2014/main" id="{2B686D89-6C93-C803-3900-DD08FBD7BB43}"/>
              </a:ext>
            </a:extLst>
          </p:cNvPr>
          <p:cNvGraphicFramePr>
            <a:graphicFrameLocks noGrp="1"/>
          </p:cNvGraphicFramePr>
          <p:nvPr>
            <p:extLst>
              <p:ext uri="{D42A27DB-BD31-4B8C-83A1-F6EECF244321}">
                <p14:modId xmlns:p14="http://schemas.microsoft.com/office/powerpoint/2010/main" val="1376790840"/>
              </p:ext>
            </p:extLst>
          </p:nvPr>
        </p:nvGraphicFramePr>
        <p:xfrm>
          <a:off x="269945" y="855236"/>
          <a:ext cx="2742128" cy="350605"/>
        </p:xfrm>
        <a:graphic>
          <a:graphicData uri="http://schemas.openxmlformats.org/drawingml/2006/table">
            <a:tbl>
              <a:tblPr/>
              <a:tblGrid>
                <a:gridCol w="1019602">
                  <a:extLst>
                    <a:ext uri="{9D8B030D-6E8A-4147-A177-3AD203B41FA5}">
                      <a16:colId xmlns:a16="http://schemas.microsoft.com/office/drawing/2014/main" val="20000"/>
                    </a:ext>
                  </a:extLst>
                </a:gridCol>
                <a:gridCol w="1722526">
                  <a:extLst>
                    <a:ext uri="{9D8B030D-6E8A-4147-A177-3AD203B41FA5}">
                      <a16:colId xmlns:a16="http://schemas.microsoft.com/office/drawing/2014/main" val="20001"/>
                    </a:ext>
                  </a:extLst>
                </a:gridCol>
              </a:tblGrid>
              <a:tr h="350605">
                <a:tc>
                  <a:txBody>
                    <a:bodyPr/>
                    <a:lstStyle/>
                    <a:p>
                      <a:pPr marL="0" marR="0" lvl="0" indent="0" algn="l" defTabSz="914400" rtl="0" eaLnBrk="0" fontAlgn="base" latinLnBrk="0" hangingPunct="0">
                        <a:lnSpc>
                          <a:spcPct val="95000"/>
                        </a:lnSpc>
                        <a:spcBef>
                          <a:spcPct val="0"/>
                        </a:spcBef>
                        <a:spcAft>
                          <a:spcPct val="50000"/>
                        </a:spcAft>
                        <a:buClrTx/>
                        <a:buSzTx/>
                        <a:buFontTx/>
                        <a:buNone/>
                        <a:tabLst/>
                      </a:pPr>
                      <a:r>
                        <a:rPr kumimoji="0" lang="en-GB" sz="1050" b="1" i="0" u="none" strike="noStrike" kern="1200" cap="none" normalizeH="0" baseline="0">
                          <a:ln>
                            <a:noFill/>
                          </a:ln>
                          <a:solidFill>
                            <a:schemeClr val="bg1"/>
                          </a:solidFill>
                          <a:effectLst/>
                          <a:latin typeface="Arial"/>
                          <a:ea typeface="+mn-ea"/>
                          <a:cs typeface="+mn-cs"/>
                        </a:rPr>
                        <a:t>Status Date:</a:t>
                      </a:r>
                    </a:p>
                  </a:txBody>
                  <a:tcPr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GB" sz="850" b="1" i="0" u="none" strike="noStrike" kern="1200" cap="none" normalizeH="0" baseline="0">
                          <a:ln>
                            <a:noFill/>
                          </a:ln>
                          <a:solidFill>
                            <a:schemeClr val="tx1"/>
                          </a:solidFill>
                          <a:effectLst/>
                          <a:latin typeface="Aptos" panose="020B0004020202020204" pitchFamily="34" charset="0"/>
                          <a:ea typeface="+mn-ea"/>
                          <a:cs typeface="+mn-cs"/>
                        </a:rPr>
                        <a:t>8/21/2026</a:t>
                      </a:r>
                    </a:p>
                  </a:txBody>
                  <a:tcPr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14" name="Table 13">
            <a:extLst>
              <a:ext uri="{FF2B5EF4-FFF2-40B4-BE49-F238E27FC236}">
                <a16:creationId xmlns:a16="http://schemas.microsoft.com/office/drawing/2014/main" id="{E1A12F7C-7410-0E83-63DD-08372EC5BD28}"/>
              </a:ext>
            </a:extLst>
          </p:cNvPr>
          <p:cNvGraphicFramePr>
            <a:graphicFrameLocks noGrp="1"/>
          </p:cNvGraphicFramePr>
          <p:nvPr>
            <p:extLst>
              <p:ext uri="{D42A27DB-BD31-4B8C-83A1-F6EECF244321}">
                <p14:modId xmlns:p14="http://schemas.microsoft.com/office/powerpoint/2010/main" val="1309455167"/>
              </p:ext>
            </p:extLst>
          </p:nvPr>
        </p:nvGraphicFramePr>
        <p:xfrm>
          <a:off x="6751622" y="845835"/>
          <a:ext cx="5380911" cy="752736"/>
        </p:xfrm>
        <a:graphic>
          <a:graphicData uri="http://schemas.openxmlformats.org/drawingml/2006/table">
            <a:tbl>
              <a:tblPr>
                <a:tableStyleId>{5C22544A-7EE6-4342-B048-85BDC9FD1C3A}</a:tableStyleId>
              </a:tblPr>
              <a:tblGrid>
                <a:gridCol w="1050913">
                  <a:extLst>
                    <a:ext uri="{9D8B030D-6E8A-4147-A177-3AD203B41FA5}">
                      <a16:colId xmlns:a16="http://schemas.microsoft.com/office/drawing/2014/main" val="2456552316"/>
                    </a:ext>
                  </a:extLst>
                </a:gridCol>
                <a:gridCol w="931453">
                  <a:extLst>
                    <a:ext uri="{9D8B030D-6E8A-4147-A177-3AD203B41FA5}">
                      <a16:colId xmlns:a16="http://schemas.microsoft.com/office/drawing/2014/main" val="2327174630"/>
                    </a:ext>
                  </a:extLst>
                </a:gridCol>
                <a:gridCol w="1523051">
                  <a:extLst>
                    <a:ext uri="{9D8B030D-6E8A-4147-A177-3AD203B41FA5}">
                      <a16:colId xmlns:a16="http://schemas.microsoft.com/office/drawing/2014/main" val="1100051595"/>
                    </a:ext>
                  </a:extLst>
                </a:gridCol>
                <a:gridCol w="918866">
                  <a:extLst>
                    <a:ext uri="{9D8B030D-6E8A-4147-A177-3AD203B41FA5}">
                      <a16:colId xmlns:a16="http://schemas.microsoft.com/office/drawing/2014/main" val="2042261034"/>
                    </a:ext>
                  </a:extLst>
                </a:gridCol>
                <a:gridCol w="956628">
                  <a:extLst>
                    <a:ext uri="{9D8B030D-6E8A-4147-A177-3AD203B41FA5}">
                      <a16:colId xmlns:a16="http://schemas.microsoft.com/office/drawing/2014/main" val="2815874248"/>
                    </a:ext>
                  </a:extLst>
                </a:gridCol>
              </a:tblGrid>
              <a:tr h="397258">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2026 Budget</a:t>
                      </a:r>
                      <a:r>
                        <a:rPr lang="en-US" sz="1050" b="1" i="0" u="none" strike="noStrike" kern="1200" cap="none" normalizeH="0" baseline="0">
                          <a:ln>
                            <a:noFill/>
                          </a:ln>
                          <a:solidFill>
                            <a:schemeClr val="bg1"/>
                          </a:solidFill>
                          <a:effectLst/>
                          <a:latin typeface="Arial"/>
                          <a:ea typeface="+mn-ea"/>
                          <a:cs typeface="+mn-cs"/>
                        </a:rPr>
                        <a:t> </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YTD </a:t>
                      </a:r>
                      <a:r>
                        <a:rPr kumimoji="0" lang="en-US" sz="1050" b="1" i="0" u="none" strike="noStrike" kern="1200" cap="none" normalizeH="0" baseline="0">
                          <a:ln>
                            <a:noFill/>
                          </a:ln>
                          <a:solidFill>
                            <a:schemeClr val="bg1"/>
                          </a:solidFill>
                          <a:effectLst/>
                          <a:latin typeface="Arial"/>
                          <a:ea typeface="+mn-ea"/>
                          <a:cs typeface="+mn-cs"/>
                        </a:rPr>
                        <a:t>Actuals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Remaining 2026 Forecast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Total </a:t>
                      </a:r>
                    </a:p>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Actuals +Fcst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Total </a:t>
                      </a:r>
                    </a:p>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Budget</a:t>
                      </a:r>
                      <a:r>
                        <a:rPr lang="en-US" sz="1050" b="1" i="0" u="none" strike="noStrike" kern="1200" cap="none" normalizeH="0" baseline="0">
                          <a:ln>
                            <a:noFill/>
                          </a:ln>
                          <a:solidFill>
                            <a:schemeClr val="bg1"/>
                          </a:solidFill>
                          <a:effectLst/>
                          <a:latin typeface="Arial"/>
                          <a:ea typeface="+mn-ea"/>
                          <a:cs typeface="+mn-cs"/>
                        </a:rPr>
                        <a:t> </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355478">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$990,000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$933,321</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defRPr/>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$52,920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$986,242</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$990,000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7499024"/>
                  </a:ext>
                </a:extLst>
              </a:tr>
            </a:tbl>
          </a:graphicData>
        </a:graphic>
      </p:graphicFrame>
      <p:graphicFrame>
        <p:nvGraphicFramePr>
          <p:cNvPr id="25" name="Table 24">
            <a:extLst>
              <a:ext uri="{FF2B5EF4-FFF2-40B4-BE49-F238E27FC236}">
                <a16:creationId xmlns:a16="http://schemas.microsoft.com/office/drawing/2014/main" id="{FF2BC6A0-20BB-4B9F-83E1-192BE81EFB50}"/>
              </a:ext>
            </a:extLst>
          </p:cNvPr>
          <p:cNvGraphicFramePr>
            <a:graphicFrameLocks noGrp="1"/>
          </p:cNvGraphicFramePr>
          <p:nvPr/>
        </p:nvGraphicFramePr>
        <p:xfrm>
          <a:off x="2922347" y="847279"/>
          <a:ext cx="3829275" cy="749848"/>
        </p:xfrm>
        <a:graphic>
          <a:graphicData uri="http://schemas.openxmlformats.org/drawingml/2006/table">
            <a:tbl>
              <a:tblPr>
                <a:tableStyleId>{5C22544A-7EE6-4342-B048-85BDC9FD1C3A}</a:tableStyleId>
              </a:tblPr>
              <a:tblGrid>
                <a:gridCol w="1042158">
                  <a:extLst>
                    <a:ext uri="{9D8B030D-6E8A-4147-A177-3AD203B41FA5}">
                      <a16:colId xmlns:a16="http://schemas.microsoft.com/office/drawing/2014/main" val="2456552316"/>
                    </a:ext>
                  </a:extLst>
                </a:gridCol>
                <a:gridCol w="961214">
                  <a:extLst>
                    <a:ext uri="{9D8B030D-6E8A-4147-A177-3AD203B41FA5}">
                      <a16:colId xmlns:a16="http://schemas.microsoft.com/office/drawing/2014/main" val="1100051595"/>
                    </a:ext>
                  </a:extLst>
                </a:gridCol>
                <a:gridCol w="920742">
                  <a:extLst>
                    <a:ext uri="{9D8B030D-6E8A-4147-A177-3AD203B41FA5}">
                      <a16:colId xmlns:a16="http://schemas.microsoft.com/office/drawing/2014/main" val="2042261034"/>
                    </a:ext>
                  </a:extLst>
                </a:gridCol>
                <a:gridCol w="905161">
                  <a:extLst>
                    <a:ext uri="{9D8B030D-6E8A-4147-A177-3AD203B41FA5}">
                      <a16:colId xmlns:a16="http://schemas.microsoft.com/office/drawing/2014/main" val="2815874248"/>
                    </a:ext>
                  </a:extLst>
                </a:gridCol>
              </a:tblGrid>
              <a:tr h="409508">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Overall</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Scope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Schedule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Financials</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340340">
                <a:tc>
                  <a:txBody>
                    <a:bodyPr/>
                    <a:lstStyle/>
                    <a:p>
                      <a:pPr marL="0" marR="0" lvl="0" indent="0" algn="ctr" rtl="0" eaLnBrk="1" fontAlgn="ctr" latinLnBrk="0" hangingPunct="1">
                        <a:lnSpc>
                          <a:spcPct val="95000"/>
                        </a:lnSpc>
                        <a:spcBef>
                          <a:spcPct val="0"/>
                        </a:spcBef>
                        <a:spcAft>
                          <a:spcPct val="50000"/>
                        </a:spcAft>
                        <a:buClrTx/>
                        <a:buSzTx/>
                        <a:buFontTx/>
                        <a:buNone/>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rtl="0" eaLnBrk="1" fontAlgn="ctr" latinLnBrk="0" hangingPunct="1">
                        <a:lnSpc>
                          <a:spcPct val="95000"/>
                        </a:lnSpc>
                        <a:spcBef>
                          <a:spcPct val="0"/>
                        </a:spcBef>
                        <a:spcAft>
                          <a:spcPct val="50000"/>
                        </a:spcAft>
                        <a:buClrTx/>
                        <a:buSzTx/>
                        <a:buFontTx/>
                        <a:buNone/>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7499024"/>
                  </a:ext>
                </a:extLst>
              </a:tr>
            </a:tbl>
          </a:graphicData>
        </a:graphic>
      </p:graphicFrame>
      <p:graphicFrame>
        <p:nvGraphicFramePr>
          <p:cNvPr id="26" name="Group 513">
            <a:extLst>
              <a:ext uri="{FF2B5EF4-FFF2-40B4-BE49-F238E27FC236}">
                <a16:creationId xmlns:a16="http://schemas.microsoft.com/office/drawing/2014/main" id="{611930DE-3B05-D706-B09B-54795AB3776A}"/>
              </a:ext>
            </a:extLst>
          </p:cNvPr>
          <p:cNvGraphicFramePr>
            <a:graphicFrameLocks noGrp="1"/>
          </p:cNvGraphicFramePr>
          <p:nvPr>
            <p:extLst>
              <p:ext uri="{D42A27DB-BD31-4B8C-83A1-F6EECF244321}">
                <p14:modId xmlns:p14="http://schemas.microsoft.com/office/powerpoint/2010/main" val="1995347208"/>
              </p:ext>
            </p:extLst>
          </p:nvPr>
        </p:nvGraphicFramePr>
        <p:xfrm>
          <a:off x="269945" y="1202460"/>
          <a:ext cx="2642192" cy="402546"/>
        </p:xfrm>
        <a:graphic>
          <a:graphicData uri="http://schemas.openxmlformats.org/drawingml/2006/table">
            <a:tbl>
              <a:tblPr/>
              <a:tblGrid>
                <a:gridCol w="1022049">
                  <a:extLst>
                    <a:ext uri="{9D8B030D-6E8A-4147-A177-3AD203B41FA5}">
                      <a16:colId xmlns:a16="http://schemas.microsoft.com/office/drawing/2014/main" val="20000"/>
                    </a:ext>
                  </a:extLst>
                </a:gridCol>
                <a:gridCol w="1620143">
                  <a:extLst>
                    <a:ext uri="{9D8B030D-6E8A-4147-A177-3AD203B41FA5}">
                      <a16:colId xmlns:a16="http://schemas.microsoft.com/office/drawing/2014/main" val="20001"/>
                    </a:ext>
                  </a:extLst>
                </a:gridCol>
              </a:tblGrid>
              <a:tr h="401742">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GB" sz="1050" b="1" i="0" u="none" strike="noStrike" kern="1200" cap="none" normalizeH="0" baseline="0">
                          <a:ln>
                            <a:noFill/>
                          </a:ln>
                          <a:solidFill>
                            <a:schemeClr val="bg1"/>
                          </a:solidFill>
                          <a:effectLst/>
                          <a:latin typeface="Arial"/>
                          <a:ea typeface="+mn-ea"/>
                          <a:cs typeface="+mn-cs"/>
                        </a:rPr>
                        <a:t>Target Delivery:</a:t>
                      </a:r>
                    </a:p>
                  </a:txBody>
                  <a:tcPr marL="0" marR="0"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MMP1: 1/26</a:t>
                      </a:r>
                    </a:p>
                    <a:p>
                      <a:pPr marL="0" marR="0" lvl="0" indent="0" algn="ctr" defTabSz="914400" rtl="0" eaLnBrk="0" fontAlgn="base" latinLnBrk="0" hangingPunct="0">
                        <a:lnSpc>
                          <a:spcPct val="95000"/>
                        </a:lnSpc>
                        <a:spcBef>
                          <a:spcPct val="0"/>
                        </a:spcBef>
                        <a:spcAft>
                          <a:spcPct val="50000"/>
                        </a:spcAft>
                        <a:buClrTx/>
                        <a:buSzTx/>
                        <a:buFontTx/>
                        <a:buNone/>
                        <a:tabLst/>
                      </a:pPr>
                      <a:r>
                        <a:rPr kumimoji="0" lang="en-GB" sz="850" b="1" i="0" u="none" strike="noStrike" kern="1200" cap="none" normalizeH="0" baseline="0">
                          <a:ln>
                            <a:noFill/>
                          </a:ln>
                          <a:solidFill>
                            <a:schemeClr val="tx1"/>
                          </a:solidFill>
                          <a:effectLst/>
                          <a:latin typeface="Aptos" panose="020B0004020202020204" pitchFamily="34" charset="0"/>
                          <a:ea typeface="+mn-ea"/>
                          <a:cs typeface="+mn-cs"/>
                        </a:rPr>
                        <a:t>MMP2: 6/17</a:t>
                      </a:r>
                      <a:endParaRPr kumimoji="0" lang="en-US" sz="850" b="1" i="0" u="none" strike="noStrike" kern="1200" cap="none" normalizeH="0" baseline="0">
                        <a:ln>
                          <a:noFill/>
                        </a:ln>
                        <a:solidFill>
                          <a:schemeClr val="tx1"/>
                        </a:solidFill>
                        <a:effectLst/>
                        <a:latin typeface="Aptos" panose="020B0004020202020204" pitchFamily="34" charset="0"/>
                        <a:ea typeface="+mn-ea"/>
                        <a:cs typeface="+mn-cs"/>
                      </a:endParaRPr>
                    </a:p>
                  </a:txBody>
                  <a:tcPr marL="0" marR="0"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27" name="Table 26">
            <a:extLst>
              <a:ext uri="{FF2B5EF4-FFF2-40B4-BE49-F238E27FC236}">
                <a16:creationId xmlns:a16="http://schemas.microsoft.com/office/drawing/2014/main" id="{50D303B1-4685-BE6D-5075-97DA9E0010EB}"/>
              </a:ext>
            </a:extLst>
          </p:cNvPr>
          <p:cNvGraphicFramePr>
            <a:graphicFrameLocks noGrp="1"/>
          </p:cNvGraphicFramePr>
          <p:nvPr>
            <p:extLst>
              <p:ext uri="{D42A27DB-BD31-4B8C-83A1-F6EECF244321}">
                <p14:modId xmlns:p14="http://schemas.microsoft.com/office/powerpoint/2010/main" val="1880881311"/>
              </p:ext>
            </p:extLst>
          </p:nvPr>
        </p:nvGraphicFramePr>
        <p:xfrm>
          <a:off x="5769029" y="1646639"/>
          <a:ext cx="6385451" cy="3376205"/>
        </p:xfrm>
        <a:graphic>
          <a:graphicData uri="http://schemas.openxmlformats.org/drawingml/2006/table">
            <a:tbl>
              <a:tblPr>
                <a:tableStyleId>{5C22544A-7EE6-4342-B048-85BDC9FD1C3A}</a:tableStyleId>
              </a:tblPr>
              <a:tblGrid>
                <a:gridCol w="2337203">
                  <a:extLst>
                    <a:ext uri="{9D8B030D-6E8A-4147-A177-3AD203B41FA5}">
                      <a16:colId xmlns:a16="http://schemas.microsoft.com/office/drawing/2014/main" val="2456552316"/>
                    </a:ext>
                  </a:extLst>
                </a:gridCol>
                <a:gridCol w="483683">
                  <a:extLst>
                    <a:ext uri="{9D8B030D-6E8A-4147-A177-3AD203B41FA5}">
                      <a16:colId xmlns:a16="http://schemas.microsoft.com/office/drawing/2014/main" val="1100051595"/>
                    </a:ext>
                  </a:extLst>
                </a:gridCol>
                <a:gridCol w="593839">
                  <a:extLst>
                    <a:ext uri="{9D8B030D-6E8A-4147-A177-3AD203B41FA5}">
                      <a16:colId xmlns:a16="http://schemas.microsoft.com/office/drawing/2014/main" val="2042261034"/>
                    </a:ext>
                  </a:extLst>
                </a:gridCol>
                <a:gridCol w="2970726">
                  <a:extLst>
                    <a:ext uri="{9D8B030D-6E8A-4147-A177-3AD203B41FA5}">
                      <a16:colId xmlns:a16="http://schemas.microsoft.com/office/drawing/2014/main" val="2815874248"/>
                    </a:ext>
                  </a:extLst>
                </a:gridCol>
              </a:tblGrid>
              <a:tr h="336606">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Milestone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Status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Due Date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Notes</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253718">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50" b="0" kern="1200">
                          <a:solidFill>
                            <a:schemeClr val="tx1"/>
                          </a:solidFill>
                          <a:effectLst/>
                          <a:latin typeface="Aptos" panose="020B0004020202020204" pitchFamily="34" charset="0"/>
                          <a:ea typeface="+mn-ea"/>
                          <a:cs typeface="+mn-cs"/>
                        </a:rPr>
                        <a:t>MMP1 Release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a:lnSpc>
                          <a:spcPct val="95000"/>
                        </a:lnSpc>
                        <a:spcBef>
                          <a:spcPct val="0"/>
                        </a:spcBef>
                        <a:spcAft>
                          <a:spcPct val="50000"/>
                        </a:spcAft>
                        <a:buClrTx/>
                        <a:buSzTx/>
                        <a:buFontTx/>
                        <a:buNone/>
                        <a:tabLst/>
                      </a:pPr>
                      <a:r>
                        <a:rPr lang="en-US" sz="850" b="0" kern="1200">
                          <a:solidFill>
                            <a:schemeClr val="tx1"/>
                          </a:solidFill>
                          <a:effectLst/>
                          <a:latin typeface="Aptos" panose="020B0004020202020204" pitchFamily="34" charset="0"/>
                          <a:ea typeface="+mn-ea"/>
                          <a:cs typeface="+mn-cs"/>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0" hangingPunct="1">
                        <a:lnSpc>
                          <a:spcPct val="95000"/>
                        </a:lnSpc>
                        <a:spcBef>
                          <a:spcPct val="0"/>
                        </a:spcBef>
                        <a:spcAft>
                          <a:spcPct val="50000"/>
                        </a:spcAft>
                        <a:buClrTx/>
                        <a:buSzTx/>
                        <a:buFontTx/>
                        <a:buNone/>
                        <a:tabLst/>
                        <a:defRPr/>
                      </a:pPr>
                      <a:r>
                        <a:rPr lang="en-US" sz="850" b="0" kern="1200">
                          <a:solidFill>
                            <a:schemeClr val="tx1"/>
                          </a:solidFill>
                          <a:effectLst/>
                          <a:latin typeface="Aptos" panose="020B0004020202020204" pitchFamily="34" charset="0"/>
                          <a:ea typeface="+mn-ea"/>
                          <a:cs typeface="+mn-cs"/>
                        </a:rPr>
                        <a:t>1/26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a:lnSpc>
                          <a:spcPct val="114999"/>
                        </a:lnSpc>
                        <a:spcAft>
                          <a:spcPts val="800"/>
                        </a:spcAft>
                        <a:buNone/>
                      </a:pPr>
                      <a:endParaRPr lang="en-US" sz="850" b="0" kern="1200" noProof="0">
                        <a:solidFill>
                          <a:schemeClr val="tx1"/>
                        </a:solidFill>
                        <a:effectLst/>
                        <a:latin typeface="Aptos" panose="020B0004020202020204" pitchFamily="34" charset="0"/>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805706767"/>
                  </a:ext>
                </a:extLst>
              </a:tr>
              <a:tr h="205449">
                <a:tc>
                  <a:txBody>
                    <a:bodyPr/>
                    <a:lstStyle/>
                    <a:p>
                      <a:pPr marL="114300" marR="0" lvl="0" indent="0" algn="l" rtl="0" eaLnBrk="1" fontAlgn="ctr" latinLnBrk="0" hangingPunct="1">
                        <a:lnSpc>
                          <a:spcPct val="95000"/>
                        </a:lnSpc>
                        <a:spcBef>
                          <a:spcPct val="0"/>
                        </a:spcBef>
                        <a:spcAft>
                          <a:spcPct val="50000"/>
                        </a:spcAft>
                        <a:buClrTx/>
                        <a:buSzTx/>
                        <a:buFontTx/>
                        <a:buNone/>
                      </a:pPr>
                      <a:r>
                        <a:rPr lang="en-US" sz="850" b="0" kern="1200">
                          <a:solidFill>
                            <a:schemeClr val="tx1"/>
                          </a:solidFill>
                          <a:effectLst/>
                          <a:latin typeface="Aptos" panose="020B0004020202020204" pitchFamily="34" charset="0"/>
                          <a:ea typeface="+mn-ea"/>
                          <a:cs typeface="+mn-cs"/>
                        </a:rPr>
                        <a:t>Publish Approved MMP2 Project/Release Schedule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defRPr/>
                      </a:pPr>
                      <a:endParaRPr lang="en-US" sz="850" b="0" kern="1200">
                        <a:solidFill>
                          <a:schemeClr val="tx1"/>
                        </a:solidFill>
                        <a:effectLst/>
                        <a:latin typeface="Aptos" panose="020B0004020202020204" pitchFamily="34" charset="0"/>
                        <a:ea typeface="+mn-ea"/>
                        <a:cs typeface="+mn-cs"/>
                      </a:endParaRPr>
                    </a:p>
                    <a:p>
                      <a:pPr marL="0" marR="0" lvl="0" indent="0" algn="ctr" defTabSz="914400" rtl="0" eaLnBrk="1" fontAlgn="ctr" latinLnBrk="0" hangingPunct="1">
                        <a:lnSpc>
                          <a:spcPct val="95000"/>
                        </a:lnSpc>
                        <a:spcBef>
                          <a:spcPct val="0"/>
                        </a:spcBef>
                        <a:spcAft>
                          <a:spcPct val="50000"/>
                        </a:spcAft>
                        <a:buClrTx/>
                        <a:buSzTx/>
                        <a:buFontTx/>
                        <a:buNone/>
                        <a:tabLst/>
                        <a:defRPr/>
                      </a:pPr>
                      <a:r>
                        <a:rPr lang="en-US" sz="850" b="0" kern="1200">
                          <a:solidFill>
                            <a:schemeClr val="tx1"/>
                          </a:solidFill>
                          <a:effectLst/>
                          <a:latin typeface="Aptos" panose="020B0004020202020204" pitchFamily="34" charset="0"/>
                          <a:ea typeface="+mn-ea"/>
                          <a:cs typeface="+mn-cs"/>
                        </a:rPr>
                        <a:t>C</a:t>
                      </a:r>
                    </a:p>
                    <a:p>
                      <a:pPr marL="0" marR="0" lvl="0" indent="0" algn="ctr" defTabSz="914400" rtl="0" eaLnBrk="1" fontAlgn="ctr" latinLnBrk="0" hangingPunct="1">
                        <a:lnSpc>
                          <a:spcPct val="95000"/>
                        </a:lnSpc>
                        <a:spcBef>
                          <a:spcPct val="0"/>
                        </a:spcBef>
                        <a:spcAft>
                          <a:spcPct val="50000"/>
                        </a:spcAft>
                        <a:buClrTx/>
                        <a:buSzTx/>
                        <a:buFontTx/>
                        <a:buNone/>
                        <a:tabLst/>
                      </a:pPr>
                      <a:endParaRPr lang="en-US" sz="850" b="0" kern="1200">
                        <a:solidFill>
                          <a:schemeClr val="tx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r>
                        <a:rPr lang="en-US" sz="850" b="0" kern="1200">
                          <a:solidFill>
                            <a:schemeClr val="tx1"/>
                          </a:solidFill>
                          <a:effectLst/>
                          <a:latin typeface="Aptos" panose="020B0004020202020204" pitchFamily="34" charset="0"/>
                          <a:ea typeface="+mn-ea"/>
                          <a:cs typeface="+mn-cs"/>
                        </a:rPr>
                        <a:t>2/25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base" latinLnBrk="0" hangingPunct="1">
                        <a:lnSpc>
                          <a:spcPct val="100000"/>
                        </a:lnSpc>
                        <a:spcBef>
                          <a:spcPts val="200"/>
                        </a:spcBef>
                        <a:spcAft>
                          <a:spcPts val="0"/>
                        </a:spcAft>
                        <a:buClrTx/>
                        <a:buSzTx/>
                        <a:buFontTx/>
                        <a:buNone/>
                        <a:tabLst/>
                        <a:defRPr/>
                      </a:pPr>
                      <a:endParaRPr lang="en-US" sz="850" b="0" kern="1200">
                        <a:solidFill>
                          <a:schemeClr val="tx1"/>
                        </a:solidFill>
                        <a:effectLst/>
                        <a:latin typeface="Aptos" panose="020B0004020202020204" pitchFamily="34" charset="0"/>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676961585"/>
                  </a:ext>
                </a:extLst>
              </a:tr>
              <a:tr h="281241">
                <a:tc>
                  <a:txBody>
                    <a:bodyPr/>
                    <a:lstStyle/>
                    <a:p>
                      <a:pPr lvl="0"/>
                      <a:r>
                        <a:rPr lang="en-US" sz="850" b="0" kern="1200">
                          <a:solidFill>
                            <a:schemeClr val="tx1"/>
                          </a:solidFill>
                          <a:effectLst/>
                          <a:latin typeface="Aptos" panose="020B0004020202020204" pitchFamily="34" charset="0"/>
                          <a:ea typeface="+mn-ea"/>
                          <a:cs typeface="+mn-cs"/>
                        </a:rPr>
                        <a:t>    MMP2 DDIT Complete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850" b="0" kern="1200">
                          <a:solidFill>
                            <a:schemeClr val="tx1"/>
                          </a:solidFill>
                          <a:effectLst/>
                          <a:latin typeface="Aptos" panose="020B0004020202020204" pitchFamily="34" charset="0"/>
                          <a:ea typeface="+mn-ea"/>
                          <a:cs typeface="+mn-cs"/>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lvl="0" algn="ctr">
                        <a:buNone/>
                      </a:pPr>
                      <a:r>
                        <a:rPr lang="en-US" sz="850" b="0" kern="1200">
                          <a:solidFill>
                            <a:schemeClr val="tx1"/>
                          </a:solidFill>
                          <a:effectLst/>
                          <a:latin typeface="Aptos" panose="020B0004020202020204" pitchFamily="34" charset="0"/>
                          <a:ea typeface="+mn-ea"/>
                          <a:cs typeface="+mn-cs"/>
                        </a:rPr>
                        <a:t>5/8</a:t>
                      </a:r>
                      <a:endParaRPr lang="en-US" sz="850">
                        <a:latin typeface="Aptos"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rtl="0" eaLnBrk="1" fontAlgn="ctr" latinLnBrk="0" hangingPunct="1">
                        <a:lnSpc>
                          <a:spcPct val="95000"/>
                        </a:lnSpc>
                        <a:spcBef>
                          <a:spcPct val="0"/>
                        </a:spcBef>
                        <a:spcAft>
                          <a:spcPct val="50000"/>
                        </a:spcAft>
                        <a:buClrTx/>
                        <a:buSzTx/>
                        <a:buFontTx/>
                        <a:buNone/>
                      </a:pPr>
                      <a:endParaRPr lang="en-US" sz="850" b="0" kern="1200">
                        <a:solidFill>
                          <a:schemeClr val="tx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617819655"/>
                  </a:ext>
                </a:extLst>
              </a:tr>
              <a:tr h="313693">
                <a:tc>
                  <a:txBody>
                    <a:bodyPr/>
                    <a:lstStyle/>
                    <a:p>
                      <a:pPr lvl="0"/>
                      <a:r>
                        <a:rPr lang="en-US" sz="850" b="0" kern="1200">
                          <a:solidFill>
                            <a:schemeClr val="tx1"/>
                          </a:solidFill>
                          <a:effectLst/>
                          <a:latin typeface="Aptos" panose="020B0004020202020204" pitchFamily="34" charset="0"/>
                          <a:ea typeface="+mn-ea"/>
                          <a:cs typeface="+mn-cs"/>
                        </a:rPr>
                        <a:t>    MMP2 E2E Sign off</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50" b="0" kern="1200">
                          <a:solidFill>
                            <a:schemeClr val="tx1"/>
                          </a:solidFill>
                          <a:effectLst/>
                          <a:latin typeface="Aptos" panose="020B0004020202020204" pitchFamily="34" charset="0"/>
                          <a:ea typeface="+mn-ea"/>
                          <a:cs typeface="+mn-cs"/>
                        </a:rPr>
                        <a:t>C</a:t>
                      </a:r>
                    </a:p>
                    <a:p>
                      <a:pPr algn="ctr"/>
                      <a:endParaRPr lang="en-US" sz="850" b="0" kern="1200">
                        <a:solidFill>
                          <a:schemeClr val="tx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lvl="0" algn="ctr" defTabSz="914400">
                        <a:buNone/>
                        <a:tabLst/>
                        <a:defRPr/>
                      </a:pPr>
                      <a:r>
                        <a:rPr lang="en-US" sz="850" b="0" strike="noStrike" kern="1200">
                          <a:solidFill>
                            <a:schemeClr val="tx1"/>
                          </a:solidFill>
                          <a:effectLst/>
                          <a:latin typeface="Aptos" panose="020B0004020202020204" pitchFamily="34" charset="0"/>
                          <a:ea typeface="+mn-ea"/>
                          <a:cs typeface="+mn-cs"/>
                        </a:rPr>
                        <a:t>6/9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rtl="0" eaLnBrk="1" fontAlgn="ctr" latinLnBrk="0" hangingPunct="1">
                        <a:lnSpc>
                          <a:spcPct val="95000"/>
                        </a:lnSpc>
                        <a:spcBef>
                          <a:spcPct val="0"/>
                        </a:spcBef>
                        <a:spcAft>
                          <a:spcPct val="50000"/>
                        </a:spcAft>
                        <a:buClrTx/>
                        <a:buSzTx/>
                        <a:buFontTx/>
                        <a:buNone/>
                      </a:pPr>
                      <a:endParaRPr lang="en-US" sz="850" b="0" kern="1200">
                        <a:solidFill>
                          <a:schemeClr val="tx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162506059"/>
                  </a:ext>
                </a:extLst>
              </a:tr>
              <a:tr h="234249">
                <a:tc>
                  <a:txBody>
                    <a:bodyPr/>
                    <a:lstStyle/>
                    <a:p>
                      <a:pPr lvl="0"/>
                      <a:r>
                        <a:rPr lang="en-US" sz="850" b="0" kern="1200">
                          <a:solidFill>
                            <a:schemeClr val="tx1"/>
                          </a:solidFill>
                          <a:effectLst/>
                          <a:latin typeface="Aptos" panose="020B0004020202020204" pitchFamily="34" charset="0"/>
                          <a:ea typeface="+mn-ea"/>
                          <a:cs typeface="+mn-cs"/>
                        </a:rPr>
                        <a:t>     MMP2 UAT/Business Sign Off Complete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50" b="0" kern="1200">
                          <a:solidFill>
                            <a:schemeClr val="tx1"/>
                          </a:solidFill>
                          <a:effectLst/>
                          <a:latin typeface="Aptos" panose="020B0004020202020204" pitchFamily="34" charset="0"/>
                          <a:ea typeface="+mn-ea"/>
                          <a:cs typeface="+mn-cs"/>
                        </a:rPr>
                        <a:t>C</a:t>
                      </a:r>
                    </a:p>
                    <a:p>
                      <a:pPr algn="ctr"/>
                      <a:endParaRPr lang="en-US" sz="850" b="0" kern="1200">
                        <a:solidFill>
                          <a:schemeClr val="tx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lvl="0" algn="ctr" defTabSz="914400">
                        <a:buNone/>
                        <a:tabLst/>
                        <a:defRPr/>
                      </a:pPr>
                      <a:r>
                        <a:rPr lang="en-US" sz="850" b="0" strike="noStrike" kern="1200">
                          <a:solidFill>
                            <a:schemeClr val="tx1"/>
                          </a:solidFill>
                          <a:effectLst/>
                          <a:latin typeface="Aptos" panose="020B0004020202020204" pitchFamily="34" charset="0"/>
                          <a:ea typeface="+mn-ea"/>
                          <a:cs typeface="+mn-cs"/>
                        </a:rPr>
                        <a:t>6/9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ctr" latinLnBrk="0" hangingPunct="1">
                        <a:lnSpc>
                          <a:spcPct val="95000"/>
                        </a:lnSpc>
                        <a:spcBef>
                          <a:spcPct val="0"/>
                        </a:spcBef>
                        <a:spcAft>
                          <a:spcPct val="50000"/>
                        </a:spcAft>
                        <a:buClrTx/>
                        <a:buSzTx/>
                        <a:buFontTx/>
                        <a:buNone/>
                        <a:tabLst/>
                        <a:defRPr/>
                      </a:pPr>
                      <a:endParaRPr lang="en-US" sz="850" b="0" kern="1200">
                        <a:solidFill>
                          <a:schemeClr val="tx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2055522429"/>
                  </a:ext>
                </a:extLst>
              </a:tr>
              <a:tr h="329987">
                <a:tc>
                  <a:txBody>
                    <a:bodyPr/>
                    <a:lstStyle/>
                    <a:p>
                      <a:pPr lvl="0"/>
                      <a:r>
                        <a:rPr lang="en-US" sz="850" b="0" kern="1200">
                          <a:solidFill>
                            <a:schemeClr val="tx1"/>
                          </a:solidFill>
                          <a:effectLst/>
                          <a:latin typeface="Aptos" panose="020B0004020202020204" pitchFamily="34" charset="0"/>
                          <a:ea typeface="+mn-ea"/>
                          <a:cs typeface="+mn-cs"/>
                        </a:rPr>
                        <a:t>     Staging Deployment and Validation</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850" b="0" kern="1200">
                          <a:solidFill>
                            <a:schemeClr val="tx1"/>
                          </a:solidFill>
                          <a:effectLst/>
                          <a:latin typeface="Aptos" panose="020B0004020202020204" pitchFamily="34" charset="0"/>
                          <a:ea typeface="+mn-ea"/>
                          <a:cs typeface="+mn-cs"/>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lvl="0" algn="ctr" defTabSz="914400">
                        <a:buNone/>
                        <a:tabLst/>
                        <a:defRPr/>
                      </a:pPr>
                      <a:r>
                        <a:rPr lang="en-US" sz="850" b="0" strike="noStrike" kern="1200">
                          <a:solidFill>
                            <a:schemeClr val="tx1"/>
                          </a:solidFill>
                          <a:effectLst/>
                          <a:latin typeface="Aptos" panose="020B0004020202020204" pitchFamily="34" charset="0"/>
                          <a:ea typeface="+mn-ea"/>
                          <a:cs typeface="+mn-cs"/>
                        </a:rPr>
                        <a:t>6/16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rtl="0" eaLnBrk="1" fontAlgn="ctr" latinLnBrk="0" hangingPunct="1">
                        <a:lnSpc>
                          <a:spcPct val="95000"/>
                        </a:lnSpc>
                        <a:spcBef>
                          <a:spcPct val="0"/>
                        </a:spcBef>
                        <a:spcAft>
                          <a:spcPct val="50000"/>
                        </a:spcAft>
                        <a:buClrTx/>
                        <a:buSzTx/>
                        <a:buFontTx/>
                        <a:buNone/>
                      </a:pPr>
                      <a:endParaRPr lang="en-US" sz="850" b="0" kern="1200">
                        <a:solidFill>
                          <a:schemeClr val="tx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245916255"/>
                  </a:ext>
                </a:extLst>
              </a:tr>
              <a:tr h="235174">
                <a:tc>
                  <a:txBody>
                    <a:bodyPr/>
                    <a:lstStyle/>
                    <a:p>
                      <a:pPr lvl="0"/>
                      <a:r>
                        <a:rPr lang="en-US" sz="850" b="0" kern="1200">
                          <a:solidFill>
                            <a:schemeClr val="tx1"/>
                          </a:solidFill>
                          <a:effectLst/>
                          <a:latin typeface="Aptos" panose="020B0004020202020204" pitchFamily="34" charset="0"/>
                          <a:ea typeface="+mn-ea"/>
                          <a:cs typeface="+mn-cs"/>
                        </a:rPr>
                        <a:t>     Go/No-Go Meeting</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850" b="0" kern="1200">
                          <a:solidFill>
                            <a:schemeClr val="tx1"/>
                          </a:solidFill>
                          <a:effectLst/>
                          <a:latin typeface="Aptos" panose="020B0004020202020204" pitchFamily="34" charset="0"/>
                          <a:ea typeface="+mn-ea"/>
                          <a:cs typeface="+mn-cs"/>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lvl="0" algn="ctr" defTabSz="914400">
                        <a:buNone/>
                        <a:tabLst/>
                        <a:defRPr/>
                      </a:pPr>
                      <a:r>
                        <a:rPr lang="en-US" sz="850" b="0" strike="noStrike" kern="1200">
                          <a:solidFill>
                            <a:schemeClr val="tx1"/>
                          </a:solidFill>
                          <a:effectLst/>
                          <a:latin typeface="Aptos" panose="020B0004020202020204" pitchFamily="34" charset="0"/>
                          <a:ea typeface="+mn-ea"/>
                          <a:cs typeface="+mn-cs"/>
                        </a:rPr>
                        <a:t>6/17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rtl="0" eaLnBrk="1" fontAlgn="ctr" latinLnBrk="0" hangingPunct="1">
                        <a:lnSpc>
                          <a:spcPct val="95000"/>
                        </a:lnSpc>
                        <a:spcBef>
                          <a:spcPct val="0"/>
                        </a:spcBef>
                        <a:spcAft>
                          <a:spcPct val="50000"/>
                        </a:spcAft>
                        <a:buClrTx/>
                        <a:buSzTx/>
                        <a:buFontTx/>
                        <a:buNone/>
                      </a:pPr>
                      <a:r>
                        <a:rPr lang="en-US" sz="850" b="0" kern="1200">
                          <a:solidFill>
                            <a:schemeClr val="tx1"/>
                          </a:solidFill>
                          <a:effectLst/>
                          <a:latin typeface="Aptos" panose="020B0004020202020204" pitchFamily="34" charset="0"/>
                          <a:ea typeface="+mn-ea"/>
                          <a:cs typeface="+mn-cs"/>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2612996819"/>
                  </a:ext>
                </a:extLst>
              </a:tr>
              <a:tr h="276559">
                <a:tc>
                  <a:txBody>
                    <a:bodyPr/>
                    <a:lstStyle/>
                    <a:p>
                      <a:pPr lvl="0"/>
                      <a:r>
                        <a:rPr lang="en-US" sz="850" b="0" kern="1200">
                          <a:solidFill>
                            <a:schemeClr val="tx1"/>
                          </a:solidFill>
                          <a:effectLst/>
                          <a:latin typeface="Aptos" panose="020B0004020202020204" pitchFamily="34" charset="0"/>
                          <a:ea typeface="+mn-ea"/>
                          <a:cs typeface="+mn-cs"/>
                        </a:rPr>
                        <a:t>     MMP2 Release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850" b="0" kern="1200">
                          <a:solidFill>
                            <a:schemeClr val="tx1"/>
                          </a:solidFill>
                          <a:effectLst/>
                          <a:latin typeface="Aptos" panose="020B0004020202020204" pitchFamily="34" charset="0"/>
                          <a:ea typeface="+mn-ea"/>
                          <a:cs typeface="+mn-cs"/>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lvl="0" algn="ctr" defTabSz="914400">
                        <a:buNone/>
                        <a:tabLst/>
                        <a:defRPr/>
                      </a:pPr>
                      <a:r>
                        <a:rPr lang="en-US" sz="850" b="0" kern="1200" noProof="0">
                          <a:solidFill>
                            <a:schemeClr val="tx1"/>
                          </a:solidFill>
                          <a:effectLst/>
                          <a:latin typeface="Aptos" panose="020B0004020202020204" pitchFamily="34" charset="0"/>
                          <a:ea typeface="+mn-ea"/>
                          <a:cs typeface="+mn-cs"/>
                        </a:rPr>
                        <a:t>6/17</a:t>
                      </a:r>
                      <a:endParaRPr lang="en-US" sz="850" b="0" kern="1200">
                        <a:solidFill>
                          <a:schemeClr val="tx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rtl="0" eaLnBrk="1" fontAlgn="ctr" latinLnBrk="0" hangingPunct="1">
                        <a:lnSpc>
                          <a:spcPct val="95000"/>
                        </a:lnSpc>
                        <a:spcBef>
                          <a:spcPct val="0"/>
                        </a:spcBef>
                        <a:spcAft>
                          <a:spcPct val="50000"/>
                        </a:spcAft>
                        <a:buClrTx/>
                        <a:buSzTx/>
                        <a:buFontTx/>
                        <a:buNone/>
                      </a:pPr>
                      <a:r>
                        <a:rPr lang="en-US" sz="850" b="0" kern="1200">
                          <a:solidFill>
                            <a:schemeClr val="tx1"/>
                          </a:solidFill>
                          <a:effectLst/>
                          <a:latin typeface="Aptos" panose="020B0004020202020204" pitchFamily="34" charset="0"/>
                          <a:ea typeface="+mn-ea"/>
                          <a:cs typeface="+mn-cs"/>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890476154"/>
                  </a:ext>
                </a:extLst>
              </a:tr>
              <a:tr h="285390">
                <a:tc>
                  <a:txBody>
                    <a:bodyPr/>
                    <a:lstStyle/>
                    <a:p>
                      <a:pPr lvl="0"/>
                      <a:r>
                        <a:rPr lang="en-US" sz="850" b="0" kern="1200">
                          <a:solidFill>
                            <a:schemeClr val="tx1"/>
                          </a:solidFill>
                          <a:effectLst/>
                          <a:latin typeface="Aptos" panose="020B0004020202020204" pitchFamily="34" charset="0"/>
                          <a:ea typeface="+mn-ea"/>
                          <a:cs typeface="+mn-cs"/>
                        </a:rPr>
                        <a:t>     One time data load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50" b="0" kern="1200">
                          <a:solidFill>
                            <a:schemeClr val="tx1"/>
                          </a:solidFill>
                          <a:effectLst/>
                          <a:latin typeface="Aptos" panose="020B0004020202020204" pitchFamily="34" charset="0"/>
                          <a:ea typeface="+mn-ea"/>
                          <a:cs typeface="+mn-cs"/>
                        </a:rPr>
                        <a:t>C</a:t>
                      </a:r>
                    </a:p>
                    <a:p>
                      <a:pPr algn="ctr"/>
                      <a:endParaRPr lang="en-US" sz="850" b="0" kern="1200">
                        <a:solidFill>
                          <a:schemeClr val="tx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lvl="0" algn="ctr" defTabSz="914400" rtl="0" eaLnBrk="1" latinLnBrk="0" hangingPunct="1">
                        <a:buNone/>
                        <a:tabLst/>
                        <a:defRPr/>
                      </a:pPr>
                      <a:r>
                        <a:rPr lang="en-US" sz="850" b="0" strike="noStrike" kern="1200">
                          <a:solidFill>
                            <a:schemeClr val="tx1"/>
                          </a:solidFill>
                          <a:effectLst/>
                          <a:latin typeface="Aptos" panose="020B0004020202020204" pitchFamily="34" charset="0"/>
                          <a:ea typeface="+mn-ea"/>
                          <a:cs typeface="+mn-cs"/>
                        </a:rPr>
                        <a:t>7/31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rtl="0" eaLnBrk="1" fontAlgn="ctr" latinLnBrk="0" hangingPunct="1">
                        <a:lnSpc>
                          <a:spcPct val="95000"/>
                        </a:lnSpc>
                        <a:spcBef>
                          <a:spcPct val="0"/>
                        </a:spcBef>
                        <a:spcAft>
                          <a:spcPct val="50000"/>
                        </a:spcAft>
                        <a:buClrTx/>
                        <a:buSzTx/>
                        <a:buFontTx/>
                        <a:buNone/>
                      </a:pPr>
                      <a:r>
                        <a:rPr lang="en-US" sz="850" b="0" kern="1200">
                          <a:solidFill>
                            <a:schemeClr val="tx1"/>
                          </a:solidFill>
                          <a:effectLst/>
                          <a:latin typeface="Aptos" panose="020B0004020202020204" pitchFamily="34" charset="0"/>
                          <a:ea typeface="+mn-ea"/>
                          <a:cs typeface="+mn-cs"/>
                        </a:rPr>
                        <a:t>  Completed</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74591521"/>
                  </a:ext>
                </a:extLst>
              </a:tr>
              <a:tr h="285390">
                <a:tc>
                  <a:txBody>
                    <a:bodyPr/>
                    <a:lstStyle/>
                    <a:p>
                      <a:pPr lvl="0"/>
                      <a:r>
                        <a:rPr lang="en-US" sz="850" b="0" kern="1200">
                          <a:solidFill>
                            <a:schemeClr val="tx1"/>
                          </a:solidFill>
                          <a:effectLst/>
                          <a:latin typeface="Aptos" panose="020B0004020202020204" pitchFamily="34" charset="0"/>
                          <a:ea typeface="+mn-ea"/>
                          <a:cs typeface="+mn-cs"/>
                        </a:rPr>
                        <a:t>     MMP2 Warranty Support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50" b="0" kern="1200">
                          <a:solidFill>
                            <a:schemeClr val="tx1"/>
                          </a:solidFill>
                          <a:effectLst/>
                          <a:latin typeface="Aptos" panose="020B0004020202020204" pitchFamily="34" charset="0"/>
                          <a:ea typeface="+mn-ea"/>
                          <a:cs typeface="+mn-cs"/>
                        </a:rPr>
                        <a:t>C</a:t>
                      </a:r>
                    </a:p>
                    <a:p>
                      <a:pPr algn="ctr"/>
                      <a:endParaRPr lang="en-US" sz="850" b="0" kern="1200">
                        <a:solidFill>
                          <a:schemeClr val="tx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lvl="0" algn="ctr" defTabSz="914400" rtl="0" eaLnBrk="1" latinLnBrk="0" hangingPunct="1">
                        <a:buNone/>
                        <a:tabLst/>
                        <a:defRPr/>
                      </a:pPr>
                      <a:r>
                        <a:rPr lang="en-US" sz="850" b="0" kern="1200">
                          <a:solidFill>
                            <a:schemeClr val="tx1"/>
                          </a:solidFill>
                          <a:effectLst/>
                          <a:latin typeface="Aptos" panose="020B0004020202020204" pitchFamily="34" charset="0"/>
                          <a:ea typeface="+mn-ea"/>
                          <a:cs typeface="+mn-cs"/>
                        </a:rPr>
                        <a:t>7/31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rtl="0" eaLnBrk="1" fontAlgn="ctr" latinLnBrk="0" hangingPunct="1">
                        <a:lnSpc>
                          <a:spcPct val="95000"/>
                        </a:lnSpc>
                        <a:spcBef>
                          <a:spcPct val="0"/>
                        </a:spcBef>
                        <a:spcAft>
                          <a:spcPct val="50000"/>
                        </a:spcAft>
                        <a:buClrTx/>
                        <a:buSzTx/>
                        <a:buFontTx/>
                        <a:buNone/>
                      </a:pPr>
                      <a:r>
                        <a:rPr lang="en-US" sz="850" b="0" kern="1200">
                          <a:solidFill>
                            <a:schemeClr val="tx1"/>
                          </a:solidFill>
                          <a:effectLst/>
                          <a:latin typeface="Aptos" panose="020B0004020202020204" pitchFamily="34" charset="0"/>
                          <a:ea typeface="+mn-ea"/>
                          <a:cs typeface="+mn-cs"/>
                        </a:rPr>
                        <a:t>  Completed</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597409110"/>
                  </a:ext>
                </a:extLst>
              </a:tr>
            </a:tbl>
          </a:graphicData>
        </a:graphic>
      </p:graphicFrame>
      <p:graphicFrame>
        <p:nvGraphicFramePr>
          <p:cNvPr id="29" name="Table 28">
            <a:extLst>
              <a:ext uri="{FF2B5EF4-FFF2-40B4-BE49-F238E27FC236}">
                <a16:creationId xmlns:a16="http://schemas.microsoft.com/office/drawing/2014/main" id="{468E60D2-724C-D6AE-76B6-9F9029EB0EEE}"/>
              </a:ext>
            </a:extLst>
          </p:cNvPr>
          <p:cNvGraphicFramePr>
            <a:graphicFrameLocks noGrp="1"/>
          </p:cNvGraphicFramePr>
          <p:nvPr>
            <p:extLst>
              <p:ext uri="{D42A27DB-BD31-4B8C-83A1-F6EECF244321}">
                <p14:modId xmlns:p14="http://schemas.microsoft.com/office/powerpoint/2010/main" val="1050752758"/>
              </p:ext>
            </p:extLst>
          </p:nvPr>
        </p:nvGraphicFramePr>
        <p:xfrm>
          <a:off x="5769030" y="5061511"/>
          <a:ext cx="6385450" cy="1267604"/>
        </p:xfrm>
        <a:graphic>
          <a:graphicData uri="http://schemas.openxmlformats.org/drawingml/2006/table">
            <a:tbl>
              <a:tblPr>
                <a:tableStyleId>{5C22544A-7EE6-4342-B048-85BDC9FD1C3A}</a:tableStyleId>
              </a:tblPr>
              <a:tblGrid>
                <a:gridCol w="2384369">
                  <a:extLst>
                    <a:ext uri="{9D8B030D-6E8A-4147-A177-3AD203B41FA5}">
                      <a16:colId xmlns:a16="http://schemas.microsoft.com/office/drawing/2014/main" val="2456552316"/>
                    </a:ext>
                  </a:extLst>
                </a:gridCol>
                <a:gridCol w="437942">
                  <a:extLst>
                    <a:ext uri="{9D8B030D-6E8A-4147-A177-3AD203B41FA5}">
                      <a16:colId xmlns:a16="http://schemas.microsoft.com/office/drawing/2014/main" val="1100051595"/>
                    </a:ext>
                  </a:extLst>
                </a:gridCol>
                <a:gridCol w="663191">
                  <a:extLst>
                    <a:ext uri="{9D8B030D-6E8A-4147-A177-3AD203B41FA5}">
                      <a16:colId xmlns:a16="http://schemas.microsoft.com/office/drawing/2014/main" val="2042261034"/>
                    </a:ext>
                  </a:extLst>
                </a:gridCol>
                <a:gridCol w="2899948">
                  <a:extLst>
                    <a:ext uri="{9D8B030D-6E8A-4147-A177-3AD203B41FA5}">
                      <a16:colId xmlns:a16="http://schemas.microsoft.com/office/drawing/2014/main" val="2815874248"/>
                    </a:ext>
                  </a:extLst>
                </a:gridCol>
              </a:tblGrid>
              <a:tr h="489902">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Critical Risks/Issues</a:t>
                      </a:r>
                      <a:endParaRPr kumimoji="0" lang="en-US" sz="1050" b="1" i="0" u="none" strike="noStrike" kern="1200" cap="none" normalizeH="0" baseline="0">
                        <a:ln>
                          <a:noFill/>
                        </a:ln>
                        <a:solidFill>
                          <a:schemeClr val="bg1"/>
                        </a:solidFill>
                        <a:effectLst/>
                        <a:latin typeface="Arial" charset="0"/>
                        <a:ea typeface="+mn-ea"/>
                        <a:cs typeface="+mn-cs"/>
                      </a:endParaRP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Status</a:t>
                      </a:r>
                    </a:p>
                  </a:txBody>
                  <a:tcPr marL="9525" marR="9525" marT="9525" marB="0" anchor="ct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Target Date</a:t>
                      </a:r>
                    </a:p>
                  </a:txBody>
                  <a:tcPr marL="9525" marR="9525" marT="9525" marB="0" anchor="ctr">
                    <a:lnL w="12700">
                      <a:solidFill>
                        <a:schemeClr val="tx1"/>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Resolution / Mitigation</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77770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50" kern="1200">
                        <a:solidFill>
                          <a:schemeClr val="tx1"/>
                        </a:solidFill>
                        <a:latin typeface="Aptos" panose="020B0004020202020204" pitchFamily="34" charset="0"/>
                        <a:ea typeface="+mn-ea"/>
                        <a:cs typeface="Arial"/>
                      </a:endParaRP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850" b="0" kern="1200">
                        <a:solidFill>
                          <a:schemeClr val="tx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buNone/>
                      </a:pPr>
                      <a:endParaRPr lang="en-US" sz="850" kern="1200">
                        <a:solidFill>
                          <a:schemeClr val="tx1"/>
                        </a:solidFill>
                        <a:latin typeface="Aptos" panose="020B0004020202020204" pitchFamily="34" charset="0"/>
                        <a:ea typeface="+mn-ea"/>
                        <a:cs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spcBef>
                          <a:spcPts val="100"/>
                        </a:spcBef>
                        <a:spcAft>
                          <a:spcPts val="100"/>
                        </a:spcAft>
                      </a:pPr>
                      <a:endParaRPr lang="en-US" sz="850" b="0" i="0" u="none" strike="noStrike" kern="1200" noProof="0">
                        <a:solidFill>
                          <a:srgbClr val="000000"/>
                        </a:solidFill>
                        <a:effectLst/>
                        <a:latin typeface="Aptos" panose="020B0004020202020204" pitchFamily="34" charset="0"/>
                      </a:endParaRP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14552194"/>
                  </a:ext>
                </a:extLst>
              </a:tr>
            </a:tbl>
          </a:graphicData>
        </a:graphic>
      </p:graphicFrame>
      <p:sp>
        <p:nvSpPr>
          <p:cNvPr id="33" name="Flowchart: Connector 32">
            <a:extLst>
              <a:ext uri="{FF2B5EF4-FFF2-40B4-BE49-F238E27FC236}">
                <a16:creationId xmlns:a16="http://schemas.microsoft.com/office/drawing/2014/main" id="{BFDC4A97-E186-8140-E7F8-4319119ABDB0}"/>
              </a:ext>
            </a:extLst>
          </p:cNvPr>
          <p:cNvSpPr/>
          <p:nvPr/>
        </p:nvSpPr>
        <p:spPr>
          <a:xfrm>
            <a:off x="7311524" y="6524104"/>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Flowchart: Connector 33">
            <a:extLst>
              <a:ext uri="{FF2B5EF4-FFF2-40B4-BE49-F238E27FC236}">
                <a16:creationId xmlns:a16="http://schemas.microsoft.com/office/drawing/2014/main" id="{AA1A590E-4223-D1C2-EBEA-F8F923823736}"/>
              </a:ext>
            </a:extLst>
          </p:cNvPr>
          <p:cNvSpPr/>
          <p:nvPr/>
        </p:nvSpPr>
        <p:spPr>
          <a:xfrm>
            <a:off x="8291059" y="6512837"/>
            <a:ext cx="163286" cy="164592"/>
          </a:xfrm>
          <a:prstGeom prst="flowChartConnector">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Flowchart: Connector 35">
            <a:extLst>
              <a:ext uri="{FF2B5EF4-FFF2-40B4-BE49-F238E27FC236}">
                <a16:creationId xmlns:a16="http://schemas.microsoft.com/office/drawing/2014/main" id="{1083ECDA-603E-138B-5ED0-21E5BF13731F}"/>
              </a:ext>
            </a:extLst>
          </p:cNvPr>
          <p:cNvSpPr/>
          <p:nvPr/>
        </p:nvSpPr>
        <p:spPr>
          <a:xfrm>
            <a:off x="9156933" y="6512837"/>
            <a:ext cx="163285" cy="164592"/>
          </a:xfrm>
          <a:prstGeom prst="flowChartConnector">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Flowchart: Connector 42">
            <a:extLst>
              <a:ext uri="{FF2B5EF4-FFF2-40B4-BE49-F238E27FC236}">
                <a16:creationId xmlns:a16="http://schemas.microsoft.com/office/drawing/2014/main" id="{98848253-A834-A0DA-B7AB-9189A18713BE}"/>
              </a:ext>
            </a:extLst>
          </p:cNvPr>
          <p:cNvSpPr/>
          <p:nvPr/>
        </p:nvSpPr>
        <p:spPr>
          <a:xfrm>
            <a:off x="3328610" y="1329659"/>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highlight>
                <a:srgbClr val="FF0000"/>
              </a:highlight>
            </a:endParaRPr>
          </a:p>
        </p:txBody>
      </p:sp>
      <p:sp>
        <p:nvSpPr>
          <p:cNvPr id="45" name="Flowchart: Connector 44">
            <a:extLst>
              <a:ext uri="{FF2B5EF4-FFF2-40B4-BE49-F238E27FC236}">
                <a16:creationId xmlns:a16="http://schemas.microsoft.com/office/drawing/2014/main" id="{826F7B89-84CD-2D6D-CB16-DF128E45F449}"/>
              </a:ext>
            </a:extLst>
          </p:cNvPr>
          <p:cNvSpPr/>
          <p:nvPr/>
        </p:nvSpPr>
        <p:spPr>
          <a:xfrm>
            <a:off x="4299781" y="1350223"/>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Flowchart: Connector 45">
            <a:extLst>
              <a:ext uri="{FF2B5EF4-FFF2-40B4-BE49-F238E27FC236}">
                <a16:creationId xmlns:a16="http://schemas.microsoft.com/office/drawing/2014/main" id="{2429000E-1D30-8A2E-AD3D-3B2550CEB554}"/>
              </a:ext>
            </a:extLst>
          </p:cNvPr>
          <p:cNvSpPr/>
          <p:nvPr/>
        </p:nvSpPr>
        <p:spPr>
          <a:xfrm>
            <a:off x="5219896" y="1350223"/>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Flowchart: Connector 46">
            <a:extLst>
              <a:ext uri="{FF2B5EF4-FFF2-40B4-BE49-F238E27FC236}">
                <a16:creationId xmlns:a16="http://schemas.microsoft.com/office/drawing/2014/main" id="{2312B1EC-FC7E-09BC-2690-CC638DD45A18}"/>
              </a:ext>
            </a:extLst>
          </p:cNvPr>
          <p:cNvSpPr/>
          <p:nvPr/>
        </p:nvSpPr>
        <p:spPr>
          <a:xfrm>
            <a:off x="6096000" y="1350223"/>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FB12DBC5-FE50-D649-59F3-F5DFE1A04FC0}"/>
              </a:ext>
            </a:extLst>
          </p:cNvPr>
          <p:cNvSpPr txBox="1"/>
          <p:nvPr/>
        </p:nvSpPr>
        <p:spPr>
          <a:xfrm>
            <a:off x="119511" y="1676415"/>
            <a:ext cx="5583020" cy="3677930"/>
          </a:xfrm>
          <a:prstGeom prst="rect">
            <a:avLst/>
          </a:prstGeom>
          <a:noFill/>
        </p:spPr>
        <p:txBody>
          <a:bodyPr wrap="square" lIns="91440" tIns="45720" rIns="91440" bIns="45720" anchor="t">
            <a:spAutoFit/>
          </a:bodyPr>
          <a:lstStyle/>
          <a:p>
            <a:pPr>
              <a:spcBef>
                <a:spcPts val="100"/>
              </a:spcBef>
              <a:spcAft>
                <a:spcPts val="100"/>
              </a:spcAft>
            </a:pPr>
            <a:r>
              <a:rPr lang="en-US" sz="850" b="1">
                <a:latin typeface="Aptos" panose="020B0004020202020204" pitchFamily="34" charset="0"/>
                <a:cs typeface="Arial"/>
              </a:rPr>
              <a:t>Overall Project Status: </a:t>
            </a:r>
            <a:r>
              <a:rPr lang="en-US" sz="850" b="1">
                <a:highlight>
                  <a:srgbClr val="58C140"/>
                </a:highlight>
                <a:latin typeface="Aptos" panose="020B0004020202020204" pitchFamily="34" charset="0"/>
                <a:cs typeface="Arial"/>
              </a:rPr>
              <a:t>Green</a:t>
            </a:r>
          </a:p>
          <a:p>
            <a:pPr>
              <a:spcBef>
                <a:spcPts val="100"/>
              </a:spcBef>
              <a:spcAft>
                <a:spcPts val="100"/>
              </a:spcAft>
            </a:pPr>
            <a:r>
              <a:rPr lang="en-US" sz="850">
                <a:solidFill>
                  <a:schemeClr val="dk1"/>
                </a:solidFill>
                <a:latin typeface="Aptos" panose="020B0004020202020204" pitchFamily="34" charset="0"/>
                <a:cs typeface="Arial"/>
              </a:rPr>
              <a:t>ECIF team has reprocessed 21 errored records, and one time data load is concluded. </a:t>
            </a:r>
            <a:r>
              <a:rPr lang="en-US" sz="850">
                <a:latin typeface="Aptos" panose="020B0004020202020204" pitchFamily="34" charset="0"/>
              </a:rPr>
              <a:t>MMP2 Warranty Support is completed and </a:t>
            </a:r>
            <a:r>
              <a:rPr lang="en-US" sz="850">
                <a:solidFill>
                  <a:schemeClr val="dk1"/>
                </a:solidFill>
                <a:latin typeface="Aptos" panose="020B0004020202020204" pitchFamily="34" charset="0"/>
                <a:cs typeface="Arial"/>
              </a:rPr>
              <a:t>Build to Run transition is concluded.</a:t>
            </a:r>
            <a:endParaRPr lang="en-US" sz="850">
              <a:latin typeface="Aptos" panose="020B0004020202020204" pitchFamily="34" charset="0"/>
              <a:cs typeface="Arial"/>
            </a:endParaRPr>
          </a:p>
          <a:p>
            <a:endParaRPr lang="en-US" sz="850" b="1">
              <a:latin typeface="Aptos" panose="020B0004020202020204" pitchFamily="34" charset="0"/>
              <a:cs typeface="Arial"/>
            </a:endParaRPr>
          </a:p>
          <a:p>
            <a:r>
              <a:rPr lang="en-US" sz="850" b="1">
                <a:latin typeface="Aptos" panose="020B0004020202020204" pitchFamily="34" charset="0"/>
              </a:rPr>
              <a:t>Highlights:</a:t>
            </a:r>
          </a:p>
          <a:p>
            <a:pPr fontAlgn="t">
              <a:lnSpc>
                <a:spcPts val="1500"/>
              </a:lnSpc>
            </a:pPr>
            <a:r>
              <a:rPr lang="en-US" sz="850" b="1" kern="100">
                <a:latin typeface="Aptos" panose="020B0004020202020204" pitchFamily="34" charset="0"/>
                <a:ea typeface="Aptos" panose="020B0004020202020204" pitchFamily="34" charset="0"/>
                <a:cs typeface="Arial"/>
              </a:rPr>
              <a:t>MMP1:</a:t>
            </a:r>
            <a:r>
              <a:rPr lang="en-US" sz="850" kern="100">
                <a:latin typeface="Aptos" panose="020B0004020202020204" pitchFamily="34" charset="0"/>
                <a:cs typeface="Arial"/>
              </a:rPr>
              <a:t> </a:t>
            </a:r>
          </a:p>
          <a:p>
            <a:pPr marL="171450" indent="-171450" fontAlgn="t">
              <a:lnSpc>
                <a:spcPts val="1500"/>
              </a:lnSpc>
              <a:buFont typeface="Arial" panose="020B0604020202020204" pitchFamily="34" charset="0"/>
              <a:buChar char="•"/>
            </a:pPr>
            <a:r>
              <a:rPr lang="en-US" sz="850" kern="100">
                <a:latin typeface="Aptos" panose="020B0004020202020204" pitchFamily="34" charset="0"/>
                <a:ea typeface="Aptos" panose="020B0004020202020204" pitchFamily="34" charset="0"/>
                <a:cs typeface="Arial"/>
              </a:rPr>
              <a:t>Final dashboard refinements remain in progress, with completion of the eDelivery dashboard updates targeted for 8/28.</a:t>
            </a:r>
          </a:p>
          <a:p>
            <a:pPr marL="171450" indent="-171450" fontAlgn="t">
              <a:lnSpc>
                <a:spcPts val="1500"/>
              </a:lnSpc>
              <a:buFont typeface="Arial" panose="020B0604020202020204" pitchFamily="34" charset="0"/>
              <a:buChar char="•"/>
            </a:pPr>
            <a:r>
              <a:rPr lang="en-US" sz="850" kern="100">
                <a:latin typeface="Aptos" panose="020B0004020202020204" pitchFamily="34" charset="0"/>
                <a:ea typeface="Aptos" panose="020B0004020202020204" pitchFamily="34" charset="0"/>
                <a:cs typeface="Arial"/>
              </a:rPr>
              <a:t>Following dashboard finalization and approval, adoption metrics will be distributed more broadly to stakeholders.</a:t>
            </a:r>
          </a:p>
          <a:p>
            <a:pPr fontAlgn="t">
              <a:lnSpc>
                <a:spcPts val="1500"/>
              </a:lnSpc>
            </a:pPr>
            <a:endParaRPr lang="en-US" sz="850" kern="100">
              <a:latin typeface="Aptos" panose="020B0004020202020204" pitchFamily="34" charset="0"/>
              <a:ea typeface="Aptos" panose="020B0004020202020204" pitchFamily="34" charset="0"/>
              <a:cs typeface="Arial"/>
            </a:endParaRPr>
          </a:p>
          <a:p>
            <a:pPr fontAlgn="t">
              <a:lnSpc>
                <a:spcPts val="1500"/>
              </a:lnSpc>
            </a:pPr>
            <a:r>
              <a:rPr lang="en-US" sz="850" b="1" kern="100">
                <a:latin typeface="Aptos" panose="020B0004020202020204" pitchFamily="34" charset="0"/>
                <a:ea typeface="Aptos" panose="020B0004020202020204" pitchFamily="34" charset="0"/>
                <a:cs typeface="Arial"/>
              </a:rPr>
              <a:t>MMP2:</a:t>
            </a:r>
          </a:p>
          <a:p>
            <a:pPr marL="171450" lvl="1" indent="-171450" fontAlgn="t">
              <a:lnSpc>
                <a:spcPts val="1500"/>
              </a:lnSpc>
              <a:spcBef>
                <a:spcPts val="200"/>
              </a:spcBef>
              <a:buSzPts val="1000"/>
              <a:buFont typeface="Arial" panose="020B0604020202020204" pitchFamily="34" charset="0"/>
              <a:buChar char="•"/>
              <a:tabLst>
                <a:tab pos="457200" algn="l"/>
              </a:tabLst>
            </a:pPr>
            <a:r>
              <a:rPr lang="en-US" sz="850">
                <a:solidFill>
                  <a:schemeClr val="dk1"/>
                </a:solidFill>
                <a:latin typeface="Aptos" panose="020B0004020202020204" pitchFamily="34" charset="0"/>
                <a:cs typeface="Arial"/>
              </a:rPr>
              <a:t>One time data load is now complete.</a:t>
            </a:r>
          </a:p>
          <a:p>
            <a:pPr marL="171450" lvl="1" indent="-171450" fontAlgn="t">
              <a:lnSpc>
                <a:spcPts val="1500"/>
              </a:lnSpc>
              <a:spcBef>
                <a:spcPts val="200"/>
              </a:spcBef>
              <a:buSzPts val="1000"/>
              <a:buFont typeface="Arial" panose="020B0604020202020204" pitchFamily="34" charset="0"/>
              <a:buChar char="•"/>
              <a:tabLst>
                <a:tab pos="457200" algn="l"/>
              </a:tabLst>
            </a:pPr>
            <a:r>
              <a:rPr lang="en-US" sz="850">
                <a:latin typeface="Aptos" panose="020B0004020202020204" pitchFamily="34" charset="0"/>
              </a:rPr>
              <a:t>MMP2 Warranty Support is completed. </a:t>
            </a:r>
          </a:p>
          <a:p>
            <a:pPr marL="171450" lvl="1" indent="-171450" fontAlgn="t">
              <a:lnSpc>
                <a:spcPts val="1500"/>
              </a:lnSpc>
              <a:spcBef>
                <a:spcPts val="200"/>
              </a:spcBef>
              <a:buSzPts val="1000"/>
              <a:buFont typeface="Arial" panose="020B0604020202020204" pitchFamily="34" charset="0"/>
              <a:buChar char="•"/>
              <a:tabLst>
                <a:tab pos="457200" algn="l"/>
              </a:tabLst>
            </a:pPr>
            <a:r>
              <a:rPr lang="en-US" sz="850">
                <a:solidFill>
                  <a:schemeClr val="dk1"/>
                </a:solidFill>
                <a:latin typeface="Aptos" panose="020B0004020202020204" pitchFamily="34" charset="0"/>
                <a:cs typeface="Arial"/>
              </a:rPr>
              <a:t>Build to Run transition has been concluded.</a:t>
            </a:r>
            <a:endParaRPr lang="en-US" sz="850">
              <a:latin typeface="Aptos" panose="020B0004020202020204" pitchFamily="34" charset="0"/>
              <a:cs typeface="Arial"/>
            </a:endParaRPr>
          </a:p>
          <a:p>
            <a:pPr marL="0" marR="0">
              <a:buNone/>
            </a:pPr>
            <a:endParaRPr lang="en-US" sz="850">
              <a:latin typeface="Aptos" panose="020B0004020202020204" pitchFamily="34" charset="0"/>
              <a:ea typeface="Aptos" panose="020B0004020202020204" pitchFamily="34" charset="0"/>
              <a:cs typeface="Aptos" panose="020B0004020202020204" pitchFamily="34" charset="0"/>
            </a:endParaRPr>
          </a:p>
          <a:p>
            <a:pPr marL="0" marR="0">
              <a:buNone/>
            </a:pPr>
            <a:r>
              <a:rPr lang="en-US" sz="850">
                <a:effectLst/>
                <a:latin typeface="Aptos" panose="020B0004020202020204" pitchFamily="34" charset="0"/>
                <a:ea typeface="Aptos" panose="020B0004020202020204" pitchFamily="34" charset="0"/>
                <a:cs typeface="Aptos" panose="020B0004020202020204" pitchFamily="34" charset="0"/>
              </a:rPr>
              <a:t> </a:t>
            </a:r>
            <a:r>
              <a:rPr lang="en-US" sz="850" b="1" kern="100">
                <a:latin typeface="Aptos" panose="020B0004020202020204" pitchFamily="34" charset="0"/>
                <a:cs typeface="Arial"/>
              </a:rPr>
              <a:t>Next Steps:</a:t>
            </a:r>
          </a:p>
          <a:p>
            <a:pPr marL="171450" indent="-171450">
              <a:buFont typeface="Arial" panose="020B0604020202020204" pitchFamily="34" charset="0"/>
              <a:buChar char="•"/>
            </a:pPr>
            <a:r>
              <a:rPr lang="en-US" sz="850">
                <a:solidFill>
                  <a:schemeClr val="dk1"/>
                </a:solidFill>
                <a:latin typeface="Aptos" panose="020B0004020202020204" pitchFamily="34" charset="0"/>
                <a:cs typeface="Arial"/>
              </a:rPr>
              <a:t>Fix by ECIF and Titans for issue -  Applicant is unable to submit a new application within three minutes of a previous submission.</a:t>
            </a:r>
          </a:p>
          <a:p>
            <a:pPr marL="628650" lvl="1" indent="-171450">
              <a:buFont typeface="Arial" panose="020B0604020202020204" pitchFamily="34" charset="0"/>
              <a:buChar char="•"/>
            </a:pPr>
            <a:r>
              <a:rPr lang="en-US" sz="850">
                <a:solidFill>
                  <a:schemeClr val="dk1"/>
                </a:solidFill>
                <a:latin typeface="Aptos" panose="020B0004020202020204" pitchFamily="34" charset="0"/>
                <a:cs typeface="Arial"/>
              </a:rPr>
              <a:t>Capacity and delivery hours have been approved by ECIF, and the work is expected to begin in late August with a target completion of early October.  </a:t>
            </a:r>
          </a:p>
          <a:p>
            <a:pPr marL="171450" indent="-171450">
              <a:buFont typeface="Arial" panose="020B0604020202020204" pitchFamily="34" charset="0"/>
              <a:buChar char="•"/>
            </a:pPr>
            <a:r>
              <a:rPr lang="en-US" sz="850">
                <a:solidFill>
                  <a:schemeClr val="dk1"/>
                </a:solidFill>
                <a:latin typeface="Aptos" panose="020B0004020202020204" pitchFamily="34" charset="0"/>
                <a:cs typeface="Arial"/>
              </a:rPr>
              <a:t>eDelivery Dashboard updates and review.  </a:t>
            </a:r>
          </a:p>
          <a:p>
            <a:pPr marL="171450" marR="0" indent="-171450">
              <a:buFont typeface="Arial" panose="020B0604020202020204" pitchFamily="34" charset="0"/>
              <a:buChar char="•"/>
            </a:pPr>
            <a:endParaRPr lang="en-US" sz="1100" b="1" kern="100">
              <a:cs typeface="Arial"/>
            </a:endParaRPr>
          </a:p>
        </p:txBody>
      </p:sp>
      <p:sp>
        <p:nvSpPr>
          <p:cNvPr id="4" name="TextBox 2">
            <a:extLst>
              <a:ext uri="{FF2B5EF4-FFF2-40B4-BE49-F238E27FC236}">
                <a16:creationId xmlns:a16="http://schemas.microsoft.com/office/drawing/2014/main" id="{55C502EC-BE22-29F2-367F-956AE0497173}"/>
              </a:ext>
            </a:extLst>
          </p:cNvPr>
          <p:cNvSpPr txBox="1"/>
          <p:nvPr/>
        </p:nvSpPr>
        <p:spPr>
          <a:xfrm>
            <a:off x="9456354" y="125941"/>
            <a:ext cx="2676180" cy="517320"/>
          </a:xfrm>
          <a:prstGeom prst="rect">
            <a:avLst/>
          </a:prstGeom>
          <a:noFill/>
        </p:spPr>
        <p:txBody>
          <a:bodyPr wrap="none" lIns="0" tIns="0" rIns="0" bIns="0" rtlCol="0" anchor="t">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12000"/>
              </a:lnSpc>
            </a:pPr>
            <a:r>
              <a:rPr lang="en-US" sz="1200">
                <a:latin typeface="Aptos"/>
              </a:rPr>
              <a:t>Project Manager </a:t>
            </a:r>
            <a:r>
              <a:rPr lang="en-US" sz="1200">
                <a:solidFill>
                  <a:schemeClr val="tx1"/>
                </a:solidFill>
                <a:latin typeface="Aptos"/>
              </a:rPr>
              <a:t>: </a:t>
            </a:r>
            <a:r>
              <a:rPr lang="en-US" sz="1200">
                <a:latin typeface="Aptos"/>
              </a:rPr>
              <a:t> Shilpa K</a:t>
            </a:r>
            <a:endParaRPr lang="en-US">
              <a:latin typeface="Aptos"/>
            </a:endParaRPr>
          </a:p>
          <a:p>
            <a:pPr algn="l">
              <a:lnSpc>
                <a:spcPct val="112000"/>
              </a:lnSpc>
            </a:pPr>
            <a:r>
              <a:rPr lang="en-US" sz="1200" err="1">
                <a:latin typeface="Aptos"/>
              </a:rPr>
              <a:t>OpEx</a:t>
            </a:r>
            <a:r>
              <a:rPr lang="en-US" sz="1200">
                <a:latin typeface="Aptos"/>
              </a:rPr>
              <a:t> Business Lead: Kelly Heitmann</a:t>
            </a:r>
          </a:p>
        </p:txBody>
      </p:sp>
    </p:spTree>
    <p:extLst>
      <p:ext uri="{BB962C8B-B14F-4D97-AF65-F5344CB8AC3E}">
        <p14:creationId xmlns:p14="http://schemas.microsoft.com/office/powerpoint/2010/main" val="16803702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091CE7-8F35-A411-A873-BC2D74D8AFF9}"/>
            </a:ext>
          </a:extLst>
        </p:cNvPr>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1FC0BDAB-1151-FF5C-EBC7-7A7668B7AF57}"/>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8" imgH="408" progId="TCLayout.ActiveDocument.1">
                  <p:embed/>
                </p:oleObj>
              </mc:Choice>
              <mc:Fallback>
                <p:oleObj name="think-cell Slide" r:id="rId4" imgW="408" imgH="408" progId="TCLayout.ActiveDocument.1">
                  <p:embed/>
                  <p:pic>
                    <p:nvPicPr>
                      <p:cNvPr id="9" name="think-cell data - do not delete" hidden="1">
                        <a:extLst>
                          <a:ext uri="{FF2B5EF4-FFF2-40B4-BE49-F238E27FC236}">
                            <a16:creationId xmlns:a16="http://schemas.microsoft.com/office/drawing/2014/main" id="{1FC0BDAB-1151-FF5C-EBC7-7A7668B7AF5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graphicFrame>
        <p:nvGraphicFramePr>
          <p:cNvPr id="32" name="Group 614">
            <a:extLst>
              <a:ext uri="{FF2B5EF4-FFF2-40B4-BE49-F238E27FC236}">
                <a16:creationId xmlns:a16="http://schemas.microsoft.com/office/drawing/2014/main" id="{18FC2C86-1BC9-09D7-CEDA-5C87201A1433}"/>
              </a:ext>
            </a:extLst>
          </p:cNvPr>
          <p:cNvGraphicFramePr>
            <a:graphicFrameLocks noGrp="1"/>
          </p:cNvGraphicFramePr>
          <p:nvPr>
            <p:extLst>
              <p:ext uri="{D42A27DB-BD31-4B8C-83A1-F6EECF244321}">
                <p14:modId xmlns:p14="http://schemas.microsoft.com/office/powerpoint/2010/main" val="3833110837"/>
              </p:ext>
            </p:extLst>
          </p:nvPr>
        </p:nvGraphicFramePr>
        <p:xfrm>
          <a:off x="4853354" y="6550481"/>
          <a:ext cx="7211962" cy="484586"/>
        </p:xfrm>
        <a:graphic>
          <a:graphicData uri="http://schemas.openxmlformats.org/drawingml/2006/table">
            <a:tbl>
              <a:tblPr/>
              <a:tblGrid>
                <a:gridCol w="612807">
                  <a:extLst>
                    <a:ext uri="{9D8B030D-6E8A-4147-A177-3AD203B41FA5}">
                      <a16:colId xmlns:a16="http://schemas.microsoft.com/office/drawing/2014/main" val="20000"/>
                    </a:ext>
                  </a:extLst>
                </a:gridCol>
                <a:gridCol w="310595">
                  <a:extLst>
                    <a:ext uri="{9D8B030D-6E8A-4147-A177-3AD203B41FA5}">
                      <a16:colId xmlns:a16="http://schemas.microsoft.com/office/drawing/2014/main" val="20001"/>
                    </a:ext>
                  </a:extLst>
                </a:gridCol>
                <a:gridCol w="765556">
                  <a:extLst>
                    <a:ext uri="{9D8B030D-6E8A-4147-A177-3AD203B41FA5}">
                      <a16:colId xmlns:a16="http://schemas.microsoft.com/office/drawing/2014/main" val="20002"/>
                    </a:ext>
                  </a:extLst>
                </a:gridCol>
                <a:gridCol w="305999">
                  <a:extLst>
                    <a:ext uri="{9D8B030D-6E8A-4147-A177-3AD203B41FA5}">
                      <a16:colId xmlns:a16="http://schemas.microsoft.com/office/drawing/2014/main" val="20003"/>
                    </a:ext>
                  </a:extLst>
                </a:gridCol>
                <a:gridCol w="672318">
                  <a:extLst>
                    <a:ext uri="{9D8B030D-6E8A-4147-A177-3AD203B41FA5}">
                      <a16:colId xmlns:a16="http://schemas.microsoft.com/office/drawing/2014/main" val="20004"/>
                    </a:ext>
                  </a:extLst>
                </a:gridCol>
                <a:gridCol w="523476">
                  <a:extLst>
                    <a:ext uri="{9D8B030D-6E8A-4147-A177-3AD203B41FA5}">
                      <a16:colId xmlns:a16="http://schemas.microsoft.com/office/drawing/2014/main" val="20005"/>
                    </a:ext>
                  </a:extLst>
                </a:gridCol>
                <a:gridCol w="574451">
                  <a:extLst>
                    <a:ext uri="{9D8B030D-6E8A-4147-A177-3AD203B41FA5}">
                      <a16:colId xmlns:a16="http://schemas.microsoft.com/office/drawing/2014/main" val="20006"/>
                    </a:ext>
                  </a:extLst>
                </a:gridCol>
                <a:gridCol w="372866">
                  <a:extLst>
                    <a:ext uri="{9D8B030D-6E8A-4147-A177-3AD203B41FA5}">
                      <a16:colId xmlns:a16="http://schemas.microsoft.com/office/drawing/2014/main" val="20007"/>
                    </a:ext>
                  </a:extLst>
                </a:gridCol>
                <a:gridCol w="1386443">
                  <a:extLst>
                    <a:ext uri="{9D8B030D-6E8A-4147-A177-3AD203B41FA5}">
                      <a16:colId xmlns:a16="http://schemas.microsoft.com/office/drawing/2014/main" val="20008"/>
                    </a:ext>
                  </a:extLst>
                </a:gridCol>
                <a:gridCol w="382192">
                  <a:extLst>
                    <a:ext uri="{9D8B030D-6E8A-4147-A177-3AD203B41FA5}">
                      <a16:colId xmlns:a16="http://schemas.microsoft.com/office/drawing/2014/main" val="20009"/>
                    </a:ext>
                  </a:extLst>
                </a:gridCol>
                <a:gridCol w="1305259">
                  <a:extLst>
                    <a:ext uri="{9D8B030D-6E8A-4147-A177-3AD203B41FA5}">
                      <a16:colId xmlns:a16="http://schemas.microsoft.com/office/drawing/2014/main" val="20010"/>
                    </a:ext>
                  </a:extLst>
                </a:gridCol>
              </a:tblGrid>
              <a:tr h="484586">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Arial" charset="0"/>
                          <a:cs typeface="Arial" charset="0"/>
                        </a:rPr>
                        <a:t>Status Key</a:t>
                      </a:r>
                      <a:endParaRPr kumimoji="0" lang="en-GB" sz="1600" b="0" i="0" u="none" strike="noStrike" cap="none" normalizeH="0" baseline="0">
                        <a:ln>
                          <a:noFill/>
                        </a:ln>
                        <a:solidFill>
                          <a:srgbClr val="002060"/>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mj-lt"/>
                        </a:rPr>
                        <a:t>C</a:t>
                      </a: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Arial" charset="0"/>
                          <a:cs typeface="Arial" charset="0"/>
                        </a:rPr>
                        <a:t>Completed</a:t>
                      </a:r>
                      <a:endParaRPr kumimoji="0" lang="en-GB" sz="1600" b="0" i="0" u="none" strike="noStrike" cap="none" normalizeH="0" baseline="0">
                        <a:ln>
                          <a:noFill/>
                        </a:ln>
                        <a:solidFill>
                          <a:srgbClr val="002060"/>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On-Schedule</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Major Issues</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Some Issues</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NS</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Not Started</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2" name="Title 1">
            <a:extLst>
              <a:ext uri="{FF2B5EF4-FFF2-40B4-BE49-F238E27FC236}">
                <a16:creationId xmlns:a16="http://schemas.microsoft.com/office/drawing/2014/main" id="{99212A8A-3401-65A1-0442-BFFBC037224F}"/>
              </a:ext>
            </a:extLst>
          </p:cNvPr>
          <p:cNvSpPr>
            <a:spLocks noGrp="1"/>
          </p:cNvSpPr>
          <p:nvPr>
            <p:ph type="title"/>
          </p:nvPr>
        </p:nvSpPr>
        <p:spPr>
          <a:xfrm>
            <a:off x="181032" y="90206"/>
            <a:ext cx="7490364" cy="517320"/>
          </a:xfrm>
        </p:spPr>
        <p:txBody>
          <a:bodyPr vert="horz">
            <a:normAutofit fontScale="90000"/>
          </a:bodyPr>
          <a:lstStyle/>
          <a:p>
            <a:r>
              <a:rPr lang="en-US" sz="2700">
                <a:solidFill>
                  <a:srgbClr val="29389F"/>
                </a:solidFill>
                <a:latin typeface="Arial" pitchFamily="34" charset="0"/>
                <a:cs typeface="Arial" pitchFamily="34" charset="0"/>
              </a:rPr>
              <a:t>Non-Insurance Bundle v1 (Portfolio ID: 1024485)</a:t>
            </a:r>
            <a:br>
              <a:rPr lang="en-US" sz="2700">
                <a:solidFill>
                  <a:srgbClr val="29389F"/>
                </a:solidFill>
                <a:latin typeface="Arial" pitchFamily="34" charset="0"/>
                <a:cs typeface="Arial" pitchFamily="34" charset="0"/>
              </a:rPr>
            </a:br>
            <a:r>
              <a:rPr lang="en-US" sz="1600">
                <a:solidFill>
                  <a:srgbClr val="0070C0"/>
                </a:solidFill>
                <a:latin typeface="Arial" pitchFamily="34" charset="0"/>
                <a:cs typeface="Arial" pitchFamily="34" charset="0"/>
              </a:rPr>
              <a:t>Providing our VB partners with additional non-insurance options</a:t>
            </a:r>
          </a:p>
        </p:txBody>
      </p:sp>
      <p:graphicFrame>
        <p:nvGraphicFramePr>
          <p:cNvPr id="11" name="Group 513">
            <a:extLst>
              <a:ext uri="{FF2B5EF4-FFF2-40B4-BE49-F238E27FC236}">
                <a16:creationId xmlns:a16="http://schemas.microsoft.com/office/drawing/2014/main" id="{BFB1BC47-0BA9-F11F-C0C5-F479F91CBFA1}"/>
              </a:ext>
            </a:extLst>
          </p:cNvPr>
          <p:cNvGraphicFramePr>
            <a:graphicFrameLocks noGrp="1"/>
          </p:cNvGraphicFramePr>
          <p:nvPr>
            <p:extLst>
              <p:ext uri="{D42A27DB-BD31-4B8C-83A1-F6EECF244321}">
                <p14:modId xmlns:p14="http://schemas.microsoft.com/office/powerpoint/2010/main" val="1661816493"/>
              </p:ext>
            </p:extLst>
          </p:nvPr>
        </p:nvGraphicFramePr>
        <p:xfrm>
          <a:off x="75106" y="685416"/>
          <a:ext cx="2797567" cy="344301"/>
        </p:xfrm>
        <a:graphic>
          <a:graphicData uri="http://schemas.openxmlformats.org/drawingml/2006/table">
            <a:tbl>
              <a:tblPr/>
              <a:tblGrid>
                <a:gridCol w="1067894">
                  <a:extLst>
                    <a:ext uri="{9D8B030D-6E8A-4147-A177-3AD203B41FA5}">
                      <a16:colId xmlns:a16="http://schemas.microsoft.com/office/drawing/2014/main" val="20000"/>
                    </a:ext>
                  </a:extLst>
                </a:gridCol>
                <a:gridCol w="1729673">
                  <a:extLst>
                    <a:ext uri="{9D8B030D-6E8A-4147-A177-3AD203B41FA5}">
                      <a16:colId xmlns:a16="http://schemas.microsoft.com/office/drawing/2014/main" val="20001"/>
                    </a:ext>
                  </a:extLst>
                </a:gridCol>
              </a:tblGrid>
              <a:tr h="344301">
                <a:tc>
                  <a:txBody>
                    <a:bodyPr/>
                    <a:lstStyle/>
                    <a:p>
                      <a:pPr marL="0" marR="0" lvl="0" indent="0" algn="l" defTabSz="914400" rtl="0" eaLnBrk="0" fontAlgn="base" latinLnBrk="0" hangingPunct="0">
                        <a:lnSpc>
                          <a:spcPct val="95000"/>
                        </a:lnSpc>
                        <a:spcBef>
                          <a:spcPct val="0"/>
                        </a:spcBef>
                        <a:spcAft>
                          <a:spcPct val="50000"/>
                        </a:spcAft>
                        <a:buClrTx/>
                        <a:buSzTx/>
                        <a:buFontTx/>
                        <a:buNone/>
                        <a:tabLst/>
                      </a:pPr>
                      <a:r>
                        <a:rPr kumimoji="0" lang="en-GB" sz="1050" b="1" i="0" u="none" strike="noStrike" kern="1200" cap="none" normalizeH="0" baseline="0">
                          <a:ln>
                            <a:noFill/>
                          </a:ln>
                          <a:solidFill>
                            <a:schemeClr val="bg1"/>
                          </a:solidFill>
                          <a:effectLst/>
                          <a:latin typeface="Arial"/>
                          <a:ea typeface="+mn-ea"/>
                          <a:cs typeface="+mn-cs"/>
                        </a:rPr>
                        <a:t>Status Date:</a:t>
                      </a:r>
                    </a:p>
                  </a:txBody>
                  <a:tcPr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GB" sz="850" b="1" i="0" u="none" strike="noStrike" kern="1200" cap="none" normalizeH="0" baseline="0">
                          <a:ln>
                            <a:noFill/>
                          </a:ln>
                          <a:solidFill>
                            <a:schemeClr val="tx1"/>
                          </a:solidFill>
                          <a:effectLst/>
                          <a:latin typeface="Aptos" panose="020B0004020202020204" pitchFamily="34" charset="0"/>
                          <a:ea typeface="+mn-ea"/>
                          <a:cs typeface="+mn-cs"/>
                        </a:rPr>
                        <a:t>8/10/2026</a:t>
                      </a:r>
                    </a:p>
                  </a:txBody>
                  <a:tcPr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14" name="Table 13">
            <a:extLst>
              <a:ext uri="{FF2B5EF4-FFF2-40B4-BE49-F238E27FC236}">
                <a16:creationId xmlns:a16="http://schemas.microsoft.com/office/drawing/2014/main" id="{83BC6461-F483-72C6-B096-2398B30821F6}"/>
              </a:ext>
            </a:extLst>
          </p:cNvPr>
          <p:cNvGraphicFramePr>
            <a:graphicFrameLocks noGrp="1"/>
          </p:cNvGraphicFramePr>
          <p:nvPr>
            <p:extLst>
              <p:ext uri="{D42A27DB-BD31-4B8C-83A1-F6EECF244321}">
                <p14:modId xmlns:p14="http://schemas.microsoft.com/office/powerpoint/2010/main" val="4177781778"/>
              </p:ext>
            </p:extLst>
          </p:nvPr>
        </p:nvGraphicFramePr>
        <p:xfrm>
          <a:off x="6655878" y="678432"/>
          <a:ext cx="5417039" cy="687835"/>
        </p:xfrm>
        <a:graphic>
          <a:graphicData uri="http://schemas.openxmlformats.org/drawingml/2006/table">
            <a:tbl>
              <a:tblPr>
                <a:tableStyleId>{5C22544A-7EE6-4342-B048-85BDC9FD1C3A}</a:tableStyleId>
              </a:tblPr>
              <a:tblGrid>
                <a:gridCol w="1057969">
                  <a:extLst>
                    <a:ext uri="{9D8B030D-6E8A-4147-A177-3AD203B41FA5}">
                      <a16:colId xmlns:a16="http://schemas.microsoft.com/office/drawing/2014/main" val="2456552316"/>
                    </a:ext>
                  </a:extLst>
                </a:gridCol>
                <a:gridCol w="937707">
                  <a:extLst>
                    <a:ext uri="{9D8B030D-6E8A-4147-A177-3AD203B41FA5}">
                      <a16:colId xmlns:a16="http://schemas.microsoft.com/office/drawing/2014/main" val="2327174630"/>
                    </a:ext>
                  </a:extLst>
                </a:gridCol>
                <a:gridCol w="1533277">
                  <a:extLst>
                    <a:ext uri="{9D8B030D-6E8A-4147-A177-3AD203B41FA5}">
                      <a16:colId xmlns:a16="http://schemas.microsoft.com/office/drawing/2014/main" val="1100051595"/>
                    </a:ext>
                  </a:extLst>
                </a:gridCol>
                <a:gridCol w="925036">
                  <a:extLst>
                    <a:ext uri="{9D8B030D-6E8A-4147-A177-3AD203B41FA5}">
                      <a16:colId xmlns:a16="http://schemas.microsoft.com/office/drawing/2014/main" val="2042261034"/>
                    </a:ext>
                  </a:extLst>
                </a:gridCol>
                <a:gridCol w="963050">
                  <a:extLst>
                    <a:ext uri="{9D8B030D-6E8A-4147-A177-3AD203B41FA5}">
                      <a16:colId xmlns:a16="http://schemas.microsoft.com/office/drawing/2014/main" val="2815874248"/>
                    </a:ext>
                  </a:extLst>
                </a:gridCol>
              </a:tblGrid>
              <a:tr h="336252">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2026 Budget</a:t>
                      </a:r>
                      <a:r>
                        <a:rPr lang="en-US" sz="1050" b="1" i="0" u="none" strike="noStrike" kern="1200" cap="none" normalizeH="0" baseline="0">
                          <a:ln>
                            <a:noFill/>
                          </a:ln>
                          <a:solidFill>
                            <a:schemeClr val="bg1"/>
                          </a:solidFill>
                          <a:effectLst/>
                          <a:latin typeface="Arial"/>
                          <a:ea typeface="+mn-ea"/>
                          <a:cs typeface="+mn-cs"/>
                        </a:rPr>
                        <a:t> </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YTD Actuals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Remaining 2026 Forecast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Current YE Forecast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Total Budget</a:t>
                      </a:r>
                      <a:r>
                        <a:rPr lang="en-US" sz="1050" b="1" i="0" u="none" strike="noStrike" kern="1200" cap="none" normalizeH="0" baseline="0">
                          <a:ln>
                            <a:noFill/>
                          </a:ln>
                          <a:solidFill>
                            <a:schemeClr val="bg1"/>
                          </a:solidFill>
                          <a:effectLst/>
                          <a:latin typeface="Arial"/>
                          <a:ea typeface="+mn-ea"/>
                          <a:cs typeface="+mn-cs"/>
                        </a:rPr>
                        <a:t> </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351583">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$273K</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$164,899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defRPr/>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$108K</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$273K</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$273K</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7499024"/>
                  </a:ext>
                </a:extLst>
              </a:tr>
            </a:tbl>
          </a:graphicData>
        </a:graphic>
      </p:graphicFrame>
      <p:graphicFrame>
        <p:nvGraphicFramePr>
          <p:cNvPr id="25" name="Table 24">
            <a:extLst>
              <a:ext uri="{FF2B5EF4-FFF2-40B4-BE49-F238E27FC236}">
                <a16:creationId xmlns:a16="http://schemas.microsoft.com/office/drawing/2014/main" id="{15021E2D-E603-8E90-9FB9-EF437D8FBFFA}"/>
              </a:ext>
            </a:extLst>
          </p:cNvPr>
          <p:cNvGraphicFramePr>
            <a:graphicFrameLocks noGrp="1"/>
          </p:cNvGraphicFramePr>
          <p:nvPr/>
        </p:nvGraphicFramePr>
        <p:xfrm>
          <a:off x="2813528" y="685416"/>
          <a:ext cx="3829275" cy="687835"/>
        </p:xfrm>
        <a:graphic>
          <a:graphicData uri="http://schemas.openxmlformats.org/drawingml/2006/table">
            <a:tbl>
              <a:tblPr>
                <a:tableStyleId>{5C22544A-7EE6-4342-B048-85BDC9FD1C3A}</a:tableStyleId>
              </a:tblPr>
              <a:tblGrid>
                <a:gridCol w="1042158">
                  <a:extLst>
                    <a:ext uri="{9D8B030D-6E8A-4147-A177-3AD203B41FA5}">
                      <a16:colId xmlns:a16="http://schemas.microsoft.com/office/drawing/2014/main" val="2456552316"/>
                    </a:ext>
                  </a:extLst>
                </a:gridCol>
                <a:gridCol w="961214">
                  <a:extLst>
                    <a:ext uri="{9D8B030D-6E8A-4147-A177-3AD203B41FA5}">
                      <a16:colId xmlns:a16="http://schemas.microsoft.com/office/drawing/2014/main" val="1100051595"/>
                    </a:ext>
                  </a:extLst>
                </a:gridCol>
                <a:gridCol w="920742">
                  <a:extLst>
                    <a:ext uri="{9D8B030D-6E8A-4147-A177-3AD203B41FA5}">
                      <a16:colId xmlns:a16="http://schemas.microsoft.com/office/drawing/2014/main" val="2042261034"/>
                    </a:ext>
                  </a:extLst>
                </a:gridCol>
                <a:gridCol w="905161">
                  <a:extLst>
                    <a:ext uri="{9D8B030D-6E8A-4147-A177-3AD203B41FA5}">
                      <a16:colId xmlns:a16="http://schemas.microsoft.com/office/drawing/2014/main" val="2815874248"/>
                    </a:ext>
                  </a:extLst>
                </a:gridCol>
              </a:tblGrid>
              <a:tr h="375641">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Overall</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Scope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Schedule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Financials</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312194">
                <a:tc>
                  <a:txBody>
                    <a:bodyPr/>
                    <a:lstStyle/>
                    <a:p>
                      <a:pPr marL="0" marR="0" lvl="0" indent="0" algn="ctr" rtl="0" eaLnBrk="1" fontAlgn="ctr" latinLnBrk="0" hangingPunct="1">
                        <a:lnSpc>
                          <a:spcPct val="95000"/>
                        </a:lnSpc>
                        <a:spcBef>
                          <a:spcPct val="0"/>
                        </a:spcBef>
                        <a:spcAft>
                          <a:spcPct val="50000"/>
                        </a:spcAft>
                        <a:buClrTx/>
                        <a:buSzTx/>
                        <a:buFontTx/>
                        <a:buNone/>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rtl="0" eaLnBrk="1" fontAlgn="ctr" latinLnBrk="0" hangingPunct="1">
                        <a:lnSpc>
                          <a:spcPct val="95000"/>
                        </a:lnSpc>
                        <a:spcBef>
                          <a:spcPct val="0"/>
                        </a:spcBef>
                        <a:spcAft>
                          <a:spcPct val="50000"/>
                        </a:spcAft>
                        <a:buClrTx/>
                        <a:buSzTx/>
                        <a:buFontTx/>
                        <a:buNone/>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7499024"/>
                  </a:ext>
                </a:extLst>
              </a:tr>
            </a:tbl>
          </a:graphicData>
        </a:graphic>
      </p:graphicFrame>
      <p:graphicFrame>
        <p:nvGraphicFramePr>
          <p:cNvPr id="26" name="Group 513">
            <a:extLst>
              <a:ext uri="{FF2B5EF4-FFF2-40B4-BE49-F238E27FC236}">
                <a16:creationId xmlns:a16="http://schemas.microsoft.com/office/drawing/2014/main" id="{4646CB18-1B9B-930B-89CC-885478A70C3F}"/>
              </a:ext>
            </a:extLst>
          </p:cNvPr>
          <p:cNvGraphicFramePr>
            <a:graphicFrameLocks noGrp="1"/>
          </p:cNvGraphicFramePr>
          <p:nvPr>
            <p:extLst>
              <p:ext uri="{D42A27DB-BD31-4B8C-83A1-F6EECF244321}">
                <p14:modId xmlns:p14="http://schemas.microsoft.com/office/powerpoint/2010/main" val="1536110649"/>
              </p:ext>
            </p:extLst>
          </p:nvPr>
        </p:nvGraphicFramePr>
        <p:xfrm>
          <a:off x="75107" y="1029716"/>
          <a:ext cx="2738422" cy="336551"/>
        </p:xfrm>
        <a:graphic>
          <a:graphicData uri="http://schemas.openxmlformats.org/drawingml/2006/table">
            <a:tbl>
              <a:tblPr/>
              <a:tblGrid>
                <a:gridCol w="1059273">
                  <a:extLst>
                    <a:ext uri="{9D8B030D-6E8A-4147-A177-3AD203B41FA5}">
                      <a16:colId xmlns:a16="http://schemas.microsoft.com/office/drawing/2014/main" val="20000"/>
                    </a:ext>
                  </a:extLst>
                </a:gridCol>
                <a:gridCol w="1679149">
                  <a:extLst>
                    <a:ext uri="{9D8B030D-6E8A-4147-A177-3AD203B41FA5}">
                      <a16:colId xmlns:a16="http://schemas.microsoft.com/office/drawing/2014/main" val="20001"/>
                    </a:ext>
                  </a:extLst>
                </a:gridCol>
              </a:tblGrid>
              <a:tr h="336551">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GB" sz="1050" b="1" i="0" u="none" strike="noStrike" kern="1200" cap="none" normalizeH="0" baseline="0">
                          <a:ln>
                            <a:noFill/>
                          </a:ln>
                          <a:solidFill>
                            <a:schemeClr val="bg1"/>
                          </a:solidFill>
                          <a:effectLst/>
                          <a:latin typeface="Arial"/>
                          <a:ea typeface="+mn-ea"/>
                          <a:cs typeface="+mn-cs"/>
                        </a:rPr>
                        <a:t>Target Delivery:</a:t>
                      </a:r>
                    </a:p>
                  </a:txBody>
                  <a:tcPr marL="0" marR="0"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7/15/26</a:t>
                      </a:r>
                    </a:p>
                  </a:txBody>
                  <a:tcPr marL="0" marR="0"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27" name="Table 26">
            <a:extLst>
              <a:ext uri="{FF2B5EF4-FFF2-40B4-BE49-F238E27FC236}">
                <a16:creationId xmlns:a16="http://schemas.microsoft.com/office/drawing/2014/main" id="{B3BCAE11-FEFD-464E-3809-4805738D3E05}"/>
              </a:ext>
            </a:extLst>
          </p:cNvPr>
          <p:cNvGraphicFramePr>
            <a:graphicFrameLocks noGrp="1"/>
          </p:cNvGraphicFramePr>
          <p:nvPr>
            <p:extLst>
              <p:ext uri="{D42A27DB-BD31-4B8C-83A1-F6EECF244321}">
                <p14:modId xmlns:p14="http://schemas.microsoft.com/office/powerpoint/2010/main" val="3337447075"/>
              </p:ext>
            </p:extLst>
          </p:nvPr>
        </p:nvGraphicFramePr>
        <p:xfrm>
          <a:off x="4853354" y="1379230"/>
          <a:ext cx="7219564" cy="3883922"/>
        </p:xfrm>
        <a:graphic>
          <a:graphicData uri="http://schemas.openxmlformats.org/drawingml/2006/table">
            <a:tbl>
              <a:tblPr>
                <a:tableStyleId>{5C22544A-7EE6-4342-B048-85BDC9FD1C3A}</a:tableStyleId>
              </a:tblPr>
              <a:tblGrid>
                <a:gridCol w="2642504">
                  <a:extLst>
                    <a:ext uri="{9D8B030D-6E8A-4147-A177-3AD203B41FA5}">
                      <a16:colId xmlns:a16="http://schemas.microsoft.com/office/drawing/2014/main" val="2456552316"/>
                    </a:ext>
                  </a:extLst>
                </a:gridCol>
                <a:gridCol w="546866">
                  <a:extLst>
                    <a:ext uri="{9D8B030D-6E8A-4147-A177-3AD203B41FA5}">
                      <a16:colId xmlns:a16="http://schemas.microsoft.com/office/drawing/2014/main" val="1100051595"/>
                    </a:ext>
                  </a:extLst>
                </a:gridCol>
                <a:gridCol w="506393">
                  <a:extLst>
                    <a:ext uri="{9D8B030D-6E8A-4147-A177-3AD203B41FA5}">
                      <a16:colId xmlns:a16="http://schemas.microsoft.com/office/drawing/2014/main" val="2042261034"/>
                    </a:ext>
                  </a:extLst>
                </a:gridCol>
                <a:gridCol w="3523801">
                  <a:extLst>
                    <a:ext uri="{9D8B030D-6E8A-4147-A177-3AD203B41FA5}">
                      <a16:colId xmlns:a16="http://schemas.microsoft.com/office/drawing/2014/main" val="2815874248"/>
                    </a:ext>
                  </a:extLst>
                </a:gridCol>
              </a:tblGrid>
              <a:tr h="306305">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Milestone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Status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Due Date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Notes</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262350">
                <a:tc>
                  <a:txBody>
                    <a:bodyPr/>
                    <a:lstStyle/>
                    <a:p>
                      <a:pPr marL="114300" marR="0" lvl="0" indent="0" algn="l" rtl="0" eaLnBrk="1" fontAlgn="ctr" latinLnBrk="0" hangingPunct="1">
                        <a:lnSpc>
                          <a:spcPct val="95000"/>
                        </a:lnSpc>
                        <a:spcBef>
                          <a:spcPct val="0"/>
                        </a:spcBef>
                        <a:spcAft>
                          <a:spcPct val="50000"/>
                        </a:spcAft>
                        <a:buClrTx/>
                        <a:buSzTx/>
                        <a:buFontTx/>
                        <a:buNone/>
                      </a:pPr>
                      <a:r>
                        <a:rPr lang="en-US" sz="850" b="0" kern="1200">
                          <a:solidFill>
                            <a:schemeClr val="tx1"/>
                          </a:solidFill>
                          <a:effectLst/>
                          <a:latin typeface="Aptos" panose="020B0004020202020204" pitchFamily="34" charset="0"/>
                          <a:ea typeface="+mn-ea"/>
                          <a:cs typeface="+mn-cs"/>
                        </a:rPr>
                        <a:t>Received HLA/Architecture assessment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r>
                        <a:rPr lang="en-US" sz="850" b="0" kern="1200">
                          <a:solidFill>
                            <a:schemeClr val="tx1"/>
                          </a:solidFill>
                          <a:effectLst/>
                          <a:latin typeface="Aptos" panose="020B0004020202020204" pitchFamily="34" charset="0"/>
                          <a:ea typeface="+mn-ea"/>
                          <a:cs typeface="+mn-cs"/>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r>
                        <a:rPr lang="en-US" sz="850" b="0" strike="noStrike" kern="1200">
                          <a:solidFill>
                            <a:schemeClr val="tx1"/>
                          </a:solidFill>
                          <a:effectLst/>
                          <a:latin typeface="Aptos" panose="020B0004020202020204" pitchFamily="34" charset="0"/>
                          <a:ea typeface="+mn-ea"/>
                          <a:cs typeface="+mn-cs"/>
                        </a:rPr>
                        <a:t>1/23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0" marR="0" lvl="0" indent="0" algn="l" defTabSz="914400" rtl="0" eaLnBrk="1" fontAlgn="auto" latinLnBrk="0" hangingPunct="1">
                        <a:lnSpc>
                          <a:spcPts val="600"/>
                        </a:lnSpc>
                        <a:spcBef>
                          <a:spcPts val="300"/>
                        </a:spcBef>
                        <a:spcAft>
                          <a:spcPts val="0"/>
                        </a:spcAft>
                        <a:buClrTx/>
                        <a:buSzTx/>
                        <a:buFontTx/>
                        <a:buNone/>
                        <a:tabLst/>
                        <a:defRPr/>
                      </a:pPr>
                      <a:r>
                        <a:rPr lang="en-US" sz="850" b="0" i="0">
                          <a:solidFill>
                            <a:srgbClr val="000000"/>
                          </a:solidFill>
                          <a:effectLst/>
                          <a:latin typeface="Aptos" panose="020B0004020202020204" pitchFamily="34" charset="0"/>
                        </a:rPr>
                        <a:t>Document complete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extLst>
                  <a:ext uri="{0D108BD9-81ED-4DB2-BD59-A6C34878D82A}">
                    <a16:rowId xmlns:a16="http://schemas.microsoft.com/office/drawing/2014/main" val="1748893264"/>
                  </a:ext>
                </a:extLst>
              </a:tr>
              <a:tr h="247368">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50">
                          <a:latin typeface="Aptos" panose="020B0004020202020204" pitchFamily="34" charset="0"/>
                        </a:rPr>
                        <a:t>Alignment of scope/requirements (HLA) with BDE/BL</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0" marR="0" lvl="0" indent="0" algn="ctr" defTabSz="914400" rtl="0">
                        <a:lnSpc>
                          <a:spcPct val="95000"/>
                        </a:lnSpc>
                        <a:spcBef>
                          <a:spcPct val="0"/>
                        </a:spcBef>
                        <a:spcAft>
                          <a:spcPct val="50000"/>
                        </a:spcAft>
                        <a:buClrTx/>
                        <a:buSzTx/>
                        <a:buFontTx/>
                        <a:buNone/>
                        <a:tabLst/>
                      </a:pPr>
                      <a:r>
                        <a:rPr lang="en-US" sz="850" b="0" kern="1200">
                          <a:solidFill>
                            <a:schemeClr val="tx1"/>
                          </a:solidFill>
                          <a:effectLst/>
                          <a:latin typeface="Aptos" panose="020B0004020202020204" pitchFamily="34" charset="0"/>
                          <a:ea typeface="+mn-ea"/>
                          <a:cs typeface="+mn-cs"/>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0" marR="0" lvl="0" indent="0" algn="ctr" defTabSz="914400" rtl="0" eaLnBrk="1" fontAlgn="auto" latinLnBrk="0" hangingPunct="1">
                        <a:lnSpc>
                          <a:spcPct val="95000"/>
                        </a:lnSpc>
                        <a:spcBef>
                          <a:spcPct val="0"/>
                        </a:spcBef>
                        <a:spcAft>
                          <a:spcPct val="50000"/>
                        </a:spcAft>
                        <a:buClrTx/>
                        <a:buSzTx/>
                        <a:buFontTx/>
                        <a:buNone/>
                        <a:tabLst/>
                        <a:defRPr/>
                      </a:pPr>
                      <a:r>
                        <a:rPr lang="en-US" sz="850" b="0" strike="sngStrike" kern="1200">
                          <a:solidFill>
                            <a:schemeClr val="tx1"/>
                          </a:solidFill>
                          <a:effectLst/>
                          <a:latin typeface="Aptos" panose="020B0004020202020204" pitchFamily="34" charset="0"/>
                          <a:ea typeface="+mn-ea"/>
                          <a:cs typeface="+mn-cs"/>
                        </a:rPr>
                        <a:t>2/26</a:t>
                      </a:r>
                      <a:endParaRPr lang="en-US" sz="850" b="0" strike="noStrike" kern="1200">
                        <a:solidFill>
                          <a:schemeClr val="tx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0" marR="0" lvl="0">
                        <a:lnSpc>
                          <a:spcPct val="114999"/>
                        </a:lnSpc>
                        <a:spcAft>
                          <a:spcPts val="800"/>
                        </a:spcAft>
                        <a:buNone/>
                      </a:pPr>
                      <a:r>
                        <a:rPr lang="en-US" sz="850" b="0" i="0" u="none" strike="noStrike" kern="100" noProof="0">
                          <a:solidFill>
                            <a:schemeClr val="dk1"/>
                          </a:solidFill>
                          <a:effectLst/>
                          <a:latin typeface="Aptos" panose="020B0004020202020204" pitchFamily="34" charset="0"/>
                        </a:rPr>
                        <a:t>Leslie approved on 2/26/26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extLst>
                  <a:ext uri="{0D108BD9-81ED-4DB2-BD59-A6C34878D82A}">
                    <a16:rowId xmlns:a16="http://schemas.microsoft.com/office/drawing/2014/main" val="3805706767"/>
                  </a:ext>
                </a:extLst>
              </a:tr>
              <a:tr h="261162">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50">
                          <a:latin typeface="Aptos" panose="020B0004020202020204" pitchFamily="34" charset="0"/>
                        </a:rPr>
                        <a:t>Detailed Requirements/Epics creation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0" marR="0" lvl="0" indent="0" algn="ctr" defTabSz="914400" rtl="0">
                        <a:lnSpc>
                          <a:spcPct val="95000"/>
                        </a:lnSpc>
                        <a:spcBef>
                          <a:spcPct val="0"/>
                        </a:spcBef>
                        <a:spcAft>
                          <a:spcPct val="50000"/>
                        </a:spcAft>
                        <a:buClrTx/>
                        <a:buSzTx/>
                        <a:buFontTx/>
                        <a:buNone/>
                        <a:tabLst/>
                      </a:pPr>
                      <a:r>
                        <a:rPr lang="en-US" sz="850" b="0" kern="1200">
                          <a:solidFill>
                            <a:schemeClr val="tx1"/>
                          </a:solidFill>
                          <a:effectLst/>
                          <a:latin typeface="Aptos" panose="020B0004020202020204" pitchFamily="34" charset="0"/>
                          <a:ea typeface="+mn-ea"/>
                          <a:cs typeface="+mn-cs"/>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0" marR="0" lvl="0" indent="0" algn="ctr" defTabSz="914400" rtl="0" eaLnBrk="1" fontAlgn="auto" latinLnBrk="0" hangingPunct="1">
                        <a:lnSpc>
                          <a:spcPct val="95000"/>
                        </a:lnSpc>
                        <a:spcBef>
                          <a:spcPct val="0"/>
                        </a:spcBef>
                        <a:spcAft>
                          <a:spcPct val="50000"/>
                        </a:spcAft>
                        <a:buClrTx/>
                        <a:buSzTx/>
                        <a:buFontTx/>
                        <a:buNone/>
                        <a:tabLst/>
                        <a:defRPr/>
                      </a:pPr>
                      <a:r>
                        <a:rPr lang="en-US" sz="850" b="0" strike="sngStrike" kern="1200">
                          <a:solidFill>
                            <a:schemeClr val="tx1"/>
                          </a:solidFill>
                          <a:effectLst/>
                          <a:latin typeface="Aptos" panose="020B0004020202020204" pitchFamily="34" charset="0"/>
                          <a:ea typeface="+mn-ea"/>
                          <a:cs typeface="+mn-cs"/>
                        </a:rPr>
                        <a:t>3/13</a:t>
                      </a:r>
                    </a:p>
                    <a:p>
                      <a:pPr marL="0" marR="0" lvl="0" indent="0" algn="ctr" defTabSz="914400" rtl="0" eaLnBrk="1" fontAlgn="auto" latinLnBrk="0" hangingPunct="1">
                        <a:lnSpc>
                          <a:spcPct val="95000"/>
                        </a:lnSpc>
                        <a:spcBef>
                          <a:spcPct val="0"/>
                        </a:spcBef>
                        <a:spcAft>
                          <a:spcPct val="50000"/>
                        </a:spcAft>
                        <a:buClrTx/>
                        <a:buSzTx/>
                        <a:buFontTx/>
                        <a:buNone/>
                        <a:tabLst/>
                        <a:defRPr/>
                      </a:pPr>
                      <a:r>
                        <a:rPr lang="en-US" sz="850" b="0" strike="noStrike" kern="1200">
                          <a:solidFill>
                            <a:schemeClr val="tx1"/>
                          </a:solidFill>
                          <a:effectLst/>
                          <a:latin typeface="Aptos" panose="020B0004020202020204" pitchFamily="34" charset="0"/>
                          <a:ea typeface="+mn-ea"/>
                          <a:cs typeface="+mn-cs"/>
                        </a:rPr>
                        <a:t>3/27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0" marR="0" lvl="0">
                        <a:lnSpc>
                          <a:spcPct val="114999"/>
                        </a:lnSpc>
                        <a:spcAft>
                          <a:spcPts val="800"/>
                        </a:spcAft>
                        <a:buNone/>
                      </a:pPr>
                      <a:r>
                        <a:rPr lang="en-US" sz="850" b="0" i="0" u="none" strike="noStrike" kern="100" noProof="0">
                          <a:solidFill>
                            <a:schemeClr val="dk1"/>
                          </a:solidFill>
                          <a:effectLst/>
                          <a:latin typeface="Aptos" panose="020B0004020202020204" pitchFamily="34" charset="0"/>
                        </a:rPr>
                        <a:t>Surekha (TA) to deliver; Nidia is meeting with Surekha on 2/11 to support Epics creation.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extLst>
                  <a:ext uri="{0D108BD9-81ED-4DB2-BD59-A6C34878D82A}">
                    <a16:rowId xmlns:a16="http://schemas.microsoft.com/office/drawing/2014/main" val="3943924009"/>
                  </a:ext>
                </a:extLst>
              </a:tr>
              <a:tr h="291237">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50" kern="1200">
                          <a:solidFill>
                            <a:schemeClr val="dk1"/>
                          </a:solidFill>
                          <a:latin typeface="Aptos" panose="020B0004020202020204" pitchFamily="34" charset="0"/>
                          <a:ea typeface="+mn-ea"/>
                          <a:cs typeface="+mn-cs"/>
                        </a:rPr>
                        <a:t>SOW/Vendor sign-off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r>
                        <a:rPr lang="en-US" sz="850" b="0" kern="1200">
                          <a:solidFill>
                            <a:schemeClr val="tx1"/>
                          </a:solidFill>
                          <a:effectLst/>
                          <a:latin typeface="Aptos" panose="020B0004020202020204" pitchFamily="34" charset="0"/>
                          <a:ea typeface="+mn-ea"/>
                          <a:cs typeface="+mn-cs"/>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r>
                        <a:rPr lang="en-US" sz="850" b="0" strike="sngStrike" kern="1200">
                          <a:solidFill>
                            <a:schemeClr val="tx1"/>
                          </a:solidFill>
                          <a:effectLst/>
                          <a:latin typeface="Aptos" panose="020B0004020202020204" pitchFamily="34" charset="0"/>
                          <a:ea typeface="+mn-ea"/>
                          <a:cs typeface="+mn-cs"/>
                        </a:rPr>
                        <a:t>2/13 </a:t>
                      </a:r>
                      <a:r>
                        <a:rPr lang="en-US" sz="850" b="0" strike="noStrike" kern="1200">
                          <a:solidFill>
                            <a:schemeClr val="tx1"/>
                          </a:solidFill>
                          <a:effectLst/>
                          <a:latin typeface="Aptos" panose="020B0004020202020204" pitchFamily="34" charset="0"/>
                          <a:ea typeface="+mn-ea"/>
                          <a:cs typeface="+mn-cs"/>
                        </a:rPr>
                        <a:t>3/13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0" marR="0" lvl="0" algn="l" defTabSz="685858" rtl="0" eaLnBrk="1" fontAlgn="base" latinLnBrk="0" hangingPunct="1">
                        <a:lnSpc>
                          <a:spcPct val="114999"/>
                        </a:lnSpc>
                        <a:spcBef>
                          <a:spcPts val="300"/>
                        </a:spcBef>
                        <a:spcAft>
                          <a:spcPts val="800"/>
                        </a:spcAft>
                        <a:buNone/>
                      </a:pPr>
                      <a:r>
                        <a:rPr lang="en-US" sz="850" b="0" i="0" u="none" strike="noStrike" kern="100">
                          <a:solidFill>
                            <a:schemeClr val="dk1"/>
                          </a:solidFill>
                          <a:effectLst/>
                          <a:latin typeface="Aptos" panose="020B0004020202020204" pitchFamily="34" charset="0"/>
                          <a:ea typeface="+mn-ea"/>
                          <a:cs typeface="+mn-cs"/>
                        </a:rPr>
                        <a:t>Contract is with procurement as of 3/13 and finalizing signatures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extLst>
                  <a:ext uri="{0D108BD9-81ED-4DB2-BD59-A6C34878D82A}">
                    <a16:rowId xmlns:a16="http://schemas.microsoft.com/office/drawing/2014/main" val="4073210692"/>
                  </a:ext>
                </a:extLst>
              </a:tr>
              <a:tr h="208421">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50" kern="1200">
                          <a:solidFill>
                            <a:schemeClr val="dk1"/>
                          </a:solidFill>
                          <a:latin typeface="Aptos" panose="020B0004020202020204" pitchFamily="34" charset="0"/>
                          <a:ea typeface="+mn-ea"/>
                          <a:cs typeface="+mn-cs"/>
                        </a:rPr>
                        <a:t>Solution Approach (Tech)</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algn="ctr"/>
                      <a:r>
                        <a:rPr lang="en-US" sz="850" b="0">
                          <a:latin typeface="Aptos" panose="020B0004020202020204" pitchFamily="34" charset="0"/>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algn="ctr"/>
                      <a:r>
                        <a:rPr lang="en-US" sz="850" b="0" strike="noStrike" kern="1200">
                          <a:solidFill>
                            <a:schemeClr val="tx1"/>
                          </a:solidFill>
                          <a:effectLst/>
                          <a:latin typeface="Aptos" panose="020B0004020202020204" pitchFamily="34" charset="0"/>
                          <a:ea typeface="+mn-ea"/>
                          <a:cs typeface="+mn-cs"/>
                        </a:rPr>
                        <a:t>2/27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0" marR="0" lvl="0" indent="0" algn="l" defTabSz="914400" rtl="0" eaLnBrk="1" fontAlgn="base" latinLnBrk="0" hangingPunct="1">
                        <a:lnSpc>
                          <a:spcPct val="100000"/>
                        </a:lnSpc>
                        <a:spcBef>
                          <a:spcPts val="200"/>
                        </a:spcBef>
                        <a:spcAft>
                          <a:spcPts val="0"/>
                        </a:spcAft>
                        <a:buClrTx/>
                        <a:buSzTx/>
                        <a:buFontTx/>
                        <a:buNone/>
                        <a:tabLst/>
                        <a:defRPr/>
                      </a:pPr>
                      <a:endParaRPr lang="en-US" sz="850" kern="100">
                        <a:solidFill>
                          <a:schemeClr val="dk1"/>
                        </a:solidFill>
                        <a:latin typeface="Aptos" panose="020B0004020202020204" pitchFamily="34" charset="0"/>
                        <a:cs typeface="Times New Roman"/>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extLst>
                  <a:ext uri="{0D108BD9-81ED-4DB2-BD59-A6C34878D82A}">
                    <a16:rowId xmlns:a16="http://schemas.microsoft.com/office/drawing/2014/main" val="1387139067"/>
                  </a:ext>
                </a:extLst>
              </a:tr>
              <a:tr h="231712">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50" kern="1200">
                          <a:solidFill>
                            <a:schemeClr val="dk1"/>
                          </a:solidFill>
                          <a:latin typeface="Aptos" panose="020B0004020202020204" pitchFamily="34" charset="0"/>
                          <a:ea typeface="+mn-ea"/>
                          <a:cs typeface="+mn-cs"/>
                        </a:rPr>
                        <a:t>Master Test Strategy (MTS)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algn="ctr"/>
                      <a:r>
                        <a:rPr lang="en-US" sz="850" b="0">
                          <a:latin typeface="Aptos" panose="020B0004020202020204" pitchFamily="34" charset="0"/>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algn="ctr"/>
                      <a:r>
                        <a:rPr lang="en-US" sz="850" b="0" strike="sngStrike" kern="1200">
                          <a:solidFill>
                            <a:schemeClr val="tx1"/>
                          </a:solidFill>
                          <a:effectLst/>
                          <a:latin typeface="Aptos" panose="020B0004020202020204" pitchFamily="34" charset="0"/>
                          <a:ea typeface="+mn-ea"/>
                          <a:cs typeface="+mn-cs"/>
                        </a:rPr>
                        <a:t>2/223</a:t>
                      </a:r>
                      <a:r>
                        <a:rPr lang="en-US" sz="850" b="0" strike="noStrike" kern="1200">
                          <a:solidFill>
                            <a:schemeClr val="tx1"/>
                          </a:solidFill>
                          <a:effectLst/>
                          <a:latin typeface="Aptos" panose="020B0004020202020204" pitchFamily="34" charset="0"/>
                          <a:ea typeface="+mn-ea"/>
                          <a:cs typeface="+mn-cs"/>
                        </a:rPr>
                        <a:t>/2</a:t>
                      </a:r>
                      <a:r>
                        <a:rPr lang="en-US" sz="850" b="0" strike="sngStrike" kern="1200">
                          <a:solidFill>
                            <a:schemeClr val="tx1"/>
                          </a:solidFill>
                          <a:effectLst/>
                          <a:latin typeface="Aptos" panose="020B0004020202020204" pitchFamily="34" charset="0"/>
                          <a:ea typeface="+mn-ea"/>
                          <a:cs typeface="+mn-cs"/>
                        </a:rPr>
                        <a:t>7</a:t>
                      </a:r>
                      <a:endParaRPr lang="en-US" sz="850" strike="sngStrike">
                        <a:latin typeface="Aptos"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0" marR="0" lvl="0" indent="0" algn="l" defTabSz="914400" rtl="0" eaLnBrk="1" fontAlgn="base" latinLnBrk="0" hangingPunct="1">
                        <a:lnSpc>
                          <a:spcPct val="100000"/>
                        </a:lnSpc>
                        <a:spcBef>
                          <a:spcPts val="200"/>
                        </a:spcBef>
                        <a:spcAft>
                          <a:spcPts val="0"/>
                        </a:spcAft>
                        <a:buClrTx/>
                        <a:buSzTx/>
                        <a:buFontTx/>
                        <a:buNone/>
                        <a:tabLst/>
                        <a:defRPr/>
                      </a:pPr>
                      <a:r>
                        <a:rPr lang="en-US" sz="850" b="0" i="0">
                          <a:solidFill>
                            <a:srgbClr val="000000"/>
                          </a:solidFill>
                          <a:effectLst/>
                          <a:latin typeface="Aptos" panose="020B0004020202020204" pitchFamily="34" charset="0"/>
                          <a:cs typeface="Times New Roman"/>
                        </a:rPr>
                        <a:t>Draft version is ready based on the new requirement change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extLst>
                  <a:ext uri="{0D108BD9-81ED-4DB2-BD59-A6C34878D82A}">
                    <a16:rowId xmlns:a16="http://schemas.microsoft.com/office/drawing/2014/main" val="775249404"/>
                  </a:ext>
                </a:extLst>
              </a:tr>
              <a:tr h="283421">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50" kern="1200">
                          <a:solidFill>
                            <a:schemeClr val="dk1"/>
                          </a:solidFill>
                          <a:latin typeface="Aptos" panose="020B0004020202020204" pitchFamily="34" charset="0"/>
                          <a:ea typeface="+mn-ea"/>
                          <a:cs typeface="+mn-cs"/>
                        </a:rPr>
                        <a:t>Line Estimate based on the requirements change of replacing PRC Bot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algn="ctr"/>
                      <a:r>
                        <a:rPr lang="en-US" sz="850" b="0">
                          <a:latin typeface="Aptos" panose="020B0004020202020204" pitchFamily="34" charset="0"/>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algn="ctr"/>
                      <a:r>
                        <a:rPr lang="en-US" sz="850" strike="noStrike">
                          <a:latin typeface="Aptos" panose="020B0004020202020204" pitchFamily="34" charset="0"/>
                        </a:rPr>
                        <a:t>4/3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0" marR="0" lvl="0" indent="0" algn="l" defTabSz="914400" rtl="0" eaLnBrk="1" fontAlgn="base" latinLnBrk="0" hangingPunct="1">
                        <a:lnSpc>
                          <a:spcPct val="100000"/>
                        </a:lnSpc>
                        <a:spcBef>
                          <a:spcPts val="200"/>
                        </a:spcBef>
                        <a:spcAft>
                          <a:spcPts val="0"/>
                        </a:spcAft>
                        <a:buClrTx/>
                        <a:buSzTx/>
                        <a:buFontTx/>
                        <a:buNone/>
                        <a:tabLst/>
                        <a:defRPr/>
                      </a:pPr>
                      <a:endParaRPr lang="en-US" sz="850" b="0" i="0">
                        <a:solidFill>
                          <a:srgbClr val="000000"/>
                        </a:solidFill>
                        <a:effectLst/>
                        <a:latin typeface="Aptos" panose="020B0004020202020204" pitchFamily="34" charset="0"/>
                        <a:cs typeface="Times New Roman"/>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extLst>
                  <a:ext uri="{0D108BD9-81ED-4DB2-BD59-A6C34878D82A}">
                    <a16:rowId xmlns:a16="http://schemas.microsoft.com/office/drawing/2014/main" val="3124305577"/>
                  </a:ext>
                </a:extLst>
              </a:tr>
              <a:tr h="283421">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50" b="0" kern="1200">
                          <a:solidFill>
                            <a:schemeClr val="dk1"/>
                          </a:solidFill>
                          <a:effectLst/>
                          <a:latin typeface="Aptos" panose="020B0004020202020204" pitchFamily="34" charset="0"/>
                          <a:ea typeface="+mn-ea"/>
                          <a:cs typeface="+mn-cs"/>
                        </a:rPr>
                        <a:t>Development (DDIT)</a:t>
                      </a:r>
                      <a:endParaRPr lang="en-US" sz="850" b="0" kern="1200">
                        <a:solidFill>
                          <a:schemeClr val="dk1"/>
                        </a:solidFill>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0" marR="0" lvl="0" indent="0" algn="ctr" defTabSz="685858" rtl="0" eaLnBrk="1" fontAlgn="auto" latinLnBrk="0" hangingPunct="1">
                        <a:lnSpc>
                          <a:spcPct val="100000"/>
                        </a:lnSpc>
                        <a:spcBef>
                          <a:spcPts val="0"/>
                        </a:spcBef>
                        <a:spcAft>
                          <a:spcPts val="0"/>
                        </a:spcAft>
                        <a:buClrTx/>
                        <a:buSzTx/>
                        <a:buFontTx/>
                        <a:buNone/>
                        <a:tabLst/>
                        <a:defRPr/>
                      </a:pPr>
                      <a:r>
                        <a:rPr lang="en-US" sz="850" b="0">
                          <a:latin typeface="Aptos" panose="020B0004020202020204" pitchFamily="34" charset="0"/>
                        </a:rPr>
                        <a:t>C</a:t>
                      </a:r>
                    </a:p>
                    <a:p>
                      <a:pPr marL="0" marR="0" lvl="0" indent="0" algn="ctr" defTabSz="685858" rtl="0" eaLnBrk="1" fontAlgn="auto" latinLnBrk="0" hangingPunct="1">
                        <a:lnSpc>
                          <a:spcPct val="100000"/>
                        </a:lnSpc>
                        <a:spcBef>
                          <a:spcPts val="0"/>
                        </a:spcBef>
                        <a:spcAft>
                          <a:spcPts val="0"/>
                        </a:spcAft>
                        <a:buClrTx/>
                        <a:buSzTx/>
                        <a:buFontTx/>
                        <a:buNone/>
                        <a:tabLst/>
                        <a:defRPr/>
                      </a:pPr>
                      <a:endParaRPr lang="en-US" sz="850" b="0">
                        <a:latin typeface="Aptos"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algn="ctr"/>
                      <a:r>
                        <a:rPr lang="en-US" sz="850" strike="sngStrike">
                          <a:latin typeface="Aptos" panose="020B0004020202020204" pitchFamily="34" charset="0"/>
                        </a:rPr>
                        <a:t>5/27</a:t>
                      </a:r>
                      <a:r>
                        <a:rPr lang="en-US" sz="850" strike="noStrike">
                          <a:latin typeface="Aptos" panose="020B0004020202020204" pitchFamily="34" charset="0"/>
                        </a:rPr>
                        <a:t> 6/24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0" marR="0" lvl="0" indent="0" algn="l" rtl="0" eaLnBrk="1" fontAlgn="base" latinLnBrk="0" hangingPunct="1">
                        <a:lnSpc>
                          <a:spcPct val="100000"/>
                        </a:lnSpc>
                        <a:spcBef>
                          <a:spcPts val="200"/>
                        </a:spcBef>
                        <a:spcAft>
                          <a:spcPts val="0"/>
                        </a:spcAft>
                        <a:buClrTx/>
                        <a:buSzTx/>
                        <a:buFontTx/>
                        <a:buNone/>
                      </a:pPr>
                      <a:r>
                        <a:rPr lang="en-US" sz="850" b="0" i="0">
                          <a:solidFill>
                            <a:srgbClr val="000000"/>
                          </a:solidFill>
                          <a:effectLst/>
                          <a:latin typeface="Aptos" panose="020B0004020202020204" pitchFamily="34" charset="0"/>
                          <a:cs typeface="Times New Roman"/>
                        </a:rPr>
                        <a:t>Team is prioritizing the DDIT to complete. However, this does not affect the schedule timeline. Updated schedule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extLst>
                  <a:ext uri="{0D108BD9-81ED-4DB2-BD59-A6C34878D82A}">
                    <a16:rowId xmlns:a16="http://schemas.microsoft.com/office/drawing/2014/main" val="2165178776"/>
                  </a:ext>
                </a:extLst>
              </a:tr>
              <a:tr h="283421">
                <a:tc>
                  <a:txBody>
                    <a:bodyPr/>
                    <a:lstStyle/>
                    <a:p>
                      <a:pPr marL="114300" marR="0" lvl="0" indent="0" algn="l" rtl="0">
                        <a:lnSpc>
                          <a:spcPct val="95000"/>
                        </a:lnSpc>
                        <a:spcBef>
                          <a:spcPct val="0"/>
                        </a:spcBef>
                        <a:spcAft>
                          <a:spcPct val="50000"/>
                        </a:spcAft>
                        <a:buClrTx/>
                        <a:buSzTx/>
                        <a:buFontTx/>
                        <a:buNone/>
                      </a:pPr>
                      <a:r>
                        <a:rPr lang="en-US" sz="850" b="0" kern="1200">
                          <a:solidFill>
                            <a:schemeClr val="dk1"/>
                          </a:solidFill>
                          <a:effectLst/>
                          <a:latin typeface="Aptos" panose="020B0004020202020204" pitchFamily="34" charset="0"/>
                          <a:ea typeface="+mn-ea"/>
                          <a:cs typeface="+mn-cs"/>
                        </a:rPr>
                        <a:t>E2E testing</a:t>
                      </a:r>
                      <a:endParaRPr lang="en-US" sz="850" b="0" kern="1200">
                        <a:solidFill>
                          <a:schemeClr val="dk1"/>
                        </a:solidFill>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0" marR="0" lvl="0" indent="0" algn="ctr" defTabSz="685858" rtl="0" eaLnBrk="1" fontAlgn="auto" latinLnBrk="0" hangingPunct="1">
                        <a:lnSpc>
                          <a:spcPct val="100000"/>
                        </a:lnSpc>
                        <a:spcBef>
                          <a:spcPts val="0"/>
                        </a:spcBef>
                        <a:spcAft>
                          <a:spcPts val="0"/>
                        </a:spcAft>
                        <a:buClrTx/>
                        <a:buSzTx/>
                        <a:buFontTx/>
                        <a:buNone/>
                        <a:tabLst/>
                        <a:defRPr/>
                      </a:pPr>
                      <a:r>
                        <a:rPr lang="en-US" sz="850" b="0">
                          <a:latin typeface="Aptos" panose="020B0004020202020204" pitchFamily="34" charset="0"/>
                        </a:rPr>
                        <a:t>C</a:t>
                      </a:r>
                    </a:p>
                    <a:p>
                      <a:pPr marL="0" marR="0" lvl="0" indent="0" algn="ctr" defTabSz="685858" rtl="0" eaLnBrk="1" fontAlgn="auto" latinLnBrk="0" hangingPunct="1">
                        <a:lnSpc>
                          <a:spcPct val="100000"/>
                        </a:lnSpc>
                        <a:spcBef>
                          <a:spcPts val="0"/>
                        </a:spcBef>
                        <a:spcAft>
                          <a:spcPts val="0"/>
                        </a:spcAft>
                        <a:buClrTx/>
                        <a:buSzTx/>
                        <a:buFontTx/>
                        <a:buNone/>
                        <a:tabLst/>
                        <a:defRPr/>
                      </a:pPr>
                      <a:endParaRPr lang="en-US" sz="850" b="0">
                        <a:latin typeface="Aptos"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algn="ctr"/>
                      <a:r>
                        <a:rPr lang="en-US" sz="850" kern="1200">
                          <a:solidFill>
                            <a:schemeClr val="dk1"/>
                          </a:solidFill>
                          <a:effectLst/>
                          <a:latin typeface="Aptos" panose="020B0004020202020204" pitchFamily="34" charset="0"/>
                          <a:ea typeface="+mn-ea"/>
                          <a:cs typeface="+mn-cs"/>
                        </a:rPr>
                        <a:t>6/25- 7/8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0" marR="0" lvl="0" indent="0" algn="l" rtl="0" eaLnBrk="1" fontAlgn="base" latinLnBrk="0" hangingPunct="1">
                        <a:lnSpc>
                          <a:spcPct val="100000"/>
                        </a:lnSpc>
                        <a:spcBef>
                          <a:spcPts val="200"/>
                        </a:spcBef>
                        <a:spcAft>
                          <a:spcPts val="0"/>
                        </a:spcAft>
                        <a:buClrTx/>
                        <a:buSzTx/>
                        <a:buFontTx/>
                        <a:buNone/>
                      </a:pPr>
                      <a:r>
                        <a:rPr lang="en-US" sz="850" b="0" i="0">
                          <a:solidFill>
                            <a:srgbClr val="000000"/>
                          </a:solidFill>
                          <a:effectLst/>
                          <a:latin typeface="Aptos" panose="020B0004020202020204" pitchFamily="34" charset="0"/>
                          <a:cs typeface="Times New Roman"/>
                        </a:rPr>
                        <a:t>E2E completed for EW line. Received file from </a:t>
                      </a:r>
                      <a:r>
                        <a:rPr lang="en-US" sz="850" b="0" i="0" err="1">
                          <a:solidFill>
                            <a:srgbClr val="000000"/>
                          </a:solidFill>
                          <a:effectLst/>
                          <a:latin typeface="Aptos" panose="020B0004020202020204" pitchFamily="34" charset="0"/>
                          <a:cs typeface="Times New Roman"/>
                        </a:rPr>
                        <a:t>Firstvet</a:t>
                      </a:r>
                      <a:r>
                        <a:rPr lang="en-US" sz="850" b="0" i="0">
                          <a:solidFill>
                            <a:srgbClr val="000000"/>
                          </a:solidFill>
                          <a:effectLst/>
                          <a:latin typeface="Aptos" panose="020B0004020202020204" pitchFamily="34" charset="0"/>
                          <a:cs typeface="Times New Roman"/>
                        </a:rPr>
                        <a:t> and AT line is proceeding on the test validation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extLst>
                  <a:ext uri="{0D108BD9-81ED-4DB2-BD59-A6C34878D82A}">
                    <a16:rowId xmlns:a16="http://schemas.microsoft.com/office/drawing/2014/main" val="2534325618"/>
                  </a:ext>
                </a:extLst>
              </a:tr>
              <a:tr h="0">
                <a:tc>
                  <a:txBody>
                    <a:bodyPr/>
                    <a:lstStyle/>
                    <a:p>
                      <a:pPr marL="0" marR="0" algn="l">
                        <a:buNone/>
                      </a:pPr>
                      <a:r>
                        <a:rPr lang="en-US" sz="850" b="0">
                          <a:effectLst/>
                          <a:latin typeface="Aptos" panose="020B0004020202020204" pitchFamily="34" charset="0"/>
                          <a:ea typeface="Aptos" panose="020B0004020202020204" pitchFamily="34" charset="0"/>
                          <a:cs typeface="Aptos" panose="020B0004020202020204" pitchFamily="34" charset="0"/>
                        </a:rPr>
                        <a:t>UAT testing</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0" marR="0" lvl="0" indent="0" algn="ctr" defTabSz="685858" rtl="0" eaLnBrk="1" fontAlgn="auto" latinLnBrk="0" hangingPunct="1">
                        <a:lnSpc>
                          <a:spcPct val="100000"/>
                        </a:lnSpc>
                        <a:spcBef>
                          <a:spcPts val="0"/>
                        </a:spcBef>
                        <a:spcAft>
                          <a:spcPts val="0"/>
                        </a:spcAft>
                        <a:buClrTx/>
                        <a:buSzTx/>
                        <a:buFontTx/>
                        <a:buNone/>
                        <a:tabLst/>
                        <a:defRPr/>
                      </a:pPr>
                      <a:endParaRPr lang="en-US" sz="850" b="0">
                        <a:latin typeface="Aptos" panose="020B0004020202020204" pitchFamily="34" charset="0"/>
                      </a:endParaRPr>
                    </a:p>
                    <a:p>
                      <a:pPr marL="0" marR="0" lvl="0" indent="0" algn="ctr" defTabSz="685858" rtl="0" eaLnBrk="1" fontAlgn="auto" latinLnBrk="0" hangingPunct="1">
                        <a:lnSpc>
                          <a:spcPct val="100000"/>
                        </a:lnSpc>
                        <a:spcBef>
                          <a:spcPts val="0"/>
                        </a:spcBef>
                        <a:spcAft>
                          <a:spcPts val="0"/>
                        </a:spcAft>
                        <a:buClrTx/>
                        <a:buSzTx/>
                        <a:buFontTx/>
                        <a:buNone/>
                        <a:tabLst/>
                        <a:defRPr/>
                      </a:pPr>
                      <a:r>
                        <a:rPr lang="en-US" sz="850" b="0">
                          <a:latin typeface="Aptos" panose="020B0004020202020204" pitchFamily="34" charset="0"/>
                        </a:rPr>
                        <a:t>C</a:t>
                      </a:r>
                    </a:p>
                    <a:p>
                      <a:pPr algn="ctr"/>
                      <a:endParaRPr lang="en-US" sz="850">
                        <a:latin typeface="Aptos"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algn="ctr"/>
                      <a:r>
                        <a:rPr lang="en-US" sz="850" strike="noStrike">
                          <a:latin typeface="Aptos" panose="020B0004020202020204" pitchFamily="34" charset="0"/>
                        </a:rPr>
                        <a:t>7/8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0" marR="0" lvl="0" indent="0" algn="l" rtl="0" eaLnBrk="1" fontAlgn="base" latinLnBrk="0" hangingPunct="1">
                        <a:lnSpc>
                          <a:spcPct val="100000"/>
                        </a:lnSpc>
                        <a:spcBef>
                          <a:spcPts val="200"/>
                        </a:spcBef>
                        <a:spcAft>
                          <a:spcPts val="0"/>
                        </a:spcAft>
                        <a:buClrTx/>
                        <a:buSzTx/>
                        <a:buFontTx/>
                        <a:buNone/>
                      </a:pPr>
                      <a:r>
                        <a:rPr lang="en-US" sz="850" b="0" i="0">
                          <a:solidFill>
                            <a:srgbClr val="000000"/>
                          </a:solidFill>
                          <a:effectLst/>
                          <a:latin typeface="Aptos" panose="020B0004020202020204" pitchFamily="34" charset="0"/>
                          <a:cs typeface="Times New Roman"/>
                        </a:rPr>
                        <a:t>EW line received UAT sign Off and AT line working with Business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extLst>
                  <a:ext uri="{0D108BD9-81ED-4DB2-BD59-A6C34878D82A}">
                    <a16:rowId xmlns:a16="http://schemas.microsoft.com/office/drawing/2014/main" val="4159911778"/>
                  </a:ext>
                </a:extLst>
              </a:tr>
              <a:tr h="242594">
                <a:tc>
                  <a:txBody>
                    <a:bodyPr/>
                    <a:lstStyle/>
                    <a:p>
                      <a:pPr marL="0" marR="0" algn="l">
                        <a:buNone/>
                      </a:pPr>
                      <a:r>
                        <a:rPr lang="en-US" sz="850" b="0">
                          <a:effectLst/>
                          <a:latin typeface="Aptos" panose="020B0004020202020204" pitchFamily="34" charset="0"/>
                          <a:ea typeface="Aptos" panose="020B0004020202020204" pitchFamily="34" charset="0"/>
                          <a:cs typeface="Aptos" panose="020B0004020202020204" pitchFamily="34" charset="0"/>
                        </a:rPr>
                        <a:t>Deploy and staging</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0" marR="0" lvl="0" indent="0" algn="ctr" defTabSz="685858" rtl="0" eaLnBrk="1" fontAlgn="auto" latinLnBrk="0" hangingPunct="1">
                        <a:lnSpc>
                          <a:spcPct val="100000"/>
                        </a:lnSpc>
                        <a:spcBef>
                          <a:spcPts val="0"/>
                        </a:spcBef>
                        <a:spcAft>
                          <a:spcPts val="0"/>
                        </a:spcAft>
                        <a:buClrTx/>
                        <a:buSzTx/>
                        <a:buFontTx/>
                        <a:buNone/>
                        <a:tabLst/>
                        <a:defRPr/>
                      </a:pPr>
                      <a:r>
                        <a:rPr lang="en-US" sz="850" b="0">
                          <a:latin typeface="Aptos" panose="020B0004020202020204" pitchFamily="34" charset="0"/>
                        </a:rPr>
                        <a:t>C</a:t>
                      </a:r>
                    </a:p>
                    <a:p>
                      <a:pPr algn="ctr"/>
                      <a:endParaRPr lang="en-US" sz="850">
                        <a:latin typeface="Aptos"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algn="ctr"/>
                      <a:r>
                        <a:rPr lang="en-US" sz="850" strike="noStrike">
                          <a:latin typeface="Aptos" panose="020B0004020202020204" pitchFamily="34" charset="0"/>
                        </a:rPr>
                        <a:t>7/9-7/14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0" marR="0" lvl="0" indent="0" algn="l" rtl="0" eaLnBrk="1" fontAlgn="base" latinLnBrk="0" hangingPunct="1">
                        <a:lnSpc>
                          <a:spcPct val="100000"/>
                        </a:lnSpc>
                        <a:spcBef>
                          <a:spcPts val="200"/>
                        </a:spcBef>
                        <a:spcAft>
                          <a:spcPts val="0"/>
                        </a:spcAft>
                        <a:buClrTx/>
                        <a:buSzTx/>
                        <a:buFontTx/>
                        <a:buNone/>
                      </a:pPr>
                      <a:r>
                        <a:rPr lang="en-US" sz="850" b="0" i="0">
                          <a:solidFill>
                            <a:srgbClr val="000000"/>
                          </a:solidFill>
                          <a:effectLst/>
                          <a:latin typeface="Aptos" panose="020B0004020202020204" pitchFamily="34" charset="0"/>
                          <a:cs typeface="Times New Roman"/>
                        </a:rPr>
                        <a:t>EW line will start the staging process for code deployment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extLst>
                  <a:ext uri="{0D108BD9-81ED-4DB2-BD59-A6C34878D82A}">
                    <a16:rowId xmlns:a16="http://schemas.microsoft.com/office/drawing/2014/main" val="1625090117"/>
                  </a:ext>
                </a:extLst>
              </a:tr>
              <a:tr h="283421">
                <a:tc>
                  <a:txBody>
                    <a:bodyPr/>
                    <a:lstStyle/>
                    <a:p>
                      <a:pPr marL="0" marR="0">
                        <a:buNone/>
                      </a:pPr>
                      <a:r>
                        <a:rPr lang="en-US" sz="850">
                          <a:effectLst/>
                          <a:latin typeface="Aptos" panose="020B0004020202020204" pitchFamily="34" charset="0"/>
                          <a:ea typeface="Aptos" panose="020B0004020202020204" pitchFamily="34" charset="0"/>
                          <a:cs typeface="Aptos" panose="020B0004020202020204" pitchFamily="34" charset="0"/>
                        </a:rPr>
                        <a:t>Production Release</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0" marR="0" lvl="0" indent="0" algn="ctr" defTabSz="685858" rtl="0" eaLnBrk="1" fontAlgn="auto" latinLnBrk="0" hangingPunct="1">
                        <a:lnSpc>
                          <a:spcPct val="100000"/>
                        </a:lnSpc>
                        <a:spcBef>
                          <a:spcPts val="0"/>
                        </a:spcBef>
                        <a:spcAft>
                          <a:spcPts val="0"/>
                        </a:spcAft>
                        <a:buClrTx/>
                        <a:buSzTx/>
                        <a:buFontTx/>
                        <a:buNone/>
                        <a:tabLst/>
                        <a:defRPr/>
                      </a:pPr>
                      <a:r>
                        <a:rPr lang="en-US" sz="850" b="0">
                          <a:latin typeface="Aptos" panose="020B0004020202020204" pitchFamily="34" charset="0"/>
                        </a:rPr>
                        <a:t>C</a:t>
                      </a:r>
                    </a:p>
                    <a:p>
                      <a:pPr algn="ctr"/>
                      <a:endParaRPr lang="en-US" sz="850">
                        <a:latin typeface="Aptos"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algn="ctr"/>
                      <a:r>
                        <a:rPr lang="en-US" sz="850" strike="noStrike">
                          <a:latin typeface="Aptos" panose="020B0004020202020204" pitchFamily="34" charset="0"/>
                        </a:rPr>
                        <a:t>7/15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0" marR="0" lvl="0" indent="0" algn="l" defTabSz="914400" rtl="0" eaLnBrk="1" fontAlgn="base" latinLnBrk="0" hangingPunct="1">
                        <a:lnSpc>
                          <a:spcPct val="100000"/>
                        </a:lnSpc>
                        <a:spcBef>
                          <a:spcPts val="200"/>
                        </a:spcBef>
                        <a:spcAft>
                          <a:spcPts val="0"/>
                        </a:spcAft>
                        <a:buClrTx/>
                        <a:buSzTx/>
                        <a:buFontTx/>
                        <a:buNone/>
                        <a:tabLst/>
                        <a:defRPr/>
                      </a:pPr>
                      <a:endParaRPr lang="en-US" sz="850" b="0" i="0">
                        <a:solidFill>
                          <a:srgbClr val="000000"/>
                        </a:solidFill>
                        <a:effectLst/>
                        <a:latin typeface="Aptos" panose="020B0004020202020204" pitchFamily="34" charset="0"/>
                        <a:cs typeface="Times New Roman"/>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extLst>
                  <a:ext uri="{0D108BD9-81ED-4DB2-BD59-A6C34878D82A}">
                    <a16:rowId xmlns:a16="http://schemas.microsoft.com/office/drawing/2014/main" val="2711860512"/>
                  </a:ext>
                </a:extLst>
              </a:tr>
            </a:tbl>
          </a:graphicData>
        </a:graphic>
      </p:graphicFrame>
      <p:graphicFrame>
        <p:nvGraphicFramePr>
          <p:cNvPr id="29" name="Table 28">
            <a:extLst>
              <a:ext uri="{FF2B5EF4-FFF2-40B4-BE49-F238E27FC236}">
                <a16:creationId xmlns:a16="http://schemas.microsoft.com/office/drawing/2014/main" id="{4032353D-8352-76FE-633D-99C717408F4F}"/>
              </a:ext>
            </a:extLst>
          </p:cNvPr>
          <p:cNvGraphicFramePr>
            <a:graphicFrameLocks noGrp="1"/>
          </p:cNvGraphicFramePr>
          <p:nvPr>
            <p:extLst>
              <p:ext uri="{D42A27DB-BD31-4B8C-83A1-F6EECF244321}">
                <p14:modId xmlns:p14="http://schemas.microsoft.com/office/powerpoint/2010/main" val="2959621155"/>
              </p:ext>
            </p:extLst>
          </p:nvPr>
        </p:nvGraphicFramePr>
        <p:xfrm>
          <a:off x="4853354" y="5243756"/>
          <a:ext cx="7219564" cy="1439355"/>
        </p:xfrm>
        <a:graphic>
          <a:graphicData uri="http://schemas.openxmlformats.org/drawingml/2006/table">
            <a:tbl>
              <a:tblPr>
                <a:tableStyleId>{5C22544A-7EE6-4342-B048-85BDC9FD1C3A}</a:tableStyleId>
              </a:tblPr>
              <a:tblGrid>
                <a:gridCol w="2663916">
                  <a:extLst>
                    <a:ext uri="{9D8B030D-6E8A-4147-A177-3AD203B41FA5}">
                      <a16:colId xmlns:a16="http://schemas.microsoft.com/office/drawing/2014/main" val="2456552316"/>
                    </a:ext>
                  </a:extLst>
                </a:gridCol>
                <a:gridCol w="523117">
                  <a:extLst>
                    <a:ext uri="{9D8B030D-6E8A-4147-A177-3AD203B41FA5}">
                      <a16:colId xmlns:a16="http://schemas.microsoft.com/office/drawing/2014/main" val="1100051595"/>
                    </a:ext>
                  </a:extLst>
                </a:gridCol>
                <a:gridCol w="581921">
                  <a:extLst>
                    <a:ext uri="{9D8B030D-6E8A-4147-A177-3AD203B41FA5}">
                      <a16:colId xmlns:a16="http://schemas.microsoft.com/office/drawing/2014/main" val="2042261034"/>
                    </a:ext>
                  </a:extLst>
                </a:gridCol>
                <a:gridCol w="3450610">
                  <a:extLst>
                    <a:ext uri="{9D8B030D-6E8A-4147-A177-3AD203B41FA5}">
                      <a16:colId xmlns:a16="http://schemas.microsoft.com/office/drawing/2014/main" val="2815874248"/>
                    </a:ext>
                  </a:extLst>
                </a:gridCol>
              </a:tblGrid>
              <a:tr h="295672">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Critical Risks/Issues</a:t>
                      </a:r>
                      <a:endParaRPr kumimoji="0" lang="en-US" sz="1050" b="1" i="0" u="none" strike="noStrike" kern="1200" cap="none" normalizeH="0" baseline="0">
                        <a:ln>
                          <a:noFill/>
                        </a:ln>
                        <a:solidFill>
                          <a:schemeClr val="bg1"/>
                        </a:solidFill>
                        <a:effectLst/>
                        <a:latin typeface="Arial" charset="0"/>
                        <a:ea typeface="+mn-ea"/>
                        <a:cs typeface="+mn-cs"/>
                      </a:endParaRP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Status</a:t>
                      </a:r>
                    </a:p>
                  </a:txBody>
                  <a:tcPr marL="9525" marR="9525" marT="9525" marB="0" anchor="ct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Target Date</a:t>
                      </a:r>
                    </a:p>
                  </a:txBody>
                  <a:tcPr marL="9525" marR="9525" marT="9525" marB="0" anchor="ctr">
                    <a:lnL w="12700">
                      <a:solidFill>
                        <a:schemeClr val="tx1"/>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Resolution / Mitigation</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582384">
                <a:tc>
                  <a:txBody>
                    <a:bodyPr/>
                    <a:lstStyle/>
                    <a:p>
                      <a:pPr marL="0" marR="0" lvl="0" indent="0" algn="l" defTabSz="914400" rtl="0" eaLnBrk="1" fontAlgn="auto" latinLnBrk="0" hangingPunct="1">
                        <a:lnSpc>
                          <a:spcPct val="115000"/>
                        </a:lnSpc>
                        <a:spcBef>
                          <a:spcPts val="0"/>
                        </a:spcBef>
                        <a:spcAft>
                          <a:spcPts val="800"/>
                        </a:spcAft>
                        <a:buClrTx/>
                        <a:buSzTx/>
                        <a:buFontTx/>
                        <a:buNone/>
                        <a:tabLst/>
                        <a:defRPr/>
                      </a:pPr>
                      <a:r>
                        <a:rPr lang="en-US" sz="850">
                          <a:latin typeface="Aptos" panose="020B0004020202020204" pitchFamily="34" charset="0"/>
                        </a:rPr>
                        <a:t>Risk: </a:t>
                      </a:r>
                      <a:r>
                        <a:rPr lang="en-US" sz="850" kern="1200">
                          <a:solidFill>
                            <a:schemeClr val="dk1"/>
                          </a:solidFill>
                          <a:latin typeface="Aptos" panose="020B0004020202020204" pitchFamily="34" charset="0"/>
                          <a:ea typeface="+mn-ea"/>
                          <a:cs typeface="+mn-cs"/>
                        </a:rPr>
                        <a:t>If </a:t>
                      </a:r>
                      <a:r>
                        <a:rPr lang="en-US" sz="850" b="0" strike="noStrike" kern="1200">
                          <a:solidFill>
                            <a:schemeClr val="tx1"/>
                          </a:solidFill>
                          <a:effectLst/>
                          <a:latin typeface="Aptos" panose="020B0004020202020204" pitchFamily="34" charset="0"/>
                          <a:ea typeface="+mn-ea"/>
                          <a:cs typeface="+mn-cs"/>
                        </a:rPr>
                        <a:t>consumers choose not to share data, they will be unable to complete the purchase; from the NW side we will only see a lead sent and will have no visibility into why the funnel dropped on the FV side. </a:t>
                      </a:r>
                      <a:endParaRPr lang="en-US" sz="850">
                        <a:latin typeface="Aptos" panose="020B0004020202020204" pitchFamily="34" charset="0"/>
                      </a:endParaRP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defRPr/>
                      </a:pPr>
                      <a:r>
                        <a:rPr lang="en-US" sz="850" b="0">
                          <a:latin typeface="Aptos" panose="020B0004020202020204" pitchFamily="34" charset="0"/>
                        </a:rPr>
                        <a:t>C</a:t>
                      </a:r>
                    </a:p>
                    <a:p>
                      <a:pPr marL="0" marR="0" lvl="0" indent="0" algn="ctr" defTabSz="914400" rtl="0" eaLnBrk="1" fontAlgn="ctr" latinLnBrk="0" hangingPunct="1">
                        <a:lnSpc>
                          <a:spcPct val="95000"/>
                        </a:lnSpc>
                        <a:spcBef>
                          <a:spcPct val="0"/>
                        </a:spcBef>
                        <a:spcAft>
                          <a:spcPct val="50000"/>
                        </a:spcAft>
                        <a:buClrTx/>
                        <a:buSzTx/>
                        <a:buFontTx/>
                        <a:buNone/>
                        <a:tabLst/>
                      </a:pPr>
                      <a:endParaRPr lang="en-US" sz="850" b="0" strike="noStrike" kern="1200">
                        <a:solidFill>
                          <a:schemeClr val="tx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r>
                        <a:rPr lang="en-US" sz="850" b="0" strike="noStrike" kern="1200">
                          <a:solidFill>
                            <a:schemeClr val="tx1"/>
                          </a:solidFill>
                          <a:effectLst/>
                          <a:latin typeface="Aptos" panose="020B0004020202020204" pitchFamily="34" charset="0"/>
                          <a:ea typeface="+mn-ea"/>
                          <a:cs typeface="+mn-cs"/>
                        </a:rPr>
                        <a:t>TBD</a:t>
                      </a:r>
                    </a:p>
                  </a:txBody>
                  <a:tcPr marL="9525" marR="9525" marT="9525" marB="0" anchor="ctr">
                    <a:lnL w="12700">
                      <a:solidFill>
                        <a:schemeClr val="tx1"/>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0" marR="0" lvl="0" indent="0" algn="l" defTabSz="914400" rtl="0" eaLnBrk="1" fontAlgn="auto" latinLnBrk="0" hangingPunct="1">
                        <a:lnSpc>
                          <a:spcPct val="115000"/>
                        </a:lnSpc>
                        <a:spcBef>
                          <a:spcPts val="0"/>
                        </a:spcBef>
                        <a:spcAft>
                          <a:spcPts val="800"/>
                        </a:spcAft>
                        <a:buClrTx/>
                        <a:buSzTx/>
                        <a:buFontTx/>
                        <a:buNone/>
                        <a:tabLst/>
                        <a:defRPr/>
                      </a:pPr>
                      <a:r>
                        <a:rPr lang="en-US" sz="850" kern="1200">
                          <a:solidFill>
                            <a:schemeClr val="dk1"/>
                          </a:solidFill>
                          <a:latin typeface="Aptos" panose="020B0004020202020204" pitchFamily="34" charset="0"/>
                          <a:ea typeface="+mn-ea"/>
                          <a:cs typeface="+mn-cs"/>
                        </a:rPr>
                        <a:t>Unless FV sends additional fields, our systems cannot capture this reason—creating a risk that reporting deliverables (David Lee’s team) are based on data that does not exist.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extLst>
                  <a:ext uri="{0D108BD9-81ED-4DB2-BD59-A6C34878D82A}">
                    <a16:rowId xmlns:a16="http://schemas.microsoft.com/office/drawing/2014/main" val="1337499024"/>
                  </a:ext>
                </a:extLst>
              </a:tr>
              <a:tr h="510705">
                <a:tc>
                  <a:txBody>
                    <a:bodyPr/>
                    <a:lstStyle/>
                    <a:p>
                      <a:r>
                        <a:rPr lang="en-US" sz="850" kern="1200">
                          <a:solidFill>
                            <a:schemeClr val="dk1"/>
                          </a:solidFill>
                          <a:effectLst/>
                          <a:latin typeface="Aptos" panose="020B0004020202020204" pitchFamily="34" charset="0"/>
                          <a:ea typeface="+mn-ea"/>
                          <a:cs typeface="+mn-cs"/>
                        </a:rPr>
                        <a:t>Due to the current security event to secure MPIQEC activity the resources from EW are being pulled in to support it.</a:t>
                      </a:r>
                    </a:p>
                    <a:p>
                      <a:r>
                        <a:rPr lang="en-US" sz="850" kern="1200">
                          <a:solidFill>
                            <a:schemeClr val="dk1"/>
                          </a:solidFill>
                          <a:effectLst/>
                          <a:latin typeface="Aptos" panose="020B0004020202020204" pitchFamily="34" charset="0"/>
                          <a:ea typeface="+mn-ea"/>
                          <a:cs typeface="+mn-cs"/>
                        </a:rPr>
                        <a:t> </a:t>
                      </a:r>
                      <a:endParaRPr lang="en-US" sz="850">
                        <a:latin typeface="Aptos" panose="020B0004020202020204" pitchFamily="34" charset="0"/>
                      </a:endParaRP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r>
                        <a:rPr lang="en-US" sz="850" b="0" strike="noStrike" kern="1200">
                          <a:solidFill>
                            <a:schemeClr val="tx1"/>
                          </a:solidFill>
                          <a:effectLst/>
                          <a:latin typeface="Aptos" panose="020B0004020202020204" pitchFamily="34" charset="0"/>
                          <a:ea typeface="+mn-ea"/>
                          <a:cs typeface="+mn-cs"/>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r>
                        <a:rPr lang="en-US" sz="850" b="0" strike="noStrike" kern="1200">
                          <a:solidFill>
                            <a:schemeClr val="tx1"/>
                          </a:solidFill>
                          <a:effectLst/>
                          <a:latin typeface="Aptos" panose="020B0004020202020204" pitchFamily="34" charset="0"/>
                          <a:ea typeface="+mn-ea"/>
                          <a:cs typeface="+mn-cs"/>
                        </a:rPr>
                        <a:t>6/24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0" marR="0" lvl="0" indent="0" algn="l" defTabSz="914400" rtl="0" eaLnBrk="1" fontAlgn="auto" latinLnBrk="0" hangingPunct="1">
                        <a:lnSpc>
                          <a:spcPct val="115000"/>
                        </a:lnSpc>
                        <a:spcBef>
                          <a:spcPts val="0"/>
                        </a:spcBef>
                        <a:spcAft>
                          <a:spcPts val="800"/>
                        </a:spcAft>
                        <a:buClrTx/>
                        <a:buSzTx/>
                        <a:buFontTx/>
                        <a:buNone/>
                        <a:tabLst/>
                        <a:defRPr/>
                      </a:pPr>
                      <a:r>
                        <a:rPr lang="en-US" sz="850" kern="1200">
                          <a:solidFill>
                            <a:schemeClr val="dk1"/>
                          </a:solidFill>
                          <a:latin typeface="Aptos" panose="020B0004020202020204" pitchFamily="34" charset="0"/>
                          <a:ea typeface="+mn-ea"/>
                          <a:cs typeface="+mn-cs"/>
                        </a:rPr>
                        <a:t>EW is planning to complete the DDIT as scheduled on time for 6/24.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extLst>
                  <a:ext uri="{0D108BD9-81ED-4DB2-BD59-A6C34878D82A}">
                    <a16:rowId xmlns:a16="http://schemas.microsoft.com/office/drawing/2014/main" val="347572538"/>
                  </a:ext>
                </a:extLst>
              </a:tr>
            </a:tbl>
          </a:graphicData>
        </a:graphic>
      </p:graphicFrame>
      <p:sp>
        <p:nvSpPr>
          <p:cNvPr id="33" name="Flowchart: Connector 32">
            <a:extLst>
              <a:ext uri="{FF2B5EF4-FFF2-40B4-BE49-F238E27FC236}">
                <a16:creationId xmlns:a16="http://schemas.microsoft.com/office/drawing/2014/main" id="{655215DA-A254-CDCA-0F05-A6A31868AF81}"/>
              </a:ext>
            </a:extLst>
          </p:cNvPr>
          <p:cNvSpPr/>
          <p:nvPr/>
        </p:nvSpPr>
        <p:spPr>
          <a:xfrm>
            <a:off x="6574235" y="6677181"/>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34" name="Flowchart: Connector 33">
            <a:extLst>
              <a:ext uri="{FF2B5EF4-FFF2-40B4-BE49-F238E27FC236}">
                <a16:creationId xmlns:a16="http://schemas.microsoft.com/office/drawing/2014/main" id="{5CE6D0FD-F2D6-DF4E-9D9B-D9C7190B36AB}"/>
              </a:ext>
            </a:extLst>
          </p:cNvPr>
          <p:cNvSpPr/>
          <p:nvPr/>
        </p:nvSpPr>
        <p:spPr>
          <a:xfrm>
            <a:off x="7671396" y="6667431"/>
            <a:ext cx="163286" cy="164592"/>
          </a:xfrm>
          <a:prstGeom prst="flowChartConnector">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36" name="Flowchart: Connector 35">
            <a:extLst>
              <a:ext uri="{FF2B5EF4-FFF2-40B4-BE49-F238E27FC236}">
                <a16:creationId xmlns:a16="http://schemas.microsoft.com/office/drawing/2014/main" id="{4CF310F1-9E14-0184-9DC3-129D8A72E0C8}"/>
              </a:ext>
            </a:extLst>
          </p:cNvPr>
          <p:cNvSpPr/>
          <p:nvPr/>
        </p:nvSpPr>
        <p:spPr>
          <a:xfrm>
            <a:off x="8737194" y="6679946"/>
            <a:ext cx="163285" cy="164592"/>
          </a:xfrm>
          <a:prstGeom prst="flowChartConnector">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43" name="Flowchart: Connector 42">
            <a:extLst>
              <a:ext uri="{FF2B5EF4-FFF2-40B4-BE49-F238E27FC236}">
                <a16:creationId xmlns:a16="http://schemas.microsoft.com/office/drawing/2014/main" id="{CD4820B5-3E41-6880-03A7-0412C708BCE1}"/>
              </a:ext>
            </a:extLst>
          </p:cNvPr>
          <p:cNvSpPr/>
          <p:nvPr/>
        </p:nvSpPr>
        <p:spPr>
          <a:xfrm>
            <a:off x="3303638" y="1129287"/>
            <a:ext cx="163285" cy="164592"/>
          </a:xfrm>
          <a:prstGeom prst="flowChartConnector">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highlight>
                <a:srgbClr val="FFFF00"/>
              </a:highlight>
              <a:uLnTx/>
              <a:uFillTx/>
              <a:latin typeface="Arial"/>
              <a:ea typeface="+mn-ea"/>
              <a:cs typeface="+mn-cs"/>
            </a:endParaRPr>
          </a:p>
        </p:txBody>
      </p:sp>
      <p:sp>
        <p:nvSpPr>
          <p:cNvPr id="45" name="Flowchart: Connector 44">
            <a:extLst>
              <a:ext uri="{FF2B5EF4-FFF2-40B4-BE49-F238E27FC236}">
                <a16:creationId xmlns:a16="http://schemas.microsoft.com/office/drawing/2014/main" id="{4AF856CC-8C93-3712-6716-6611BBAB5C97}"/>
              </a:ext>
            </a:extLst>
          </p:cNvPr>
          <p:cNvSpPr/>
          <p:nvPr/>
        </p:nvSpPr>
        <p:spPr>
          <a:xfrm>
            <a:off x="4286105" y="1129286"/>
            <a:ext cx="163285" cy="164592"/>
          </a:xfrm>
          <a:prstGeom prst="flowChartConnector">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46" name="Flowchart: Connector 45">
            <a:extLst>
              <a:ext uri="{FF2B5EF4-FFF2-40B4-BE49-F238E27FC236}">
                <a16:creationId xmlns:a16="http://schemas.microsoft.com/office/drawing/2014/main" id="{5E75A1BF-8B36-BBBE-5408-144D373FD351}"/>
              </a:ext>
            </a:extLst>
          </p:cNvPr>
          <p:cNvSpPr/>
          <p:nvPr/>
        </p:nvSpPr>
        <p:spPr>
          <a:xfrm>
            <a:off x="5143033" y="1129286"/>
            <a:ext cx="163285" cy="164592"/>
          </a:xfrm>
          <a:prstGeom prst="flowChartConnector">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47" name="Flowchart: Connector 46">
            <a:extLst>
              <a:ext uri="{FF2B5EF4-FFF2-40B4-BE49-F238E27FC236}">
                <a16:creationId xmlns:a16="http://schemas.microsoft.com/office/drawing/2014/main" id="{5AF25202-73E3-3E01-9297-7EC91DC886FE}"/>
              </a:ext>
            </a:extLst>
          </p:cNvPr>
          <p:cNvSpPr/>
          <p:nvPr/>
        </p:nvSpPr>
        <p:spPr>
          <a:xfrm>
            <a:off x="6078524" y="1121337"/>
            <a:ext cx="163285" cy="164592"/>
          </a:xfrm>
          <a:prstGeom prst="flowChartConnector">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5" name="TextBox 4">
            <a:extLst>
              <a:ext uri="{FF2B5EF4-FFF2-40B4-BE49-F238E27FC236}">
                <a16:creationId xmlns:a16="http://schemas.microsoft.com/office/drawing/2014/main" id="{3C1111DB-D66C-89EA-7D09-064310E92A1B}"/>
              </a:ext>
            </a:extLst>
          </p:cNvPr>
          <p:cNvSpPr txBox="1"/>
          <p:nvPr/>
        </p:nvSpPr>
        <p:spPr>
          <a:xfrm>
            <a:off x="-2104" y="1587099"/>
            <a:ext cx="4855458" cy="2957220"/>
          </a:xfrm>
          <a:prstGeom prst="rect">
            <a:avLst/>
          </a:prstGeom>
          <a:noFill/>
        </p:spPr>
        <p:txBody>
          <a:bodyPr wrap="square" lIns="91440" tIns="45720" rIns="91440" bIns="4572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1200" cap="none" spc="0" normalizeH="0" baseline="0" noProof="0">
                <a:ln>
                  <a:noFill/>
                </a:ln>
                <a:solidFill>
                  <a:srgbClr val="000000"/>
                </a:solidFill>
                <a:effectLst/>
                <a:uLnTx/>
                <a:uFillTx/>
                <a:latin typeface="Aptos" panose="020B0004020202020204" pitchFamily="34" charset="0"/>
              </a:rPr>
              <a:t>Status:  </a:t>
            </a:r>
            <a:r>
              <a:rPr kumimoji="0" lang="en-US" sz="850" b="0" i="0" u="none" strike="noStrike" kern="100" cap="none" spc="0" normalizeH="0" baseline="0" noProof="0">
                <a:ln>
                  <a:noFill/>
                </a:ln>
                <a:solidFill>
                  <a:srgbClr val="000000"/>
                </a:solidFill>
                <a:effectLst/>
                <a:uLnTx/>
                <a:uFillTx/>
                <a:latin typeface="Aptos" panose="020B0004020202020204" pitchFamily="34" charset="0"/>
                <a:cs typeface="Times New Roman"/>
              </a:rPr>
              <a:t>Overall Status </a:t>
            </a:r>
            <a:r>
              <a:rPr kumimoji="0" lang="en-US" sz="850" b="1" i="0" u="none" strike="noStrike" kern="100" cap="none" spc="0" normalizeH="0" baseline="0" noProof="0">
                <a:ln>
                  <a:noFill/>
                </a:ln>
                <a:solidFill>
                  <a:srgbClr val="00B050"/>
                </a:solidFill>
                <a:effectLst/>
                <a:uLnTx/>
                <a:uFillTx/>
                <a:latin typeface="Aptos" panose="020B0004020202020204" pitchFamily="34" charset="0"/>
                <a:cs typeface="Times New Roman"/>
              </a:rPr>
              <a:t>GREEN</a:t>
            </a:r>
            <a:endParaRPr kumimoji="0" lang="en-US" sz="850" b="1" i="0" u="none" strike="noStrike" kern="100" cap="none" spc="0" normalizeH="0" baseline="0" noProof="0">
              <a:ln>
                <a:noFill/>
              </a:ln>
              <a:solidFill>
                <a:srgbClr val="00B050"/>
              </a:solidFill>
              <a:effectLst/>
              <a:highlight>
                <a:srgbClr val="00FF00"/>
              </a:highlight>
              <a:uLnTx/>
              <a:uFillTx/>
              <a:latin typeface="Aptos" panose="020B0004020202020204" pitchFamily="34" charset="0"/>
              <a:cs typeface="Times New Roman"/>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50" b="0" i="0" u="none" strike="noStrike" kern="1200" cap="none" spc="0" normalizeH="0" baseline="0" noProof="0">
                <a:ln>
                  <a:noFill/>
                </a:ln>
                <a:solidFill>
                  <a:srgbClr val="000000"/>
                </a:solidFill>
                <a:effectLst/>
                <a:uLnTx/>
                <a:uFillTx/>
                <a:latin typeface="Aptos" panose="020B0004020202020204" pitchFamily="34" charset="0"/>
              </a:rPr>
              <a:t>Line Estimates  received; budget approval in progress. </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50" b="0" i="0" u="none" strike="noStrike" kern="1200" cap="none" spc="0" normalizeH="0" baseline="0" noProof="0">
                <a:ln>
                  <a:noFill/>
                </a:ln>
                <a:solidFill>
                  <a:srgbClr val="000000"/>
                </a:solidFill>
                <a:effectLst/>
                <a:uLnTx/>
                <a:uFillTx/>
                <a:latin typeface="Aptos" panose="020B0004020202020204" pitchFamily="34" charset="0"/>
              </a:rPr>
              <a:t>Original effort was estimated at $140K and new estimates are at </a:t>
            </a:r>
            <a:r>
              <a:rPr kumimoji="0" lang="en-US" sz="850" b="1" i="0" u="none" strike="noStrike" kern="1200" cap="none" spc="0" normalizeH="0" baseline="0" noProof="0">
                <a:ln>
                  <a:noFill/>
                </a:ln>
                <a:solidFill>
                  <a:srgbClr val="000000"/>
                </a:solidFill>
                <a:effectLst/>
                <a:uLnTx/>
                <a:uFillTx/>
                <a:latin typeface="Aptos" panose="020B0004020202020204" pitchFamily="34" charset="0"/>
              </a:rPr>
              <a:t>$273K</a:t>
            </a:r>
          </a:p>
          <a:p>
            <a:pPr marL="1085850" marR="0" lvl="2"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50" b="0" i="0" u="none" strike="noStrike" kern="1200" cap="none" spc="0" normalizeH="0" baseline="0" noProof="0">
                <a:ln>
                  <a:noFill/>
                </a:ln>
                <a:solidFill>
                  <a:srgbClr val="000000"/>
                </a:solidFill>
                <a:effectLst/>
                <a:uLnTx/>
                <a:uFillTx/>
                <a:latin typeface="Aptos" panose="020B0004020202020204" pitchFamily="34" charset="0"/>
              </a:rPr>
              <a:t>Scope has not changed; test automation 332 hours</a:t>
            </a:r>
          </a:p>
          <a:p>
            <a:pPr marL="1085850" marR="0" lvl="2"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50" b="0" i="0" u="none" strike="noStrike" kern="1200" cap="none" spc="0" normalizeH="0" baseline="0" noProof="0">
                <a:ln>
                  <a:noFill/>
                </a:ln>
                <a:solidFill>
                  <a:srgbClr val="000000"/>
                </a:solidFill>
                <a:effectLst/>
                <a:uLnTx/>
                <a:uFillTx/>
                <a:latin typeface="Aptos" panose="020B0004020202020204" pitchFamily="34" charset="0"/>
              </a:rPr>
              <a:t>HLA has not been modified and has been broken down into detailed requirements</a:t>
            </a:r>
            <a:endParaRPr kumimoji="0" lang="en-US" sz="850" b="0" i="0" u="none" strike="noStrike" kern="1200" cap="none" spc="0" normalizeH="0" baseline="0" noProof="0">
              <a:ln>
                <a:noFill/>
              </a:ln>
              <a:solidFill>
                <a:srgbClr val="000000"/>
              </a:solidFill>
              <a:effectLst/>
              <a:uLnTx/>
              <a:uFillTx/>
              <a:latin typeface="Aptos" panose="020B0004020202020204" pitchFamily="34" charset="0"/>
              <a:cs typeface="Arial"/>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50" b="1" i="0" u="none" strike="noStrike" kern="1200" cap="none" spc="0" normalizeH="0" baseline="0" noProof="0">
                <a:ln>
                  <a:noFill/>
                </a:ln>
                <a:solidFill>
                  <a:srgbClr val="000000"/>
                </a:solidFill>
                <a:effectLst/>
                <a:uLnTx/>
                <a:uFillTx/>
                <a:latin typeface="Aptos" panose="020B0004020202020204" pitchFamily="34" charset="0"/>
              </a:rPr>
              <a:t>Critical‑path milestones</a:t>
            </a:r>
            <a:r>
              <a:rPr kumimoji="0" lang="en-US" sz="850" b="0" i="0" u="none" strike="noStrike" kern="1200" cap="none" spc="0" normalizeH="0" baseline="0" noProof="0">
                <a:ln>
                  <a:noFill/>
                </a:ln>
                <a:solidFill>
                  <a:srgbClr val="000000"/>
                </a:solidFill>
                <a:effectLst/>
                <a:uLnTx/>
                <a:uFillTx/>
                <a:latin typeface="Aptos" panose="020B0004020202020204" pitchFamily="34" charset="0"/>
              </a:rPr>
              <a:t>:.</a:t>
            </a:r>
            <a:endParaRPr kumimoji="0" lang="en-US" sz="850" b="0" i="0" u="none" strike="noStrike" kern="1200" cap="none" spc="0" normalizeH="0" baseline="0" noProof="0">
              <a:ln>
                <a:noFill/>
              </a:ln>
              <a:solidFill>
                <a:srgbClr val="000000"/>
              </a:solidFill>
              <a:effectLst/>
              <a:uLnTx/>
              <a:uFillTx/>
              <a:latin typeface="Aptos" panose="020B0004020202020204" pitchFamily="34" charset="0"/>
              <a:cs typeface="Arial"/>
            </a:endParaRP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50" b="0" i="0" u="none" strike="noStrike" kern="1200" cap="none" spc="0" normalizeH="0" baseline="0" noProof="0">
                <a:ln>
                  <a:noFill/>
                </a:ln>
                <a:solidFill>
                  <a:srgbClr val="000000"/>
                </a:solidFill>
                <a:effectLst/>
                <a:uLnTx/>
                <a:uFillTx/>
                <a:latin typeface="Aptos" panose="020B0004020202020204" pitchFamily="34" charset="0"/>
                <a:cs typeface="Arial"/>
              </a:rPr>
              <a:t>Reporting development is in progress and will be completed by August 12| Owner: David Lee</a:t>
            </a:r>
            <a:endParaRPr kumimoji="0" lang="en-US" sz="850" b="0" i="0" u="none" strike="noStrike" kern="1200" cap="none" spc="0" normalizeH="0" baseline="0" noProof="0">
              <a:ln>
                <a:noFill/>
              </a:ln>
              <a:solidFill>
                <a:srgbClr val="000000"/>
              </a:solidFill>
              <a:effectLst/>
              <a:uLnTx/>
              <a:uFillTx/>
              <a:latin typeface="Aptos" panose="020B0004020202020204" pitchFamily="34" charset="0"/>
            </a:endParaRPr>
          </a:p>
          <a:p>
            <a:pPr marL="0" marR="0" lvl="0" indent="0" algn="l" defTabSz="914400" rtl="0" eaLnBrk="1" fontAlgn="auto" latinLnBrk="0" hangingPunct="1">
              <a:lnSpc>
                <a:spcPct val="115000"/>
              </a:lnSpc>
              <a:spcBef>
                <a:spcPts val="200"/>
              </a:spcBef>
              <a:spcAft>
                <a:spcPts val="0"/>
              </a:spcAft>
              <a:buClrTx/>
              <a:buSzPts val="1000"/>
              <a:buFontTx/>
              <a:buNone/>
              <a:tabLst>
                <a:tab pos="457200" algn="l"/>
              </a:tabLst>
              <a:defRPr/>
            </a:pPr>
            <a:r>
              <a:rPr kumimoji="0" lang="en-US" sz="850" b="1" i="0" u="none" strike="noStrike" kern="100" cap="none" spc="0" normalizeH="0" baseline="0" noProof="0">
                <a:ln>
                  <a:noFill/>
                </a:ln>
                <a:solidFill>
                  <a:srgbClr val="000000"/>
                </a:solidFill>
                <a:effectLst/>
                <a:uLnTx/>
                <a:uFillTx/>
                <a:latin typeface="Aptos" panose="020B0004020202020204" pitchFamily="34" charset="0"/>
                <a:ea typeface="Aptos" panose="020B0004020202020204" pitchFamily="34" charset="0"/>
                <a:cs typeface="Times New Roman"/>
              </a:rPr>
              <a:t>Highlights:</a:t>
            </a:r>
          </a:p>
          <a:p>
            <a:pPr marL="171450" marR="0" lvl="0" indent="-171450" algn="l" defTabSz="914400" rtl="0" eaLnBrk="1" fontAlgn="auto" latinLnBrk="0" hangingPunct="1">
              <a:lnSpc>
                <a:spcPct val="115000"/>
              </a:lnSpc>
              <a:spcBef>
                <a:spcPts val="200"/>
              </a:spcBef>
              <a:spcAft>
                <a:spcPts val="0"/>
              </a:spcAft>
              <a:buClrTx/>
              <a:buSzPts val="1000"/>
              <a:buFont typeface="Arial" panose="020B0604020202020204" pitchFamily="34" charset="0"/>
              <a:buChar char="•"/>
              <a:tabLst>
                <a:tab pos="457200" algn="l"/>
              </a:tabLst>
              <a:defRPr/>
            </a:pPr>
            <a:r>
              <a:rPr kumimoji="0" lang="en-US" sz="850" b="0" i="0" u="none" strike="noStrike" kern="100" cap="none" spc="0" normalizeH="0" baseline="0" noProof="0">
                <a:ln>
                  <a:noFill/>
                </a:ln>
                <a:solidFill>
                  <a:srgbClr val="000000"/>
                </a:solidFill>
                <a:effectLst/>
                <a:uLnTx/>
                <a:uFillTx/>
                <a:latin typeface="Aptos" panose="020B0004020202020204" pitchFamily="34" charset="0"/>
                <a:ea typeface="Aptos" panose="020B0004020202020204" pitchFamily="34" charset="0"/>
                <a:cs typeface="Times New Roman"/>
              </a:rPr>
              <a:t>Project went live in production successfully. Test files received from First Vet was validated successfully.</a:t>
            </a:r>
            <a:r>
              <a:rPr kumimoji="0" lang="en-US" sz="850" b="0" i="0" u="none" strike="noStrike" kern="100" cap="none" spc="0" normalizeH="0" baseline="0" noProof="0">
                <a:ln>
                  <a:noFill/>
                </a:ln>
                <a:solidFill>
                  <a:srgbClr val="000000"/>
                </a:solidFill>
                <a:effectLst/>
                <a:uLnTx/>
                <a:uFillTx/>
                <a:latin typeface="Aptos" panose="020B0004020202020204" pitchFamily="34" charset="0"/>
                <a:cs typeface="Times New Roman"/>
              </a:rPr>
              <a:t>.</a:t>
            </a:r>
            <a:endParaRPr kumimoji="0" lang="en-US" sz="850" b="1" i="0" u="none" strike="noStrike" kern="100" cap="none" spc="0" normalizeH="0" baseline="0" noProof="0">
              <a:ln>
                <a:noFill/>
              </a:ln>
              <a:solidFill>
                <a:srgbClr val="000000"/>
              </a:solidFill>
              <a:effectLst/>
              <a:uLnTx/>
              <a:uFillTx/>
              <a:latin typeface="Aptos" panose="020B0004020202020204" pitchFamily="34" charset="0"/>
              <a:ea typeface="Aptos" panose="020B0004020202020204" pitchFamily="34" charset="0"/>
              <a:cs typeface="Times New Roman"/>
            </a:endParaRPr>
          </a:p>
          <a:p>
            <a:pPr marL="171450" marR="0" lvl="0" indent="-171450" algn="l" defTabSz="914400" rtl="0" eaLnBrk="1" fontAlgn="auto" latinLnBrk="0" hangingPunct="1">
              <a:lnSpc>
                <a:spcPct val="114999"/>
              </a:lnSpc>
              <a:spcBef>
                <a:spcPts val="200"/>
              </a:spcBef>
              <a:spcAft>
                <a:spcPts val="0"/>
              </a:spcAft>
              <a:buClrTx/>
              <a:buSzPts val="1000"/>
              <a:buFont typeface="Arial" panose="020B0604020202020204" pitchFamily="34" charset="0"/>
              <a:buChar char="•"/>
              <a:tabLst>
                <a:tab pos="457200" algn="l"/>
              </a:tabLst>
              <a:defRPr/>
            </a:pPr>
            <a:r>
              <a:rPr kumimoji="0" lang="en-US" sz="850" b="0" i="0" u="none" strike="noStrike" kern="100" cap="none" spc="0" normalizeH="0" baseline="0" noProof="0">
                <a:ln>
                  <a:noFill/>
                </a:ln>
                <a:solidFill>
                  <a:srgbClr val="000000"/>
                </a:solidFill>
                <a:effectLst/>
                <a:uLnTx/>
                <a:uFillTx/>
                <a:latin typeface="Aptos" panose="020B0004020202020204" pitchFamily="34" charset="0"/>
                <a:ea typeface="Aptos" panose="020B0004020202020204" pitchFamily="34" charset="0"/>
                <a:cs typeface="Times New Roman"/>
              </a:rPr>
              <a:t>Reporting will be completed after July 15</a:t>
            </a:r>
            <a:r>
              <a:rPr kumimoji="0" lang="en-US" sz="850" b="0" i="0" u="none" strike="noStrike" kern="100" cap="none" spc="0" normalizeH="0" baseline="30000" noProof="0">
                <a:ln>
                  <a:noFill/>
                </a:ln>
                <a:solidFill>
                  <a:srgbClr val="000000"/>
                </a:solidFill>
                <a:effectLst/>
                <a:uLnTx/>
                <a:uFillTx/>
                <a:latin typeface="Aptos" panose="020B0004020202020204" pitchFamily="34" charset="0"/>
                <a:ea typeface="Aptos" panose="020B0004020202020204" pitchFamily="34" charset="0"/>
                <a:cs typeface="Times New Roman"/>
              </a:rPr>
              <a:t>th</a:t>
            </a:r>
            <a:r>
              <a:rPr kumimoji="0" lang="en-US" sz="850" b="0" i="0" u="none" strike="noStrike" kern="100" cap="none" spc="0" normalizeH="0" baseline="0" noProof="0">
                <a:ln>
                  <a:noFill/>
                </a:ln>
                <a:solidFill>
                  <a:srgbClr val="000000"/>
                </a:solidFill>
                <a:effectLst/>
                <a:uLnTx/>
                <a:uFillTx/>
                <a:latin typeface="Aptos" panose="020B0004020202020204" pitchFamily="34" charset="0"/>
                <a:ea typeface="Aptos" panose="020B0004020202020204" pitchFamily="34" charset="0"/>
                <a:cs typeface="Times New Roman"/>
              </a:rPr>
              <a:t> as it does not affect the product development. </a:t>
            </a:r>
          </a:p>
          <a:p>
            <a:pPr marL="0" marR="0" lvl="0" indent="0" algn="l" defTabSz="914400" rtl="0" eaLnBrk="1" fontAlgn="auto" latinLnBrk="0" hangingPunct="1">
              <a:lnSpc>
                <a:spcPct val="114999"/>
              </a:lnSpc>
              <a:spcBef>
                <a:spcPts val="200"/>
              </a:spcBef>
              <a:spcAft>
                <a:spcPts val="0"/>
              </a:spcAft>
              <a:buClrTx/>
              <a:buSzPts val="1000"/>
              <a:buFontTx/>
              <a:buNone/>
              <a:tabLst>
                <a:tab pos="457200" algn="l"/>
              </a:tabLst>
              <a:defRPr/>
            </a:pPr>
            <a:r>
              <a:rPr kumimoji="0" lang="en-US" sz="850" b="1" i="0" u="none" strike="noStrike" kern="100" cap="none" spc="0" normalizeH="0" baseline="0" noProof="0">
                <a:ln>
                  <a:noFill/>
                </a:ln>
                <a:solidFill>
                  <a:srgbClr val="000000"/>
                </a:solidFill>
                <a:effectLst/>
                <a:uLnTx/>
                <a:uFillTx/>
                <a:latin typeface="Aptos" panose="020B0004020202020204" pitchFamily="34" charset="0"/>
                <a:cs typeface="Times New Roman"/>
              </a:rPr>
              <a:t>Next Steps:</a:t>
            </a:r>
          </a:p>
          <a:p>
            <a:pPr marL="171450" marR="0" lvl="0" indent="-171450" algn="l" defTabSz="914400" rtl="0" eaLnBrk="1" fontAlgn="auto" latinLnBrk="0" hangingPunct="1">
              <a:lnSpc>
                <a:spcPct val="114999"/>
              </a:lnSpc>
              <a:spcBef>
                <a:spcPts val="200"/>
              </a:spcBef>
              <a:spcAft>
                <a:spcPts val="0"/>
              </a:spcAft>
              <a:buClrTx/>
              <a:buSzPts val="1000"/>
              <a:buFont typeface="Arial"/>
              <a:buChar char="•"/>
              <a:tabLst>
                <a:tab pos="457200" algn="l"/>
              </a:tabLst>
              <a:defRPr/>
            </a:pPr>
            <a:r>
              <a:rPr kumimoji="0" lang="en-US" sz="850" b="0" i="0" u="none" strike="noStrike" kern="100" cap="none" spc="0" normalizeH="0" baseline="0" noProof="0">
                <a:ln>
                  <a:noFill/>
                </a:ln>
                <a:solidFill>
                  <a:srgbClr val="000000"/>
                </a:solidFill>
                <a:effectLst/>
                <a:uLnTx/>
                <a:uFillTx/>
                <a:latin typeface="Aptos" panose="020B0004020202020204" pitchFamily="34" charset="0"/>
                <a:cs typeface="Times New Roman"/>
              </a:rPr>
              <a:t>Reporting team to confirm dashboard and complete development. </a:t>
            </a:r>
            <a:endParaRPr kumimoji="0" lang="en-US" sz="850" b="0" i="0" u="none" strike="noStrike" kern="100" cap="none" spc="0" normalizeH="0" baseline="0" noProof="0">
              <a:ln>
                <a:noFill/>
              </a:ln>
              <a:solidFill>
                <a:srgbClr val="000000"/>
              </a:solidFill>
              <a:effectLst/>
              <a:uLnTx/>
              <a:uFillTx/>
              <a:latin typeface="Aptos" panose="020B0004020202020204" pitchFamily="34" charset="0"/>
              <a:cs typeface="Arial"/>
            </a:endParaRPr>
          </a:p>
          <a:p>
            <a:pPr marL="0" marR="0" lvl="0" indent="0" algn="l" defTabSz="914400" rtl="0" eaLnBrk="1" fontAlgn="auto" latinLnBrk="0" hangingPunct="1">
              <a:lnSpc>
                <a:spcPct val="114999"/>
              </a:lnSpc>
              <a:spcBef>
                <a:spcPts val="200"/>
              </a:spcBef>
              <a:spcAft>
                <a:spcPts val="0"/>
              </a:spcAft>
              <a:buClrTx/>
              <a:buSzPts val="1000"/>
              <a:buFontTx/>
              <a:buNone/>
              <a:tabLst>
                <a:tab pos="457200" algn="l"/>
              </a:tabLst>
              <a:defRPr/>
            </a:pPr>
            <a:endParaRPr kumimoji="0" lang="en-US" sz="800" b="0" i="0" u="none" strike="noStrike" kern="100" cap="none" spc="0" normalizeH="0" baseline="0" noProof="0">
              <a:ln>
                <a:noFill/>
              </a:ln>
              <a:solidFill>
                <a:srgbClr val="000000"/>
              </a:solidFill>
              <a:effectLst/>
              <a:uLnTx/>
              <a:uFillTx/>
              <a:latin typeface="Arial"/>
              <a:ea typeface="+mn-ea"/>
              <a:cs typeface="Arial"/>
            </a:endParaRPr>
          </a:p>
          <a:p>
            <a:pPr marL="171450" marR="0" lvl="0" indent="-171450" algn="l" defTabSz="914400" rtl="0" eaLnBrk="1" fontAlgn="auto" latinLnBrk="0" hangingPunct="1">
              <a:lnSpc>
                <a:spcPct val="114999"/>
              </a:lnSpc>
              <a:spcBef>
                <a:spcPts val="200"/>
              </a:spcBef>
              <a:spcAft>
                <a:spcPts val="0"/>
              </a:spcAft>
              <a:buClrTx/>
              <a:buSzPts val="1000"/>
              <a:buFont typeface="Arial"/>
              <a:buChar char="•"/>
              <a:tabLst>
                <a:tab pos="457200" algn="l"/>
              </a:tabLst>
              <a:defRPr/>
            </a:pPr>
            <a:endParaRPr kumimoji="0" lang="en-US" sz="800" b="0" i="0" u="none" strike="noStrike" kern="100" cap="none" spc="0" normalizeH="0" baseline="0" noProof="0">
              <a:ln>
                <a:noFill/>
              </a:ln>
              <a:solidFill>
                <a:srgbClr val="000000"/>
              </a:solidFill>
              <a:effectLst/>
              <a:uLnTx/>
              <a:uFillTx/>
              <a:latin typeface="Arial"/>
              <a:ea typeface="+mn-ea"/>
              <a:cs typeface="Arial"/>
            </a:endParaRPr>
          </a:p>
          <a:p>
            <a:pPr marL="171450" marR="0" lvl="0" indent="-171450" algn="l" defTabSz="914400" rtl="0" eaLnBrk="1" fontAlgn="auto" latinLnBrk="0" hangingPunct="1">
              <a:lnSpc>
                <a:spcPct val="114999"/>
              </a:lnSpc>
              <a:spcBef>
                <a:spcPts val="200"/>
              </a:spcBef>
              <a:spcAft>
                <a:spcPts val="0"/>
              </a:spcAft>
              <a:buClrTx/>
              <a:buSzPts val="1000"/>
              <a:buFont typeface="Arial"/>
              <a:buChar char="•"/>
              <a:tabLst>
                <a:tab pos="457200" algn="l"/>
              </a:tabLst>
              <a:defRPr/>
            </a:pPr>
            <a:endParaRPr kumimoji="0" lang="en-US" sz="800" b="0" i="0" u="none" strike="noStrike" kern="100" cap="none" spc="0" normalizeH="0" baseline="0" noProof="0">
              <a:ln>
                <a:noFill/>
              </a:ln>
              <a:solidFill>
                <a:srgbClr val="000000"/>
              </a:solidFill>
              <a:effectLst/>
              <a:uLnTx/>
              <a:uFillTx/>
              <a:latin typeface="Arial"/>
              <a:ea typeface="+mn-ea"/>
              <a:cs typeface="Times New Roman"/>
            </a:endParaRPr>
          </a:p>
          <a:p>
            <a:pPr marL="0" marR="0" lvl="0" indent="0" algn="l" defTabSz="914400" rtl="0" eaLnBrk="1" fontAlgn="auto" latinLnBrk="0" hangingPunct="1">
              <a:lnSpc>
                <a:spcPct val="114999"/>
              </a:lnSpc>
              <a:spcBef>
                <a:spcPts val="200"/>
              </a:spcBef>
              <a:spcAft>
                <a:spcPts val="0"/>
              </a:spcAft>
              <a:buClrTx/>
              <a:buSzPts val="1000"/>
              <a:buFontTx/>
              <a:buNone/>
              <a:tabLst>
                <a:tab pos="457200" algn="l"/>
              </a:tabLst>
              <a:defRPr/>
            </a:pPr>
            <a:endParaRPr kumimoji="0" lang="en-US" sz="800" b="1" i="0" u="none" strike="noStrike" kern="100" cap="none" spc="0" normalizeH="0" baseline="0" noProof="0">
              <a:ln>
                <a:noFill/>
              </a:ln>
              <a:solidFill>
                <a:srgbClr val="000000"/>
              </a:solidFill>
              <a:effectLst/>
              <a:uLnTx/>
              <a:uFillTx/>
              <a:latin typeface="Arial"/>
              <a:ea typeface="+mn-ea"/>
              <a:cs typeface="Times New Roman"/>
            </a:endParaRPr>
          </a:p>
        </p:txBody>
      </p:sp>
      <p:sp>
        <p:nvSpPr>
          <p:cNvPr id="10" name="TextBox 9">
            <a:extLst>
              <a:ext uri="{FF2B5EF4-FFF2-40B4-BE49-F238E27FC236}">
                <a16:creationId xmlns:a16="http://schemas.microsoft.com/office/drawing/2014/main" id="{4202141F-4EA9-0FA2-F814-504CB3276E78}"/>
              </a:ext>
            </a:extLst>
          </p:cNvPr>
          <p:cNvSpPr txBox="1"/>
          <p:nvPr/>
        </p:nvSpPr>
        <p:spPr>
          <a:xfrm>
            <a:off x="9362590" y="93152"/>
            <a:ext cx="2923560" cy="496931"/>
          </a:xfrm>
          <a:prstGeom prst="rect">
            <a:avLst/>
          </a:prstGeom>
          <a:noFill/>
        </p:spPr>
        <p:txBody>
          <a:bodyPr wrap="square" lIns="91440" tIns="45720" rIns="91440" bIns="45720" anchor="t">
            <a:spAutoFit/>
          </a:bodyPr>
          <a:lstStyle/>
          <a:p>
            <a:pPr>
              <a:lnSpc>
                <a:spcPct val="112000"/>
              </a:lnSpc>
              <a:defRPr/>
            </a:pPr>
            <a:r>
              <a:rPr lang="en-US" sz="1200">
                <a:latin typeface="Aptos"/>
              </a:rPr>
              <a:t>Project Manager :  Rekha Kothandaraman</a:t>
            </a:r>
            <a:endParaRPr lang="en-US">
              <a:latin typeface="Aptos"/>
            </a:endParaRPr>
          </a:p>
          <a:p>
            <a:pPr marR="0" lvl="0" indent="0" fontAlgn="auto">
              <a:lnSpc>
                <a:spcPct val="112000"/>
              </a:lnSpc>
              <a:spcBef>
                <a:spcPts val="0"/>
              </a:spcBef>
              <a:spcAft>
                <a:spcPts val="0"/>
              </a:spcAft>
              <a:buClrTx/>
              <a:buSzTx/>
              <a:buFontTx/>
              <a:buNone/>
              <a:tabLst/>
              <a:defRPr/>
            </a:pPr>
            <a:r>
              <a:rPr lang="en-US" sz="1200" err="1">
                <a:latin typeface="Aptos"/>
              </a:rPr>
              <a:t>OpEx</a:t>
            </a:r>
            <a:r>
              <a:rPr lang="en-US" sz="1200">
                <a:latin typeface="Aptos"/>
              </a:rPr>
              <a:t> Business Lead: Nidia Gudino</a:t>
            </a:r>
          </a:p>
        </p:txBody>
      </p:sp>
    </p:spTree>
    <p:extLst>
      <p:ext uri="{BB962C8B-B14F-4D97-AF65-F5344CB8AC3E}">
        <p14:creationId xmlns:p14="http://schemas.microsoft.com/office/powerpoint/2010/main" val="348037422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1AFF82-0EF9-6143-C97F-EEAD1BBAADCC}"/>
            </a:ext>
          </a:extLst>
        </p:cNvPr>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30F5468D-CCD2-7D54-C51C-9DC727BCE987}"/>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8" imgH="408" progId="TCLayout.ActiveDocument.1">
                  <p:embed/>
                </p:oleObj>
              </mc:Choice>
              <mc:Fallback>
                <p:oleObj name="think-cell Slide" r:id="rId4" imgW="408" imgH="408" progId="TCLayout.ActiveDocument.1">
                  <p:embed/>
                  <p:pic>
                    <p:nvPicPr>
                      <p:cNvPr id="9" name="think-cell data - do not delete" hidden="1">
                        <a:extLst>
                          <a:ext uri="{FF2B5EF4-FFF2-40B4-BE49-F238E27FC236}">
                            <a16:creationId xmlns:a16="http://schemas.microsoft.com/office/drawing/2014/main" id="{30F5468D-CCD2-7D54-C51C-9DC727BCE98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graphicFrame>
        <p:nvGraphicFramePr>
          <p:cNvPr id="32" name="Group 614">
            <a:extLst>
              <a:ext uri="{FF2B5EF4-FFF2-40B4-BE49-F238E27FC236}">
                <a16:creationId xmlns:a16="http://schemas.microsoft.com/office/drawing/2014/main" id="{120FFE11-E5E1-74A8-30B4-1B9DCE592CE8}"/>
              </a:ext>
            </a:extLst>
          </p:cNvPr>
          <p:cNvGraphicFramePr>
            <a:graphicFrameLocks noGrp="1"/>
          </p:cNvGraphicFramePr>
          <p:nvPr/>
        </p:nvGraphicFramePr>
        <p:xfrm>
          <a:off x="5570290" y="6298691"/>
          <a:ext cx="6546606" cy="386554"/>
        </p:xfrm>
        <a:graphic>
          <a:graphicData uri="http://schemas.openxmlformats.org/drawingml/2006/table">
            <a:tbl>
              <a:tblPr/>
              <a:tblGrid>
                <a:gridCol w="556271">
                  <a:extLst>
                    <a:ext uri="{9D8B030D-6E8A-4147-A177-3AD203B41FA5}">
                      <a16:colId xmlns:a16="http://schemas.microsoft.com/office/drawing/2014/main" val="20000"/>
                    </a:ext>
                  </a:extLst>
                </a:gridCol>
                <a:gridCol w="281941">
                  <a:extLst>
                    <a:ext uri="{9D8B030D-6E8A-4147-A177-3AD203B41FA5}">
                      <a16:colId xmlns:a16="http://schemas.microsoft.com/office/drawing/2014/main" val="20001"/>
                    </a:ext>
                  </a:extLst>
                </a:gridCol>
                <a:gridCol w="694928">
                  <a:extLst>
                    <a:ext uri="{9D8B030D-6E8A-4147-A177-3AD203B41FA5}">
                      <a16:colId xmlns:a16="http://schemas.microsoft.com/office/drawing/2014/main" val="20002"/>
                    </a:ext>
                  </a:extLst>
                </a:gridCol>
                <a:gridCol w="277768">
                  <a:extLst>
                    <a:ext uri="{9D8B030D-6E8A-4147-A177-3AD203B41FA5}">
                      <a16:colId xmlns:a16="http://schemas.microsoft.com/office/drawing/2014/main" val="20003"/>
                    </a:ext>
                  </a:extLst>
                </a:gridCol>
                <a:gridCol w="610292">
                  <a:extLst>
                    <a:ext uri="{9D8B030D-6E8A-4147-A177-3AD203B41FA5}">
                      <a16:colId xmlns:a16="http://schemas.microsoft.com/office/drawing/2014/main" val="20004"/>
                    </a:ext>
                  </a:extLst>
                </a:gridCol>
                <a:gridCol w="475182">
                  <a:extLst>
                    <a:ext uri="{9D8B030D-6E8A-4147-A177-3AD203B41FA5}">
                      <a16:colId xmlns:a16="http://schemas.microsoft.com/office/drawing/2014/main" val="20005"/>
                    </a:ext>
                  </a:extLst>
                </a:gridCol>
                <a:gridCol w="521454">
                  <a:extLst>
                    <a:ext uri="{9D8B030D-6E8A-4147-A177-3AD203B41FA5}">
                      <a16:colId xmlns:a16="http://schemas.microsoft.com/office/drawing/2014/main" val="20006"/>
                    </a:ext>
                  </a:extLst>
                </a:gridCol>
                <a:gridCol w="338466">
                  <a:extLst>
                    <a:ext uri="{9D8B030D-6E8A-4147-A177-3AD203B41FA5}">
                      <a16:colId xmlns:a16="http://schemas.microsoft.com/office/drawing/2014/main" val="20007"/>
                    </a:ext>
                  </a:extLst>
                </a:gridCol>
                <a:gridCol w="1258533">
                  <a:extLst>
                    <a:ext uri="{9D8B030D-6E8A-4147-A177-3AD203B41FA5}">
                      <a16:colId xmlns:a16="http://schemas.microsoft.com/office/drawing/2014/main" val="20008"/>
                    </a:ext>
                  </a:extLst>
                </a:gridCol>
                <a:gridCol w="346932">
                  <a:extLst>
                    <a:ext uri="{9D8B030D-6E8A-4147-A177-3AD203B41FA5}">
                      <a16:colId xmlns:a16="http://schemas.microsoft.com/office/drawing/2014/main" val="20009"/>
                    </a:ext>
                  </a:extLst>
                </a:gridCol>
                <a:gridCol w="1184839">
                  <a:extLst>
                    <a:ext uri="{9D8B030D-6E8A-4147-A177-3AD203B41FA5}">
                      <a16:colId xmlns:a16="http://schemas.microsoft.com/office/drawing/2014/main" val="20010"/>
                    </a:ext>
                  </a:extLst>
                </a:gridCol>
              </a:tblGrid>
              <a:tr h="386554">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Arial" charset="0"/>
                          <a:cs typeface="Arial" charset="0"/>
                        </a:rPr>
                        <a:t>Status Key</a:t>
                      </a:r>
                      <a:endParaRPr kumimoji="0" lang="en-GB" sz="1600" b="0" i="0" u="none" strike="noStrike" cap="none" normalizeH="0" baseline="0">
                        <a:ln>
                          <a:noFill/>
                        </a:ln>
                        <a:solidFill>
                          <a:srgbClr val="002060"/>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mj-lt"/>
                        </a:rPr>
                        <a:t>C</a:t>
                      </a: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Arial" charset="0"/>
                          <a:cs typeface="Arial" charset="0"/>
                        </a:rPr>
                        <a:t>Completed</a:t>
                      </a:r>
                      <a:endParaRPr kumimoji="0" lang="en-GB" sz="1600" b="0" i="0" u="none" strike="noStrike" cap="none" normalizeH="0" baseline="0">
                        <a:ln>
                          <a:noFill/>
                        </a:ln>
                        <a:solidFill>
                          <a:srgbClr val="002060"/>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On-Schedule</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Major Issues</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Some Issues</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NS</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Not Started</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2" name="Title 1">
            <a:extLst>
              <a:ext uri="{FF2B5EF4-FFF2-40B4-BE49-F238E27FC236}">
                <a16:creationId xmlns:a16="http://schemas.microsoft.com/office/drawing/2014/main" id="{1ABE5BD6-4C14-C93E-586B-6DB89C2FDFE9}"/>
              </a:ext>
            </a:extLst>
          </p:cNvPr>
          <p:cNvSpPr>
            <a:spLocks noGrp="1"/>
          </p:cNvSpPr>
          <p:nvPr>
            <p:ph type="title"/>
          </p:nvPr>
        </p:nvSpPr>
        <p:spPr>
          <a:xfrm>
            <a:off x="299257" y="186479"/>
            <a:ext cx="5855983" cy="517320"/>
          </a:xfrm>
        </p:spPr>
        <p:txBody>
          <a:bodyPr vert="horz">
            <a:noAutofit/>
          </a:bodyPr>
          <a:lstStyle/>
          <a:p>
            <a:r>
              <a:rPr lang="fr-FR">
                <a:solidFill>
                  <a:srgbClr val="29389F"/>
                </a:solidFill>
              </a:rPr>
              <a:t>Data Center Production Migration</a:t>
            </a:r>
          </a:p>
        </p:txBody>
      </p:sp>
      <p:graphicFrame>
        <p:nvGraphicFramePr>
          <p:cNvPr id="11" name="Group 513">
            <a:extLst>
              <a:ext uri="{FF2B5EF4-FFF2-40B4-BE49-F238E27FC236}">
                <a16:creationId xmlns:a16="http://schemas.microsoft.com/office/drawing/2014/main" id="{BFC921B7-8473-F0B2-DE79-1DD183682645}"/>
              </a:ext>
            </a:extLst>
          </p:cNvPr>
          <p:cNvGraphicFramePr>
            <a:graphicFrameLocks noGrp="1"/>
          </p:cNvGraphicFramePr>
          <p:nvPr>
            <p:extLst>
              <p:ext uri="{D42A27DB-BD31-4B8C-83A1-F6EECF244321}">
                <p14:modId xmlns:p14="http://schemas.microsoft.com/office/powerpoint/2010/main" val="2385038387"/>
              </p:ext>
            </p:extLst>
          </p:nvPr>
        </p:nvGraphicFramePr>
        <p:xfrm>
          <a:off x="234455" y="927650"/>
          <a:ext cx="2638218" cy="344301"/>
        </p:xfrm>
        <a:graphic>
          <a:graphicData uri="http://schemas.openxmlformats.org/drawingml/2006/table">
            <a:tbl>
              <a:tblPr/>
              <a:tblGrid>
                <a:gridCol w="990046">
                  <a:extLst>
                    <a:ext uri="{9D8B030D-6E8A-4147-A177-3AD203B41FA5}">
                      <a16:colId xmlns:a16="http://schemas.microsoft.com/office/drawing/2014/main" val="20000"/>
                    </a:ext>
                  </a:extLst>
                </a:gridCol>
                <a:gridCol w="1648172">
                  <a:extLst>
                    <a:ext uri="{9D8B030D-6E8A-4147-A177-3AD203B41FA5}">
                      <a16:colId xmlns:a16="http://schemas.microsoft.com/office/drawing/2014/main" val="20001"/>
                    </a:ext>
                  </a:extLst>
                </a:gridCol>
              </a:tblGrid>
              <a:tr h="344301">
                <a:tc>
                  <a:txBody>
                    <a:bodyPr/>
                    <a:lstStyle/>
                    <a:p>
                      <a:pPr marL="0" marR="0" lvl="0" indent="0" algn="l" defTabSz="914400" rtl="0" eaLnBrk="0" fontAlgn="base" latinLnBrk="0" hangingPunct="0">
                        <a:lnSpc>
                          <a:spcPct val="95000"/>
                        </a:lnSpc>
                        <a:spcBef>
                          <a:spcPct val="0"/>
                        </a:spcBef>
                        <a:spcAft>
                          <a:spcPct val="50000"/>
                        </a:spcAft>
                        <a:buClrTx/>
                        <a:buSzTx/>
                        <a:buFontTx/>
                        <a:buNone/>
                        <a:tabLst/>
                      </a:pPr>
                      <a:r>
                        <a:rPr kumimoji="0" lang="en-GB" sz="1050" b="1" i="0" u="none" strike="noStrike" kern="1200" cap="none" normalizeH="0" baseline="0">
                          <a:ln>
                            <a:noFill/>
                          </a:ln>
                          <a:solidFill>
                            <a:schemeClr val="bg1"/>
                          </a:solidFill>
                          <a:effectLst/>
                          <a:latin typeface="Arial"/>
                          <a:ea typeface="+mn-ea"/>
                          <a:cs typeface="+mn-cs"/>
                        </a:rPr>
                        <a:t>Status Date:</a:t>
                      </a:r>
                    </a:p>
                  </a:txBody>
                  <a:tcPr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GB" sz="850" b="1" i="0" u="none" strike="noStrike" kern="1200" cap="none" normalizeH="0" baseline="0">
                          <a:ln>
                            <a:noFill/>
                          </a:ln>
                          <a:solidFill>
                            <a:schemeClr val="tx1"/>
                          </a:solidFill>
                          <a:effectLst/>
                          <a:latin typeface="Aptos" panose="020B0004020202020204" pitchFamily="34" charset="0"/>
                          <a:ea typeface="+mn-ea"/>
                          <a:cs typeface="+mn-cs"/>
                        </a:rPr>
                        <a:t>08/21/2026</a:t>
                      </a:r>
                    </a:p>
                  </a:txBody>
                  <a:tcPr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14" name="Table 13">
            <a:extLst>
              <a:ext uri="{FF2B5EF4-FFF2-40B4-BE49-F238E27FC236}">
                <a16:creationId xmlns:a16="http://schemas.microsoft.com/office/drawing/2014/main" id="{73CC002A-2DFC-C8F3-6C81-9574B1340A99}"/>
              </a:ext>
            </a:extLst>
          </p:cNvPr>
          <p:cNvGraphicFramePr>
            <a:graphicFrameLocks noGrp="1"/>
          </p:cNvGraphicFramePr>
          <p:nvPr>
            <p:extLst>
              <p:ext uri="{D42A27DB-BD31-4B8C-83A1-F6EECF244321}">
                <p14:modId xmlns:p14="http://schemas.microsoft.com/office/powerpoint/2010/main" val="2702646945"/>
              </p:ext>
            </p:extLst>
          </p:nvPr>
        </p:nvGraphicFramePr>
        <p:xfrm>
          <a:off x="6640300" y="927650"/>
          <a:ext cx="5352360" cy="749848"/>
        </p:xfrm>
        <a:graphic>
          <a:graphicData uri="http://schemas.openxmlformats.org/drawingml/2006/table">
            <a:tbl>
              <a:tblPr>
                <a:tableStyleId>{5C22544A-7EE6-4342-B048-85BDC9FD1C3A}</a:tableStyleId>
              </a:tblPr>
              <a:tblGrid>
                <a:gridCol w="1045337">
                  <a:extLst>
                    <a:ext uri="{9D8B030D-6E8A-4147-A177-3AD203B41FA5}">
                      <a16:colId xmlns:a16="http://schemas.microsoft.com/office/drawing/2014/main" val="2456552316"/>
                    </a:ext>
                  </a:extLst>
                </a:gridCol>
                <a:gridCol w="926511">
                  <a:extLst>
                    <a:ext uri="{9D8B030D-6E8A-4147-A177-3AD203B41FA5}">
                      <a16:colId xmlns:a16="http://schemas.microsoft.com/office/drawing/2014/main" val="2327174630"/>
                    </a:ext>
                  </a:extLst>
                </a:gridCol>
                <a:gridCol w="1514970">
                  <a:extLst>
                    <a:ext uri="{9D8B030D-6E8A-4147-A177-3AD203B41FA5}">
                      <a16:colId xmlns:a16="http://schemas.microsoft.com/office/drawing/2014/main" val="1100051595"/>
                    </a:ext>
                  </a:extLst>
                </a:gridCol>
                <a:gridCol w="913991">
                  <a:extLst>
                    <a:ext uri="{9D8B030D-6E8A-4147-A177-3AD203B41FA5}">
                      <a16:colId xmlns:a16="http://schemas.microsoft.com/office/drawing/2014/main" val="2042261034"/>
                    </a:ext>
                  </a:extLst>
                </a:gridCol>
                <a:gridCol w="951551">
                  <a:extLst>
                    <a:ext uri="{9D8B030D-6E8A-4147-A177-3AD203B41FA5}">
                      <a16:colId xmlns:a16="http://schemas.microsoft.com/office/drawing/2014/main" val="2815874248"/>
                    </a:ext>
                  </a:extLst>
                </a:gridCol>
              </a:tblGrid>
              <a:tr h="366567">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2026 Budget</a:t>
                      </a:r>
                      <a:r>
                        <a:rPr lang="en-US" sz="1050" b="1" i="0" u="none" strike="noStrike" kern="1200" cap="none" normalizeH="0" baseline="0">
                          <a:ln>
                            <a:noFill/>
                          </a:ln>
                          <a:solidFill>
                            <a:schemeClr val="bg1"/>
                          </a:solidFill>
                          <a:effectLst/>
                          <a:latin typeface="Arial"/>
                          <a:ea typeface="+mn-ea"/>
                          <a:cs typeface="+mn-cs"/>
                        </a:rPr>
                        <a:t> </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YTD Actuals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Remaining 2026 Forecast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Current YE Forecast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Total Budget</a:t>
                      </a:r>
                      <a:r>
                        <a:rPr lang="en-US" sz="1050" b="1" i="0" u="none" strike="noStrike" kern="1200" cap="none" normalizeH="0" baseline="0">
                          <a:ln>
                            <a:noFill/>
                          </a:ln>
                          <a:solidFill>
                            <a:schemeClr val="bg1"/>
                          </a:solidFill>
                          <a:effectLst/>
                          <a:latin typeface="Arial"/>
                          <a:ea typeface="+mn-ea"/>
                          <a:cs typeface="+mn-cs"/>
                        </a:rPr>
                        <a:t> </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383281">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endParaRPr kumimoji="0" lang="en-US" sz="850" b="1" i="0" u="none" strike="noStrike" kern="1200" cap="none" normalizeH="0" baseline="0">
                        <a:ln>
                          <a:noFill/>
                        </a:ln>
                        <a:solidFill>
                          <a:schemeClr val="tx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endParaRPr kumimoji="0" lang="en-US" sz="850" b="1" i="0" u="none" strike="noStrike" kern="1200" cap="none" normalizeH="0" baseline="0">
                        <a:ln>
                          <a:noFill/>
                        </a:ln>
                        <a:solidFill>
                          <a:schemeClr val="tx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endParaRPr kumimoji="0" lang="en-US" sz="850" b="1" i="0" u="none" strike="noStrike" kern="1200" cap="none" normalizeH="0" baseline="0">
                        <a:ln>
                          <a:noFill/>
                        </a:ln>
                        <a:solidFill>
                          <a:schemeClr val="tx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endParaRPr kumimoji="0" lang="en-US" sz="850" b="1" i="0" u="none" strike="noStrike" kern="1200" cap="none" normalizeH="0" baseline="0">
                        <a:ln>
                          <a:noFill/>
                        </a:ln>
                        <a:solidFill>
                          <a:schemeClr val="tx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N/A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7499024"/>
                  </a:ext>
                </a:extLst>
              </a:tr>
            </a:tbl>
          </a:graphicData>
        </a:graphic>
      </p:graphicFrame>
      <p:graphicFrame>
        <p:nvGraphicFramePr>
          <p:cNvPr id="25" name="Table 24">
            <a:extLst>
              <a:ext uri="{FF2B5EF4-FFF2-40B4-BE49-F238E27FC236}">
                <a16:creationId xmlns:a16="http://schemas.microsoft.com/office/drawing/2014/main" id="{B6E895CC-BDB5-A791-481B-35F9B3910FB0}"/>
              </a:ext>
            </a:extLst>
          </p:cNvPr>
          <p:cNvGraphicFramePr>
            <a:graphicFrameLocks noGrp="1"/>
          </p:cNvGraphicFramePr>
          <p:nvPr>
            <p:extLst>
              <p:ext uri="{D42A27DB-BD31-4B8C-83A1-F6EECF244321}">
                <p14:modId xmlns:p14="http://schemas.microsoft.com/office/powerpoint/2010/main" val="666075741"/>
              </p:ext>
            </p:extLst>
          </p:nvPr>
        </p:nvGraphicFramePr>
        <p:xfrm>
          <a:off x="2811025" y="920667"/>
          <a:ext cx="3829275" cy="749848"/>
        </p:xfrm>
        <a:graphic>
          <a:graphicData uri="http://schemas.openxmlformats.org/drawingml/2006/table">
            <a:tbl>
              <a:tblPr>
                <a:tableStyleId>{5C22544A-7EE6-4342-B048-85BDC9FD1C3A}</a:tableStyleId>
              </a:tblPr>
              <a:tblGrid>
                <a:gridCol w="1042158">
                  <a:extLst>
                    <a:ext uri="{9D8B030D-6E8A-4147-A177-3AD203B41FA5}">
                      <a16:colId xmlns:a16="http://schemas.microsoft.com/office/drawing/2014/main" val="2456552316"/>
                    </a:ext>
                  </a:extLst>
                </a:gridCol>
                <a:gridCol w="961214">
                  <a:extLst>
                    <a:ext uri="{9D8B030D-6E8A-4147-A177-3AD203B41FA5}">
                      <a16:colId xmlns:a16="http://schemas.microsoft.com/office/drawing/2014/main" val="1100051595"/>
                    </a:ext>
                  </a:extLst>
                </a:gridCol>
                <a:gridCol w="920742">
                  <a:extLst>
                    <a:ext uri="{9D8B030D-6E8A-4147-A177-3AD203B41FA5}">
                      <a16:colId xmlns:a16="http://schemas.microsoft.com/office/drawing/2014/main" val="2042261034"/>
                    </a:ext>
                  </a:extLst>
                </a:gridCol>
                <a:gridCol w="905161">
                  <a:extLst>
                    <a:ext uri="{9D8B030D-6E8A-4147-A177-3AD203B41FA5}">
                      <a16:colId xmlns:a16="http://schemas.microsoft.com/office/drawing/2014/main" val="2815874248"/>
                    </a:ext>
                  </a:extLst>
                </a:gridCol>
              </a:tblGrid>
              <a:tr h="409508">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Overall</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Scope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Schedule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Financials</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340340">
                <a:tc>
                  <a:txBody>
                    <a:bodyPr/>
                    <a:lstStyle/>
                    <a:p>
                      <a:pPr marL="0" marR="0" lvl="0" indent="0" algn="ctr" rtl="0" eaLnBrk="1" fontAlgn="ctr" latinLnBrk="0" hangingPunct="1">
                        <a:lnSpc>
                          <a:spcPct val="95000"/>
                        </a:lnSpc>
                        <a:spcBef>
                          <a:spcPct val="0"/>
                        </a:spcBef>
                        <a:spcAft>
                          <a:spcPct val="50000"/>
                        </a:spcAft>
                        <a:buClrTx/>
                        <a:buSzTx/>
                        <a:buFontTx/>
                        <a:buNone/>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rtl="0" eaLnBrk="1" fontAlgn="ctr" latinLnBrk="0" hangingPunct="1">
                        <a:lnSpc>
                          <a:spcPct val="95000"/>
                        </a:lnSpc>
                        <a:spcBef>
                          <a:spcPct val="0"/>
                        </a:spcBef>
                        <a:spcAft>
                          <a:spcPct val="50000"/>
                        </a:spcAft>
                        <a:buClrTx/>
                        <a:buSzTx/>
                        <a:buFontTx/>
                        <a:buNone/>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7499024"/>
                  </a:ext>
                </a:extLst>
              </a:tr>
            </a:tbl>
          </a:graphicData>
        </a:graphic>
      </p:graphicFrame>
      <p:graphicFrame>
        <p:nvGraphicFramePr>
          <p:cNvPr id="26" name="Group 513">
            <a:extLst>
              <a:ext uri="{FF2B5EF4-FFF2-40B4-BE49-F238E27FC236}">
                <a16:creationId xmlns:a16="http://schemas.microsoft.com/office/drawing/2014/main" id="{F652D2C5-410F-BAFF-DE54-F0ED0E9CD5D4}"/>
              </a:ext>
            </a:extLst>
          </p:cNvPr>
          <p:cNvGraphicFramePr>
            <a:graphicFrameLocks noGrp="1"/>
          </p:cNvGraphicFramePr>
          <p:nvPr>
            <p:extLst>
              <p:ext uri="{D42A27DB-BD31-4B8C-83A1-F6EECF244321}">
                <p14:modId xmlns:p14="http://schemas.microsoft.com/office/powerpoint/2010/main" val="1350646781"/>
              </p:ext>
            </p:extLst>
          </p:nvPr>
        </p:nvGraphicFramePr>
        <p:xfrm>
          <a:off x="231953" y="1271951"/>
          <a:ext cx="2581575" cy="402546"/>
        </p:xfrm>
        <a:graphic>
          <a:graphicData uri="http://schemas.openxmlformats.org/drawingml/2006/table">
            <a:tbl>
              <a:tblPr/>
              <a:tblGrid>
                <a:gridCol w="998602">
                  <a:extLst>
                    <a:ext uri="{9D8B030D-6E8A-4147-A177-3AD203B41FA5}">
                      <a16:colId xmlns:a16="http://schemas.microsoft.com/office/drawing/2014/main" val="20000"/>
                    </a:ext>
                  </a:extLst>
                </a:gridCol>
                <a:gridCol w="1582973">
                  <a:extLst>
                    <a:ext uri="{9D8B030D-6E8A-4147-A177-3AD203B41FA5}">
                      <a16:colId xmlns:a16="http://schemas.microsoft.com/office/drawing/2014/main" val="20001"/>
                    </a:ext>
                  </a:extLst>
                </a:gridCol>
              </a:tblGrid>
              <a:tr h="344301">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GB" sz="1050" b="1" i="0" u="none" strike="noStrike" kern="1200" cap="none" normalizeH="0" baseline="0">
                          <a:ln>
                            <a:noFill/>
                          </a:ln>
                          <a:solidFill>
                            <a:schemeClr val="bg1"/>
                          </a:solidFill>
                          <a:effectLst/>
                          <a:latin typeface="Arial"/>
                          <a:ea typeface="+mn-ea"/>
                          <a:cs typeface="+mn-cs"/>
                        </a:rPr>
                        <a:t>Target Delivery:</a:t>
                      </a:r>
                    </a:p>
                  </a:txBody>
                  <a:tcPr marL="0" marR="0"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7/24/2026 (Cutover)</a:t>
                      </a:r>
                    </a:p>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850" b="1" i="0" u="none" strike="noStrike" kern="1200" cap="none" normalizeH="0" baseline="0">
                          <a:ln>
                            <a:noFill/>
                          </a:ln>
                          <a:solidFill>
                            <a:schemeClr val="tx1"/>
                          </a:solidFill>
                          <a:effectLst/>
                          <a:latin typeface="Aptos" panose="020B0004020202020204" pitchFamily="34" charset="0"/>
                          <a:ea typeface="+mn-ea"/>
                          <a:cs typeface="+mn-cs"/>
                        </a:rPr>
                        <a:t>8/17/2026 (Retirement)</a:t>
                      </a:r>
                    </a:p>
                  </a:txBody>
                  <a:tcPr marL="0" marR="0"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27" name="Table 26">
            <a:extLst>
              <a:ext uri="{FF2B5EF4-FFF2-40B4-BE49-F238E27FC236}">
                <a16:creationId xmlns:a16="http://schemas.microsoft.com/office/drawing/2014/main" id="{BA723C90-E347-BE4F-2081-3B1F7E848FD7}"/>
              </a:ext>
            </a:extLst>
          </p:cNvPr>
          <p:cNvGraphicFramePr>
            <a:graphicFrameLocks noGrp="1"/>
          </p:cNvGraphicFramePr>
          <p:nvPr>
            <p:extLst>
              <p:ext uri="{D42A27DB-BD31-4B8C-83A1-F6EECF244321}">
                <p14:modId xmlns:p14="http://schemas.microsoft.com/office/powerpoint/2010/main" val="2272209998"/>
              </p:ext>
            </p:extLst>
          </p:nvPr>
        </p:nvGraphicFramePr>
        <p:xfrm>
          <a:off x="5570290" y="1963776"/>
          <a:ext cx="6484606" cy="3400318"/>
        </p:xfrm>
        <a:graphic>
          <a:graphicData uri="http://schemas.openxmlformats.org/drawingml/2006/table">
            <a:tbl>
              <a:tblPr>
                <a:tableStyleId>{5C22544A-7EE6-4342-B048-85BDC9FD1C3A}</a:tableStyleId>
              </a:tblPr>
              <a:tblGrid>
                <a:gridCol w="2373495">
                  <a:extLst>
                    <a:ext uri="{9D8B030D-6E8A-4147-A177-3AD203B41FA5}">
                      <a16:colId xmlns:a16="http://schemas.microsoft.com/office/drawing/2014/main" val="2456552316"/>
                    </a:ext>
                  </a:extLst>
                </a:gridCol>
                <a:gridCol w="491195">
                  <a:extLst>
                    <a:ext uri="{9D8B030D-6E8A-4147-A177-3AD203B41FA5}">
                      <a16:colId xmlns:a16="http://schemas.microsoft.com/office/drawing/2014/main" val="1100051595"/>
                    </a:ext>
                  </a:extLst>
                </a:gridCol>
                <a:gridCol w="569320">
                  <a:extLst>
                    <a:ext uri="{9D8B030D-6E8A-4147-A177-3AD203B41FA5}">
                      <a16:colId xmlns:a16="http://schemas.microsoft.com/office/drawing/2014/main" val="2042261034"/>
                    </a:ext>
                  </a:extLst>
                </a:gridCol>
                <a:gridCol w="3050596">
                  <a:extLst>
                    <a:ext uri="{9D8B030D-6E8A-4147-A177-3AD203B41FA5}">
                      <a16:colId xmlns:a16="http://schemas.microsoft.com/office/drawing/2014/main" val="2815874248"/>
                    </a:ext>
                  </a:extLst>
                </a:gridCol>
              </a:tblGrid>
              <a:tr h="512298">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Milestone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Status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Due Date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Notes</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491226">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50" kern="1200">
                          <a:solidFill>
                            <a:schemeClr val="dk1"/>
                          </a:solidFill>
                          <a:latin typeface="Aptos" panose="020B0004020202020204" pitchFamily="34" charset="0"/>
                          <a:ea typeface="+mn-ea"/>
                          <a:cs typeface="+mn-cs"/>
                        </a:rPr>
                        <a:t>Production Cutover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850">
                          <a:latin typeface="Aptos" panose="020B0004020202020204" pitchFamily="34" charset="0"/>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850">
                          <a:latin typeface="Aptos" panose="020B0004020202020204" pitchFamily="34" charset="0"/>
                        </a:rPr>
                        <a:t>7/24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rtl="0" eaLnBrk="1" fontAlgn="ctr" latinLnBrk="0" hangingPunct="1">
                        <a:lnSpc>
                          <a:spcPct val="95000"/>
                        </a:lnSpc>
                        <a:spcBef>
                          <a:spcPct val="0"/>
                        </a:spcBef>
                        <a:spcAft>
                          <a:spcPct val="50000"/>
                        </a:spcAft>
                        <a:buClrTx/>
                        <a:buSzTx/>
                        <a:buFontTx/>
                        <a:buNone/>
                      </a:pPr>
                      <a:endParaRPr lang="en-US" sz="850" b="0" kern="1200">
                        <a:solidFill>
                          <a:schemeClr val="tx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617819655"/>
                  </a:ext>
                </a:extLst>
              </a:tr>
              <a:tr h="357745">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50" kern="1200">
                          <a:solidFill>
                            <a:schemeClr val="dk1"/>
                          </a:solidFill>
                          <a:latin typeface="Aptos" panose="020B0004020202020204" pitchFamily="34" charset="0"/>
                          <a:ea typeface="+mn-ea"/>
                          <a:cs typeface="+mn-cs"/>
                        </a:rPr>
                        <a:t>Warranty Completed</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850">
                          <a:latin typeface="Aptos" panose="020B0004020202020204" pitchFamily="34" charset="0"/>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850">
                          <a:latin typeface="Aptos" panose="020B0004020202020204" pitchFamily="34" charset="0"/>
                        </a:rPr>
                        <a:t>8/7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rtl="0" eaLnBrk="1" fontAlgn="ctr" latinLnBrk="0" hangingPunct="1">
                        <a:lnSpc>
                          <a:spcPct val="95000"/>
                        </a:lnSpc>
                        <a:spcBef>
                          <a:spcPct val="0"/>
                        </a:spcBef>
                        <a:spcAft>
                          <a:spcPct val="50000"/>
                        </a:spcAft>
                        <a:buClrTx/>
                        <a:buSzTx/>
                        <a:buFontTx/>
                        <a:buNone/>
                      </a:pPr>
                      <a:r>
                        <a:rPr lang="en-US" sz="850" b="0" kern="1200">
                          <a:solidFill>
                            <a:schemeClr val="tx1"/>
                          </a:solidFill>
                          <a:effectLst/>
                          <a:latin typeface="Aptos" panose="020B0004020202020204" pitchFamily="34" charset="0"/>
                          <a:ea typeface="+mn-ea"/>
                          <a:cs typeface="+mn-cs"/>
                        </a:rPr>
                        <a:t> 4 outstanding defects remaining.</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162506059"/>
                  </a:ext>
                </a:extLst>
              </a:tr>
              <a:tr h="357745">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50" kern="1200">
                          <a:solidFill>
                            <a:schemeClr val="dk1"/>
                          </a:solidFill>
                          <a:latin typeface="Aptos" panose="020B0004020202020204" pitchFamily="34" charset="0"/>
                          <a:ea typeface="+mn-ea"/>
                          <a:cs typeface="+mn-cs"/>
                        </a:rPr>
                        <a:t>Dallas Retirement Completed</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850">
                          <a:latin typeface="Aptos" panose="020B0004020202020204" pitchFamily="34" charset="0"/>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900" b="0" i="0" u="none" strike="noStrike" noProof="0">
                          <a:solidFill>
                            <a:srgbClr val="000000"/>
                          </a:solidFill>
                          <a:latin typeface="Aptos"/>
                        </a:rPr>
                        <a:t>8/13</a:t>
                      </a:r>
                    </a:p>
                    <a:p>
                      <a:pPr lvl="0" algn="ctr">
                        <a:buNone/>
                      </a:pPr>
                      <a:endParaRPr lang="en-US" sz="850">
                        <a:latin typeface="Apto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rtl="0" eaLnBrk="1" fontAlgn="ctr" latinLnBrk="0" hangingPunct="1">
                        <a:lnSpc>
                          <a:spcPct val="95000"/>
                        </a:lnSpc>
                        <a:spcBef>
                          <a:spcPct val="0"/>
                        </a:spcBef>
                        <a:spcAft>
                          <a:spcPct val="50000"/>
                        </a:spcAft>
                        <a:buClrTx/>
                        <a:buSzTx/>
                        <a:buFontTx/>
                        <a:buNone/>
                      </a:pPr>
                      <a:endParaRPr lang="en-US" sz="850" b="0" kern="1200">
                        <a:solidFill>
                          <a:schemeClr val="tx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329427646"/>
                  </a:ext>
                </a:extLst>
              </a:tr>
              <a:tr h="324770">
                <a:tc>
                  <a:txBody>
                    <a:bodyPr/>
                    <a:lstStyle/>
                    <a:p>
                      <a:pPr marL="114300" lvl="0" indent="0" algn="l">
                        <a:lnSpc>
                          <a:spcPct val="95000"/>
                        </a:lnSpc>
                        <a:spcBef>
                          <a:spcPct val="0"/>
                        </a:spcBef>
                        <a:spcAft>
                          <a:spcPct val="50000"/>
                        </a:spcAft>
                        <a:buNone/>
                      </a:pPr>
                      <a:r>
                        <a:rPr lang="en-US" sz="850" kern="1200">
                          <a:solidFill>
                            <a:schemeClr val="dk1"/>
                          </a:solidFill>
                          <a:latin typeface="Aptos" panose="020B0004020202020204" pitchFamily="34" charset="0"/>
                          <a:ea typeface="+mn-ea"/>
                          <a:cs typeface="+mn-cs"/>
                        </a:rPr>
                        <a:t>Irvine Retirement Completed</a:t>
                      </a:r>
                    </a:p>
                  </a:txBody>
                  <a:tcPr marL="9524" marR="9524" marT="9524" marB="0" anchor="ctr">
                    <a:lnL w="12700">
                      <a:solidFill>
                        <a:schemeClr val="tx1"/>
                      </a:solidFill>
                    </a:lnL>
                    <a:lnR w="12700">
                      <a:solidFill>
                        <a:schemeClr val="tx1"/>
                      </a:solidFill>
                    </a:lnR>
                    <a:lnT w="12700">
                      <a:solidFill>
                        <a:schemeClr val="tx1"/>
                      </a:solidFill>
                    </a:lnT>
                    <a:lnB w="12700">
                      <a:solidFill>
                        <a:schemeClr val="tx1"/>
                      </a:solidFill>
                    </a:lnB>
                    <a:lnTlToBr w="0">
                      <a:noFill/>
                    </a:lnTlToBr>
                    <a:lnBlToTr w="0">
                      <a:noFill/>
                    </a:lnBlToTr>
                    <a:solidFill>
                      <a:schemeClr val="bg1">
                        <a:lumMod val="85000"/>
                      </a:schemeClr>
                    </a:solidFill>
                  </a:tcPr>
                </a:tc>
                <a:tc>
                  <a:txBody>
                    <a:bodyPr/>
                    <a:lstStyle/>
                    <a:p>
                      <a:pPr lvl="0" algn="ctr">
                        <a:buNone/>
                      </a:pPr>
                      <a:r>
                        <a:rPr lang="en-US" sz="850">
                          <a:latin typeface="Aptos" panose="020B0004020202020204" pitchFamily="34" charset="0"/>
                        </a:rPr>
                        <a:t>C</a:t>
                      </a:r>
                    </a:p>
                  </a:txBody>
                  <a:tcPr marL="9524" marR="9524" marT="9524" marB="0" anchor="ctr">
                    <a:lnL w="12700">
                      <a:solidFill>
                        <a:schemeClr val="tx1"/>
                      </a:solidFill>
                    </a:lnL>
                    <a:lnR w="12700">
                      <a:solidFill>
                        <a:schemeClr val="tx1"/>
                      </a:solidFill>
                    </a:lnR>
                    <a:lnT w="12700">
                      <a:solidFill>
                        <a:schemeClr val="tx1"/>
                      </a:solidFill>
                    </a:lnT>
                    <a:lnB w="12700">
                      <a:solidFill>
                        <a:schemeClr val="tx1"/>
                      </a:solidFill>
                    </a:lnB>
                    <a:lnTlToBr w="0">
                      <a:noFill/>
                    </a:lnTlToBr>
                    <a:lnBlToTr w="0">
                      <a:noFill/>
                    </a:lnBlToTr>
                    <a:solidFill>
                      <a:schemeClr val="bg1">
                        <a:lumMod val="85000"/>
                      </a:schemeClr>
                    </a:solidFill>
                  </a:tcPr>
                </a:tc>
                <a:tc>
                  <a:txBody>
                    <a:bodyPr/>
                    <a:lstStyle/>
                    <a:p>
                      <a:pPr lvl="0" algn="ctr">
                        <a:buNone/>
                      </a:pPr>
                      <a:r>
                        <a:rPr lang="en-US" sz="850">
                          <a:latin typeface="Aptos" panose="020B0004020202020204" pitchFamily="34" charset="0"/>
                        </a:rPr>
                        <a:t>8/17</a:t>
                      </a:r>
                    </a:p>
                  </a:txBody>
                  <a:tcPr marL="9524" marR="9524" marT="9524" marB="0" anchor="ctr">
                    <a:lnL w="12700">
                      <a:solidFill>
                        <a:schemeClr val="tx1"/>
                      </a:solidFill>
                    </a:lnL>
                    <a:lnR w="12700">
                      <a:solidFill>
                        <a:schemeClr val="tx1"/>
                      </a:solidFill>
                    </a:lnR>
                    <a:lnT w="12700">
                      <a:solidFill>
                        <a:schemeClr val="tx1"/>
                      </a:solidFill>
                    </a:lnT>
                    <a:lnB w="12700">
                      <a:solidFill>
                        <a:schemeClr val="tx1"/>
                      </a:solidFill>
                    </a:lnB>
                    <a:lnTlToBr w="0">
                      <a:noFill/>
                    </a:lnTlToBr>
                    <a:lnBlToTr w="0">
                      <a:noFill/>
                    </a:lnBlToTr>
                    <a:solidFill>
                      <a:schemeClr val="bg1">
                        <a:lumMod val="85000"/>
                      </a:schemeClr>
                    </a:solidFill>
                  </a:tcPr>
                </a:tc>
                <a:tc>
                  <a:txBody>
                    <a:bodyPr/>
                    <a:lstStyle/>
                    <a:p>
                      <a:pPr marL="0" lvl="0" indent="0" algn="l">
                        <a:lnSpc>
                          <a:spcPct val="95000"/>
                        </a:lnSpc>
                        <a:spcBef>
                          <a:spcPct val="0"/>
                        </a:spcBef>
                        <a:spcAft>
                          <a:spcPct val="50000"/>
                        </a:spcAft>
                        <a:buNone/>
                      </a:pPr>
                      <a:endParaRPr lang="en-US" sz="850" b="0" kern="1200">
                        <a:solidFill>
                          <a:schemeClr val="tx1"/>
                        </a:solidFill>
                        <a:effectLst/>
                        <a:latin typeface="Aptos" panose="020B0004020202020204" pitchFamily="34" charset="0"/>
                        <a:ea typeface="+mn-ea"/>
                        <a:cs typeface="+mn-cs"/>
                      </a:endParaRPr>
                    </a:p>
                  </a:txBody>
                  <a:tcPr marL="9524" marR="9524" marT="9524" marB="0" anchor="ctr">
                    <a:lnL w="12700">
                      <a:solidFill>
                        <a:schemeClr val="tx1"/>
                      </a:solidFill>
                    </a:lnL>
                    <a:lnR w="12700">
                      <a:solidFill>
                        <a:schemeClr val="tx1"/>
                      </a:solidFill>
                    </a:lnR>
                    <a:lnT w="12700">
                      <a:solidFill>
                        <a:schemeClr val="tx1"/>
                      </a:solidFill>
                    </a:lnT>
                    <a:lnB w="12700">
                      <a:solidFill>
                        <a:schemeClr val="tx1"/>
                      </a:solidFill>
                    </a:lnB>
                    <a:lnTlToBr w="0">
                      <a:noFill/>
                    </a:lnTlToBr>
                    <a:lnBlToTr w="0">
                      <a:noFill/>
                    </a:lnBlToTr>
                    <a:solidFill>
                      <a:schemeClr val="bg1">
                        <a:lumMod val="85000"/>
                      </a:schemeClr>
                    </a:solidFill>
                  </a:tcPr>
                </a:tc>
                <a:extLst>
                  <a:ext uri="{0D108BD9-81ED-4DB2-BD59-A6C34878D82A}">
                    <a16:rowId xmlns:a16="http://schemas.microsoft.com/office/drawing/2014/main" val="704749405"/>
                  </a:ext>
                </a:extLst>
              </a:tr>
              <a:tr h="324772">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50" kern="1200">
                          <a:solidFill>
                            <a:schemeClr val="dk1"/>
                          </a:solidFill>
                          <a:latin typeface="Aptos" panose="020B0004020202020204" pitchFamily="34" charset="0"/>
                          <a:ea typeface="+mn-ea"/>
                          <a:cs typeface="+mn-cs"/>
                        </a:rPr>
                        <a:t>Project Retrospective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850">
                          <a:latin typeface="Aptos" panose="020B0004020202020204" pitchFamily="34" charset="0"/>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850">
                          <a:latin typeface="Aptos" panose="020B0004020202020204" pitchFamily="34" charset="0"/>
                        </a:rPr>
                        <a:t>8/21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rtl="0" eaLnBrk="1" fontAlgn="ctr" latinLnBrk="0" hangingPunct="1">
                        <a:lnSpc>
                          <a:spcPct val="95000"/>
                        </a:lnSpc>
                        <a:spcBef>
                          <a:spcPct val="0"/>
                        </a:spcBef>
                        <a:spcAft>
                          <a:spcPct val="50000"/>
                        </a:spcAft>
                        <a:buClrTx/>
                        <a:buSzTx/>
                        <a:buFontTx/>
                        <a:buNone/>
                      </a:pPr>
                      <a:endParaRPr lang="en-US" sz="850" b="0" kern="1200">
                        <a:solidFill>
                          <a:schemeClr val="tx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491871358"/>
                  </a:ext>
                </a:extLst>
              </a:tr>
              <a:tr h="363744">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endParaRPr lang="en-US" sz="850" kern="1200">
                        <a:solidFill>
                          <a:schemeClr val="dk1"/>
                        </a:solidFill>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50">
                        <a:latin typeface="Aptos"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50">
                        <a:latin typeface="Aptos"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eaLnBrk="1" fontAlgn="ctr" latinLnBrk="0" hangingPunct="1">
                        <a:lnSpc>
                          <a:spcPct val="95000"/>
                        </a:lnSpc>
                        <a:spcBef>
                          <a:spcPct val="0"/>
                        </a:spcBef>
                        <a:spcAft>
                          <a:spcPct val="50000"/>
                        </a:spcAft>
                        <a:buClrTx/>
                        <a:buSzTx/>
                        <a:buFontTx/>
                        <a:buNone/>
                      </a:pPr>
                      <a:endParaRPr lang="en-US" sz="850" b="0" kern="1200">
                        <a:solidFill>
                          <a:schemeClr val="tx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71060909"/>
                  </a:ext>
                </a:extLst>
              </a:tr>
              <a:tr h="334009">
                <a:tc>
                  <a:txBody>
                    <a:bodyPr/>
                    <a:lstStyle/>
                    <a:p>
                      <a:endParaRPr lang="en-US" sz="850">
                        <a:latin typeface="Aptos"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Aptos"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Aptos"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50">
                        <a:latin typeface="Aptos"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4125628"/>
                  </a:ext>
                </a:extLst>
              </a:tr>
              <a:tr h="334009">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endParaRPr lang="en-US" sz="850" kern="1200">
                        <a:solidFill>
                          <a:schemeClr val="dk1"/>
                        </a:solidFill>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50">
                        <a:latin typeface="Aptos"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50">
                        <a:latin typeface="Aptos"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eaLnBrk="1" fontAlgn="ctr" latinLnBrk="0" hangingPunct="1">
                        <a:lnSpc>
                          <a:spcPct val="95000"/>
                        </a:lnSpc>
                        <a:spcBef>
                          <a:spcPct val="0"/>
                        </a:spcBef>
                        <a:spcAft>
                          <a:spcPct val="50000"/>
                        </a:spcAft>
                        <a:buClrTx/>
                        <a:buSzTx/>
                        <a:buFontTx/>
                        <a:buNone/>
                      </a:pPr>
                      <a:endParaRPr lang="en-US" sz="850" b="0" kern="1200">
                        <a:solidFill>
                          <a:schemeClr val="tx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18758640"/>
                  </a:ext>
                </a:extLst>
              </a:tr>
            </a:tbl>
          </a:graphicData>
        </a:graphic>
      </p:graphicFrame>
      <p:graphicFrame>
        <p:nvGraphicFramePr>
          <p:cNvPr id="29" name="Table 28">
            <a:extLst>
              <a:ext uri="{FF2B5EF4-FFF2-40B4-BE49-F238E27FC236}">
                <a16:creationId xmlns:a16="http://schemas.microsoft.com/office/drawing/2014/main" id="{4CB587BE-A2EE-21D7-2123-1DAB04D6EF69}"/>
              </a:ext>
            </a:extLst>
          </p:cNvPr>
          <p:cNvGraphicFramePr>
            <a:graphicFrameLocks noGrp="1"/>
          </p:cNvGraphicFramePr>
          <p:nvPr>
            <p:extLst>
              <p:ext uri="{D42A27DB-BD31-4B8C-83A1-F6EECF244321}">
                <p14:modId xmlns:p14="http://schemas.microsoft.com/office/powerpoint/2010/main" val="2487432257"/>
              </p:ext>
            </p:extLst>
          </p:nvPr>
        </p:nvGraphicFramePr>
        <p:xfrm>
          <a:off x="5583499" y="5507330"/>
          <a:ext cx="6484607" cy="714807"/>
        </p:xfrm>
        <a:graphic>
          <a:graphicData uri="http://schemas.openxmlformats.org/drawingml/2006/table">
            <a:tbl>
              <a:tblPr>
                <a:tableStyleId>{5C22544A-7EE6-4342-B048-85BDC9FD1C3A}</a:tableStyleId>
              </a:tblPr>
              <a:tblGrid>
                <a:gridCol w="2392727">
                  <a:extLst>
                    <a:ext uri="{9D8B030D-6E8A-4147-A177-3AD203B41FA5}">
                      <a16:colId xmlns:a16="http://schemas.microsoft.com/office/drawing/2014/main" val="2456552316"/>
                    </a:ext>
                  </a:extLst>
                </a:gridCol>
                <a:gridCol w="469863">
                  <a:extLst>
                    <a:ext uri="{9D8B030D-6E8A-4147-A177-3AD203B41FA5}">
                      <a16:colId xmlns:a16="http://schemas.microsoft.com/office/drawing/2014/main" val="1100051595"/>
                    </a:ext>
                  </a:extLst>
                </a:gridCol>
                <a:gridCol w="521848">
                  <a:extLst>
                    <a:ext uri="{9D8B030D-6E8A-4147-A177-3AD203B41FA5}">
                      <a16:colId xmlns:a16="http://schemas.microsoft.com/office/drawing/2014/main" val="2042261034"/>
                    </a:ext>
                  </a:extLst>
                </a:gridCol>
                <a:gridCol w="3100169">
                  <a:extLst>
                    <a:ext uri="{9D8B030D-6E8A-4147-A177-3AD203B41FA5}">
                      <a16:colId xmlns:a16="http://schemas.microsoft.com/office/drawing/2014/main" val="2815874248"/>
                    </a:ext>
                  </a:extLst>
                </a:gridCol>
              </a:tblGrid>
              <a:tr h="389213">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Critical Risks/Issues</a:t>
                      </a:r>
                      <a:endParaRPr kumimoji="0" lang="en-US" sz="1050" b="1" i="0" u="none" strike="noStrike" kern="1200" cap="none" normalizeH="0" baseline="0">
                        <a:ln>
                          <a:noFill/>
                        </a:ln>
                        <a:solidFill>
                          <a:schemeClr val="bg1"/>
                        </a:solidFill>
                        <a:effectLst/>
                        <a:latin typeface="Arial" charset="0"/>
                        <a:ea typeface="+mn-ea"/>
                        <a:cs typeface="+mn-cs"/>
                      </a:endParaRP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Status</a:t>
                      </a:r>
                    </a:p>
                  </a:txBody>
                  <a:tcPr marL="9525" marR="9525" marT="9525" marB="0" anchor="ct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1" fontAlgn="auto" latinLnBrk="0" hangingPunct="1">
                        <a:lnSpc>
                          <a:spcPct val="95000"/>
                        </a:lnSpc>
                        <a:spcBef>
                          <a:spcPct val="0"/>
                        </a:spcBef>
                        <a:spcAft>
                          <a:spcPct val="50000"/>
                        </a:spcAft>
                        <a:buClrTx/>
                        <a:buSzTx/>
                        <a:buFontTx/>
                        <a:buNone/>
                        <a:tabLst/>
                        <a:defRPr/>
                      </a:pPr>
                      <a:r>
                        <a:rPr kumimoji="0" lang="en-US" sz="1050" b="1" i="0" u="none" strike="noStrike" kern="1200" cap="none" normalizeH="0" baseline="0">
                          <a:ln>
                            <a:noFill/>
                          </a:ln>
                          <a:solidFill>
                            <a:schemeClr val="bg1"/>
                          </a:solidFill>
                          <a:effectLst/>
                          <a:latin typeface="+mn-lt"/>
                          <a:ea typeface="+mn-ea"/>
                          <a:cs typeface="+mn-cs"/>
                        </a:rPr>
                        <a:t>Target Date</a:t>
                      </a:r>
                    </a:p>
                  </a:txBody>
                  <a:tcPr marL="9525" marR="9525" marT="9525" marB="0" anchor="ctr">
                    <a:lnL w="12700">
                      <a:solidFill>
                        <a:schemeClr val="tx1"/>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Resolution / Mitigation</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325594">
                <a:tc>
                  <a:txBody>
                    <a:bodyPr/>
                    <a:lstStyle/>
                    <a:p>
                      <a:pPr marL="0" marR="0" lvl="0" indent="0" algn="l" defTabSz="914400" rtl="0" eaLnBrk="1" fontAlgn="auto" latinLnBrk="0" hangingPunct="1">
                        <a:lnSpc>
                          <a:spcPct val="115000"/>
                        </a:lnSpc>
                        <a:spcBef>
                          <a:spcPts val="0"/>
                        </a:spcBef>
                        <a:spcAft>
                          <a:spcPts val="800"/>
                        </a:spcAft>
                        <a:buClrTx/>
                        <a:buSzTx/>
                        <a:buFontTx/>
                        <a:buNone/>
                        <a:tabLst/>
                        <a:defRPr/>
                      </a:pPr>
                      <a:endParaRPr lang="en-US" sz="850">
                        <a:latin typeface="Aptos" panose="020B0004020202020204" pitchFamily="34" charset="0"/>
                      </a:endParaRP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850" b="0" kern="1200">
                        <a:solidFill>
                          <a:schemeClr val="tx1"/>
                        </a:solidFill>
                        <a:effectLst/>
                        <a:latin typeface="Aptos" panose="020B0004020202020204"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850" b="0" strike="noStrike" kern="1200">
                        <a:solidFill>
                          <a:schemeClr val="tx1"/>
                        </a:solidFill>
                        <a:effectLst/>
                        <a:latin typeface="Aptos" panose="020B0004020202020204" pitchFamily="34" charset="0"/>
                        <a:ea typeface="+mn-ea"/>
                        <a:cs typeface="+mn-cs"/>
                      </a:endParaRPr>
                    </a:p>
                  </a:txBody>
                  <a:tcPr marL="9525" marR="9525" marT="9525" marB="0" anchor="ctr">
                    <a:lnL w="12700">
                      <a:solidFill>
                        <a:schemeClr val="tx1"/>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ts val="200"/>
                        </a:spcBef>
                        <a:spcAft>
                          <a:spcPts val="0"/>
                        </a:spcAft>
                        <a:buClrTx/>
                        <a:buSzTx/>
                        <a:buFont typeface="Arial" panose="020B0604020202020204" pitchFamily="34" charset="0"/>
                        <a:buNone/>
                        <a:tabLst/>
                        <a:defRPr/>
                      </a:pPr>
                      <a:endParaRPr lang="en-US" sz="850" b="0" strike="noStrike" kern="1200">
                        <a:solidFill>
                          <a:schemeClr val="tx1"/>
                        </a:solidFill>
                        <a:effectLst/>
                        <a:latin typeface="Aptos" panose="020B0004020202020204" pitchFamily="34" charset="0"/>
                        <a:ea typeface="+mn-ea"/>
                        <a:cs typeface="+mn-cs"/>
                      </a:endParaRP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7499024"/>
                  </a:ext>
                </a:extLst>
              </a:tr>
            </a:tbl>
          </a:graphicData>
        </a:graphic>
      </p:graphicFrame>
      <p:sp>
        <p:nvSpPr>
          <p:cNvPr id="33" name="Flowchart: Connector 32">
            <a:extLst>
              <a:ext uri="{FF2B5EF4-FFF2-40B4-BE49-F238E27FC236}">
                <a16:creationId xmlns:a16="http://schemas.microsoft.com/office/drawing/2014/main" id="{416448B3-C471-06D2-E214-8208E6A1C858}"/>
              </a:ext>
            </a:extLst>
          </p:cNvPr>
          <p:cNvSpPr/>
          <p:nvPr/>
        </p:nvSpPr>
        <p:spPr>
          <a:xfrm>
            <a:off x="7145312" y="6407213"/>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Flowchart: Connector 33">
            <a:extLst>
              <a:ext uri="{FF2B5EF4-FFF2-40B4-BE49-F238E27FC236}">
                <a16:creationId xmlns:a16="http://schemas.microsoft.com/office/drawing/2014/main" id="{16113AD1-0727-29D7-165A-26751F365F7C}"/>
              </a:ext>
            </a:extLst>
          </p:cNvPr>
          <p:cNvSpPr/>
          <p:nvPr/>
        </p:nvSpPr>
        <p:spPr>
          <a:xfrm>
            <a:off x="8078441" y="6409672"/>
            <a:ext cx="163286" cy="164592"/>
          </a:xfrm>
          <a:prstGeom prst="flowChartConnector">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Flowchart: Connector 35">
            <a:extLst>
              <a:ext uri="{FF2B5EF4-FFF2-40B4-BE49-F238E27FC236}">
                <a16:creationId xmlns:a16="http://schemas.microsoft.com/office/drawing/2014/main" id="{A148D622-9D77-6567-3AD5-2241D9AAD96E}"/>
              </a:ext>
            </a:extLst>
          </p:cNvPr>
          <p:cNvSpPr/>
          <p:nvPr/>
        </p:nvSpPr>
        <p:spPr>
          <a:xfrm>
            <a:off x="9093213" y="6420286"/>
            <a:ext cx="163285" cy="164592"/>
          </a:xfrm>
          <a:prstGeom prst="flowChartConnector">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44D2CC87-946C-19E5-8C22-504B3023D9E1}"/>
              </a:ext>
            </a:extLst>
          </p:cNvPr>
          <p:cNvSpPr txBox="1"/>
          <p:nvPr/>
        </p:nvSpPr>
        <p:spPr>
          <a:xfrm>
            <a:off x="159545" y="2012527"/>
            <a:ext cx="5226187" cy="2426562"/>
          </a:xfrm>
          <a:prstGeom prst="rect">
            <a:avLst/>
          </a:prstGeom>
          <a:noFill/>
        </p:spPr>
        <p:txBody>
          <a:bodyPr wrap="square" lIns="91440" tIns="45720" rIns="91440" bIns="45720" anchor="t">
            <a:spAutoFit/>
          </a:bodyPr>
          <a:lstStyle/>
          <a:p>
            <a:pPr>
              <a:lnSpc>
                <a:spcPct val="150000"/>
              </a:lnSpc>
              <a:tabLst>
                <a:tab pos="457200" algn="l"/>
              </a:tabLst>
            </a:pPr>
            <a:r>
              <a:rPr lang="en-US" sz="850" b="1">
                <a:latin typeface="Aptos" panose="020B0004020202020204" pitchFamily="34" charset="0"/>
                <a:cs typeface="Arial"/>
              </a:rPr>
              <a:t>Status Update</a:t>
            </a:r>
            <a:endParaRPr lang="en-US" sz="850">
              <a:latin typeface="Aptos" panose="020B0004020202020204" pitchFamily="34" charset="0"/>
              <a:cs typeface="Arial"/>
            </a:endParaRPr>
          </a:p>
          <a:p>
            <a:pPr>
              <a:lnSpc>
                <a:spcPct val="150000"/>
              </a:lnSpc>
              <a:tabLst>
                <a:tab pos="457200" algn="l"/>
              </a:tabLst>
            </a:pPr>
            <a:r>
              <a:rPr lang="en-US" sz="850" b="1">
                <a:latin typeface="Aptos" panose="020B0004020202020204" pitchFamily="34" charset="0"/>
                <a:cs typeface="Arial"/>
              </a:rPr>
              <a:t>Overall Status: Green</a:t>
            </a:r>
          </a:p>
          <a:p>
            <a:pPr marL="171450" indent="-171450">
              <a:lnSpc>
                <a:spcPct val="150000"/>
              </a:lnSpc>
              <a:buFont typeface="Arial" panose="020B0604020202020204" pitchFamily="34" charset="0"/>
              <a:buChar char="•"/>
              <a:tabLst>
                <a:tab pos="457200" algn="l"/>
              </a:tabLst>
            </a:pPr>
            <a:r>
              <a:rPr lang="en-US" sz="850">
                <a:latin typeface="Aptos" panose="020B0004020202020204" pitchFamily="34" charset="0"/>
                <a:ea typeface="+mn-lt"/>
                <a:cs typeface="+mn-lt"/>
              </a:rPr>
              <a:t>The DCM Migration cutover has implemented on 7/24 successfully.  Physical Server Retirement scheduled to complete on 8/17.  On Schedule</a:t>
            </a:r>
          </a:p>
          <a:p>
            <a:pPr>
              <a:lnSpc>
                <a:spcPct val="150000"/>
              </a:lnSpc>
              <a:tabLst>
                <a:tab pos="457200" algn="l"/>
              </a:tabLst>
            </a:pPr>
            <a:endParaRPr lang="en-US" sz="850">
              <a:latin typeface="Aptos" panose="020B0004020202020204" pitchFamily="34" charset="0"/>
              <a:ea typeface="+mn-lt"/>
              <a:cs typeface="+mn-lt"/>
            </a:endParaRPr>
          </a:p>
          <a:p>
            <a:pPr lvl="0">
              <a:lnSpc>
                <a:spcPct val="150000"/>
              </a:lnSpc>
              <a:tabLst>
                <a:tab pos="457200" algn="l"/>
              </a:tabLst>
            </a:pPr>
            <a:r>
              <a:rPr lang="en-US" sz="850" b="1">
                <a:latin typeface="Aptos" panose="020B0004020202020204" pitchFamily="34" charset="0"/>
                <a:cs typeface="Arial"/>
              </a:rPr>
              <a:t>Highlights:</a:t>
            </a:r>
            <a:endParaRPr lang="en-US" sz="850">
              <a:latin typeface="Aptos" panose="020B0004020202020204" pitchFamily="34" charset="0"/>
              <a:ea typeface="Aptos" panose="020B0004020202020204" pitchFamily="34" charset="0"/>
              <a:cs typeface="Arial"/>
            </a:endParaRPr>
          </a:p>
          <a:p>
            <a:pPr marL="171450" indent="-171450">
              <a:lnSpc>
                <a:spcPct val="150000"/>
              </a:lnSpc>
              <a:buFont typeface="Arial,Sans-Serif"/>
              <a:buChar char="•"/>
              <a:tabLst>
                <a:tab pos="457200" algn="l"/>
              </a:tabLst>
            </a:pPr>
            <a:r>
              <a:rPr lang="en-US" sz="850">
                <a:latin typeface="Aptos" panose="020B0004020202020204" pitchFamily="34" charset="0"/>
                <a:ea typeface="Aptos" panose="020B0004020202020204" pitchFamily="34" charset="0"/>
                <a:cs typeface="Arial"/>
              </a:rPr>
              <a:t>Data Center Physical Retirement  </a:t>
            </a:r>
          </a:p>
          <a:p>
            <a:pPr marL="628650" lvl="1" indent="-171450">
              <a:lnSpc>
                <a:spcPct val="150000"/>
              </a:lnSpc>
              <a:buFont typeface="Arial,Sans-Serif"/>
              <a:buChar char="•"/>
              <a:tabLst>
                <a:tab pos="457200" algn="l"/>
              </a:tabLst>
            </a:pPr>
            <a:r>
              <a:rPr lang="en-US" sz="850">
                <a:latin typeface="Aptos" panose="020B0004020202020204" pitchFamily="34" charset="0"/>
                <a:ea typeface="Aptos" panose="020B0004020202020204" pitchFamily="34" charset="0"/>
                <a:cs typeface="Arial"/>
              </a:rPr>
              <a:t>Dallas: 8/10 – 8/13  (Completed)</a:t>
            </a:r>
          </a:p>
          <a:p>
            <a:pPr marL="628650" lvl="1" indent="-171450">
              <a:lnSpc>
                <a:spcPct val="150000"/>
              </a:lnSpc>
              <a:buFont typeface="Arial,Sans-Serif"/>
              <a:buChar char="•"/>
              <a:tabLst>
                <a:tab pos="457200" algn="l"/>
              </a:tabLst>
            </a:pPr>
            <a:r>
              <a:rPr lang="en-US" sz="850">
                <a:latin typeface="Aptos" panose="020B0004020202020204" pitchFamily="34" charset="0"/>
                <a:ea typeface="Aptos" panose="020B0004020202020204" pitchFamily="34" charset="0"/>
                <a:cs typeface="Arial"/>
              </a:rPr>
              <a:t>Irvine:  8/13 – 8/17</a:t>
            </a:r>
          </a:p>
          <a:p>
            <a:pPr marL="171450" indent="-171450">
              <a:lnSpc>
                <a:spcPct val="150000"/>
              </a:lnSpc>
              <a:buFont typeface="Arial,Sans-Serif"/>
              <a:buChar char="•"/>
              <a:tabLst>
                <a:tab pos="457200" algn="l"/>
              </a:tabLst>
            </a:pPr>
            <a:r>
              <a:rPr lang="en-US" sz="850">
                <a:latin typeface="Aptos" panose="020B0004020202020204" pitchFamily="34" charset="0"/>
                <a:ea typeface="Aptos" panose="020B0004020202020204" pitchFamily="34" charset="0"/>
                <a:cs typeface="Arial"/>
              </a:rPr>
              <a:t>Four Warranty defects remain outstanding and are being actively addressed. </a:t>
            </a:r>
          </a:p>
          <a:p>
            <a:pPr>
              <a:lnSpc>
                <a:spcPct val="150000"/>
              </a:lnSpc>
              <a:tabLst>
                <a:tab pos="457200" algn="l"/>
              </a:tabLst>
            </a:pPr>
            <a:r>
              <a:rPr lang="en-US" sz="850" b="1">
                <a:latin typeface="Aptos" panose="020B0004020202020204" pitchFamily="34" charset="0"/>
                <a:ea typeface="Aptos" panose="020B0004020202020204" pitchFamily="34" charset="0"/>
                <a:cs typeface="Arial"/>
              </a:rPr>
              <a:t>Next Steps:</a:t>
            </a:r>
          </a:p>
          <a:p>
            <a:pPr marL="171450" indent="-171450">
              <a:lnSpc>
                <a:spcPct val="150000"/>
              </a:lnSpc>
              <a:buFont typeface="Arial" panose="020B0604020202020204" pitchFamily="34" charset="0"/>
              <a:buChar char="•"/>
              <a:tabLst>
                <a:tab pos="457200" algn="l"/>
              </a:tabLst>
            </a:pPr>
            <a:r>
              <a:rPr lang="en-US" sz="850">
                <a:latin typeface="Aptos" panose="020B0004020202020204" pitchFamily="34" charset="0"/>
                <a:ea typeface="Aptos" panose="020B0004020202020204" pitchFamily="34" charset="0"/>
                <a:cs typeface="Arial"/>
              </a:rPr>
              <a:t>Project Retrospective</a:t>
            </a:r>
          </a:p>
        </p:txBody>
      </p:sp>
      <p:sp>
        <p:nvSpPr>
          <p:cNvPr id="18" name="TextBox 17">
            <a:extLst>
              <a:ext uri="{FF2B5EF4-FFF2-40B4-BE49-F238E27FC236}">
                <a16:creationId xmlns:a16="http://schemas.microsoft.com/office/drawing/2014/main" id="{21D33B76-9480-B3DD-5A56-0F37DB3D8563}"/>
              </a:ext>
            </a:extLst>
          </p:cNvPr>
          <p:cNvSpPr txBox="1"/>
          <p:nvPr/>
        </p:nvSpPr>
        <p:spPr>
          <a:xfrm>
            <a:off x="9370344" y="172755"/>
            <a:ext cx="4210510" cy="496931"/>
          </a:xfrm>
          <a:prstGeom prst="rect">
            <a:avLst/>
          </a:prstGeom>
          <a:noFill/>
        </p:spPr>
        <p:txBody>
          <a:bodyPr wrap="none" lIns="0" tIns="0" rIns="0" bIns="0" rtlCol="0" anchor="t">
            <a:noAutofit/>
          </a:bodyPr>
          <a:lstStyle>
            <a:defPPr>
              <a:defRPr lang="en-US"/>
            </a:defPPr>
            <a:lvl1pPr>
              <a:lnSpc>
                <a:spcPct val="112000"/>
              </a:lnSpc>
              <a:defRPr sz="1200">
                <a:latin typeface="Aptos" panose="020B0004020202020204" pitchFamily="34" charset="0"/>
              </a:defRPr>
            </a:lvl1pPr>
          </a:lstStyle>
          <a:p>
            <a:r>
              <a:rPr lang="en-US">
                <a:latin typeface="Aptos"/>
              </a:rPr>
              <a:t>Project Manager : Kinney Barbour</a:t>
            </a:r>
          </a:p>
          <a:p>
            <a:r>
              <a:rPr lang="en-US" err="1">
                <a:latin typeface="Aptos"/>
              </a:rPr>
              <a:t>OpEx</a:t>
            </a:r>
            <a:r>
              <a:rPr lang="en-US">
                <a:latin typeface="Aptos"/>
              </a:rPr>
              <a:t> Business : Melissa Morris</a:t>
            </a:r>
          </a:p>
        </p:txBody>
      </p:sp>
      <p:sp>
        <p:nvSpPr>
          <p:cNvPr id="7" name="Flowchart: Connector 6">
            <a:extLst>
              <a:ext uri="{FF2B5EF4-FFF2-40B4-BE49-F238E27FC236}">
                <a16:creationId xmlns:a16="http://schemas.microsoft.com/office/drawing/2014/main" id="{546CC65E-EE09-3212-9D40-AB552E16FFA3}"/>
              </a:ext>
            </a:extLst>
          </p:cNvPr>
          <p:cNvSpPr/>
          <p:nvPr/>
        </p:nvSpPr>
        <p:spPr>
          <a:xfrm>
            <a:off x="4291485" y="1418804"/>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lowchart: Connector 15">
            <a:extLst>
              <a:ext uri="{FF2B5EF4-FFF2-40B4-BE49-F238E27FC236}">
                <a16:creationId xmlns:a16="http://schemas.microsoft.com/office/drawing/2014/main" id="{5BECF816-BF03-1A24-9E22-150488E0E776}"/>
              </a:ext>
            </a:extLst>
          </p:cNvPr>
          <p:cNvSpPr/>
          <p:nvPr/>
        </p:nvSpPr>
        <p:spPr>
          <a:xfrm>
            <a:off x="6155241" y="1411813"/>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lowchart: Connector 3">
            <a:extLst>
              <a:ext uri="{FF2B5EF4-FFF2-40B4-BE49-F238E27FC236}">
                <a16:creationId xmlns:a16="http://schemas.microsoft.com/office/drawing/2014/main" id="{466ECE63-3FCC-CE1A-80CD-E5B21711D1CB}"/>
              </a:ext>
            </a:extLst>
          </p:cNvPr>
          <p:cNvSpPr/>
          <p:nvPr/>
        </p:nvSpPr>
        <p:spPr>
          <a:xfrm>
            <a:off x="5155695" y="1411813"/>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lowchart: Connector 5">
            <a:extLst>
              <a:ext uri="{FF2B5EF4-FFF2-40B4-BE49-F238E27FC236}">
                <a16:creationId xmlns:a16="http://schemas.microsoft.com/office/drawing/2014/main" id="{182732CE-778F-4F42-E246-031DDEF9B1F8}"/>
              </a:ext>
            </a:extLst>
          </p:cNvPr>
          <p:cNvSpPr/>
          <p:nvPr/>
        </p:nvSpPr>
        <p:spPr>
          <a:xfrm>
            <a:off x="3291939" y="1411813"/>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3422428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F2B2F0-4580-F6C2-5051-5CBC3173A031}"/>
            </a:ext>
          </a:extLst>
        </p:cNvPr>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32BE4F1F-3225-1E70-24E9-5FFAC76DF3C9}"/>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8" imgH="408" progId="TCLayout.ActiveDocument.1">
                  <p:embed/>
                </p:oleObj>
              </mc:Choice>
              <mc:Fallback>
                <p:oleObj name="think-cell Slide" r:id="rId4" imgW="408" imgH="408" progId="TCLayout.ActiveDocument.1">
                  <p:embed/>
                  <p:pic>
                    <p:nvPicPr>
                      <p:cNvPr id="9" name="think-cell data - do not delete" hidden="1">
                        <a:extLst>
                          <a:ext uri="{FF2B5EF4-FFF2-40B4-BE49-F238E27FC236}">
                            <a16:creationId xmlns:a16="http://schemas.microsoft.com/office/drawing/2014/main" id="{32BE4F1F-3225-1E70-24E9-5FFAC76DF3C9}"/>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graphicFrame>
        <p:nvGraphicFramePr>
          <p:cNvPr id="32" name="Group 614">
            <a:extLst>
              <a:ext uri="{FF2B5EF4-FFF2-40B4-BE49-F238E27FC236}">
                <a16:creationId xmlns:a16="http://schemas.microsoft.com/office/drawing/2014/main" id="{63AD4511-D4B7-A078-B036-440C2ACFC8D9}"/>
              </a:ext>
            </a:extLst>
          </p:cNvPr>
          <p:cNvGraphicFramePr>
            <a:graphicFrameLocks noGrp="1"/>
          </p:cNvGraphicFramePr>
          <p:nvPr/>
        </p:nvGraphicFramePr>
        <p:xfrm>
          <a:off x="4980036" y="6305845"/>
          <a:ext cx="7136859" cy="386554"/>
        </p:xfrm>
        <a:graphic>
          <a:graphicData uri="http://schemas.openxmlformats.org/drawingml/2006/table">
            <a:tbl>
              <a:tblPr/>
              <a:tblGrid>
                <a:gridCol w="606425">
                  <a:extLst>
                    <a:ext uri="{9D8B030D-6E8A-4147-A177-3AD203B41FA5}">
                      <a16:colId xmlns:a16="http://schemas.microsoft.com/office/drawing/2014/main" val="20000"/>
                    </a:ext>
                  </a:extLst>
                </a:gridCol>
                <a:gridCol w="307361">
                  <a:extLst>
                    <a:ext uri="{9D8B030D-6E8A-4147-A177-3AD203B41FA5}">
                      <a16:colId xmlns:a16="http://schemas.microsoft.com/office/drawing/2014/main" val="20001"/>
                    </a:ext>
                  </a:extLst>
                </a:gridCol>
                <a:gridCol w="757584">
                  <a:extLst>
                    <a:ext uri="{9D8B030D-6E8A-4147-A177-3AD203B41FA5}">
                      <a16:colId xmlns:a16="http://schemas.microsoft.com/office/drawing/2014/main" val="20002"/>
                    </a:ext>
                  </a:extLst>
                </a:gridCol>
                <a:gridCol w="302812">
                  <a:extLst>
                    <a:ext uri="{9D8B030D-6E8A-4147-A177-3AD203B41FA5}">
                      <a16:colId xmlns:a16="http://schemas.microsoft.com/office/drawing/2014/main" val="20003"/>
                    </a:ext>
                  </a:extLst>
                </a:gridCol>
                <a:gridCol w="665317">
                  <a:extLst>
                    <a:ext uri="{9D8B030D-6E8A-4147-A177-3AD203B41FA5}">
                      <a16:colId xmlns:a16="http://schemas.microsoft.com/office/drawing/2014/main" val="20004"/>
                    </a:ext>
                  </a:extLst>
                </a:gridCol>
                <a:gridCol w="518025">
                  <a:extLst>
                    <a:ext uri="{9D8B030D-6E8A-4147-A177-3AD203B41FA5}">
                      <a16:colId xmlns:a16="http://schemas.microsoft.com/office/drawing/2014/main" val="20005"/>
                    </a:ext>
                  </a:extLst>
                </a:gridCol>
                <a:gridCol w="568469">
                  <a:extLst>
                    <a:ext uri="{9D8B030D-6E8A-4147-A177-3AD203B41FA5}">
                      <a16:colId xmlns:a16="http://schemas.microsoft.com/office/drawing/2014/main" val="20006"/>
                    </a:ext>
                  </a:extLst>
                </a:gridCol>
                <a:gridCol w="368983">
                  <a:extLst>
                    <a:ext uri="{9D8B030D-6E8A-4147-A177-3AD203B41FA5}">
                      <a16:colId xmlns:a16="http://schemas.microsoft.com/office/drawing/2014/main" val="20007"/>
                    </a:ext>
                  </a:extLst>
                </a:gridCol>
                <a:gridCol w="1372005">
                  <a:extLst>
                    <a:ext uri="{9D8B030D-6E8A-4147-A177-3AD203B41FA5}">
                      <a16:colId xmlns:a16="http://schemas.microsoft.com/office/drawing/2014/main" val="20008"/>
                    </a:ext>
                  </a:extLst>
                </a:gridCol>
                <a:gridCol w="378212">
                  <a:extLst>
                    <a:ext uri="{9D8B030D-6E8A-4147-A177-3AD203B41FA5}">
                      <a16:colId xmlns:a16="http://schemas.microsoft.com/office/drawing/2014/main" val="20009"/>
                    </a:ext>
                  </a:extLst>
                </a:gridCol>
                <a:gridCol w="1291666">
                  <a:extLst>
                    <a:ext uri="{9D8B030D-6E8A-4147-A177-3AD203B41FA5}">
                      <a16:colId xmlns:a16="http://schemas.microsoft.com/office/drawing/2014/main" val="20010"/>
                    </a:ext>
                  </a:extLst>
                </a:gridCol>
              </a:tblGrid>
              <a:tr h="386554">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Arial" charset="0"/>
                          <a:cs typeface="Arial" charset="0"/>
                        </a:rPr>
                        <a:t>Status Key</a:t>
                      </a:r>
                      <a:endParaRPr kumimoji="0" lang="en-GB" sz="1600" b="0" i="0" u="none" strike="noStrike" cap="none" normalizeH="0" baseline="0">
                        <a:ln>
                          <a:noFill/>
                        </a:ln>
                        <a:solidFill>
                          <a:srgbClr val="002060"/>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mj-lt"/>
                        </a:rPr>
                        <a:t>C</a:t>
                      </a: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Arial" charset="0"/>
                          <a:cs typeface="Arial" charset="0"/>
                        </a:rPr>
                        <a:t>Completed</a:t>
                      </a:r>
                      <a:endParaRPr kumimoji="0" lang="en-GB" sz="1600" b="0" i="0" u="none" strike="noStrike" cap="none" normalizeH="0" baseline="0">
                        <a:ln>
                          <a:noFill/>
                        </a:ln>
                        <a:solidFill>
                          <a:srgbClr val="002060"/>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On-Schedule</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Major Issues</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Some Issues</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NS</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Not Started</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2" name="Title 1">
            <a:extLst>
              <a:ext uri="{FF2B5EF4-FFF2-40B4-BE49-F238E27FC236}">
                <a16:creationId xmlns:a16="http://schemas.microsoft.com/office/drawing/2014/main" id="{10502D40-DD86-9371-5DD1-EF34C378EAFF}"/>
              </a:ext>
            </a:extLst>
          </p:cNvPr>
          <p:cNvSpPr>
            <a:spLocks noGrp="1"/>
          </p:cNvSpPr>
          <p:nvPr>
            <p:ph type="title"/>
          </p:nvPr>
        </p:nvSpPr>
        <p:spPr>
          <a:xfrm>
            <a:off x="231954" y="304994"/>
            <a:ext cx="9223030" cy="498410"/>
          </a:xfrm>
        </p:spPr>
        <p:txBody>
          <a:bodyPr vert="horz">
            <a:normAutofit/>
          </a:bodyPr>
          <a:lstStyle/>
          <a:p>
            <a:pPr lvl="0">
              <a:lnSpc>
                <a:spcPct val="100000"/>
              </a:lnSpc>
              <a:defRPr/>
            </a:pPr>
            <a:r>
              <a:rPr lang="sv-SE" sz="2000">
                <a:latin typeface="Times New Roman"/>
                <a:cs typeface="Times New Roman"/>
              </a:rPr>
              <a:t>N</a:t>
            </a:r>
            <a:r>
              <a:rPr lang="sv-SE" sz="2000">
                <a:solidFill>
                  <a:srgbClr val="1C57A5"/>
                </a:solidFill>
                <a:latin typeface="Times New Roman"/>
                <a:cs typeface="Times New Roman"/>
              </a:rPr>
              <a:t>W Pet - </a:t>
            </a:r>
            <a:r>
              <a:rPr lang="en-US" sz="2000">
                <a:solidFill>
                  <a:srgbClr val="1C57A5"/>
                </a:solidFill>
                <a:latin typeface="Times New Roman"/>
                <a:cs typeface="Times New Roman"/>
              </a:rPr>
              <a:t>Update Legacy Portal Interface to UAV3 - CHG0033774 - Deployed</a:t>
            </a:r>
          </a:p>
        </p:txBody>
      </p:sp>
      <p:graphicFrame>
        <p:nvGraphicFramePr>
          <p:cNvPr id="11" name="Group 513">
            <a:extLst>
              <a:ext uri="{FF2B5EF4-FFF2-40B4-BE49-F238E27FC236}">
                <a16:creationId xmlns:a16="http://schemas.microsoft.com/office/drawing/2014/main" id="{05C32E88-CCBE-B044-767A-2F65F050CBDB}"/>
              </a:ext>
            </a:extLst>
          </p:cNvPr>
          <p:cNvGraphicFramePr>
            <a:graphicFrameLocks noGrp="1"/>
          </p:cNvGraphicFramePr>
          <p:nvPr>
            <p:extLst>
              <p:ext uri="{D42A27DB-BD31-4B8C-83A1-F6EECF244321}">
                <p14:modId xmlns:p14="http://schemas.microsoft.com/office/powerpoint/2010/main" val="2879578321"/>
              </p:ext>
            </p:extLst>
          </p:nvPr>
        </p:nvGraphicFramePr>
        <p:xfrm>
          <a:off x="234455" y="927650"/>
          <a:ext cx="2638218" cy="344301"/>
        </p:xfrm>
        <a:graphic>
          <a:graphicData uri="http://schemas.openxmlformats.org/drawingml/2006/table">
            <a:tbl>
              <a:tblPr/>
              <a:tblGrid>
                <a:gridCol w="984745">
                  <a:extLst>
                    <a:ext uri="{9D8B030D-6E8A-4147-A177-3AD203B41FA5}">
                      <a16:colId xmlns:a16="http://schemas.microsoft.com/office/drawing/2014/main" val="20000"/>
                    </a:ext>
                  </a:extLst>
                </a:gridCol>
                <a:gridCol w="1653473">
                  <a:extLst>
                    <a:ext uri="{9D8B030D-6E8A-4147-A177-3AD203B41FA5}">
                      <a16:colId xmlns:a16="http://schemas.microsoft.com/office/drawing/2014/main" val="20001"/>
                    </a:ext>
                  </a:extLst>
                </a:gridCol>
              </a:tblGrid>
              <a:tr h="344301">
                <a:tc>
                  <a:txBody>
                    <a:bodyPr/>
                    <a:lstStyle/>
                    <a:p>
                      <a:pPr marL="0" marR="0" lvl="0" indent="0" algn="l" defTabSz="914400" rtl="0" eaLnBrk="0" fontAlgn="base" latinLnBrk="0" hangingPunct="0">
                        <a:lnSpc>
                          <a:spcPct val="95000"/>
                        </a:lnSpc>
                        <a:spcBef>
                          <a:spcPct val="0"/>
                        </a:spcBef>
                        <a:spcAft>
                          <a:spcPct val="50000"/>
                        </a:spcAft>
                        <a:buClrTx/>
                        <a:buSzTx/>
                        <a:buFontTx/>
                        <a:buNone/>
                        <a:tabLst/>
                      </a:pPr>
                      <a:r>
                        <a:rPr kumimoji="0" lang="en-GB" sz="1050" b="1" i="0" u="none" strike="noStrike" kern="1200" cap="none" normalizeH="0" baseline="0">
                          <a:ln>
                            <a:noFill/>
                          </a:ln>
                          <a:solidFill>
                            <a:schemeClr val="bg1"/>
                          </a:solidFill>
                          <a:effectLst/>
                          <a:latin typeface="Arial"/>
                          <a:ea typeface="+mn-ea"/>
                          <a:cs typeface="+mn-cs"/>
                        </a:rPr>
                        <a:t>Status Date:</a:t>
                      </a:r>
                    </a:p>
                  </a:txBody>
                  <a:tcPr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GB" sz="1050" b="1" i="0" u="none" strike="noStrike" cap="none" normalizeH="0" baseline="0">
                          <a:ln>
                            <a:noFill/>
                          </a:ln>
                          <a:solidFill>
                            <a:schemeClr val="tx1"/>
                          </a:solidFill>
                          <a:effectLst/>
                          <a:latin typeface="Arial"/>
                        </a:rPr>
                        <a:t>08/10/26</a:t>
                      </a:r>
                      <a:endParaRPr kumimoji="0" lang="en-GB" sz="1050" b="1" i="0" u="none" strike="noStrike" cap="none" normalizeH="0" baseline="0">
                        <a:ln>
                          <a:noFill/>
                        </a:ln>
                        <a:solidFill>
                          <a:schemeClr val="tx1"/>
                        </a:solidFill>
                        <a:effectLst/>
                        <a:latin typeface="Arial" charset="0"/>
                      </a:endParaRPr>
                    </a:p>
                  </a:txBody>
                  <a:tcPr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14" name="Table 13">
            <a:extLst>
              <a:ext uri="{FF2B5EF4-FFF2-40B4-BE49-F238E27FC236}">
                <a16:creationId xmlns:a16="http://schemas.microsoft.com/office/drawing/2014/main" id="{67039604-CAFB-9C58-F0B7-F5FBDDBE4895}"/>
              </a:ext>
            </a:extLst>
          </p:cNvPr>
          <p:cNvGraphicFramePr>
            <a:graphicFrameLocks noGrp="1"/>
          </p:cNvGraphicFramePr>
          <p:nvPr/>
        </p:nvGraphicFramePr>
        <p:xfrm>
          <a:off x="6772135" y="920667"/>
          <a:ext cx="5352360" cy="749848"/>
        </p:xfrm>
        <a:graphic>
          <a:graphicData uri="http://schemas.openxmlformats.org/drawingml/2006/table">
            <a:tbl>
              <a:tblPr>
                <a:tableStyleId>{5C22544A-7EE6-4342-B048-85BDC9FD1C3A}</a:tableStyleId>
              </a:tblPr>
              <a:tblGrid>
                <a:gridCol w="1045337">
                  <a:extLst>
                    <a:ext uri="{9D8B030D-6E8A-4147-A177-3AD203B41FA5}">
                      <a16:colId xmlns:a16="http://schemas.microsoft.com/office/drawing/2014/main" val="2456552316"/>
                    </a:ext>
                  </a:extLst>
                </a:gridCol>
                <a:gridCol w="926511">
                  <a:extLst>
                    <a:ext uri="{9D8B030D-6E8A-4147-A177-3AD203B41FA5}">
                      <a16:colId xmlns:a16="http://schemas.microsoft.com/office/drawing/2014/main" val="2327174630"/>
                    </a:ext>
                  </a:extLst>
                </a:gridCol>
                <a:gridCol w="1514970">
                  <a:extLst>
                    <a:ext uri="{9D8B030D-6E8A-4147-A177-3AD203B41FA5}">
                      <a16:colId xmlns:a16="http://schemas.microsoft.com/office/drawing/2014/main" val="1100051595"/>
                    </a:ext>
                  </a:extLst>
                </a:gridCol>
                <a:gridCol w="913991">
                  <a:extLst>
                    <a:ext uri="{9D8B030D-6E8A-4147-A177-3AD203B41FA5}">
                      <a16:colId xmlns:a16="http://schemas.microsoft.com/office/drawing/2014/main" val="2042261034"/>
                    </a:ext>
                  </a:extLst>
                </a:gridCol>
                <a:gridCol w="951551">
                  <a:extLst>
                    <a:ext uri="{9D8B030D-6E8A-4147-A177-3AD203B41FA5}">
                      <a16:colId xmlns:a16="http://schemas.microsoft.com/office/drawing/2014/main" val="2815874248"/>
                    </a:ext>
                  </a:extLst>
                </a:gridCol>
              </a:tblGrid>
              <a:tr h="366567">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2026 Budget</a:t>
                      </a:r>
                      <a:r>
                        <a:rPr lang="en-US" sz="1050" b="1" i="0" u="none" strike="noStrike" kern="1200" cap="none" normalizeH="0" baseline="0">
                          <a:ln>
                            <a:noFill/>
                          </a:ln>
                          <a:solidFill>
                            <a:schemeClr val="bg1"/>
                          </a:solidFill>
                          <a:effectLst/>
                          <a:latin typeface="Arial"/>
                          <a:ea typeface="+mn-ea"/>
                          <a:cs typeface="+mn-cs"/>
                        </a:rPr>
                        <a:t> </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YTD Actuals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Remaining 2026 Forecast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Current YE Forecast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Total Budget</a:t>
                      </a:r>
                      <a:r>
                        <a:rPr lang="en-US" sz="1050" b="1" i="0" u="none" strike="noStrike" kern="1200" cap="none" normalizeH="0" baseline="0">
                          <a:ln>
                            <a:noFill/>
                          </a:ln>
                          <a:solidFill>
                            <a:schemeClr val="bg1"/>
                          </a:solidFill>
                          <a:effectLst/>
                          <a:latin typeface="Arial"/>
                          <a:ea typeface="+mn-ea"/>
                          <a:cs typeface="+mn-cs"/>
                        </a:rPr>
                        <a:t> </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383281">
                <a:tc>
                  <a:txBody>
                    <a:bodyPr/>
                    <a:lstStyle/>
                    <a:p>
                      <a:pPr marL="0" marR="0" lvl="0" indent="0" algn="ctr" defTabSz="914400" rtl="0" eaLnBrk="1" fontAlgn="ctr" latinLnBrk="0" hangingPunct="1">
                        <a:lnSpc>
                          <a:spcPct val="95000"/>
                        </a:lnSpc>
                        <a:spcBef>
                          <a:spcPct val="0"/>
                        </a:spcBef>
                        <a:spcAft>
                          <a:spcPct val="50000"/>
                        </a:spcAft>
                        <a:buClrTx/>
                        <a:buSzTx/>
                        <a:buFontTx/>
                        <a:buNone/>
                        <a:tabLst/>
                        <a:defRPr/>
                      </a:pPr>
                      <a:r>
                        <a:rPr lang="en-US" sz="1050" b="1" kern="1200">
                          <a:solidFill>
                            <a:schemeClr val="tx1"/>
                          </a:solidFill>
                          <a:effectLst/>
                          <a:latin typeface="+mn-lt"/>
                          <a:ea typeface="+mn-ea"/>
                          <a:cs typeface="+mn-cs"/>
                        </a:rPr>
                        <a:t>$</a:t>
                      </a:r>
                      <a:r>
                        <a:rPr lang="en-US" sz="1050" b="0" i="0" u="none" strike="noStrike" kern="1200">
                          <a:solidFill>
                            <a:schemeClr val="dk1"/>
                          </a:solidFill>
                          <a:latin typeface="+mn-lt"/>
                          <a:ea typeface="+mn-ea"/>
                          <a:cs typeface="+mn-cs"/>
                        </a:rPr>
                        <a:t>67,200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r>
                        <a:rPr lang="en-US" sz="1050" b="1"/>
                        <a:t>$34,673</a:t>
                      </a: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a:lnSpc>
                          <a:spcPct val="95000"/>
                        </a:lnSpc>
                        <a:spcBef>
                          <a:spcPct val="0"/>
                        </a:spcBef>
                        <a:spcAft>
                          <a:spcPct val="50000"/>
                        </a:spcAft>
                        <a:buNone/>
                        <a:tabLst/>
                        <a:defRPr/>
                      </a:pPr>
                      <a:r>
                        <a:rPr lang="en-US" sz="1050" b="1" kern="1200">
                          <a:solidFill>
                            <a:schemeClr val="tx1"/>
                          </a:solidFill>
                          <a:effectLst/>
                          <a:latin typeface="+mn-lt"/>
                          <a:ea typeface="+mn-ea"/>
                          <a:cs typeface="+mn-cs"/>
                        </a:rPr>
                        <a:t>$20K</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r>
                        <a:rPr lang="en-US" sz="1050"/>
                        <a:t>$20K</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rtl="0" eaLnBrk="1" fontAlgn="ctr" latinLnBrk="0" hangingPunct="1">
                        <a:lnSpc>
                          <a:spcPct val="95000"/>
                        </a:lnSpc>
                        <a:spcBef>
                          <a:spcPct val="0"/>
                        </a:spcBef>
                        <a:spcAft>
                          <a:spcPct val="50000"/>
                        </a:spcAft>
                        <a:buClrTx/>
                        <a:buSzTx/>
                        <a:buFontTx/>
                        <a:buNone/>
                      </a:pPr>
                      <a:r>
                        <a:rPr lang="en-US" sz="1050" b="0" kern="1200">
                          <a:solidFill>
                            <a:schemeClr val="tx1"/>
                          </a:solidFill>
                          <a:effectLst/>
                          <a:latin typeface="+mn-lt"/>
                          <a:ea typeface="+mn-ea"/>
                          <a:cs typeface="+mn-cs"/>
                        </a:rPr>
                        <a:t>$67K</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7499024"/>
                  </a:ext>
                </a:extLst>
              </a:tr>
            </a:tbl>
          </a:graphicData>
        </a:graphic>
      </p:graphicFrame>
      <p:graphicFrame>
        <p:nvGraphicFramePr>
          <p:cNvPr id="25" name="Table 24">
            <a:extLst>
              <a:ext uri="{FF2B5EF4-FFF2-40B4-BE49-F238E27FC236}">
                <a16:creationId xmlns:a16="http://schemas.microsoft.com/office/drawing/2014/main" id="{C1F7138E-F5AC-6909-C1EB-40B0D65ABEEC}"/>
              </a:ext>
            </a:extLst>
          </p:cNvPr>
          <p:cNvGraphicFramePr>
            <a:graphicFrameLocks noGrp="1"/>
          </p:cNvGraphicFramePr>
          <p:nvPr/>
        </p:nvGraphicFramePr>
        <p:xfrm>
          <a:off x="2811025" y="920667"/>
          <a:ext cx="3829275" cy="749848"/>
        </p:xfrm>
        <a:graphic>
          <a:graphicData uri="http://schemas.openxmlformats.org/drawingml/2006/table">
            <a:tbl>
              <a:tblPr>
                <a:tableStyleId>{5C22544A-7EE6-4342-B048-85BDC9FD1C3A}</a:tableStyleId>
              </a:tblPr>
              <a:tblGrid>
                <a:gridCol w="1042158">
                  <a:extLst>
                    <a:ext uri="{9D8B030D-6E8A-4147-A177-3AD203B41FA5}">
                      <a16:colId xmlns:a16="http://schemas.microsoft.com/office/drawing/2014/main" val="2456552316"/>
                    </a:ext>
                  </a:extLst>
                </a:gridCol>
                <a:gridCol w="961214">
                  <a:extLst>
                    <a:ext uri="{9D8B030D-6E8A-4147-A177-3AD203B41FA5}">
                      <a16:colId xmlns:a16="http://schemas.microsoft.com/office/drawing/2014/main" val="1100051595"/>
                    </a:ext>
                  </a:extLst>
                </a:gridCol>
                <a:gridCol w="920742">
                  <a:extLst>
                    <a:ext uri="{9D8B030D-6E8A-4147-A177-3AD203B41FA5}">
                      <a16:colId xmlns:a16="http://schemas.microsoft.com/office/drawing/2014/main" val="2042261034"/>
                    </a:ext>
                  </a:extLst>
                </a:gridCol>
                <a:gridCol w="905161">
                  <a:extLst>
                    <a:ext uri="{9D8B030D-6E8A-4147-A177-3AD203B41FA5}">
                      <a16:colId xmlns:a16="http://schemas.microsoft.com/office/drawing/2014/main" val="2815874248"/>
                    </a:ext>
                  </a:extLst>
                </a:gridCol>
              </a:tblGrid>
              <a:tr h="409508">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Overall</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Scope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Schedule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Financials</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340340">
                <a:tc>
                  <a:txBody>
                    <a:bodyPr/>
                    <a:lstStyle/>
                    <a:p>
                      <a:pPr marL="0" marR="0" lvl="0" indent="0" algn="ctr" rtl="0" eaLnBrk="1" fontAlgn="ctr" latinLnBrk="0" hangingPunct="1">
                        <a:lnSpc>
                          <a:spcPct val="95000"/>
                        </a:lnSpc>
                        <a:spcBef>
                          <a:spcPct val="0"/>
                        </a:spcBef>
                        <a:spcAft>
                          <a:spcPct val="50000"/>
                        </a:spcAft>
                        <a:buClrTx/>
                        <a:buSzTx/>
                        <a:buFontTx/>
                        <a:buNone/>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rtl="0" eaLnBrk="1" fontAlgn="ctr" latinLnBrk="0" hangingPunct="1">
                        <a:lnSpc>
                          <a:spcPct val="95000"/>
                        </a:lnSpc>
                        <a:spcBef>
                          <a:spcPct val="0"/>
                        </a:spcBef>
                        <a:spcAft>
                          <a:spcPct val="50000"/>
                        </a:spcAft>
                        <a:buClrTx/>
                        <a:buSzTx/>
                        <a:buFontTx/>
                        <a:buNone/>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7499024"/>
                  </a:ext>
                </a:extLst>
              </a:tr>
            </a:tbl>
          </a:graphicData>
        </a:graphic>
      </p:graphicFrame>
      <p:graphicFrame>
        <p:nvGraphicFramePr>
          <p:cNvPr id="26" name="Group 513">
            <a:extLst>
              <a:ext uri="{FF2B5EF4-FFF2-40B4-BE49-F238E27FC236}">
                <a16:creationId xmlns:a16="http://schemas.microsoft.com/office/drawing/2014/main" id="{E51FEE23-0C7F-4105-1A6D-3EC466F78A3B}"/>
              </a:ext>
            </a:extLst>
          </p:cNvPr>
          <p:cNvGraphicFramePr>
            <a:graphicFrameLocks noGrp="1"/>
          </p:cNvGraphicFramePr>
          <p:nvPr/>
        </p:nvGraphicFramePr>
        <p:xfrm>
          <a:off x="231953" y="1271951"/>
          <a:ext cx="2581575" cy="411690"/>
        </p:xfrm>
        <a:graphic>
          <a:graphicData uri="http://schemas.openxmlformats.org/drawingml/2006/table">
            <a:tbl>
              <a:tblPr/>
              <a:tblGrid>
                <a:gridCol w="998602">
                  <a:extLst>
                    <a:ext uri="{9D8B030D-6E8A-4147-A177-3AD203B41FA5}">
                      <a16:colId xmlns:a16="http://schemas.microsoft.com/office/drawing/2014/main" val="20000"/>
                    </a:ext>
                  </a:extLst>
                </a:gridCol>
                <a:gridCol w="1582973">
                  <a:extLst>
                    <a:ext uri="{9D8B030D-6E8A-4147-A177-3AD203B41FA5}">
                      <a16:colId xmlns:a16="http://schemas.microsoft.com/office/drawing/2014/main" val="20001"/>
                    </a:ext>
                  </a:extLst>
                </a:gridCol>
              </a:tblGrid>
              <a:tr h="344301">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GB" sz="1050" b="1" i="0" u="none" strike="noStrike" kern="1200" cap="none" normalizeH="0" baseline="0">
                          <a:ln>
                            <a:noFill/>
                          </a:ln>
                          <a:solidFill>
                            <a:schemeClr val="bg1"/>
                          </a:solidFill>
                          <a:effectLst/>
                          <a:latin typeface="Arial"/>
                          <a:ea typeface="+mn-ea"/>
                          <a:cs typeface="+mn-cs"/>
                        </a:rPr>
                        <a:t>Target Delivery:</a:t>
                      </a:r>
                    </a:p>
                  </a:txBody>
                  <a:tcPr marL="0" marR="0"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2060"/>
                    </a:solidFill>
                  </a:tcPr>
                </a:tc>
                <a:tc>
                  <a:txBody>
                    <a:bodyPr/>
                    <a:lstStyle/>
                    <a:p>
                      <a:pPr marL="0" marR="0" lvl="0" indent="0" algn="ctr" defTabSz="685858" rtl="0" eaLnBrk="1" fontAlgn="auto" latinLnBrk="0" hangingPunct="1">
                        <a:lnSpc>
                          <a:spcPct val="100000"/>
                        </a:lnSpc>
                        <a:spcBef>
                          <a:spcPts val="0"/>
                        </a:spcBef>
                        <a:spcAft>
                          <a:spcPts val="0"/>
                        </a:spcAft>
                        <a:buClrTx/>
                        <a:buSzTx/>
                        <a:buFontTx/>
                        <a:buNone/>
                        <a:tabLst/>
                        <a:defRPr/>
                      </a:pPr>
                      <a:r>
                        <a:rPr lang="en-US" sz="700" b="1" strike="sngStrike">
                          <a:solidFill>
                            <a:schemeClr val="tx1"/>
                          </a:solidFill>
                        </a:rPr>
                        <a:t>May  14 2026</a:t>
                      </a:r>
                    </a:p>
                    <a:p>
                      <a:pPr marL="0" marR="0" lvl="0" indent="0" algn="ctr" defTabSz="685858" rtl="0" eaLnBrk="1" fontAlgn="auto" latinLnBrk="0" hangingPunct="1">
                        <a:lnSpc>
                          <a:spcPct val="100000"/>
                        </a:lnSpc>
                        <a:spcBef>
                          <a:spcPts val="0"/>
                        </a:spcBef>
                        <a:spcAft>
                          <a:spcPts val="0"/>
                        </a:spcAft>
                        <a:buClrTx/>
                        <a:buSzTx/>
                        <a:buFontTx/>
                        <a:buNone/>
                        <a:tabLst/>
                        <a:defRPr/>
                      </a:pPr>
                      <a:r>
                        <a:rPr lang="en-US" sz="700" b="1" strike="sngStrike">
                          <a:solidFill>
                            <a:schemeClr val="tx1"/>
                          </a:solidFill>
                        </a:rPr>
                        <a:t>May 20</a:t>
                      </a:r>
                      <a:r>
                        <a:rPr lang="en-US" sz="700" b="1" strike="sngStrike" baseline="30000">
                          <a:solidFill>
                            <a:schemeClr val="tx1"/>
                          </a:solidFill>
                        </a:rPr>
                        <a:t>   </a:t>
                      </a:r>
                      <a:r>
                        <a:rPr lang="en-US" sz="700" b="1" strike="sngStrike">
                          <a:solidFill>
                            <a:schemeClr val="tx1"/>
                          </a:solidFill>
                        </a:rPr>
                        <a:t>2026</a:t>
                      </a:r>
                    </a:p>
                    <a:p>
                      <a:pPr marL="0" marR="0" lvl="0" indent="0" algn="ctr" defTabSz="685858" rtl="0" eaLnBrk="1" fontAlgn="auto" latinLnBrk="0" hangingPunct="1">
                        <a:lnSpc>
                          <a:spcPct val="100000"/>
                        </a:lnSpc>
                        <a:spcBef>
                          <a:spcPts val="0"/>
                        </a:spcBef>
                        <a:spcAft>
                          <a:spcPts val="0"/>
                        </a:spcAft>
                        <a:buClrTx/>
                        <a:buSzTx/>
                        <a:buFontTx/>
                        <a:buNone/>
                        <a:tabLst/>
                        <a:defRPr/>
                      </a:pPr>
                      <a:r>
                        <a:rPr lang="en-US" sz="700" b="1" strike="noStrike">
                          <a:solidFill>
                            <a:schemeClr val="tx1"/>
                          </a:solidFill>
                        </a:rPr>
                        <a:t>Aug 5</a:t>
                      </a:r>
                    </a:p>
                  </a:txBody>
                  <a:tcPr marL="0" marR="0"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27" name="Table 26">
            <a:extLst>
              <a:ext uri="{FF2B5EF4-FFF2-40B4-BE49-F238E27FC236}">
                <a16:creationId xmlns:a16="http://schemas.microsoft.com/office/drawing/2014/main" id="{5A8260D5-6AA9-D2C1-CE5B-005266EC586F}"/>
              </a:ext>
            </a:extLst>
          </p:cNvPr>
          <p:cNvGraphicFramePr>
            <a:graphicFrameLocks noGrp="1"/>
          </p:cNvGraphicFramePr>
          <p:nvPr>
            <p:extLst>
              <p:ext uri="{D42A27DB-BD31-4B8C-83A1-F6EECF244321}">
                <p14:modId xmlns:p14="http://schemas.microsoft.com/office/powerpoint/2010/main" val="423735113"/>
              </p:ext>
            </p:extLst>
          </p:nvPr>
        </p:nvGraphicFramePr>
        <p:xfrm>
          <a:off x="4854769" y="1696099"/>
          <a:ext cx="7269726" cy="2178689"/>
        </p:xfrm>
        <a:graphic>
          <a:graphicData uri="http://schemas.openxmlformats.org/drawingml/2006/table">
            <a:tbl>
              <a:tblPr>
                <a:tableStyleId>{5C22544A-7EE6-4342-B048-85BDC9FD1C3A}</a:tableStyleId>
              </a:tblPr>
              <a:tblGrid>
                <a:gridCol w="2660865">
                  <a:extLst>
                    <a:ext uri="{9D8B030D-6E8A-4147-A177-3AD203B41FA5}">
                      <a16:colId xmlns:a16="http://schemas.microsoft.com/office/drawing/2014/main" val="2456552316"/>
                    </a:ext>
                  </a:extLst>
                </a:gridCol>
                <a:gridCol w="399341">
                  <a:extLst>
                    <a:ext uri="{9D8B030D-6E8A-4147-A177-3AD203B41FA5}">
                      <a16:colId xmlns:a16="http://schemas.microsoft.com/office/drawing/2014/main" val="1100051595"/>
                    </a:ext>
                  </a:extLst>
                </a:gridCol>
                <a:gridCol w="435275">
                  <a:extLst>
                    <a:ext uri="{9D8B030D-6E8A-4147-A177-3AD203B41FA5}">
                      <a16:colId xmlns:a16="http://schemas.microsoft.com/office/drawing/2014/main" val="2042261034"/>
                    </a:ext>
                  </a:extLst>
                </a:gridCol>
                <a:gridCol w="3774245">
                  <a:extLst>
                    <a:ext uri="{9D8B030D-6E8A-4147-A177-3AD203B41FA5}">
                      <a16:colId xmlns:a16="http://schemas.microsoft.com/office/drawing/2014/main" val="2815874248"/>
                    </a:ext>
                  </a:extLst>
                </a:gridCol>
              </a:tblGrid>
              <a:tr h="304528">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Milestone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Status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Due Date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Notes</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225904">
                <a:tc>
                  <a:txBody>
                    <a:bodyPr/>
                    <a:lstStyle/>
                    <a:p>
                      <a:r>
                        <a:rPr lang="en-US" sz="900" b="1">
                          <a:solidFill>
                            <a:schemeClr val="tx1"/>
                          </a:solidFill>
                        </a:rPr>
                        <a:t>Scope and Kick off</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r>
                        <a:rPr lang="en-US" sz="1100" b="0" kern="1200">
                          <a:solidFill>
                            <a:schemeClr val="tx1"/>
                          </a:solidFill>
                          <a:effectLst/>
                          <a:latin typeface="+mn-lt"/>
                          <a:ea typeface="+mn-ea"/>
                          <a:cs typeface="+mn-cs"/>
                        </a:rPr>
                        <a:t>C</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800" b="0" strike="noStrike" kern="1200">
                        <a:solidFill>
                          <a:schemeClr val="tx1"/>
                        </a:solidFill>
                        <a:effectLst/>
                        <a:latin typeface="+mn-lt"/>
                        <a:ea typeface="+mn-ea"/>
                        <a:cs typeface="+mn-cs"/>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0" hangingPunct="1">
                        <a:lnSpc>
                          <a:spcPts val="600"/>
                        </a:lnSpc>
                        <a:spcBef>
                          <a:spcPts val="300"/>
                        </a:spcBef>
                        <a:spcAft>
                          <a:spcPts val="0"/>
                        </a:spcAft>
                        <a:buClrTx/>
                        <a:buSzTx/>
                        <a:buFontTx/>
                        <a:buNone/>
                        <a:tabLst/>
                        <a:defRPr/>
                      </a:pPr>
                      <a:endParaRPr lang="en-US" sz="800" b="0" i="0">
                        <a:solidFill>
                          <a:srgbClr val="000000"/>
                        </a:solidFill>
                        <a:effectLst/>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748893264"/>
                  </a:ext>
                </a:extLst>
              </a:tr>
              <a:tr h="213379">
                <a:tc>
                  <a:txBody>
                    <a:bodyPr/>
                    <a:lstStyle/>
                    <a:p>
                      <a:r>
                        <a:rPr lang="en-US" sz="900" b="1">
                          <a:solidFill>
                            <a:schemeClr val="tx1"/>
                          </a:solidFill>
                        </a:rPr>
                        <a:t>Design Doc </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0" hangingPunct="1">
                        <a:lnSpc>
                          <a:spcPct val="95000"/>
                        </a:lnSpc>
                        <a:spcBef>
                          <a:spcPct val="0"/>
                        </a:spcBef>
                        <a:spcAft>
                          <a:spcPct val="50000"/>
                        </a:spcAft>
                        <a:buClrTx/>
                        <a:buSzTx/>
                        <a:buFontTx/>
                        <a:buNone/>
                        <a:tabLst/>
                        <a:defRPr/>
                      </a:pPr>
                      <a:r>
                        <a:rPr lang="en-US" sz="1100" b="0" kern="1200">
                          <a:solidFill>
                            <a:schemeClr val="tx1"/>
                          </a:solidFill>
                          <a:effectLst/>
                          <a:latin typeface="+mn-lt"/>
                          <a:ea typeface="+mn-ea"/>
                          <a:cs typeface="+mn-cs"/>
                        </a:rPr>
                        <a:t>C</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0" hangingPunct="1">
                        <a:lnSpc>
                          <a:spcPct val="95000"/>
                        </a:lnSpc>
                        <a:spcBef>
                          <a:spcPct val="0"/>
                        </a:spcBef>
                        <a:spcAft>
                          <a:spcPct val="50000"/>
                        </a:spcAft>
                        <a:buClrTx/>
                        <a:buSzTx/>
                        <a:buFontTx/>
                        <a:buNone/>
                        <a:tabLst/>
                        <a:defRPr/>
                      </a:pPr>
                      <a:endParaRPr lang="en-US" sz="800" b="0" strike="noStrike" kern="1200">
                        <a:solidFill>
                          <a:schemeClr val="tx1"/>
                        </a:solidFill>
                        <a:effectLst/>
                        <a:latin typeface="+mn-lt"/>
                        <a:ea typeface="+mn-ea"/>
                        <a:cs typeface="+mn-cs"/>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algn="l">
                        <a:lnSpc>
                          <a:spcPct val="114999"/>
                        </a:lnSpc>
                        <a:spcAft>
                          <a:spcPts val="800"/>
                        </a:spcAft>
                        <a:buNone/>
                      </a:pPr>
                      <a:r>
                        <a:rPr lang="en-US" sz="800" b="0" i="0" u="none" strike="noStrike" kern="100" noProof="0">
                          <a:solidFill>
                            <a:schemeClr val="dk1"/>
                          </a:solidFill>
                          <a:effectLst/>
                          <a:latin typeface="+mn-lt"/>
                        </a:rPr>
                        <a:t>I</a:t>
                      </a:r>
                      <a:r>
                        <a:rPr lang="en-US" sz="800" b="0" i="0" u="none" strike="noStrike" kern="100" noProof="0">
                          <a:solidFill>
                            <a:schemeClr val="dk1"/>
                          </a:solidFill>
                          <a:effectLst/>
                          <a:latin typeface="+mn-lt"/>
                          <a:ea typeface="+mn-ea"/>
                          <a:cs typeface="+mn-cs"/>
                        </a:rPr>
                        <a:t>ncorporated BDE feedback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805706767"/>
                  </a:ext>
                </a:extLst>
              </a:tr>
              <a:tr h="213379">
                <a:tc>
                  <a:txBody>
                    <a:bodyPr/>
                    <a:lstStyle/>
                    <a:p>
                      <a:r>
                        <a:rPr lang="en-US" sz="900" b="1">
                          <a:solidFill>
                            <a:schemeClr val="tx1"/>
                          </a:solidFill>
                        </a:rPr>
                        <a:t>Detailed Plan</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0" hangingPunct="1">
                        <a:lnSpc>
                          <a:spcPct val="95000"/>
                        </a:lnSpc>
                        <a:spcBef>
                          <a:spcPct val="0"/>
                        </a:spcBef>
                        <a:spcAft>
                          <a:spcPct val="50000"/>
                        </a:spcAft>
                        <a:buClrTx/>
                        <a:buSzTx/>
                        <a:buFontTx/>
                        <a:buNone/>
                        <a:tabLst/>
                        <a:defRPr/>
                      </a:pPr>
                      <a:r>
                        <a:rPr lang="en-US" sz="1100" b="0" kern="1200">
                          <a:solidFill>
                            <a:schemeClr val="tx1"/>
                          </a:solidFill>
                          <a:effectLst/>
                          <a:latin typeface="+mn-lt"/>
                          <a:ea typeface="+mn-ea"/>
                          <a:cs typeface="+mn-cs"/>
                        </a:rPr>
                        <a:t>    C</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0" hangingPunct="1">
                        <a:lnSpc>
                          <a:spcPct val="95000"/>
                        </a:lnSpc>
                        <a:spcBef>
                          <a:spcPct val="0"/>
                        </a:spcBef>
                        <a:spcAft>
                          <a:spcPct val="50000"/>
                        </a:spcAft>
                        <a:buClrTx/>
                        <a:buSzTx/>
                        <a:buFontTx/>
                        <a:buNone/>
                        <a:tabLst/>
                        <a:defRPr/>
                      </a:pPr>
                      <a:endParaRPr lang="en-US" sz="800" b="0" strike="noStrike" kern="1200">
                        <a:solidFill>
                          <a:schemeClr val="tx1"/>
                        </a:solidFill>
                        <a:effectLst/>
                        <a:latin typeface="+mn-lt"/>
                        <a:ea typeface="+mn-ea"/>
                        <a:cs typeface="+mn-cs"/>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algn="l">
                        <a:lnSpc>
                          <a:spcPct val="114999"/>
                        </a:lnSpc>
                        <a:spcAft>
                          <a:spcPts val="800"/>
                        </a:spcAft>
                        <a:buNone/>
                      </a:pPr>
                      <a:r>
                        <a:rPr lang="en-US" sz="800" b="0" i="0" u="none" strike="noStrike" kern="100" noProof="0">
                          <a:solidFill>
                            <a:schemeClr val="dk1"/>
                          </a:solidFill>
                          <a:effectLst/>
                          <a:latin typeface="+mn-lt"/>
                        </a:rPr>
                        <a:t>Scott (TA) to deliver; Nidia met with Scott on 1/30 to support Epic creations.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943924009"/>
                  </a:ext>
                </a:extLst>
              </a:tr>
              <a:tr h="257053">
                <a:tc>
                  <a:txBody>
                    <a:bodyPr/>
                    <a:lstStyle/>
                    <a:p>
                      <a:r>
                        <a:rPr lang="en-US" sz="1000" b="1">
                          <a:solidFill>
                            <a:schemeClr val="tx1"/>
                          </a:solidFill>
                        </a:rPr>
                        <a:t>Dev  &amp; Test</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1200">
                          <a:latin typeface="+mn-lt"/>
                        </a:rPr>
                        <a:t>C</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800" b="0" strike="noStrike" kern="1200">
                          <a:solidFill>
                            <a:schemeClr val="tx1"/>
                          </a:solidFill>
                          <a:effectLst/>
                          <a:latin typeface="+mn-lt"/>
                          <a:ea typeface="+mn-ea"/>
                          <a:cs typeface="+mn-cs"/>
                        </a:rPr>
                        <a:t> </a:t>
                      </a:r>
                      <a:endParaRPr lang="en-US" sz="800" b="0" strike="sngStrike" kern="1200">
                        <a:solidFill>
                          <a:schemeClr val="tx1"/>
                        </a:solidFill>
                        <a:effectLst/>
                        <a:latin typeface="+mn-lt"/>
                        <a:ea typeface="+mn-ea"/>
                        <a:cs typeface="+mn-cs"/>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base" latinLnBrk="0" hangingPunct="1">
                        <a:lnSpc>
                          <a:spcPct val="100000"/>
                        </a:lnSpc>
                        <a:spcBef>
                          <a:spcPts val="200"/>
                        </a:spcBef>
                        <a:spcAft>
                          <a:spcPts val="0"/>
                        </a:spcAft>
                        <a:buClrTx/>
                        <a:buSzTx/>
                        <a:buFontTx/>
                        <a:buNone/>
                        <a:tabLst/>
                        <a:defRPr/>
                      </a:pPr>
                      <a:r>
                        <a:rPr lang="en-US" sz="800" kern="100">
                          <a:solidFill>
                            <a:schemeClr val="dk1"/>
                          </a:solidFill>
                          <a:latin typeface="+mn-lt"/>
                          <a:cs typeface="Times New Roman"/>
                        </a:rPr>
                        <a:t>Josh shared with IT teams on  2/23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387139067"/>
                  </a:ext>
                </a:extLst>
              </a:tr>
              <a:tr h="234224">
                <a:tc>
                  <a:txBody>
                    <a:bodyPr/>
                    <a:lstStyle/>
                    <a:p>
                      <a:r>
                        <a:rPr lang="en-US" sz="1000" b="1">
                          <a:solidFill>
                            <a:schemeClr val="tx1"/>
                          </a:solidFill>
                        </a:rPr>
                        <a:t>UNAM Regression testing</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a:latin typeface="+mn-lt"/>
                        </a:rPr>
                        <a:t>C</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endParaRPr lang="en-US" sz="800" strike="noStrike">
                        <a:latin typeface="+mn-lt"/>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base" latinLnBrk="0" hangingPunct="1">
                        <a:lnSpc>
                          <a:spcPct val="100000"/>
                        </a:lnSpc>
                        <a:spcBef>
                          <a:spcPts val="200"/>
                        </a:spcBef>
                        <a:spcAft>
                          <a:spcPts val="0"/>
                        </a:spcAft>
                        <a:buClrTx/>
                        <a:buSzTx/>
                        <a:buFontTx/>
                        <a:buNone/>
                        <a:tabLst/>
                        <a:defRPr/>
                      </a:pPr>
                      <a:r>
                        <a:rPr lang="en-US" sz="800" b="0" i="0">
                          <a:solidFill>
                            <a:srgbClr val="000000"/>
                          </a:solidFill>
                          <a:effectLst/>
                          <a:latin typeface="+mn-lt"/>
                          <a:cs typeface="Times New Roman"/>
                        </a:rPr>
                        <a:t>Line estimates are being received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775249404"/>
                  </a:ext>
                </a:extLst>
              </a:tr>
              <a:tr h="236175">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00" kern="1200">
                          <a:solidFill>
                            <a:schemeClr val="dk1"/>
                          </a:solidFill>
                          <a:latin typeface="+mn-lt"/>
                          <a:ea typeface="+mn-ea"/>
                          <a:cs typeface="+mn-cs"/>
                        </a:rPr>
                        <a:t>E2E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00">
                          <a:latin typeface="+mn-lt"/>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latin typeface="+mn-l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endParaRPr lang="en-US" sz="800" kern="1200">
                        <a:solidFill>
                          <a:schemeClr val="dk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20125674"/>
                  </a:ext>
                </a:extLst>
              </a:tr>
              <a:tr h="236175">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00" kern="1200">
                          <a:solidFill>
                            <a:schemeClr val="dk1"/>
                          </a:solidFill>
                          <a:latin typeface="+mn-lt"/>
                          <a:ea typeface="+mn-ea"/>
                          <a:cs typeface="+mn-cs"/>
                        </a:rPr>
                        <a:t>UAT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00">
                          <a:latin typeface="+mn-lt"/>
                        </a:rPr>
                        <a:t>NA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latin typeface="+mn-l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endParaRPr lang="en-US" sz="800" kern="1200">
                        <a:solidFill>
                          <a:schemeClr val="dk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53880179"/>
                  </a:ext>
                </a:extLst>
              </a:tr>
              <a:tr h="236175">
                <a:tc>
                  <a:txBody>
                    <a:bodyPr/>
                    <a:lstStyle/>
                    <a:p>
                      <a:pPr marL="114300" marR="0" lvl="0" indent="0" algn="l" defTabSz="914400" rtl="0" eaLnBrk="1" fontAlgn="auto" latinLnBrk="0" hangingPunct="1">
                        <a:lnSpc>
                          <a:spcPct val="95000"/>
                        </a:lnSpc>
                        <a:spcBef>
                          <a:spcPct val="0"/>
                        </a:spcBef>
                        <a:spcAft>
                          <a:spcPct val="50000"/>
                        </a:spcAft>
                        <a:buClrTx/>
                        <a:buSzTx/>
                        <a:buFontTx/>
                        <a:buNone/>
                        <a:tabLst/>
                        <a:defRPr/>
                      </a:pPr>
                      <a:r>
                        <a:rPr lang="en-US" sz="800" kern="1200">
                          <a:solidFill>
                            <a:schemeClr val="dk1"/>
                          </a:solidFill>
                          <a:latin typeface="+mn-lt"/>
                          <a:ea typeface="+mn-ea"/>
                          <a:cs typeface="+mn-cs"/>
                        </a:rPr>
                        <a:t>Stage Validation</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800">
                          <a:latin typeface="+mn-lt"/>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latin typeface="+mn-l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r>
                        <a:rPr lang="en-US" sz="800" kern="1200">
                          <a:solidFill>
                            <a:schemeClr val="dk1"/>
                          </a:solidFill>
                          <a:effectLst/>
                          <a:latin typeface="+mn-lt"/>
                          <a:ea typeface="+mn-ea"/>
                          <a:cs typeface="+mn-cs"/>
                        </a:rPr>
                        <a:t>This failed after all the testing is complete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64433576"/>
                  </a:ext>
                </a:extLst>
              </a:tr>
            </a:tbl>
          </a:graphicData>
        </a:graphic>
      </p:graphicFrame>
      <p:graphicFrame>
        <p:nvGraphicFramePr>
          <p:cNvPr id="29" name="Table 28">
            <a:extLst>
              <a:ext uri="{FF2B5EF4-FFF2-40B4-BE49-F238E27FC236}">
                <a16:creationId xmlns:a16="http://schemas.microsoft.com/office/drawing/2014/main" id="{97C636B1-8A8C-80E1-F679-341FF24354AC}"/>
              </a:ext>
            </a:extLst>
          </p:cNvPr>
          <p:cNvGraphicFramePr>
            <a:graphicFrameLocks noGrp="1"/>
          </p:cNvGraphicFramePr>
          <p:nvPr>
            <p:extLst>
              <p:ext uri="{D42A27DB-BD31-4B8C-83A1-F6EECF244321}">
                <p14:modId xmlns:p14="http://schemas.microsoft.com/office/powerpoint/2010/main" val="2793924492"/>
              </p:ext>
            </p:extLst>
          </p:nvPr>
        </p:nvGraphicFramePr>
        <p:xfrm>
          <a:off x="4854769" y="3941472"/>
          <a:ext cx="7254527" cy="1842406"/>
        </p:xfrm>
        <a:graphic>
          <a:graphicData uri="http://schemas.openxmlformats.org/drawingml/2006/table">
            <a:tbl>
              <a:tblPr>
                <a:tableStyleId>{5C22544A-7EE6-4342-B048-85BDC9FD1C3A}</a:tableStyleId>
              </a:tblPr>
              <a:tblGrid>
                <a:gridCol w="2676817">
                  <a:extLst>
                    <a:ext uri="{9D8B030D-6E8A-4147-A177-3AD203B41FA5}">
                      <a16:colId xmlns:a16="http://schemas.microsoft.com/office/drawing/2014/main" val="2456552316"/>
                    </a:ext>
                  </a:extLst>
                </a:gridCol>
                <a:gridCol w="525650">
                  <a:extLst>
                    <a:ext uri="{9D8B030D-6E8A-4147-A177-3AD203B41FA5}">
                      <a16:colId xmlns:a16="http://schemas.microsoft.com/office/drawing/2014/main" val="1100051595"/>
                    </a:ext>
                  </a:extLst>
                </a:gridCol>
                <a:gridCol w="583806">
                  <a:extLst>
                    <a:ext uri="{9D8B030D-6E8A-4147-A177-3AD203B41FA5}">
                      <a16:colId xmlns:a16="http://schemas.microsoft.com/office/drawing/2014/main" val="2042261034"/>
                    </a:ext>
                  </a:extLst>
                </a:gridCol>
                <a:gridCol w="3468254">
                  <a:extLst>
                    <a:ext uri="{9D8B030D-6E8A-4147-A177-3AD203B41FA5}">
                      <a16:colId xmlns:a16="http://schemas.microsoft.com/office/drawing/2014/main" val="2815874248"/>
                    </a:ext>
                  </a:extLst>
                </a:gridCol>
              </a:tblGrid>
              <a:tr h="258561">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Critical Risks/Issues</a:t>
                      </a:r>
                      <a:endParaRPr kumimoji="0" lang="en-US" sz="1050" b="1" i="0" u="none" strike="noStrike" kern="1200" cap="none" normalizeH="0" baseline="0">
                        <a:ln>
                          <a:noFill/>
                        </a:ln>
                        <a:solidFill>
                          <a:schemeClr val="bg1"/>
                        </a:solidFill>
                        <a:effectLst/>
                        <a:latin typeface="Arial" charset="0"/>
                        <a:ea typeface="+mn-ea"/>
                        <a:cs typeface="+mn-cs"/>
                      </a:endParaRP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Status</a:t>
                      </a:r>
                    </a:p>
                  </a:txBody>
                  <a:tcPr marL="9525" marR="9525" marT="9525" marB="0" anchor="ct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Target Date</a:t>
                      </a:r>
                    </a:p>
                  </a:txBody>
                  <a:tcPr marL="9525" marR="9525" marT="9525" marB="0" anchor="ctr">
                    <a:lnL w="12700">
                      <a:solidFill>
                        <a:schemeClr val="tx1"/>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Resolution / Mitigation</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140126">
                <a:tc>
                  <a:txBody>
                    <a:bodyPr/>
                    <a:lstStyle/>
                    <a:p>
                      <a:pPr marL="0" marR="0" lvl="0" indent="0" algn="l" defTabSz="914400" rtl="0" eaLnBrk="1" fontAlgn="auto" latinLnBrk="0" hangingPunct="1">
                        <a:lnSpc>
                          <a:spcPct val="115000"/>
                        </a:lnSpc>
                        <a:spcBef>
                          <a:spcPts val="0"/>
                        </a:spcBef>
                        <a:spcAft>
                          <a:spcPts val="800"/>
                        </a:spcAft>
                        <a:buClrTx/>
                        <a:buSzTx/>
                        <a:buFontTx/>
                        <a:buNone/>
                        <a:tabLst/>
                        <a:defRPr/>
                      </a:pPr>
                      <a:r>
                        <a:rPr lang="en-US" sz="800">
                          <a:latin typeface="+mn-lt"/>
                        </a:rPr>
                        <a:t>During final testing in staging, the connectivity failed and didn’t pass testing as the APIs failed to connect in the back end</a:t>
                      </a:r>
                    </a:p>
                    <a:p>
                      <a:pPr marL="0" marR="0" lvl="0" indent="0" algn="l" defTabSz="914400" rtl="0" eaLnBrk="1" fontAlgn="auto" latinLnBrk="0" hangingPunct="1">
                        <a:lnSpc>
                          <a:spcPct val="115000"/>
                        </a:lnSpc>
                        <a:spcBef>
                          <a:spcPts val="0"/>
                        </a:spcBef>
                        <a:spcAft>
                          <a:spcPts val="800"/>
                        </a:spcAft>
                        <a:buClrTx/>
                        <a:buSzTx/>
                        <a:buFontTx/>
                        <a:buNone/>
                        <a:tabLst/>
                        <a:defRPr/>
                      </a:pPr>
                      <a:endParaRPr lang="en-US" sz="800">
                        <a:latin typeface="+mn-lt"/>
                      </a:endParaRPr>
                    </a:p>
                    <a:p>
                      <a:pPr marL="0" marR="0" lvl="0" indent="0" algn="l" defTabSz="914400" rtl="0" eaLnBrk="1" fontAlgn="auto" latinLnBrk="0" hangingPunct="1">
                        <a:lnSpc>
                          <a:spcPct val="115000"/>
                        </a:lnSpc>
                        <a:spcBef>
                          <a:spcPts val="0"/>
                        </a:spcBef>
                        <a:spcAft>
                          <a:spcPts val="800"/>
                        </a:spcAft>
                        <a:buClrTx/>
                        <a:buSzTx/>
                        <a:buFontTx/>
                        <a:buNone/>
                        <a:tabLst/>
                        <a:defRPr/>
                      </a:pPr>
                      <a:r>
                        <a:rPr lang="en-US" sz="800">
                          <a:latin typeface="+mn-lt"/>
                        </a:rPr>
                        <a:t> </a:t>
                      </a: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r>
                        <a:rPr lang="en-US" sz="800" b="0" kern="1200">
                          <a:solidFill>
                            <a:schemeClr val="tx1"/>
                          </a:solidFill>
                          <a:effectLst/>
                          <a:latin typeface="+mn-lt"/>
                          <a:ea typeface="+mn-ea"/>
                          <a:cs typeface="+mn-cs"/>
                        </a:rPr>
                        <a:t>C</a:t>
                      </a:r>
                    </a:p>
                  </a:txBody>
                  <a:tcPr marL="9525" marR="9525" marT="9525" marB="0" anchor="ct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r>
                        <a:rPr lang="en-US" sz="800" b="0" strike="noStrike" kern="1200">
                          <a:solidFill>
                            <a:schemeClr val="tx1"/>
                          </a:solidFill>
                          <a:effectLst/>
                          <a:latin typeface="+mn-lt"/>
                          <a:ea typeface="+mn-ea"/>
                          <a:cs typeface="+mn-cs"/>
                        </a:rPr>
                        <a:t>6/30</a:t>
                      </a:r>
                    </a:p>
                  </a:txBody>
                  <a:tcPr marL="9525" marR="9525" marT="9525" marB="0" anchor="ctr">
                    <a:lnL w="12700">
                      <a:solidFill>
                        <a:schemeClr val="tx1"/>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ts val="200"/>
                        </a:spcBef>
                        <a:spcAft>
                          <a:spcPts val="0"/>
                        </a:spcAft>
                        <a:buClrTx/>
                        <a:buSzTx/>
                        <a:buFont typeface="Arial" panose="020B0604020202020204" pitchFamily="34" charset="0"/>
                        <a:buNone/>
                        <a:tabLst/>
                        <a:defRPr/>
                      </a:pPr>
                      <a:r>
                        <a:rPr lang="en-US" sz="800" b="0" strike="noStrike" kern="1200">
                          <a:solidFill>
                            <a:schemeClr val="tx1"/>
                          </a:solidFill>
                          <a:effectLst/>
                          <a:latin typeface="+mn-lt"/>
                          <a:ea typeface="+mn-ea"/>
                          <a:cs typeface="+mn-cs"/>
                        </a:rPr>
                        <a:t>API issues, Payment issues were resolved</a:t>
                      </a: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7499024"/>
                  </a:ext>
                </a:extLst>
              </a:tr>
              <a:tr h="313508">
                <a:tc>
                  <a:txBody>
                    <a:bodyPr/>
                    <a:lstStyle/>
                    <a:p>
                      <a:pPr marL="0" marR="0" lvl="0" indent="0" algn="l" defTabSz="914400" rtl="0" eaLnBrk="1" fontAlgn="auto" latinLnBrk="0" hangingPunct="1">
                        <a:lnSpc>
                          <a:spcPct val="115000"/>
                        </a:lnSpc>
                        <a:spcBef>
                          <a:spcPts val="0"/>
                        </a:spcBef>
                        <a:spcAft>
                          <a:spcPts val="800"/>
                        </a:spcAft>
                        <a:buClrTx/>
                        <a:buSzTx/>
                        <a:buFontTx/>
                        <a:buNone/>
                        <a:tabLst/>
                        <a:defRPr/>
                      </a:pPr>
                      <a:r>
                        <a:rPr lang="en-US" sz="800">
                          <a:latin typeface="+mn-lt"/>
                        </a:rPr>
                        <a:t>There is one open issue where NW Mobile app not able to use SSO for login</a:t>
                      </a: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r>
                        <a:rPr lang="en-US" sz="800" b="0" kern="1200">
                          <a:solidFill>
                            <a:schemeClr val="tx1"/>
                          </a:solidFill>
                          <a:effectLst/>
                          <a:latin typeface="+mn-lt"/>
                          <a:ea typeface="+mn-ea"/>
                          <a:cs typeface="+mn-cs"/>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r>
                        <a:rPr lang="en-US" sz="800" b="0" strike="noStrike" kern="1200">
                          <a:solidFill>
                            <a:schemeClr val="tx1"/>
                          </a:solidFill>
                          <a:effectLst/>
                          <a:latin typeface="+mn-lt"/>
                          <a:ea typeface="+mn-ea"/>
                          <a:cs typeface="+mn-cs"/>
                        </a:rPr>
                        <a:t>7/24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ts val="200"/>
                        </a:spcBef>
                        <a:spcAft>
                          <a:spcPts val="0"/>
                        </a:spcAft>
                        <a:buClrTx/>
                        <a:buSzTx/>
                        <a:buFont typeface="Arial" panose="020B0604020202020204" pitchFamily="34" charset="0"/>
                        <a:buNone/>
                        <a:tabLst/>
                        <a:defRPr/>
                      </a:pPr>
                      <a:r>
                        <a:rPr lang="en-US" sz="800" b="0" strike="noStrike" kern="1200">
                          <a:solidFill>
                            <a:schemeClr val="tx1"/>
                          </a:solidFill>
                          <a:effectLst/>
                          <a:latin typeface="+mn-lt"/>
                          <a:ea typeface="+mn-ea"/>
                          <a:cs typeface="+mn-cs"/>
                        </a:rPr>
                        <a:t>Portal team is looking into the issue and expected the fix.</a:t>
                      </a:r>
                    </a:p>
                    <a:p>
                      <a:pPr marL="0" marR="0" lvl="0" indent="0" algn="l" defTabSz="914400" rtl="0" eaLnBrk="1" fontAlgn="base" latinLnBrk="0" hangingPunct="1">
                        <a:lnSpc>
                          <a:spcPct val="100000"/>
                        </a:lnSpc>
                        <a:spcBef>
                          <a:spcPts val="200"/>
                        </a:spcBef>
                        <a:spcAft>
                          <a:spcPts val="0"/>
                        </a:spcAft>
                        <a:buClrTx/>
                        <a:buSzTx/>
                        <a:buFont typeface="Arial" panose="020B0604020202020204" pitchFamily="34" charset="0"/>
                        <a:buNone/>
                        <a:tabLst/>
                        <a:defRPr/>
                      </a:pPr>
                      <a:r>
                        <a:rPr lang="en-US" sz="800" b="0" strike="noStrike" kern="1200">
                          <a:solidFill>
                            <a:schemeClr val="tx1"/>
                          </a:solidFill>
                          <a:effectLst/>
                          <a:latin typeface="+mn-lt"/>
                          <a:ea typeface="+mn-ea"/>
                          <a:cs typeface="+mn-cs"/>
                        </a:rPr>
                        <a:t>This issue has been resolved and got sign off</a:t>
                      </a: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61305726"/>
                  </a:ext>
                </a:extLst>
              </a:tr>
              <a:tr h="313508">
                <a:tc>
                  <a:txBody>
                    <a:bodyPr/>
                    <a:lstStyle/>
                    <a:p>
                      <a:pPr marL="0" marR="0" lvl="0" indent="0" algn="l" defTabSz="914400" rtl="0" eaLnBrk="1" fontAlgn="auto" latinLnBrk="0" hangingPunct="1">
                        <a:lnSpc>
                          <a:spcPct val="115000"/>
                        </a:lnSpc>
                        <a:spcBef>
                          <a:spcPts val="0"/>
                        </a:spcBef>
                        <a:spcAft>
                          <a:spcPts val="800"/>
                        </a:spcAft>
                        <a:buClrTx/>
                        <a:buSzTx/>
                        <a:buFontTx/>
                        <a:buNone/>
                        <a:tabLst/>
                        <a:defRPr/>
                      </a:pPr>
                      <a:r>
                        <a:rPr lang="en-US" sz="800">
                          <a:latin typeface="+mn-lt"/>
                        </a:rPr>
                        <a:t>UNAM issue reported where Email is not enrolled with policy</a:t>
                      </a: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r>
                        <a:rPr lang="en-US" sz="800" b="0" kern="1200">
                          <a:solidFill>
                            <a:schemeClr val="tx1"/>
                          </a:solidFill>
                          <a:effectLst/>
                          <a:latin typeface="+mn-lt"/>
                          <a:ea typeface="+mn-ea"/>
                          <a:cs typeface="+mn-cs"/>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r>
                        <a:rPr lang="en-US" sz="800" b="0" strike="noStrike" kern="1200">
                          <a:solidFill>
                            <a:schemeClr val="tx1"/>
                          </a:solidFill>
                          <a:effectLst/>
                          <a:latin typeface="+mn-lt"/>
                          <a:ea typeface="+mn-ea"/>
                          <a:cs typeface="+mn-cs"/>
                        </a:rPr>
                        <a:t>7/28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ts val="200"/>
                        </a:spcBef>
                        <a:spcAft>
                          <a:spcPts val="0"/>
                        </a:spcAft>
                        <a:buClrTx/>
                        <a:buSzTx/>
                        <a:buFont typeface="Arial" panose="020B0604020202020204" pitchFamily="34" charset="0"/>
                        <a:buNone/>
                        <a:tabLst/>
                        <a:defRPr/>
                      </a:pPr>
                      <a:r>
                        <a:rPr lang="en-US" sz="800" b="0" strike="noStrike" kern="1200">
                          <a:solidFill>
                            <a:schemeClr val="tx1"/>
                          </a:solidFill>
                          <a:effectLst/>
                          <a:latin typeface="+mn-lt"/>
                          <a:ea typeface="+mn-ea"/>
                          <a:cs typeface="+mn-cs"/>
                        </a:rPr>
                        <a:t>UNUM data issue reported functional wise its good</a:t>
                      </a: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3870397"/>
                  </a:ext>
                </a:extLst>
              </a:tr>
            </a:tbl>
          </a:graphicData>
        </a:graphic>
      </p:graphicFrame>
      <p:sp>
        <p:nvSpPr>
          <p:cNvPr id="33" name="Flowchart: Connector 32">
            <a:extLst>
              <a:ext uri="{FF2B5EF4-FFF2-40B4-BE49-F238E27FC236}">
                <a16:creationId xmlns:a16="http://schemas.microsoft.com/office/drawing/2014/main" id="{4C96F16B-6E83-671A-C1F0-6DB67391875D}"/>
              </a:ext>
            </a:extLst>
          </p:cNvPr>
          <p:cNvSpPr/>
          <p:nvPr/>
        </p:nvSpPr>
        <p:spPr>
          <a:xfrm>
            <a:off x="6729886" y="6416791"/>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4" name="Flowchart: Connector 33">
            <a:extLst>
              <a:ext uri="{FF2B5EF4-FFF2-40B4-BE49-F238E27FC236}">
                <a16:creationId xmlns:a16="http://schemas.microsoft.com/office/drawing/2014/main" id="{A6DD89E1-3EF1-B72A-651E-530BA4972946}"/>
              </a:ext>
            </a:extLst>
          </p:cNvPr>
          <p:cNvSpPr/>
          <p:nvPr/>
        </p:nvSpPr>
        <p:spPr>
          <a:xfrm>
            <a:off x="7797764" y="6417067"/>
            <a:ext cx="163286" cy="164592"/>
          </a:xfrm>
          <a:prstGeom prst="flowChartConnector">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6" name="Flowchart: Connector 35">
            <a:extLst>
              <a:ext uri="{FF2B5EF4-FFF2-40B4-BE49-F238E27FC236}">
                <a16:creationId xmlns:a16="http://schemas.microsoft.com/office/drawing/2014/main" id="{99167821-28DD-864D-841C-B2D608F91D56}"/>
              </a:ext>
            </a:extLst>
          </p:cNvPr>
          <p:cNvSpPr/>
          <p:nvPr/>
        </p:nvSpPr>
        <p:spPr>
          <a:xfrm>
            <a:off x="8784000" y="6405062"/>
            <a:ext cx="163285" cy="164592"/>
          </a:xfrm>
          <a:prstGeom prst="flowChartConnector">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7" name="Flowchart: Connector 46">
            <a:extLst>
              <a:ext uri="{FF2B5EF4-FFF2-40B4-BE49-F238E27FC236}">
                <a16:creationId xmlns:a16="http://schemas.microsoft.com/office/drawing/2014/main" id="{5C650BE7-C202-3CD4-452D-101D29FED8D1}"/>
              </a:ext>
            </a:extLst>
          </p:cNvPr>
          <p:cNvSpPr/>
          <p:nvPr/>
        </p:nvSpPr>
        <p:spPr>
          <a:xfrm>
            <a:off x="6078524" y="1403331"/>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 name="TextBox 4">
            <a:extLst>
              <a:ext uri="{FF2B5EF4-FFF2-40B4-BE49-F238E27FC236}">
                <a16:creationId xmlns:a16="http://schemas.microsoft.com/office/drawing/2014/main" id="{2413875C-412C-45CD-14CA-650C16441BEA}"/>
              </a:ext>
            </a:extLst>
          </p:cNvPr>
          <p:cNvSpPr txBox="1"/>
          <p:nvPr/>
        </p:nvSpPr>
        <p:spPr>
          <a:xfrm>
            <a:off x="111476" y="1707676"/>
            <a:ext cx="4727581" cy="4952702"/>
          </a:xfrm>
          <a:prstGeom prst="rect">
            <a:avLst/>
          </a:prstGeom>
          <a:noFill/>
        </p:spPr>
        <p:txBody>
          <a:bodyPr wrap="square" lIns="91440" tIns="45720" rIns="91440" bIns="4572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prstClr val="black"/>
                </a:solidFill>
                <a:effectLst/>
                <a:uLnTx/>
                <a:uFillTx/>
                <a:ea typeface="+mn-ea"/>
                <a:cs typeface="+mn-cs"/>
              </a:rPr>
              <a:t>Status: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900" b="1">
                <a:solidFill>
                  <a:prstClr val="black"/>
                </a:solidFill>
              </a:rPr>
              <a:t>RED status is as the delivery date was moved multiple times due to change in firewall Keys and testing not passed in staging.</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prstClr val="black"/>
                </a:solidFill>
                <a:effectLst/>
                <a:uLnTx/>
                <a:uFillTx/>
                <a:ea typeface="+mn-ea"/>
                <a:cs typeface="+mn-cs"/>
              </a:rPr>
              <a:t>Go to Green: Confirmed the change for 5</a:t>
            </a:r>
            <a:r>
              <a:rPr kumimoji="0" lang="en-US" sz="900" b="1" i="0" u="none" strike="noStrike" kern="1200" cap="none" spc="0" normalizeH="0" baseline="30000" noProof="0">
                <a:ln>
                  <a:noFill/>
                </a:ln>
                <a:solidFill>
                  <a:prstClr val="black"/>
                </a:solidFill>
                <a:effectLst/>
                <a:uLnTx/>
                <a:uFillTx/>
                <a:ea typeface="+mn-ea"/>
                <a:cs typeface="+mn-cs"/>
              </a:rPr>
              <a:t>th</a:t>
            </a:r>
            <a:r>
              <a:rPr kumimoji="0" lang="en-US" sz="900" b="1" i="0" u="none" strike="noStrike" kern="1200" cap="none" spc="0" normalizeH="0" baseline="0" noProof="0">
                <a:ln>
                  <a:noFill/>
                </a:ln>
                <a:solidFill>
                  <a:prstClr val="black"/>
                </a:solidFill>
                <a:effectLst/>
                <a:uLnTx/>
                <a:uFillTx/>
                <a:ea typeface="+mn-ea"/>
                <a:cs typeface="+mn-cs"/>
              </a:rPr>
              <a:t> Aug all testing passed and got Go decision.</a:t>
            </a:r>
          </a:p>
          <a:p>
            <a:pPr lvl="0">
              <a:spcBef>
                <a:spcPts val="200"/>
              </a:spcBef>
            </a:pPr>
            <a:r>
              <a:rPr lang="en-US" sz="900" b="1">
                <a:solidFill>
                  <a:schemeClr val="dk1"/>
                </a:solidFill>
              </a:rPr>
              <a:t>The project aims to upgrade from EUA V2 to EUA V3 for portal authentication. This upgrade is intended to remove dependencies on legacy systems, specifically Legacy CAM and Legacy IM.</a:t>
            </a:r>
          </a:p>
          <a:p>
            <a:pPr lvl="0">
              <a:spcBef>
                <a:spcPts val="200"/>
              </a:spcBef>
            </a:pPr>
            <a:r>
              <a:rPr lang="en-US" sz="900" b="1" i="0" u="none" strike="noStrike" noProof="0">
                <a:highlight>
                  <a:srgbClr val="C0C0C0"/>
                </a:highlight>
              </a:rPr>
              <a:t>Scope:</a:t>
            </a:r>
          </a:p>
          <a:p>
            <a:pPr marL="171450" lvl="0" indent="-171450">
              <a:spcBef>
                <a:spcPts val="200"/>
              </a:spcBef>
              <a:buFont typeface="Arial" panose="05000000000000000000" pitchFamily="2" charset="2"/>
              <a:buChar char="•"/>
            </a:pPr>
            <a:r>
              <a:rPr lang="en-US" sz="900" b="0" i="0" u="none" strike="noStrike" noProof="0"/>
              <a:t>Scope has been identified and locked</a:t>
            </a:r>
          </a:p>
          <a:p>
            <a:pPr lvl="0">
              <a:spcBef>
                <a:spcPts val="200"/>
              </a:spcBef>
            </a:pPr>
            <a:r>
              <a:rPr lang="en-US" sz="900" b="1" i="0" u="none" strike="noStrike" noProof="0">
                <a:highlight>
                  <a:srgbClr val="C0C0C0"/>
                </a:highlight>
              </a:rPr>
              <a:t>Planning:</a:t>
            </a:r>
          </a:p>
          <a:p>
            <a:pPr marL="171450" lvl="0" indent="-171450">
              <a:spcBef>
                <a:spcPts val="200"/>
              </a:spcBef>
              <a:buFont typeface="Arial" panose="05000000000000000000" pitchFamily="2" charset="2"/>
              <a:buChar char="•"/>
            </a:pPr>
            <a:r>
              <a:rPr lang="en-US" sz="900" b="0" i="0" u="none" strike="noStrike" noProof="0"/>
              <a:t>Will work with TB team to confirm the plan once the technical document is published</a:t>
            </a:r>
          </a:p>
          <a:p>
            <a:pPr lvl="0">
              <a:spcBef>
                <a:spcPts val="200"/>
              </a:spcBef>
            </a:pPr>
            <a:r>
              <a:rPr lang="en-US" sz="900" b="1" i="0" u="none" strike="noStrike" noProof="0">
                <a:highlight>
                  <a:srgbClr val="C0C0C0"/>
                </a:highlight>
              </a:rPr>
              <a:t>Current state</a:t>
            </a:r>
            <a:r>
              <a:rPr lang="en-US" sz="900" b="0" i="0" u="none" strike="noStrike" noProof="0">
                <a:highlight>
                  <a:srgbClr val="C0C0C0"/>
                </a:highlight>
              </a:rPr>
              <a:t>: </a:t>
            </a:r>
          </a:p>
          <a:p>
            <a:pPr marL="171450" lvl="0" indent="-171450">
              <a:spcBef>
                <a:spcPts val="200"/>
              </a:spcBef>
              <a:buFont typeface="Arial" panose="020B0604020202020204" pitchFamily="34" charset="0"/>
              <a:buChar char="•"/>
            </a:pPr>
            <a:r>
              <a:rPr lang="en-US" sz="900" b="0" i="0" u="none" strike="noStrike" noProof="0"/>
              <a:t>Development in progress. Planned completion 03/31 Complete</a:t>
            </a:r>
          </a:p>
          <a:p>
            <a:pPr marL="171450" lvl="0" indent="-171450">
              <a:spcBef>
                <a:spcPts val="200"/>
              </a:spcBef>
              <a:buFont typeface="Arial" panose="020B0604020202020204" pitchFamily="34" charset="0"/>
              <a:buChar char="•"/>
            </a:pPr>
            <a:r>
              <a:rPr lang="en-US" sz="900" b="0" i="0" u="none" strike="noStrike" noProof="0"/>
              <a:t>Testing - 4/16  Complete</a:t>
            </a:r>
          </a:p>
          <a:p>
            <a:pPr marL="171450" lvl="0" indent="-171450">
              <a:spcBef>
                <a:spcPts val="200"/>
              </a:spcBef>
              <a:buFont typeface="Arial" panose="020B0604020202020204" pitchFamily="34" charset="0"/>
              <a:buChar char="•"/>
            </a:pPr>
            <a:r>
              <a:rPr lang="en-US" sz="900" b="0" i="0" u="none" strike="noStrike" noProof="0"/>
              <a:t>Inter E2E testing c. Complete</a:t>
            </a:r>
          </a:p>
          <a:p>
            <a:pPr marL="171450" lvl="0" indent="-171450">
              <a:spcBef>
                <a:spcPts val="200"/>
              </a:spcBef>
              <a:buFont typeface="Arial" panose="020B0604020202020204" pitchFamily="34" charset="0"/>
              <a:buChar char="•"/>
            </a:pPr>
            <a:r>
              <a:rPr lang="en-US" sz="900" b="0" i="0" u="none" strike="noStrike" noProof="0"/>
              <a:t>UNAM testing by 04/24 Complete</a:t>
            </a:r>
          </a:p>
          <a:p>
            <a:pPr marL="171450" lvl="0" indent="-171450">
              <a:spcBef>
                <a:spcPts val="200"/>
              </a:spcBef>
              <a:buFont typeface="Arial" panose="020B0604020202020204" pitchFamily="34" charset="0"/>
              <a:buChar char="•"/>
              <a:defRPr/>
            </a:pPr>
            <a:r>
              <a:rPr lang="en-US" sz="900"/>
              <a:t>Team has completed E2E testing and ready for UNAM regression testing  requested.</a:t>
            </a:r>
          </a:p>
          <a:p>
            <a:pPr marL="171450" indent="-171450">
              <a:spcBef>
                <a:spcPts val="200"/>
              </a:spcBef>
              <a:buFont typeface="Arial" panose="020B0604020202020204" pitchFamily="34" charset="0"/>
              <a:buChar char="•"/>
              <a:defRPr/>
            </a:pPr>
            <a:r>
              <a:rPr lang="en-US" sz="900" kern="100">
                <a:solidFill>
                  <a:prstClr val="black"/>
                </a:solidFill>
                <a:cs typeface="Times New Roman"/>
              </a:rPr>
              <a:t>API related issues were resolved  by MIM team</a:t>
            </a:r>
          </a:p>
          <a:p>
            <a:pPr marL="171450" indent="-171450">
              <a:spcBef>
                <a:spcPts val="200"/>
              </a:spcBef>
              <a:buFont typeface="Arial" panose="020B0604020202020204" pitchFamily="34" charset="0"/>
              <a:buChar char="•"/>
              <a:defRPr/>
            </a:pPr>
            <a:r>
              <a:rPr lang="en-US" sz="900" kern="100">
                <a:solidFill>
                  <a:prstClr val="black"/>
                </a:solidFill>
                <a:cs typeface="Times New Roman"/>
              </a:rPr>
              <a:t>This has been deployed and validated, Warranty period ends Sep 5</a:t>
            </a:r>
            <a:endParaRPr lang="en-US" sz="900"/>
          </a:p>
          <a:p>
            <a:pPr lvl="0">
              <a:spcBef>
                <a:spcPts val="200"/>
              </a:spcBef>
            </a:pPr>
            <a:r>
              <a:rPr lang="en-US" sz="900" b="1" i="0" u="none" strike="noStrike" noProof="0">
                <a:highlight>
                  <a:srgbClr val="C0C0C0"/>
                </a:highlight>
              </a:rPr>
              <a:t>Target Q1/Q2 2026 </a:t>
            </a:r>
          </a:p>
          <a:p>
            <a:pPr marL="171450" indent="-171450">
              <a:spcBef>
                <a:spcPts val="200"/>
              </a:spcBef>
              <a:buFont typeface="Arial" panose="05000000000000000000" pitchFamily="2" charset="2"/>
              <a:buChar char="•"/>
            </a:pPr>
            <a:r>
              <a:rPr lang="en-US" sz="900" b="0" i="0" u="none" strike="noStrike" noProof="0"/>
              <a:t>Target delivery date </a:t>
            </a:r>
            <a:r>
              <a:rPr lang="en-US" sz="900"/>
              <a:t>was 5/13.l</a:t>
            </a:r>
            <a:r>
              <a:rPr lang="en-US" sz="900" b="0" i="0" u="none" strike="noStrike" noProof="0"/>
              <a:t> Went on hold as testing</a:t>
            </a:r>
            <a:r>
              <a:rPr lang="en-US" sz="900"/>
              <a:t> did</a:t>
            </a:r>
            <a:r>
              <a:rPr lang="en-US" sz="900" b="0" i="0" u="none" strike="noStrike" noProof="0"/>
              <a:t> not pass.</a:t>
            </a:r>
            <a:endParaRPr lang="en-US" sz="900" b="0" i="0" u="none" strike="noStrike" noProof="0">
              <a:cs typeface="Arial"/>
            </a:endParaRPr>
          </a:p>
          <a:p>
            <a:pPr marL="171450" lvl="0" indent="-171450">
              <a:spcBef>
                <a:spcPts val="200"/>
              </a:spcBef>
              <a:buFont typeface="Arial" panose="05000000000000000000" pitchFamily="2" charset="2"/>
              <a:buChar char="•"/>
            </a:pPr>
            <a:r>
              <a:rPr lang="en-US" sz="900"/>
              <a:t>Next target date not confirmed; tentative date July 17</a:t>
            </a:r>
            <a:r>
              <a:rPr lang="en-US" sz="900" baseline="30000"/>
              <a:t>th</a:t>
            </a:r>
            <a:endParaRPr lang="en-US" sz="900"/>
          </a:p>
          <a:p>
            <a:pPr marL="171450" lvl="0" indent="-171450">
              <a:spcBef>
                <a:spcPts val="200"/>
              </a:spcBef>
              <a:buFont typeface="Arial" panose="05000000000000000000" pitchFamily="2" charset="2"/>
              <a:buChar char="•"/>
            </a:pPr>
            <a:r>
              <a:rPr lang="en-US" sz="900" b="0" i="0" u="none" strike="noStrike" noProof="0"/>
              <a:t>Go </a:t>
            </a:r>
            <a:r>
              <a:rPr lang="en-US" sz="900"/>
              <a:t>No</a:t>
            </a:r>
            <a:r>
              <a:rPr lang="en-US" sz="900" b="0" i="0" u="none" strike="noStrike" noProof="0"/>
              <a:t> Go scheduled on July 13</a:t>
            </a:r>
            <a:r>
              <a:rPr lang="en-US" sz="900" b="0" i="0" u="none" strike="noStrike" baseline="30000" noProof="0"/>
              <a:t>th</a:t>
            </a:r>
            <a:r>
              <a:rPr lang="en-US" sz="900" b="0" i="0" u="none" strike="noStrike" noProof="0"/>
              <a:t> to take a call</a:t>
            </a:r>
            <a:endParaRPr lang="en-US" sz="850" b="0" i="0" u="none" strike="noStrike" noProof="0">
              <a:highlight>
                <a:srgbClr val="00FF00"/>
              </a:highlight>
              <a:cs typeface="Arial"/>
            </a:endParaRPr>
          </a:p>
          <a:p>
            <a:pPr marL="0" marR="0" lvl="0" indent="0" algn="l" defTabSz="914400" rtl="0" eaLnBrk="1" fontAlgn="auto" latinLnBrk="0" hangingPunct="1">
              <a:lnSpc>
                <a:spcPct val="114999"/>
              </a:lnSpc>
              <a:spcBef>
                <a:spcPts val="200"/>
              </a:spcBef>
              <a:spcAft>
                <a:spcPts val="0"/>
              </a:spcAft>
              <a:buClrTx/>
              <a:buSzPts val="1000"/>
              <a:buFontTx/>
              <a:buNone/>
              <a:tabLst>
                <a:tab pos="457200" algn="l"/>
              </a:tabLst>
              <a:defRPr/>
            </a:pPr>
            <a:r>
              <a:rPr kumimoji="0" lang="en-US" sz="900" b="1" i="0" u="none" strike="noStrike" kern="100" cap="none" spc="0" normalizeH="0" baseline="0" noProof="0">
                <a:ln>
                  <a:noFill/>
                </a:ln>
                <a:solidFill>
                  <a:prstClr val="black"/>
                </a:solidFill>
                <a:effectLst/>
                <a:uLnTx/>
                <a:uFillTx/>
                <a:ea typeface="+mn-ea"/>
                <a:cs typeface="Times New Roman"/>
              </a:rPr>
              <a:t>Next Steps:</a:t>
            </a:r>
          </a:p>
          <a:p>
            <a:pPr marL="171450" indent="-171450">
              <a:lnSpc>
                <a:spcPct val="114999"/>
              </a:lnSpc>
              <a:spcBef>
                <a:spcPts val="200"/>
              </a:spcBef>
              <a:buSzPts val="1000"/>
              <a:buFont typeface="Arial" panose="020B0604020202020204" pitchFamily="34" charset="0"/>
              <a:buChar char="•"/>
              <a:tabLst>
                <a:tab pos="457200" algn="l"/>
              </a:tabLst>
              <a:defRPr/>
            </a:pPr>
            <a:r>
              <a:rPr lang="en-US" sz="900" kern="100">
                <a:solidFill>
                  <a:prstClr val="black"/>
                </a:solidFill>
                <a:cs typeface="Times New Roman"/>
              </a:rPr>
              <a:t>Separate working session planned to fix the technical glitch.</a:t>
            </a:r>
          </a:p>
          <a:p>
            <a:pPr marL="171450" indent="-171450">
              <a:lnSpc>
                <a:spcPct val="114999"/>
              </a:lnSpc>
              <a:spcBef>
                <a:spcPts val="200"/>
              </a:spcBef>
              <a:buSzPts val="1000"/>
              <a:buFont typeface="Arial" panose="020B0604020202020204" pitchFamily="34" charset="0"/>
              <a:buChar char="•"/>
              <a:tabLst>
                <a:tab pos="457200" algn="l"/>
              </a:tabLst>
              <a:defRPr/>
            </a:pPr>
            <a:r>
              <a:rPr lang="en-US" sz="900" kern="100">
                <a:solidFill>
                  <a:prstClr val="black"/>
                </a:solidFill>
                <a:cs typeface="Times New Roman"/>
              </a:rPr>
              <a:t>UNAM testing has been initiated and issue reports</a:t>
            </a:r>
          </a:p>
          <a:p>
            <a:pPr marL="171450" indent="-171450">
              <a:lnSpc>
                <a:spcPct val="114999"/>
              </a:lnSpc>
              <a:spcBef>
                <a:spcPts val="200"/>
              </a:spcBef>
              <a:buSzPts val="1000"/>
              <a:buFont typeface="Arial" panose="020B0604020202020204" pitchFamily="34" charset="0"/>
              <a:buChar char="•"/>
              <a:tabLst>
                <a:tab pos="457200" algn="l"/>
              </a:tabLst>
              <a:defRPr/>
            </a:pPr>
            <a:r>
              <a:rPr lang="en-US" sz="900" kern="100">
                <a:solidFill>
                  <a:prstClr val="black"/>
                </a:solidFill>
                <a:cs typeface="Times New Roman"/>
              </a:rPr>
              <a:t>Testing has been completed and no issues reported In relates to login and log off.</a:t>
            </a:r>
          </a:p>
          <a:p>
            <a:pPr marL="171450" indent="-171450">
              <a:lnSpc>
                <a:spcPct val="114999"/>
              </a:lnSpc>
              <a:spcBef>
                <a:spcPts val="200"/>
              </a:spcBef>
              <a:buSzPts val="1000"/>
              <a:buFont typeface="Arial" panose="020B0604020202020204" pitchFamily="34" charset="0"/>
              <a:buChar char="•"/>
              <a:tabLst>
                <a:tab pos="457200" algn="l"/>
              </a:tabLst>
              <a:defRPr/>
            </a:pPr>
            <a:r>
              <a:rPr lang="en-US" sz="900" kern="100">
                <a:solidFill>
                  <a:prstClr val="black"/>
                </a:solidFill>
                <a:cs typeface="Times New Roman"/>
              </a:rPr>
              <a:t>Portal team to come up with resolution and schedule.</a:t>
            </a:r>
          </a:p>
          <a:p>
            <a:pPr marL="171450" indent="-171450">
              <a:lnSpc>
                <a:spcPct val="114999"/>
              </a:lnSpc>
              <a:spcBef>
                <a:spcPts val="200"/>
              </a:spcBef>
              <a:buSzPts val="1000"/>
              <a:buFont typeface="Arial" panose="020B0604020202020204" pitchFamily="34" charset="0"/>
              <a:buChar char="•"/>
              <a:tabLst>
                <a:tab pos="457200" algn="l"/>
              </a:tabLst>
              <a:defRPr/>
            </a:pPr>
            <a:r>
              <a:rPr lang="en-US" sz="900" kern="100">
                <a:solidFill>
                  <a:prstClr val="black"/>
                </a:solidFill>
                <a:cs typeface="Times New Roman"/>
              </a:rPr>
              <a:t>Sign off received from QA and staging</a:t>
            </a:r>
            <a:endParaRPr kumimoji="0" lang="en-US" sz="800" b="1" i="0" u="sng" strike="noStrike" kern="100" cap="none" spc="0" normalizeH="0" baseline="0" noProof="0">
              <a:ln>
                <a:noFill/>
              </a:ln>
              <a:solidFill>
                <a:prstClr val="black"/>
              </a:solidFill>
              <a:effectLst/>
              <a:uLnTx/>
              <a:uFillTx/>
              <a:latin typeface="Aptos" panose="02110004020202020204"/>
              <a:ea typeface="Aptos" panose="020B0004020202020204" pitchFamily="34" charset="0"/>
              <a:cs typeface="Times New Roman"/>
            </a:endParaRPr>
          </a:p>
        </p:txBody>
      </p:sp>
      <p:sp>
        <p:nvSpPr>
          <p:cNvPr id="3" name="TextBox 2">
            <a:extLst>
              <a:ext uri="{FF2B5EF4-FFF2-40B4-BE49-F238E27FC236}">
                <a16:creationId xmlns:a16="http://schemas.microsoft.com/office/drawing/2014/main" id="{12F01CC3-8F92-1A23-46A6-1A29B14CDD7C}"/>
              </a:ext>
            </a:extLst>
          </p:cNvPr>
          <p:cNvSpPr txBox="1"/>
          <p:nvPr/>
        </p:nvSpPr>
        <p:spPr>
          <a:xfrm>
            <a:off x="9515820" y="56135"/>
            <a:ext cx="2676180" cy="517320"/>
          </a:xfrm>
          <a:prstGeom prst="rect">
            <a:avLst/>
          </a:prstGeom>
          <a:noFill/>
        </p:spPr>
        <p:txBody>
          <a:bodyPr wrap="none" lIns="0" tIns="0" rIns="0" bIns="0" rtlCol="0" anchor="t">
            <a:noAutofit/>
          </a:bodyPr>
          <a:lstStyle/>
          <a:p>
            <a:pPr>
              <a:lnSpc>
                <a:spcPct val="112000"/>
              </a:lnSpc>
              <a:defRPr/>
            </a:pPr>
            <a:r>
              <a:rPr lang="en-US" sz="1200">
                <a:solidFill>
                  <a:prstClr val="black"/>
                </a:solidFill>
                <a:latin typeface="Aptos" panose="02110004020202020204"/>
              </a:rPr>
              <a:t>Project Manager </a:t>
            </a:r>
            <a:r>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t>: </a:t>
            </a:r>
            <a:r>
              <a:rPr lang="en-US" sz="1200">
                <a:solidFill>
                  <a:prstClr val="black"/>
                </a:solidFill>
                <a:latin typeface="Aptos" panose="02110004020202020204"/>
              </a:rPr>
              <a:t> </a:t>
            </a:r>
            <a:r>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t>Chalam Buddha</a:t>
            </a:r>
            <a:endParaRPr lang="en-US">
              <a:solidFill>
                <a:prstClr val="black"/>
              </a:solidFill>
              <a:ea typeface="+mn-ea"/>
              <a:cs typeface="+mn-cs"/>
            </a:endParaRPr>
          </a:p>
        </p:txBody>
      </p:sp>
      <p:sp>
        <p:nvSpPr>
          <p:cNvPr id="6" name="Flowchart: Connector 5">
            <a:extLst>
              <a:ext uri="{FF2B5EF4-FFF2-40B4-BE49-F238E27FC236}">
                <a16:creationId xmlns:a16="http://schemas.microsoft.com/office/drawing/2014/main" id="{05BDBAFC-9521-DB4F-4BCA-291F8B06BEE8}"/>
              </a:ext>
            </a:extLst>
          </p:cNvPr>
          <p:cNvSpPr/>
          <p:nvPr/>
        </p:nvSpPr>
        <p:spPr>
          <a:xfrm>
            <a:off x="4250024" y="1406342"/>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8" name="Flowchart: Connector 7">
            <a:extLst>
              <a:ext uri="{FF2B5EF4-FFF2-40B4-BE49-F238E27FC236}">
                <a16:creationId xmlns:a16="http://schemas.microsoft.com/office/drawing/2014/main" id="{8103F710-B0AF-B10E-563F-24AF16C6C215}"/>
              </a:ext>
            </a:extLst>
          </p:cNvPr>
          <p:cNvSpPr/>
          <p:nvPr/>
        </p:nvSpPr>
        <p:spPr>
          <a:xfrm>
            <a:off x="5219216" y="1406342"/>
            <a:ext cx="163285" cy="164592"/>
          </a:xfrm>
          <a:prstGeom prst="flowChartConnector">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 name="Flowchart: Connector 9">
            <a:extLst>
              <a:ext uri="{FF2B5EF4-FFF2-40B4-BE49-F238E27FC236}">
                <a16:creationId xmlns:a16="http://schemas.microsoft.com/office/drawing/2014/main" id="{E77AF664-5B57-9E6D-C471-A42B3CD72DDC}"/>
              </a:ext>
            </a:extLst>
          </p:cNvPr>
          <p:cNvSpPr/>
          <p:nvPr/>
        </p:nvSpPr>
        <p:spPr>
          <a:xfrm>
            <a:off x="3341791" y="1403331"/>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44169573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796B60-704E-CFBE-772F-D3368F908361}"/>
            </a:ext>
          </a:extLst>
        </p:cNvPr>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71EFF476-14AD-B8C4-464E-6CD6D3D2A6D9}"/>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4" imgH="344" progId="TCLayout.ActiveDocument.1">
                  <p:embed/>
                </p:oleObj>
              </mc:Choice>
              <mc:Fallback>
                <p:oleObj name="think-cell Slide" r:id="rId4" imgW="344" imgH="344" progId="TCLayout.ActiveDocument.1">
                  <p:embed/>
                  <p:pic>
                    <p:nvPicPr>
                      <p:cNvPr id="6" name="Object 5" hidden="1">
                        <a:extLst>
                          <a:ext uri="{FF2B5EF4-FFF2-40B4-BE49-F238E27FC236}">
                            <a16:creationId xmlns:a16="http://schemas.microsoft.com/office/drawing/2014/main" id="{71EFF476-14AD-B8C4-464E-6CD6D3D2A6D9}"/>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graphicFrame>
        <p:nvGraphicFramePr>
          <p:cNvPr id="22" name="Table 21">
            <a:extLst>
              <a:ext uri="{FF2B5EF4-FFF2-40B4-BE49-F238E27FC236}">
                <a16:creationId xmlns:a16="http://schemas.microsoft.com/office/drawing/2014/main" id="{27486642-4B50-6048-DBAA-772C75E3AA99}"/>
              </a:ext>
            </a:extLst>
          </p:cNvPr>
          <p:cNvGraphicFramePr>
            <a:graphicFrameLocks noGrp="1"/>
          </p:cNvGraphicFramePr>
          <p:nvPr/>
        </p:nvGraphicFramePr>
        <p:xfrm>
          <a:off x="278340" y="399445"/>
          <a:ext cx="11477855" cy="917291"/>
        </p:xfrm>
        <a:graphic>
          <a:graphicData uri="http://schemas.openxmlformats.org/drawingml/2006/table">
            <a:tbl>
              <a:tblPr firstRow="1" bandRow="1">
                <a:tableStyleId>{5C22544A-7EE6-4342-B048-85BDC9FD1C3A}</a:tableStyleId>
              </a:tblPr>
              <a:tblGrid>
                <a:gridCol w="2018885">
                  <a:extLst>
                    <a:ext uri="{9D8B030D-6E8A-4147-A177-3AD203B41FA5}">
                      <a16:colId xmlns:a16="http://schemas.microsoft.com/office/drawing/2014/main" val="2968135294"/>
                    </a:ext>
                  </a:extLst>
                </a:gridCol>
                <a:gridCol w="1921743">
                  <a:extLst>
                    <a:ext uri="{9D8B030D-6E8A-4147-A177-3AD203B41FA5}">
                      <a16:colId xmlns:a16="http://schemas.microsoft.com/office/drawing/2014/main" val="1347475742"/>
                    </a:ext>
                  </a:extLst>
                </a:gridCol>
                <a:gridCol w="2225468">
                  <a:extLst>
                    <a:ext uri="{9D8B030D-6E8A-4147-A177-3AD203B41FA5}">
                      <a16:colId xmlns:a16="http://schemas.microsoft.com/office/drawing/2014/main" val="713459860"/>
                    </a:ext>
                  </a:extLst>
                </a:gridCol>
                <a:gridCol w="1663435">
                  <a:extLst>
                    <a:ext uri="{9D8B030D-6E8A-4147-A177-3AD203B41FA5}">
                      <a16:colId xmlns:a16="http://schemas.microsoft.com/office/drawing/2014/main" val="1083633558"/>
                    </a:ext>
                  </a:extLst>
                </a:gridCol>
                <a:gridCol w="1856068">
                  <a:extLst>
                    <a:ext uri="{9D8B030D-6E8A-4147-A177-3AD203B41FA5}">
                      <a16:colId xmlns:a16="http://schemas.microsoft.com/office/drawing/2014/main" val="3644672930"/>
                    </a:ext>
                  </a:extLst>
                </a:gridCol>
                <a:gridCol w="1792256">
                  <a:extLst>
                    <a:ext uri="{9D8B030D-6E8A-4147-A177-3AD203B41FA5}">
                      <a16:colId xmlns:a16="http://schemas.microsoft.com/office/drawing/2014/main" val="810249917"/>
                    </a:ext>
                  </a:extLst>
                </a:gridCol>
              </a:tblGrid>
              <a:tr h="269582">
                <a:tc gridSpan="6">
                  <a:txBody>
                    <a:bodyPr/>
                    <a:lstStyle/>
                    <a:p>
                      <a:pPr marL="0" marR="0" lvl="0" indent="0" algn="l">
                        <a:lnSpc>
                          <a:spcPct val="100000"/>
                        </a:lnSpc>
                        <a:spcBef>
                          <a:spcPts val="0"/>
                        </a:spcBef>
                        <a:spcAft>
                          <a:spcPts val="0"/>
                        </a:spcAft>
                        <a:buNone/>
                      </a:pPr>
                      <a:r>
                        <a:rPr lang="sv-SE" sz="1800" b="0" i="0" kern="1200">
                          <a:solidFill>
                            <a:schemeClr val="lt1"/>
                          </a:solidFill>
                          <a:effectLst/>
                          <a:latin typeface="+mn-lt"/>
                          <a:ea typeface="+mn-ea"/>
                          <a:cs typeface="+mn-cs"/>
                        </a:rPr>
                        <a:t>NW Pet - GW Cloud Platform Migration - Complete GWCP Migration - March</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hMerge="1">
                  <a:txBody>
                    <a:bodyPr/>
                    <a:lstStyle/>
                    <a:p>
                      <a:endParaRPr lang="en-US"/>
                    </a:p>
                  </a:txBody>
                  <a:tcPr/>
                </a:tc>
                <a:tc hMerge="1">
                  <a:txBody>
                    <a:bodyPr/>
                    <a:lstStyle/>
                    <a:p>
                      <a:endParaRPr lang="en-US" sz="1800">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hMerge="1">
                  <a:txBody>
                    <a:bodyPr/>
                    <a:lstStyle/>
                    <a:p>
                      <a:pPr algn="ct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hMerge="1">
                  <a:txBody>
                    <a:bodyPr/>
                    <a:lstStyle/>
                    <a:p>
                      <a:pPr algn="ctr"/>
                      <a:endParaRPr lang="en-US" sz="1000">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hMerge="1">
                  <a:txBody>
                    <a:bodyPr/>
                    <a:lstStyle/>
                    <a:p>
                      <a:pPr algn="ctr"/>
                      <a:endParaRPr lang="en-US" sz="1000">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218210663"/>
                  </a:ext>
                </a:extLst>
              </a:tr>
              <a:tr h="19471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kern="1200">
                          <a:solidFill>
                            <a:schemeClr val="bg1">
                              <a:lumMod val="95000"/>
                            </a:schemeClr>
                          </a:solidFill>
                          <a:latin typeface="+mn-lt"/>
                          <a:ea typeface="+mn-ea"/>
                          <a:cs typeface="+mn-cs"/>
                        </a:rPr>
                        <a:t>Executive Sponsor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kern="1200">
                          <a:solidFill>
                            <a:schemeClr val="bg1">
                              <a:lumMod val="95000"/>
                            </a:schemeClr>
                          </a:solidFill>
                          <a:latin typeface="+mn-lt"/>
                          <a:ea typeface="+mn-ea"/>
                          <a:cs typeface="+mn-cs"/>
                        </a:rPr>
                        <a:t>IT Delivery Executive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kern="1200">
                          <a:solidFill>
                            <a:schemeClr val="bg1">
                              <a:lumMod val="95000"/>
                            </a:schemeClr>
                          </a:solidFill>
                          <a:latin typeface="+mn-lt"/>
                          <a:ea typeface="+mn-ea"/>
                          <a:cs typeface="+mn-cs"/>
                        </a:rPr>
                        <a:t>Business Delivery Executive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kern="1200">
                          <a:solidFill>
                            <a:schemeClr val="bg1">
                              <a:lumMod val="95000"/>
                            </a:schemeClr>
                          </a:solidFill>
                          <a:latin typeface="+mn-lt"/>
                          <a:ea typeface="+mn-ea"/>
                          <a:cs typeface="+mn-cs"/>
                        </a:rPr>
                        <a:t>Solution Architect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kern="1200">
                          <a:solidFill>
                            <a:schemeClr val="bg1">
                              <a:lumMod val="95000"/>
                            </a:schemeClr>
                          </a:solidFill>
                          <a:latin typeface="+mn-lt"/>
                          <a:ea typeface="+mn-ea"/>
                          <a:cs typeface="+mn-cs"/>
                        </a:rPr>
                        <a:t>Tech Lead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rtl="0" eaLnBrk="1" fontAlgn="auto" latinLnBrk="0" hangingPunct="1">
                        <a:lnSpc>
                          <a:spcPct val="100000"/>
                        </a:lnSpc>
                        <a:spcBef>
                          <a:spcPts val="0"/>
                        </a:spcBef>
                        <a:spcAft>
                          <a:spcPts val="0"/>
                        </a:spcAft>
                        <a:buClrTx/>
                        <a:buSzTx/>
                        <a:buFontTx/>
                        <a:buNone/>
                      </a:pPr>
                      <a:r>
                        <a:rPr lang="en-US" sz="1000" b="1" kern="1200">
                          <a:solidFill>
                            <a:schemeClr val="bg1">
                              <a:lumMod val="95000"/>
                            </a:schemeClr>
                          </a:solidFill>
                          <a:latin typeface="+mn-lt"/>
                          <a:ea typeface="+mn-ea"/>
                          <a:cs typeface="+mn-cs"/>
                        </a:rPr>
                        <a:t>QE Lead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2068466500"/>
                  </a:ext>
                </a:extLst>
              </a:tr>
              <a:tr h="307691">
                <a:tc>
                  <a:txBody>
                    <a:bodyPr/>
                    <a:lstStyle/>
                    <a:p>
                      <a:pPr lvl="0" algn="ctr">
                        <a:buNone/>
                      </a:pPr>
                      <a:r>
                        <a:rPr lang="en-US" sz="1000" b="1" kern="1200">
                          <a:solidFill>
                            <a:schemeClr val="tx1"/>
                          </a:solidFill>
                          <a:latin typeface="+mn-lt"/>
                          <a:ea typeface="+mn-ea"/>
                          <a:cs typeface="+mn-cs"/>
                        </a:rPr>
                        <a:t>Braden Love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a:lnSpc>
                          <a:spcPct val="100000"/>
                        </a:lnSpc>
                        <a:spcBef>
                          <a:spcPts val="0"/>
                        </a:spcBef>
                        <a:spcAft>
                          <a:spcPts val="0"/>
                        </a:spcAft>
                        <a:buNone/>
                      </a:pPr>
                      <a:r>
                        <a:rPr lang="en-US" sz="1000" b="1" kern="1200">
                          <a:solidFill>
                            <a:schemeClr val="tx1"/>
                          </a:solidFill>
                          <a:latin typeface="+mn-lt"/>
                          <a:ea typeface="+mn-ea"/>
                          <a:cs typeface="+mn-cs"/>
                        </a:rPr>
                        <a:t>Charles Hopper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a:lnSpc>
                          <a:spcPct val="100000"/>
                        </a:lnSpc>
                        <a:spcBef>
                          <a:spcPts val="0"/>
                        </a:spcBef>
                        <a:spcAft>
                          <a:spcPts val="0"/>
                        </a:spcAft>
                        <a:buNone/>
                      </a:pPr>
                      <a:r>
                        <a:rPr lang="en-US" sz="1000" b="1" kern="1200">
                          <a:solidFill>
                            <a:schemeClr val="tx1"/>
                          </a:solidFill>
                          <a:latin typeface="+mn-lt"/>
                          <a:ea typeface="+mn-ea"/>
                          <a:cs typeface="+mn-cs"/>
                        </a:rPr>
                        <a:t>Sastry Samavedam</a:t>
                      </a:r>
                      <a:endParaRPr lang="en-US" sz="1000" b="1" kern="1200" err="1">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rtl="0" eaLnBrk="1" fontAlgn="auto" latinLnBrk="0" hangingPunct="1">
                        <a:lnSpc>
                          <a:spcPct val="100000"/>
                        </a:lnSpc>
                        <a:spcBef>
                          <a:spcPts val="0"/>
                        </a:spcBef>
                        <a:spcAft>
                          <a:spcPts val="0"/>
                        </a:spcAft>
                        <a:buClrTx/>
                        <a:buSzTx/>
                        <a:buFontTx/>
                        <a:buNone/>
                      </a:pPr>
                      <a:r>
                        <a:rPr lang="en-US" sz="1000" b="1" kern="1200">
                          <a:solidFill>
                            <a:schemeClr val="tx1"/>
                          </a:solidFill>
                          <a:latin typeface="+mn-lt"/>
                          <a:ea typeface="+mn-ea"/>
                          <a:cs typeface="+mn-cs"/>
                        </a:rPr>
                        <a:t>Kiran Guniganti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a:lnSpc>
                          <a:spcPct val="100000"/>
                        </a:lnSpc>
                        <a:spcBef>
                          <a:spcPts val="0"/>
                        </a:spcBef>
                        <a:spcAft>
                          <a:spcPts val="0"/>
                        </a:spcAft>
                        <a:buNone/>
                      </a:pPr>
                      <a:r>
                        <a:rPr lang="en-US" sz="1000" b="1" kern="1200">
                          <a:solidFill>
                            <a:schemeClr val="tx1"/>
                          </a:solidFill>
                          <a:latin typeface="+mn-lt"/>
                          <a:ea typeface="+mn-ea"/>
                          <a:cs typeface="+mn-cs"/>
                        </a:rPr>
                        <a:t>Anuja Salgar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rtl="0" eaLnBrk="1" latinLnBrk="0" hangingPunct="1">
                        <a:lnSpc>
                          <a:spcPct val="100000"/>
                        </a:lnSpc>
                        <a:spcBef>
                          <a:spcPts val="0"/>
                        </a:spcBef>
                        <a:spcAft>
                          <a:spcPts val="0"/>
                        </a:spcAft>
                        <a:buNone/>
                      </a:pPr>
                      <a:r>
                        <a:rPr lang="en-US" sz="1000" b="1" kern="1200">
                          <a:solidFill>
                            <a:schemeClr val="tx1"/>
                          </a:solidFill>
                          <a:latin typeface="+mn-lt"/>
                          <a:ea typeface="+mn-ea"/>
                          <a:cs typeface="+mn-cs"/>
                        </a:rPr>
                        <a:t>Lisa Blank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92140535"/>
                  </a:ext>
                </a:extLst>
              </a:tr>
            </a:tbl>
          </a:graphicData>
        </a:graphic>
      </p:graphicFrame>
      <p:graphicFrame>
        <p:nvGraphicFramePr>
          <p:cNvPr id="24" name="Table 23">
            <a:extLst>
              <a:ext uri="{FF2B5EF4-FFF2-40B4-BE49-F238E27FC236}">
                <a16:creationId xmlns:a16="http://schemas.microsoft.com/office/drawing/2014/main" id="{88FC4C9F-0108-A798-CACE-68D56F62ACEE}"/>
              </a:ext>
            </a:extLst>
          </p:cNvPr>
          <p:cNvGraphicFramePr>
            <a:graphicFrameLocks noGrp="1"/>
          </p:cNvGraphicFramePr>
          <p:nvPr/>
        </p:nvGraphicFramePr>
        <p:xfrm>
          <a:off x="5995012" y="1340385"/>
          <a:ext cx="2997396" cy="2486483"/>
        </p:xfrm>
        <a:graphic>
          <a:graphicData uri="http://schemas.openxmlformats.org/drawingml/2006/table">
            <a:tbl>
              <a:tblPr firstRow="1" bandRow="1">
                <a:tableStyleId>{5C22544A-7EE6-4342-B048-85BDC9FD1C3A}</a:tableStyleId>
              </a:tblPr>
              <a:tblGrid>
                <a:gridCol w="2997396">
                  <a:extLst>
                    <a:ext uri="{9D8B030D-6E8A-4147-A177-3AD203B41FA5}">
                      <a16:colId xmlns:a16="http://schemas.microsoft.com/office/drawing/2014/main" val="2968135294"/>
                    </a:ext>
                  </a:extLst>
                </a:gridCol>
              </a:tblGrid>
              <a:tr h="299203">
                <a:tc>
                  <a:txBody>
                    <a:bodyPr/>
                    <a:lstStyle/>
                    <a:p>
                      <a:pPr algn="ctr"/>
                      <a:r>
                        <a:rPr lang="en-US" sz="1100" b="1" kern="1200">
                          <a:solidFill>
                            <a:schemeClr val="bg1"/>
                          </a:solidFill>
                          <a:latin typeface="Arial"/>
                          <a:ea typeface="+mn-ea"/>
                          <a:cs typeface="+mn-cs"/>
                        </a:rPr>
                        <a:t>Budget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3517552727"/>
                  </a:ext>
                </a:extLst>
              </a:tr>
              <a:tr h="2187280">
                <a:tc>
                  <a:txBody>
                    <a:bodyPr/>
                    <a:lstStyle/>
                    <a:p>
                      <a:pPr>
                        <a:lnSpc>
                          <a:spcPct val="150000"/>
                        </a:lnSpc>
                        <a:spcBef>
                          <a:spcPts val="300"/>
                        </a:spcBef>
                      </a:pPr>
                      <a:r>
                        <a:rPr lang="en-US" sz="1000" b="1">
                          <a:latin typeface="Arial"/>
                        </a:rPr>
                        <a:t>Status: Green</a:t>
                      </a:r>
                      <a:endParaRPr lang="en-US" sz="1000" b="1" i="0" u="none" strike="noStrike" kern="1200">
                        <a:solidFill>
                          <a:schemeClr val="dk1"/>
                        </a:solidFill>
                        <a:highlight>
                          <a:srgbClr val="00FF00"/>
                        </a:highlight>
                        <a:latin typeface="Arial"/>
                        <a:ea typeface="+mn-ea"/>
                        <a:cs typeface="+mn-cs"/>
                      </a:endParaRPr>
                    </a:p>
                    <a:p>
                      <a:pPr>
                        <a:lnSpc>
                          <a:spcPct val="150000"/>
                        </a:lnSpc>
                        <a:spcBef>
                          <a:spcPts val="300"/>
                        </a:spcBef>
                      </a:pPr>
                      <a:r>
                        <a:rPr lang="en-US" sz="1000" b="1" i="0" u="none" strike="noStrike" kern="1200">
                          <a:solidFill>
                            <a:schemeClr val="dk1"/>
                          </a:solidFill>
                          <a:latin typeface="Arial"/>
                          <a:ea typeface="+mn-ea"/>
                          <a:cs typeface="+mn-cs"/>
                        </a:rPr>
                        <a:t>Budget allocated: </a:t>
                      </a:r>
                      <a:r>
                        <a:rPr lang="en-US" sz="1000" b="0" i="0" u="none" strike="noStrike" kern="1200">
                          <a:solidFill>
                            <a:schemeClr val="dk1"/>
                          </a:solidFill>
                          <a:latin typeface="Arial"/>
                          <a:ea typeface="+mn-ea"/>
                          <a:cs typeface="+mn-cs"/>
                        </a:rPr>
                        <a:t>$350,000</a:t>
                      </a:r>
                    </a:p>
                    <a:p>
                      <a:pPr>
                        <a:lnSpc>
                          <a:spcPct val="150000"/>
                        </a:lnSpc>
                        <a:spcBef>
                          <a:spcPts val="300"/>
                        </a:spcBef>
                      </a:pPr>
                      <a:r>
                        <a:rPr lang="en-US" sz="1000" b="1" i="0" u="none" strike="noStrike" kern="1200">
                          <a:solidFill>
                            <a:schemeClr val="dk1"/>
                          </a:solidFill>
                          <a:latin typeface="Arial"/>
                          <a:ea typeface="+mn-ea"/>
                          <a:cs typeface="+mn-cs"/>
                        </a:rPr>
                        <a:t>Team working on : </a:t>
                      </a:r>
                      <a:r>
                        <a:rPr lang="en-US" sz="1000" b="0" i="0" u="none" strike="noStrike" kern="1200">
                          <a:solidFill>
                            <a:schemeClr val="dk1"/>
                          </a:solidFill>
                          <a:latin typeface="Arial"/>
                          <a:ea typeface="+mn-ea"/>
                          <a:cs typeface="+mn-cs"/>
                        </a:rPr>
                        <a:t>Business team, MIM</a:t>
                      </a:r>
                    </a:p>
                    <a:p>
                      <a:pPr>
                        <a:lnSpc>
                          <a:spcPct val="150000"/>
                        </a:lnSpc>
                        <a:spcBef>
                          <a:spcPts val="300"/>
                        </a:spcBef>
                      </a:pPr>
                      <a:r>
                        <a:rPr lang="en-US" sz="1000" b="1" i="0" u="none" strike="noStrike" kern="1200">
                          <a:solidFill>
                            <a:schemeClr val="dk1"/>
                          </a:solidFill>
                          <a:latin typeface="Arial"/>
                          <a:ea typeface="+mn-ea"/>
                          <a:cs typeface="+mn-cs"/>
                        </a:rPr>
                        <a:t>Resources allocated:</a:t>
                      </a:r>
                    </a:p>
                    <a:p>
                      <a:pPr>
                        <a:lnSpc>
                          <a:spcPct val="150000"/>
                        </a:lnSpc>
                        <a:spcBef>
                          <a:spcPts val="300"/>
                        </a:spcBef>
                      </a:pPr>
                      <a:r>
                        <a:rPr lang="en-US" sz="1000" b="1" i="0" u="none" strike="noStrike" kern="1200">
                          <a:solidFill>
                            <a:schemeClr val="dk1"/>
                          </a:solidFill>
                          <a:latin typeface="Arial"/>
                          <a:ea typeface="+mn-ea"/>
                          <a:cs typeface="+mn-cs"/>
                        </a:rPr>
                        <a:t>Future resource requirement: </a:t>
                      </a:r>
                      <a:r>
                        <a:rPr lang="en-US" sz="1000" b="0" i="0" u="none" strike="noStrike" kern="1200">
                          <a:solidFill>
                            <a:schemeClr val="dk1"/>
                          </a:solidFill>
                          <a:latin typeface="Arial"/>
                          <a:ea typeface="+mn-ea"/>
                          <a:cs typeface="+mn-cs"/>
                        </a:rPr>
                        <a:t>Test lead + 3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948982421"/>
                  </a:ext>
                </a:extLst>
              </a:tr>
            </a:tbl>
          </a:graphicData>
        </a:graphic>
      </p:graphicFrame>
      <p:graphicFrame>
        <p:nvGraphicFramePr>
          <p:cNvPr id="25" name="Table 24">
            <a:extLst>
              <a:ext uri="{FF2B5EF4-FFF2-40B4-BE49-F238E27FC236}">
                <a16:creationId xmlns:a16="http://schemas.microsoft.com/office/drawing/2014/main" id="{EFD7D98D-FCB9-590D-E91B-575DD5645F8F}"/>
              </a:ext>
            </a:extLst>
          </p:cNvPr>
          <p:cNvGraphicFramePr>
            <a:graphicFrameLocks noGrp="1"/>
          </p:cNvGraphicFramePr>
          <p:nvPr/>
        </p:nvGraphicFramePr>
        <p:xfrm>
          <a:off x="9006289" y="1331204"/>
          <a:ext cx="2742551" cy="2506786"/>
        </p:xfrm>
        <a:graphic>
          <a:graphicData uri="http://schemas.openxmlformats.org/drawingml/2006/table">
            <a:tbl>
              <a:tblPr firstRow="1" bandRow="1">
                <a:tableStyleId>{5C22544A-7EE6-4342-B048-85BDC9FD1C3A}</a:tableStyleId>
              </a:tblPr>
              <a:tblGrid>
                <a:gridCol w="2742551">
                  <a:extLst>
                    <a:ext uri="{9D8B030D-6E8A-4147-A177-3AD203B41FA5}">
                      <a16:colId xmlns:a16="http://schemas.microsoft.com/office/drawing/2014/main" val="2968135294"/>
                    </a:ext>
                  </a:extLst>
                </a:gridCol>
              </a:tblGrid>
              <a:tr h="309479">
                <a:tc>
                  <a:txBody>
                    <a:bodyPr/>
                    <a:lstStyle/>
                    <a:p>
                      <a:pPr marL="0" marR="0" lvl="0" indent="0" algn="ctr" defTabSz="914400" rtl="0" eaLnBrk="1" latinLnBrk="0" hangingPunct="1">
                        <a:lnSpc>
                          <a:spcPct val="100000"/>
                        </a:lnSpc>
                        <a:spcBef>
                          <a:spcPts val="0"/>
                        </a:spcBef>
                        <a:spcAft>
                          <a:spcPts val="600"/>
                        </a:spcAft>
                        <a:buClrTx/>
                        <a:buSzTx/>
                        <a:buFont typeface="Arial" panose="020B0604020202020204" pitchFamily="34" charset="0"/>
                        <a:buNone/>
                      </a:pPr>
                      <a:r>
                        <a:rPr lang="en-US" sz="1100" b="1" kern="1200">
                          <a:solidFill>
                            <a:schemeClr val="bg1"/>
                          </a:solidFill>
                          <a:latin typeface="+mn-lt"/>
                          <a:ea typeface="+mn-ea"/>
                          <a:cs typeface="+mn-cs"/>
                        </a:rPr>
                        <a:t>Overall Status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3517552727"/>
                  </a:ext>
                </a:extLst>
              </a:tr>
              <a:tr h="2197307">
                <a:tc>
                  <a:txBody>
                    <a:bodyPr/>
                    <a:lstStyle/>
                    <a:p>
                      <a:pPr marL="0" marR="0" lvl="0" indent="0" algn="l" rtl="0" eaLnBrk="1" fontAlgn="auto" latinLnBrk="0" hangingPunct="1">
                        <a:lnSpc>
                          <a:spcPct val="100000"/>
                        </a:lnSpc>
                        <a:spcBef>
                          <a:spcPts val="0"/>
                        </a:spcBef>
                        <a:spcAft>
                          <a:spcPts val="600"/>
                        </a:spcAft>
                        <a:buClrTx/>
                        <a:buSzTx/>
                        <a:buNone/>
                      </a:pPr>
                      <a:r>
                        <a:rPr lang="en-US" sz="1050" b="1" kern="1200" noProof="0">
                          <a:solidFill>
                            <a:schemeClr val="dk1"/>
                          </a:solidFill>
                          <a:effectLst/>
                          <a:latin typeface="Arial"/>
                          <a:ea typeface="+mn-ea"/>
                          <a:cs typeface="+mn-cs"/>
                        </a:rPr>
                        <a:t>Overall Status:</a:t>
                      </a:r>
                      <a:r>
                        <a:rPr lang="en-US" sz="1050" kern="1200" noProof="0">
                          <a:solidFill>
                            <a:schemeClr val="dk1"/>
                          </a:solidFill>
                          <a:effectLst/>
                          <a:latin typeface="Arial"/>
                          <a:ea typeface="+mn-ea"/>
                          <a:cs typeface="+mn-cs"/>
                        </a:rPr>
                        <a:t> </a:t>
                      </a:r>
                      <a:r>
                        <a:rPr lang="en-US" sz="1050" kern="1200" noProof="0">
                          <a:solidFill>
                            <a:schemeClr val="dk1"/>
                          </a:solidFill>
                          <a:effectLst/>
                          <a:highlight>
                            <a:srgbClr val="00FF00"/>
                          </a:highlight>
                          <a:latin typeface="+mn-lt"/>
                          <a:ea typeface="+mn-ea"/>
                          <a:cs typeface="+mn-cs"/>
                        </a:rPr>
                        <a:t>Green</a:t>
                      </a:r>
                      <a:endParaRPr lang="en-US" sz="1050" kern="1200" noProof="0">
                        <a:solidFill>
                          <a:schemeClr val="dk1"/>
                        </a:solidFill>
                        <a:effectLst/>
                        <a:highlight>
                          <a:srgbClr val="00FF00"/>
                        </a:highlight>
                        <a:latin typeface="Arial"/>
                        <a:ea typeface="+mn-ea"/>
                        <a:cs typeface="+mn-cs"/>
                      </a:endParaRPr>
                    </a:p>
                    <a:p>
                      <a:pPr marL="0" marR="0" lvl="0" indent="0" algn="l" defTabSz="914400" rtl="0" eaLnBrk="1" fontAlgn="auto" latinLnBrk="0" hangingPunct="1">
                        <a:lnSpc>
                          <a:spcPct val="100000"/>
                        </a:lnSpc>
                        <a:spcBef>
                          <a:spcPts val="0"/>
                        </a:spcBef>
                        <a:spcAft>
                          <a:spcPts val="600"/>
                        </a:spcAft>
                        <a:buClrTx/>
                        <a:buSzTx/>
                        <a:buNone/>
                        <a:tabLst/>
                        <a:defRPr/>
                      </a:pPr>
                      <a:r>
                        <a:rPr lang="en-US" sz="1050" b="1" kern="1200" noProof="0">
                          <a:solidFill>
                            <a:schemeClr val="dk1"/>
                          </a:solidFill>
                          <a:effectLst/>
                          <a:latin typeface="Arial"/>
                          <a:ea typeface="+mn-ea"/>
                          <a:cs typeface="+mn-cs"/>
                        </a:rPr>
                        <a:t>Scope:</a:t>
                      </a:r>
                      <a:r>
                        <a:rPr lang="en-US" sz="1050" kern="1200" noProof="0">
                          <a:solidFill>
                            <a:schemeClr val="dk1"/>
                          </a:solidFill>
                          <a:effectLst/>
                          <a:latin typeface="Arial"/>
                          <a:ea typeface="+mn-ea"/>
                          <a:cs typeface="+mn-cs"/>
                        </a:rPr>
                        <a:t>  </a:t>
                      </a:r>
                      <a:r>
                        <a:rPr lang="en-US" sz="1050" kern="1200" noProof="0">
                          <a:solidFill>
                            <a:schemeClr val="dk1"/>
                          </a:solidFill>
                          <a:effectLst/>
                          <a:highlight>
                            <a:srgbClr val="00FF00"/>
                          </a:highlight>
                          <a:latin typeface="Arial"/>
                          <a:ea typeface="+mn-ea"/>
                          <a:cs typeface="+mn-cs"/>
                        </a:rPr>
                        <a:t>Green</a:t>
                      </a:r>
                    </a:p>
                    <a:p>
                      <a:pPr marL="0" marR="0" lvl="0" indent="0" algn="l" defTabSz="914400" rtl="0" eaLnBrk="1" fontAlgn="auto" latinLnBrk="0" hangingPunct="1">
                        <a:lnSpc>
                          <a:spcPct val="100000"/>
                        </a:lnSpc>
                        <a:spcBef>
                          <a:spcPts val="0"/>
                        </a:spcBef>
                        <a:spcAft>
                          <a:spcPts val="600"/>
                        </a:spcAft>
                        <a:buClrTx/>
                        <a:buSzTx/>
                        <a:buNone/>
                        <a:tabLst/>
                        <a:defRPr/>
                      </a:pPr>
                      <a:r>
                        <a:rPr lang="en-US" sz="1050" b="1" kern="1200" noProof="0">
                          <a:solidFill>
                            <a:schemeClr val="dk1"/>
                          </a:solidFill>
                          <a:effectLst/>
                          <a:latin typeface="Arial"/>
                          <a:ea typeface="+mn-ea"/>
                          <a:cs typeface="+mn-cs"/>
                        </a:rPr>
                        <a:t>Schedule:</a:t>
                      </a:r>
                      <a:r>
                        <a:rPr lang="en-US" sz="1050" kern="1200" noProof="0">
                          <a:solidFill>
                            <a:schemeClr val="dk1"/>
                          </a:solidFill>
                          <a:effectLst/>
                          <a:latin typeface="Arial"/>
                          <a:ea typeface="+mn-ea"/>
                          <a:cs typeface="+mn-cs"/>
                        </a:rPr>
                        <a:t> </a:t>
                      </a:r>
                      <a:r>
                        <a:rPr lang="en-US" sz="1050" kern="1200" noProof="0">
                          <a:solidFill>
                            <a:schemeClr val="dk1"/>
                          </a:solidFill>
                          <a:effectLst/>
                          <a:highlight>
                            <a:srgbClr val="00FF00"/>
                          </a:highlight>
                          <a:latin typeface="+mn-lt"/>
                          <a:ea typeface="+mn-ea"/>
                          <a:cs typeface="+mn-cs"/>
                        </a:rPr>
                        <a:t>Green</a:t>
                      </a:r>
                    </a:p>
                    <a:p>
                      <a:pPr marL="0" marR="0" lvl="0" indent="0" algn="l" defTabSz="914400" rtl="0" eaLnBrk="1" fontAlgn="auto" latinLnBrk="0" hangingPunct="1">
                        <a:lnSpc>
                          <a:spcPct val="100000"/>
                        </a:lnSpc>
                        <a:spcBef>
                          <a:spcPts val="0"/>
                        </a:spcBef>
                        <a:spcAft>
                          <a:spcPts val="600"/>
                        </a:spcAft>
                        <a:buClrTx/>
                        <a:buSzTx/>
                        <a:buNone/>
                        <a:tabLst/>
                        <a:defRPr/>
                      </a:pPr>
                      <a:r>
                        <a:rPr lang="en-US" sz="1050" b="1" kern="1200" noProof="0">
                          <a:solidFill>
                            <a:schemeClr val="dk1"/>
                          </a:solidFill>
                          <a:effectLst/>
                          <a:latin typeface="Arial"/>
                          <a:ea typeface="+mn-ea"/>
                          <a:cs typeface="+mn-cs"/>
                        </a:rPr>
                        <a:t>Budget:</a:t>
                      </a:r>
                      <a:r>
                        <a:rPr lang="en-US" sz="1050" kern="1200" noProof="0">
                          <a:solidFill>
                            <a:schemeClr val="dk1"/>
                          </a:solidFill>
                          <a:effectLst/>
                          <a:latin typeface="Arial"/>
                          <a:ea typeface="+mn-ea"/>
                          <a:cs typeface="+mn-cs"/>
                        </a:rPr>
                        <a:t> </a:t>
                      </a:r>
                      <a:r>
                        <a:rPr lang="en-US" sz="1050" kern="1200" noProof="0">
                          <a:solidFill>
                            <a:schemeClr val="dk1"/>
                          </a:solidFill>
                          <a:effectLst/>
                          <a:highlight>
                            <a:srgbClr val="00FF00"/>
                          </a:highlight>
                          <a:latin typeface="Arial"/>
                          <a:ea typeface="+mn-ea"/>
                          <a:cs typeface="+mn-cs"/>
                        </a:rPr>
                        <a:t>Green</a:t>
                      </a:r>
                    </a:p>
                    <a:p>
                      <a:pPr marL="0" marR="0" lvl="0" indent="0" algn="l" defTabSz="914400" rtl="0" eaLnBrk="1" fontAlgn="base" latinLnBrk="0" hangingPunct="1">
                        <a:lnSpc>
                          <a:spcPct val="100000"/>
                        </a:lnSpc>
                        <a:spcBef>
                          <a:spcPts val="0"/>
                        </a:spcBef>
                        <a:spcAft>
                          <a:spcPts val="600"/>
                        </a:spcAft>
                        <a:buClrTx/>
                        <a:buSzTx/>
                        <a:buFont typeface="Arial" panose="020B0604020202020204" pitchFamily="34" charset="0"/>
                        <a:buNone/>
                      </a:pPr>
                      <a:endParaRPr lang="en-US" sz="1400" b="0" kern="1200">
                        <a:solidFill>
                          <a:schemeClr val="dk1"/>
                        </a:solidFill>
                        <a:latin typeface="Arial"/>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948982421"/>
                  </a:ext>
                </a:extLst>
              </a:tr>
            </a:tbl>
          </a:graphicData>
        </a:graphic>
      </p:graphicFrame>
      <p:graphicFrame>
        <p:nvGraphicFramePr>
          <p:cNvPr id="33" name="Table 32">
            <a:extLst>
              <a:ext uri="{FF2B5EF4-FFF2-40B4-BE49-F238E27FC236}">
                <a16:creationId xmlns:a16="http://schemas.microsoft.com/office/drawing/2014/main" id="{AAB5C356-8048-EEE3-FAE2-276F8195E61F}"/>
              </a:ext>
            </a:extLst>
          </p:cNvPr>
          <p:cNvGraphicFramePr>
            <a:graphicFrameLocks noGrp="1"/>
          </p:cNvGraphicFramePr>
          <p:nvPr/>
        </p:nvGraphicFramePr>
        <p:xfrm>
          <a:off x="279159" y="1313171"/>
          <a:ext cx="5670346" cy="5314744"/>
        </p:xfrm>
        <a:graphic>
          <a:graphicData uri="http://schemas.openxmlformats.org/drawingml/2006/table">
            <a:tbl>
              <a:tblPr firstRow="1" bandRow="1">
                <a:tableStyleId>{5C22544A-7EE6-4342-B048-85BDC9FD1C3A}</a:tableStyleId>
              </a:tblPr>
              <a:tblGrid>
                <a:gridCol w="5670346">
                  <a:extLst>
                    <a:ext uri="{9D8B030D-6E8A-4147-A177-3AD203B41FA5}">
                      <a16:colId xmlns:a16="http://schemas.microsoft.com/office/drawing/2014/main" val="2968135294"/>
                    </a:ext>
                  </a:extLst>
                </a:gridCol>
              </a:tblGrid>
              <a:tr h="252574">
                <a:tc>
                  <a:txBody>
                    <a:bodyPr/>
                    <a:lstStyle/>
                    <a:p>
                      <a:pPr algn="ctr"/>
                      <a:r>
                        <a:rPr lang="en-US" sz="1100" b="1" kern="1200">
                          <a:solidFill>
                            <a:schemeClr val="bg1"/>
                          </a:solidFill>
                          <a:latin typeface="+mn-lt"/>
                          <a:ea typeface="+mn-ea"/>
                          <a:cs typeface="+mn-cs"/>
                        </a:rPr>
                        <a:t>Overview</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3517552727"/>
                  </a:ext>
                </a:extLst>
              </a:tr>
              <a:tr h="3313180">
                <a:tc>
                  <a:txBody>
                    <a:bodyPr/>
                    <a:lstStyle/>
                    <a:p>
                      <a:pPr marL="0" lvl="0" indent="0" algn="l">
                        <a:lnSpc>
                          <a:spcPct val="100000"/>
                        </a:lnSpc>
                        <a:spcBef>
                          <a:spcPts val="200"/>
                        </a:spcBef>
                        <a:spcAft>
                          <a:spcPts val="0"/>
                        </a:spcAft>
                        <a:buNone/>
                      </a:pPr>
                      <a:r>
                        <a:rPr lang="en-US" sz="850" b="1" i="0" u="none" strike="noStrike" noProof="0">
                          <a:latin typeface="+mn-lt"/>
                        </a:rPr>
                        <a:t>This project is aims to migrate the current Guidewire classic platform to Guidewire cloud infrastructure, w</a:t>
                      </a:r>
                      <a:r>
                        <a:rPr lang="en-US" sz="850" b="1" i="0" u="none" strike="noStrike" kern="1200" err="1">
                          <a:solidFill>
                            <a:schemeClr val="dk1"/>
                          </a:solidFill>
                          <a:latin typeface="+mn-lt"/>
                          <a:ea typeface="+mn-ea"/>
                          <a:cs typeface="+mn-cs"/>
                        </a:rPr>
                        <a:t>hich</a:t>
                      </a:r>
                      <a:r>
                        <a:rPr lang="en-US" sz="850" b="1" i="0" u="none" strike="noStrike" kern="1200">
                          <a:solidFill>
                            <a:schemeClr val="dk1"/>
                          </a:solidFill>
                          <a:latin typeface="+mn-lt"/>
                          <a:ea typeface="+mn-ea"/>
                          <a:cs typeface="+mn-cs"/>
                        </a:rPr>
                        <a:t> is a secure, reliable, and scalable environment where you can build, deploy, and manage insurance software in the cloud.</a:t>
                      </a:r>
                      <a:endParaRPr lang="en-US" sz="850"/>
                    </a:p>
                    <a:p>
                      <a:pPr marL="0" lvl="0" indent="0" algn="l">
                        <a:lnSpc>
                          <a:spcPct val="100000"/>
                        </a:lnSpc>
                        <a:spcBef>
                          <a:spcPts val="200"/>
                        </a:spcBef>
                        <a:spcAft>
                          <a:spcPts val="0"/>
                        </a:spcAft>
                        <a:buNone/>
                      </a:pPr>
                      <a:r>
                        <a:rPr lang="en-US" sz="900" b="1" i="0" u="none" strike="noStrike" noProof="0">
                          <a:highlight>
                            <a:srgbClr val="00FF00"/>
                          </a:highlight>
                          <a:latin typeface="+mn-lt"/>
                        </a:rPr>
                        <a:t>Scope</a:t>
                      </a:r>
                      <a:r>
                        <a:rPr lang="en-US" sz="900" b="1" i="0" u="none" strike="noStrike" noProof="0">
                          <a:latin typeface="+mn-lt"/>
                        </a:rPr>
                        <a:t>: </a:t>
                      </a:r>
                    </a:p>
                    <a:p>
                      <a:pPr marL="171450" lvl="0" indent="-171450" algn="l">
                        <a:lnSpc>
                          <a:spcPct val="100000"/>
                        </a:lnSpc>
                        <a:spcBef>
                          <a:spcPts val="200"/>
                        </a:spcBef>
                        <a:spcAft>
                          <a:spcPts val="0"/>
                        </a:spcAft>
                        <a:buFont typeface="Arial"/>
                        <a:buChar char="•"/>
                      </a:pPr>
                      <a:r>
                        <a:rPr lang="en-US" sz="900" b="0" i="0" u="none" strike="noStrike" noProof="0">
                          <a:latin typeface="+mn-lt"/>
                        </a:rPr>
                        <a:t>Initial NW dev support to GWCP lift and shift and E2E testing Scope is defined</a:t>
                      </a:r>
                      <a:endParaRPr lang="en-US" sz="900"/>
                    </a:p>
                    <a:p>
                      <a:pPr marL="171450" lvl="0" indent="-171450" algn="l">
                        <a:lnSpc>
                          <a:spcPct val="100000"/>
                        </a:lnSpc>
                        <a:spcBef>
                          <a:spcPts val="200"/>
                        </a:spcBef>
                        <a:spcAft>
                          <a:spcPts val="0"/>
                        </a:spcAft>
                        <a:buFont typeface="Arial"/>
                        <a:buChar char="•"/>
                      </a:pPr>
                      <a:r>
                        <a:rPr lang="en-US" sz="900" b="0" i="0" u="none" strike="noStrike" noProof="0">
                          <a:latin typeface="+mn-lt"/>
                        </a:rPr>
                        <a:t>Scope refinement and finalization in progress and targeted on 01/22 - Complete</a:t>
                      </a:r>
                      <a:endParaRPr lang="en-US" sz="900" b="0">
                        <a:latin typeface="+mn-lt"/>
                      </a:endParaRPr>
                    </a:p>
                    <a:p>
                      <a:pPr marL="0" lvl="0" indent="0" algn="l">
                        <a:lnSpc>
                          <a:spcPct val="100000"/>
                        </a:lnSpc>
                        <a:spcBef>
                          <a:spcPts val="200"/>
                        </a:spcBef>
                        <a:spcAft>
                          <a:spcPts val="0"/>
                        </a:spcAft>
                        <a:buNone/>
                      </a:pPr>
                      <a:r>
                        <a:rPr lang="en-US" sz="900" b="1" i="0" u="none" strike="noStrike" noProof="0">
                          <a:highlight>
                            <a:srgbClr val="00FF00"/>
                          </a:highlight>
                          <a:latin typeface="+mn-lt"/>
                        </a:rPr>
                        <a:t>Planning:</a:t>
                      </a:r>
                      <a:r>
                        <a:rPr lang="en-US" sz="900" b="1" i="0" u="none" strike="noStrike" noProof="0">
                          <a:latin typeface="+mn-lt"/>
                        </a:rPr>
                        <a:t>  </a:t>
                      </a:r>
                      <a:r>
                        <a:rPr lang="en-US" sz="900" b="0" i="0" u="none" strike="noStrike" noProof="0">
                          <a:latin typeface="+mn-lt"/>
                        </a:rPr>
                        <a:t>In Progress ETA 1/27 </a:t>
                      </a:r>
                    </a:p>
                    <a:p>
                      <a:pPr marL="171450" lvl="0" indent="-171450" algn="l">
                        <a:lnSpc>
                          <a:spcPct val="100000"/>
                        </a:lnSpc>
                        <a:spcBef>
                          <a:spcPts val="200"/>
                        </a:spcBef>
                        <a:spcAft>
                          <a:spcPts val="0"/>
                        </a:spcAft>
                        <a:buFont typeface="Arial"/>
                        <a:buChar char="•"/>
                      </a:pPr>
                      <a:r>
                        <a:rPr lang="en-US" sz="900" b="0" i="0" u="none" strike="noStrike" noProof="0">
                          <a:latin typeface="+mn-lt"/>
                        </a:rPr>
                        <a:t>Cross application dependencies needs to be factored in</a:t>
                      </a:r>
                    </a:p>
                    <a:p>
                      <a:pPr marL="171450" lvl="0" indent="-171450" algn="l">
                        <a:lnSpc>
                          <a:spcPct val="100000"/>
                        </a:lnSpc>
                        <a:spcBef>
                          <a:spcPts val="200"/>
                        </a:spcBef>
                        <a:spcAft>
                          <a:spcPts val="0"/>
                        </a:spcAft>
                        <a:buFont typeface="Arial"/>
                        <a:buChar char="•"/>
                      </a:pPr>
                      <a:r>
                        <a:rPr lang="en-US" sz="900" b="0" i="0" u="none" strike="noStrike" noProof="0">
                          <a:latin typeface="+mn-lt"/>
                        </a:rPr>
                        <a:t>Kickoff call completed on 02/18</a:t>
                      </a:r>
                    </a:p>
                    <a:p>
                      <a:pPr marL="0" lvl="0" indent="0" algn="l">
                        <a:lnSpc>
                          <a:spcPct val="100000"/>
                        </a:lnSpc>
                        <a:spcBef>
                          <a:spcPts val="200"/>
                        </a:spcBef>
                        <a:spcAft>
                          <a:spcPts val="0"/>
                        </a:spcAft>
                        <a:buNone/>
                      </a:pPr>
                      <a:r>
                        <a:rPr lang="en-US" sz="900" b="1" i="0" u="none" strike="noStrike" noProof="0">
                          <a:highlight>
                            <a:srgbClr val="00FF00"/>
                          </a:highlight>
                          <a:latin typeface="+mn-lt"/>
                        </a:rPr>
                        <a:t>Current state</a:t>
                      </a:r>
                    </a:p>
                    <a:p>
                      <a:pPr marL="171450" lvl="0" indent="-171450" algn="l">
                        <a:lnSpc>
                          <a:spcPct val="100000"/>
                        </a:lnSpc>
                        <a:spcBef>
                          <a:spcPts val="200"/>
                        </a:spcBef>
                        <a:spcAft>
                          <a:spcPts val="0"/>
                        </a:spcAft>
                        <a:buFont typeface="Arial"/>
                        <a:buChar char="•"/>
                      </a:pPr>
                      <a:r>
                        <a:rPr lang="en-US" sz="900" b="0" i="0" u="none" strike="noStrike" noProof="0">
                          <a:latin typeface="+mn-lt"/>
                        </a:rPr>
                        <a:t>Initial NW dev support to GWCP lift and shift  - </a:t>
                      </a:r>
                      <a:r>
                        <a:rPr lang="en-US" sz="900" b="0" i="0" u="none" strike="noStrike" noProof="0">
                          <a:highlight>
                            <a:srgbClr val="00FF00"/>
                          </a:highlight>
                          <a:latin typeface="+mn-lt"/>
                        </a:rPr>
                        <a:t>Complete</a:t>
                      </a:r>
                      <a:endParaRPr lang="en-US" sz="900">
                        <a:highlight>
                          <a:srgbClr val="00FF00"/>
                        </a:highlight>
                      </a:endParaRPr>
                    </a:p>
                    <a:p>
                      <a:pPr marL="171450" lvl="0" indent="-171450" algn="l">
                        <a:lnSpc>
                          <a:spcPct val="100000"/>
                        </a:lnSpc>
                        <a:spcBef>
                          <a:spcPts val="200"/>
                        </a:spcBef>
                        <a:spcAft>
                          <a:spcPts val="0"/>
                        </a:spcAft>
                        <a:buFont typeface="Arial" panose="020B0604020202020204" pitchFamily="34" charset="0"/>
                        <a:buChar char="•"/>
                      </a:pPr>
                      <a:r>
                        <a:rPr lang="en-US" sz="900" b="0" i="0" u="none" strike="noStrike" noProof="0">
                          <a:latin typeface="+mn-lt"/>
                        </a:rPr>
                        <a:t>Environment setup on QA and PERF – </a:t>
                      </a:r>
                      <a:r>
                        <a:rPr lang="en-US" sz="900" b="0" i="0" u="none" strike="noStrike" noProof="0">
                          <a:highlight>
                            <a:srgbClr val="00FF00"/>
                          </a:highlight>
                          <a:latin typeface="+mn-lt"/>
                        </a:rPr>
                        <a:t>Complete</a:t>
                      </a:r>
                    </a:p>
                    <a:p>
                      <a:pPr marL="171450" lvl="0" indent="-171450" algn="l">
                        <a:lnSpc>
                          <a:spcPct val="100000"/>
                        </a:lnSpc>
                        <a:spcBef>
                          <a:spcPts val="200"/>
                        </a:spcBef>
                        <a:spcAft>
                          <a:spcPts val="0"/>
                        </a:spcAft>
                        <a:buFont typeface="Arial" panose="020B0604020202020204" pitchFamily="34" charset="0"/>
                        <a:buChar char="•"/>
                      </a:pPr>
                      <a:r>
                        <a:rPr lang="en-US" sz="900" b="0" i="0" u="none" strike="noStrike" noProof="0">
                          <a:latin typeface="+mn-lt"/>
                        </a:rPr>
                        <a:t>Technical session with the lines – 3/4 -  </a:t>
                      </a:r>
                      <a:r>
                        <a:rPr lang="en-US" sz="900" b="0" i="0" u="none" strike="noStrike" noProof="0">
                          <a:highlight>
                            <a:srgbClr val="00FF00"/>
                          </a:highlight>
                          <a:latin typeface="+mn-lt"/>
                        </a:rPr>
                        <a:t>Complete</a:t>
                      </a:r>
                    </a:p>
                    <a:p>
                      <a:pPr marL="171450" marR="0" lvl="0" indent="-171450" algn="l" rtl="0" eaLnBrk="1" fontAlgn="auto" latinLnBrk="0" hangingPunct="1">
                        <a:lnSpc>
                          <a:spcPct val="100000"/>
                        </a:lnSpc>
                        <a:spcBef>
                          <a:spcPts val="200"/>
                        </a:spcBef>
                        <a:spcAft>
                          <a:spcPts val="0"/>
                        </a:spcAft>
                        <a:buClrTx/>
                        <a:buSzTx/>
                        <a:buFont typeface="Arial" panose="020B0604020202020204" pitchFamily="34" charset="0"/>
                        <a:buChar char="•"/>
                      </a:pPr>
                      <a:r>
                        <a:rPr lang="en-US" sz="900" b="0" i="0" u="none" strike="noStrike" noProof="0">
                          <a:latin typeface="+mn-lt"/>
                        </a:rPr>
                        <a:t>3/20 SS team to hand over the environments to other lines for testing 4/05 – </a:t>
                      </a:r>
                      <a:r>
                        <a:rPr lang="en-US" sz="900" b="0" i="0" u="none" strike="noStrike" noProof="0">
                          <a:highlight>
                            <a:srgbClr val="00FF00"/>
                          </a:highlight>
                          <a:latin typeface="+mn-lt"/>
                        </a:rPr>
                        <a:t>Complete</a:t>
                      </a:r>
                    </a:p>
                    <a:p>
                      <a:pPr marL="171450" lvl="0" indent="-171450" algn="l">
                        <a:lnSpc>
                          <a:spcPct val="100000"/>
                        </a:lnSpc>
                        <a:spcBef>
                          <a:spcPts val="200"/>
                        </a:spcBef>
                        <a:spcAft>
                          <a:spcPts val="0"/>
                        </a:spcAft>
                        <a:buFont typeface="Arial" panose="020B0604020202020204" pitchFamily="34" charset="0"/>
                        <a:buChar char="•"/>
                      </a:pPr>
                      <a:r>
                        <a:rPr lang="en-US" sz="900" b="0" i="0" u="none" strike="noStrike" noProof="0">
                          <a:latin typeface="+mn-lt"/>
                        </a:rPr>
                        <a:t>e2e testing by all lines - </a:t>
                      </a:r>
                      <a:r>
                        <a:rPr lang="en-US" sz="900" b="0" i="0" u="none" strike="noStrike" noProof="0">
                          <a:highlight>
                            <a:srgbClr val="00FF00"/>
                          </a:highlight>
                          <a:latin typeface="+mn-lt"/>
                        </a:rPr>
                        <a:t>Complete</a:t>
                      </a:r>
                    </a:p>
                    <a:p>
                      <a:pPr marL="171450" lvl="0" indent="-171450" algn="l">
                        <a:lnSpc>
                          <a:spcPct val="100000"/>
                        </a:lnSpc>
                        <a:spcBef>
                          <a:spcPts val="200"/>
                        </a:spcBef>
                        <a:spcAft>
                          <a:spcPts val="0"/>
                        </a:spcAft>
                        <a:buFont typeface="Arial" panose="020B0604020202020204" pitchFamily="34" charset="0"/>
                        <a:buChar char="•"/>
                      </a:pPr>
                      <a:r>
                        <a:rPr lang="en-US" sz="900" b="0" i="0" u="none" strike="noStrike" noProof="0">
                          <a:latin typeface="+mn-lt"/>
                        </a:rPr>
                        <a:t>UAT completed and sign off – </a:t>
                      </a:r>
                      <a:r>
                        <a:rPr lang="en-US" sz="900" b="0" i="0" u="none" strike="noStrike" noProof="0">
                          <a:highlight>
                            <a:srgbClr val="00FF00"/>
                          </a:highlight>
                          <a:latin typeface="+mn-lt"/>
                        </a:rPr>
                        <a:t>Complete</a:t>
                      </a:r>
                    </a:p>
                    <a:p>
                      <a:pPr marL="0" lvl="0" indent="0" algn="l">
                        <a:lnSpc>
                          <a:spcPct val="100000"/>
                        </a:lnSpc>
                        <a:spcBef>
                          <a:spcPts val="200"/>
                        </a:spcBef>
                        <a:spcAft>
                          <a:spcPts val="0"/>
                        </a:spcAft>
                        <a:buNone/>
                      </a:pPr>
                      <a:r>
                        <a:rPr lang="en-US" sz="900" b="1" i="0" u="none" strike="noStrike" noProof="0">
                          <a:highlight>
                            <a:srgbClr val="00FF00"/>
                          </a:highlight>
                          <a:latin typeface="+mn-lt"/>
                        </a:rPr>
                        <a:t>Target Q2 2026 </a:t>
                      </a:r>
                    </a:p>
                    <a:p>
                      <a:pPr marL="0" marR="0" lvl="0" indent="0" algn="l" defTabSz="914400" rtl="0" eaLnBrk="1" fontAlgn="auto" latinLnBrk="0" hangingPunct="1">
                        <a:lnSpc>
                          <a:spcPct val="100000"/>
                        </a:lnSpc>
                        <a:spcBef>
                          <a:spcPts val="200"/>
                        </a:spcBef>
                        <a:spcAft>
                          <a:spcPts val="0"/>
                        </a:spcAft>
                        <a:buClrTx/>
                        <a:buSzTx/>
                        <a:buFontTx/>
                        <a:buNone/>
                        <a:tabLst/>
                        <a:defRPr/>
                      </a:pPr>
                      <a:r>
                        <a:rPr lang="en-US" sz="900" b="0" i="0" u="none" strike="noStrike" noProof="0">
                          <a:latin typeface="+mn-lt"/>
                        </a:rPr>
                        <a:t>-     Go/no GO scheduled on 05/29</a:t>
                      </a:r>
                      <a:endParaRPr lang="en-US" sz="900" b="1" i="0" u="none" strike="noStrike" noProof="0">
                        <a:highlight>
                          <a:srgbClr val="00FF00"/>
                        </a:highlight>
                        <a:latin typeface="+mn-lt"/>
                      </a:endParaRPr>
                    </a:p>
                    <a:p>
                      <a:pPr marL="171450" lvl="0" indent="-171450" algn="l">
                        <a:lnSpc>
                          <a:spcPct val="100000"/>
                        </a:lnSpc>
                        <a:spcBef>
                          <a:spcPts val="200"/>
                        </a:spcBef>
                        <a:spcAft>
                          <a:spcPts val="0"/>
                        </a:spcAft>
                        <a:buFont typeface="Arial"/>
                        <a:buChar char="•"/>
                      </a:pPr>
                      <a:r>
                        <a:rPr lang="en-US" sz="900" b="0" i="0" u="none" strike="noStrike" noProof="0">
                          <a:latin typeface="+mn-lt"/>
                        </a:rPr>
                        <a:t> Production deployment targeted on 06/12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948982421"/>
                  </a:ext>
                </a:extLst>
              </a:tr>
              <a:tr h="1742484">
                <a:tc>
                  <a:txBody>
                    <a:bodyPr/>
                    <a:lstStyle/>
                    <a:p>
                      <a:pPr marL="0" lvl="0" indent="0" algn="l">
                        <a:lnSpc>
                          <a:spcPct val="100000"/>
                        </a:lnSpc>
                        <a:spcBef>
                          <a:spcPts val="200"/>
                        </a:spcBef>
                        <a:spcAft>
                          <a:spcPts val="0"/>
                        </a:spcAft>
                        <a:buNone/>
                      </a:pPr>
                      <a:endParaRPr lang="en-US" sz="850" b="0" i="0" u="none" strike="noStrike" noProof="0">
                        <a:latin typeface="+mn-lt"/>
                      </a:endParaRPr>
                    </a:p>
                  </a:txBody>
                  <a:tcPr>
                    <a:lnL w="12700">
                      <a:solidFill>
                        <a:schemeClr val="tx1"/>
                      </a:solidFill>
                    </a:lnL>
                    <a:lnR w="12700">
                      <a:solidFill>
                        <a:schemeClr val="tx1"/>
                      </a:solidFill>
                    </a:lnR>
                    <a:lnT w="12700">
                      <a:solidFill>
                        <a:schemeClr val="tx1"/>
                      </a:solidFill>
                    </a:lnT>
                    <a:lnB w="12700">
                      <a:solidFill>
                        <a:schemeClr val="tx1"/>
                      </a:solidFill>
                    </a:lnB>
                    <a:solidFill>
                      <a:schemeClr val="bg1">
                        <a:lumMod val="95000"/>
                      </a:schemeClr>
                    </a:solidFill>
                  </a:tcPr>
                </a:tc>
                <a:extLst>
                  <a:ext uri="{0D108BD9-81ED-4DB2-BD59-A6C34878D82A}">
                    <a16:rowId xmlns:a16="http://schemas.microsoft.com/office/drawing/2014/main" val="1697471283"/>
                  </a:ext>
                </a:extLst>
              </a:tr>
            </a:tbl>
          </a:graphicData>
        </a:graphic>
      </p:graphicFrame>
      <p:graphicFrame>
        <p:nvGraphicFramePr>
          <p:cNvPr id="21" name="Table 20">
            <a:extLst>
              <a:ext uri="{FF2B5EF4-FFF2-40B4-BE49-F238E27FC236}">
                <a16:creationId xmlns:a16="http://schemas.microsoft.com/office/drawing/2014/main" id="{67585A15-C5B3-C547-1E3E-499C60223351}"/>
              </a:ext>
            </a:extLst>
          </p:cNvPr>
          <p:cNvGraphicFramePr>
            <a:graphicFrameLocks noGrp="1"/>
          </p:cNvGraphicFramePr>
          <p:nvPr/>
        </p:nvGraphicFramePr>
        <p:xfrm>
          <a:off x="5995011" y="3815625"/>
          <a:ext cx="5742439" cy="3047999"/>
        </p:xfrm>
        <a:graphic>
          <a:graphicData uri="http://schemas.openxmlformats.org/drawingml/2006/table">
            <a:tbl>
              <a:tblPr firstRow="1" bandRow="1">
                <a:tableStyleId>{5C22544A-7EE6-4342-B048-85BDC9FD1C3A}</a:tableStyleId>
              </a:tblPr>
              <a:tblGrid>
                <a:gridCol w="5742439">
                  <a:extLst>
                    <a:ext uri="{9D8B030D-6E8A-4147-A177-3AD203B41FA5}">
                      <a16:colId xmlns:a16="http://schemas.microsoft.com/office/drawing/2014/main" val="2968135294"/>
                    </a:ext>
                  </a:extLst>
                </a:gridCol>
              </a:tblGrid>
              <a:tr h="329843">
                <a:tc>
                  <a:txBody>
                    <a:bodyPr/>
                    <a:lstStyle/>
                    <a:p>
                      <a:pPr algn="ctr"/>
                      <a:r>
                        <a:rPr lang="en-US" sz="1100" b="1" i="0">
                          <a:latin typeface="Arial"/>
                        </a:rPr>
                        <a:t>Accomplishments/Risks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3517552727"/>
                  </a:ext>
                </a:extLst>
              </a:tr>
              <a:tr h="2718156">
                <a:tc>
                  <a:txBody>
                    <a:bodyPr/>
                    <a:lstStyle/>
                    <a:p>
                      <a:pPr marL="0" lvl="0" indent="0">
                        <a:spcBef>
                          <a:spcPts val="300"/>
                        </a:spcBef>
                        <a:buNone/>
                      </a:pPr>
                      <a:endParaRPr lang="en-US" sz="900" b="1"/>
                    </a:p>
                    <a:p>
                      <a:pPr marL="0" lvl="0" indent="0">
                        <a:spcBef>
                          <a:spcPts val="300"/>
                        </a:spcBef>
                        <a:buNone/>
                      </a:pPr>
                      <a:r>
                        <a:rPr lang="en-US" sz="1000" b="1">
                          <a:latin typeface="Arial"/>
                        </a:rPr>
                        <a:t>Risk: </a:t>
                      </a:r>
                    </a:p>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lang="en-US" sz="1000">
                          <a:latin typeface="Arial"/>
                        </a:rPr>
                        <a:t>Classic lower environments platform will be decommissioned after June 12</a:t>
                      </a:r>
                      <a:r>
                        <a:rPr lang="en-US" sz="1000" baseline="30000">
                          <a:latin typeface="Arial"/>
                        </a:rPr>
                        <a:t>th</a:t>
                      </a:r>
                      <a:r>
                        <a:rPr lang="en-US" sz="1000">
                          <a:latin typeface="Arial"/>
                        </a:rPr>
                        <a:t>, this has ben communicated to all the lines</a:t>
                      </a:r>
                    </a:p>
                    <a:p>
                      <a:pPr marL="0" lvl="0" indent="0">
                        <a:spcBef>
                          <a:spcPts val="300"/>
                        </a:spcBef>
                        <a:buFont typeface="Arial"/>
                        <a:buNone/>
                      </a:pPr>
                      <a:r>
                        <a:rPr lang="en-US" sz="1000" b="1">
                          <a:latin typeface="Arial"/>
                        </a:rPr>
                        <a:t>Mitigation: </a:t>
                      </a:r>
                    </a:p>
                    <a:p>
                      <a:pPr marL="171450" lvl="0" indent="-171450">
                        <a:spcBef>
                          <a:spcPts val="300"/>
                        </a:spcBef>
                        <a:buFont typeface="Arial"/>
                        <a:buChar char="•"/>
                      </a:pPr>
                      <a:r>
                        <a:rPr lang="en-US" sz="1000">
                          <a:latin typeface="Arial"/>
                        </a:rPr>
                        <a:t>Build and align on the overall strategy for environment utilization and deployment governance</a:t>
                      </a:r>
                    </a:p>
                    <a:p>
                      <a:pPr marL="171450" lvl="0" indent="-171450">
                        <a:spcBef>
                          <a:spcPts val="300"/>
                        </a:spcBef>
                        <a:buFont typeface="Arial" panose="020B0604020202020204" pitchFamily="34" charset="0"/>
                        <a:buChar char="•"/>
                      </a:pPr>
                      <a:r>
                        <a:rPr lang="en-US" sz="1000">
                          <a:latin typeface="Arial"/>
                        </a:rPr>
                        <a:t>Maintain close communication with GWCP team to ensure the environments are always available for testing</a:t>
                      </a:r>
                    </a:p>
                    <a:p>
                      <a:pPr marL="171450" lvl="0" indent="-171450">
                        <a:spcBef>
                          <a:spcPts val="300"/>
                        </a:spcBef>
                        <a:buFont typeface="Arial" panose="020B0604020202020204" pitchFamily="34" charset="0"/>
                        <a:buChar char="•"/>
                      </a:pPr>
                      <a:r>
                        <a:rPr lang="en-US" sz="1000">
                          <a:latin typeface="Arial"/>
                        </a:rPr>
                        <a:t>Making sure teams continue use Cloud environments.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948982421"/>
                  </a:ext>
                </a:extLst>
              </a:tr>
            </a:tbl>
          </a:graphicData>
        </a:graphic>
      </p:graphicFrame>
      <p:graphicFrame>
        <p:nvGraphicFramePr>
          <p:cNvPr id="11" name="Table 10">
            <a:extLst>
              <a:ext uri="{FF2B5EF4-FFF2-40B4-BE49-F238E27FC236}">
                <a16:creationId xmlns:a16="http://schemas.microsoft.com/office/drawing/2014/main" id="{D414BBA2-7021-7BA3-49D0-F2B94C92D68D}"/>
              </a:ext>
            </a:extLst>
          </p:cNvPr>
          <p:cNvGraphicFramePr>
            <a:graphicFrameLocks noGrp="1"/>
          </p:cNvGraphicFramePr>
          <p:nvPr/>
        </p:nvGraphicFramePr>
        <p:xfrm>
          <a:off x="278780" y="4899899"/>
          <a:ext cx="5680036" cy="1961008"/>
        </p:xfrm>
        <a:graphic>
          <a:graphicData uri="http://schemas.openxmlformats.org/drawingml/2006/table">
            <a:tbl>
              <a:tblPr firstRow="1" bandRow="1">
                <a:tableStyleId>{5C22544A-7EE6-4342-B048-85BDC9FD1C3A}</a:tableStyleId>
              </a:tblPr>
              <a:tblGrid>
                <a:gridCol w="5680036">
                  <a:extLst>
                    <a:ext uri="{9D8B030D-6E8A-4147-A177-3AD203B41FA5}">
                      <a16:colId xmlns:a16="http://schemas.microsoft.com/office/drawing/2014/main" val="2968135294"/>
                    </a:ext>
                  </a:extLst>
                </a:gridCol>
              </a:tblGrid>
              <a:tr h="269369">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050" b="1" kern="1200">
                          <a:solidFill>
                            <a:schemeClr val="bg1"/>
                          </a:solidFill>
                          <a:latin typeface="+mn-lt"/>
                          <a:ea typeface="+mn-ea"/>
                          <a:cs typeface="+mn-cs"/>
                        </a:rPr>
                        <a:t>Dependencies/Assumptions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3517552727"/>
                  </a:ext>
                </a:extLst>
              </a:tr>
              <a:tr h="1691639">
                <a:tc>
                  <a:txBody>
                    <a:bodyPr/>
                    <a:lstStyle/>
                    <a:p>
                      <a:pPr fontAlgn="t">
                        <a:lnSpc>
                          <a:spcPts val="1500"/>
                        </a:lnSpc>
                        <a:buNone/>
                      </a:pPr>
                      <a:r>
                        <a:rPr lang="en-US" sz="1000" b="1" i="0">
                          <a:effectLst/>
                          <a:latin typeface="Arial"/>
                        </a:rPr>
                        <a:t>Environment Strategy for Upcoming Releases</a:t>
                      </a:r>
                    </a:p>
                    <a:p>
                      <a:pPr fontAlgn="t">
                        <a:lnSpc>
                          <a:spcPts val="1500"/>
                        </a:lnSpc>
                        <a:buNone/>
                      </a:pPr>
                      <a:r>
                        <a:rPr lang="en-US" sz="1000" b="0" i="0">
                          <a:effectLst/>
                          <a:latin typeface="Arial"/>
                        </a:rPr>
                        <a:t>The team are leveraging </a:t>
                      </a:r>
                      <a:r>
                        <a:rPr lang="en-US" sz="1000" b="1" i="0">
                          <a:effectLst/>
                          <a:latin typeface="Arial"/>
                        </a:rPr>
                        <a:t>GWCP lower‑tier environments</a:t>
                      </a:r>
                      <a:r>
                        <a:rPr lang="en-US" sz="1000" b="0" i="0">
                          <a:effectLst/>
                          <a:latin typeface="Arial"/>
                        </a:rPr>
                        <a:t> for the next </a:t>
                      </a:r>
                      <a:r>
                        <a:rPr lang="en-US" sz="1000" b="1" i="0">
                          <a:effectLst/>
                          <a:latin typeface="Arial"/>
                        </a:rPr>
                        <a:t>three months of releases</a:t>
                      </a:r>
                      <a:r>
                        <a:rPr lang="en-US" sz="1000" b="0" i="0">
                          <a:effectLst/>
                          <a:latin typeface="Arial"/>
                        </a:rPr>
                        <a:t>.</a:t>
                      </a:r>
                      <a:br>
                        <a:rPr lang="en-US" sz="1000" b="0" i="0">
                          <a:effectLst/>
                          <a:latin typeface="Arial"/>
                        </a:rPr>
                      </a:br>
                      <a:r>
                        <a:rPr lang="en-US" sz="1000" b="0" i="0">
                          <a:effectLst/>
                          <a:latin typeface="Arial"/>
                        </a:rPr>
                        <a:t>This approach will:</a:t>
                      </a:r>
                    </a:p>
                    <a:p>
                      <a:pPr marL="171450" indent="-171450" fontAlgn="t">
                        <a:lnSpc>
                          <a:spcPts val="1500"/>
                        </a:lnSpc>
                        <a:buFont typeface="Arial" panose="020B0604020202020204" pitchFamily="34" charset="0"/>
                        <a:buChar char="•"/>
                      </a:pPr>
                      <a:r>
                        <a:rPr lang="en-US" sz="1000" b="0" i="0">
                          <a:effectLst/>
                          <a:latin typeface="Arial"/>
                        </a:rPr>
                        <a:t>Enable </a:t>
                      </a:r>
                      <a:r>
                        <a:rPr lang="en-US" sz="1000" b="1" i="0">
                          <a:effectLst/>
                          <a:latin typeface="Arial"/>
                        </a:rPr>
                        <a:t>continuous end‑to‑end testing</a:t>
                      </a:r>
                      <a:r>
                        <a:rPr lang="en-US" sz="1000" b="0" i="0">
                          <a:effectLst/>
                          <a:latin typeface="Arial"/>
                        </a:rPr>
                        <a:t> across all teams</a:t>
                      </a:r>
                    </a:p>
                    <a:p>
                      <a:pPr marL="171450" indent="-171450" fontAlgn="t">
                        <a:lnSpc>
                          <a:spcPts val="1500"/>
                        </a:lnSpc>
                        <a:buFont typeface="Arial" panose="020B0604020202020204" pitchFamily="34" charset="0"/>
                        <a:buChar char="•"/>
                      </a:pPr>
                      <a:r>
                        <a:rPr lang="en-US" sz="1000" b="0" i="0">
                          <a:effectLst/>
                          <a:latin typeface="Arial"/>
                        </a:rPr>
                        <a:t>Reduce disruptions by </a:t>
                      </a:r>
                      <a:r>
                        <a:rPr lang="en-US" sz="1000" b="1" i="0">
                          <a:effectLst/>
                          <a:latin typeface="Arial"/>
                        </a:rPr>
                        <a:t>eliminating frequent environment path changes</a:t>
                      </a:r>
                      <a:endParaRPr lang="en-US" sz="1000" b="0" i="0">
                        <a:effectLst/>
                        <a:latin typeface="Arial"/>
                      </a:endParaRPr>
                    </a:p>
                    <a:p>
                      <a:pPr marL="171450" indent="-171450" fontAlgn="t">
                        <a:lnSpc>
                          <a:spcPts val="1500"/>
                        </a:lnSpc>
                        <a:buFont typeface="Arial" panose="020B0604020202020204" pitchFamily="34" charset="0"/>
                        <a:buChar char="•"/>
                      </a:pPr>
                      <a:r>
                        <a:rPr lang="en-US" sz="1000" b="0" i="0">
                          <a:effectLst/>
                          <a:latin typeface="Arial"/>
                        </a:rPr>
                        <a:t>Improve </a:t>
                      </a:r>
                      <a:r>
                        <a:rPr lang="en-US" sz="1000" b="1" i="0">
                          <a:effectLst/>
                          <a:latin typeface="Arial"/>
                        </a:rPr>
                        <a:t>predictability and stability</a:t>
                      </a:r>
                      <a:r>
                        <a:rPr lang="en-US" sz="1000" b="0" i="0">
                          <a:effectLst/>
                          <a:latin typeface="Arial"/>
                        </a:rPr>
                        <a:t> in the overall release cycle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948982421"/>
                  </a:ext>
                </a:extLst>
              </a:tr>
            </a:tbl>
          </a:graphicData>
        </a:graphic>
      </p:graphicFrame>
    </p:spTree>
    <p:extLst>
      <p:ext uri="{BB962C8B-B14F-4D97-AF65-F5344CB8AC3E}">
        <p14:creationId xmlns:p14="http://schemas.microsoft.com/office/powerpoint/2010/main" val="146198411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E5A248-289E-1DC2-8FE1-88E9482D9EF3}"/>
            </a:ext>
          </a:extLst>
        </p:cNvPr>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CEC8A15F-A45B-F5AE-8B4B-DB7D4A26E66D}"/>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8" imgH="408" progId="TCLayout.ActiveDocument.1">
                  <p:embed/>
                </p:oleObj>
              </mc:Choice>
              <mc:Fallback>
                <p:oleObj name="think-cell Slide" r:id="rId4" imgW="408" imgH="408" progId="TCLayout.ActiveDocument.1">
                  <p:embed/>
                  <p:pic>
                    <p:nvPicPr>
                      <p:cNvPr id="9" name="think-cell data - do not delete" hidden="1">
                        <a:extLst>
                          <a:ext uri="{FF2B5EF4-FFF2-40B4-BE49-F238E27FC236}">
                            <a16:creationId xmlns:a16="http://schemas.microsoft.com/office/drawing/2014/main" id="{CEC8A15F-A45B-F5AE-8B4B-DB7D4A26E66D}"/>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graphicFrame>
        <p:nvGraphicFramePr>
          <p:cNvPr id="32" name="Group 614">
            <a:extLst>
              <a:ext uri="{FF2B5EF4-FFF2-40B4-BE49-F238E27FC236}">
                <a16:creationId xmlns:a16="http://schemas.microsoft.com/office/drawing/2014/main" id="{0698E4A8-BC14-B06E-FA10-57A0E4783E96}"/>
              </a:ext>
            </a:extLst>
          </p:cNvPr>
          <p:cNvGraphicFramePr>
            <a:graphicFrameLocks noGrp="1"/>
          </p:cNvGraphicFramePr>
          <p:nvPr/>
        </p:nvGraphicFramePr>
        <p:xfrm>
          <a:off x="4980036" y="6305845"/>
          <a:ext cx="7136859" cy="386554"/>
        </p:xfrm>
        <a:graphic>
          <a:graphicData uri="http://schemas.openxmlformats.org/drawingml/2006/table">
            <a:tbl>
              <a:tblPr/>
              <a:tblGrid>
                <a:gridCol w="606425">
                  <a:extLst>
                    <a:ext uri="{9D8B030D-6E8A-4147-A177-3AD203B41FA5}">
                      <a16:colId xmlns:a16="http://schemas.microsoft.com/office/drawing/2014/main" val="20000"/>
                    </a:ext>
                  </a:extLst>
                </a:gridCol>
                <a:gridCol w="307361">
                  <a:extLst>
                    <a:ext uri="{9D8B030D-6E8A-4147-A177-3AD203B41FA5}">
                      <a16:colId xmlns:a16="http://schemas.microsoft.com/office/drawing/2014/main" val="20001"/>
                    </a:ext>
                  </a:extLst>
                </a:gridCol>
                <a:gridCol w="757584">
                  <a:extLst>
                    <a:ext uri="{9D8B030D-6E8A-4147-A177-3AD203B41FA5}">
                      <a16:colId xmlns:a16="http://schemas.microsoft.com/office/drawing/2014/main" val="20002"/>
                    </a:ext>
                  </a:extLst>
                </a:gridCol>
                <a:gridCol w="302812">
                  <a:extLst>
                    <a:ext uri="{9D8B030D-6E8A-4147-A177-3AD203B41FA5}">
                      <a16:colId xmlns:a16="http://schemas.microsoft.com/office/drawing/2014/main" val="20003"/>
                    </a:ext>
                  </a:extLst>
                </a:gridCol>
                <a:gridCol w="665317">
                  <a:extLst>
                    <a:ext uri="{9D8B030D-6E8A-4147-A177-3AD203B41FA5}">
                      <a16:colId xmlns:a16="http://schemas.microsoft.com/office/drawing/2014/main" val="20004"/>
                    </a:ext>
                  </a:extLst>
                </a:gridCol>
                <a:gridCol w="518025">
                  <a:extLst>
                    <a:ext uri="{9D8B030D-6E8A-4147-A177-3AD203B41FA5}">
                      <a16:colId xmlns:a16="http://schemas.microsoft.com/office/drawing/2014/main" val="20005"/>
                    </a:ext>
                  </a:extLst>
                </a:gridCol>
                <a:gridCol w="568469">
                  <a:extLst>
                    <a:ext uri="{9D8B030D-6E8A-4147-A177-3AD203B41FA5}">
                      <a16:colId xmlns:a16="http://schemas.microsoft.com/office/drawing/2014/main" val="20006"/>
                    </a:ext>
                  </a:extLst>
                </a:gridCol>
                <a:gridCol w="368983">
                  <a:extLst>
                    <a:ext uri="{9D8B030D-6E8A-4147-A177-3AD203B41FA5}">
                      <a16:colId xmlns:a16="http://schemas.microsoft.com/office/drawing/2014/main" val="20007"/>
                    </a:ext>
                  </a:extLst>
                </a:gridCol>
                <a:gridCol w="1372005">
                  <a:extLst>
                    <a:ext uri="{9D8B030D-6E8A-4147-A177-3AD203B41FA5}">
                      <a16:colId xmlns:a16="http://schemas.microsoft.com/office/drawing/2014/main" val="20008"/>
                    </a:ext>
                  </a:extLst>
                </a:gridCol>
                <a:gridCol w="378212">
                  <a:extLst>
                    <a:ext uri="{9D8B030D-6E8A-4147-A177-3AD203B41FA5}">
                      <a16:colId xmlns:a16="http://schemas.microsoft.com/office/drawing/2014/main" val="20009"/>
                    </a:ext>
                  </a:extLst>
                </a:gridCol>
                <a:gridCol w="1291666">
                  <a:extLst>
                    <a:ext uri="{9D8B030D-6E8A-4147-A177-3AD203B41FA5}">
                      <a16:colId xmlns:a16="http://schemas.microsoft.com/office/drawing/2014/main" val="20010"/>
                    </a:ext>
                  </a:extLst>
                </a:gridCol>
              </a:tblGrid>
              <a:tr h="386554">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Arial" charset="0"/>
                          <a:cs typeface="Arial" charset="0"/>
                        </a:rPr>
                        <a:t>Status Key</a:t>
                      </a:r>
                      <a:endParaRPr kumimoji="0" lang="en-GB" sz="1600" b="0" i="0" u="none" strike="noStrike" cap="none" normalizeH="0" baseline="0">
                        <a:ln>
                          <a:noFill/>
                        </a:ln>
                        <a:solidFill>
                          <a:srgbClr val="002060"/>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mj-lt"/>
                        </a:rPr>
                        <a:t>C</a:t>
                      </a: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002060"/>
                          </a:solidFill>
                          <a:effectLst/>
                          <a:latin typeface="Arial" charset="0"/>
                          <a:cs typeface="Arial" charset="0"/>
                        </a:rPr>
                        <a:t>Completed</a:t>
                      </a:r>
                      <a:endParaRPr kumimoji="0" lang="en-GB" sz="1600" b="0" i="0" u="none" strike="noStrike" cap="none" normalizeH="0" baseline="0">
                        <a:ln>
                          <a:noFill/>
                        </a:ln>
                        <a:solidFill>
                          <a:srgbClr val="002060"/>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On-Schedule</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Major Issues</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Some Issues</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NS</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5000"/>
                        </a:lnSpc>
                        <a:spcBef>
                          <a:spcPct val="0"/>
                        </a:spcBef>
                        <a:spcAft>
                          <a:spcPct val="50000"/>
                        </a:spcAft>
                        <a:buClrTx/>
                        <a:buSzTx/>
                        <a:buFontTx/>
                        <a:buNone/>
                        <a:tabLst/>
                      </a:pPr>
                      <a:r>
                        <a:rPr kumimoji="0" lang="en-GB" sz="600" b="1" i="0" u="none" strike="noStrike" cap="none" normalizeH="0" baseline="0">
                          <a:ln>
                            <a:noFill/>
                          </a:ln>
                          <a:solidFill>
                            <a:srgbClr val="1D3A6A"/>
                          </a:solidFill>
                          <a:effectLst/>
                          <a:latin typeface="Arial" charset="0"/>
                          <a:cs typeface="Arial" charset="0"/>
                        </a:rPr>
                        <a:t>Not Started</a:t>
                      </a:r>
                      <a:endParaRPr kumimoji="0" lang="en-GB" sz="1600" b="0" i="0" u="none" strike="noStrike" cap="none" normalizeH="0" baseline="0">
                        <a:ln>
                          <a:noFill/>
                        </a:ln>
                        <a:solidFill>
                          <a:srgbClr val="1D3A6A"/>
                        </a:solidFill>
                        <a:effectLst/>
                        <a:latin typeface="Times New Roman" pitchFamily="18" charset="0"/>
                      </a:endParaRPr>
                    </a:p>
                  </a:txBody>
                  <a:tcPr marT="37914" marB="379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2" name="Title 1">
            <a:extLst>
              <a:ext uri="{FF2B5EF4-FFF2-40B4-BE49-F238E27FC236}">
                <a16:creationId xmlns:a16="http://schemas.microsoft.com/office/drawing/2014/main" id="{FC91D711-EAFB-B62F-E188-014E42C4FDE8}"/>
              </a:ext>
            </a:extLst>
          </p:cNvPr>
          <p:cNvSpPr>
            <a:spLocks noGrp="1"/>
          </p:cNvSpPr>
          <p:nvPr>
            <p:ph type="title"/>
          </p:nvPr>
        </p:nvSpPr>
        <p:spPr>
          <a:xfrm>
            <a:off x="231954" y="101795"/>
            <a:ext cx="9281086" cy="788695"/>
          </a:xfrm>
        </p:spPr>
        <p:txBody>
          <a:bodyPr vert="horz">
            <a:normAutofit/>
          </a:bodyPr>
          <a:lstStyle/>
          <a:p>
            <a:r>
              <a:rPr lang="en-US">
                <a:solidFill>
                  <a:srgbClr val="0070C0"/>
                </a:solidFill>
                <a:latin typeface="Aptos Display" panose="02110004020202020204"/>
              </a:rPr>
              <a:t>Talend to </a:t>
            </a:r>
            <a:r>
              <a:rPr lang="en-US" err="1">
                <a:solidFill>
                  <a:srgbClr val="0070C0"/>
                </a:solidFill>
                <a:latin typeface="Aptos Display" panose="02110004020202020204"/>
              </a:rPr>
              <a:t>Pytho</a:t>
            </a:r>
            <a:r>
              <a:rPr lang="en-US">
                <a:solidFill>
                  <a:srgbClr val="0070C0"/>
                </a:solidFill>
                <a:latin typeface="Aptos Display" panose="02110004020202020204"/>
              </a:rPr>
              <a:t>n Migration</a:t>
            </a:r>
            <a:endParaRPr lang="en-US"/>
          </a:p>
        </p:txBody>
      </p:sp>
      <p:graphicFrame>
        <p:nvGraphicFramePr>
          <p:cNvPr id="11" name="Group 513">
            <a:extLst>
              <a:ext uri="{FF2B5EF4-FFF2-40B4-BE49-F238E27FC236}">
                <a16:creationId xmlns:a16="http://schemas.microsoft.com/office/drawing/2014/main" id="{81653CB4-091E-2B56-F4B5-4F204E636035}"/>
              </a:ext>
            </a:extLst>
          </p:cNvPr>
          <p:cNvGraphicFramePr>
            <a:graphicFrameLocks noGrp="1"/>
          </p:cNvGraphicFramePr>
          <p:nvPr/>
        </p:nvGraphicFramePr>
        <p:xfrm>
          <a:off x="234455" y="927650"/>
          <a:ext cx="2638218" cy="344301"/>
        </p:xfrm>
        <a:graphic>
          <a:graphicData uri="http://schemas.openxmlformats.org/drawingml/2006/table">
            <a:tbl>
              <a:tblPr/>
              <a:tblGrid>
                <a:gridCol w="984745">
                  <a:extLst>
                    <a:ext uri="{9D8B030D-6E8A-4147-A177-3AD203B41FA5}">
                      <a16:colId xmlns:a16="http://schemas.microsoft.com/office/drawing/2014/main" val="20000"/>
                    </a:ext>
                  </a:extLst>
                </a:gridCol>
                <a:gridCol w="1653473">
                  <a:extLst>
                    <a:ext uri="{9D8B030D-6E8A-4147-A177-3AD203B41FA5}">
                      <a16:colId xmlns:a16="http://schemas.microsoft.com/office/drawing/2014/main" val="20001"/>
                    </a:ext>
                  </a:extLst>
                </a:gridCol>
              </a:tblGrid>
              <a:tr h="344301">
                <a:tc>
                  <a:txBody>
                    <a:bodyPr/>
                    <a:lstStyle/>
                    <a:p>
                      <a:pPr marL="0" marR="0" lvl="0" indent="0" algn="l" defTabSz="914400" rtl="0" eaLnBrk="0" fontAlgn="base" latinLnBrk="0" hangingPunct="0">
                        <a:lnSpc>
                          <a:spcPct val="95000"/>
                        </a:lnSpc>
                        <a:spcBef>
                          <a:spcPct val="0"/>
                        </a:spcBef>
                        <a:spcAft>
                          <a:spcPct val="50000"/>
                        </a:spcAft>
                        <a:buClrTx/>
                        <a:buSzTx/>
                        <a:buFontTx/>
                        <a:buNone/>
                        <a:tabLst/>
                      </a:pPr>
                      <a:r>
                        <a:rPr kumimoji="0" lang="en-GB" sz="1050" b="1" i="0" u="none" strike="noStrike" kern="1200" cap="none" normalizeH="0" baseline="0">
                          <a:ln>
                            <a:noFill/>
                          </a:ln>
                          <a:solidFill>
                            <a:schemeClr val="bg1"/>
                          </a:solidFill>
                          <a:effectLst/>
                          <a:latin typeface="Arial"/>
                          <a:ea typeface="+mn-ea"/>
                          <a:cs typeface="+mn-cs"/>
                        </a:rPr>
                        <a:t>Status Date:</a:t>
                      </a:r>
                    </a:p>
                  </a:txBody>
                  <a:tcPr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lang="en-GB" sz="1050" b="1" i="0" u="none" strike="noStrike" cap="none" normalizeH="0" baseline="0">
                          <a:ln>
                            <a:noFill/>
                          </a:ln>
                          <a:solidFill>
                            <a:schemeClr val="tx1"/>
                          </a:solidFill>
                          <a:effectLst/>
                          <a:latin typeface="Arial"/>
                        </a:rPr>
                        <a:t>7/20/2026</a:t>
                      </a:r>
                      <a:endParaRPr kumimoji="0" lang="en-GB" sz="1050" b="1" i="0" u="none" strike="noStrike" cap="none" normalizeH="0" baseline="0">
                        <a:ln>
                          <a:noFill/>
                        </a:ln>
                        <a:solidFill>
                          <a:schemeClr val="tx1"/>
                        </a:solidFill>
                        <a:effectLst/>
                        <a:latin typeface="Arial"/>
                      </a:endParaRPr>
                    </a:p>
                  </a:txBody>
                  <a:tcPr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14" name="Table 13">
            <a:extLst>
              <a:ext uri="{FF2B5EF4-FFF2-40B4-BE49-F238E27FC236}">
                <a16:creationId xmlns:a16="http://schemas.microsoft.com/office/drawing/2014/main" id="{4675AEAE-4CE6-0664-1C7F-7B315F6B6F54}"/>
              </a:ext>
            </a:extLst>
          </p:cNvPr>
          <p:cNvGraphicFramePr>
            <a:graphicFrameLocks noGrp="1"/>
          </p:cNvGraphicFramePr>
          <p:nvPr/>
        </p:nvGraphicFramePr>
        <p:xfrm>
          <a:off x="6757621" y="920667"/>
          <a:ext cx="5352360" cy="749848"/>
        </p:xfrm>
        <a:graphic>
          <a:graphicData uri="http://schemas.openxmlformats.org/drawingml/2006/table">
            <a:tbl>
              <a:tblPr>
                <a:tableStyleId>{5C22544A-7EE6-4342-B048-85BDC9FD1C3A}</a:tableStyleId>
              </a:tblPr>
              <a:tblGrid>
                <a:gridCol w="1045337">
                  <a:extLst>
                    <a:ext uri="{9D8B030D-6E8A-4147-A177-3AD203B41FA5}">
                      <a16:colId xmlns:a16="http://schemas.microsoft.com/office/drawing/2014/main" val="2456552316"/>
                    </a:ext>
                  </a:extLst>
                </a:gridCol>
                <a:gridCol w="926511">
                  <a:extLst>
                    <a:ext uri="{9D8B030D-6E8A-4147-A177-3AD203B41FA5}">
                      <a16:colId xmlns:a16="http://schemas.microsoft.com/office/drawing/2014/main" val="2327174630"/>
                    </a:ext>
                  </a:extLst>
                </a:gridCol>
                <a:gridCol w="1514970">
                  <a:extLst>
                    <a:ext uri="{9D8B030D-6E8A-4147-A177-3AD203B41FA5}">
                      <a16:colId xmlns:a16="http://schemas.microsoft.com/office/drawing/2014/main" val="1100051595"/>
                    </a:ext>
                  </a:extLst>
                </a:gridCol>
                <a:gridCol w="913991">
                  <a:extLst>
                    <a:ext uri="{9D8B030D-6E8A-4147-A177-3AD203B41FA5}">
                      <a16:colId xmlns:a16="http://schemas.microsoft.com/office/drawing/2014/main" val="2042261034"/>
                    </a:ext>
                  </a:extLst>
                </a:gridCol>
                <a:gridCol w="951551">
                  <a:extLst>
                    <a:ext uri="{9D8B030D-6E8A-4147-A177-3AD203B41FA5}">
                      <a16:colId xmlns:a16="http://schemas.microsoft.com/office/drawing/2014/main" val="2815874248"/>
                    </a:ext>
                  </a:extLst>
                </a:gridCol>
              </a:tblGrid>
              <a:tr h="366567">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2026 Budget</a:t>
                      </a:r>
                      <a:r>
                        <a:rPr lang="en-US" sz="1050" b="1" i="0" u="none" strike="noStrike" kern="1200" cap="none" normalizeH="0" baseline="0">
                          <a:ln>
                            <a:noFill/>
                          </a:ln>
                          <a:solidFill>
                            <a:schemeClr val="bg1"/>
                          </a:solidFill>
                          <a:effectLst/>
                          <a:latin typeface="Arial"/>
                          <a:ea typeface="+mn-ea"/>
                          <a:cs typeface="+mn-cs"/>
                        </a:rPr>
                        <a:t> </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YTD Actuals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Remaining 2026 Forecast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Current YE Forecast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Total Budget</a:t>
                      </a:r>
                      <a:r>
                        <a:rPr lang="en-US" sz="1050" b="1" i="0" u="none" strike="noStrike" kern="1200" cap="none" normalizeH="0" baseline="0">
                          <a:ln>
                            <a:noFill/>
                          </a:ln>
                          <a:solidFill>
                            <a:schemeClr val="bg1"/>
                          </a:solidFill>
                          <a:effectLst/>
                          <a:latin typeface="Arial"/>
                          <a:ea typeface="+mn-ea"/>
                          <a:cs typeface="+mn-cs"/>
                        </a:rPr>
                        <a:t> </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383281">
                <a:tc>
                  <a:txBody>
                    <a:bodyPr/>
                    <a:lstStyle/>
                    <a:p>
                      <a:pPr marL="0" marR="0" lvl="0" indent="0" algn="ctr" rtl="0" eaLnBrk="1" fontAlgn="ctr" latinLnBrk="0" hangingPunct="1">
                        <a:lnSpc>
                          <a:spcPct val="95000"/>
                        </a:lnSpc>
                        <a:spcBef>
                          <a:spcPct val="0"/>
                        </a:spcBef>
                        <a:spcAft>
                          <a:spcPct val="50000"/>
                        </a:spcAft>
                        <a:buClrTx/>
                        <a:buSzTx/>
                        <a:buFontTx/>
                        <a:buNone/>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1050" b="1"/>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a:lnSpc>
                          <a:spcPct val="95000"/>
                        </a:lnSpc>
                        <a:spcBef>
                          <a:spcPct val="0"/>
                        </a:spcBef>
                        <a:spcAft>
                          <a:spcPct val="50000"/>
                        </a:spcAft>
                        <a:buNone/>
                        <a:tabLst/>
                        <a:defRPr/>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1050"/>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rtl="0" eaLnBrk="1" fontAlgn="ctr" latinLnBrk="0" hangingPunct="1">
                        <a:lnSpc>
                          <a:spcPct val="95000"/>
                        </a:lnSpc>
                        <a:spcBef>
                          <a:spcPct val="0"/>
                        </a:spcBef>
                        <a:spcAft>
                          <a:spcPct val="50000"/>
                        </a:spcAft>
                        <a:buClrTx/>
                        <a:buSzTx/>
                        <a:buFontTx/>
                        <a:buNone/>
                      </a:pPr>
                      <a:endParaRPr lang="en-US" sz="1050" b="0"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7499024"/>
                  </a:ext>
                </a:extLst>
              </a:tr>
            </a:tbl>
          </a:graphicData>
        </a:graphic>
      </p:graphicFrame>
      <p:graphicFrame>
        <p:nvGraphicFramePr>
          <p:cNvPr id="25" name="Table 24">
            <a:extLst>
              <a:ext uri="{FF2B5EF4-FFF2-40B4-BE49-F238E27FC236}">
                <a16:creationId xmlns:a16="http://schemas.microsoft.com/office/drawing/2014/main" id="{72DC618D-3C08-1274-95C7-67307B7A2371}"/>
              </a:ext>
            </a:extLst>
          </p:cNvPr>
          <p:cNvGraphicFramePr>
            <a:graphicFrameLocks noGrp="1"/>
          </p:cNvGraphicFramePr>
          <p:nvPr/>
        </p:nvGraphicFramePr>
        <p:xfrm>
          <a:off x="2811025" y="920667"/>
          <a:ext cx="3829275" cy="749848"/>
        </p:xfrm>
        <a:graphic>
          <a:graphicData uri="http://schemas.openxmlformats.org/drawingml/2006/table">
            <a:tbl>
              <a:tblPr>
                <a:tableStyleId>{5C22544A-7EE6-4342-B048-85BDC9FD1C3A}</a:tableStyleId>
              </a:tblPr>
              <a:tblGrid>
                <a:gridCol w="1042158">
                  <a:extLst>
                    <a:ext uri="{9D8B030D-6E8A-4147-A177-3AD203B41FA5}">
                      <a16:colId xmlns:a16="http://schemas.microsoft.com/office/drawing/2014/main" val="2456552316"/>
                    </a:ext>
                  </a:extLst>
                </a:gridCol>
                <a:gridCol w="961214">
                  <a:extLst>
                    <a:ext uri="{9D8B030D-6E8A-4147-A177-3AD203B41FA5}">
                      <a16:colId xmlns:a16="http://schemas.microsoft.com/office/drawing/2014/main" val="1100051595"/>
                    </a:ext>
                  </a:extLst>
                </a:gridCol>
                <a:gridCol w="920742">
                  <a:extLst>
                    <a:ext uri="{9D8B030D-6E8A-4147-A177-3AD203B41FA5}">
                      <a16:colId xmlns:a16="http://schemas.microsoft.com/office/drawing/2014/main" val="2042261034"/>
                    </a:ext>
                  </a:extLst>
                </a:gridCol>
                <a:gridCol w="905161">
                  <a:extLst>
                    <a:ext uri="{9D8B030D-6E8A-4147-A177-3AD203B41FA5}">
                      <a16:colId xmlns:a16="http://schemas.microsoft.com/office/drawing/2014/main" val="2815874248"/>
                    </a:ext>
                  </a:extLst>
                </a:gridCol>
              </a:tblGrid>
              <a:tr h="409508">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Overall</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Scope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Schedule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Financials</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340340">
                <a:tc>
                  <a:txBody>
                    <a:bodyPr/>
                    <a:lstStyle/>
                    <a:p>
                      <a:pPr marL="0" marR="0" lvl="0" indent="0" algn="ctr" rtl="0" eaLnBrk="1" fontAlgn="ctr" latinLnBrk="0" hangingPunct="1">
                        <a:lnSpc>
                          <a:spcPct val="95000"/>
                        </a:lnSpc>
                        <a:spcBef>
                          <a:spcPct val="0"/>
                        </a:spcBef>
                        <a:spcAft>
                          <a:spcPct val="50000"/>
                        </a:spcAft>
                        <a:buClrTx/>
                        <a:buSzTx/>
                        <a:buFontTx/>
                        <a:buNone/>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rtl="0" eaLnBrk="1" fontAlgn="ctr" latinLnBrk="0" hangingPunct="1">
                        <a:lnSpc>
                          <a:spcPct val="95000"/>
                        </a:lnSpc>
                        <a:spcBef>
                          <a:spcPct val="0"/>
                        </a:spcBef>
                        <a:spcAft>
                          <a:spcPct val="50000"/>
                        </a:spcAft>
                        <a:buClrTx/>
                        <a:buSzTx/>
                        <a:buFontTx/>
                        <a:buNone/>
                      </a:pPr>
                      <a:endParaRPr lang="en-US" sz="1050" b="1" kern="1200">
                        <a:solidFill>
                          <a:schemeClr val="tx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7499024"/>
                  </a:ext>
                </a:extLst>
              </a:tr>
            </a:tbl>
          </a:graphicData>
        </a:graphic>
      </p:graphicFrame>
      <p:graphicFrame>
        <p:nvGraphicFramePr>
          <p:cNvPr id="26" name="Group 513">
            <a:extLst>
              <a:ext uri="{FF2B5EF4-FFF2-40B4-BE49-F238E27FC236}">
                <a16:creationId xmlns:a16="http://schemas.microsoft.com/office/drawing/2014/main" id="{1570892B-CCE4-B298-EC37-9E8F33B9FFA3}"/>
              </a:ext>
            </a:extLst>
          </p:cNvPr>
          <p:cNvGraphicFramePr>
            <a:graphicFrameLocks noGrp="1"/>
          </p:cNvGraphicFramePr>
          <p:nvPr/>
        </p:nvGraphicFramePr>
        <p:xfrm>
          <a:off x="224696" y="1286465"/>
          <a:ext cx="2581575" cy="395688"/>
        </p:xfrm>
        <a:graphic>
          <a:graphicData uri="http://schemas.openxmlformats.org/drawingml/2006/table">
            <a:tbl>
              <a:tblPr/>
              <a:tblGrid>
                <a:gridCol w="998602">
                  <a:extLst>
                    <a:ext uri="{9D8B030D-6E8A-4147-A177-3AD203B41FA5}">
                      <a16:colId xmlns:a16="http://schemas.microsoft.com/office/drawing/2014/main" val="20000"/>
                    </a:ext>
                  </a:extLst>
                </a:gridCol>
                <a:gridCol w="1582973">
                  <a:extLst>
                    <a:ext uri="{9D8B030D-6E8A-4147-A177-3AD203B41FA5}">
                      <a16:colId xmlns:a16="http://schemas.microsoft.com/office/drawing/2014/main" val="20001"/>
                    </a:ext>
                  </a:extLst>
                </a:gridCol>
              </a:tblGrid>
              <a:tr h="344301">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GB" sz="1050" b="1" i="0" u="none" strike="noStrike" kern="1200" cap="none" normalizeH="0" baseline="0">
                          <a:ln>
                            <a:noFill/>
                          </a:ln>
                          <a:solidFill>
                            <a:schemeClr val="bg1"/>
                          </a:solidFill>
                          <a:effectLst/>
                          <a:latin typeface="Arial"/>
                          <a:ea typeface="+mn-ea"/>
                          <a:cs typeface="+mn-cs"/>
                        </a:rPr>
                        <a:t>Target Delivery:</a:t>
                      </a:r>
                    </a:p>
                  </a:txBody>
                  <a:tcPr marL="0" marR="0"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2060"/>
                    </a:solidFill>
                  </a:tcPr>
                </a:tc>
                <a:tc>
                  <a:txBody>
                    <a:bodyPr/>
                    <a:lstStyle/>
                    <a:p>
                      <a:pPr marL="0" marR="0" lvl="0" indent="0" algn="ctr" rtl="0" eaLnBrk="0" fontAlgn="base" latinLnBrk="0" hangingPunct="0">
                        <a:lnSpc>
                          <a:spcPct val="80000"/>
                        </a:lnSpc>
                        <a:spcBef>
                          <a:spcPct val="0"/>
                        </a:spcBef>
                        <a:spcAft>
                          <a:spcPts val="0"/>
                        </a:spcAft>
                        <a:buClrTx/>
                        <a:buSzTx/>
                        <a:buFontTx/>
                        <a:buNone/>
                      </a:pPr>
                      <a:r>
                        <a:rPr lang="en-US" sz="1000" strike="noStrike">
                          <a:solidFill>
                            <a:schemeClr val="tx1"/>
                          </a:solidFill>
                          <a:latin typeface="+mn-lt"/>
                        </a:rPr>
                        <a:t>7/7</a:t>
                      </a:r>
                      <a:endParaRPr kumimoji="0" lang="en-US" sz="1000" strike="noStrike">
                        <a:solidFill>
                          <a:schemeClr val="tx1"/>
                        </a:solidFill>
                        <a:latin typeface="+mn-lt"/>
                      </a:endParaRPr>
                    </a:p>
                  </a:txBody>
                  <a:tcPr marL="0" marR="0" marT="45825" marB="458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27" name="Table 26">
            <a:extLst>
              <a:ext uri="{FF2B5EF4-FFF2-40B4-BE49-F238E27FC236}">
                <a16:creationId xmlns:a16="http://schemas.microsoft.com/office/drawing/2014/main" id="{F1BE0812-A22D-92C1-C325-BA9E0FA59214}"/>
              </a:ext>
            </a:extLst>
          </p:cNvPr>
          <p:cNvGraphicFramePr>
            <a:graphicFrameLocks noGrp="1"/>
          </p:cNvGraphicFramePr>
          <p:nvPr/>
        </p:nvGraphicFramePr>
        <p:xfrm>
          <a:off x="4854769" y="1986385"/>
          <a:ext cx="7269724" cy="2757203"/>
        </p:xfrm>
        <a:graphic>
          <a:graphicData uri="http://schemas.openxmlformats.org/drawingml/2006/table">
            <a:tbl>
              <a:tblPr>
                <a:tableStyleId>{5C22544A-7EE6-4342-B048-85BDC9FD1C3A}</a:tableStyleId>
              </a:tblPr>
              <a:tblGrid>
                <a:gridCol w="2550318">
                  <a:extLst>
                    <a:ext uri="{9D8B030D-6E8A-4147-A177-3AD203B41FA5}">
                      <a16:colId xmlns:a16="http://schemas.microsoft.com/office/drawing/2014/main" val="2456552316"/>
                    </a:ext>
                  </a:extLst>
                </a:gridCol>
                <a:gridCol w="509887">
                  <a:extLst>
                    <a:ext uri="{9D8B030D-6E8A-4147-A177-3AD203B41FA5}">
                      <a16:colId xmlns:a16="http://schemas.microsoft.com/office/drawing/2014/main" val="1100051595"/>
                    </a:ext>
                  </a:extLst>
                </a:gridCol>
                <a:gridCol w="436434">
                  <a:extLst>
                    <a:ext uri="{9D8B030D-6E8A-4147-A177-3AD203B41FA5}">
                      <a16:colId xmlns:a16="http://schemas.microsoft.com/office/drawing/2014/main" val="2042261034"/>
                    </a:ext>
                  </a:extLst>
                </a:gridCol>
                <a:gridCol w="3773085">
                  <a:extLst>
                    <a:ext uri="{9D8B030D-6E8A-4147-A177-3AD203B41FA5}">
                      <a16:colId xmlns:a16="http://schemas.microsoft.com/office/drawing/2014/main" val="2815874248"/>
                    </a:ext>
                  </a:extLst>
                </a:gridCol>
              </a:tblGrid>
              <a:tr h="304528">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Milestone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Status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Due Date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Notes</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225904">
                <a:tc>
                  <a:txBody>
                    <a:bodyPr/>
                    <a:lstStyle/>
                    <a:p>
                      <a:pPr marL="114300" marR="0" lvl="0" indent="0" algn="l" rtl="0" eaLnBrk="1" fontAlgn="ctr" latinLnBrk="0" hangingPunct="1">
                        <a:lnSpc>
                          <a:spcPct val="95000"/>
                        </a:lnSpc>
                        <a:spcBef>
                          <a:spcPct val="0"/>
                        </a:spcBef>
                        <a:spcAft>
                          <a:spcPct val="50000"/>
                        </a:spcAft>
                        <a:buClrTx/>
                        <a:buSzTx/>
                        <a:buFontTx/>
                        <a:buNone/>
                      </a:pPr>
                      <a:r>
                        <a:rPr lang="en-US" sz="800" b="0" kern="1200">
                          <a:solidFill>
                            <a:schemeClr val="tx1"/>
                          </a:solidFill>
                          <a:effectLst/>
                          <a:latin typeface="+mn-lt"/>
                          <a:ea typeface="+mn-ea"/>
                          <a:cs typeface="+mn-cs"/>
                        </a:rPr>
                        <a:t>ANT Files Dev and Testing</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r>
                        <a:rPr lang="en-US" sz="1100" b="0" kern="1200">
                          <a:solidFill>
                            <a:schemeClr val="tx1"/>
                          </a:solidFill>
                          <a:effectLst/>
                          <a:latin typeface="+mn-lt"/>
                          <a:ea typeface="+mn-ea"/>
                          <a:cs typeface="+mn-cs"/>
                        </a:rPr>
                        <a:t>C</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a:lnSpc>
                          <a:spcPct val="95000"/>
                        </a:lnSpc>
                        <a:spcBef>
                          <a:spcPct val="0"/>
                        </a:spcBef>
                        <a:spcAft>
                          <a:spcPct val="50000"/>
                        </a:spcAft>
                        <a:buNone/>
                        <a:tabLst/>
                      </a:pPr>
                      <a:r>
                        <a:rPr lang="en-US" sz="800" b="0" strike="noStrike" kern="1200">
                          <a:solidFill>
                            <a:schemeClr val="tx1"/>
                          </a:solidFill>
                          <a:effectLst/>
                          <a:latin typeface="+mn-lt"/>
                          <a:ea typeface="+mn-ea"/>
                          <a:cs typeface="+mn-cs"/>
                        </a:rPr>
                        <a:t>2/25</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0" hangingPunct="1">
                        <a:lnSpc>
                          <a:spcPts val="600"/>
                        </a:lnSpc>
                        <a:spcBef>
                          <a:spcPts val="300"/>
                        </a:spcBef>
                        <a:spcAft>
                          <a:spcPts val="0"/>
                        </a:spcAft>
                        <a:buClrTx/>
                        <a:buSzTx/>
                        <a:buFontTx/>
                        <a:buNone/>
                        <a:tabLst/>
                        <a:defRPr/>
                      </a:pPr>
                      <a:endParaRPr lang="en-US" sz="800" b="0" i="0">
                        <a:solidFill>
                          <a:srgbClr val="000000"/>
                        </a:solidFill>
                        <a:effectLst/>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748893264"/>
                  </a:ext>
                </a:extLst>
              </a:tr>
              <a:tr h="213379">
                <a:tc>
                  <a:txBody>
                    <a:bodyPr/>
                    <a:lstStyle/>
                    <a:p>
                      <a:pPr marL="114300" marR="0" lvl="0" indent="0" algn="l">
                        <a:lnSpc>
                          <a:spcPct val="95000"/>
                        </a:lnSpc>
                        <a:spcBef>
                          <a:spcPct val="0"/>
                        </a:spcBef>
                        <a:spcAft>
                          <a:spcPct val="50000"/>
                        </a:spcAft>
                        <a:buNone/>
                      </a:pPr>
                      <a:r>
                        <a:rPr lang="en-US" sz="800">
                          <a:latin typeface="+mn-lt"/>
                        </a:rPr>
                        <a:t>ANT Prod Deployment</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0" hangingPunct="1">
                        <a:lnSpc>
                          <a:spcPct val="95000"/>
                        </a:lnSpc>
                        <a:spcBef>
                          <a:spcPct val="0"/>
                        </a:spcBef>
                        <a:spcAft>
                          <a:spcPct val="50000"/>
                        </a:spcAft>
                        <a:buClrTx/>
                        <a:buSzTx/>
                        <a:buFontTx/>
                        <a:buNone/>
                        <a:tabLst/>
                        <a:defRPr/>
                      </a:pPr>
                      <a:r>
                        <a:rPr lang="en-US" sz="1100" b="0" kern="1200">
                          <a:solidFill>
                            <a:schemeClr val="tx1"/>
                          </a:solidFill>
                          <a:effectLst/>
                          <a:latin typeface="+mn-lt"/>
                          <a:ea typeface="+mn-ea"/>
                          <a:cs typeface="+mn-cs"/>
                        </a:rPr>
                        <a:t>C</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a:lnSpc>
                          <a:spcPct val="95000"/>
                        </a:lnSpc>
                        <a:spcBef>
                          <a:spcPct val="0"/>
                        </a:spcBef>
                        <a:spcAft>
                          <a:spcPct val="50000"/>
                        </a:spcAft>
                        <a:buNone/>
                        <a:tabLst/>
                        <a:defRPr/>
                      </a:pPr>
                      <a:r>
                        <a:rPr lang="en-US" sz="800" b="0" strike="noStrike" kern="1200">
                          <a:solidFill>
                            <a:schemeClr val="tx1"/>
                          </a:solidFill>
                          <a:effectLst/>
                          <a:latin typeface="+mn-lt"/>
                          <a:ea typeface="+mn-ea"/>
                          <a:cs typeface="+mn-cs"/>
                        </a:rPr>
                        <a:t>4/15</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algn="l">
                        <a:lnSpc>
                          <a:spcPct val="114999"/>
                        </a:lnSpc>
                        <a:spcAft>
                          <a:spcPts val="800"/>
                        </a:spcAft>
                        <a:buNone/>
                      </a:pPr>
                      <a:endParaRPr lang="en-US" sz="800" b="0" i="0" u="none" strike="noStrike" kern="100" noProof="0">
                        <a:solidFill>
                          <a:schemeClr val="dk1"/>
                        </a:solidFill>
                        <a:effectLst/>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805706767"/>
                  </a:ext>
                </a:extLst>
              </a:tr>
              <a:tr h="236175">
                <a:tc>
                  <a:txBody>
                    <a:bodyPr/>
                    <a:lstStyle/>
                    <a:p>
                      <a:pPr marL="114300" marR="0" lvl="0" indent="0" algn="l">
                        <a:lnSpc>
                          <a:spcPct val="95000"/>
                        </a:lnSpc>
                        <a:spcBef>
                          <a:spcPct val="0"/>
                        </a:spcBef>
                        <a:spcAft>
                          <a:spcPct val="50000"/>
                        </a:spcAft>
                        <a:buNone/>
                      </a:pPr>
                      <a:r>
                        <a:rPr lang="en-US" sz="800" kern="1200">
                          <a:solidFill>
                            <a:schemeClr val="dk1"/>
                          </a:solidFill>
                          <a:latin typeface="+mn-lt"/>
                          <a:ea typeface="+mn-ea"/>
                          <a:cs typeface="+mn-cs"/>
                        </a:rPr>
                        <a:t>DOG and CAT E2E testing and UAT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800">
                          <a:latin typeface="+mn-lt"/>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lvl="0" algn="ctr">
                        <a:buNone/>
                      </a:pPr>
                      <a:r>
                        <a:rPr lang="en-US" sz="800">
                          <a:latin typeface="+mn-lt"/>
                        </a:rPr>
                        <a:t>5/1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lvl="0"/>
                      <a:endParaRPr lang="en-US" sz="800" kern="1200">
                        <a:solidFill>
                          <a:schemeClr val="dk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162506059"/>
                  </a:ext>
                </a:extLst>
              </a:tr>
              <a:tr h="236174">
                <a:tc>
                  <a:txBody>
                    <a:bodyPr/>
                    <a:lstStyle/>
                    <a:p>
                      <a:pPr marL="114300" lvl="0" indent="0" algn="l">
                        <a:lnSpc>
                          <a:spcPct val="95000"/>
                        </a:lnSpc>
                        <a:spcBef>
                          <a:spcPct val="0"/>
                        </a:spcBef>
                        <a:spcAft>
                          <a:spcPct val="50000"/>
                        </a:spcAft>
                        <a:buNone/>
                      </a:pPr>
                      <a:r>
                        <a:rPr lang="en-US" sz="800" kern="1200">
                          <a:solidFill>
                            <a:schemeClr val="dk1"/>
                          </a:solidFill>
                          <a:latin typeface="+mn-lt"/>
                          <a:ea typeface="+mn-ea"/>
                          <a:cs typeface="+mn-cs"/>
                        </a:rPr>
                        <a:t>DOG and CAT Prod Deployment</a:t>
                      </a:r>
                    </a:p>
                  </a:txBody>
                  <a:tcPr marL="9524" marR="9524" marT="9524" marB="0" anchor="ctr">
                    <a:lnL w="12700">
                      <a:solidFill>
                        <a:schemeClr val="tx1"/>
                      </a:solidFill>
                    </a:lnL>
                    <a:lnR w="12700">
                      <a:solidFill>
                        <a:schemeClr val="tx1"/>
                      </a:solidFill>
                    </a:lnR>
                    <a:lnT w="12700">
                      <a:solidFill>
                        <a:schemeClr val="tx1"/>
                      </a:solidFill>
                    </a:lnT>
                    <a:lnB w="12700">
                      <a:solidFill>
                        <a:schemeClr val="tx1"/>
                      </a:solidFill>
                    </a:lnB>
                    <a:lnTlToBr w="0">
                      <a:noFill/>
                    </a:lnTlToBr>
                    <a:lnBlToTr w="0">
                      <a:noFill/>
                    </a:lnBlToTr>
                    <a:solidFill>
                      <a:schemeClr val="bg1">
                        <a:lumMod val="85000"/>
                      </a:schemeClr>
                    </a:solidFill>
                  </a:tcPr>
                </a:tc>
                <a:tc>
                  <a:txBody>
                    <a:bodyPr/>
                    <a:lstStyle/>
                    <a:p>
                      <a:pPr lvl="0" algn="ctr">
                        <a:buNone/>
                      </a:pPr>
                      <a:r>
                        <a:rPr lang="en-US" sz="800">
                          <a:latin typeface="+mn-lt"/>
                        </a:rPr>
                        <a:t>C</a:t>
                      </a:r>
                    </a:p>
                  </a:txBody>
                  <a:tcPr marL="9524" marR="9524" marT="9524" marB="0" anchor="ctr">
                    <a:lnL w="12700">
                      <a:solidFill>
                        <a:schemeClr val="tx1"/>
                      </a:solidFill>
                    </a:lnL>
                    <a:lnR w="12700">
                      <a:solidFill>
                        <a:schemeClr val="tx1"/>
                      </a:solidFill>
                    </a:lnR>
                    <a:lnT w="12700">
                      <a:solidFill>
                        <a:schemeClr val="tx1"/>
                      </a:solidFill>
                    </a:lnT>
                    <a:lnB w="12700">
                      <a:solidFill>
                        <a:schemeClr val="tx1"/>
                      </a:solidFill>
                    </a:lnB>
                    <a:lnTlToBr w="0">
                      <a:noFill/>
                    </a:lnTlToBr>
                    <a:lnBlToTr w="0">
                      <a:noFill/>
                    </a:lnBlToTr>
                    <a:solidFill>
                      <a:schemeClr val="bg1">
                        <a:lumMod val="85000"/>
                      </a:schemeClr>
                    </a:solidFill>
                  </a:tcPr>
                </a:tc>
                <a:tc>
                  <a:txBody>
                    <a:bodyPr/>
                    <a:lstStyle/>
                    <a:p>
                      <a:pPr lvl="0" algn="ctr">
                        <a:buNone/>
                      </a:pPr>
                      <a:r>
                        <a:rPr lang="en-US" sz="800">
                          <a:latin typeface="+mn-lt"/>
                        </a:rPr>
                        <a:t>5/26</a:t>
                      </a:r>
                    </a:p>
                  </a:txBody>
                  <a:tcPr marL="9524" marR="9524" marT="9524" marB="0" anchor="ctr">
                    <a:lnL w="12700">
                      <a:solidFill>
                        <a:schemeClr val="tx1"/>
                      </a:solidFill>
                    </a:lnL>
                    <a:lnR w="12700">
                      <a:solidFill>
                        <a:schemeClr val="tx1"/>
                      </a:solidFill>
                    </a:lnR>
                    <a:lnT w="12700">
                      <a:solidFill>
                        <a:schemeClr val="tx1"/>
                      </a:solidFill>
                    </a:lnT>
                    <a:lnB w="12700">
                      <a:solidFill>
                        <a:schemeClr val="tx1"/>
                      </a:solidFill>
                    </a:lnB>
                    <a:lnTlToBr w="0">
                      <a:noFill/>
                    </a:lnTlToBr>
                    <a:lnBlToTr w="0">
                      <a:noFill/>
                    </a:lnBlToTr>
                    <a:solidFill>
                      <a:schemeClr val="bg1">
                        <a:lumMod val="85000"/>
                      </a:schemeClr>
                    </a:solidFill>
                  </a:tcPr>
                </a:tc>
                <a:tc>
                  <a:txBody>
                    <a:bodyPr/>
                    <a:lstStyle/>
                    <a:p>
                      <a:pPr lvl="0">
                        <a:buNone/>
                      </a:pPr>
                      <a:endParaRPr lang="en-US" sz="800" kern="1200">
                        <a:solidFill>
                          <a:schemeClr val="dk1"/>
                        </a:solidFill>
                        <a:effectLst/>
                        <a:latin typeface="+mn-lt"/>
                        <a:ea typeface="+mn-ea"/>
                        <a:cs typeface="+mn-cs"/>
                      </a:endParaRPr>
                    </a:p>
                  </a:txBody>
                  <a:tcPr marL="9524" marR="9524" marT="9524" marB="0" anchor="ctr">
                    <a:lnL w="12700">
                      <a:solidFill>
                        <a:schemeClr val="tx1"/>
                      </a:solidFill>
                    </a:lnL>
                    <a:lnR w="12700">
                      <a:solidFill>
                        <a:schemeClr val="tx1"/>
                      </a:solidFill>
                    </a:lnR>
                    <a:lnT w="12700">
                      <a:solidFill>
                        <a:schemeClr val="tx1"/>
                      </a:solidFill>
                    </a:lnT>
                    <a:lnB w="12700">
                      <a:solidFill>
                        <a:schemeClr val="tx1"/>
                      </a:solidFill>
                    </a:lnB>
                    <a:lnTlToBr w="0">
                      <a:noFill/>
                    </a:lnTlToBr>
                    <a:lnBlToTr w="0">
                      <a:noFill/>
                    </a:lnBlToTr>
                    <a:solidFill>
                      <a:schemeClr val="bg1">
                        <a:lumMod val="85000"/>
                      </a:schemeClr>
                    </a:solidFill>
                  </a:tcPr>
                </a:tc>
                <a:extLst>
                  <a:ext uri="{0D108BD9-81ED-4DB2-BD59-A6C34878D82A}">
                    <a16:rowId xmlns:a16="http://schemas.microsoft.com/office/drawing/2014/main" val="4043492510"/>
                  </a:ext>
                </a:extLst>
              </a:tr>
              <a:tr h="236175">
                <a:tc>
                  <a:txBody>
                    <a:bodyPr/>
                    <a:lstStyle/>
                    <a:p>
                      <a:pPr marL="114300" marR="0" lvl="0" indent="0" algn="l" rtl="0" eaLnBrk="1" fontAlgn="auto" latinLnBrk="0" hangingPunct="1">
                        <a:lnSpc>
                          <a:spcPct val="95000"/>
                        </a:lnSpc>
                        <a:spcBef>
                          <a:spcPct val="0"/>
                        </a:spcBef>
                        <a:spcAft>
                          <a:spcPct val="50000"/>
                        </a:spcAft>
                        <a:buClrTx/>
                        <a:buSzTx/>
                        <a:buFontTx/>
                        <a:buNone/>
                      </a:pPr>
                      <a:r>
                        <a:rPr lang="en-US" sz="800" kern="1200">
                          <a:solidFill>
                            <a:schemeClr val="dk1"/>
                          </a:solidFill>
                          <a:latin typeface="+mn-lt"/>
                          <a:ea typeface="+mn-ea"/>
                          <a:cs typeface="+mn-cs"/>
                        </a:rPr>
                        <a:t>PIG, Remittance Testing</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lvl="0" algn="ctr">
                        <a:buNone/>
                      </a:pPr>
                      <a:r>
                        <a:rPr lang="en-US" sz="800">
                          <a:latin typeface="+mn-lt"/>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lvl="0" algn="ctr">
                        <a:buNone/>
                      </a:pPr>
                      <a:r>
                        <a:rPr lang="en-US" sz="800">
                          <a:latin typeface="+mn-lt"/>
                        </a:rPr>
                        <a:t>5/29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lvl="0"/>
                      <a:endParaRPr lang="en-US" sz="800" kern="1200">
                        <a:solidFill>
                          <a:schemeClr val="dk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520125674"/>
                  </a:ext>
                </a:extLst>
              </a:tr>
              <a:tr h="236175">
                <a:tc>
                  <a:txBody>
                    <a:bodyPr/>
                    <a:lstStyle/>
                    <a:p>
                      <a:pPr marL="114300" marR="0" lvl="0" indent="0" algn="l">
                        <a:lnSpc>
                          <a:spcPct val="95000"/>
                        </a:lnSpc>
                        <a:spcBef>
                          <a:spcPct val="0"/>
                        </a:spcBef>
                        <a:spcAft>
                          <a:spcPct val="50000"/>
                        </a:spcAft>
                        <a:buNone/>
                      </a:pPr>
                      <a:r>
                        <a:rPr lang="en-US" sz="800" kern="1200">
                          <a:solidFill>
                            <a:schemeClr val="dk1"/>
                          </a:solidFill>
                          <a:latin typeface="+mn-lt"/>
                          <a:ea typeface="+mn-ea"/>
                          <a:cs typeface="+mn-cs"/>
                        </a:rPr>
                        <a:t>PIG, Remittance Production</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lvl="0" algn="ctr">
                        <a:buNone/>
                      </a:pPr>
                      <a:r>
                        <a:rPr lang="en-US" sz="800">
                          <a:latin typeface="+mn-lt"/>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lvl="0" algn="ctr">
                        <a:buNone/>
                      </a:pPr>
                      <a:r>
                        <a:rPr lang="en-US" sz="800">
                          <a:latin typeface="+mn-lt"/>
                        </a:rPr>
                        <a:t>6/4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lvl="0"/>
                      <a:endParaRPr lang="en-US" sz="800" kern="1200">
                        <a:solidFill>
                          <a:schemeClr val="dk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953880179"/>
                  </a:ext>
                </a:extLst>
              </a:tr>
              <a:tr h="236175">
                <a:tc>
                  <a:txBody>
                    <a:bodyPr/>
                    <a:lstStyle/>
                    <a:p>
                      <a:pPr marL="114300" marR="0" lvl="0" indent="0" algn="l">
                        <a:lnSpc>
                          <a:spcPct val="95000"/>
                        </a:lnSpc>
                        <a:spcBef>
                          <a:spcPct val="0"/>
                        </a:spcBef>
                        <a:spcAft>
                          <a:spcPct val="50000"/>
                        </a:spcAft>
                        <a:buNone/>
                      </a:pPr>
                      <a:r>
                        <a:rPr lang="en-US" sz="600" b="1" i="0" u="none" strike="noStrike" kern="1200" noProof="0">
                          <a:solidFill>
                            <a:schemeClr val="tx1"/>
                          </a:solidFill>
                          <a:latin typeface="Arial"/>
                          <a:ea typeface="+mn-ea"/>
                          <a:cs typeface="Arial"/>
                        </a:rPr>
                        <a:t>EDI Files, OP Reports E2E and UAT</a:t>
                      </a:r>
                      <a:endParaRPr lang="en-US" sz="800" kern="1200">
                        <a:solidFill>
                          <a:schemeClr val="dk1"/>
                        </a:solidFill>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lvl="0" algn="ctr">
                        <a:buNone/>
                      </a:pPr>
                      <a:r>
                        <a:rPr lang="en-US" sz="800">
                          <a:latin typeface="+mn-lt"/>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lvl="0" algn="ctr">
                        <a:buNone/>
                      </a:pPr>
                      <a:r>
                        <a:rPr lang="en-US" sz="800">
                          <a:latin typeface="+mn-lt"/>
                        </a:rPr>
                        <a:t>6/9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lvl="0"/>
                      <a:endParaRPr lang="en-US" sz="800" kern="1200">
                        <a:solidFill>
                          <a:schemeClr val="dk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2564433576"/>
                  </a:ext>
                </a:extLst>
              </a:tr>
              <a:tr h="236174">
                <a:tc>
                  <a:txBody>
                    <a:bodyPr/>
                    <a:lstStyle/>
                    <a:p>
                      <a:pPr marL="114300" lvl="0" indent="0" algn="l">
                        <a:lnSpc>
                          <a:spcPct val="95000"/>
                        </a:lnSpc>
                        <a:spcBef>
                          <a:spcPct val="0"/>
                        </a:spcBef>
                        <a:spcAft>
                          <a:spcPct val="50000"/>
                        </a:spcAft>
                        <a:buNone/>
                      </a:pPr>
                      <a:r>
                        <a:rPr lang="en-US" sz="600" b="1" i="0" u="none" strike="noStrike" kern="1200" noProof="0">
                          <a:solidFill>
                            <a:schemeClr val="tx1"/>
                          </a:solidFill>
                          <a:latin typeface="Arial"/>
                          <a:ea typeface="+mn-ea"/>
                          <a:cs typeface="Arial"/>
                        </a:rPr>
                        <a:t>EDI Files, OP Reports Production</a:t>
                      </a:r>
                      <a:endParaRPr lang="en-US" sz="800" kern="1200">
                        <a:solidFill>
                          <a:schemeClr val="dk1"/>
                        </a:solidFill>
                        <a:latin typeface="+mn-lt"/>
                        <a:ea typeface="+mn-ea"/>
                        <a:cs typeface="+mn-cs"/>
                      </a:endParaRPr>
                    </a:p>
                  </a:txBody>
                  <a:tcPr marL="9524" marR="9524" marT="9524" marB="0"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lnTlToBr w="0">
                      <a:noFill/>
                    </a:lnTlToBr>
                    <a:lnBlToTr w="0">
                      <a:noFill/>
                    </a:lnBlToTr>
                    <a:solidFill>
                      <a:schemeClr val="bg1">
                        <a:lumMod val="85000"/>
                      </a:schemeClr>
                    </a:solidFill>
                  </a:tcPr>
                </a:tc>
                <a:tc>
                  <a:txBody>
                    <a:bodyPr/>
                    <a:lstStyle/>
                    <a:p>
                      <a:pPr lvl="0" algn="ctr">
                        <a:buNone/>
                      </a:pPr>
                      <a:r>
                        <a:rPr lang="en-US" sz="800">
                          <a:latin typeface="+mn-lt"/>
                        </a:rPr>
                        <a:t>C</a:t>
                      </a:r>
                    </a:p>
                  </a:txBody>
                  <a:tcPr marL="9524" marR="9524" marT="9524" marB="0"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lnTlToBr w="0">
                      <a:noFill/>
                    </a:lnTlToBr>
                    <a:lnBlToTr w="0">
                      <a:noFill/>
                    </a:lnBlToTr>
                    <a:solidFill>
                      <a:schemeClr val="bg1">
                        <a:lumMod val="85000"/>
                      </a:schemeClr>
                    </a:solidFill>
                  </a:tcPr>
                </a:tc>
                <a:tc>
                  <a:txBody>
                    <a:bodyPr/>
                    <a:lstStyle/>
                    <a:p>
                      <a:pPr lvl="0" algn="ctr">
                        <a:buNone/>
                      </a:pPr>
                      <a:r>
                        <a:rPr lang="en-US" sz="800">
                          <a:latin typeface="+mn-lt"/>
                        </a:rPr>
                        <a:t>6/11</a:t>
                      </a:r>
                    </a:p>
                  </a:txBody>
                  <a:tcPr marL="9524" marR="9524" marT="9524" marB="0"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lnTlToBr w="0">
                      <a:noFill/>
                    </a:lnTlToBr>
                    <a:lnBlToTr w="0">
                      <a:noFill/>
                    </a:lnBlToTr>
                    <a:solidFill>
                      <a:schemeClr val="bg1">
                        <a:lumMod val="85000"/>
                      </a:schemeClr>
                    </a:solidFill>
                  </a:tcPr>
                </a:tc>
                <a:tc>
                  <a:txBody>
                    <a:bodyPr/>
                    <a:lstStyle/>
                    <a:p>
                      <a:pPr lvl="0">
                        <a:buNone/>
                      </a:pPr>
                      <a:endParaRPr lang="en-US" sz="800" kern="1200">
                        <a:solidFill>
                          <a:schemeClr val="dk1"/>
                        </a:solidFill>
                        <a:effectLst/>
                        <a:latin typeface="+mn-lt"/>
                        <a:ea typeface="+mn-ea"/>
                        <a:cs typeface="+mn-cs"/>
                      </a:endParaRPr>
                    </a:p>
                  </a:txBody>
                  <a:tcPr marL="9524" marR="9524" marT="9524" marB="0"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lnTlToBr w="0">
                      <a:noFill/>
                    </a:lnTlToBr>
                    <a:lnBlToTr w="0">
                      <a:noFill/>
                    </a:lnBlToTr>
                    <a:solidFill>
                      <a:schemeClr val="bg1">
                        <a:lumMod val="85000"/>
                      </a:schemeClr>
                    </a:solidFill>
                  </a:tcPr>
                </a:tc>
                <a:extLst>
                  <a:ext uri="{0D108BD9-81ED-4DB2-BD59-A6C34878D82A}">
                    <a16:rowId xmlns:a16="http://schemas.microsoft.com/office/drawing/2014/main" val="944897433"/>
                  </a:ext>
                </a:extLst>
              </a:tr>
              <a:tr h="236174">
                <a:tc>
                  <a:txBody>
                    <a:bodyPr/>
                    <a:lstStyle/>
                    <a:p>
                      <a:pPr marL="114300" lvl="0" indent="0" algn="l">
                        <a:lnSpc>
                          <a:spcPct val="95000"/>
                        </a:lnSpc>
                        <a:spcBef>
                          <a:spcPct val="0"/>
                        </a:spcBef>
                        <a:spcAft>
                          <a:spcPct val="50000"/>
                        </a:spcAft>
                        <a:buNone/>
                      </a:pPr>
                      <a:r>
                        <a:rPr lang="en-US" sz="600" b="1" i="0" u="none" strike="noStrike" kern="1200" noProof="0">
                          <a:solidFill>
                            <a:schemeClr val="tx1"/>
                          </a:solidFill>
                          <a:latin typeface="Arial"/>
                          <a:ea typeface="+mn-ea"/>
                          <a:cs typeface="Arial"/>
                        </a:rPr>
                        <a:t>Phase 3 Production</a:t>
                      </a:r>
                    </a:p>
                  </a:txBody>
                  <a:tcPr marL="9524" marR="9524" marT="9524" marB="0"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lnTlToBr w="0">
                      <a:noFill/>
                    </a:lnTlToBr>
                    <a:lnBlToTr w="0">
                      <a:noFill/>
                    </a:lnBlToTr>
                    <a:solidFill>
                      <a:schemeClr val="bg1">
                        <a:lumMod val="85000"/>
                      </a:schemeClr>
                    </a:solidFill>
                  </a:tcPr>
                </a:tc>
                <a:tc>
                  <a:txBody>
                    <a:bodyPr/>
                    <a:lstStyle/>
                    <a:p>
                      <a:pPr lvl="0" algn="ctr">
                        <a:buNone/>
                      </a:pPr>
                      <a:r>
                        <a:rPr lang="en-US" sz="800">
                          <a:latin typeface="+mn-lt"/>
                        </a:rPr>
                        <a:t>C</a:t>
                      </a:r>
                    </a:p>
                  </a:txBody>
                  <a:tcPr marL="9524" marR="9524" marT="9524" marB="0"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lnTlToBr w="0">
                      <a:noFill/>
                    </a:lnTlToBr>
                    <a:lnBlToTr w="0">
                      <a:noFill/>
                    </a:lnBlToTr>
                    <a:solidFill>
                      <a:schemeClr val="bg1">
                        <a:lumMod val="85000"/>
                      </a:schemeClr>
                    </a:solidFill>
                  </a:tcPr>
                </a:tc>
                <a:tc>
                  <a:txBody>
                    <a:bodyPr/>
                    <a:lstStyle/>
                    <a:p>
                      <a:pPr lvl="0" algn="ctr">
                        <a:buNone/>
                      </a:pPr>
                      <a:r>
                        <a:rPr lang="en-US" sz="800">
                          <a:latin typeface="+mn-lt"/>
                        </a:rPr>
                        <a:t>6/30</a:t>
                      </a:r>
                    </a:p>
                  </a:txBody>
                  <a:tcPr marL="9524" marR="9524" marT="9524" marB="0"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lnTlToBr w="0">
                      <a:noFill/>
                    </a:lnTlToBr>
                    <a:lnBlToTr w="0">
                      <a:noFill/>
                    </a:lnBlToTr>
                    <a:solidFill>
                      <a:schemeClr val="bg1">
                        <a:lumMod val="85000"/>
                      </a:schemeClr>
                    </a:solidFill>
                  </a:tcPr>
                </a:tc>
                <a:tc>
                  <a:txBody>
                    <a:bodyPr/>
                    <a:lstStyle/>
                    <a:p>
                      <a:pPr lvl="0">
                        <a:buNone/>
                      </a:pPr>
                      <a:endParaRPr lang="en-US" sz="800" kern="1200">
                        <a:solidFill>
                          <a:schemeClr val="dk1"/>
                        </a:solidFill>
                        <a:effectLst/>
                        <a:latin typeface="+mn-lt"/>
                        <a:ea typeface="+mn-ea"/>
                        <a:cs typeface="+mn-cs"/>
                      </a:endParaRPr>
                    </a:p>
                  </a:txBody>
                  <a:tcPr marL="9524" marR="9524" marT="9524" marB="0"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lnTlToBr w="0">
                      <a:noFill/>
                    </a:lnTlToBr>
                    <a:lnBlToTr w="0">
                      <a:noFill/>
                    </a:lnBlToTr>
                    <a:solidFill>
                      <a:schemeClr val="bg1">
                        <a:lumMod val="85000"/>
                      </a:schemeClr>
                    </a:solidFill>
                  </a:tcPr>
                </a:tc>
                <a:extLst>
                  <a:ext uri="{0D108BD9-81ED-4DB2-BD59-A6C34878D82A}">
                    <a16:rowId xmlns:a16="http://schemas.microsoft.com/office/drawing/2014/main" val="4191335617"/>
                  </a:ext>
                </a:extLst>
              </a:tr>
              <a:tr h="236174">
                <a:tc>
                  <a:txBody>
                    <a:bodyPr/>
                    <a:lstStyle/>
                    <a:p>
                      <a:pPr marL="114300" lvl="0" indent="0" algn="l">
                        <a:lnSpc>
                          <a:spcPct val="95000"/>
                        </a:lnSpc>
                        <a:spcBef>
                          <a:spcPct val="0"/>
                        </a:spcBef>
                        <a:spcAft>
                          <a:spcPct val="50000"/>
                        </a:spcAft>
                        <a:buNone/>
                      </a:pPr>
                      <a:r>
                        <a:rPr lang="en-US" sz="600" b="1" i="0" u="none" strike="noStrike" kern="1200" noProof="0">
                          <a:solidFill>
                            <a:schemeClr val="tx1"/>
                          </a:solidFill>
                          <a:latin typeface="Arial"/>
                          <a:ea typeface="+mn-ea"/>
                          <a:cs typeface="Arial"/>
                        </a:rPr>
                        <a:t>Phase 2 Production</a:t>
                      </a:r>
                    </a:p>
                  </a:txBody>
                  <a:tcPr marL="9524" marR="9524" marT="9524" marB="0" anchor="ctr">
                    <a:lnL w="12700">
                      <a:solidFill>
                        <a:schemeClr val="tx1"/>
                      </a:solidFill>
                    </a:lnL>
                    <a:lnR w="12700">
                      <a:solidFill>
                        <a:schemeClr val="tx1"/>
                      </a:solidFill>
                    </a:lnR>
                    <a:lnT w="12700">
                      <a:solidFill>
                        <a:schemeClr val="tx1"/>
                      </a:solidFill>
                    </a:lnT>
                    <a:lnB w="12700">
                      <a:solidFill>
                        <a:schemeClr val="tx1"/>
                      </a:solidFill>
                    </a:lnB>
                    <a:lnTlToBr w="0">
                      <a:noFill/>
                    </a:lnTlToBr>
                    <a:lnBlToTr w="0">
                      <a:noFill/>
                    </a:lnBlToTr>
                    <a:solidFill>
                      <a:schemeClr val="bg1">
                        <a:lumMod val="85000"/>
                      </a:schemeClr>
                    </a:solidFill>
                  </a:tcPr>
                </a:tc>
                <a:tc>
                  <a:txBody>
                    <a:bodyPr/>
                    <a:lstStyle/>
                    <a:p>
                      <a:pPr lvl="0" algn="ctr">
                        <a:buNone/>
                      </a:pPr>
                      <a:r>
                        <a:rPr lang="en-US" sz="800">
                          <a:latin typeface="+mn-lt"/>
                        </a:rPr>
                        <a:t>C</a:t>
                      </a:r>
                    </a:p>
                  </a:txBody>
                  <a:tcPr marL="9524" marR="9524" marT="9524" marB="0" anchor="ctr">
                    <a:lnL w="12700">
                      <a:solidFill>
                        <a:schemeClr val="tx1"/>
                      </a:solidFill>
                    </a:lnL>
                    <a:lnR w="12700">
                      <a:solidFill>
                        <a:schemeClr val="tx1"/>
                      </a:solidFill>
                    </a:lnR>
                    <a:lnT w="12700">
                      <a:solidFill>
                        <a:schemeClr val="tx1"/>
                      </a:solidFill>
                    </a:lnT>
                    <a:lnB w="12700">
                      <a:solidFill>
                        <a:schemeClr val="tx1"/>
                      </a:solidFill>
                    </a:lnB>
                    <a:lnTlToBr w="0">
                      <a:noFill/>
                    </a:lnTlToBr>
                    <a:lnBlToTr w="0">
                      <a:noFill/>
                    </a:lnBlToTr>
                    <a:solidFill>
                      <a:schemeClr val="bg1">
                        <a:lumMod val="85000"/>
                      </a:schemeClr>
                    </a:solidFill>
                  </a:tcPr>
                </a:tc>
                <a:tc>
                  <a:txBody>
                    <a:bodyPr/>
                    <a:lstStyle/>
                    <a:p>
                      <a:pPr lvl="0" algn="ctr">
                        <a:buNone/>
                      </a:pPr>
                      <a:r>
                        <a:rPr lang="en-US" sz="800" strike="sngStrike">
                          <a:latin typeface="+mn-lt"/>
                        </a:rPr>
                        <a:t>7/7</a:t>
                      </a:r>
                      <a:r>
                        <a:rPr lang="en-US" sz="800">
                          <a:latin typeface="+mn-lt"/>
                        </a:rPr>
                        <a:t> 7/14</a:t>
                      </a:r>
                    </a:p>
                  </a:txBody>
                  <a:tcPr marL="9524" marR="9524" marT="9524" marB="0" anchor="ctr">
                    <a:lnL w="12700">
                      <a:solidFill>
                        <a:schemeClr val="tx1"/>
                      </a:solidFill>
                    </a:lnL>
                    <a:lnR w="12700">
                      <a:solidFill>
                        <a:schemeClr val="tx1"/>
                      </a:solidFill>
                    </a:lnR>
                    <a:lnT w="12700">
                      <a:solidFill>
                        <a:schemeClr val="tx1"/>
                      </a:solidFill>
                    </a:lnT>
                    <a:lnB w="12700">
                      <a:solidFill>
                        <a:schemeClr val="tx1"/>
                      </a:solidFill>
                    </a:lnB>
                    <a:lnTlToBr w="0">
                      <a:noFill/>
                    </a:lnTlToBr>
                    <a:lnBlToTr w="0">
                      <a:noFill/>
                    </a:lnBlToTr>
                    <a:solidFill>
                      <a:schemeClr val="bg1">
                        <a:lumMod val="85000"/>
                      </a:schemeClr>
                    </a:solidFill>
                  </a:tcPr>
                </a:tc>
                <a:tc>
                  <a:txBody>
                    <a:bodyPr/>
                    <a:lstStyle/>
                    <a:p>
                      <a:pPr marL="0" lvl="0" indent="0" algn="l">
                        <a:lnSpc>
                          <a:spcPct val="100000"/>
                        </a:lnSpc>
                        <a:spcBef>
                          <a:spcPts val="0"/>
                        </a:spcBef>
                        <a:spcAft>
                          <a:spcPts val="0"/>
                        </a:spcAft>
                        <a:buFont typeface="Arial"/>
                        <a:buNone/>
                      </a:pPr>
                      <a:r>
                        <a:rPr lang="en-US" sz="1100" b="0" i="0" u="none" strike="noStrike" kern="1200" noProof="0">
                          <a:solidFill>
                            <a:schemeClr val="dk1"/>
                          </a:solidFill>
                          <a:effectLst/>
                          <a:latin typeface="Times New Roman"/>
                          <a:ea typeface="+mn-ea"/>
                          <a:cs typeface="Times New Roman"/>
                        </a:rPr>
                        <a:t>REN, </a:t>
                      </a:r>
                      <a:r>
                        <a:rPr lang="en-US" sz="1100" b="0" i="0" u="none" strike="noStrike" kern="1200" noProof="0" err="1">
                          <a:solidFill>
                            <a:schemeClr val="dk1"/>
                          </a:solidFill>
                          <a:effectLst/>
                          <a:latin typeface="Times New Roman"/>
                          <a:ea typeface="+mn-ea"/>
                          <a:cs typeface="Times New Roman"/>
                        </a:rPr>
                        <a:t>Medone</a:t>
                      </a:r>
                      <a:r>
                        <a:rPr lang="en-US" sz="1100" b="0" i="0" u="none" strike="noStrike" kern="1200" noProof="0">
                          <a:solidFill>
                            <a:schemeClr val="dk1"/>
                          </a:solidFill>
                          <a:effectLst/>
                          <a:latin typeface="Times New Roman"/>
                          <a:ea typeface="+mn-ea"/>
                          <a:cs typeface="Times New Roman"/>
                        </a:rPr>
                        <a:t>, Concourse – Live in Production</a:t>
                      </a:r>
                      <a:endParaRPr lang="en-US"/>
                    </a:p>
                    <a:p>
                      <a:pPr lvl="0">
                        <a:buNone/>
                      </a:pPr>
                      <a:r>
                        <a:rPr lang="en-US" sz="1100" b="0" i="0" u="none" strike="noStrike" kern="1200" noProof="0">
                          <a:solidFill>
                            <a:schemeClr val="dk1"/>
                          </a:solidFill>
                          <a:effectLst/>
                          <a:latin typeface="Times New Roman"/>
                          <a:ea typeface="+mn-ea"/>
                          <a:cs typeface="Times New Roman"/>
                        </a:rPr>
                        <a:t>ECIF, S3 – Development and Testing Ongoing</a:t>
                      </a:r>
                      <a:endParaRPr lang="en-US"/>
                    </a:p>
                  </a:txBody>
                  <a:tcPr marL="9524" marR="9524" marT="9524" marB="0" anchor="ctr">
                    <a:lnL w="12700">
                      <a:solidFill>
                        <a:schemeClr val="tx1"/>
                      </a:solidFill>
                    </a:lnL>
                    <a:lnR w="12700">
                      <a:solidFill>
                        <a:schemeClr val="tx1"/>
                      </a:solidFill>
                    </a:lnR>
                    <a:lnT w="12700">
                      <a:solidFill>
                        <a:schemeClr val="tx1"/>
                      </a:solidFill>
                    </a:lnT>
                    <a:lnB w="12700">
                      <a:solidFill>
                        <a:schemeClr val="tx1"/>
                      </a:solidFill>
                    </a:lnB>
                    <a:lnTlToBr w="0">
                      <a:noFill/>
                    </a:lnTlToBr>
                    <a:lnBlToTr w="0">
                      <a:noFill/>
                    </a:lnBlToTr>
                    <a:solidFill>
                      <a:schemeClr val="bg1">
                        <a:lumMod val="85000"/>
                      </a:schemeClr>
                    </a:solidFill>
                  </a:tcPr>
                </a:tc>
                <a:extLst>
                  <a:ext uri="{0D108BD9-81ED-4DB2-BD59-A6C34878D82A}">
                    <a16:rowId xmlns:a16="http://schemas.microsoft.com/office/drawing/2014/main" val="1760694659"/>
                  </a:ext>
                </a:extLst>
              </a:tr>
            </a:tbl>
          </a:graphicData>
        </a:graphic>
      </p:graphicFrame>
      <p:graphicFrame>
        <p:nvGraphicFramePr>
          <p:cNvPr id="29" name="Table 28">
            <a:extLst>
              <a:ext uri="{FF2B5EF4-FFF2-40B4-BE49-F238E27FC236}">
                <a16:creationId xmlns:a16="http://schemas.microsoft.com/office/drawing/2014/main" id="{B433CFC7-39C9-4E14-3371-BD557695A86B}"/>
              </a:ext>
            </a:extLst>
          </p:cNvPr>
          <p:cNvGraphicFramePr>
            <a:graphicFrameLocks noGrp="1"/>
          </p:cNvGraphicFramePr>
          <p:nvPr/>
        </p:nvGraphicFramePr>
        <p:xfrm>
          <a:off x="4920083" y="4971994"/>
          <a:ext cx="7254527" cy="1109322"/>
        </p:xfrm>
        <a:graphic>
          <a:graphicData uri="http://schemas.openxmlformats.org/drawingml/2006/table">
            <a:tbl>
              <a:tblPr>
                <a:tableStyleId>{5C22544A-7EE6-4342-B048-85BDC9FD1C3A}</a:tableStyleId>
              </a:tblPr>
              <a:tblGrid>
                <a:gridCol w="2676817">
                  <a:extLst>
                    <a:ext uri="{9D8B030D-6E8A-4147-A177-3AD203B41FA5}">
                      <a16:colId xmlns:a16="http://schemas.microsoft.com/office/drawing/2014/main" val="2456552316"/>
                    </a:ext>
                  </a:extLst>
                </a:gridCol>
                <a:gridCol w="525650">
                  <a:extLst>
                    <a:ext uri="{9D8B030D-6E8A-4147-A177-3AD203B41FA5}">
                      <a16:colId xmlns:a16="http://schemas.microsoft.com/office/drawing/2014/main" val="1100051595"/>
                    </a:ext>
                  </a:extLst>
                </a:gridCol>
                <a:gridCol w="583806">
                  <a:extLst>
                    <a:ext uri="{9D8B030D-6E8A-4147-A177-3AD203B41FA5}">
                      <a16:colId xmlns:a16="http://schemas.microsoft.com/office/drawing/2014/main" val="2042261034"/>
                    </a:ext>
                  </a:extLst>
                </a:gridCol>
                <a:gridCol w="3468254">
                  <a:extLst>
                    <a:ext uri="{9D8B030D-6E8A-4147-A177-3AD203B41FA5}">
                      <a16:colId xmlns:a16="http://schemas.microsoft.com/office/drawing/2014/main" val="2815874248"/>
                    </a:ext>
                  </a:extLst>
                </a:gridCol>
              </a:tblGrid>
              <a:tr h="258561">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Critical Risks/Issues</a:t>
                      </a:r>
                      <a:endParaRPr kumimoji="0" lang="en-US" sz="1050" b="1" i="0" u="none" strike="noStrike" kern="1200" cap="none" normalizeH="0" baseline="0">
                        <a:ln>
                          <a:noFill/>
                        </a:ln>
                        <a:solidFill>
                          <a:schemeClr val="bg1"/>
                        </a:solidFill>
                        <a:effectLst/>
                        <a:latin typeface="Arial" charset="0"/>
                        <a:ea typeface="+mn-ea"/>
                        <a:cs typeface="+mn-cs"/>
                      </a:endParaRP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kumimoji="0" lang="en-US" sz="1050" b="1" i="0" u="none" strike="noStrike" kern="1200" cap="none" normalizeH="0" baseline="0">
                          <a:ln>
                            <a:noFill/>
                          </a:ln>
                          <a:solidFill>
                            <a:schemeClr val="bg1"/>
                          </a:solidFill>
                          <a:effectLst/>
                          <a:latin typeface="Arial"/>
                          <a:ea typeface="+mn-ea"/>
                          <a:cs typeface="+mn-cs"/>
                        </a:rPr>
                        <a:t>Status</a:t>
                      </a:r>
                    </a:p>
                  </a:txBody>
                  <a:tcPr marL="9525" marR="9525" marT="9525" marB="0" anchor="ct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0" fontAlgn="base" latinLnBrk="0" hangingPunct="0">
                        <a:lnSpc>
                          <a:spcPct val="95000"/>
                        </a:lnSpc>
                        <a:spcBef>
                          <a:spcPct val="0"/>
                        </a:spcBef>
                        <a:spcAft>
                          <a:spcPct val="50000"/>
                        </a:spcAft>
                        <a:buClrTx/>
                        <a:buSzTx/>
                        <a:buFontTx/>
                        <a:buNone/>
                        <a:tabLst/>
                      </a:pPr>
                      <a:r>
                        <a:rPr kumimoji="0" lang="en-US" sz="1050" b="1" i="0" u="none" strike="noStrike" kern="1200" cap="none" normalizeH="0" baseline="0">
                          <a:ln>
                            <a:noFill/>
                          </a:ln>
                          <a:solidFill>
                            <a:schemeClr val="bg1"/>
                          </a:solidFill>
                          <a:effectLst/>
                          <a:latin typeface="Arial"/>
                          <a:ea typeface="+mn-ea"/>
                          <a:cs typeface="+mn-cs"/>
                        </a:rPr>
                        <a:t>Target Date</a:t>
                      </a:r>
                    </a:p>
                  </a:txBody>
                  <a:tcPr marL="9525" marR="9525" marT="9525" marB="0" anchor="ctr">
                    <a:lnL w="12700">
                      <a:solidFill>
                        <a:schemeClr val="tx1"/>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rtl="0" eaLnBrk="0" fontAlgn="base" latinLnBrk="0" hangingPunct="0">
                        <a:lnSpc>
                          <a:spcPct val="95000"/>
                        </a:lnSpc>
                        <a:spcBef>
                          <a:spcPct val="0"/>
                        </a:spcBef>
                        <a:spcAft>
                          <a:spcPct val="50000"/>
                        </a:spcAft>
                        <a:buClrTx/>
                        <a:buSzTx/>
                        <a:buFontTx/>
                        <a:buNone/>
                      </a:pPr>
                      <a:r>
                        <a:rPr lang="en-US" sz="1050" b="1" i="0" u="none" strike="noStrike" kern="1200" cap="none" normalizeH="0" baseline="0">
                          <a:ln>
                            <a:noFill/>
                          </a:ln>
                          <a:solidFill>
                            <a:schemeClr val="bg1"/>
                          </a:solidFill>
                          <a:effectLst/>
                          <a:latin typeface="Arial"/>
                          <a:ea typeface="+mn-ea"/>
                          <a:cs typeface="+mn-cs"/>
                        </a:rPr>
                        <a:t> </a:t>
                      </a:r>
                      <a:r>
                        <a:rPr kumimoji="0" lang="en-US" sz="1050" b="1" i="0" u="none" strike="noStrike" kern="1200" cap="none" normalizeH="0" baseline="0">
                          <a:ln>
                            <a:noFill/>
                          </a:ln>
                          <a:solidFill>
                            <a:schemeClr val="bg1"/>
                          </a:solidFill>
                          <a:effectLst/>
                          <a:latin typeface="Arial"/>
                          <a:ea typeface="+mn-ea"/>
                          <a:cs typeface="+mn-cs"/>
                        </a:rPr>
                        <a:t>Resolution / Mitigation</a:t>
                      </a:r>
                      <a:endParaRPr kumimoji="0" lang="en-US" sz="1050" b="1" i="0" u="none" strike="noStrike" kern="1200" cap="none" normalizeH="0" baseline="0">
                        <a:ln>
                          <a:noFill/>
                        </a:ln>
                        <a:solidFill>
                          <a:schemeClr val="bg1"/>
                        </a:solidFill>
                        <a:effectLst/>
                        <a:latin typeface="Arial"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76731857"/>
                  </a:ext>
                </a:extLst>
              </a:tr>
              <a:tr h="795759">
                <a:tc>
                  <a:txBody>
                    <a:bodyPr/>
                    <a:lstStyle/>
                    <a:p>
                      <a:pPr marL="0" marR="0" lvl="0" indent="0" algn="l" rtl="0" eaLnBrk="1" fontAlgn="auto" latinLnBrk="0" hangingPunct="1">
                        <a:lnSpc>
                          <a:spcPct val="115000"/>
                        </a:lnSpc>
                        <a:spcBef>
                          <a:spcPts val="0"/>
                        </a:spcBef>
                        <a:spcAft>
                          <a:spcPts val="800"/>
                        </a:spcAft>
                        <a:buClrTx/>
                        <a:buSzTx/>
                        <a:buFontTx/>
                        <a:buNone/>
                      </a:pPr>
                      <a:r>
                        <a:rPr lang="en-US" sz="800">
                          <a:latin typeface="+mn-lt"/>
                        </a:rPr>
                        <a:t>There is no scheduled warranty by when the Talend jobs will stop running</a:t>
                      </a: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r>
                        <a:rPr lang="en-US" sz="800" b="0" kern="1200">
                          <a:solidFill>
                            <a:schemeClr val="tx1"/>
                          </a:solidFill>
                          <a:effectLst/>
                          <a:latin typeface="+mn-lt"/>
                          <a:ea typeface="+mn-ea"/>
                          <a:cs typeface="+mn-cs"/>
                        </a:rPr>
                        <a:t>C</a:t>
                      </a:r>
                    </a:p>
                  </a:txBody>
                  <a:tcPr marL="9525" marR="9525" marT="9525" marB="0" anchor="ct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95000"/>
                        </a:lnSpc>
                        <a:spcBef>
                          <a:spcPct val="0"/>
                        </a:spcBef>
                        <a:spcAft>
                          <a:spcPct val="50000"/>
                        </a:spcAft>
                        <a:buClrTx/>
                        <a:buSzTx/>
                        <a:buFontTx/>
                        <a:buNone/>
                        <a:tabLst/>
                      </a:pPr>
                      <a:r>
                        <a:rPr lang="en-US" sz="800" b="0" strike="noStrike" kern="1200">
                          <a:solidFill>
                            <a:schemeClr val="tx1"/>
                          </a:solidFill>
                          <a:effectLst/>
                          <a:latin typeface="+mn-lt"/>
                          <a:ea typeface="+mn-ea"/>
                          <a:cs typeface="+mn-cs"/>
                        </a:rPr>
                        <a:t>7/7</a:t>
                      </a:r>
                    </a:p>
                  </a:txBody>
                  <a:tcPr marL="9525" marR="9525" marT="9525" marB="0" anchor="ctr">
                    <a:lnL w="12700">
                      <a:solidFill>
                        <a:schemeClr val="tx1"/>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eaLnBrk="1" fontAlgn="base" latinLnBrk="0" hangingPunct="1">
                        <a:lnSpc>
                          <a:spcPct val="100000"/>
                        </a:lnSpc>
                        <a:spcBef>
                          <a:spcPts val="200"/>
                        </a:spcBef>
                        <a:spcAft>
                          <a:spcPts val="0"/>
                        </a:spcAft>
                        <a:buClrTx/>
                        <a:buSzTx/>
                        <a:buFont typeface="Arial" panose="020B0604020202020204" pitchFamily="34" charset="0"/>
                        <a:buNone/>
                      </a:pPr>
                      <a:r>
                        <a:rPr lang="en-US" sz="800" b="0" strike="noStrike" kern="1200">
                          <a:solidFill>
                            <a:schemeClr val="tx1"/>
                          </a:solidFill>
                          <a:effectLst/>
                          <a:latin typeface="+mn-lt"/>
                          <a:ea typeface="+mn-ea"/>
                          <a:cs typeface="+mn-cs"/>
                        </a:rPr>
                        <a:t>GIN component was migrated to Python on 6/30 and Planning to move the </a:t>
                      </a:r>
                      <a:r>
                        <a:rPr lang="en-US" sz="800" b="0" strike="noStrike" kern="1200" err="1">
                          <a:solidFill>
                            <a:schemeClr val="tx1"/>
                          </a:solidFill>
                          <a:effectLst/>
                          <a:latin typeface="+mn-lt"/>
                          <a:ea typeface="+mn-ea"/>
                          <a:cs typeface="+mn-cs"/>
                        </a:rPr>
                        <a:t>remaning</a:t>
                      </a:r>
                      <a:r>
                        <a:rPr lang="en-US" sz="800" b="0" strike="noStrike" kern="1200">
                          <a:solidFill>
                            <a:schemeClr val="tx1"/>
                          </a:solidFill>
                          <a:effectLst/>
                          <a:latin typeface="+mn-lt"/>
                          <a:ea typeface="+mn-ea"/>
                          <a:cs typeface="+mn-cs"/>
                        </a:rPr>
                        <a:t> jobs on 7/7</a:t>
                      </a: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7499024"/>
                  </a:ext>
                </a:extLst>
              </a:tr>
            </a:tbl>
          </a:graphicData>
        </a:graphic>
      </p:graphicFrame>
      <p:sp>
        <p:nvSpPr>
          <p:cNvPr id="33" name="Flowchart: Connector 32">
            <a:extLst>
              <a:ext uri="{FF2B5EF4-FFF2-40B4-BE49-F238E27FC236}">
                <a16:creationId xmlns:a16="http://schemas.microsoft.com/office/drawing/2014/main" id="{A6D05910-0998-0B92-C63D-A33130125C67}"/>
              </a:ext>
            </a:extLst>
          </p:cNvPr>
          <p:cNvSpPr/>
          <p:nvPr/>
        </p:nvSpPr>
        <p:spPr>
          <a:xfrm>
            <a:off x="6729886" y="6416791"/>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4" name="Flowchart: Connector 33">
            <a:extLst>
              <a:ext uri="{FF2B5EF4-FFF2-40B4-BE49-F238E27FC236}">
                <a16:creationId xmlns:a16="http://schemas.microsoft.com/office/drawing/2014/main" id="{CDD1F46F-241B-4FC1-A30D-F90AAF2E5A4A}"/>
              </a:ext>
            </a:extLst>
          </p:cNvPr>
          <p:cNvSpPr/>
          <p:nvPr/>
        </p:nvSpPr>
        <p:spPr>
          <a:xfrm>
            <a:off x="7797764" y="6417067"/>
            <a:ext cx="163286" cy="164592"/>
          </a:xfrm>
          <a:prstGeom prst="flowChartConnector">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6" name="Flowchart: Connector 35">
            <a:extLst>
              <a:ext uri="{FF2B5EF4-FFF2-40B4-BE49-F238E27FC236}">
                <a16:creationId xmlns:a16="http://schemas.microsoft.com/office/drawing/2014/main" id="{863E84BA-533E-B28E-7338-B2EFFE6A3EB3}"/>
              </a:ext>
            </a:extLst>
          </p:cNvPr>
          <p:cNvSpPr/>
          <p:nvPr/>
        </p:nvSpPr>
        <p:spPr>
          <a:xfrm>
            <a:off x="8784000" y="6405062"/>
            <a:ext cx="163285" cy="164592"/>
          </a:xfrm>
          <a:prstGeom prst="flowChartConnector">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3" name="Flowchart: Connector 42">
            <a:extLst>
              <a:ext uri="{FF2B5EF4-FFF2-40B4-BE49-F238E27FC236}">
                <a16:creationId xmlns:a16="http://schemas.microsoft.com/office/drawing/2014/main" id="{4C0C232A-E4DC-7AF6-6A59-8E3ABAE798B9}"/>
              </a:ext>
            </a:extLst>
          </p:cNvPr>
          <p:cNvSpPr/>
          <p:nvPr/>
        </p:nvSpPr>
        <p:spPr>
          <a:xfrm>
            <a:off x="3303638" y="1403331"/>
            <a:ext cx="163285" cy="164592"/>
          </a:xfrm>
          <a:prstGeom prst="flowChartConnector">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6" name="Flowchart: Connector 45">
            <a:extLst>
              <a:ext uri="{FF2B5EF4-FFF2-40B4-BE49-F238E27FC236}">
                <a16:creationId xmlns:a16="http://schemas.microsoft.com/office/drawing/2014/main" id="{4120D0A5-EB6F-991C-B3B1-3C3ADAA7C74C}"/>
              </a:ext>
            </a:extLst>
          </p:cNvPr>
          <p:cNvSpPr/>
          <p:nvPr/>
        </p:nvSpPr>
        <p:spPr>
          <a:xfrm>
            <a:off x="5143033" y="1403331"/>
            <a:ext cx="163285" cy="164592"/>
          </a:xfrm>
          <a:prstGeom prst="flowChartConnector">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7" name="Flowchart: Connector 46">
            <a:extLst>
              <a:ext uri="{FF2B5EF4-FFF2-40B4-BE49-F238E27FC236}">
                <a16:creationId xmlns:a16="http://schemas.microsoft.com/office/drawing/2014/main" id="{96C6F5DE-9CC8-74FD-0FBC-2B81FC6B7A02}"/>
              </a:ext>
            </a:extLst>
          </p:cNvPr>
          <p:cNvSpPr/>
          <p:nvPr/>
        </p:nvSpPr>
        <p:spPr>
          <a:xfrm>
            <a:off x="6078524" y="1403331"/>
            <a:ext cx="163285" cy="164592"/>
          </a:xfrm>
          <a:prstGeom prst="flowChartConnector">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 name="TextBox 4">
            <a:extLst>
              <a:ext uri="{FF2B5EF4-FFF2-40B4-BE49-F238E27FC236}">
                <a16:creationId xmlns:a16="http://schemas.microsoft.com/office/drawing/2014/main" id="{AF159992-7792-EF88-89AB-94BFAB5F2BE8}"/>
              </a:ext>
            </a:extLst>
          </p:cNvPr>
          <p:cNvSpPr txBox="1"/>
          <p:nvPr/>
        </p:nvSpPr>
        <p:spPr>
          <a:xfrm>
            <a:off x="111476" y="1707675"/>
            <a:ext cx="4743293" cy="1500667"/>
          </a:xfrm>
          <a:prstGeom prst="rect">
            <a:avLst/>
          </a:prstGeom>
          <a:noFill/>
        </p:spPr>
        <p:txBody>
          <a:bodyPr wrap="square" lIns="91440" tIns="45720" rIns="91440" bIns="4572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prstClr val="black"/>
                </a:solidFill>
                <a:effectLst/>
                <a:uLnTx/>
                <a:uFillTx/>
                <a:ea typeface="+mn-ea"/>
                <a:cs typeface="+mn-cs"/>
              </a:rPr>
              <a:t>Status: </a:t>
            </a:r>
          </a:p>
          <a:p>
            <a:pPr>
              <a:defRPr/>
            </a:pPr>
            <a:r>
              <a:rPr kumimoji="0" lang="en-US" sz="900" b="0" i="0" u="none" strike="noStrike" kern="100" cap="none" spc="0" normalizeH="0" baseline="0" noProof="0">
                <a:ln>
                  <a:noFill/>
                </a:ln>
                <a:solidFill>
                  <a:prstClr val="black"/>
                </a:solidFill>
                <a:effectLst/>
                <a:uLnTx/>
                <a:uFillTx/>
                <a:ea typeface="+mn-ea"/>
                <a:cs typeface="Times New Roman"/>
              </a:rPr>
              <a:t>Overall Status</a:t>
            </a:r>
            <a:r>
              <a:rPr lang="en-US" sz="900" kern="100">
                <a:solidFill>
                  <a:prstClr val="black"/>
                </a:solidFill>
                <a:cs typeface="Times New Roman"/>
              </a:rPr>
              <a:t> Yellow</a:t>
            </a:r>
            <a:endParaRPr lang="en-US" sz="900" b="0" i="0" u="none" strike="noStrike" kern="100" cap="none" spc="0" normalizeH="0" baseline="0" noProof="0">
              <a:ln>
                <a:noFill/>
              </a:ln>
              <a:solidFill>
                <a:prstClr val="black"/>
              </a:solidFill>
              <a:effectLst/>
              <a:highlight>
                <a:srgbClr val="92D050"/>
              </a:highlight>
              <a:uLnTx/>
              <a:uFillTx/>
              <a:cs typeface="Times New Roman"/>
            </a:endParaRPr>
          </a:p>
          <a:p>
            <a:pPr marL="171450" marR="0" lvl="0" indent="-171450" algn="l" defTabSz="914400" rtl="0" eaLnBrk="1" fontAlgn="auto" latinLnBrk="0" hangingPunct="1">
              <a:lnSpc>
                <a:spcPct val="115000"/>
              </a:lnSpc>
              <a:spcBef>
                <a:spcPts val="200"/>
              </a:spcBef>
              <a:spcAft>
                <a:spcPts val="0"/>
              </a:spcAft>
              <a:buClrTx/>
              <a:buSzPts val="1000"/>
              <a:buFont typeface="Arial" panose="020B0604020202020204" pitchFamily="34" charset="0"/>
              <a:buChar char="•"/>
              <a:tabLst>
                <a:tab pos="457200" algn="l"/>
              </a:tabLst>
              <a:defRPr/>
            </a:pPr>
            <a:endParaRPr lang="en-US" sz="900" i="0" u="none" strike="noStrike" kern="100" cap="none" spc="0" normalizeH="0" baseline="0" noProof="0">
              <a:ln>
                <a:noFill/>
              </a:ln>
              <a:solidFill>
                <a:prstClr val="black"/>
              </a:solidFill>
              <a:effectLst/>
              <a:uLnTx/>
              <a:uFillTx/>
              <a:ea typeface="Aptos" panose="020B0004020202020204" pitchFamily="34" charset="0"/>
              <a:cs typeface="Times New Roman"/>
            </a:endParaRPr>
          </a:p>
          <a:p>
            <a:pPr marL="0" marR="0" lvl="0" indent="0" algn="l" defTabSz="914400" rtl="0" eaLnBrk="1" fontAlgn="auto" latinLnBrk="0" hangingPunct="1">
              <a:lnSpc>
                <a:spcPct val="115000"/>
              </a:lnSpc>
              <a:spcBef>
                <a:spcPts val="200"/>
              </a:spcBef>
              <a:spcAft>
                <a:spcPts val="0"/>
              </a:spcAft>
              <a:buClrTx/>
              <a:buSzPts val="1000"/>
              <a:buFontTx/>
              <a:buNone/>
              <a:tabLst>
                <a:tab pos="457200" algn="l"/>
              </a:tabLst>
              <a:defRPr/>
            </a:pPr>
            <a:r>
              <a:rPr kumimoji="0" lang="en-US" sz="900" b="1" i="0" u="none" strike="noStrike" kern="100" cap="none" spc="0" normalizeH="0" baseline="0" noProof="0">
                <a:ln>
                  <a:noFill/>
                </a:ln>
                <a:solidFill>
                  <a:prstClr val="black"/>
                </a:solidFill>
                <a:effectLst/>
                <a:uLnTx/>
                <a:uFillTx/>
                <a:ea typeface="Aptos" panose="020B0004020202020204" pitchFamily="34" charset="0"/>
                <a:cs typeface="Times New Roman"/>
              </a:rPr>
              <a:t>Highlights:</a:t>
            </a:r>
          </a:p>
          <a:p>
            <a:pPr marL="171450" indent="-171450">
              <a:lnSpc>
                <a:spcPct val="114999"/>
              </a:lnSpc>
              <a:spcBef>
                <a:spcPts val="200"/>
              </a:spcBef>
              <a:buSzPts val="1000"/>
              <a:buFont typeface="Arial" panose="020B0604020202020204" pitchFamily="34" charset="0"/>
              <a:buChar char="•"/>
              <a:tabLst>
                <a:tab pos="457200" algn="l"/>
              </a:tabLst>
              <a:defRPr/>
            </a:pPr>
            <a:r>
              <a:rPr lang="en-US" sz="900" b="1" kern="100">
                <a:solidFill>
                  <a:prstClr val="black"/>
                </a:solidFill>
                <a:cs typeface="Arial"/>
              </a:rPr>
              <a:t>ANT</a:t>
            </a:r>
            <a:r>
              <a:rPr lang="en-US" sz="900" b="1" kern="100">
                <a:solidFill>
                  <a:prstClr val="black"/>
                </a:solidFill>
              </a:rPr>
              <a:t>, DOG, CAT, RAT, PIG, BAA</a:t>
            </a:r>
            <a:r>
              <a:rPr lang="en-US" sz="900" b="1" kern="100">
                <a:solidFill>
                  <a:prstClr val="black"/>
                </a:solidFill>
                <a:cs typeface="Arial"/>
              </a:rPr>
              <a:t>, EDI &amp; OP reports :</a:t>
            </a:r>
            <a:r>
              <a:rPr lang="en-US" sz="900" kern="100">
                <a:solidFill>
                  <a:prstClr val="black"/>
                </a:solidFill>
                <a:cs typeface="Arial"/>
              </a:rPr>
              <a:t> </a:t>
            </a:r>
            <a:r>
              <a:rPr lang="en-US" sz="1100" kern="100">
                <a:solidFill>
                  <a:prstClr val="black"/>
                </a:solidFill>
                <a:ea typeface="+mn-lt"/>
                <a:cs typeface="+mn-lt"/>
              </a:rPr>
              <a:t>Live in Production</a:t>
            </a:r>
          </a:p>
          <a:p>
            <a:pPr marL="171450" indent="-171450">
              <a:lnSpc>
                <a:spcPct val="114999"/>
              </a:lnSpc>
              <a:spcBef>
                <a:spcPts val="200"/>
              </a:spcBef>
              <a:buSzPts val="1000"/>
              <a:buFont typeface="Arial" panose="020B0604020202020204" pitchFamily="34" charset="0"/>
              <a:buChar char="•"/>
              <a:defRPr/>
            </a:pPr>
            <a:r>
              <a:rPr lang="en-US" sz="900" kern="100">
                <a:solidFill>
                  <a:prstClr val="black"/>
                </a:solidFill>
                <a:cs typeface="Times New Roman"/>
              </a:rPr>
              <a:t>Phase 3 GIN components – Live in Production</a:t>
            </a:r>
          </a:p>
          <a:p>
            <a:pPr marL="171450" indent="-171450">
              <a:lnSpc>
                <a:spcPct val="114999"/>
              </a:lnSpc>
              <a:spcBef>
                <a:spcPts val="200"/>
              </a:spcBef>
              <a:buSzPts val="1000"/>
              <a:buFont typeface="Arial" panose="020B0604020202020204" pitchFamily="34" charset="0"/>
              <a:buChar char="•"/>
              <a:defRPr/>
            </a:pPr>
            <a:r>
              <a:rPr lang="en-US" sz="900" kern="100">
                <a:solidFill>
                  <a:prstClr val="black"/>
                </a:solidFill>
                <a:cs typeface="Times New Roman"/>
              </a:rPr>
              <a:t>Phase 2 – </a:t>
            </a:r>
            <a:r>
              <a:rPr lang="en-US" sz="900" kern="100" err="1">
                <a:solidFill>
                  <a:prstClr val="black"/>
                </a:solidFill>
                <a:cs typeface="Times New Roman"/>
              </a:rPr>
              <a:t>Medone</a:t>
            </a:r>
            <a:r>
              <a:rPr lang="en-US" sz="900" kern="100">
                <a:solidFill>
                  <a:prstClr val="black"/>
                </a:solidFill>
                <a:cs typeface="Times New Roman"/>
              </a:rPr>
              <a:t> and </a:t>
            </a:r>
            <a:r>
              <a:rPr lang="en-US" sz="900" kern="100" err="1">
                <a:solidFill>
                  <a:prstClr val="black"/>
                </a:solidFill>
                <a:cs typeface="Times New Roman"/>
              </a:rPr>
              <a:t>Concurse</a:t>
            </a:r>
            <a:r>
              <a:rPr lang="en-US" sz="900" kern="100">
                <a:solidFill>
                  <a:prstClr val="black"/>
                </a:solidFill>
                <a:cs typeface="Times New Roman"/>
              </a:rPr>
              <a:t> Deployed and live in production</a:t>
            </a:r>
          </a:p>
          <a:p>
            <a:pPr marL="171450" indent="-171450">
              <a:lnSpc>
                <a:spcPct val="114999"/>
              </a:lnSpc>
              <a:spcBef>
                <a:spcPts val="200"/>
              </a:spcBef>
              <a:buSzPts val="1000"/>
              <a:buFont typeface="Arial" panose="020B0604020202020204" pitchFamily="34" charset="0"/>
              <a:buChar char="•"/>
              <a:defRPr/>
            </a:pPr>
            <a:r>
              <a:rPr lang="en-US" sz="900" kern="100">
                <a:solidFill>
                  <a:prstClr val="black"/>
                </a:solidFill>
                <a:cs typeface="Times New Roman"/>
              </a:rPr>
              <a:t>Phase 2 – S3 and ECIF Live in production</a:t>
            </a:r>
          </a:p>
        </p:txBody>
      </p:sp>
      <p:sp>
        <p:nvSpPr>
          <p:cNvPr id="3" name="TextBox 2">
            <a:extLst>
              <a:ext uri="{FF2B5EF4-FFF2-40B4-BE49-F238E27FC236}">
                <a16:creationId xmlns:a16="http://schemas.microsoft.com/office/drawing/2014/main" id="{8EA13B89-3E26-5531-52FC-24065B0D32F2}"/>
              </a:ext>
            </a:extLst>
          </p:cNvPr>
          <p:cNvSpPr txBox="1"/>
          <p:nvPr/>
        </p:nvSpPr>
        <p:spPr>
          <a:xfrm>
            <a:off x="9350357" y="71618"/>
            <a:ext cx="2676180" cy="517320"/>
          </a:xfrm>
          <a:prstGeom prst="rect">
            <a:avLst/>
          </a:prstGeom>
          <a:noFill/>
        </p:spPr>
        <p:txBody>
          <a:bodyPr wrap="none" lIns="0" tIns="0" rIns="0" bIns="0" rtlCol="0" anchor="t">
            <a:noAutofit/>
          </a:bodyPr>
          <a:lstStyle/>
          <a:p>
            <a:pPr>
              <a:lnSpc>
                <a:spcPct val="112000"/>
              </a:lnSpc>
              <a:defRPr/>
            </a:pPr>
            <a:r>
              <a:rPr lang="en-US" sz="1200">
                <a:solidFill>
                  <a:prstClr val="black"/>
                </a:solidFill>
                <a:latin typeface="Aptos" panose="02110004020202020204"/>
              </a:rPr>
              <a:t>Project Manager </a:t>
            </a:r>
            <a:r>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t>: </a:t>
            </a:r>
            <a:r>
              <a:rPr lang="en-US" sz="1200">
                <a:solidFill>
                  <a:prstClr val="black"/>
                </a:solidFill>
                <a:latin typeface="Aptos" panose="02110004020202020204"/>
              </a:rPr>
              <a:t>Rekha Kothandaraman</a:t>
            </a:r>
            <a:endParaRPr lang="en-US">
              <a:solidFill>
                <a:prstClr val="black"/>
              </a:solidFill>
              <a:ea typeface="+mn-ea"/>
              <a:cs typeface="+mn-cs"/>
            </a:endParaRPr>
          </a:p>
          <a:p>
            <a:pPr>
              <a:lnSpc>
                <a:spcPct val="112000"/>
              </a:lnSpc>
              <a:defRPr/>
            </a:pPr>
            <a:r>
              <a:rPr kumimoji="0" lang="en-US" sz="1200" b="0" i="0" u="none" strike="noStrike" kern="1200" cap="none" spc="0" normalizeH="0" baseline="0" noProof="0" err="1">
                <a:ln>
                  <a:noFill/>
                </a:ln>
                <a:solidFill>
                  <a:prstClr val="black"/>
                </a:solidFill>
                <a:effectLst/>
                <a:uLnTx/>
                <a:uFillTx/>
                <a:latin typeface="Aptos" panose="02110004020202020204"/>
                <a:ea typeface="+mn-ea"/>
                <a:cs typeface="+mn-cs"/>
              </a:rPr>
              <a:t>OpEx</a:t>
            </a:r>
            <a:r>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t> Business Lead: </a:t>
            </a:r>
            <a:r>
              <a:rPr lang="en-US" sz="1200">
                <a:solidFill>
                  <a:prstClr val="black"/>
                </a:solidFill>
                <a:latin typeface="Aptos" panose="02110004020202020204"/>
              </a:rPr>
              <a:t>Victor</a:t>
            </a:r>
            <a:endParaRPr lang="en-US" sz="1200" b="0" i="0" u="none" strike="noStrike" kern="1200" cap="none" spc="0" normalizeH="0" baseline="0" noProof="0">
              <a:ln>
                <a:noFill/>
              </a:ln>
              <a:solidFill>
                <a:prstClr val="black"/>
              </a:solidFill>
              <a:effectLst/>
              <a:uLnTx/>
              <a:uFillTx/>
              <a:latin typeface="Aptos" panose="02110004020202020204"/>
            </a:endParaRPr>
          </a:p>
        </p:txBody>
      </p:sp>
      <p:sp>
        <p:nvSpPr>
          <p:cNvPr id="6" name="Flowchart: Connector 5">
            <a:extLst>
              <a:ext uri="{FF2B5EF4-FFF2-40B4-BE49-F238E27FC236}">
                <a16:creationId xmlns:a16="http://schemas.microsoft.com/office/drawing/2014/main" id="{88AB5541-7B6B-5DA1-B510-D5E29D1D5207}"/>
              </a:ext>
            </a:extLst>
          </p:cNvPr>
          <p:cNvSpPr/>
          <p:nvPr/>
        </p:nvSpPr>
        <p:spPr>
          <a:xfrm>
            <a:off x="4250024" y="1406342"/>
            <a:ext cx="163285" cy="164592"/>
          </a:xfrm>
          <a:prstGeom prst="flowChartConnector">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11309349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4871E4-7479-133C-D662-47AD04CE4CE1}"/>
              </a:ext>
            </a:extLst>
          </p:cNvPr>
          <p:cNvSpPr>
            <a:spLocks noGrp="1"/>
          </p:cNvSpPr>
          <p:nvPr>
            <p:ph type="title"/>
          </p:nvPr>
        </p:nvSpPr>
        <p:spPr/>
        <p:txBody>
          <a:bodyPr/>
          <a:lstStyle/>
          <a:p>
            <a:r>
              <a:rPr lang="en-US"/>
              <a:t>Planning Funnel</a:t>
            </a:r>
          </a:p>
        </p:txBody>
      </p:sp>
    </p:spTree>
    <p:extLst>
      <p:ext uri="{BB962C8B-B14F-4D97-AF65-F5344CB8AC3E}">
        <p14:creationId xmlns:p14="http://schemas.microsoft.com/office/powerpoint/2010/main" val="167435343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CAE2D9-8625-2669-BD55-89B0675546B5}"/>
              </a:ext>
            </a:extLst>
          </p:cNvPr>
          <p:cNvSpPr>
            <a:spLocks noGrp="1"/>
          </p:cNvSpPr>
          <p:nvPr>
            <p:ph type="title"/>
          </p:nvPr>
        </p:nvSpPr>
        <p:spPr>
          <a:xfrm>
            <a:off x="517088" y="202821"/>
            <a:ext cx="10515600" cy="653214"/>
          </a:xfrm>
        </p:spPr>
        <p:txBody>
          <a:bodyPr>
            <a:normAutofit/>
          </a:bodyPr>
          <a:lstStyle/>
          <a:p>
            <a:r>
              <a:rPr lang="en-US"/>
              <a:t>Business Backlog</a:t>
            </a:r>
          </a:p>
        </p:txBody>
      </p:sp>
      <p:graphicFrame>
        <p:nvGraphicFramePr>
          <p:cNvPr id="4" name="Table 3">
            <a:extLst>
              <a:ext uri="{FF2B5EF4-FFF2-40B4-BE49-F238E27FC236}">
                <a16:creationId xmlns:a16="http://schemas.microsoft.com/office/drawing/2014/main" id="{E107FD2B-5BD9-033F-36D9-C9117C021FBC}"/>
              </a:ext>
            </a:extLst>
          </p:cNvPr>
          <p:cNvGraphicFramePr>
            <a:graphicFrameLocks noGrp="1"/>
          </p:cNvGraphicFramePr>
          <p:nvPr/>
        </p:nvGraphicFramePr>
        <p:xfrm>
          <a:off x="517088" y="1950833"/>
          <a:ext cx="11132012" cy="3321507"/>
        </p:xfrm>
        <a:graphic>
          <a:graphicData uri="http://schemas.openxmlformats.org/drawingml/2006/table">
            <a:tbl>
              <a:tblPr>
                <a:tableStyleId>{5C22544A-7EE6-4342-B048-85BDC9FD1C3A}</a:tableStyleId>
              </a:tblPr>
              <a:tblGrid>
                <a:gridCol w="2408747">
                  <a:extLst>
                    <a:ext uri="{9D8B030D-6E8A-4147-A177-3AD203B41FA5}">
                      <a16:colId xmlns:a16="http://schemas.microsoft.com/office/drawing/2014/main" val="3471638855"/>
                    </a:ext>
                  </a:extLst>
                </a:gridCol>
                <a:gridCol w="658193">
                  <a:extLst>
                    <a:ext uri="{9D8B030D-6E8A-4147-A177-3AD203B41FA5}">
                      <a16:colId xmlns:a16="http://schemas.microsoft.com/office/drawing/2014/main" val="3028352674"/>
                    </a:ext>
                  </a:extLst>
                </a:gridCol>
                <a:gridCol w="893379">
                  <a:extLst>
                    <a:ext uri="{9D8B030D-6E8A-4147-A177-3AD203B41FA5}">
                      <a16:colId xmlns:a16="http://schemas.microsoft.com/office/drawing/2014/main" val="1498653313"/>
                    </a:ext>
                  </a:extLst>
                </a:gridCol>
                <a:gridCol w="903890">
                  <a:extLst>
                    <a:ext uri="{9D8B030D-6E8A-4147-A177-3AD203B41FA5}">
                      <a16:colId xmlns:a16="http://schemas.microsoft.com/office/drawing/2014/main" val="426403746"/>
                    </a:ext>
                  </a:extLst>
                </a:gridCol>
                <a:gridCol w="798248">
                  <a:extLst>
                    <a:ext uri="{9D8B030D-6E8A-4147-A177-3AD203B41FA5}">
                      <a16:colId xmlns:a16="http://schemas.microsoft.com/office/drawing/2014/main" val="1774357251"/>
                    </a:ext>
                  </a:extLst>
                </a:gridCol>
                <a:gridCol w="694107">
                  <a:extLst>
                    <a:ext uri="{9D8B030D-6E8A-4147-A177-3AD203B41FA5}">
                      <a16:colId xmlns:a16="http://schemas.microsoft.com/office/drawing/2014/main" val="3578533005"/>
                    </a:ext>
                  </a:extLst>
                </a:gridCol>
                <a:gridCol w="795907">
                  <a:extLst>
                    <a:ext uri="{9D8B030D-6E8A-4147-A177-3AD203B41FA5}">
                      <a16:colId xmlns:a16="http://schemas.microsoft.com/office/drawing/2014/main" val="125616475"/>
                    </a:ext>
                  </a:extLst>
                </a:gridCol>
                <a:gridCol w="3979541">
                  <a:extLst>
                    <a:ext uri="{9D8B030D-6E8A-4147-A177-3AD203B41FA5}">
                      <a16:colId xmlns:a16="http://schemas.microsoft.com/office/drawing/2014/main" val="2731508636"/>
                    </a:ext>
                  </a:extLst>
                </a:gridCol>
              </a:tblGrid>
              <a:tr h="529217">
                <a:tc>
                  <a:txBody>
                    <a:bodyPr/>
                    <a:lstStyle/>
                    <a:p>
                      <a:pPr algn="ctr" fontAlgn="b">
                        <a:buNone/>
                      </a:pPr>
                      <a:r>
                        <a:rPr lang="en-US" sz="1100" u="none" strike="noStrike">
                          <a:solidFill>
                            <a:schemeClr val="tx1"/>
                          </a:solidFill>
                          <a:effectLst/>
                        </a:rPr>
                        <a:t>Description</a:t>
                      </a:r>
                      <a:endParaRPr lang="en-US" sz="1100" b="1" i="0" u="none" strike="noStrike">
                        <a:solidFill>
                          <a:schemeClr val="tx1"/>
                        </a:solidFill>
                        <a:effectLst/>
                        <a:latin typeface="Aptos Narrow" panose="020B0004020202020204" pitchFamily="34" charset="0"/>
                      </a:endParaRPr>
                    </a:p>
                  </a:txBody>
                  <a:tcPr marL="0" marR="0" marT="0" marB="0" anchor="b">
                    <a:lnB w="12700" cap="flat" cmpd="sng" algn="ctr">
                      <a:solidFill>
                        <a:srgbClr val="72B0BD"/>
                      </a:solidFill>
                      <a:prstDash val="solid"/>
                      <a:round/>
                      <a:headEnd type="none" w="med" len="med"/>
                      <a:tailEnd type="none" w="med" len="med"/>
                    </a:lnB>
                    <a:solidFill>
                      <a:schemeClr val="accent1">
                        <a:lumMod val="40000"/>
                        <a:lumOff val="60000"/>
                      </a:schemeClr>
                    </a:solidFill>
                  </a:tcPr>
                </a:tc>
                <a:tc>
                  <a:txBody>
                    <a:bodyPr/>
                    <a:lstStyle/>
                    <a:p>
                      <a:pPr algn="ctr" fontAlgn="b">
                        <a:buNone/>
                      </a:pPr>
                      <a:r>
                        <a:rPr lang="en-US" sz="1100" u="none" strike="noStrike">
                          <a:solidFill>
                            <a:schemeClr val="tx1"/>
                          </a:solidFill>
                          <a:effectLst/>
                        </a:rPr>
                        <a:t>OpEX Priority</a:t>
                      </a:r>
                      <a:endParaRPr lang="en-US" sz="1100" b="1" i="0" u="none" strike="noStrike">
                        <a:solidFill>
                          <a:schemeClr val="tx1"/>
                        </a:solidFill>
                        <a:effectLst/>
                        <a:latin typeface="Aptos Narrow" panose="020B0004020202020204" pitchFamily="34" charset="0"/>
                      </a:endParaRPr>
                    </a:p>
                  </a:txBody>
                  <a:tcPr marL="0" marR="0" marT="0" marB="0" anchor="b">
                    <a:lnB w="12700" cap="flat" cmpd="sng" algn="ctr">
                      <a:solidFill>
                        <a:srgbClr val="72B0BD"/>
                      </a:solidFill>
                      <a:prstDash val="solid"/>
                      <a:round/>
                      <a:headEnd type="none" w="med" len="med"/>
                      <a:tailEnd type="none" w="med" len="med"/>
                    </a:lnB>
                    <a:solidFill>
                      <a:schemeClr val="accent1">
                        <a:lumMod val="40000"/>
                        <a:lumOff val="60000"/>
                      </a:schemeClr>
                    </a:solidFill>
                  </a:tcPr>
                </a:tc>
                <a:tc>
                  <a:txBody>
                    <a:bodyPr/>
                    <a:lstStyle/>
                    <a:p>
                      <a:pPr algn="ctr" fontAlgn="b">
                        <a:buNone/>
                      </a:pPr>
                      <a:r>
                        <a:rPr lang="en-US" sz="1100" u="none" strike="noStrike">
                          <a:solidFill>
                            <a:schemeClr val="tx1"/>
                          </a:solidFill>
                          <a:effectLst/>
                        </a:rPr>
                        <a:t>Budgetary Estimate (Hours) </a:t>
                      </a:r>
                      <a:endParaRPr lang="en-US" sz="1100" b="1" i="0" u="none" strike="noStrike">
                        <a:solidFill>
                          <a:schemeClr val="tx1"/>
                        </a:solidFill>
                        <a:effectLst/>
                        <a:latin typeface="Aptos Narrow" panose="020B0004020202020204" pitchFamily="34" charset="0"/>
                      </a:endParaRPr>
                    </a:p>
                  </a:txBody>
                  <a:tcPr marL="0" marR="0" marT="0" marB="0" anchor="b">
                    <a:lnB w="12700" cap="flat" cmpd="sng" algn="ctr">
                      <a:solidFill>
                        <a:srgbClr val="72B0BD"/>
                      </a:solidFill>
                      <a:prstDash val="solid"/>
                      <a:round/>
                      <a:headEnd type="none" w="med" len="med"/>
                      <a:tailEnd type="none" w="med" len="med"/>
                    </a:lnB>
                    <a:solidFill>
                      <a:schemeClr val="accent1">
                        <a:lumMod val="40000"/>
                        <a:lumOff val="60000"/>
                      </a:schemeClr>
                    </a:solidFill>
                  </a:tcPr>
                </a:tc>
                <a:tc>
                  <a:txBody>
                    <a:bodyPr/>
                    <a:lstStyle/>
                    <a:p>
                      <a:pPr algn="ctr" fontAlgn="b">
                        <a:buNone/>
                      </a:pPr>
                      <a:r>
                        <a:rPr lang="en-US" sz="1100" u="none" strike="noStrike">
                          <a:solidFill>
                            <a:schemeClr val="tx1"/>
                          </a:solidFill>
                          <a:effectLst/>
                        </a:rPr>
                        <a:t>IT Rec’d</a:t>
                      </a:r>
                      <a:endParaRPr lang="en-US" sz="1100" b="1" i="0" u="none" strike="noStrike">
                        <a:solidFill>
                          <a:schemeClr val="tx1"/>
                        </a:solidFill>
                        <a:effectLst/>
                        <a:latin typeface="Aptos Narrow" panose="020B0004020202020204" pitchFamily="34" charset="0"/>
                      </a:endParaRPr>
                    </a:p>
                  </a:txBody>
                  <a:tcPr marL="0" marR="0" marT="0" marB="0" anchor="b">
                    <a:lnB w="12700" cap="flat" cmpd="sng" algn="ctr">
                      <a:solidFill>
                        <a:srgbClr val="72B0BD"/>
                      </a:solidFill>
                      <a:prstDash val="solid"/>
                      <a:round/>
                      <a:headEnd type="none" w="med" len="med"/>
                      <a:tailEnd type="none" w="med" len="med"/>
                    </a:lnB>
                    <a:solidFill>
                      <a:schemeClr val="accent1">
                        <a:lumMod val="40000"/>
                        <a:lumOff val="60000"/>
                      </a:schemeClr>
                    </a:solidFill>
                  </a:tcPr>
                </a:tc>
                <a:tc>
                  <a:txBody>
                    <a:bodyPr/>
                    <a:lstStyle/>
                    <a:p>
                      <a:pPr algn="ctr" fontAlgn="b">
                        <a:buNone/>
                      </a:pPr>
                      <a:r>
                        <a:rPr lang="en-US" sz="1100" b="1" i="0" u="none" strike="noStrike">
                          <a:solidFill>
                            <a:schemeClr val="tx1"/>
                          </a:solidFill>
                          <a:effectLst/>
                          <a:latin typeface="Aptos Narrow" panose="020B0004020202020204" pitchFamily="34" charset="0"/>
                        </a:rPr>
                        <a:t>IT Triage Scheduled</a:t>
                      </a:r>
                    </a:p>
                  </a:txBody>
                  <a:tcPr marL="0" marR="0" marT="0" marB="0" anchor="b">
                    <a:lnB w="12700" cap="flat" cmpd="sng" algn="ctr">
                      <a:solidFill>
                        <a:srgbClr val="72B0BD"/>
                      </a:solidFill>
                      <a:prstDash val="solid"/>
                      <a:round/>
                      <a:headEnd type="none" w="med" len="med"/>
                      <a:tailEnd type="none" w="med" len="med"/>
                    </a:lnB>
                    <a:solidFill>
                      <a:schemeClr val="accent1">
                        <a:lumMod val="40000"/>
                        <a:lumOff val="60000"/>
                      </a:schemeClr>
                    </a:solidFill>
                  </a:tcPr>
                </a:tc>
                <a:tc>
                  <a:txBody>
                    <a:bodyPr/>
                    <a:lstStyle/>
                    <a:p>
                      <a:pPr algn="ctr" fontAlgn="b">
                        <a:buNone/>
                      </a:pPr>
                      <a:r>
                        <a:rPr lang="en-US" sz="1100" u="none" strike="noStrike">
                          <a:solidFill>
                            <a:schemeClr val="tx1"/>
                          </a:solidFill>
                          <a:effectLst/>
                        </a:rPr>
                        <a:t>Estimate complete Date</a:t>
                      </a:r>
                      <a:endParaRPr lang="en-US" sz="1100" b="1" i="0" u="none" strike="noStrike">
                        <a:solidFill>
                          <a:schemeClr val="tx1"/>
                        </a:solidFill>
                        <a:effectLst/>
                        <a:latin typeface="Aptos Narrow" panose="020B0004020202020204" pitchFamily="34" charset="0"/>
                      </a:endParaRPr>
                    </a:p>
                  </a:txBody>
                  <a:tcPr marL="0" marR="0" marT="0" marB="0" anchor="b">
                    <a:lnB w="12700" cap="flat" cmpd="sng" algn="ctr">
                      <a:solidFill>
                        <a:srgbClr val="72B0BD"/>
                      </a:solidFill>
                      <a:prstDash val="solid"/>
                      <a:round/>
                      <a:headEnd type="none" w="med" len="med"/>
                      <a:tailEnd type="none" w="med" len="med"/>
                    </a:lnB>
                    <a:solidFill>
                      <a:schemeClr val="accent1">
                        <a:lumMod val="40000"/>
                        <a:lumOff val="60000"/>
                      </a:schemeClr>
                    </a:solidFill>
                  </a:tcPr>
                </a:tc>
                <a:tc>
                  <a:txBody>
                    <a:bodyPr/>
                    <a:lstStyle/>
                    <a:p>
                      <a:pPr algn="ctr" fontAlgn="b">
                        <a:buNone/>
                      </a:pPr>
                      <a:r>
                        <a:rPr lang="en-US" sz="1100" u="none" strike="noStrike">
                          <a:solidFill>
                            <a:schemeClr val="tx1"/>
                          </a:solidFill>
                          <a:effectLst/>
                        </a:rPr>
                        <a:t>Funding Approved Date</a:t>
                      </a:r>
                      <a:endParaRPr lang="en-US" sz="1100" b="1" i="0" u="none" strike="noStrike">
                        <a:solidFill>
                          <a:schemeClr val="tx1"/>
                        </a:solidFill>
                        <a:effectLst/>
                        <a:latin typeface="Aptos Narrow" panose="020B0004020202020204" pitchFamily="34" charset="0"/>
                      </a:endParaRPr>
                    </a:p>
                  </a:txBody>
                  <a:tcPr marL="0" marR="0" marT="0" marB="0" anchor="b">
                    <a:lnB w="12700" cap="flat" cmpd="sng" algn="ctr">
                      <a:solidFill>
                        <a:srgbClr val="72B0BD"/>
                      </a:solidFill>
                      <a:prstDash val="solid"/>
                      <a:round/>
                      <a:headEnd type="none" w="med" len="med"/>
                      <a:tailEnd type="none" w="med" len="med"/>
                    </a:lnB>
                    <a:solidFill>
                      <a:schemeClr val="accent1">
                        <a:lumMod val="40000"/>
                        <a:lumOff val="60000"/>
                      </a:schemeClr>
                    </a:solidFill>
                  </a:tcPr>
                </a:tc>
                <a:tc>
                  <a:txBody>
                    <a:bodyPr/>
                    <a:lstStyle/>
                    <a:p>
                      <a:pPr algn="ctr" fontAlgn="b">
                        <a:buNone/>
                      </a:pPr>
                      <a:r>
                        <a:rPr lang="en-US" sz="1100" u="none" strike="noStrike">
                          <a:solidFill>
                            <a:schemeClr val="tx1"/>
                          </a:solidFill>
                          <a:effectLst/>
                        </a:rPr>
                        <a:t>Comment</a:t>
                      </a:r>
                      <a:endParaRPr lang="en-US" sz="1100" b="1" i="0" u="none" strike="noStrike">
                        <a:solidFill>
                          <a:schemeClr val="tx1"/>
                        </a:solidFill>
                        <a:effectLst/>
                        <a:latin typeface="Aptos Narrow" panose="020B0004020202020204" pitchFamily="34" charset="0"/>
                      </a:endParaRPr>
                    </a:p>
                  </a:txBody>
                  <a:tcPr marL="0" marR="0" marT="0" marB="0" anchor="b">
                    <a:lnB w="12700" cap="flat" cmpd="sng" algn="ctr">
                      <a:solidFill>
                        <a:srgbClr val="72B0BD"/>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2993874157"/>
                  </a:ext>
                </a:extLst>
              </a:tr>
              <a:tr h="176406">
                <a:tc>
                  <a:txBody>
                    <a:bodyPr/>
                    <a:lstStyle/>
                    <a:p>
                      <a:pPr algn="l" fontAlgn="ctr">
                        <a:buNone/>
                      </a:pPr>
                      <a:r>
                        <a:rPr lang="en-US" sz="1100" b="1" i="0" u="none" strike="noStrike">
                          <a:solidFill>
                            <a:srgbClr val="000000"/>
                          </a:solidFill>
                          <a:effectLst/>
                          <a:latin typeface="Aptos Narrow" panose="020B0004020202020204" pitchFamily="34" charset="0"/>
                        </a:rPr>
                        <a:t>Flagship Claims AI - </a:t>
                      </a:r>
                      <a:r>
                        <a:rPr lang="en-US" sz="1100" b="1" i="0" u="none" strike="noStrike" err="1">
                          <a:solidFill>
                            <a:srgbClr val="000000"/>
                          </a:solidFill>
                          <a:effectLst/>
                          <a:latin typeface="Aptos Narrow" panose="020B0004020202020204" pitchFamily="34" charset="0"/>
                        </a:rPr>
                        <a:t>TaiLWIND</a:t>
                      </a:r>
                      <a:r>
                        <a:rPr lang="en-US" sz="1100" b="1" i="0" u="none" strike="noStrike">
                          <a:solidFill>
                            <a:srgbClr val="000000"/>
                          </a:solidFill>
                          <a:effectLst/>
                          <a:latin typeface="Aptos Narrow" panose="020B0004020202020204" pitchFamily="34" charset="0"/>
                        </a:rPr>
                        <a:t> Phase 2</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algn="l" fontAlgn="ctr">
                        <a:buNone/>
                      </a:pPr>
                      <a:endParaRPr lang="en-US" sz="1100" b="1" i="0" u="none" strike="noStrike">
                        <a:solidFill>
                          <a:srgbClr val="000000"/>
                        </a:solidFill>
                        <a:effectLst/>
                        <a:latin typeface="Aptos Narrow" panose="020B0004020202020204" pitchFamily="34" charset="0"/>
                      </a:endParaRP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algn="l" fontAlgn="ctr">
                        <a:buNone/>
                      </a:pPr>
                      <a:endParaRPr lang="en-US" sz="1100" b="0" i="0" u="none" strike="noStrike">
                        <a:solidFill>
                          <a:srgbClr val="000000"/>
                        </a:solidFill>
                        <a:effectLst/>
                        <a:latin typeface="Aptos Narrow" panose="020B0004020202020204" pitchFamily="34" charset="0"/>
                      </a:endParaRP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algn="l" fontAlgn="ctr">
                        <a:buNone/>
                      </a:pPr>
                      <a:endParaRPr lang="en-US" sz="1100" b="0" i="0" u="none" strike="noStrike">
                        <a:solidFill>
                          <a:srgbClr val="000000"/>
                        </a:solidFill>
                        <a:effectLst/>
                        <a:latin typeface="Aptos Narrow" panose="020B0004020202020204" pitchFamily="34" charset="0"/>
                      </a:endParaRP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algn="l" fontAlgn="ctr">
                        <a:buNone/>
                      </a:pPr>
                      <a:endParaRPr lang="en-US" sz="1100" b="0" i="0" u="none" strike="noStrike">
                        <a:solidFill>
                          <a:srgbClr val="000000"/>
                        </a:solidFill>
                        <a:effectLst/>
                        <a:latin typeface="Aptos Narrow" panose="020B0004020202020204" pitchFamily="34" charset="0"/>
                      </a:endParaRP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algn="l" fontAlgn="ctr">
                        <a:buNone/>
                      </a:pPr>
                      <a:r>
                        <a:rPr lang="en-US" sz="1100" b="0" i="0" u="none" strike="noStrike">
                          <a:solidFill>
                            <a:srgbClr val="000000"/>
                          </a:solidFill>
                          <a:effectLst/>
                          <a:latin typeface="Aptos Narrow" panose="020B0004020202020204" pitchFamily="34" charset="0"/>
                        </a:rPr>
                        <a:t>NA</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algn="l" fontAlgn="ctr">
                        <a:buNone/>
                      </a:pPr>
                      <a:endParaRPr lang="en-US" sz="1100" b="1" i="0" u="none" strike="noStrike">
                        <a:solidFill>
                          <a:srgbClr val="000000"/>
                        </a:solidFill>
                        <a:effectLst/>
                        <a:latin typeface="Aptos Narrow" panose="020B0004020202020204" pitchFamily="34" charset="0"/>
                      </a:endParaRP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algn="l" fontAlgn="ctr">
                        <a:buNone/>
                      </a:pPr>
                      <a:r>
                        <a:rPr lang="en-US" sz="1100" b="0" i="0" u="none" strike="noStrike">
                          <a:solidFill>
                            <a:srgbClr val="000000"/>
                          </a:solidFill>
                          <a:effectLst/>
                          <a:latin typeface="Aptos Narrow" panose="020B0004020202020204" pitchFamily="34" charset="0"/>
                        </a:rPr>
                        <a:t>Initial Phase 2 business Case planning meeting scheduled for 6/24.  Will work on target completion dates following that meeting.</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extLst>
                  <a:ext uri="{0D108BD9-81ED-4DB2-BD59-A6C34878D82A}">
                    <a16:rowId xmlns:a16="http://schemas.microsoft.com/office/drawing/2014/main" val="1486718395"/>
                  </a:ext>
                </a:extLst>
              </a:tr>
              <a:tr h="529217">
                <a:tc>
                  <a:txBody>
                    <a:bodyPr/>
                    <a:lstStyle/>
                    <a:p>
                      <a:pPr algn="l" fontAlgn="ctr">
                        <a:buNone/>
                      </a:pPr>
                      <a:r>
                        <a:rPr lang="en-US" sz="1100" b="1" i="0" u="none" strike="noStrike">
                          <a:solidFill>
                            <a:srgbClr val="000000"/>
                          </a:solidFill>
                          <a:effectLst/>
                          <a:latin typeface="Aptos Narrow" panose="020B0004020202020204" pitchFamily="34" charset="0"/>
                        </a:rPr>
                        <a:t>Workday Integration (Ideation)</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algn="l" fontAlgn="ctr">
                        <a:buNone/>
                      </a:pPr>
                      <a:r>
                        <a:rPr lang="en-US" sz="1100" b="1" i="0" u="none" strike="noStrike">
                          <a:solidFill>
                            <a:srgbClr val="000000"/>
                          </a:solidFill>
                          <a:effectLst/>
                          <a:latin typeface="Aptos Narrow" panose="020B0004020202020204" pitchFamily="34" charset="0"/>
                        </a:rPr>
                        <a:t>Reserve</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algn="l" fontAlgn="ctr">
                        <a:buNone/>
                      </a:pPr>
                      <a:r>
                        <a:rPr lang="en-US" sz="1100" b="0" i="0" u="none" strike="noStrike">
                          <a:solidFill>
                            <a:srgbClr val="000000"/>
                          </a:solidFill>
                          <a:effectLst/>
                          <a:latin typeface="Aptos Narrow" panose="020B0004020202020204" pitchFamily="34" charset="0"/>
                        </a:rPr>
                        <a:t>TBD</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algn="l" fontAlgn="b">
                        <a:buNone/>
                      </a:pPr>
                      <a:r>
                        <a:rPr lang="en-US" sz="1100" b="0" i="0" u="none" strike="noStrike">
                          <a:solidFill>
                            <a:srgbClr val="000000"/>
                          </a:solidFill>
                          <a:effectLst/>
                          <a:latin typeface="Aptos Narrow" panose="020B0004020202020204" pitchFamily="34" charset="0"/>
                        </a:rPr>
                        <a:t>TBD</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algn="l" fontAlgn="b">
                        <a:buNone/>
                      </a:pPr>
                      <a:endParaRPr lang="en-US" sz="1100" b="1" i="0" u="none" strike="noStrike">
                        <a:solidFill>
                          <a:srgbClr val="000000"/>
                        </a:solidFill>
                        <a:effectLst/>
                        <a:latin typeface="Aptos Narrow" panose="020B0004020202020204" pitchFamily="34" charset="0"/>
                      </a:endParaRP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algn="l" fontAlgn="ctr">
                        <a:buNone/>
                      </a:pPr>
                      <a:r>
                        <a:rPr lang="en-US" sz="1100" b="0" i="0" u="none" strike="noStrike">
                          <a:solidFill>
                            <a:srgbClr val="000000"/>
                          </a:solidFill>
                          <a:effectLst/>
                          <a:latin typeface="Aptos Narrow" panose="020B0004020202020204" pitchFamily="34" charset="0"/>
                        </a:rPr>
                        <a:t>Escalated - to Leadership regarding delay in releasing work to IT and it's impact to the Portfolio if not received by end of  June ($500K remaining)</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extLst>
                  <a:ext uri="{0D108BD9-81ED-4DB2-BD59-A6C34878D82A}">
                    <a16:rowId xmlns:a16="http://schemas.microsoft.com/office/drawing/2014/main" val="3366491188"/>
                  </a:ext>
                </a:extLst>
              </a:tr>
              <a:tr h="320256">
                <a:tc>
                  <a:txBody>
                    <a:bodyPr/>
                    <a:lstStyle/>
                    <a:p>
                      <a:pPr algn="l" fontAlgn="ctr">
                        <a:buNone/>
                      </a:pPr>
                      <a:r>
                        <a:rPr lang="en-US" sz="1100" b="1" i="0" u="none" strike="noStrike">
                          <a:solidFill>
                            <a:srgbClr val="000000"/>
                          </a:solidFill>
                          <a:effectLst/>
                          <a:latin typeface="Aptos Narrow" panose="020B0004020202020204" pitchFamily="34" charset="0"/>
                        </a:rPr>
                        <a:t>ABC Landing Page Enhancement</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rgbClr val="FFFF00"/>
                    </a:solidFill>
                  </a:tcPr>
                </a:tc>
                <a:tc>
                  <a:txBody>
                    <a:bodyPr/>
                    <a:lstStyle/>
                    <a:p>
                      <a:pPr algn="l" fontAlgn="ctr">
                        <a:buNone/>
                      </a:pPr>
                      <a:endParaRPr lang="en-US" sz="1100" b="1" i="0" u="none" strike="noStrike">
                        <a:solidFill>
                          <a:srgbClr val="000000"/>
                        </a:solidFill>
                        <a:effectLst/>
                        <a:latin typeface="Aptos Narrow" panose="020B0004020202020204" pitchFamily="34" charset="0"/>
                      </a:endParaRP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rgbClr val="FFFF00"/>
                    </a:solid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rgbClr val="FFFF00"/>
                    </a:solidFill>
                  </a:tcPr>
                </a:tc>
                <a:tc>
                  <a:txBody>
                    <a:bodyPr/>
                    <a:lstStyle/>
                    <a:p>
                      <a:pPr algn="l" fontAlgn="ctr">
                        <a:buNone/>
                      </a:pPr>
                      <a:r>
                        <a:rPr lang="en-US" sz="1100" b="0" i="0" u="none" strike="noStrike">
                          <a:solidFill>
                            <a:srgbClr val="000000"/>
                          </a:solidFill>
                          <a:effectLst/>
                          <a:latin typeface="Aptos Narrow" panose="020B0004020202020204" pitchFamily="34" charset="0"/>
                        </a:rPr>
                        <a:t>4/7/2026</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rgbClr val="FFFF00"/>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sz="1100" b="0" i="0" u="none" strike="noStrike">
                          <a:solidFill>
                            <a:srgbClr val="000000"/>
                          </a:solidFill>
                          <a:effectLst/>
                          <a:latin typeface="Aptos Narrow" panose="020B0004020202020204" pitchFamily="34" charset="0"/>
                        </a:rPr>
                        <a:t>4/14/2026</a:t>
                      </a:r>
                    </a:p>
                    <a:p>
                      <a:pPr algn="l" fontAlgn="ctr">
                        <a:buNone/>
                      </a:pPr>
                      <a:endParaRPr lang="en-US" sz="1100" b="0" i="0" u="none" strike="noStrike">
                        <a:solidFill>
                          <a:srgbClr val="000000"/>
                        </a:solidFill>
                        <a:effectLst/>
                        <a:latin typeface="Aptos Narrow" panose="020B0004020202020204" pitchFamily="34" charset="0"/>
                      </a:endParaRP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rgbClr val="FFFF00"/>
                    </a:solidFill>
                  </a:tcPr>
                </a:tc>
                <a:tc>
                  <a:txBody>
                    <a:bodyPr/>
                    <a:lstStyle/>
                    <a:p>
                      <a:pPr algn="l" fontAlgn="ctr">
                        <a:buNone/>
                      </a:pPr>
                      <a:endParaRPr lang="en-US" sz="1100" b="0" i="0" u="none" strike="noStrike">
                        <a:solidFill>
                          <a:srgbClr val="000000"/>
                        </a:solidFill>
                        <a:effectLst/>
                        <a:latin typeface="Aptos Narrow" panose="020B0004020202020204" pitchFamily="34" charset="0"/>
                      </a:endParaRP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rgbClr val="FFFF00"/>
                    </a:solidFill>
                  </a:tcPr>
                </a:tc>
                <a:tc>
                  <a:txBody>
                    <a:bodyPr/>
                    <a:lstStyle/>
                    <a:p>
                      <a:pPr algn="l" fontAlgn="b">
                        <a:buNone/>
                      </a:pPr>
                      <a:endParaRPr lang="en-US" sz="1100" b="1" i="0" u="none" strike="noStrike">
                        <a:solidFill>
                          <a:srgbClr val="000000"/>
                        </a:solidFill>
                        <a:effectLst/>
                        <a:latin typeface="Aptos Narrow" panose="020B0004020202020204" pitchFamily="34" charset="0"/>
                      </a:endParaRP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rgbClr val="FFFF00"/>
                    </a:solidFill>
                  </a:tcPr>
                </a:tc>
                <a:tc>
                  <a:txBody>
                    <a:bodyPr/>
                    <a:lstStyle/>
                    <a:p>
                      <a:pPr algn="l" fontAlgn="ctr">
                        <a:buNone/>
                      </a:pPr>
                      <a:r>
                        <a:rPr lang="en-US" sz="1100" b="0" i="0" u="none" strike="noStrike">
                          <a:solidFill>
                            <a:srgbClr val="000000"/>
                          </a:solidFill>
                          <a:effectLst/>
                          <a:latin typeface="Aptos Narrow" panose="020B0004020202020204" pitchFamily="34" charset="0"/>
                        </a:rPr>
                        <a:t>4/14/26 Intake Triage- Align business, UX, product, and data stakeholders before estimating. </a:t>
                      </a:r>
                      <a:r>
                        <a:rPr lang="en-US" sz="1100"/>
                        <a:t>Sarah Andrews is working with Dillion and team on the requirements actively. </a:t>
                      </a:r>
                      <a:endParaRPr lang="en-US" sz="1100" b="0" i="0" u="none" strike="noStrike">
                        <a:solidFill>
                          <a:srgbClr val="000000"/>
                        </a:solidFill>
                        <a:effectLst/>
                        <a:latin typeface="Aptos Narrow" panose="020B0004020202020204" pitchFamily="34" charset="0"/>
                      </a:endParaRP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rgbClr val="FFFF00"/>
                    </a:solidFill>
                  </a:tcPr>
                </a:tc>
                <a:extLst>
                  <a:ext uri="{0D108BD9-81ED-4DB2-BD59-A6C34878D82A}">
                    <a16:rowId xmlns:a16="http://schemas.microsoft.com/office/drawing/2014/main" val="2607640160"/>
                  </a:ext>
                </a:extLst>
              </a:tr>
              <a:tr h="176406">
                <a:tc>
                  <a:txBody>
                    <a:bodyPr/>
                    <a:lstStyle/>
                    <a:p>
                      <a:pPr algn="l" fontAlgn="b">
                        <a:buNone/>
                      </a:pPr>
                      <a:r>
                        <a:rPr lang="en-US" sz="1100" b="1" i="0" u="none" strike="noStrike">
                          <a:solidFill>
                            <a:srgbClr val="000000"/>
                          </a:solidFill>
                          <a:effectLst/>
                          <a:latin typeface="Aptos Narrow" panose="020B0004020202020204" pitchFamily="34" charset="0"/>
                        </a:rPr>
                        <a:t>Adding REN data to </a:t>
                      </a:r>
                      <a:r>
                        <a:rPr lang="en-US" sz="1100" b="1" i="0" u="none" strike="noStrike" err="1">
                          <a:solidFill>
                            <a:srgbClr val="000000"/>
                          </a:solidFill>
                          <a:effectLst/>
                          <a:latin typeface="Aptos Narrow" panose="020B0004020202020204" pitchFamily="34" charset="0"/>
                        </a:rPr>
                        <a:t>powerbi</a:t>
                      </a:r>
                      <a:r>
                        <a:rPr lang="en-US" sz="1100" b="1" i="0" u="none" strike="noStrike">
                          <a:solidFill>
                            <a:srgbClr val="000000"/>
                          </a:solidFill>
                          <a:effectLst/>
                          <a:latin typeface="Aptos Narrow" panose="020B0004020202020204" pitchFamily="34" charset="0"/>
                        </a:rPr>
                        <a:t> report SA4136</a:t>
                      </a:r>
                    </a:p>
                  </a:txBody>
                  <a:tcPr marL="0" marR="0" marT="0" marB="0" anchor="b">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algn="l" fontAlgn="b">
                        <a:buNone/>
                      </a:pPr>
                      <a:endParaRPr lang="en-US" sz="1100" b="1" i="0" u="none" strike="noStrike">
                        <a:solidFill>
                          <a:srgbClr val="000000"/>
                        </a:solidFill>
                        <a:effectLst/>
                        <a:latin typeface="Aptos Narrow" panose="020B0004020202020204" pitchFamily="34" charset="0"/>
                      </a:endParaRP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algn="l" fontAlgn="b">
                        <a:buNone/>
                      </a:pPr>
                      <a:r>
                        <a:rPr lang="en-US" sz="1100" b="0" i="0" u="none" strike="noStrike">
                          <a:solidFill>
                            <a:srgbClr val="000000"/>
                          </a:solidFill>
                          <a:effectLst/>
                          <a:latin typeface="Aptos Narrow" panose="020B0004020202020204" pitchFamily="34" charset="0"/>
                        </a:rPr>
                        <a:t>7/6/26</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algn="l" fontAlgn="b">
                        <a:buNone/>
                      </a:pPr>
                      <a:r>
                        <a:rPr lang="en-US" sz="1100" b="0" i="0" u="none" strike="noStrike">
                          <a:solidFill>
                            <a:srgbClr val="000000"/>
                          </a:solidFill>
                          <a:effectLst/>
                          <a:latin typeface="Aptos Narrow" panose="020B0004020202020204" pitchFamily="34" charset="0"/>
                        </a:rPr>
                        <a:t>7/21/26</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algn="l" fontAlgn="b">
                        <a:buNone/>
                      </a:pPr>
                      <a:endParaRPr lang="en-US" sz="1100" b="1" i="0" u="none" strike="noStrike">
                        <a:solidFill>
                          <a:srgbClr val="000000"/>
                        </a:solidFill>
                        <a:effectLst/>
                        <a:latin typeface="Aptos Narrow" panose="020B0004020202020204" pitchFamily="34" charset="0"/>
                      </a:endParaRP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algn="l" fontAlgn="ctr">
                        <a:buNone/>
                      </a:pPr>
                      <a:r>
                        <a:rPr lang="en-US" sz="1100" b="0" i="0" u="none" strike="noStrike">
                          <a:solidFill>
                            <a:srgbClr val="000000"/>
                          </a:solidFill>
                          <a:effectLst/>
                          <a:latin typeface="Aptos Narrow" panose="020B0004020202020204" pitchFamily="34" charset="0"/>
                        </a:rPr>
                        <a:t>New request</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extLst>
                  <a:ext uri="{0D108BD9-81ED-4DB2-BD59-A6C34878D82A}">
                    <a16:rowId xmlns:a16="http://schemas.microsoft.com/office/drawing/2014/main" val="1492022150"/>
                  </a:ext>
                </a:extLst>
              </a:tr>
              <a:tr h="176406">
                <a:tc>
                  <a:txBody>
                    <a:bodyPr/>
                    <a:lstStyle/>
                    <a:p>
                      <a:pPr algn="l" fontAlgn="b">
                        <a:buNone/>
                      </a:pPr>
                      <a:r>
                        <a:rPr lang="en-US" sz="1100" b="1" i="0" u="none" strike="noStrike">
                          <a:solidFill>
                            <a:srgbClr val="000000"/>
                          </a:solidFill>
                          <a:effectLst/>
                          <a:latin typeface="Aptos Narrow" panose="020B0004020202020204" pitchFamily="34" charset="0"/>
                        </a:rPr>
                        <a:t>VB search page experience</a:t>
                      </a:r>
                    </a:p>
                  </a:txBody>
                  <a:tcPr marL="0" marR="0" marT="0" marB="0" anchor="b">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algn="l" fontAlgn="b">
                        <a:buNone/>
                      </a:pPr>
                      <a:endParaRPr lang="en-US" sz="1100" b="1" i="0" u="none" strike="noStrike">
                        <a:solidFill>
                          <a:srgbClr val="000000"/>
                        </a:solidFill>
                        <a:effectLst/>
                        <a:latin typeface="Aptos Narrow" panose="020B0004020202020204" pitchFamily="34" charset="0"/>
                      </a:endParaRP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algn="l" fontAlgn="b">
                        <a:buNone/>
                      </a:pPr>
                      <a:r>
                        <a:rPr lang="en-US" sz="1100" b="0" i="0" u="none" strike="noStrike">
                          <a:solidFill>
                            <a:srgbClr val="000000"/>
                          </a:solidFill>
                          <a:effectLst/>
                          <a:latin typeface="Aptos Narrow" panose="020B0004020202020204" pitchFamily="34" charset="0"/>
                        </a:rPr>
                        <a:t>7/6/26</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algn="l" fontAlgn="b">
                        <a:buNone/>
                      </a:pPr>
                      <a:r>
                        <a:rPr lang="en-US" sz="1100" b="0" i="0" u="none" strike="noStrike">
                          <a:solidFill>
                            <a:srgbClr val="000000"/>
                          </a:solidFill>
                          <a:effectLst/>
                          <a:latin typeface="Aptos Narrow" panose="020B0004020202020204" pitchFamily="34" charset="0"/>
                        </a:rPr>
                        <a:t>7/21/26</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algn="l" fontAlgn="b">
                        <a:buNone/>
                      </a:pPr>
                      <a:endParaRPr lang="en-US" sz="1100" b="1" i="0" u="none" strike="noStrike">
                        <a:solidFill>
                          <a:srgbClr val="000000"/>
                        </a:solidFill>
                        <a:effectLst/>
                        <a:latin typeface="Aptos Narrow" panose="020B0004020202020204" pitchFamily="34" charset="0"/>
                      </a:endParaRP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algn="l" fontAlgn="ctr">
                        <a:buNone/>
                      </a:pPr>
                      <a:r>
                        <a:rPr lang="en-US" sz="1100" b="0" i="0" u="none" strike="noStrike">
                          <a:solidFill>
                            <a:srgbClr val="000000"/>
                          </a:solidFill>
                          <a:effectLst/>
                          <a:latin typeface="Aptos Narrow" panose="020B0004020202020204" pitchFamily="34" charset="0"/>
                        </a:rPr>
                        <a:t>New request</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extLst>
                  <a:ext uri="{0D108BD9-81ED-4DB2-BD59-A6C34878D82A}">
                    <a16:rowId xmlns:a16="http://schemas.microsoft.com/office/drawing/2014/main" val="247505567"/>
                  </a:ext>
                </a:extLst>
              </a:tr>
              <a:tr h="176406">
                <a:tc>
                  <a:txBody>
                    <a:bodyPr/>
                    <a:lstStyle/>
                    <a:p>
                      <a:pPr algn="l" fontAlgn="b">
                        <a:buNone/>
                      </a:pPr>
                      <a:r>
                        <a:rPr lang="en-US" sz="1100" b="1" i="0" u="none" strike="noStrike">
                          <a:solidFill>
                            <a:srgbClr val="000000"/>
                          </a:solidFill>
                          <a:effectLst/>
                          <a:latin typeface="Aptos Narrow" panose="020B0004020202020204" pitchFamily="34" charset="0"/>
                        </a:rPr>
                        <a:t>Pet &amp; Finance Data Lifecycle alignment</a:t>
                      </a:r>
                    </a:p>
                  </a:txBody>
                  <a:tcPr marL="0" marR="0" marT="0" marB="0" anchor="b">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algn="l" fontAlgn="b">
                        <a:buNone/>
                      </a:pPr>
                      <a:endParaRPr lang="en-US" sz="1100" b="1" i="0" u="none" strike="noStrike">
                        <a:solidFill>
                          <a:srgbClr val="000000"/>
                        </a:solidFill>
                        <a:effectLst/>
                        <a:latin typeface="Aptos Narrow" panose="020B0004020202020204" pitchFamily="34" charset="0"/>
                      </a:endParaRP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algn="l" fontAlgn="b">
                        <a:buNone/>
                      </a:pPr>
                      <a:r>
                        <a:rPr lang="en-US" sz="1100" b="0" i="0" u="none" strike="noStrike">
                          <a:solidFill>
                            <a:srgbClr val="000000"/>
                          </a:solidFill>
                          <a:effectLst/>
                          <a:latin typeface="Aptos Narrow" panose="020B0004020202020204" pitchFamily="34" charset="0"/>
                        </a:rPr>
                        <a:t>7/6/26</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algn="l" fontAlgn="b">
                        <a:buNone/>
                      </a:pPr>
                      <a:r>
                        <a:rPr lang="en-US" sz="1100" b="0" i="0" u="none" strike="noStrike">
                          <a:solidFill>
                            <a:srgbClr val="000000"/>
                          </a:solidFill>
                          <a:effectLst/>
                          <a:latin typeface="Aptos Narrow" panose="020B0004020202020204" pitchFamily="34" charset="0"/>
                        </a:rPr>
                        <a:t>7/21/26</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algn="l" fontAlgn="b">
                        <a:buNone/>
                      </a:pPr>
                      <a:endParaRPr lang="en-US" sz="1100" b="1" i="0" u="none" strike="noStrike">
                        <a:solidFill>
                          <a:srgbClr val="000000"/>
                        </a:solidFill>
                        <a:effectLst/>
                        <a:latin typeface="Aptos Narrow" panose="020B0004020202020204" pitchFamily="34" charset="0"/>
                      </a:endParaRP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algn="l" fontAlgn="ctr">
                        <a:buNone/>
                      </a:pPr>
                      <a:r>
                        <a:rPr lang="en-US" sz="1100" b="0" i="0" u="none" strike="noStrike">
                          <a:solidFill>
                            <a:srgbClr val="000000"/>
                          </a:solidFill>
                          <a:effectLst/>
                          <a:latin typeface="Aptos Narrow" panose="020B0004020202020204" pitchFamily="34" charset="0"/>
                        </a:rPr>
                        <a:t>New request</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extLst>
                  <a:ext uri="{0D108BD9-81ED-4DB2-BD59-A6C34878D82A}">
                    <a16:rowId xmlns:a16="http://schemas.microsoft.com/office/drawing/2014/main" val="3906402161"/>
                  </a:ext>
                </a:extLst>
              </a:tr>
              <a:tr h="323410">
                <a:tc>
                  <a:txBody>
                    <a:bodyPr/>
                    <a:lstStyle/>
                    <a:p>
                      <a:pPr algn="l" fontAlgn="b">
                        <a:buNone/>
                      </a:pPr>
                      <a:r>
                        <a:rPr lang="en-US" sz="1100" b="1" i="0" u="none" strike="noStrike">
                          <a:solidFill>
                            <a:srgbClr val="000000"/>
                          </a:solidFill>
                          <a:effectLst/>
                          <a:latin typeface="Aptos Narrow" panose="020B0004020202020204" pitchFamily="34" charset="0"/>
                        </a:rPr>
                        <a:t>MA MPPC Dec Page Update</a:t>
                      </a:r>
                    </a:p>
                  </a:txBody>
                  <a:tcPr marL="0" marR="0" marT="0" marB="0" anchor="b">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algn="r" fontAlgn="b">
                        <a:buNone/>
                      </a:pPr>
                      <a:endParaRPr lang="en-US" sz="1100" b="1" i="0" u="none" strike="noStrike">
                        <a:solidFill>
                          <a:srgbClr val="000000"/>
                        </a:solidFill>
                        <a:effectLst/>
                        <a:latin typeface="Aptos Narrow" panose="020B0004020202020204" pitchFamily="34" charset="0"/>
                      </a:endParaRPr>
                    </a:p>
                  </a:txBody>
                  <a:tcPr marL="0" marR="0" marT="0" marB="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0" marR="0" marT="0" marB="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algn="l" fontAlgn="b">
                        <a:buNone/>
                      </a:pPr>
                      <a:r>
                        <a:rPr lang="en-US" sz="1100" b="0" i="0" u="none" strike="noStrike">
                          <a:solidFill>
                            <a:srgbClr val="000000"/>
                          </a:solidFill>
                          <a:effectLst/>
                          <a:latin typeface="Aptos Narrow" panose="020B0004020202020204" pitchFamily="34" charset="0"/>
                        </a:rPr>
                        <a:t>7/6/26</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algn="l" fontAlgn="b">
                        <a:buNone/>
                      </a:pPr>
                      <a:r>
                        <a:rPr lang="en-US" sz="1100" b="0" i="0" u="none" strike="noStrike">
                          <a:solidFill>
                            <a:srgbClr val="000000"/>
                          </a:solidFill>
                          <a:effectLst/>
                          <a:latin typeface="Aptos Narrow" panose="020B0004020202020204" pitchFamily="34" charset="0"/>
                        </a:rPr>
                        <a:t>7/21/26</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algn="l" fontAlgn="b">
                        <a:buNone/>
                      </a:pPr>
                      <a:endParaRPr lang="en-US" sz="1100" b="1" i="0" u="none" strike="noStrike">
                        <a:solidFill>
                          <a:srgbClr val="000000"/>
                        </a:solidFill>
                        <a:effectLst/>
                        <a:latin typeface="Aptos Narrow" panose="020B0004020202020204" pitchFamily="34" charset="0"/>
                      </a:endParaRP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algn="l" fontAlgn="ctr">
                        <a:buNone/>
                      </a:pPr>
                      <a:r>
                        <a:rPr lang="en-US" sz="1100" b="0" i="0" u="none" strike="noStrike">
                          <a:solidFill>
                            <a:srgbClr val="000000"/>
                          </a:solidFill>
                          <a:effectLst/>
                          <a:latin typeface="Aptos Narrow" panose="020B0004020202020204" pitchFamily="34" charset="0"/>
                        </a:rPr>
                        <a:t>New request</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extLst>
                  <a:ext uri="{0D108BD9-81ED-4DB2-BD59-A6C34878D82A}">
                    <a16:rowId xmlns:a16="http://schemas.microsoft.com/office/drawing/2014/main" val="3984792778"/>
                  </a:ext>
                </a:extLst>
              </a:tr>
            </a:tbl>
          </a:graphicData>
        </a:graphic>
      </p:graphicFrame>
      <p:sp>
        <p:nvSpPr>
          <p:cNvPr id="5" name="TextBox 4">
            <a:extLst>
              <a:ext uri="{FF2B5EF4-FFF2-40B4-BE49-F238E27FC236}">
                <a16:creationId xmlns:a16="http://schemas.microsoft.com/office/drawing/2014/main" id="{F67FBA47-4F21-65A7-C6EC-AE485E33DBA3}"/>
              </a:ext>
            </a:extLst>
          </p:cNvPr>
          <p:cNvSpPr txBox="1"/>
          <p:nvPr/>
        </p:nvSpPr>
        <p:spPr>
          <a:xfrm>
            <a:off x="517088" y="941769"/>
            <a:ext cx="10835091" cy="92333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t>Of the 7 items currently in Business Backlog, 2 have been received through IT Intake but returned to </a:t>
            </a:r>
            <a:r>
              <a:rPr kumimoji="0" lang="en-US" sz="1800" b="0" i="0" u="none" strike="noStrike" kern="1200" cap="none" spc="0" normalizeH="0" baseline="0" noProof="0" err="1">
                <a:ln>
                  <a:noFill/>
                </a:ln>
                <a:solidFill>
                  <a:prstClr val="black"/>
                </a:solidFill>
                <a:effectLst/>
                <a:uLnTx/>
                <a:uFillTx/>
                <a:latin typeface="Aptos" panose="02110004020202020204"/>
                <a:ea typeface="+mn-ea"/>
                <a:cs typeface="+mn-cs"/>
              </a:rPr>
              <a:t>OpEx</a:t>
            </a:r>
            <a:r>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t> pending further business input.  See Items in Yellow pending further follow-up and </a:t>
            </a:r>
            <a:r>
              <a:rPr lang="en-US">
                <a:solidFill>
                  <a:prstClr val="black"/>
                </a:solidFill>
                <a:latin typeface="Aptos" panose="02110004020202020204"/>
              </a:rPr>
              <a:t>4 </a:t>
            </a:r>
            <a:r>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t>are scheduled for Triage review on 7/21</a:t>
            </a:r>
          </a:p>
        </p:txBody>
      </p:sp>
      <p:grpSp>
        <p:nvGrpSpPr>
          <p:cNvPr id="6" name="Group 5">
            <a:extLst>
              <a:ext uri="{FF2B5EF4-FFF2-40B4-BE49-F238E27FC236}">
                <a16:creationId xmlns:a16="http://schemas.microsoft.com/office/drawing/2014/main" id="{A8FC1BD2-486D-BEFF-8946-D818DEF338CA}"/>
              </a:ext>
            </a:extLst>
          </p:cNvPr>
          <p:cNvGrpSpPr/>
          <p:nvPr/>
        </p:nvGrpSpPr>
        <p:grpSpPr>
          <a:xfrm>
            <a:off x="9629191" y="73824"/>
            <a:ext cx="2435155" cy="911208"/>
            <a:chOff x="7996335" y="4089215"/>
            <a:chExt cx="3004322" cy="1323375"/>
          </a:xfrm>
        </p:grpSpPr>
        <p:pic>
          <p:nvPicPr>
            <p:cNvPr id="7" name="Picture 6">
              <a:extLst>
                <a:ext uri="{FF2B5EF4-FFF2-40B4-BE49-F238E27FC236}">
                  <a16:creationId xmlns:a16="http://schemas.microsoft.com/office/drawing/2014/main" id="{59D23E1A-92BF-AC53-0EB9-E28B6C97E660}"/>
                </a:ext>
              </a:extLst>
            </p:cNvPr>
            <p:cNvPicPr>
              <a:picLocks noChangeAspect="1"/>
            </p:cNvPicPr>
            <p:nvPr/>
          </p:nvPicPr>
          <p:blipFill>
            <a:blip r:embed="rId2"/>
            <a:stretch>
              <a:fillRect/>
            </a:stretch>
          </p:blipFill>
          <p:spPr>
            <a:xfrm>
              <a:off x="9671548" y="4926763"/>
              <a:ext cx="816808" cy="485827"/>
            </a:xfrm>
            <a:prstGeom prst="rect">
              <a:avLst/>
            </a:prstGeom>
          </p:spPr>
        </p:pic>
        <p:pic>
          <p:nvPicPr>
            <p:cNvPr id="8" name="Picture 7">
              <a:extLst>
                <a:ext uri="{FF2B5EF4-FFF2-40B4-BE49-F238E27FC236}">
                  <a16:creationId xmlns:a16="http://schemas.microsoft.com/office/drawing/2014/main" id="{E5748CCD-4216-2509-B9BF-D0AED089EE0D}"/>
                </a:ext>
              </a:extLst>
            </p:cNvPr>
            <p:cNvPicPr>
              <a:picLocks noChangeAspect="1"/>
            </p:cNvPicPr>
            <p:nvPr/>
          </p:nvPicPr>
          <p:blipFill>
            <a:blip r:embed="rId3"/>
            <a:stretch>
              <a:fillRect/>
            </a:stretch>
          </p:blipFill>
          <p:spPr>
            <a:xfrm>
              <a:off x="7996335" y="4089215"/>
              <a:ext cx="3004322" cy="1043764"/>
            </a:xfrm>
            <a:prstGeom prst="rect">
              <a:avLst/>
            </a:prstGeom>
          </p:spPr>
        </p:pic>
      </p:grpSp>
    </p:spTree>
    <p:extLst>
      <p:ext uri="{BB962C8B-B14F-4D97-AF65-F5344CB8AC3E}">
        <p14:creationId xmlns:p14="http://schemas.microsoft.com/office/powerpoint/2010/main" val="124684936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D538AD-EC2D-3336-EBF6-84D27B880E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30BFF3-C894-4091-63CD-179A487BB9A3}"/>
              </a:ext>
            </a:extLst>
          </p:cNvPr>
          <p:cNvSpPr>
            <a:spLocks noGrp="1"/>
          </p:cNvSpPr>
          <p:nvPr>
            <p:ph type="title"/>
          </p:nvPr>
        </p:nvSpPr>
        <p:spPr>
          <a:xfrm>
            <a:off x="517088" y="202821"/>
            <a:ext cx="10515600" cy="653214"/>
          </a:xfrm>
        </p:spPr>
        <p:txBody>
          <a:bodyPr>
            <a:normAutofit/>
          </a:bodyPr>
          <a:lstStyle/>
          <a:p>
            <a:r>
              <a:rPr lang="en-US"/>
              <a:t>Plan Backlog</a:t>
            </a:r>
          </a:p>
        </p:txBody>
      </p:sp>
      <p:graphicFrame>
        <p:nvGraphicFramePr>
          <p:cNvPr id="4" name="Table 3">
            <a:extLst>
              <a:ext uri="{FF2B5EF4-FFF2-40B4-BE49-F238E27FC236}">
                <a16:creationId xmlns:a16="http://schemas.microsoft.com/office/drawing/2014/main" id="{EC9842CE-D4EC-5D98-C545-4D17C4577F23}"/>
              </a:ext>
            </a:extLst>
          </p:cNvPr>
          <p:cNvGraphicFramePr>
            <a:graphicFrameLocks noGrp="1"/>
          </p:cNvGraphicFramePr>
          <p:nvPr/>
        </p:nvGraphicFramePr>
        <p:xfrm>
          <a:off x="517089" y="1786686"/>
          <a:ext cx="10971276" cy="3746734"/>
        </p:xfrm>
        <a:graphic>
          <a:graphicData uri="http://schemas.openxmlformats.org/drawingml/2006/table">
            <a:tbl>
              <a:tblPr>
                <a:tableStyleId>{5C22544A-7EE6-4342-B048-85BDC9FD1C3A}</a:tableStyleId>
              </a:tblPr>
              <a:tblGrid>
                <a:gridCol w="2303225">
                  <a:extLst>
                    <a:ext uri="{9D8B030D-6E8A-4147-A177-3AD203B41FA5}">
                      <a16:colId xmlns:a16="http://schemas.microsoft.com/office/drawing/2014/main" val="3471638855"/>
                    </a:ext>
                  </a:extLst>
                </a:gridCol>
                <a:gridCol w="990634">
                  <a:extLst>
                    <a:ext uri="{9D8B030D-6E8A-4147-A177-3AD203B41FA5}">
                      <a16:colId xmlns:a16="http://schemas.microsoft.com/office/drawing/2014/main" val="2596866533"/>
                    </a:ext>
                  </a:extLst>
                </a:gridCol>
                <a:gridCol w="990634">
                  <a:extLst>
                    <a:ext uri="{9D8B030D-6E8A-4147-A177-3AD203B41FA5}">
                      <a16:colId xmlns:a16="http://schemas.microsoft.com/office/drawing/2014/main" val="3028352674"/>
                    </a:ext>
                  </a:extLst>
                </a:gridCol>
                <a:gridCol w="718211">
                  <a:extLst>
                    <a:ext uri="{9D8B030D-6E8A-4147-A177-3AD203B41FA5}">
                      <a16:colId xmlns:a16="http://schemas.microsoft.com/office/drawing/2014/main" val="1498653313"/>
                    </a:ext>
                  </a:extLst>
                </a:gridCol>
                <a:gridCol w="738627">
                  <a:extLst>
                    <a:ext uri="{9D8B030D-6E8A-4147-A177-3AD203B41FA5}">
                      <a16:colId xmlns:a16="http://schemas.microsoft.com/office/drawing/2014/main" val="426403746"/>
                    </a:ext>
                  </a:extLst>
                </a:gridCol>
                <a:gridCol w="663699">
                  <a:extLst>
                    <a:ext uri="{9D8B030D-6E8A-4147-A177-3AD203B41FA5}">
                      <a16:colId xmlns:a16="http://schemas.microsoft.com/office/drawing/2014/main" val="3578533005"/>
                    </a:ext>
                  </a:extLst>
                </a:gridCol>
                <a:gridCol w="761041">
                  <a:extLst>
                    <a:ext uri="{9D8B030D-6E8A-4147-A177-3AD203B41FA5}">
                      <a16:colId xmlns:a16="http://schemas.microsoft.com/office/drawing/2014/main" val="125616475"/>
                    </a:ext>
                  </a:extLst>
                </a:gridCol>
                <a:gridCol w="3805205">
                  <a:extLst>
                    <a:ext uri="{9D8B030D-6E8A-4147-A177-3AD203B41FA5}">
                      <a16:colId xmlns:a16="http://schemas.microsoft.com/office/drawing/2014/main" val="2731508636"/>
                    </a:ext>
                  </a:extLst>
                </a:gridCol>
              </a:tblGrid>
              <a:tr h="529217">
                <a:tc>
                  <a:txBody>
                    <a:bodyPr/>
                    <a:lstStyle/>
                    <a:p>
                      <a:pPr algn="ctr" fontAlgn="b">
                        <a:buNone/>
                      </a:pPr>
                      <a:r>
                        <a:rPr lang="en-US" sz="1100" u="none" strike="noStrike">
                          <a:solidFill>
                            <a:schemeClr val="tx1"/>
                          </a:solidFill>
                          <a:effectLst/>
                        </a:rPr>
                        <a:t>Description</a:t>
                      </a:r>
                      <a:endParaRPr lang="en-US" sz="1100" b="1" i="0" u="none" strike="noStrike">
                        <a:solidFill>
                          <a:schemeClr val="tx1"/>
                        </a:solidFill>
                        <a:effectLst/>
                        <a:latin typeface="Aptos Narrow" panose="020B0004020202020204" pitchFamily="34" charset="0"/>
                      </a:endParaRPr>
                    </a:p>
                  </a:txBody>
                  <a:tcPr marL="0" marR="0" marT="0" marB="0" anchor="b">
                    <a:lnB w="12700" cap="flat" cmpd="sng" algn="ctr">
                      <a:solidFill>
                        <a:srgbClr val="72B0BD"/>
                      </a:solidFill>
                      <a:prstDash val="solid"/>
                      <a:round/>
                      <a:headEnd type="none" w="med" len="med"/>
                      <a:tailEnd type="none" w="med" len="med"/>
                    </a:lnB>
                    <a:solidFill>
                      <a:schemeClr val="accent2">
                        <a:lumMod val="40000"/>
                        <a:lumOff val="60000"/>
                      </a:schemeClr>
                    </a:solidFill>
                  </a:tcPr>
                </a:tc>
                <a:tc>
                  <a:txBody>
                    <a:bodyPr/>
                    <a:lstStyle/>
                    <a:p>
                      <a:pPr algn="ctr" fontAlgn="b">
                        <a:buNone/>
                      </a:pPr>
                      <a:r>
                        <a:rPr lang="en-US" sz="1100" b="1" i="0" u="none" strike="noStrike">
                          <a:solidFill>
                            <a:schemeClr val="tx1"/>
                          </a:solidFill>
                          <a:effectLst/>
                          <a:latin typeface="Aptos Narrow" panose="020B0004020202020204" pitchFamily="34" charset="0"/>
                        </a:rPr>
                        <a:t>Planning Team</a:t>
                      </a:r>
                    </a:p>
                  </a:txBody>
                  <a:tcPr marL="0" marR="0" marT="0" marB="0" anchor="b">
                    <a:lnB w="12700" cap="flat" cmpd="sng" algn="ctr">
                      <a:solidFill>
                        <a:srgbClr val="72B0BD"/>
                      </a:solidFill>
                      <a:prstDash val="solid"/>
                      <a:round/>
                      <a:headEnd type="none" w="med" len="med"/>
                      <a:tailEnd type="none" w="med" len="med"/>
                    </a:lnB>
                    <a:solidFill>
                      <a:schemeClr val="accent2">
                        <a:lumMod val="40000"/>
                        <a:lumOff val="60000"/>
                      </a:schemeClr>
                    </a:solidFill>
                  </a:tcPr>
                </a:tc>
                <a:tc>
                  <a:txBody>
                    <a:bodyPr/>
                    <a:lstStyle/>
                    <a:p>
                      <a:pPr algn="ctr" fontAlgn="b">
                        <a:buNone/>
                      </a:pPr>
                      <a:r>
                        <a:rPr lang="en-US" sz="1100" u="none" strike="noStrike" err="1">
                          <a:solidFill>
                            <a:schemeClr val="tx1"/>
                          </a:solidFill>
                          <a:effectLst/>
                        </a:rPr>
                        <a:t>OpEX</a:t>
                      </a:r>
                      <a:r>
                        <a:rPr lang="en-US" sz="1100" u="none" strike="noStrike">
                          <a:solidFill>
                            <a:schemeClr val="tx1"/>
                          </a:solidFill>
                          <a:effectLst/>
                        </a:rPr>
                        <a:t> Priority</a:t>
                      </a:r>
                      <a:endParaRPr lang="en-US" sz="1100" b="1" i="0" u="none" strike="noStrike">
                        <a:solidFill>
                          <a:schemeClr val="tx1"/>
                        </a:solidFill>
                        <a:effectLst/>
                        <a:latin typeface="Aptos Narrow" panose="020B0004020202020204" pitchFamily="34" charset="0"/>
                      </a:endParaRPr>
                    </a:p>
                  </a:txBody>
                  <a:tcPr marL="0" marR="0" marT="0" marB="0" anchor="b">
                    <a:lnB w="12700" cap="flat" cmpd="sng" algn="ctr">
                      <a:solidFill>
                        <a:srgbClr val="72B0BD"/>
                      </a:solidFill>
                      <a:prstDash val="solid"/>
                      <a:round/>
                      <a:headEnd type="none" w="med" len="med"/>
                      <a:tailEnd type="none" w="med" len="med"/>
                    </a:lnB>
                    <a:solidFill>
                      <a:schemeClr val="accent2">
                        <a:lumMod val="40000"/>
                        <a:lumOff val="60000"/>
                      </a:schemeClr>
                    </a:solidFill>
                  </a:tcPr>
                </a:tc>
                <a:tc>
                  <a:txBody>
                    <a:bodyPr/>
                    <a:lstStyle/>
                    <a:p>
                      <a:pPr algn="ctr" fontAlgn="b">
                        <a:buNone/>
                      </a:pPr>
                      <a:r>
                        <a:rPr lang="en-US" sz="1100" u="none" strike="noStrike">
                          <a:solidFill>
                            <a:schemeClr val="tx1"/>
                          </a:solidFill>
                          <a:effectLst/>
                        </a:rPr>
                        <a:t>Budgetary Estimate (Hours) </a:t>
                      </a:r>
                      <a:endParaRPr lang="en-US" sz="1100" b="1" i="0" u="none" strike="noStrike">
                        <a:solidFill>
                          <a:schemeClr val="tx1"/>
                        </a:solidFill>
                        <a:effectLst/>
                        <a:latin typeface="Aptos Narrow" panose="020B0004020202020204" pitchFamily="34" charset="0"/>
                      </a:endParaRPr>
                    </a:p>
                  </a:txBody>
                  <a:tcPr marL="0" marR="0" marT="0" marB="0" anchor="b">
                    <a:lnB w="12700" cap="flat" cmpd="sng" algn="ctr">
                      <a:solidFill>
                        <a:srgbClr val="72B0BD"/>
                      </a:solidFill>
                      <a:prstDash val="solid"/>
                      <a:round/>
                      <a:headEnd type="none" w="med" len="med"/>
                      <a:tailEnd type="none" w="med" len="med"/>
                    </a:lnB>
                    <a:solidFill>
                      <a:schemeClr val="accent2">
                        <a:lumMod val="40000"/>
                        <a:lumOff val="60000"/>
                      </a:schemeClr>
                    </a:solidFill>
                  </a:tcPr>
                </a:tc>
                <a:tc>
                  <a:txBody>
                    <a:bodyPr/>
                    <a:lstStyle/>
                    <a:p>
                      <a:pPr algn="ctr" fontAlgn="b">
                        <a:buNone/>
                      </a:pPr>
                      <a:r>
                        <a:rPr lang="en-US" sz="1100" u="none" strike="noStrike">
                          <a:solidFill>
                            <a:schemeClr val="tx1"/>
                          </a:solidFill>
                          <a:effectLst/>
                        </a:rPr>
                        <a:t>IT Rec’d</a:t>
                      </a:r>
                      <a:endParaRPr lang="en-US" sz="1100" b="1" i="0" u="none" strike="noStrike">
                        <a:solidFill>
                          <a:schemeClr val="tx1"/>
                        </a:solidFill>
                        <a:effectLst/>
                        <a:latin typeface="Aptos Narrow" panose="020B0004020202020204" pitchFamily="34" charset="0"/>
                      </a:endParaRPr>
                    </a:p>
                  </a:txBody>
                  <a:tcPr marL="0" marR="0" marT="0" marB="0" anchor="b">
                    <a:lnB w="12700" cap="flat" cmpd="sng" algn="ctr">
                      <a:solidFill>
                        <a:srgbClr val="72B0BD"/>
                      </a:solidFill>
                      <a:prstDash val="solid"/>
                      <a:round/>
                      <a:headEnd type="none" w="med" len="med"/>
                      <a:tailEnd type="none" w="med" len="med"/>
                    </a:lnB>
                    <a:solidFill>
                      <a:schemeClr val="accent2">
                        <a:lumMod val="40000"/>
                        <a:lumOff val="60000"/>
                      </a:schemeClr>
                    </a:solidFill>
                  </a:tcPr>
                </a:tc>
                <a:tc>
                  <a:txBody>
                    <a:bodyPr/>
                    <a:lstStyle/>
                    <a:p>
                      <a:pPr algn="ctr" fontAlgn="b">
                        <a:buNone/>
                      </a:pPr>
                      <a:r>
                        <a:rPr lang="en-US" sz="1100" u="none" strike="noStrike">
                          <a:solidFill>
                            <a:schemeClr val="tx1"/>
                          </a:solidFill>
                          <a:effectLst/>
                        </a:rPr>
                        <a:t>Estimate complete Date</a:t>
                      </a:r>
                      <a:endParaRPr lang="en-US" sz="1100" b="1" i="0" u="none" strike="noStrike">
                        <a:solidFill>
                          <a:schemeClr val="tx1"/>
                        </a:solidFill>
                        <a:effectLst/>
                        <a:latin typeface="Aptos Narrow" panose="020B0004020202020204" pitchFamily="34" charset="0"/>
                      </a:endParaRPr>
                    </a:p>
                  </a:txBody>
                  <a:tcPr marL="0" marR="0" marT="0" marB="0" anchor="b">
                    <a:lnB w="12700" cap="flat" cmpd="sng" algn="ctr">
                      <a:solidFill>
                        <a:srgbClr val="72B0BD"/>
                      </a:solidFill>
                      <a:prstDash val="solid"/>
                      <a:round/>
                      <a:headEnd type="none" w="med" len="med"/>
                      <a:tailEnd type="none" w="med" len="med"/>
                    </a:lnB>
                    <a:solidFill>
                      <a:schemeClr val="accent2">
                        <a:lumMod val="40000"/>
                        <a:lumOff val="60000"/>
                      </a:schemeClr>
                    </a:solidFill>
                  </a:tcPr>
                </a:tc>
                <a:tc>
                  <a:txBody>
                    <a:bodyPr/>
                    <a:lstStyle/>
                    <a:p>
                      <a:pPr algn="ctr" fontAlgn="b">
                        <a:buNone/>
                      </a:pPr>
                      <a:r>
                        <a:rPr lang="en-US" sz="1100" u="none" strike="noStrike">
                          <a:solidFill>
                            <a:schemeClr val="tx1"/>
                          </a:solidFill>
                          <a:effectLst/>
                        </a:rPr>
                        <a:t>Funding Approved Date</a:t>
                      </a:r>
                      <a:endParaRPr lang="en-US" sz="1100" b="1" i="0" u="none" strike="noStrike">
                        <a:solidFill>
                          <a:schemeClr val="tx1"/>
                        </a:solidFill>
                        <a:effectLst/>
                        <a:latin typeface="Aptos Narrow" panose="020B0004020202020204" pitchFamily="34" charset="0"/>
                      </a:endParaRPr>
                    </a:p>
                  </a:txBody>
                  <a:tcPr marL="0" marR="0" marT="0" marB="0" anchor="b">
                    <a:lnB w="12700" cap="flat" cmpd="sng" algn="ctr">
                      <a:solidFill>
                        <a:srgbClr val="72B0BD"/>
                      </a:solidFill>
                      <a:prstDash val="solid"/>
                      <a:round/>
                      <a:headEnd type="none" w="med" len="med"/>
                      <a:tailEnd type="none" w="med" len="med"/>
                    </a:lnB>
                    <a:solidFill>
                      <a:schemeClr val="accent2">
                        <a:lumMod val="40000"/>
                        <a:lumOff val="60000"/>
                      </a:schemeClr>
                    </a:solidFill>
                  </a:tcPr>
                </a:tc>
                <a:tc>
                  <a:txBody>
                    <a:bodyPr/>
                    <a:lstStyle/>
                    <a:p>
                      <a:pPr algn="ctr" fontAlgn="b">
                        <a:buNone/>
                      </a:pPr>
                      <a:r>
                        <a:rPr lang="en-US" sz="1100" u="none" strike="noStrike">
                          <a:solidFill>
                            <a:schemeClr val="tx1"/>
                          </a:solidFill>
                          <a:effectLst/>
                        </a:rPr>
                        <a:t>Comment</a:t>
                      </a:r>
                      <a:endParaRPr lang="en-US" sz="1100" b="1" i="0" u="none" strike="noStrike">
                        <a:solidFill>
                          <a:schemeClr val="tx1"/>
                        </a:solidFill>
                        <a:effectLst/>
                        <a:latin typeface="Aptos Narrow" panose="020B0004020202020204" pitchFamily="34" charset="0"/>
                      </a:endParaRPr>
                    </a:p>
                  </a:txBody>
                  <a:tcPr marL="0" marR="0" marT="0" marB="0" anchor="b">
                    <a:lnB w="12700" cap="flat" cmpd="sng" algn="ctr">
                      <a:solidFill>
                        <a:srgbClr val="72B0BD"/>
                      </a:solidFill>
                      <a:prstDash val="solid"/>
                      <a:round/>
                      <a:headEnd type="none" w="med" len="med"/>
                      <a:tailEnd type="none" w="med" len="med"/>
                    </a:lnB>
                    <a:solidFill>
                      <a:schemeClr val="accent2">
                        <a:lumMod val="40000"/>
                        <a:lumOff val="60000"/>
                      </a:schemeClr>
                    </a:solidFill>
                  </a:tcPr>
                </a:tc>
                <a:extLst>
                  <a:ext uri="{0D108BD9-81ED-4DB2-BD59-A6C34878D82A}">
                    <a16:rowId xmlns:a16="http://schemas.microsoft.com/office/drawing/2014/main" val="2993874157"/>
                  </a:ext>
                </a:extLst>
              </a:tr>
              <a:tr h="176406">
                <a:tc>
                  <a:txBody>
                    <a:bodyPr/>
                    <a:lstStyle/>
                    <a:p>
                      <a:pPr algn="l" fontAlgn="ctr">
                        <a:buNone/>
                      </a:pPr>
                      <a:endParaRPr lang="en-US" sz="1100" b="1" i="0" u="none" strike="noStrike">
                        <a:solidFill>
                          <a:srgbClr val="000000"/>
                        </a:solidFill>
                        <a:effectLst/>
                        <a:latin typeface="Aptos Narrow" panose="020B0004020202020204" pitchFamily="34" charset="0"/>
                      </a:endParaRP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algn="l" fontAlgn="b">
                        <a:buNone/>
                      </a:pPr>
                      <a:endParaRPr lang="en-US" sz="1100" b="1" i="0" u="none" strike="noStrike">
                        <a:solidFill>
                          <a:srgbClr val="000000"/>
                        </a:solidFill>
                        <a:effectLst/>
                        <a:latin typeface="Aptos Narrow" panose="020B0004020202020204" pitchFamily="34" charset="0"/>
                      </a:endParaRP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algn="l" fontAlgn="ctr">
                        <a:buNone/>
                      </a:pPr>
                      <a:endParaRPr lang="en-US" sz="1100" b="0" i="0" u="none" strike="noStrike">
                        <a:solidFill>
                          <a:srgbClr val="000000"/>
                        </a:solidFill>
                        <a:effectLst/>
                        <a:latin typeface="Aptos Narrow" panose="020B0004020202020204" pitchFamily="34" charset="0"/>
                      </a:endParaRP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extLst>
                  <a:ext uri="{0D108BD9-81ED-4DB2-BD59-A6C34878D82A}">
                    <a16:rowId xmlns:a16="http://schemas.microsoft.com/office/drawing/2014/main" val="1486718395"/>
                  </a:ext>
                </a:extLst>
              </a:tr>
              <a:tr h="705622">
                <a:tc>
                  <a:txBody>
                    <a:bodyPr/>
                    <a:lstStyle/>
                    <a:p>
                      <a:pPr algn="l" fontAlgn="b">
                        <a:buNone/>
                      </a:pPr>
                      <a:endParaRPr lang="en-US" sz="1100" b="1" i="0" u="none" strike="noStrike">
                        <a:solidFill>
                          <a:srgbClr val="000000"/>
                        </a:solidFill>
                        <a:effectLst/>
                        <a:latin typeface="Aptos Narrow" panose="020B0004020202020204" pitchFamily="34" charset="0"/>
                      </a:endParaRP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l" fontAlgn="b">
                        <a:buNone/>
                      </a:pPr>
                      <a:endParaRPr lang="en-US" sz="1100" b="1" i="0" u="none" strike="noStrike">
                        <a:solidFill>
                          <a:srgbClr val="000000"/>
                        </a:solidFill>
                        <a:effectLst/>
                        <a:latin typeface="Aptos Narrow" panose="020B0004020202020204" pitchFamily="34" charset="0"/>
                      </a:endParaRP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ctr" fontAlgn="b">
                        <a:buNone/>
                      </a:pPr>
                      <a:endParaRPr lang="en-US" sz="1100" b="1" i="0" u="none" strike="noStrike">
                        <a:solidFill>
                          <a:srgbClr val="000000"/>
                        </a:solidFill>
                        <a:effectLst/>
                        <a:latin typeface="Aptos Narrow" panose="020B0004020202020204" pitchFamily="34" charset="0"/>
                      </a:endParaRP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r" fontAlgn="b">
                        <a:buNone/>
                      </a:pPr>
                      <a:endParaRPr lang="en-US" sz="1100" b="1" i="0" u="none" strike="noStrike">
                        <a:solidFill>
                          <a:srgbClr val="000000"/>
                        </a:solidFill>
                        <a:effectLst/>
                        <a:latin typeface="Aptos Narrow" panose="020B0004020202020204" pitchFamily="34" charset="0"/>
                      </a:endParaRP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r" fontAlgn="b">
                        <a:buNone/>
                      </a:pPr>
                      <a:endParaRPr lang="en-US" sz="1100" b="0" i="0" u="none" strike="noStrike">
                        <a:solidFill>
                          <a:srgbClr val="000000"/>
                        </a:solidFill>
                        <a:effectLst/>
                        <a:latin typeface="Aptos Narrow" panose="020B0004020202020204" pitchFamily="34" charset="0"/>
                      </a:endParaRP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l" fontAlgn="b">
                        <a:buNone/>
                      </a:pPr>
                      <a:endParaRPr lang="en-US" sz="1100" b="1" i="0" u="none" strike="noStrike">
                        <a:solidFill>
                          <a:srgbClr val="000000"/>
                        </a:solidFill>
                        <a:effectLst/>
                        <a:latin typeface="Aptos Narrow" panose="020B0004020202020204" pitchFamily="34" charset="0"/>
                      </a:endParaRP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l" fontAlgn="b">
                        <a:buNone/>
                      </a:pPr>
                      <a:endParaRPr lang="en-US" sz="1000" b="0" i="0" u="none" strike="noStrike">
                        <a:solidFill>
                          <a:srgbClr val="000000"/>
                        </a:solidFill>
                        <a:effectLst/>
                        <a:latin typeface="Aptos Narrow" panose="020B0004020202020204" pitchFamily="34" charset="0"/>
                      </a:endParaRP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extLst>
                  <a:ext uri="{0D108BD9-81ED-4DB2-BD59-A6C34878D82A}">
                    <a16:rowId xmlns:a16="http://schemas.microsoft.com/office/drawing/2014/main" val="1289107603"/>
                  </a:ext>
                </a:extLst>
              </a:tr>
              <a:tr h="529217">
                <a:tc>
                  <a:txBody>
                    <a:bodyPr/>
                    <a:lstStyle/>
                    <a:p>
                      <a:pPr algn="l" fontAlgn="ctr">
                        <a:buNone/>
                      </a:pPr>
                      <a:endParaRPr lang="en-US" sz="1100" b="1" i="0" u="none" strike="noStrike">
                        <a:solidFill>
                          <a:srgbClr val="000000"/>
                        </a:solidFill>
                        <a:effectLst/>
                        <a:latin typeface="Aptos Narrow" panose="020B0004020202020204" pitchFamily="34" charset="0"/>
                      </a:endParaRP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l" fontAlgn="b">
                        <a:buNone/>
                      </a:pPr>
                      <a:endParaRPr lang="en-US" sz="1100" b="1" i="0" u="none" strike="noStrike">
                        <a:solidFill>
                          <a:srgbClr val="000000"/>
                        </a:solidFill>
                        <a:effectLst/>
                        <a:latin typeface="Aptos Narrow" panose="020B0004020202020204" pitchFamily="34" charset="0"/>
                      </a:endParaRP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l" fontAlgn="ctr">
                        <a:buNone/>
                      </a:pPr>
                      <a:endParaRPr lang="en-US" sz="1100" b="0" i="0" u="none" strike="noStrike">
                        <a:solidFill>
                          <a:srgbClr val="000000"/>
                        </a:solidFill>
                        <a:effectLst/>
                        <a:latin typeface="Aptos Narrow" panose="020B0004020202020204" pitchFamily="34" charset="0"/>
                      </a:endParaRP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l" fontAlgn="ctr">
                        <a:buNone/>
                      </a:pPr>
                      <a:endParaRPr lang="en-US" sz="1100" b="0" i="0" u="none" strike="noStrike">
                        <a:solidFill>
                          <a:srgbClr val="000000"/>
                        </a:solidFill>
                        <a:effectLst/>
                        <a:latin typeface="Aptos Narrow" panose="020B0004020202020204" pitchFamily="34" charset="0"/>
                      </a:endParaRP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l" fontAlgn="ctr">
                        <a:buNone/>
                      </a:pPr>
                      <a:endParaRPr lang="en-US" sz="1100" b="1" i="0" u="none" strike="noStrike">
                        <a:solidFill>
                          <a:srgbClr val="000000"/>
                        </a:solidFill>
                        <a:effectLst/>
                        <a:latin typeface="Aptos Narrow" panose="020B0004020202020204" pitchFamily="34" charset="0"/>
                      </a:endParaRP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l" fontAlgn="ctr">
                        <a:buNone/>
                      </a:pPr>
                      <a:endParaRPr lang="en-US" sz="1100" b="0" i="0" u="none" strike="noStrike">
                        <a:solidFill>
                          <a:srgbClr val="000000"/>
                        </a:solidFill>
                        <a:effectLst/>
                        <a:latin typeface="Aptos Narrow" panose="020B0004020202020204" pitchFamily="34" charset="0"/>
                      </a:endParaRP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extLst>
                  <a:ext uri="{0D108BD9-81ED-4DB2-BD59-A6C34878D82A}">
                    <a16:rowId xmlns:a16="http://schemas.microsoft.com/office/drawing/2014/main" val="2401342091"/>
                  </a:ext>
                </a:extLst>
              </a:tr>
              <a:tr h="529217">
                <a:tc>
                  <a:txBody>
                    <a:bodyPr/>
                    <a:lstStyle/>
                    <a:p>
                      <a:pPr algn="l" fontAlgn="b">
                        <a:buNone/>
                      </a:pPr>
                      <a:endParaRPr lang="en-US" sz="1100" b="1" i="0" u="none" strike="noStrike">
                        <a:solidFill>
                          <a:srgbClr val="000000"/>
                        </a:solidFill>
                        <a:effectLst/>
                        <a:latin typeface="Aptos Narrow" panose="020B0004020202020204" pitchFamily="34" charset="0"/>
                      </a:endParaRPr>
                    </a:p>
                  </a:txBody>
                  <a:tcPr marL="0" marR="0" marT="0" marB="0" anchor="b">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l" fontAlgn="b">
                        <a:buNone/>
                      </a:pPr>
                      <a:endParaRPr lang="en-US" sz="1100" b="1" i="0" u="none" strike="noStrike">
                        <a:solidFill>
                          <a:srgbClr val="000000"/>
                        </a:solidFill>
                        <a:effectLst/>
                        <a:latin typeface="Aptos Narrow" panose="020B0004020202020204" pitchFamily="34" charset="0"/>
                      </a:endParaRPr>
                    </a:p>
                  </a:txBody>
                  <a:tcPr marL="0" marR="0" marT="0" marB="0" anchor="b">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l" fontAlgn="b">
                        <a:buNone/>
                      </a:pPr>
                      <a:endParaRPr lang="en-US" sz="1100" b="1" i="0" u="none" strike="noStrike">
                        <a:solidFill>
                          <a:srgbClr val="000000"/>
                        </a:solidFill>
                        <a:effectLst/>
                        <a:latin typeface="Aptos Narrow" panose="020B0004020202020204" pitchFamily="34" charset="0"/>
                      </a:endParaRPr>
                    </a:p>
                  </a:txBody>
                  <a:tcPr marL="0" marR="0" marT="0" marB="0" anchor="b">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0" marR="0" marT="0" marB="0" anchor="b">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r" fontAlgn="b">
                        <a:buNone/>
                      </a:pPr>
                      <a:endParaRPr lang="en-US" sz="1100" b="1" i="0" u="none" strike="noStrike">
                        <a:solidFill>
                          <a:srgbClr val="000000"/>
                        </a:solidFill>
                        <a:effectLst/>
                        <a:latin typeface="Aptos Narrow" panose="020B0004020202020204" pitchFamily="34" charset="0"/>
                      </a:endParaRPr>
                    </a:p>
                  </a:txBody>
                  <a:tcPr marL="0" marR="0" marT="0" marB="0" anchor="b">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0" marR="0" marT="0" marB="0" anchor="b">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l" fontAlgn="b">
                        <a:buNone/>
                      </a:pPr>
                      <a:endParaRPr lang="en-US" sz="1100" b="1" i="0" u="none" strike="noStrike">
                        <a:solidFill>
                          <a:srgbClr val="000000"/>
                        </a:solidFill>
                        <a:effectLst/>
                        <a:latin typeface="Aptos Narrow" panose="020B0004020202020204" pitchFamily="34" charset="0"/>
                      </a:endParaRPr>
                    </a:p>
                  </a:txBody>
                  <a:tcPr marL="0" marR="0" marT="0" marB="0" anchor="b">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l" fontAlgn="ctr">
                        <a:buNone/>
                      </a:pPr>
                      <a:endParaRPr lang="en-US" sz="1100" b="0" i="0" u="none" strike="noStrike">
                        <a:solidFill>
                          <a:srgbClr val="000000"/>
                        </a:solidFill>
                        <a:effectLst/>
                        <a:latin typeface="Aptos Narrow" panose="020B0004020202020204" pitchFamily="34" charset="0"/>
                      </a:endParaRPr>
                    </a:p>
                  </a:txBody>
                  <a:tcPr marL="45720" marR="45720" anchor="ctr">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extLst>
                  <a:ext uri="{0D108BD9-81ED-4DB2-BD59-A6C34878D82A}">
                    <a16:rowId xmlns:a16="http://schemas.microsoft.com/office/drawing/2014/main" val="3366491188"/>
                  </a:ext>
                </a:extLst>
              </a:tr>
              <a:tr h="352811">
                <a:tc>
                  <a:txBody>
                    <a:bodyPr/>
                    <a:lstStyle/>
                    <a:p>
                      <a:pPr algn="l" fontAlgn="b">
                        <a:buNone/>
                      </a:pPr>
                      <a:endParaRPr lang="en-US" sz="1100" b="1" i="0" u="none" strike="noStrike">
                        <a:solidFill>
                          <a:srgbClr val="000000"/>
                        </a:solidFill>
                        <a:effectLst/>
                        <a:latin typeface="Aptos Narrow" panose="020B0004020202020204" pitchFamily="34" charset="0"/>
                      </a:endParaRPr>
                    </a:p>
                  </a:txBody>
                  <a:tcPr marL="0" marR="0" marT="0" marB="0" anchor="b">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l" fontAlgn="b">
                        <a:buNone/>
                      </a:pPr>
                      <a:endParaRPr lang="en-US" sz="1100" b="1" i="0" u="none" strike="noStrike">
                        <a:solidFill>
                          <a:srgbClr val="000000"/>
                        </a:solidFill>
                        <a:effectLst/>
                        <a:latin typeface="Aptos Narrow" panose="020B0004020202020204" pitchFamily="34" charset="0"/>
                      </a:endParaRPr>
                    </a:p>
                  </a:txBody>
                  <a:tcPr marL="0" marR="0" marT="0" marB="0" anchor="b">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l" fontAlgn="b">
                        <a:buNone/>
                      </a:pPr>
                      <a:endParaRPr lang="en-US" sz="1100" b="1" i="0" u="none" strike="noStrike">
                        <a:solidFill>
                          <a:srgbClr val="000000"/>
                        </a:solidFill>
                        <a:effectLst/>
                        <a:latin typeface="Aptos Narrow" panose="020B0004020202020204" pitchFamily="34" charset="0"/>
                      </a:endParaRPr>
                    </a:p>
                  </a:txBody>
                  <a:tcPr marL="0" marR="0" marT="0" marB="0" anchor="b">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0" marR="0" marT="0" marB="0" anchor="b">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r" fontAlgn="b">
                        <a:buNone/>
                      </a:pPr>
                      <a:endParaRPr lang="en-US" sz="1100" b="1" i="0" u="none" strike="noStrike">
                        <a:solidFill>
                          <a:srgbClr val="000000"/>
                        </a:solidFill>
                        <a:effectLst/>
                        <a:latin typeface="Aptos Narrow" panose="020B0004020202020204" pitchFamily="34" charset="0"/>
                      </a:endParaRPr>
                    </a:p>
                  </a:txBody>
                  <a:tcPr marL="0" marR="0" marT="0" marB="0" anchor="b">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r" fontAlgn="b">
                        <a:buNone/>
                      </a:pPr>
                      <a:endParaRPr lang="en-US" sz="1100" b="0" i="0" u="none" strike="noStrike">
                        <a:solidFill>
                          <a:srgbClr val="000000"/>
                        </a:solidFill>
                        <a:effectLst/>
                        <a:latin typeface="Aptos Narrow" panose="020B0004020202020204" pitchFamily="34" charset="0"/>
                      </a:endParaRPr>
                    </a:p>
                  </a:txBody>
                  <a:tcPr marL="0" marR="0" marT="0" marB="0" anchor="b">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l" fontAlgn="b">
                        <a:buNone/>
                      </a:pPr>
                      <a:endParaRPr lang="en-US" sz="1100" b="1" i="0" u="none" strike="noStrike">
                        <a:solidFill>
                          <a:srgbClr val="000000"/>
                        </a:solidFill>
                        <a:effectLst/>
                        <a:latin typeface="Aptos Narrow" panose="020B0004020202020204" pitchFamily="34" charset="0"/>
                      </a:endParaRPr>
                    </a:p>
                  </a:txBody>
                  <a:tcPr marL="0" marR="0" marT="0" marB="0" anchor="b">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l" fontAlgn="ctr">
                        <a:buNone/>
                      </a:pPr>
                      <a:endParaRPr lang="en-US" sz="1100" b="0" i="0" u="none" strike="noStrike">
                        <a:solidFill>
                          <a:srgbClr val="000000"/>
                        </a:solidFill>
                        <a:effectLst/>
                        <a:latin typeface="Aptos Narrow" panose="020B0004020202020204" pitchFamily="34" charset="0"/>
                      </a:endParaRPr>
                    </a:p>
                  </a:txBody>
                  <a:tcPr marL="45720" marR="45720" anchor="ctr">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extLst>
                  <a:ext uri="{0D108BD9-81ED-4DB2-BD59-A6C34878D82A}">
                    <a16:rowId xmlns:a16="http://schemas.microsoft.com/office/drawing/2014/main" val="2607640160"/>
                  </a:ext>
                </a:extLst>
              </a:tr>
              <a:tr h="176406">
                <a:tc>
                  <a:txBody>
                    <a:bodyPr/>
                    <a:lstStyle/>
                    <a:p>
                      <a:pPr algn="l" fontAlgn="ctr">
                        <a:buNone/>
                      </a:pPr>
                      <a:endParaRPr lang="en-US" sz="1100" b="1" i="0" u="none" strike="noStrike">
                        <a:solidFill>
                          <a:srgbClr val="000000"/>
                        </a:solidFill>
                        <a:effectLst/>
                        <a:latin typeface="Aptos Narrow" panose="020B0004020202020204" pitchFamily="34" charset="0"/>
                      </a:endParaRPr>
                    </a:p>
                  </a:txBody>
                  <a:tcPr marL="45720" marR="45720" anchor="ctr">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l" fontAlgn="b">
                        <a:buNone/>
                      </a:pPr>
                      <a:endParaRPr lang="en-US" sz="1100" b="1" i="0" u="none" strike="noStrike">
                        <a:solidFill>
                          <a:srgbClr val="000000"/>
                        </a:solidFill>
                        <a:effectLst/>
                        <a:latin typeface="Aptos Narrow" panose="020B0004020202020204" pitchFamily="34" charset="0"/>
                      </a:endParaRPr>
                    </a:p>
                  </a:txBody>
                  <a:tcPr marL="45720" marR="45720" anchor="b">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l" fontAlgn="b">
                        <a:buNone/>
                      </a:pPr>
                      <a:endParaRPr lang="en-US" sz="1100" b="1" i="0" u="none" strike="noStrike">
                        <a:solidFill>
                          <a:srgbClr val="000000"/>
                        </a:solidFill>
                        <a:effectLst/>
                        <a:latin typeface="Aptos Narrow" panose="020B0004020202020204" pitchFamily="34" charset="0"/>
                      </a:endParaRPr>
                    </a:p>
                  </a:txBody>
                  <a:tcPr marL="45720" marR="45720" anchor="b">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45720" marR="45720" anchor="b">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r" fontAlgn="ctr">
                        <a:buNone/>
                      </a:pPr>
                      <a:endParaRPr lang="en-US" sz="1100" b="1" i="0" u="none" strike="noStrike">
                        <a:solidFill>
                          <a:srgbClr val="000000"/>
                        </a:solidFill>
                        <a:effectLst/>
                        <a:latin typeface="Aptos Narrow" panose="020B0004020202020204" pitchFamily="34" charset="0"/>
                      </a:endParaRPr>
                    </a:p>
                  </a:txBody>
                  <a:tcPr marL="45720" marR="45720" anchor="ctr">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r" fontAlgn="b">
                        <a:buNone/>
                      </a:pPr>
                      <a:endParaRPr lang="en-US" sz="1100" b="0" i="0" u="none" strike="noStrike">
                        <a:solidFill>
                          <a:srgbClr val="000000"/>
                        </a:solidFill>
                        <a:effectLst/>
                        <a:latin typeface="Aptos Narrow" panose="020B0004020202020204" pitchFamily="34" charset="0"/>
                      </a:endParaRPr>
                    </a:p>
                  </a:txBody>
                  <a:tcPr marL="45720" marR="45720" anchor="b">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r" fontAlgn="b">
                        <a:buNone/>
                      </a:pPr>
                      <a:endParaRPr lang="en-US" sz="1100" b="1" i="0" u="none" strike="noStrike">
                        <a:solidFill>
                          <a:srgbClr val="000000"/>
                        </a:solidFill>
                        <a:effectLst/>
                        <a:latin typeface="Aptos Narrow" panose="020B0004020202020204" pitchFamily="34" charset="0"/>
                      </a:endParaRPr>
                    </a:p>
                  </a:txBody>
                  <a:tcPr marL="45720" marR="45720" anchor="b">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l" fontAlgn="ctr">
                        <a:buNone/>
                      </a:pPr>
                      <a:endParaRPr lang="en-US" sz="1100" b="0" i="0" u="none" strike="noStrike">
                        <a:solidFill>
                          <a:srgbClr val="000000"/>
                        </a:solidFill>
                        <a:effectLst/>
                        <a:latin typeface="Aptos Narrow" panose="020B0004020202020204" pitchFamily="34" charset="0"/>
                      </a:endParaRPr>
                    </a:p>
                  </a:txBody>
                  <a:tcPr marL="45720" marR="45720" anchor="ctr">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extLst>
                  <a:ext uri="{0D108BD9-81ED-4DB2-BD59-A6C34878D82A}">
                    <a16:rowId xmlns:a16="http://schemas.microsoft.com/office/drawing/2014/main" val="3182605789"/>
                  </a:ext>
                </a:extLst>
              </a:tr>
              <a:tr h="176406">
                <a:tc>
                  <a:txBody>
                    <a:bodyPr/>
                    <a:lstStyle/>
                    <a:p>
                      <a:pPr algn="l" fontAlgn="ctr">
                        <a:buNone/>
                      </a:pPr>
                      <a:endParaRPr lang="en-US" sz="1100" b="1" i="0" u="none" strike="noStrike">
                        <a:solidFill>
                          <a:srgbClr val="000000"/>
                        </a:solidFill>
                        <a:effectLst/>
                        <a:latin typeface="Aptos Narrow" panose="020B0004020202020204" pitchFamily="34" charset="0"/>
                      </a:endParaRPr>
                    </a:p>
                  </a:txBody>
                  <a:tcPr marL="45720" marR="45720" anchor="ctr">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l" fontAlgn="b">
                        <a:buNone/>
                      </a:pPr>
                      <a:endParaRPr lang="en-US" sz="1100" b="1" i="0" u="none" strike="noStrike">
                        <a:solidFill>
                          <a:srgbClr val="000000"/>
                        </a:solidFill>
                        <a:effectLst/>
                        <a:latin typeface="Aptos Narrow" panose="020B0004020202020204" pitchFamily="34" charset="0"/>
                      </a:endParaRPr>
                    </a:p>
                  </a:txBody>
                  <a:tcPr marL="45720" marR="45720" anchor="b">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l" fontAlgn="b">
                        <a:buNone/>
                      </a:pPr>
                      <a:endParaRPr lang="en-US" sz="1100" b="1" i="0" u="none" strike="noStrike">
                        <a:solidFill>
                          <a:srgbClr val="000000"/>
                        </a:solidFill>
                        <a:effectLst/>
                        <a:latin typeface="Aptos Narrow" panose="020B0004020202020204" pitchFamily="34" charset="0"/>
                      </a:endParaRPr>
                    </a:p>
                  </a:txBody>
                  <a:tcPr marL="45720" marR="45720" anchor="b">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45720" marR="45720" anchor="b">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r" fontAlgn="b">
                        <a:buNone/>
                      </a:pPr>
                      <a:endParaRPr lang="en-US" sz="1100" b="1" i="0" u="none" strike="noStrike">
                        <a:solidFill>
                          <a:srgbClr val="000000"/>
                        </a:solidFill>
                        <a:effectLst/>
                        <a:latin typeface="Aptos Narrow" panose="020B0004020202020204" pitchFamily="34" charset="0"/>
                      </a:endParaRPr>
                    </a:p>
                  </a:txBody>
                  <a:tcPr marL="45720" marR="45720" anchor="b">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r" fontAlgn="b">
                        <a:buNone/>
                      </a:pPr>
                      <a:endParaRPr lang="en-US" sz="1100" b="0" i="0" u="none" strike="noStrike">
                        <a:solidFill>
                          <a:srgbClr val="000000"/>
                        </a:solidFill>
                        <a:effectLst/>
                        <a:latin typeface="Aptos Narrow" panose="020B0004020202020204" pitchFamily="34" charset="0"/>
                      </a:endParaRPr>
                    </a:p>
                  </a:txBody>
                  <a:tcPr marL="45720" marR="45720" anchor="b">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r" fontAlgn="b">
                        <a:buNone/>
                      </a:pPr>
                      <a:endParaRPr lang="en-US" sz="1100" b="1" i="0" u="none" strike="noStrike">
                        <a:solidFill>
                          <a:srgbClr val="000000"/>
                        </a:solidFill>
                        <a:effectLst/>
                        <a:latin typeface="Aptos Narrow" panose="020B0004020202020204" pitchFamily="34" charset="0"/>
                      </a:endParaRPr>
                    </a:p>
                  </a:txBody>
                  <a:tcPr marL="45720" marR="45720" anchor="b">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l" fontAlgn="ctr">
                        <a:buNone/>
                      </a:pPr>
                      <a:endParaRPr lang="en-US" sz="1100" b="0" i="0" u="none" strike="noStrike">
                        <a:solidFill>
                          <a:srgbClr val="000000"/>
                        </a:solidFill>
                        <a:effectLst/>
                        <a:latin typeface="Aptos Narrow" panose="020B0004020202020204" pitchFamily="34" charset="0"/>
                      </a:endParaRPr>
                    </a:p>
                  </a:txBody>
                  <a:tcPr marL="45720" marR="45720" anchor="ctr">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extLst>
                  <a:ext uri="{0D108BD9-81ED-4DB2-BD59-A6C34878D82A}">
                    <a16:rowId xmlns:a16="http://schemas.microsoft.com/office/drawing/2014/main" val="1492022150"/>
                  </a:ext>
                </a:extLst>
              </a:tr>
              <a:tr h="323410">
                <a:tc>
                  <a:txBody>
                    <a:bodyPr/>
                    <a:lstStyle/>
                    <a:p>
                      <a:pPr algn="l" fontAlgn="ctr">
                        <a:buNone/>
                      </a:pPr>
                      <a:endParaRPr lang="en-US" sz="1100" b="1" i="0" u="none" strike="noStrike">
                        <a:solidFill>
                          <a:srgbClr val="000000"/>
                        </a:solidFill>
                        <a:effectLst/>
                        <a:latin typeface="Aptos Narrow" panose="020B0004020202020204" pitchFamily="34" charset="0"/>
                      </a:endParaRPr>
                    </a:p>
                  </a:txBody>
                  <a:tcPr marL="45720" marR="45720" anchor="ctr">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algn="l" fontAlgn="b">
                        <a:buNone/>
                      </a:pPr>
                      <a:endParaRPr lang="en-US" sz="1100" b="1" i="0" u="none" strike="noStrike">
                        <a:solidFill>
                          <a:srgbClr val="000000"/>
                        </a:solidFill>
                        <a:effectLst/>
                        <a:latin typeface="Aptos Narrow" panose="020B0004020202020204" pitchFamily="34" charset="0"/>
                      </a:endParaRPr>
                    </a:p>
                  </a:txBody>
                  <a:tcPr marL="45720" marR="45720" anchor="b">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algn="l" fontAlgn="b">
                        <a:buNone/>
                      </a:pPr>
                      <a:endParaRPr lang="en-US" sz="1100" b="1" i="0" u="none" strike="noStrike">
                        <a:solidFill>
                          <a:srgbClr val="000000"/>
                        </a:solidFill>
                        <a:effectLst/>
                        <a:latin typeface="Aptos Narrow" panose="020B0004020202020204" pitchFamily="34" charset="0"/>
                      </a:endParaRPr>
                    </a:p>
                  </a:txBody>
                  <a:tcPr marL="45720" marR="45720" anchor="b">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45720" marR="45720" anchor="b">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algn="r" fontAlgn="ctr">
                        <a:buNone/>
                      </a:pPr>
                      <a:endParaRPr lang="en-US" sz="1100" b="1" i="0" u="none" strike="noStrike">
                        <a:solidFill>
                          <a:srgbClr val="000000"/>
                        </a:solidFill>
                        <a:effectLst/>
                        <a:latin typeface="Aptos Narrow" panose="020B0004020202020204" pitchFamily="34" charset="0"/>
                      </a:endParaRPr>
                    </a:p>
                  </a:txBody>
                  <a:tcPr marL="45720" marR="45720" anchor="ctr">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algn="r" fontAlgn="b">
                        <a:buNone/>
                      </a:pPr>
                      <a:endParaRPr lang="en-US" sz="1100" b="0" i="0" u="none" strike="noStrike">
                        <a:solidFill>
                          <a:srgbClr val="000000"/>
                        </a:solidFill>
                        <a:effectLst/>
                        <a:latin typeface="Aptos Narrow" panose="020B0004020202020204" pitchFamily="34" charset="0"/>
                      </a:endParaRPr>
                    </a:p>
                  </a:txBody>
                  <a:tcPr marL="45720" marR="45720" anchor="b">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algn="r" fontAlgn="b">
                        <a:buNone/>
                      </a:pPr>
                      <a:endParaRPr lang="en-US" sz="1100" b="1" i="0" u="none" strike="noStrike">
                        <a:solidFill>
                          <a:srgbClr val="000000"/>
                        </a:solidFill>
                        <a:effectLst/>
                        <a:latin typeface="Aptos Narrow" panose="020B0004020202020204" pitchFamily="34" charset="0"/>
                      </a:endParaRPr>
                    </a:p>
                  </a:txBody>
                  <a:tcPr marL="45720" marR="45720" anchor="b">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algn="l" fontAlgn="ctr">
                        <a:buNone/>
                      </a:pPr>
                      <a:endParaRPr lang="en-US" sz="1100" b="0" i="0" u="none" strike="noStrike">
                        <a:solidFill>
                          <a:srgbClr val="000000"/>
                        </a:solidFill>
                        <a:effectLst/>
                        <a:latin typeface="Aptos Narrow" panose="020B0004020202020204" pitchFamily="34" charset="0"/>
                      </a:endParaRPr>
                    </a:p>
                  </a:txBody>
                  <a:tcPr marL="45720" marR="45720" anchor="ctr">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extLst>
                  <a:ext uri="{0D108BD9-81ED-4DB2-BD59-A6C34878D82A}">
                    <a16:rowId xmlns:a16="http://schemas.microsoft.com/office/drawing/2014/main" val="217929367"/>
                  </a:ext>
                </a:extLst>
              </a:tr>
            </a:tbl>
          </a:graphicData>
        </a:graphic>
      </p:graphicFrame>
      <p:grpSp>
        <p:nvGrpSpPr>
          <p:cNvPr id="3" name="Group 2">
            <a:extLst>
              <a:ext uri="{FF2B5EF4-FFF2-40B4-BE49-F238E27FC236}">
                <a16:creationId xmlns:a16="http://schemas.microsoft.com/office/drawing/2014/main" id="{9C8936F3-9E28-C611-B8CC-5E92156FE034}"/>
              </a:ext>
            </a:extLst>
          </p:cNvPr>
          <p:cNvGrpSpPr/>
          <p:nvPr/>
        </p:nvGrpSpPr>
        <p:grpSpPr>
          <a:xfrm>
            <a:off x="9629191" y="73824"/>
            <a:ext cx="2435155" cy="911208"/>
            <a:chOff x="7996335" y="4089215"/>
            <a:chExt cx="3004322" cy="1323375"/>
          </a:xfrm>
        </p:grpSpPr>
        <p:pic>
          <p:nvPicPr>
            <p:cNvPr id="6" name="Picture 5">
              <a:extLst>
                <a:ext uri="{FF2B5EF4-FFF2-40B4-BE49-F238E27FC236}">
                  <a16:creationId xmlns:a16="http://schemas.microsoft.com/office/drawing/2014/main" id="{4F9FC2BA-F4E1-8F3E-F307-5111AB8C36D6}"/>
                </a:ext>
              </a:extLst>
            </p:cNvPr>
            <p:cNvPicPr>
              <a:picLocks noChangeAspect="1"/>
            </p:cNvPicPr>
            <p:nvPr/>
          </p:nvPicPr>
          <p:blipFill>
            <a:blip r:embed="rId2"/>
            <a:stretch>
              <a:fillRect/>
            </a:stretch>
          </p:blipFill>
          <p:spPr>
            <a:xfrm>
              <a:off x="9671548" y="4926763"/>
              <a:ext cx="816808" cy="485827"/>
            </a:xfrm>
            <a:prstGeom prst="rect">
              <a:avLst/>
            </a:prstGeom>
          </p:spPr>
        </p:pic>
        <p:pic>
          <p:nvPicPr>
            <p:cNvPr id="7" name="Picture 6">
              <a:extLst>
                <a:ext uri="{FF2B5EF4-FFF2-40B4-BE49-F238E27FC236}">
                  <a16:creationId xmlns:a16="http://schemas.microsoft.com/office/drawing/2014/main" id="{9CF673F1-B616-F4CF-4A6A-77000FC6A240}"/>
                </a:ext>
              </a:extLst>
            </p:cNvPr>
            <p:cNvPicPr>
              <a:picLocks noChangeAspect="1"/>
            </p:cNvPicPr>
            <p:nvPr/>
          </p:nvPicPr>
          <p:blipFill>
            <a:blip r:embed="rId3"/>
            <a:stretch>
              <a:fillRect/>
            </a:stretch>
          </p:blipFill>
          <p:spPr>
            <a:xfrm>
              <a:off x="7996335" y="4089215"/>
              <a:ext cx="3004322" cy="1043764"/>
            </a:xfrm>
            <a:prstGeom prst="rect">
              <a:avLst/>
            </a:prstGeom>
          </p:spPr>
        </p:pic>
      </p:grpSp>
    </p:spTree>
    <p:extLst>
      <p:ext uri="{BB962C8B-B14F-4D97-AF65-F5344CB8AC3E}">
        <p14:creationId xmlns:p14="http://schemas.microsoft.com/office/powerpoint/2010/main" val="400731882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0211F9-78FB-C1C0-FF45-61AC3A6CCA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27E7F5-D848-10C5-BAC6-31C6097B6E5D}"/>
              </a:ext>
            </a:extLst>
          </p:cNvPr>
          <p:cNvSpPr>
            <a:spLocks noGrp="1"/>
          </p:cNvSpPr>
          <p:nvPr>
            <p:ph type="title"/>
          </p:nvPr>
        </p:nvSpPr>
        <p:spPr>
          <a:xfrm>
            <a:off x="56190" y="8510"/>
            <a:ext cx="10515600" cy="653214"/>
          </a:xfrm>
        </p:spPr>
        <p:txBody>
          <a:bodyPr>
            <a:normAutofit/>
          </a:bodyPr>
          <a:lstStyle/>
          <a:p>
            <a:r>
              <a:rPr lang="en-US"/>
              <a:t>HLA Backlog</a:t>
            </a:r>
          </a:p>
        </p:txBody>
      </p:sp>
      <p:graphicFrame>
        <p:nvGraphicFramePr>
          <p:cNvPr id="4" name="Table 3">
            <a:extLst>
              <a:ext uri="{FF2B5EF4-FFF2-40B4-BE49-F238E27FC236}">
                <a16:creationId xmlns:a16="http://schemas.microsoft.com/office/drawing/2014/main" id="{B62DB7C0-4098-A40E-2C18-E1C178443E0A}"/>
              </a:ext>
            </a:extLst>
          </p:cNvPr>
          <p:cNvGraphicFramePr>
            <a:graphicFrameLocks noGrp="1"/>
          </p:cNvGraphicFramePr>
          <p:nvPr/>
        </p:nvGraphicFramePr>
        <p:xfrm>
          <a:off x="65988" y="1332841"/>
          <a:ext cx="12126011" cy="4276918"/>
        </p:xfrm>
        <a:graphic>
          <a:graphicData uri="http://schemas.openxmlformats.org/drawingml/2006/table">
            <a:tbl>
              <a:tblPr>
                <a:tableStyleId>{5C22544A-7EE6-4342-B048-85BDC9FD1C3A}</a:tableStyleId>
              </a:tblPr>
              <a:tblGrid>
                <a:gridCol w="2357938">
                  <a:extLst>
                    <a:ext uri="{9D8B030D-6E8A-4147-A177-3AD203B41FA5}">
                      <a16:colId xmlns:a16="http://schemas.microsoft.com/office/drawing/2014/main" val="3471638855"/>
                    </a:ext>
                  </a:extLst>
                </a:gridCol>
                <a:gridCol w="624317">
                  <a:extLst>
                    <a:ext uri="{9D8B030D-6E8A-4147-A177-3AD203B41FA5}">
                      <a16:colId xmlns:a16="http://schemas.microsoft.com/office/drawing/2014/main" val="3028352674"/>
                    </a:ext>
                  </a:extLst>
                </a:gridCol>
                <a:gridCol w="1427012">
                  <a:extLst>
                    <a:ext uri="{9D8B030D-6E8A-4147-A177-3AD203B41FA5}">
                      <a16:colId xmlns:a16="http://schemas.microsoft.com/office/drawing/2014/main" val="1498653313"/>
                    </a:ext>
                  </a:extLst>
                </a:gridCol>
                <a:gridCol w="923181">
                  <a:extLst>
                    <a:ext uri="{9D8B030D-6E8A-4147-A177-3AD203B41FA5}">
                      <a16:colId xmlns:a16="http://schemas.microsoft.com/office/drawing/2014/main" val="4149856823"/>
                    </a:ext>
                  </a:extLst>
                </a:gridCol>
                <a:gridCol w="923181">
                  <a:extLst>
                    <a:ext uri="{9D8B030D-6E8A-4147-A177-3AD203B41FA5}">
                      <a16:colId xmlns:a16="http://schemas.microsoft.com/office/drawing/2014/main" val="426403746"/>
                    </a:ext>
                  </a:extLst>
                </a:gridCol>
                <a:gridCol w="744638">
                  <a:extLst>
                    <a:ext uri="{9D8B030D-6E8A-4147-A177-3AD203B41FA5}">
                      <a16:colId xmlns:a16="http://schemas.microsoft.com/office/drawing/2014/main" val="3578533005"/>
                    </a:ext>
                  </a:extLst>
                </a:gridCol>
                <a:gridCol w="854569">
                  <a:extLst>
                    <a:ext uri="{9D8B030D-6E8A-4147-A177-3AD203B41FA5}">
                      <a16:colId xmlns:a16="http://schemas.microsoft.com/office/drawing/2014/main" val="125616475"/>
                    </a:ext>
                  </a:extLst>
                </a:gridCol>
                <a:gridCol w="4271175">
                  <a:extLst>
                    <a:ext uri="{9D8B030D-6E8A-4147-A177-3AD203B41FA5}">
                      <a16:colId xmlns:a16="http://schemas.microsoft.com/office/drawing/2014/main" val="2731508636"/>
                    </a:ext>
                  </a:extLst>
                </a:gridCol>
              </a:tblGrid>
              <a:tr h="476569">
                <a:tc>
                  <a:txBody>
                    <a:bodyPr/>
                    <a:lstStyle/>
                    <a:p>
                      <a:pPr algn="ctr" fontAlgn="b">
                        <a:buNone/>
                      </a:pPr>
                      <a:r>
                        <a:rPr lang="en-US" sz="1100" u="none" strike="noStrike">
                          <a:solidFill>
                            <a:schemeClr val="tx1"/>
                          </a:solidFill>
                          <a:effectLst/>
                        </a:rPr>
                        <a:t>Description</a:t>
                      </a:r>
                      <a:endParaRPr lang="en-US" sz="1100" b="1" i="0" u="none" strike="noStrike">
                        <a:solidFill>
                          <a:schemeClr val="tx1"/>
                        </a:solidFill>
                        <a:effectLst/>
                        <a:latin typeface="Aptos Narrow" panose="020B0004020202020204" pitchFamily="34" charset="0"/>
                      </a:endParaRPr>
                    </a:p>
                  </a:txBody>
                  <a:tcPr marL="0" marR="0" marT="0" marB="0" anchor="b">
                    <a:lnB w="12700" cap="flat" cmpd="sng" algn="ctr">
                      <a:solidFill>
                        <a:srgbClr val="72B0BD"/>
                      </a:solidFill>
                      <a:prstDash val="solid"/>
                      <a:round/>
                      <a:headEnd type="none" w="med" len="med"/>
                      <a:tailEnd type="none" w="med" len="med"/>
                    </a:lnB>
                    <a:solidFill>
                      <a:schemeClr val="accent2">
                        <a:lumMod val="40000"/>
                        <a:lumOff val="60000"/>
                      </a:schemeClr>
                    </a:solidFill>
                  </a:tcPr>
                </a:tc>
                <a:tc>
                  <a:txBody>
                    <a:bodyPr/>
                    <a:lstStyle/>
                    <a:p>
                      <a:pPr algn="ctr" fontAlgn="b">
                        <a:buNone/>
                      </a:pPr>
                      <a:r>
                        <a:rPr lang="en-US" sz="1100" u="none" strike="noStrike" err="1">
                          <a:solidFill>
                            <a:schemeClr val="tx1"/>
                          </a:solidFill>
                          <a:effectLst/>
                        </a:rPr>
                        <a:t>OpEX</a:t>
                      </a:r>
                      <a:r>
                        <a:rPr lang="en-US" sz="1100" u="none" strike="noStrike">
                          <a:solidFill>
                            <a:schemeClr val="tx1"/>
                          </a:solidFill>
                          <a:effectLst/>
                        </a:rPr>
                        <a:t> Priority</a:t>
                      </a:r>
                      <a:endParaRPr lang="en-US" sz="1100" b="1" i="0" u="none" strike="noStrike">
                        <a:solidFill>
                          <a:schemeClr val="tx1"/>
                        </a:solidFill>
                        <a:effectLst/>
                        <a:latin typeface="Aptos Narrow" panose="020B0004020202020204" pitchFamily="34" charset="0"/>
                      </a:endParaRPr>
                    </a:p>
                  </a:txBody>
                  <a:tcPr marL="0" marR="0" marT="0" marB="0" anchor="b">
                    <a:lnB w="12700" cap="flat" cmpd="sng" algn="ctr">
                      <a:solidFill>
                        <a:srgbClr val="72B0BD"/>
                      </a:solidFill>
                      <a:prstDash val="solid"/>
                      <a:round/>
                      <a:headEnd type="none" w="med" len="med"/>
                      <a:tailEnd type="none" w="med" len="med"/>
                    </a:lnB>
                    <a:solidFill>
                      <a:schemeClr val="accent2">
                        <a:lumMod val="40000"/>
                        <a:lumOff val="60000"/>
                      </a:schemeClr>
                    </a:solidFill>
                  </a:tcPr>
                </a:tc>
                <a:tc>
                  <a:txBody>
                    <a:bodyPr/>
                    <a:lstStyle/>
                    <a:p>
                      <a:pPr algn="ctr" fontAlgn="b">
                        <a:buNone/>
                      </a:pPr>
                      <a:r>
                        <a:rPr lang="en-US" sz="1100" u="none" strike="noStrike">
                          <a:solidFill>
                            <a:schemeClr val="tx1"/>
                          </a:solidFill>
                          <a:effectLst/>
                        </a:rPr>
                        <a:t>Budgetary Estimate (Hours) </a:t>
                      </a:r>
                      <a:endParaRPr lang="en-US" sz="1100" b="1" i="0" u="none" strike="noStrike">
                        <a:solidFill>
                          <a:schemeClr val="tx1"/>
                        </a:solidFill>
                        <a:effectLst/>
                        <a:latin typeface="Aptos Narrow" panose="020B0004020202020204" pitchFamily="34" charset="0"/>
                      </a:endParaRPr>
                    </a:p>
                  </a:txBody>
                  <a:tcPr marL="0" marR="0" marT="0" marB="0" anchor="b">
                    <a:lnB w="12700" cap="flat" cmpd="sng" algn="ctr">
                      <a:solidFill>
                        <a:srgbClr val="72B0BD"/>
                      </a:solidFill>
                      <a:prstDash val="solid"/>
                      <a:round/>
                      <a:headEnd type="none" w="med" len="med"/>
                      <a:tailEnd type="none" w="med" len="med"/>
                    </a:lnB>
                    <a:solidFill>
                      <a:schemeClr val="accent2">
                        <a:lumMod val="40000"/>
                        <a:lumOff val="60000"/>
                      </a:schemeClr>
                    </a:solidFill>
                  </a:tcPr>
                </a:tc>
                <a:tc>
                  <a:txBody>
                    <a:bodyPr/>
                    <a:lstStyle/>
                    <a:p>
                      <a:pPr algn="ctr" fontAlgn="b">
                        <a:buNone/>
                      </a:pPr>
                      <a:r>
                        <a:rPr lang="en-US" sz="1100" b="1" i="0" u="none" strike="noStrike">
                          <a:solidFill>
                            <a:schemeClr val="tx1"/>
                          </a:solidFill>
                          <a:effectLst/>
                          <a:latin typeface="Aptos Narrow" panose="020B0004020202020204" pitchFamily="34" charset="0"/>
                        </a:rPr>
                        <a:t>Team Impacts</a:t>
                      </a:r>
                    </a:p>
                  </a:txBody>
                  <a:tcPr marL="0" marR="0" marT="0" marB="0" anchor="b">
                    <a:lnB w="12700" cap="flat" cmpd="sng" algn="ctr">
                      <a:solidFill>
                        <a:srgbClr val="72B0BD"/>
                      </a:solidFill>
                      <a:prstDash val="solid"/>
                      <a:round/>
                      <a:headEnd type="none" w="med" len="med"/>
                      <a:tailEnd type="none" w="med" len="med"/>
                    </a:lnB>
                    <a:solidFill>
                      <a:schemeClr val="accent2">
                        <a:lumMod val="40000"/>
                        <a:lumOff val="60000"/>
                      </a:schemeClr>
                    </a:solidFill>
                  </a:tcPr>
                </a:tc>
                <a:tc>
                  <a:txBody>
                    <a:bodyPr/>
                    <a:lstStyle/>
                    <a:p>
                      <a:pPr algn="ctr" fontAlgn="b">
                        <a:buNone/>
                      </a:pPr>
                      <a:r>
                        <a:rPr lang="en-US" sz="1100" u="none" strike="noStrike">
                          <a:solidFill>
                            <a:schemeClr val="tx1"/>
                          </a:solidFill>
                          <a:effectLst/>
                        </a:rPr>
                        <a:t>IT Triaged</a:t>
                      </a:r>
                      <a:endParaRPr lang="en-US" sz="1100" b="1" i="0" u="none" strike="noStrike">
                        <a:solidFill>
                          <a:schemeClr val="tx1"/>
                        </a:solidFill>
                        <a:effectLst/>
                        <a:latin typeface="Aptos Narrow" panose="020B0004020202020204" pitchFamily="34" charset="0"/>
                      </a:endParaRPr>
                    </a:p>
                  </a:txBody>
                  <a:tcPr marL="0" marR="0" marT="0" marB="0" anchor="b">
                    <a:lnB w="12700" cap="flat" cmpd="sng" algn="ctr">
                      <a:solidFill>
                        <a:srgbClr val="72B0BD"/>
                      </a:solidFill>
                      <a:prstDash val="solid"/>
                      <a:round/>
                      <a:headEnd type="none" w="med" len="med"/>
                      <a:tailEnd type="none" w="med" len="med"/>
                    </a:lnB>
                    <a:solidFill>
                      <a:schemeClr val="accent2">
                        <a:lumMod val="40000"/>
                        <a:lumOff val="60000"/>
                      </a:schemeClr>
                    </a:solidFill>
                  </a:tcPr>
                </a:tc>
                <a:tc>
                  <a:txBody>
                    <a:bodyPr/>
                    <a:lstStyle/>
                    <a:p>
                      <a:pPr algn="ctr" fontAlgn="b">
                        <a:buNone/>
                      </a:pPr>
                      <a:r>
                        <a:rPr lang="en-US" sz="1100" u="none" strike="noStrike">
                          <a:solidFill>
                            <a:schemeClr val="tx1"/>
                          </a:solidFill>
                          <a:effectLst/>
                        </a:rPr>
                        <a:t>Estimate complete Date</a:t>
                      </a:r>
                      <a:endParaRPr lang="en-US" sz="1100" b="1" i="0" u="none" strike="noStrike">
                        <a:solidFill>
                          <a:schemeClr val="tx1"/>
                        </a:solidFill>
                        <a:effectLst/>
                        <a:latin typeface="Aptos Narrow" panose="020B0004020202020204" pitchFamily="34" charset="0"/>
                      </a:endParaRPr>
                    </a:p>
                  </a:txBody>
                  <a:tcPr marL="0" marR="0" marT="0" marB="0" anchor="b">
                    <a:lnB w="12700" cap="flat" cmpd="sng" algn="ctr">
                      <a:solidFill>
                        <a:srgbClr val="72B0BD"/>
                      </a:solidFill>
                      <a:prstDash val="solid"/>
                      <a:round/>
                      <a:headEnd type="none" w="med" len="med"/>
                      <a:tailEnd type="none" w="med" len="med"/>
                    </a:lnB>
                    <a:solidFill>
                      <a:schemeClr val="accent2">
                        <a:lumMod val="40000"/>
                        <a:lumOff val="60000"/>
                      </a:schemeClr>
                    </a:solidFill>
                  </a:tcPr>
                </a:tc>
                <a:tc>
                  <a:txBody>
                    <a:bodyPr/>
                    <a:lstStyle/>
                    <a:p>
                      <a:pPr algn="ctr" fontAlgn="b">
                        <a:buNone/>
                      </a:pPr>
                      <a:r>
                        <a:rPr lang="en-US" sz="1100" u="none" strike="noStrike">
                          <a:solidFill>
                            <a:schemeClr val="tx1"/>
                          </a:solidFill>
                          <a:effectLst/>
                        </a:rPr>
                        <a:t>Funding Approved Date</a:t>
                      </a:r>
                      <a:endParaRPr lang="en-US" sz="1100" b="1" i="0" u="none" strike="noStrike">
                        <a:solidFill>
                          <a:schemeClr val="tx1"/>
                        </a:solidFill>
                        <a:effectLst/>
                        <a:latin typeface="Aptos Narrow" panose="020B0004020202020204" pitchFamily="34" charset="0"/>
                      </a:endParaRPr>
                    </a:p>
                  </a:txBody>
                  <a:tcPr marL="0" marR="0" marT="0" marB="0" anchor="b">
                    <a:lnB w="12700" cap="flat" cmpd="sng" algn="ctr">
                      <a:solidFill>
                        <a:srgbClr val="72B0BD"/>
                      </a:solidFill>
                      <a:prstDash val="solid"/>
                      <a:round/>
                      <a:headEnd type="none" w="med" len="med"/>
                      <a:tailEnd type="none" w="med" len="med"/>
                    </a:lnB>
                    <a:solidFill>
                      <a:schemeClr val="accent2">
                        <a:lumMod val="40000"/>
                        <a:lumOff val="60000"/>
                      </a:schemeClr>
                    </a:solidFill>
                  </a:tcPr>
                </a:tc>
                <a:tc>
                  <a:txBody>
                    <a:bodyPr/>
                    <a:lstStyle/>
                    <a:p>
                      <a:pPr algn="ctr" fontAlgn="b">
                        <a:buNone/>
                      </a:pPr>
                      <a:r>
                        <a:rPr lang="en-US" sz="1100" u="none" strike="noStrike">
                          <a:solidFill>
                            <a:schemeClr val="tx1"/>
                          </a:solidFill>
                          <a:effectLst/>
                        </a:rPr>
                        <a:t>Comment</a:t>
                      </a:r>
                      <a:endParaRPr lang="en-US" sz="1100" b="1" i="0" u="none" strike="noStrike">
                        <a:solidFill>
                          <a:schemeClr val="tx1"/>
                        </a:solidFill>
                        <a:effectLst/>
                        <a:latin typeface="Aptos Narrow" panose="020B0004020202020204" pitchFamily="34" charset="0"/>
                      </a:endParaRPr>
                    </a:p>
                  </a:txBody>
                  <a:tcPr marL="0" marR="0" marT="0" marB="0" anchor="b">
                    <a:lnB w="12700" cap="flat" cmpd="sng" algn="ctr">
                      <a:solidFill>
                        <a:srgbClr val="72B0BD"/>
                      </a:solidFill>
                      <a:prstDash val="solid"/>
                      <a:round/>
                      <a:headEnd type="none" w="med" len="med"/>
                      <a:tailEnd type="none" w="med" len="med"/>
                    </a:lnB>
                    <a:solidFill>
                      <a:schemeClr val="accent2">
                        <a:lumMod val="40000"/>
                        <a:lumOff val="60000"/>
                      </a:schemeClr>
                    </a:solidFill>
                  </a:tcPr>
                </a:tc>
                <a:extLst>
                  <a:ext uri="{0D108BD9-81ED-4DB2-BD59-A6C34878D82A}">
                    <a16:rowId xmlns:a16="http://schemas.microsoft.com/office/drawing/2014/main" val="2993874157"/>
                  </a:ext>
                </a:extLst>
              </a:tr>
              <a:tr h="1198643">
                <a:tc>
                  <a:txBody>
                    <a:bodyPr/>
                    <a:lstStyle/>
                    <a:p>
                      <a:pPr marL="0" algn="l" defTabSz="914400" rtl="0" eaLnBrk="1" fontAlgn="ctr" latinLnBrk="0" hangingPunct="1">
                        <a:buNone/>
                      </a:pPr>
                      <a:r>
                        <a:rPr lang="en-US" sz="1100" b="1" i="0" u="none" strike="noStrike" kern="1200">
                          <a:solidFill>
                            <a:srgbClr val="000000"/>
                          </a:solidFill>
                          <a:effectLst/>
                          <a:latin typeface="Aptos Narrow" panose="020B0004020202020204" pitchFamily="34" charset="0"/>
                          <a:ea typeface="+mn-ea"/>
                          <a:cs typeface="+mn-cs"/>
                        </a:rPr>
                        <a:t>DNS &amp; Registration Updates from Precision to </a:t>
                      </a:r>
                      <a:r>
                        <a:rPr lang="en-US" sz="1100" b="1" i="0" u="none" strike="noStrike" kern="1200" err="1">
                          <a:solidFill>
                            <a:srgbClr val="000000"/>
                          </a:solidFill>
                          <a:effectLst/>
                          <a:latin typeface="Aptos Narrow" panose="020B0004020202020204" pitchFamily="34" charset="0"/>
                          <a:ea typeface="+mn-ea"/>
                          <a:cs typeface="+mn-cs"/>
                        </a:rPr>
                        <a:t>CSCGlobal</a:t>
                      </a:r>
                      <a:endParaRPr lang="en-US" sz="1100" b="1" i="0" u="none" strike="noStrike" kern="1200">
                        <a:solidFill>
                          <a:srgbClr val="000000"/>
                        </a:solidFill>
                        <a:effectLst/>
                        <a:latin typeface="Aptos Narrow" panose="020B0004020202020204" pitchFamily="34" charset="0"/>
                        <a:ea typeface="+mn-ea"/>
                        <a:cs typeface="+mn-cs"/>
                      </a:endParaRP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marL="0" algn="l" defTabSz="914400" rtl="0" eaLnBrk="1" fontAlgn="ctr" latinLnBrk="0" hangingPunct="1">
                        <a:buNone/>
                      </a:pPr>
                      <a:r>
                        <a:rPr lang="en-US" sz="1100" b="1" i="0" u="none" strike="noStrike" kern="1200" err="1">
                          <a:solidFill>
                            <a:srgbClr val="000000"/>
                          </a:solidFill>
                          <a:effectLst/>
                          <a:latin typeface="Aptos Narrow" panose="020B0004020202020204" pitchFamily="34" charset="0"/>
                          <a:ea typeface="+mn-ea"/>
                          <a:cs typeface="+mn-cs"/>
                        </a:rPr>
                        <a:t>na</a:t>
                      </a:r>
                      <a:endParaRPr lang="en-US" sz="1100" b="1" i="0" u="none" strike="noStrike" kern="1200">
                        <a:solidFill>
                          <a:srgbClr val="000000"/>
                        </a:solidFill>
                        <a:effectLst/>
                        <a:latin typeface="Aptos Narrow" panose="020B0004020202020204" pitchFamily="34" charset="0"/>
                        <a:ea typeface="+mn-ea"/>
                        <a:cs typeface="+mn-cs"/>
                      </a:endParaRP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marL="0" algn="l" defTabSz="914400" rtl="0" eaLnBrk="1" fontAlgn="ctr" latinLnBrk="0" hangingPunct="1">
                        <a:buNone/>
                      </a:pPr>
                      <a:r>
                        <a:rPr lang="en-US" sz="1100" b="1" i="0" u="none" strike="noStrike" kern="1200">
                          <a:solidFill>
                            <a:srgbClr val="000000"/>
                          </a:solidFill>
                          <a:effectLst/>
                          <a:latin typeface="Aptos Narrow" panose="020B0004020202020204" pitchFamily="34" charset="0"/>
                          <a:ea typeface="+mn-ea"/>
                          <a:cs typeface="+mn-cs"/>
                        </a:rPr>
                        <a:t>TBD</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marL="0" algn="l" defTabSz="914400" rtl="0" eaLnBrk="1" fontAlgn="ctr" latinLnBrk="0" hangingPunct="1">
                        <a:buNone/>
                      </a:pPr>
                      <a:r>
                        <a:rPr lang="en-US" sz="1100" b="1" i="0" u="none" strike="noStrike" kern="1200">
                          <a:solidFill>
                            <a:srgbClr val="000000"/>
                          </a:solidFill>
                          <a:effectLst/>
                          <a:latin typeface="Aptos Narrow" panose="020B0004020202020204" pitchFamily="34" charset="0"/>
                          <a:ea typeface="+mn-ea"/>
                          <a:cs typeface="+mn-cs"/>
                        </a:rPr>
                        <a:t>EW or TB</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marL="0" algn="l" defTabSz="914400" rtl="0" eaLnBrk="1" fontAlgn="ctr" latinLnBrk="0" hangingPunct="1">
                        <a:buNone/>
                      </a:pPr>
                      <a:r>
                        <a:rPr lang="en-US" sz="1100" b="1" i="0" u="none" strike="noStrike" kern="1200">
                          <a:solidFill>
                            <a:srgbClr val="000000"/>
                          </a:solidFill>
                          <a:effectLst/>
                          <a:latin typeface="Aptos Narrow" panose="020B0004020202020204" pitchFamily="34" charset="0"/>
                          <a:ea typeface="+mn-ea"/>
                          <a:cs typeface="+mn-cs"/>
                        </a:rPr>
                        <a:t>6/9/2026</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marL="0" algn="l" defTabSz="914400" rtl="0" eaLnBrk="1" fontAlgn="ctr" latinLnBrk="0" hangingPunct="1">
                        <a:buNone/>
                      </a:pPr>
                      <a:r>
                        <a:rPr lang="en-US" sz="1100" b="1" i="0" u="none" strike="noStrike" kern="1200">
                          <a:solidFill>
                            <a:srgbClr val="000000"/>
                          </a:solidFill>
                          <a:effectLst/>
                          <a:latin typeface="Aptos Narrow" panose="020B0004020202020204" pitchFamily="34" charset="0"/>
                          <a:ea typeface="+mn-ea"/>
                          <a:cs typeface="+mn-cs"/>
                        </a:rPr>
                        <a:t>7/21/26 (t)</a:t>
                      </a:r>
                    </a:p>
                    <a:p>
                      <a:pPr marL="0" algn="l" defTabSz="914400" rtl="0" eaLnBrk="1" fontAlgn="ctr" latinLnBrk="0" hangingPunct="1">
                        <a:buNone/>
                      </a:pPr>
                      <a:endParaRPr lang="en-US" sz="1100" b="1" i="0" u="none" strike="noStrike" kern="1200">
                        <a:solidFill>
                          <a:srgbClr val="000000"/>
                        </a:solidFill>
                        <a:effectLst/>
                        <a:latin typeface="Aptos Narrow" panose="020B0004020202020204" pitchFamily="34" charset="0"/>
                        <a:ea typeface="+mn-ea"/>
                        <a:cs typeface="+mn-cs"/>
                      </a:endParaRP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sz="1100" b="1" i="0" u="none" strike="noStrike">
                          <a:solidFill>
                            <a:srgbClr val="000000"/>
                          </a:solidFill>
                          <a:effectLst/>
                          <a:latin typeface="Aptos Narrow" panose="020B0004020202020204" pitchFamily="34" charset="0"/>
                        </a:rPr>
                        <a:t>Pending</a:t>
                      </a:r>
                    </a:p>
                    <a:p>
                      <a:pPr marL="0" algn="l" defTabSz="914400" rtl="0" eaLnBrk="1" fontAlgn="ctr" latinLnBrk="0" hangingPunct="1">
                        <a:buNone/>
                      </a:pPr>
                      <a:endParaRPr lang="en-US" sz="1100" b="1" i="0" u="none" strike="noStrike" kern="1200">
                        <a:solidFill>
                          <a:srgbClr val="000000"/>
                        </a:solidFill>
                        <a:effectLst/>
                        <a:latin typeface="Aptos Narrow" panose="020B0004020202020204" pitchFamily="34" charset="0"/>
                        <a:ea typeface="+mn-ea"/>
                        <a:cs typeface="+mn-cs"/>
                      </a:endParaRP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l" fontAlgn="ctr">
                        <a:buNone/>
                      </a:pPr>
                      <a:r>
                        <a:rPr lang="en-US" sz="1100" b="0" i="0" u="none" strike="noStrike">
                          <a:solidFill>
                            <a:srgbClr val="000000"/>
                          </a:solidFill>
                          <a:effectLst/>
                          <a:latin typeface="Aptos Narrow" panose="020B0004020202020204" pitchFamily="34" charset="0"/>
                        </a:rPr>
                        <a:t>Triaged -  6/9/26, HLA tentatively scheduled to start 6/23 ;  for further business input before HLA can start</a:t>
                      </a:r>
                    </a:p>
                    <a:p>
                      <a:pPr algn="l" fontAlgn="ctr">
                        <a:buNone/>
                      </a:pPr>
                      <a:r>
                        <a:rPr lang="en-US" sz="1100" b="0" i="0" u="none" strike="noStrike">
                          <a:solidFill>
                            <a:srgbClr val="000000"/>
                          </a:solidFill>
                          <a:effectLst/>
                          <a:latin typeface="Aptos Narrow" panose="020B0004020202020204" pitchFamily="34" charset="0"/>
                        </a:rPr>
                        <a:t>Pending decision and estimate whether 7 sites (2 with SSO) need rebuilt  internally by Pet IT first then migrated to </a:t>
                      </a:r>
                      <a:r>
                        <a:rPr lang="en-US" sz="1100" b="0" i="0" u="none" strike="noStrike" err="1">
                          <a:solidFill>
                            <a:srgbClr val="000000"/>
                          </a:solidFill>
                          <a:effectLst/>
                          <a:latin typeface="Aptos Narrow" panose="020B0004020202020204" pitchFamily="34" charset="0"/>
                        </a:rPr>
                        <a:t>CSCglobal</a:t>
                      </a:r>
                      <a:r>
                        <a:rPr lang="en-US" sz="1100" b="0" i="0" u="none" strike="noStrike">
                          <a:solidFill>
                            <a:srgbClr val="000000"/>
                          </a:solidFill>
                          <a:effectLst/>
                          <a:latin typeface="Aptos Narrow" panose="020B0004020202020204" pitchFamily="34" charset="0"/>
                        </a:rPr>
                        <a:t> - unclear of size of this effort or interaction yet. Current </a:t>
                      </a:r>
                      <a:r>
                        <a:rPr lang="en-US" sz="1100" b="0" i="0" u="none" strike="noStrike" err="1">
                          <a:solidFill>
                            <a:srgbClr val="000000"/>
                          </a:solidFill>
                          <a:effectLst/>
                          <a:latin typeface="Aptos Narrow" panose="020B0004020202020204" pitchFamily="34" charset="0"/>
                        </a:rPr>
                        <a:t>CSCGlobal</a:t>
                      </a:r>
                      <a:r>
                        <a:rPr lang="en-US" sz="1100" b="0" i="0" u="none" strike="noStrike">
                          <a:solidFill>
                            <a:srgbClr val="000000"/>
                          </a:solidFill>
                          <a:effectLst/>
                          <a:latin typeface="Aptos Narrow" panose="020B0004020202020204" pitchFamily="34" charset="0"/>
                        </a:rPr>
                        <a:t> estimate for registration migration cost is $308, but could grow if needed to be done as a standalone separate  the Moniker transfer. </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extLst>
                  <a:ext uri="{0D108BD9-81ED-4DB2-BD59-A6C34878D82A}">
                    <a16:rowId xmlns:a16="http://schemas.microsoft.com/office/drawing/2014/main" val="2401342091"/>
                  </a:ext>
                </a:extLst>
              </a:tr>
              <a:tr h="375478">
                <a:tc>
                  <a:txBody>
                    <a:bodyPr/>
                    <a:lstStyle/>
                    <a:p>
                      <a:pPr algn="l" fontAlgn="b">
                        <a:buNone/>
                      </a:pPr>
                      <a:r>
                        <a:rPr lang="en-US" sz="1000" b="0" i="0" u="none" strike="noStrike" err="1">
                          <a:solidFill>
                            <a:srgbClr val="000000"/>
                          </a:solidFill>
                          <a:effectLst/>
                          <a:latin typeface="Aptos Narrow" panose="020B0004020202020204" pitchFamily="34" charset="0"/>
                        </a:rPr>
                        <a:t>Tshirt</a:t>
                      </a:r>
                      <a:r>
                        <a:rPr lang="en-US" sz="1000" b="0" i="0" u="none" strike="noStrike">
                          <a:solidFill>
                            <a:srgbClr val="000000"/>
                          </a:solidFill>
                          <a:effectLst/>
                          <a:latin typeface="Aptos Narrow" panose="020B0004020202020204" pitchFamily="34" charset="0"/>
                        </a:rPr>
                        <a:t> est for MPPC Refresh – Medium/Low</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H-1</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l" fontAlgn="b">
                        <a:buNone/>
                      </a:pPr>
                      <a:r>
                        <a:rPr lang="en-US" sz="900" b="0" i="0" u="none" strike="noStrike">
                          <a:solidFill>
                            <a:srgbClr val="000000"/>
                          </a:solidFill>
                          <a:effectLst/>
                          <a:latin typeface="Aptos Narrow" panose="020B0004020202020204" pitchFamily="34" charset="0"/>
                        </a:rPr>
                        <a:t>TBD</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l" fontAlgn="b">
                        <a:buNone/>
                      </a:pPr>
                      <a:r>
                        <a:rPr lang="en-US" sz="900" b="0" i="0" u="none" strike="noStrike">
                          <a:solidFill>
                            <a:srgbClr val="000000"/>
                          </a:solidFill>
                          <a:effectLst/>
                          <a:latin typeface="Aptos Narrow" panose="020B0004020202020204" pitchFamily="34" charset="0"/>
                        </a:rPr>
                        <a:t>SS, AT</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l" fontAlgn="b">
                        <a:buNone/>
                      </a:pPr>
                      <a:r>
                        <a:rPr lang="en-US" sz="900" b="0" i="0" u="none" strike="noStrike">
                          <a:solidFill>
                            <a:srgbClr val="000000"/>
                          </a:solidFill>
                          <a:effectLst/>
                          <a:latin typeface="Aptos Narrow" panose="020B0004020202020204" pitchFamily="34" charset="0"/>
                        </a:rPr>
                        <a:t>NA</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l" fontAlgn="b">
                        <a:buNone/>
                      </a:pPr>
                      <a:r>
                        <a:rPr lang="en-US" sz="900" b="0" i="0" u="none" strike="noStrike">
                          <a:solidFill>
                            <a:srgbClr val="000000"/>
                          </a:solidFill>
                          <a:effectLst/>
                          <a:latin typeface="Aptos Narrow" panose="020B0004020202020204" pitchFamily="34" charset="0"/>
                        </a:rPr>
                        <a:t>6/30/2026</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Aptos Narrow" panose="020B0004020202020204" pitchFamily="34" charset="0"/>
                          <a:ea typeface="+mn-ea"/>
                          <a:cs typeface="+mn-cs"/>
                        </a:rPr>
                        <a:t>Pending </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6/22/26 – Medium and Low Scope items reduced from 9 items to 3. Completion targeted no later than the end of the month.</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extLst>
                  <a:ext uri="{0D108BD9-81ED-4DB2-BD59-A6C34878D82A}">
                    <a16:rowId xmlns:a16="http://schemas.microsoft.com/office/drawing/2014/main" val="3366491188"/>
                  </a:ext>
                </a:extLst>
              </a:tr>
              <a:tr h="375478">
                <a:tc>
                  <a:txBody>
                    <a:bodyPr/>
                    <a:lstStyle/>
                    <a:p>
                      <a:pPr algn="l" fontAlgn="ctr">
                        <a:buNone/>
                      </a:pPr>
                      <a:r>
                        <a:rPr lang="en-US" sz="1100" b="1" i="0" u="none" strike="noStrike">
                          <a:solidFill>
                            <a:srgbClr val="000000"/>
                          </a:solidFill>
                          <a:effectLst/>
                          <a:latin typeface="Aptos Narrow" panose="020B0004020202020204" pitchFamily="34" charset="0"/>
                        </a:rPr>
                        <a:t>Unum Insurance Commission Reporting</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Aptos Narrow" panose="020B0004020202020204" pitchFamily="34" charset="0"/>
                        </a:rPr>
                        <a:t>Angie - TIA</a:t>
                      </a:r>
                    </a:p>
                    <a:p>
                      <a:pPr algn="l" fontAlgn="b">
                        <a:buNone/>
                      </a:pPr>
                      <a:r>
                        <a:rPr lang="en-US" sz="1100" b="0" i="0" u="none" strike="noStrike">
                          <a:solidFill>
                            <a:srgbClr val="000000"/>
                          </a:solidFill>
                          <a:effectLst/>
                          <a:latin typeface="Aptos Narrow" panose="020B0004020202020204" pitchFamily="34" charset="0"/>
                        </a:rPr>
                        <a:t>Sathya -Arch</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Aptos Narrow" panose="020B0004020202020204" pitchFamily="34" charset="0"/>
                        </a:rPr>
                        <a:t>NA</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Aptos Narrow" panose="020B0004020202020204" pitchFamily="34" charset="0"/>
                        </a:rPr>
                        <a:t>TBD</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Aptos Narrow" panose="020B0004020202020204" pitchFamily="34" charset="0"/>
                        </a:rPr>
                        <a:t>6/23/26</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Aptos Narrow" panose="020B0004020202020204" pitchFamily="34" charset="0"/>
                        </a:rPr>
                        <a:t>8/3/26(t)</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l" fontAlgn="b">
                        <a:buNone/>
                      </a:pPr>
                      <a:r>
                        <a:rPr lang="en-US" sz="1100" b="1" i="0" u="none" strike="noStrike">
                          <a:solidFill>
                            <a:srgbClr val="000000"/>
                          </a:solidFill>
                          <a:effectLst/>
                          <a:latin typeface="Aptos Narrow" panose="020B0004020202020204" pitchFamily="34" charset="0"/>
                        </a:rPr>
                        <a:t>Pending</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l" fontAlgn="ctr">
                        <a:buNone/>
                      </a:pPr>
                      <a:r>
                        <a:rPr lang="en-US" sz="1100" b="0" i="0" u="none" strike="noStrike">
                          <a:solidFill>
                            <a:srgbClr val="000000"/>
                          </a:solidFill>
                          <a:effectLst/>
                          <a:latin typeface="Aptos Narrow" panose="020B0004020202020204" pitchFamily="34" charset="0"/>
                        </a:rPr>
                        <a:t>Assigned to Angie and Sathya to begin 7/6/26 Target – as capacity becomes available</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extLst>
                  <a:ext uri="{0D108BD9-81ED-4DB2-BD59-A6C34878D82A}">
                    <a16:rowId xmlns:a16="http://schemas.microsoft.com/office/drawing/2014/main" val="2942216777"/>
                  </a:ext>
                </a:extLst>
              </a:tr>
              <a:tr h="375478">
                <a:tc>
                  <a:txBody>
                    <a:bodyPr/>
                    <a:lstStyle/>
                    <a:p>
                      <a:pPr algn="l" fontAlgn="b">
                        <a:buNone/>
                      </a:pPr>
                      <a:r>
                        <a:rPr lang="en-US" sz="1100" b="1" i="0" u="none" strike="noStrike">
                          <a:solidFill>
                            <a:srgbClr val="000000"/>
                          </a:solidFill>
                          <a:effectLst/>
                          <a:latin typeface="Aptos Narrow" panose="020B0004020202020204" pitchFamily="34" charset="0"/>
                        </a:rPr>
                        <a:t>Enable PED Override for MPPC Payroll</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l" fontAlgn="b">
                        <a:buNone/>
                      </a:pPr>
                      <a:r>
                        <a:rPr lang="en-US" sz="1100" b="1" i="0" u="none" strike="noStrike">
                          <a:solidFill>
                            <a:srgbClr val="000000"/>
                          </a:solidFill>
                          <a:effectLst/>
                          <a:latin typeface="Aptos Narrow" panose="020B0004020202020204" pitchFamily="34" charset="0"/>
                        </a:rPr>
                        <a:t>H3</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Aptos Narrow" panose="020B0004020202020204" pitchFamily="34" charset="0"/>
                        </a:rPr>
                        <a:t>XS ($50-$100K)</a:t>
                      </a:r>
                    </a:p>
                  </a:txBody>
                  <a:tcPr marL="0" marR="0" marT="0" marB="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l" fontAlgn="b">
                        <a:buNone/>
                      </a:pPr>
                      <a:r>
                        <a:rPr lang="en-US" sz="1100" b="1" i="0" u="none" strike="noStrike">
                          <a:solidFill>
                            <a:srgbClr val="000000"/>
                          </a:solidFill>
                          <a:effectLst/>
                          <a:latin typeface="Aptos Narrow" panose="020B0004020202020204" pitchFamily="34" charset="0"/>
                        </a:rPr>
                        <a:t>TBD</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l" fontAlgn="b">
                        <a:buNone/>
                      </a:pPr>
                      <a:r>
                        <a:rPr lang="en-US" sz="1100" b="1" i="0" u="none" strike="noStrike">
                          <a:solidFill>
                            <a:srgbClr val="000000"/>
                          </a:solidFill>
                          <a:effectLst/>
                          <a:latin typeface="Aptos Narrow" panose="020B0004020202020204" pitchFamily="34" charset="0"/>
                        </a:rPr>
                        <a:t>2/17/2026</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Aptos Narrow" panose="020B0004020202020204" pitchFamily="34" charset="0"/>
                        </a:rPr>
                        <a:t>7/17/26</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l" fontAlgn="b">
                        <a:buNone/>
                      </a:pPr>
                      <a:r>
                        <a:rPr lang="en-US" sz="1100" b="1" i="0" u="none" strike="noStrike">
                          <a:solidFill>
                            <a:srgbClr val="000000"/>
                          </a:solidFill>
                          <a:effectLst/>
                          <a:latin typeface="Aptos Narrow" panose="020B0004020202020204" pitchFamily="34" charset="0"/>
                        </a:rPr>
                        <a:t>Pending</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7/13/26 – Received notice  from Gary that no further work on  business process alignment is needed.  Validating original estimate with Architecture before submitting for funding,</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extLst>
                  <a:ext uri="{0D108BD9-81ED-4DB2-BD59-A6C34878D82A}">
                    <a16:rowId xmlns:a16="http://schemas.microsoft.com/office/drawing/2014/main" val="3250768896"/>
                  </a:ext>
                </a:extLst>
              </a:tr>
              <a:tr h="375478">
                <a:tc>
                  <a:txBody>
                    <a:bodyPr/>
                    <a:lstStyle/>
                    <a:p>
                      <a:pPr algn="l" fontAlgn="ctr">
                        <a:buNone/>
                      </a:pPr>
                      <a:r>
                        <a:rPr lang="en-US" sz="1100" b="1" i="0" u="none" strike="noStrike">
                          <a:solidFill>
                            <a:srgbClr val="000000"/>
                          </a:solidFill>
                          <a:effectLst/>
                          <a:latin typeface="Aptos Narrow" panose="020B0004020202020204" pitchFamily="34" charset="0"/>
                        </a:rPr>
                        <a:t>NW PET: MA Junk Fee Regulation</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l" fontAlgn="b">
                        <a:buNone/>
                      </a:pPr>
                      <a:r>
                        <a:rPr lang="en-US" sz="1100" b="1" i="0" u="none" strike="noStrike" err="1">
                          <a:solidFill>
                            <a:srgbClr val="000000"/>
                          </a:solidFill>
                          <a:effectLst/>
                          <a:latin typeface="Aptos Narrow" panose="020B0004020202020204" pitchFamily="34" charset="0"/>
                        </a:rPr>
                        <a:t>na</a:t>
                      </a:r>
                      <a:endParaRPr lang="en-US" sz="1100" b="1" i="0" u="none" strike="noStrike">
                        <a:solidFill>
                          <a:srgbClr val="000000"/>
                        </a:solidFill>
                        <a:effectLst/>
                        <a:latin typeface="Aptos Narrow" panose="020B0004020202020204" pitchFamily="34" charset="0"/>
                      </a:endParaRP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l" fontAlgn="ctr">
                        <a:buNone/>
                      </a:pPr>
                      <a:r>
                        <a:rPr lang="en-US" sz="1100" b="0" i="0" u="none" strike="noStrike">
                          <a:solidFill>
                            <a:srgbClr val="000000"/>
                          </a:solidFill>
                          <a:effectLst/>
                          <a:latin typeface="Aptos Narrow" panose="020B0004020202020204" pitchFamily="34" charset="0"/>
                        </a:rPr>
                        <a:t>11/18/2025</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l" fontAlgn="ctr">
                        <a:buNone/>
                      </a:pPr>
                      <a:r>
                        <a:rPr lang="en-US" sz="1100" b="0" i="0" u="none" strike="noStrike">
                          <a:solidFill>
                            <a:srgbClr val="000000"/>
                          </a:solidFill>
                          <a:effectLst/>
                          <a:latin typeface="Aptos Narrow" panose="020B0004020202020204" pitchFamily="34" charset="0"/>
                        </a:rPr>
                        <a:t>11/25/2025</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Aptos Narrow" panose="020B0004020202020204" pitchFamily="34" charset="0"/>
                        </a:rPr>
                        <a:t>NA</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l" fontAlgn="ctr">
                        <a:buNone/>
                      </a:pPr>
                      <a:r>
                        <a:rPr lang="en-US" sz="1100" b="1" i="0" u="none" strike="noStrike">
                          <a:solidFill>
                            <a:srgbClr val="000000"/>
                          </a:solidFill>
                          <a:effectLst/>
                          <a:latin typeface="Aptos Narrow" panose="020B0004020202020204" pitchFamily="34" charset="0"/>
                        </a:rPr>
                        <a:t>Pending</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l" fontAlgn="ctr">
                        <a:buNone/>
                      </a:pPr>
                      <a:r>
                        <a:rPr lang="en-US" sz="1100"/>
                        <a:t>Gary is still working on the requirements with Jennifer.  Eta: 4 weeks from 5/19/26</a:t>
                      </a:r>
                      <a:endParaRPr lang="en-US" sz="1100" b="0" i="0" u="none" strike="noStrike">
                        <a:solidFill>
                          <a:srgbClr val="000000"/>
                        </a:solidFill>
                        <a:effectLst/>
                        <a:latin typeface="Aptos Narrow" panose="020B0004020202020204" pitchFamily="34" charset="0"/>
                      </a:endParaRP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extLst>
                  <a:ext uri="{0D108BD9-81ED-4DB2-BD59-A6C34878D82A}">
                    <a16:rowId xmlns:a16="http://schemas.microsoft.com/office/drawing/2014/main" val="2404734442"/>
                  </a:ext>
                </a:extLst>
              </a:tr>
              <a:tr h="375478">
                <a:tc>
                  <a:txBody>
                    <a:bodyPr/>
                    <a:lstStyle/>
                    <a:p>
                      <a:pPr algn="l" fontAlgn="b">
                        <a:buNone/>
                      </a:pPr>
                      <a:r>
                        <a:rPr lang="en-US" sz="1100" b="1" i="0" u="none" strike="noStrike">
                          <a:solidFill>
                            <a:srgbClr val="000000"/>
                          </a:solidFill>
                          <a:effectLst/>
                          <a:latin typeface="Aptos Narrow" panose="020B0004020202020204" pitchFamily="34" charset="0"/>
                        </a:rPr>
                        <a:t>MPI Age Eligibility Changes</a:t>
                      </a:r>
                    </a:p>
                  </a:txBody>
                  <a:tcPr marL="0" marR="0" marT="0" marB="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l" fontAlgn="b">
                        <a:buNone/>
                      </a:pPr>
                      <a:r>
                        <a:rPr lang="en-US" sz="1100" b="1" i="0" u="none" strike="noStrike" err="1">
                          <a:solidFill>
                            <a:srgbClr val="000000"/>
                          </a:solidFill>
                          <a:effectLst/>
                          <a:latin typeface="Aptos Narrow" panose="020B0004020202020204" pitchFamily="34" charset="0"/>
                        </a:rPr>
                        <a:t>na</a:t>
                      </a:r>
                      <a:endParaRPr lang="en-US" sz="1100" b="1" i="0" u="none" strike="noStrike">
                        <a:solidFill>
                          <a:srgbClr val="000000"/>
                        </a:solidFill>
                        <a:effectLst/>
                        <a:latin typeface="Aptos Narrow" panose="020B0004020202020204" pitchFamily="34" charset="0"/>
                      </a:endParaRP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Aptos Narrow" panose="020B0004020202020204" pitchFamily="34" charset="0"/>
                        </a:rPr>
                        <a:t>TBD</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l" fontAlgn="ctr">
                        <a:buNone/>
                      </a:pPr>
                      <a:r>
                        <a:rPr lang="en-US" sz="1100" b="0" i="0" u="none" strike="noStrike">
                          <a:solidFill>
                            <a:srgbClr val="000000"/>
                          </a:solidFill>
                          <a:effectLst/>
                          <a:latin typeface="Aptos Narrow" panose="020B0004020202020204" pitchFamily="34" charset="0"/>
                        </a:rPr>
                        <a:t>Pending</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l" fontAlgn="ctr">
                        <a:buNone/>
                      </a:pPr>
                      <a:r>
                        <a:rPr lang="en-US" sz="1100" b="0" i="0" u="none" strike="noStrike">
                          <a:solidFill>
                            <a:srgbClr val="000000"/>
                          </a:solidFill>
                          <a:effectLst/>
                          <a:latin typeface="Aptos Narrow" panose="020B0004020202020204" pitchFamily="34" charset="0"/>
                        </a:rPr>
                        <a:t>7/7/26</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Aptos Narrow" panose="020B0004020202020204" pitchFamily="34" charset="0"/>
                        </a:rPr>
                        <a:t>Pending</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l" fontAlgn="ctr">
                        <a:buNone/>
                      </a:pPr>
                      <a:r>
                        <a:rPr lang="en-US" sz="1100" b="1" i="0" u="none" strike="noStrike">
                          <a:solidFill>
                            <a:srgbClr val="000000"/>
                          </a:solidFill>
                          <a:effectLst/>
                          <a:latin typeface="Aptos Narrow" panose="020B0004020202020204" pitchFamily="34" charset="0"/>
                        </a:rPr>
                        <a:t>Pending</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Aptos Narrow" panose="020B0004020202020204" pitchFamily="34" charset="0"/>
                        </a:rPr>
                        <a:t>7/13/26- HLA Assigned to Chris and Josh. Intake Triaged 7/7/26, Intake received 6/24/26</a:t>
                      </a:r>
                    </a:p>
                  </a:txBody>
                  <a:tcPr marL="0" marR="0" marT="0" marB="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extLst>
                  <a:ext uri="{0D108BD9-81ED-4DB2-BD59-A6C34878D82A}">
                    <a16:rowId xmlns:a16="http://schemas.microsoft.com/office/drawing/2014/main" val="3835978627"/>
                  </a:ext>
                </a:extLst>
              </a:tr>
            </a:tbl>
          </a:graphicData>
        </a:graphic>
      </p:graphicFrame>
      <p:sp>
        <p:nvSpPr>
          <p:cNvPr id="5" name="TextBox 4">
            <a:extLst>
              <a:ext uri="{FF2B5EF4-FFF2-40B4-BE49-F238E27FC236}">
                <a16:creationId xmlns:a16="http://schemas.microsoft.com/office/drawing/2014/main" id="{101C4DFC-4319-1AF0-CB55-8732D60637DE}"/>
              </a:ext>
            </a:extLst>
          </p:cNvPr>
          <p:cNvSpPr txBox="1"/>
          <p:nvPr/>
        </p:nvSpPr>
        <p:spPr>
          <a:xfrm>
            <a:off x="56190" y="661866"/>
            <a:ext cx="9112103"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solidFill>
                  <a:prstClr val="black"/>
                </a:solidFill>
                <a:latin typeface="Aptos" panose="02110004020202020204"/>
              </a:rPr>
              <a:t>4</a:t>
            </a:r>
            <a:r>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t> items currently in assessment / estimation process. 1 remains blocked pending cross-functional resolution and workflow agreement.  </a:t>
            </a:r>
          </a:p>
        </p:txBody>
      </p:sp>
      <p:grpSp>
        <p:nvGrpSpPr>
          <p:cNvPr id="3" name="Group 2">
            <a:extLst>
              <a:ext uri="{FF2B5EF4-FFF2-40B4-BE49-F238E27FC236}">
                <a16:creationId xmlns:a16="http://schemas.microsoft.com/office/drawing/2014/main" id="{B2653FB4-6E17-3B9E-6A88-493DB0FED80B}"/>
              </a:ext>
            </a:extLst>
          </p:cNvPr>
          <p:cNvGrpSpPr/>
          <p:nvPr/>
        </p:nvGrpSpPr>
        <p:grpSpPr>
          <a:xfrm>
            <a:off x="9629191" y="73824"/>
            <a:ext cx="2435155" cy="911208"/>
            <a:chOff x="7996335" y="4089215"/>
            <a:chExt cx="3004322" cy="1323375"/>
          </a:xfrm>
        </p:grpSpPr>
        <p:pic>
          <p:nvPicPr>
            <p:cNvPr id="6" name="Picture 5">
              <a:extLst>
                <a:ext uri="{FF2B5EF4-FFF2-40B4-BE49-F238E27FC236}">
                  <a16:creationId xmlns:a16="http://schemas.microsoft.com/office/drawing/2014/main" id="{7B6245B3-71A1-905F-426C-5B418E61F6ED}"/>
                </a:ext>
              </a:extLst>
            </p:cNvPr>
            <p:cNvPicPr>
              <a:picLocks noChangeAspect="1"/>
            </p:cNvPicPr>
            <p:nvPr/>
          </p:nvPicPr>
          <p:blipFill>
            <a:blip r:embed="rId3"/>
            <a:stretch>
              <a:fillRect/>
            </a:stretch>
          </p:blipFill>
          <p:spPr>
            <a:xfrm>
              <a:off x="9671548" y="4926763"/>
              <a:ext cx="816808" cy="485827"/>
            </a:xfrm>
            <a:prstGeom prst="rect">
              <a:avLst/>
            </a:prstGeom>
          </p:spPr>
        </p:pic>
        <p:pic>
          <p:nvPicPr>
            <p:cNvPr id="7" name="Picture 6">
              <a:extLst>
                <a:ext uri="{FF2B5EF4-FFF2-40B4-BE49-F238E27FC236}">
                  <a16:creationId xmlns:a16="http://schemas.microsoft.com/office/drawing/2014/main" id="{CDAEFD7F-672B-F232-FD4A-2C0357030621}"/>
                </a:ext>
              </a:extLst>
            </p:cNvPr>
            <p:cNvPicPr>
              <a:picLocks noChangeAspect="1"/>
            </p:cNvPicPr>
            <p:nvPr/>
          </p:nvPicPr>
          <p:blipFill>
            <a:blip r:embed="rId4"/>
            <a:stretch>
              <a:fillRect/>
            </a:stretch>
          </p:blipFill>
          <p:spPr>
            <a:xfrm>
              <a:off x="7996335" y="4089215"/>
              <a:ext cx="3004322" cy="1043764"/>
            </a:xfrm>
            <a:prstGeom prst="rect">
              <a:avLst/>
            </a:prstGeom>
          </p:spPr>
        </p:pic>
      </p:grpSp>
    </p:spTree>
    <p:extLst>
      <p:ext uri="{BB962C8B-B14F-4D97-AF65-F5344CB8AC3E}">
        <p14:creationId xmlns:p14="http://schemas.microsoft.com/office/powerpoint/2010/main" val="421019569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AC5885-C519-2FCF-C75A-CCA60ACAE9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9E68C0-5E70-F147-25FE-08CB58450FDD}"/>
              </a:ext>
            </a:extLst>
          </p:cNvPr>
          <p:cNvSpPr>
            <a:spLocks noGrp="1"/>
          </p:cNvSpPr>
          <p:nvPr>
            <p:ph type="title"/>
          </p:nvPr>
        </p:nvSpPr>
        <p:spPr>
          <a:xfrm>
            <a:off x="56190" y="8510"/>
            <a:ext cx="10515600" cy="653214"/>
          </a:xfrm>
        </p:spPr>
        <p:txBody>
          <a:bodyPr vert="horz" lIns="0" tIns="0" rIns="0" bIns="0" rtlCol="0" anchor="t" anchorCtr="0">
            <a:normAutofit/>
          </a:bodyPr>
          <a:lstStyle/>
          <a:p>
            <a:r>
              <a:rPr lang="en-US"/>
              <a:t>Pending Funding Backlog -</a:t>
            </a:r>
          </a:p>
        </p:txBody>
      </p:sp>
      <p:graphicFrame>
        <p:nvGraphicFramePr>
          <p:cNvPr id="4" name="Table 3">
            <a:extLst>
              <a:ext uri="{FF2B5EF4-FFF2-40B4-BE49-F238E27FC236}">
                <a16:creationId xmlns:a16="http://schemas.microsoft.com/office/drawing/2014/main" id="{A8962C4F-52CB-92F6-D036-218AFFEAF43D}"/>
              </a:ext>
            </a:extLst>
          </p:cNvPr>
          <p:cNvGraphicFramePr>
            <a:graphicFrameLocks noGrp="1"/>
          </p:cNvGraphicFramePr>
          <p:nvPr>
            <p:extLst>
              <p:ext uri="{D42A27DB-BD31-4B8C-83A1-F6EECF244321}">
                <p14:modId xmlns:p14="http://schemas.microsoft.com/office/powerpoint/2010/main" val="864319883"/>
              </p:ext>
            </p:extLst>
          </p:nvPr>
        </p:nvGraphicFramePr>
        <p:xfrm>
          <a:off x="0" y="890788"/>
          <a:ext cx="12064347" cy="6517409"/>
        </p:xfrm>
        <a:graphic>
          <a:graphicData uri="http://schemas.openxmlformats.org/drawingml/2006/table">
            <a:tbl>
              <a:tblPr>
                <a:tableStyleId>{5C22544A-7EE6-4342-B048-85BDC9FD1C3A}</a:tableStyleId>
              </a:tblPr>
              <a:tblGrid>
                <a:gridCol w="2081227">
                  <a:extLst>
                    <a:ext uri="{9D8B030D-6E8A-4147-A177-3AD203B41FA5}">
                      <a16:colId xmlns:a16="http://schemas.microsoft.com/office/drawing/2014/main" val="3471638855"/>
                    </a:ext>
                  </a:extLst>
                </a:gridCol>
                <a:gridCol w="784886">
                  <a:extLst>
                    <a:ext uri="{9D8B030D-6E8A-4147-A177-3AD203B41FA5}">
                      <a16:colId xmlns:a16="http://schemas.microsoft.com/office/drawing/2014/main" val="3028352674"/>
                    </a:ext>
                  </a:extLst>
                </a:gridCol>
                <a:gridCol w="1544177">
                  <a:extLst>
                    <a:ext uri="{9D8B030D-6E8A-4147-A177-3AD203B41FA5}">
                      <a16:colId xmlns:a16="http://schemas.microsoft.com/office/drawing/2014/main" val="1498653313"/>
                    </a:ext>
                  </a:extLst>
                </a:gridCol>
                <a:gridCol w="750760">
                  <a:extLst>
                    <a:ext uri="{9D8B030D-6E8A-4147-A177-3AD203B41FA5}">
                      <a16:colId xmlns:a16="http://schemas.microsoft.com/office/drawing/2014/main" val="4132897599"/>
                    </a:ext>
                  </a:extLst>
                </a:gridCol>
                <a:gridCol w="750760">
                  <a:extLst>
                    <a:ext uri="{9D8B030D-6E8A-4147-A177-3AD203B41FA5}">
                      <a16:colId xmlns:a16="http://schemas.microsoft.com/office/drawing/2014/main" val="426403746"/>
                    </a:ext>
                  </a:extLst>
                </a:gridCol>
                <a:gridCol w="725167">
                  <a:extLst>
                    <a:ext uri="{9D8B030D-6E8A-4147-A177-3AD203B41FA5}">
                      <a16:colId xmlns:a16="http://schemas.microsoft.com/office/drawing/2014/main" val="3578533005"/>
                    </a:ext>
                  </a:extLst>
                </a:gridCol>
                <a:gridCol w="759292">
                  <a:extLst>
                    <a:ext uri="{9D8B030D-6E8A-4147-A177-3AD203B41FA5}">
                      <a16:colId xmlns:a16="http://schemas.microsoft.com/office/drawing/2014/main" val="125616475"/>
                    </a:ext>
                  </a:extLst>
                </a:gridCol>
                <a:gridCol w="4668078">
                  <a:extLst>
                    <a:ext uri="{9D8B030D-6E8A-4147-A177-3AD203B41FA5}">
                      <a16:colId xmlns:a16="http://schemas.microsoft.com/office/drawing/2014/main" val="2731508636"/>
                    </a:ext>
                  </a:extLst>
                </a:gridCol>
              </a:tblGrid>
              <a:tr h="557212">
                <a:tc>
                  <a:txBody>
                    <a:bodyPr/>
                    <a:lstStyle/>
                    <a:p>
                      <a:pPr algn="ctr" fontAlgn="b">
                        <a:buNone/>
                      </a:pPr>
                      <a:r>
                        <a:rPr lang="en-US" sz="1100" u="none" strike="noStrike">
                          <a:solidFill>
                            <a:schemeClr val="tx1"/>
                          </a:solidFill>
                          <a:effectLst/>
                        </a:rPr>
                        <a:t>Description</a:t>
                      </a:r>
                      <a:endParaRPr lang="en-US" sz="1100" b="1" i="0" u="none" strike="noStrike">
                        <a:solidFill>
                          <a:schemeClr val="tx1"/>
                        </a:solidFill>
                        <a:effectLst/>
                        <a:latin typeface="Aptos Narrow" panose="020B0004020202020204" pitchFamily="34" charset="0"/>
                      </a:endParaRPr>
                    </a:p>
                  </a:txBody>
                  <a:tcPr marL="0" marR="0" marT="0" marB="0" anchor="b">
                    <a:lnB w="12700" cap="flat" cmpd="sng" algn="ctr">
                      <a:solidFill>
                        <a:srgbClr val="72B0BD"/>
                      </a:solidFill>
                      <a:prstDash val="solid"/>
                      <a:round/>
                      <a:headEnd type="none" w="med" len="med"/>
                      <a:tailEnd type="none" w="med" len="med"/>
                    </a:lnB>
                    <a:solidFill>
                      <a:schemeClr val="accent4">
                        <a:lumMod val="40000"/>
                        <a:lumOff val="60000"/>
                      </a:schemeClr>
                    </a:solidFill>
                  </a:tcPr>
                </a:tc>
                <a:tc>
                  <a:txBody>
                    <a:bodyPr/>
                    <a:lstStyle/>
                    <a:p>
                      <a:pPr algn="ctr" fontAlgn="b">
                        <a:buNone/>
                      </a:pPr>
                      <a:r>
                        <a:rPr lang="en-US" sz="1100" u="none" strike="noStrike" err="1">
                          <a:solidFill>
                            <a:schemeClr val="tx1"/>
                          </a:solidFill>
                          <a:effectLst/>
                        </a:rPr>
                        <a:t>OpEX</a:t>
                      </a:r>
                      <a:r>
                        <a:rPr lang="en-US" sz="1100" u="none" strike="noStrike">
                          <a:solidFill>
                            <a:schemeClr val="tx1"/>
                          </a:solidFill>
                          <a:effectLst/>
                        </a:rPr>
                        <a:t> Priority</a:t>
                      </a:r>
                      <a:endParaRPr lang="en-US" sz="1100" b="1" i="0" u="none" strike="noStrike">
                        <a:solidFill>
                          <a:schemeClr val="tx1"/>
                        </a:solidFill>
                        <a:effectLst/>
                        <a:latin typeface="Aptos Narrow" panose="020B0004020202020204" pitchFamily="34" charset="0"/>
                      </a:endParaRPr>
                    </a:p>
                  </a:txBody>
                  <a:tcPr marL="0" marR="0" marT="0" marB="0" anchor="b">
                    <a:lnB w="12700" cap="flat" cmpd="sng" algn="ctr">
                      <a:solidFill>
                        <a:srgbClr val="72B0BD"/>
                      </a:solidFill>
                      <a:prstDash val="solid"/>
                      <a:round/>
                      <a:headEnd type="none" w="med" len="med"/>
                      <a:tailEnd type="none" w="med" len="med"/>
                    </a:lnB>
                    <a:solidFill>
                      <a:schemeClr val="accent4">
                        <a:lumMod val="40000"/>
                        <a:lumOff val="60000"/>
                      </a:schemeClr>
                    </a:solidFill>
                  </a:tcPr>
                </a:tc>
                <a:tc>
                  <a:txBody>
                    <a:bodyPr/>
                    <a:lstStyle/>
                    <a:p>
                      <a:pPr algn="ctr" fontAlgn="b">
                        <a:buNone/>
                      </a:pPr>
                      <a:r>
                        <a:rPr lang="en-US" sz="1100" u="none" strike="noStrike">
                          <a:solidFill>
                            <a:schemeClr val="tx1"/>
                          </a:solidFill>
                          <a:effectLst/>
                        </a:rPr>
                        <a:t>Budgetary Estimate (Hours) </a:t>
                      </a:r>
                      <a:endParaRPr lang="en-US" sz="1100" b="1" i="0" u="none" strike="noStrike">
                        <a:solidFill>
                          <a:schemeClr val="tx1"/>
                        </a:solidFill>
                        <a:effectLst/>
                        <a:latin typeface="Aptos Narrow" panose="020B0004020202020204" pitchFamily="34" charset="0"/>
                      </a:endParaRPr>
                    </a:p>
                  </a:txBody>
                  <a:tcPr marL="0" marR="0" marT="0" marB="0" anchor="b">
                    <a:lnB w="12700" cap="flat" cmpd="sng" algn="ctr">
                      <a:solidFill>
                        <a:srgbClr val="72B0BD"/>
                      </a:solidFill>
                      <a:prstDash val="solid"/>
                      <a:round/>
                      <a:headEnd type="none" w="med" len="med"/>
                      <a:tailEnd type="none" w="med" len="med"/>
                    </a:lnB>
                    <a:solidFill>
                      <a:schemeClr val="accent4">
                        <a:lumMod val="40000"/>
                        <a:lumOff val="60000"/>
                      </a:schemeClr>
                    </a:solidFill>
                  </a:tcPr>
                </a:tc>
                <a:tc>
                  <a:txBody>
                    <a:bodyPr/>
                    <a:lstStyle/>
                    <a:p>
                      <a:pPr algn="ctr" fontAlgn="b">
                        <a:buNone/>
                      </a:pPr>
                      <a:r>
                        <a:rPr lang="en-US" sz="1100" b="1" i="0" u="none" strike="noStrike">
                          <a:solidFill>
                            <a:schemeClr val="tx1"/>
                          </a:solidFill>
                          <a:effectLst/>
                          <a:latin typeface="Aptos Narrow" panose="020B0004020202020204" pitchFamily="34" charset="0"/>
                        </a:rPr>
                        <a:t>Team Impacts</a:t>
                      </a:r>
                    </a:p>
                  </a:txBody>
                  <a:tcPr marL="0" marR="0" marT="0" marB="0" anchor="b">
                    <a:lnB w="12700" cap="flat" cmpd="sng" algn="ctr">
                      <a:solidFill>
                        <a:srgbClr val="72B0BD"/>
                      </a:solidFill>
                      <a:prstDash val="solid"/>
                      <a:round/>
                      <a:headEnd type="none" w="med" len="med"/>
                      <a:tailEnd type="none" w="med" len="med"/>
                    </a:lnB>
                    <a:solidFill>
                      <a:schemeClr val="accent4">
                        <a:lumMod val="40000"/>
                        <a:lumOff val="60000"/>
                      </a:schemeClr>
                    </a:solidFill>
                  </a:tcPr>
                </a:tc>
                <a:tc>
                  <a:txBody>
                    <a:bodyPr/>
                    <a:lstStyle/>
                    <a:p>
                      <a:pPr algn="ctr" fontAlgn="b">
                        <a:buNone/>
                      </a:pPr>
                      <a:r>
                        <a:rPr lang="en-US" sz="1100" u="none" strike="noStrike">
                          <a:solidFill>
                            <a:schemeClr val="tx1"/>
                          </a:solidFill>
                          <a:effectLst/>
                        </a:rPr>
                        <a:t>IT Rec'd</a:t>
                      </a:r>
                      <a:endParaRPr lang="en-US" sz="1100" b="1" i="0" u="none" strike="noStrike">
                        <a:solidFill>
                          <a:schemeClr val="tx1"/>
                        </a:solidFill>
                        <a:effectLst/>
                        <a:latin typeface="Aptos Narrow" panose="020B0004020202020204" pitchFamily="34" charset="0"/>
                      </a:endParaRPr>
                    </a:p>
                  </a:txBody>
                  <a:tcPr marL="0" marR="0" marT="0" marB="0" anchor="b">
                    <a:lnB w="12700" cap="flat" cmpd="sng" algn="ctr">
                      <a:solidFill>
                        <a:srgbClr val="72B0BD"/>
                      </a:solidFill>
                      <a:prstDash val="solid"/>
                      <a:round/>
                      <a:headEnd type="none" w="med" len="med"/>
                      <a:tailEnd type="none" w="med" len="med"/>
                    </a:lnB>
                    <a:solidFill>
                      <a:schemeClr val="accent4">
                        <a:lumMod val="40000"/>
                        <a:lumOff val="60000"/>
                      </a:schemeClr>
                    </a:solidFill>
                  </a:tcPr>
                </a:tc>
                <a:tc>
                  <a:txBody>
                    <a:bodyPr/>
                    <a:lstStyle/>
                    <a:p>
                      <a:pPr algn="ctr" fontAlgn="b">
                        <a:buNone/>
                      </a:pPr>
                      <a:r>
                        <a:rPr lang="en-US" sz="1100" u="none" strike="noStrike">
                          <a:solidFill>
                            <a:schemeClr val="tx1"/>
                          </a:solidFill>
                          <a:effectLst/>
                        </a:rPr>
                        <a:t>Estimate complete Date</a:t>
                      </a:r>
                      <a:endParaRPr lang="en-US" sz="1100" b="1" i="0" u="none" strike="noStrike">
                        <a:solidFill>
                          <a:schemeClr val="tx1"/>
                        </a:solidFill>
                        <a:effectLst/>
                        <a:latin typeface="Aptos Narrow" panose="020B0004020202020204" pitchFamily="34" charset="0"/>
                      </a:endParaRPr>
                    </a:p>
                  </a:txBody>
                  <a:tcPr marL="0" marR="0" marT="0" marB="0" anchor="b">
                    <a:lnB w="12700" cap="flat" cmpd="sng" algn="ctr">
                      <a:solidFill>
                        <a:srgbClr val="72B0BD"/>
                      </a:solidFill>
                      <a:prstDash val="solid"/>
                      <a:round/>
                      <a:headEnd type="none" w="med" len="med"/>
                      <a:tailEnd type="none" w="med" len="med"/>
                    </a:lnB>
                    <a:solidFill>
                      <a:schemeClr val="accent4">
                        <a:lumMod val="40000"/>
                        <a:lumOff val="60000"/>
                      </a:schemeClr>
                    </a:solidFill>
                  </a:tcPr>
                </a:tc>
                <a:tc>
                  <a:txBody>
                    <a:bodyPr/>
                    <a:lstStyle/>
                    <a:p>
                      <a:pPr algn="ctr" fontAlgn="b">
                        <a:buNone/>
                      </a:pPr>
                      <a:r>
                        <a:rPr lang="en-US" sz="1100" u="none" strike="noStrike">
                          <a:solidFill>
                            <a:schemeClr val="tx1"/>
                          </a:solidFill>
                          <a:effectLst/>
                        </a:rPr>
                        <a:t>Funding Approved Date</a:t>
                      </a:r>
                      <a:endParaRPr lang="en-US" sz="1100" b="1" i="0" u="none" strike="noStrike">
                        <a:solidFill>
                          <a:schemeClr val="tx1"/>
                        </a:solidFill>
                        <a:effectLst/>
                        <a:latin typeface="Aptos Narrow" panose="020B0004020202020204" pitchFamily="34" charset="0"/>
                      </a:endParaRPr>
                    </a:p>
                  </a:txBody>
                  <a:tcPr marL="0" marR="0" marT="0" marB="0" anchor="b">
                    <a:lnB w="12700" cap="flat" cmpd="sng" algn="ctr">
                      <a:solidFill>
                        <a:srgbClr val="72B0BD"/>
                      </a:solidFill>
                      <a:prstDash val="solid"/>
                      <a:round/>
                      <a:headEnd type="none" w="med" len="med"/>
                      <a:tailEnd type="none" w="med" len="med"/>
                    </a:lnB>
                    <a:solidFill>
                      <a:schemeClr val="accent4">
                        <a:lumMod val="40000"/>
                        <a:lumOff val="60000"/>
                      </a:schemeClr>
                    </a:solidFill>
                  </a:tcPr>
                </a:tc>
                <a:tc>
                  <a:txBody>
                    <a:bodyPr/>
                    <a:lstStyle/>
                    <a:p>
                      <a:pPr algn="ctr" fontAlgn="b">
                        <a:buNone/>
                      </a:pPr>
                      <a:r>
                        <a:rPr lang="en-US" sz="1100" u="none" strike="noStrike">
                          <a:solidFill>
                            <a:schemeClr val="tx1"/>
                          </a:solidFill>
                          <a:effectLst/>
                        </a:rPr>
                        <a:t>Comment</a:t>
                      </a:r>
                      <a:endParaRPr lang="en-US" sz="1100" b="1" i="0" u="none" strike="noStrike">
                        <a:solidFill>
                          <a:schemeClr val="tx1"/>
                        </a:solidFill>
                        <a:effectLst/>
                        <a:latin typeface="Aptos Narrow" panose="020B0004020202020204" pitchFamily="34" charset="0"/>
                      </a:endParaRPr>
                    </a:p>
                  </a:txBody>
                  <a:tcPr marL="0" marR="0" marT="0" marB="0" anchor="b">
                    <a:lnB w="12700" cap="flat" cmpd="sng" algn="ctr">
                      <a:solidFill>
                        <a:srgbClr val="72B0BD"/>
                      </a:solidFill>
                      <a:prstDash val="solid"/>
                      <a:round/>
                      <a:headEnd type="none" w="med" len="med"/>
                      <a:tailEnd type="none" w="med" len="med"/>
                    </a:lnB>
                    <a:solidFill>
                      <a:schemeClr val="accent4">
                        <a:lumMod val="40000"/>
                        <a:lumOff val="60000"/>
                      </a:schemeClr>
                    </a:solidFill>
                  </a:tcPr>
                </a:tc>
                <a:extLst>
                  <a:ext uri="{0D108BD9-81ED-4DB2-BD59-A6C34878D82A}">
                    <a16:rowId xmlns:a16="http://schemas.microsoft.com/office/drawing/2014/main" val="2993874157"/>
                  </a:ext>
                </a:extLst>
              </a:tr>
              <a:tr h="533280">
                <a:tc>
                  <a:txBody>
                    <a:bodyPr/>
                    <a:lstStyle/>
                    <a:p>
                      <a:pPr algn="l" fontAlgn="b">
                        <a:buNone/>
                      </a:pPr>
                      <a:br>
                        <a:rPr lang="en-US" sz="1000" b="1" i="0" u="none" strike="noStrike">
                          <a:solidFill>
                            <a:srgbClr val="000000"/>
                          </a:solidFill>
                          <a:effectLst/>
                          <a:latin typeface="Aptos Narrow" panose="020B0004020202020204" pitchFamily="34" charset="0"/>
                        </a:rPr>
                      </a:br>
                      <a:r>
                        <a:rPr lang="en-US" sz="1000" b="1" i="0" u="none" strike="noStrike">
                          <a:solidFill>
                            <a:srgbClr val="000000"/>
                          </a:solidFill>
                          <a:effectLst/>
                          <a:latin typeface="Aptos Narrow" panose="020B0004020202020204" pitchFamily="34" charset="0"/>
                        </a:rPr>
                        <a:t>NW Pet: Sales Conversion by Channel Reporting Data</a:t>
                      </a:r>
                    </a:p>
                  </a:txBody>
                  <a:tcPr marL="45720" marR="45720" anchor="ctr">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algn="ctr" fontAlgn="b">
                        <a:buNone/>
                      </a:pPr>
                      <a:r>
                        <a:rPr lang="en-US" sz="1000" b="0" i="0" u="none" strike="noStrike">
                          <a:solidFill>
                            <a:srgbClr val="000000"/>
                          </a:solidFill>
                          <a:effectLst/>
                          <a:latin typeface="Aptos Narrow" panose="020B0004020202020204" pitchFamily="34" charset="0"/>
                        </a:rPr>
                        <a:t>H-2</a:t>
                      </a:r>
                    </a:p>
                  </a:txBody>
                  <a:tcPr marL="45720" marR="45720" anchor="ctr">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algn="ctr" fontAlgn="b">
                        <a:buNone/>
                      </a:pPr>
                      <a:r>
                        <a:rPr lang="en-US" sz="900" b="0" i="0" u="none" strike="noStrike">
                          <a:solidFill>
                            <a:srgbClr val="000000"/>
                          </a:solidFill>
                          <a:effectLst/>
                          <a:latin typeface="Aptos Narrow" panose="020B0004020202020204" pitchFamily="34" charset="0"/>
                        </a:rPr>
                        <a:t>3XS $90 - $10K / 1 - 111 </a:t>
                      </a:r>
                      <a:r>
                        <a:rPr lang="en-US" sz="900" b="0" i="0" u="none" strike="noStrike" err="1">
                          <a:solidFill>
                            <a:srgbClr val="000000"/>
                          </a:solidFill>
                          <a:effectLst/>
                          <a:latin typeface="Aptos Narrow" panose="020B0004020202020204" pitchFamily="34" charset="0"/>
                        </a:rPr>
                        <a:t>Hrs</a:t>
                      </a:r>
                      <a:endParaRPr lang="en-US" sz="900" b="0" i="0" u="none" strike="noStrike">
                        <a:solidFill>
                          <a:srgbClr val="000000"/>
                        </a:solidFill>
                        <a:effectLst/>
                        <a:latin typeface="Aptos Narrow" panose="020B0004020202020204" pitchFamily="34" charset="0"/>
                      </a:endParaRPr>
                    </a:p>
                  </a:txBody>
                  <a:tcPr marL="45720" marR="45720" anchor="ctr">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algn="ctr" fontAlgn="b">
                        <a:buNone/>
                      </a:pPr>
                      <a:r>
                        <a:rPr lang="en-US" sz="900" b="0" i="0" u="none" strike="noStrike">
                          <a:solidFill>
                            <a:srgbClr val="000000"/>
                          </a:solidFill>
                          <a:effectLst/>
                          <a:latin typeface="Aptos Narrow" panose="020B0004020202020204" pitchFamily="34" charset="0"/>
                        </a:rPr>
                        <a:t>AT</a:t>
                      </a:r>
                    </a:p>
                  </a:txBody>
                  <a:tcPr marL="45720" marR="45720" anchor="ctr">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algn="ctr" fontAlgn="b">
                        <a:buNone/>
                      </a:pPr>
                      <a:r>
                        <a:rPr lang="en-US" sz="900" b="0" i="0" u="none" strike="noStrike">
                          <a:solidFill>
                            <a:srgbClr val="000000"/>
                          </a:solidFill>
                          <a:effectLst/>
                          <a:latin typeface="Aptos Narrow" panose="020B0004020202020204" pitchFamily="34" charset="0"/>
                        </a:rPr>
                        <a:t>3/3/2026</a:t>
                      </a:r>
                    </a:p>
                  </a:txBody>
                  <a:tcPr marL="45720" marR="45720" anchor="ctr">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algn="ctr" fontAlgn="b">
                        <a:buNone/>
                      </a:pPr>
                      <a:r>
                        <a:rPr lang="en-US" sz="900" b="0" i="0" u="none" strike="noStrike">
                          <a:solidFill>
                            <a:srgbClr val="000000"/>
                          </a:solidFill>
                          <a:effectLst/>
                          <a:latin typeface="Aptos Narrow" panose="020B0004020202020204" pitchFamily="34" charset="0"/>
                        </a:rPr>
                        <a:t>6/2/26</a:t>
                      </a:r>
                    </a:p>
                  </a:txBody>
                  <a:tcPr marL="45720" marR="45720" anchor="ctr">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algn="ctr" fontAlgn="b">
                        <a:buNone/>
                      </a:pPr>
                      <a:r>
                        <a:rPr lang="en-US" sz="900" b="0" i="0" u="none" strike="noStrike">
                          <a:solidFill>
                            <a:srgbClr val="000000"/>
                          </a:solidFill>
                          <a:effectLst/>
                          <a:latin typeface="Aptos Narrow" panose="020B0004020202020204" pitchFamily="34" charset="0"/>
                        </a:rPr>
                        <a:t>Pending</a:t>
                      </a:r>
                    </a:p>
                  </a:txBody>
                  <a:tcPr marL="45720" marR="45720" anchor="ctr">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algn="l" fontAlgn="b">
                        <a:buNone/>
                      </a:pPr>
                      <a:r>
                        <a:rPr lang="en-US" sz="1000" b="0" i="0" u="none" strike="noStrike">
                          <a:solidFill>
                            <a:srgbClr val="000000"/>
                          </a:solidFill>
                          <a:effectLst/>
                          <a:latin typeface="Aptos Narrow" panose="020B0004020202020204" pitchFamily="34" charset="0"/>
                        </a:rPr>
                        <a:t>06/02/26 – HLA Completed by Ken and Charysse, open questions will be addressed during Plan to Build stage, following funding approval and prioritization.</a:t>
                      </a:r>
                    </a:p>
                  </a:txBody>
                  <a:tcPr marL="45720" marR="45720" anchor="ctr">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extLst>
                  <a:ext uri="{0D108BD9-81ED-4DB2-BD59-A6C34878D82A}">
                    <a16:rowId xmlns:a16="http://schemas.microsoft.com/office/drawing/2014/main" val="1486718395"/>
                  </a:ext>
                </a:extLst>
              </a:tr>
              <a:tr h="487152">
                <a:tc>
                  <a:txBody>
                    <a:bodyPr/>
                    <a:lstStyle/>
                    <a:p>
                      <a:pPr algn="l" fontAlgn="b">
                        <a:buNone/>
                      </a:pPr>
                      <a:r>
                        <a:rPr lang="nl-NL" sz="1000" b="1" i="0" u="none" strike="noStrike">
                          <a:solidFill>
                            <a:srgbClr val="000000"/>
                          </a:solidFill>
                          <a:effectLst/>
                          <a:latin typeface="Aptos Narrow" panose="020B0004020202020204" pitchFamily="34" charset="0"/>
                        </a:rPr>
                        <a:t>NW Pet Perks page in Portal</a:t>
                      </a:r>
                    </a:p>
                  </a:txBody>
                  <a:tcPr marL="45720" marR="45720" anchor="ctr">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algn="ctr" fontAlgn="b">
                        <a:buNone/>
                      </a:pPr>
                      <a:r>
                        <a:rPr lang="en-US" sz="1000" b="0" i="0" u="none" strike="noStrike">
                          <a:solidFill>
                            <a:srgbClr val="000000"/>
                          </a:solidFill>
                          <a:effectLst/>
                          <a:latin typeface="Aptos Narrow" panose="020B0004020202020204" pitchFamily="34" charset="0"/>
                        </a:rPr>
                        <a:t>H -6</a:t>
                      </a:r>
                    </a:p>
                  </a:txBody>
                  <a:tcPr marL="45720" marR="45720" anchor="ctr">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algn="ctr" fontAlgn="b">
                        <a:buNone/>
                      </a:pPr>
                      <a:r>
                        <a:rPr lang="en-US" sz="900" b="0" i="0" u="none" strike="noStrike">
                          <a:solidFill>
                            <a:srgbClr val="000000"/>
                          </a:solidFill>
                          <a:effectLst/>
                          <a:latin typeface="Aptos Narrow" panose="020B0004020202020204" pitchFamily="34" charset="0"/>
                        </a:rPr>
                        <a:t>2XS $10K - $50K / 111 - 556 </a:t>
                      </a:r>
                      <a:r>
                        <a:rPr lang="en-US" sz="900" b="0" i="0" u="none" strike="noStrike" err="1">
                          <a:solidFill>
                            <a:srgbClr val="000000"/>
                          </a:solidFill>
                          <a:effectLst/>
                          <a:latin typeface="Aptos Narrow" panose="020B0004020202020204" pitchFamily="34" charset="0"/>
                        </a:rPr>
                        <a:t>Hrs</a:t>
                      </a:r>
                      <a:endParaRPr lang="en-US" sz="900" b="0" i="0" u="none" strike="noStrike">
                        <a:solidFill>
                          <a:srgbClr val="000000"/>
                        </a:solidFill>
                        <a:effectLst/>
                        <a:latin typeface="Aptos Narrow" panose="020B0004020202020204" pitchFamily="34" charset="0"/>
                      </a:endParaRPr>
                    </a:p>
                  </a:txBody>
                  <a:tcPr marL="45720" marR="45720" anchor="ctr">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algn="ctr" fontAlgn="b">
                        <a:buNone/>
                      </a:pPr>
                      <a:r>
                        <a:rPr lang="en-US" sz="900" b="0" i="0" u="none" strike="noStrike">
                          <a:solidFill>
                            <a:srgbClr val="000000"/>
                          </a:solidFill>
                          <a:effectLst/>
                          <a:latin typeface="Aptos Narrow" panose="020B0004020202020204" pitchFamily="34" charset="0"/>
                        </a:rPr>
                        <a:t>TB</a:t>
                      </a:r>
                    </a:p>
                  </a:txBody>
                  <a:tcPr marL="45720" marR="45720" anchor="ctr">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algn="ctr" fontAlgn="b">
                        <a:buNone/>
                      </a:pPr>
                      <a:r>
                        <a:rPr lang="en-US" sz="900" b="0" i="0" u="none" strike="noStrike">
                          <a:solidFill>
                            <a:srgbClr val="000000"/>
                          </a:solidFill>
                          <a:effectLst/>
                          <a:latin typeface="Aptos Narrow" panose="020B0004020202020204" pitchFamily="34" charset="0"/>
                        </a:rPr>
                        <a:t>3/17/2026</a:t>
                      </a:r>
                    </a:p>
                  </a:txBody>
                  <a:tcPr marL="45720" marR="45720" anchor="ctr">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algn="ctr" fontAlgn="b">
                        <a:buNone/>
                      </a:pPr>
                      <a:r>
                        <a:rPr lang="en-US" sz="900" b="0" i="0" u="none" strike="noStrike">
                          <a:solidFill>
                            <a:srgbClr val="000000"/>
                          </a:solidFill>
                          <a:effectLst/>
                          <a:latin typeface="Aptos Narrow" panose="020B0004020202020204" pitchFamily="34" charset="0"/>
                        </a:rPr>
                        <a:t>6/5/2026</a:t>
                      </a:r>
                    </a:p>
                  </a:txBody>
                  <a:tcPr marL="45720" marR="45720" anchor="ctr">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algn="ctr" fontAlgn="b">
                        <a:buNone/>
                      </a:pPr>
                      <a:r>
                        <a:rPr lang="en-US" sz="900" b="0" i="0" u="none" strike="noStrike">
                          <a:solidFill>
                            <a:srgbClr val="000000"/>
                          </a:solidFill>
                          <a:effectLst/>
                          <a:latin typeface="Aptos Narrow" panose="020B0004020202020204" pitchFamily="34" charset="0"/>
                        </a:rPr>
                        <a:t>Pending</a:t>
                      </a:r>
                    </a:p>
                  </a:txBody>
                  <a:tcPr marL="45720" marR="45720" anchor="ctr">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algn="l" fontAlgn="b">
                        <a:buNone/>
                      </a:pPr>
                      <a:r>
                        <a:rPr lang="en-US" sz="1000" b="0" i="0" u="none" strike="noStrike">
                          <a:solidFill>
                            <a:srgbClr val="000000"/>
                          </a:solidFill>
                          <a:effectLst/>
                          <a:latin typeface="Aptos Narrow" panose="020B0004020202020204" pitchFamily="34" charset="0"/>
                        </a:rPr>
                        <a:t>6/4/2026- Charysse Completed XS Budgetary Estimate. If approved, planning team will complete documentation needed to move to build. </a:t>
                      </a:r>
                    </a:p>
                  </a:txBody>
                  <a:tcPr marL="45720" marR="45720" anchor="ctr">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extLst>
                  <a:ext uri="{0D108BD9-81ED-4DB2-BD59-A6C34878D82A}">
                    <a16:rowId xmlns:a16="http://schemas.microsoft.com/office/drawing/2014/main" val="1289107603"/>
                  </a:ext>
                </a:extLst>
              </a:tr>
              <a:tr h="428965">
                <a:tc>
                  <a:txBody>
                    <a:bodyPr/>
                    <a:lstStyle/>
                    <a:p>
                      <a:pPr marL="0" algn="l" defTabSz="914400" rtl="0" eaLnBrk="1" fontAlgn="b" latinLnBrk="0" hangingPunct="1">
                        <a:buNone/>
                      </a:pPr>
                      <a:r>
                        <a:rPr lang="fr-FR" sz="1000" b="1" i="0" u="none" strike="noStrike" kern="1200">
                          <a:solidFill>
                            <a:srgbClr val="000000"/>
                          </a:solidFill>
                          <a:effectLst/>
                          <a:latin typeface="Aptos Narrow" panose="020B0004020202020204" pitchFamily="34" charset="0"/>
                          <a:ea typeface="+mn-ea"/>
                          <a:cs typeface="+mn-cs"/>
                        </a:rPr>
                        <a:t>Phone </a:t>
                      </a:r>
                      <a:r>
                        <a:rPr lang="fr-FR" sz="1000" b="1" i="0" u="none" strike="noStrike" kern="1200" err="1">
                          <a:solidFill>
                            <a:srgbClr val="000000"/>
                          </a:solidFill>
                          <a:effectLst/>
                          <a:latin typeface="Aptos Narrow" panose="020B0004020202020204" pitchFamily="34" charset="0"/>
                          <a:ea typeface="+mn-ea"/>
                          <a:cs typeface="+mn-cs"/>
                        </a:rPr>
                        <a:t>Quote</a:t>
                      </a:r>
                      <a:r>
                        <a:rPr lang="fr-FR" sz="1000" b="1" i="0" u="none" strike="noStrike" kern="1200">
                          <a:solidFill>
                            <a:srgbClr val="000000"/>
                          </a:solidFill>
                          <a:effectLst/>
                          <a:latin typeface="Aptos Narrow" panose="020B0004020202020204" pitchFamily="34" charset="0"/>
                          <a:ea typeface="+mn-ea"/>
                          <a:cs typeface="+mn-cs"/>
                        </a:rPr>
                        <a:t> email (BPG2) </a:t>
                      </a:r>
                      <a:r>
                        <a:rPr lang="fr-FR" sz="1000" b="1" i="0" u="none" strike="noStrike" kern="1200" err="1">
                          <a:solidFill>
                            <a:srgbClr val="000000"/>
                          </a:solidFill>
                          <a:effectLst/>
                          <a:latin typeface="Aptos Narrow" panose="020B0004020202020204" pitchFamily="34" charset="0"/>
                          <a:ea typeface="+mn-ea"/>
                          <a:cs typeface="+mn-cs"/>
                        </a:rPr>
                        <a:t>Enhancement</a:t>
                      </a:r>
                      <a:endParaRPr lang="fr-FR" sz="1000" b="1" i="0" u="none" strike="noStrike" kern="1200">
                        <a:solidFill>
                          <a:srgbClr val="000000"/>
                        </a:solidFill>
                        <a:effectLst/>
                        <a:latin typeface="Aptos Narrow" panose="020B0004020202020204" pitchFamily="34" charset="0"/>
                        <a:ea typeface="+mn-ea"/>
                        <a:cs typeface="+mn-cs"/>
                      </a:endParaRPr>
                    </a:p>
                  </a:txBody>
                  <a:tcPr marL="45720" marR="45720" anchor="ctr">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marL="0" algn="ctr" defTabSz="914400" rtl="0" eaLnBrk="1" fontAlgn="b" latinLnBrk="0" hangingPunct="1">
                        <a:buNone/>
                      </a:pPr>
                      <a:r>
                        <a:rPr lang="en-US" sz="1000" b="0" i="0" u="none" strike="noStrike" kern="1200">
                          <a:solidFill>
                            <a:srgbClr val="000000"/>
                          </a:solidFill>
                          <a:effectLst/>
                          <a:latin typeface="Aptos Narrow" panose="020B0004020202020204" pitchFamily="34" charset="0"/>
                          <a:ea typeface="+mn-ea"/>
                          <a:cs typeface="+mn-cs"/>
                        </a:rPr>
                        <a:t>H-4</a:t>
                      </a:r>
                    </a:p>
                  </a:txBody>
                  <a:tcPr marL="45720" marR="45720" anchor="ctr">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marL="0" algn="ctr" defTabSz="914400" rtl="0" eaLnBrk="1" fontAlgn="b" latinLnBrk="0" hangingPunct="1">
                        <a:buNone/>
                      </a:pPr>
                      <a:r>
                        <a:rPr lang="en-US" sz="1000" b="0" i="0" u="none" strike="noStrike" kern="1200">
                          <a:solidFill>
                            <a:srgbClr val="000000"/>
                          </a:solidFill>
                          <a:effectLst/>
                          <a:latin typeface="Aptos Narrow" panose="020B0004020202020204" pitchFamily="34" charset="0"/>
                          <a:ea typeface="+mn-ea"/>
                          <a:cs typeface="+mn-cs"/>
                        </a:rPr>
                        <a:t>Small $100K-$300K</a:t>
                      </a:r>
                    </a:p>
                  </a:txBody>
                  <a:tcPr marL="45720" marR="45720" anchor="ctr">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marL="0" algn="ctr" defTabSz="914400" rtl="0" eaLnBrk="1" fontAlgn="b" latinLnBrk="0" hangingPunct="1">
                        <a:buNone/>
                      </a:pPr>
                      <a:r>
                        <a:rPr lang="en-US" sz="1000" b="0" i="0" u="none" strike="noStrike" kern="1200">
                          <a:solidFill>
                            <a:srgbClr val="000000"/>
                          </a:solidFill>
                          <a:effectLst/>
                          <a:latin typeface="Aptos Narrow" panose="020B0004020202020204" pitchFamily="34" charset="0"/>
                          <a:ea typeface="+mn-ea"/>
                          <a:cs typeface="+mn-cs"/>
                        </a:rPr>
                        <a:t>PR</a:t>
                      </a:r>
                    </a:p>
                  </a:txBody>
                  <a:tcPr marL="45720" marR="45720" anchor="ctr">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marL="0" algn="ctr" defTabSz="914400" rtl="0" eaLnBrk="1" fontAlgn="b" latinLnBrk="0" hangingPunct="1">
                        <a:buNone/>
                      </a:pPr>
                      <a:r>
                        <a:rPr lang="en-US" sz="1000" b="0" i="0" u="none" strike="noStrike" kern="1200">
                          <a:solidFill>
                            <a:srgbClr val="000000"/>
                          </a:solidFill>
                          <a:effectLst/>
                          <a:latin typeface="Aptos Narrow" panose="020B0004020202020204" pitchFamily="34" charset="0"/>
                          <a:ea typeface="+mn-ea"/>
                          <a:cs typeface="+mn-cs"/>
                        </a:rPr>
                        <a:t>4/14/2026</a:t>
                      </a:r>
                    </a:p>
                  </a:txBody>
                  <a:tcPr marL="45720" marR="45720" anchor="ctr">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marL="0" algn="ctr" defTabSz="914400" rtl="0" eaLnBrk="1" fontAlgn="b" latinLnBrk="0" hangingPunct="1">
                        <a:buNone/>
                      </a:pPr>
                      <a:r>
                        <a:rPr lang="en-US" sz="1000" b="0" i="0" u="none" strike="noStrike" kern="1200">
                          <a:solidFill>
                            <a:srgbClr val="000000"/>
                          </a:solidFill>
                          <a:effectLst/>
                          <a:latin typeface="Aptos Narrow" panose="020B0004020202020204" pitchFamily="34" charset="0"/>
                          <a:ea typeface="+mn-ea"/>
                          <a:cs typeface="+mn-cs"/>
                        </a:rPr>
                        <a:t>6/4/2026</a:t>
                      </a:r>
                    </a:p>
                  </a:txBody>
                  <a:tcPr marL="45720" marR="45720" anchor="ctr">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marL="0" algn="ctr" defTabSz="914400" rtl="0" eaLnBrk="1" fontAlgn="b" latinLnBrk="0" hangingPunct="1">
                        <a:buNone/>
                      </a:pPr>
                      <a:r>
                        <a:rPr lang="en-US" sz="1000" b="0" i="0" u="none" strike="noStrike" kern="1200">
                          <a:solidFill>
                            <a:srgbClr val="000000"/>
                          </a:solidFill>
                          <a:effectLst/>
                          <a:latin typeface="Aptos Narrow" panose="020B0004020202020204" pitchFamily="34" charset="0"/>
                          <a:ea typeface="+mn-ea"/>
                          <a:cs typeface="+mn-cs"/>
                        </a:rPr>
                        <a:t>Pending</a:t>
                      </a:r>
                    </a:p>
                  </a:txBody>
                  <a:tcPr marL="45720" marR="45720" anchor="ctr">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algn="l" fontAlgn="b">
                        <a:buNone/>
                      </a:pPr>
                      <a:r>
                        <a:rPr lang="en-US" sz="1000" b="0" i="0" u="none" strike="noStrike">
                          <a:solidFill>
                            <a:srgbClr val="000000"/>
                          </a:solidFill>
                          <a:effectLst/>
                          <a:latin typeface="Aptos Narrow" panose="020B0004020202020204" pitchFamily="34" charset="0"/>
                        </a:rPr>
                        <a:t>6/4/26- Completed Small HLA Estimate by Charysse and Josh. 4/14/26- Intake Triage, Waiting priority from </a:t>
                      </a:r>
                      <a:r>
                        <a:rPr lang="en-US" sz="1000" b="0" i="0" u="none" strike="noStrike" err="1">
                          <a:solidFill>
                            <a:srgbClr val="000000"/>
                          </a:solidFill>
                          <a:effectLst/>
                          <a:latin typeface="Aptos Narrow" panose="020B0004020202020204" pitchFamily="34" charset="0"/>
                        </a:rPr>
                        <a:t>OpEx</a:t>
                      </a:r>
                      <a:r>
                        <a:rPr lang="en-US" sz="1000" b="0" i="0" u="none" strike="noStrike">
                          <a:solidFill>
                            <a:srgbClr val="000000"/>
                          </a:solidFill>
                          <a:effectLst/>
                          <a:latin typeface="Aptos Narrow" panose="020B0004020202020204" pitchFamily="34" charset="0"/>
                        </a:rPr>
                        <a:t> . In plan backlog</a:t>
                      </a:r>
                    </a:p>
                  </a:txBody>
                  <a:tcPr marL="45720" marR="45720" anchor="ctr">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extLst>
                  <a:ext uri="{0D108BD9-81ED-4DB2-BD59-A6C34878D82A}">
                    <a16:rowId xmlns:a16="http://schemas.microsoft.com/office/drawing/2014/main" val="2401342091"/>
                  </a:ext>
                </a:extLst>
              </a:tr>
              <a:tr h="622160">
                <a:tc>
                  <a:txBody>
                    <a:bodyPr/>
                    <a:lstStyle/>
                    <a:p>
                      <a:pPr algn="l" fontAlgn="b">
                        <a:buNone/>
                      </a:pPr>
                      <a:r>
                        <a:rPr lang="pt-BR" sz="1000" b="1" i="0" u="none" strike="noStrike">
                          <a:solidFill>
                            <a:srgbClr val="000000"/>
                          </a:solidFill>
                          <a:effectLst/>
                          <a:latin typeface="Aptos Narrow" panose="020B0004020202020204" pitchFamily="34" charset="0"/>
                        </a:rPr>
                        <a:t>AR Report vs. GL inconsistencies</a:t>
                      </a:r>
                    </a:p>
                  </a:txBody>
                  <a:tcPr marL="45720" marR="45720" anchor="ctr">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algn="ctr" fontAlgn="b">
                        <a:buNone/>
                      </a:pPr>
                      <a:r>
                        <a:rPr lang="en-US" sz="1000" b="0" i="0" u="none" strike="noStrike">
                          <a:solidFill>
                            <a:srgbClr val="000000"/>
                          </a:solidFill>
                          <a:effectLst/>
                          <a:latin typeface="Aptos Narrow" panose="020B0004020202020204" pitchFamily="34" charset="0"/>
                        </a:rPr>
                        <a:t>H-2</a:t>
                      </a:r>
                    </a:p>
                  </a:txBody>
                  <a:tcPr marL="45720" marR="45720" anchor="ctr">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algn="ctr" fontAlgn="b">
                        <a:buNone/>
                      </a:pPr>
                      <a:r>
                        <a:rPr lang="en-US" sz="900" b="0" i="0" u="none" strike="noStrike">
                          <a:solidFill>
                            <a:srgbClr val="000000"/>
                          </a:solidFill>
                          <a:effectLst/>
                          <a:latin typeface="Aptos Narrow" panose="020B0004020202020204" pitchFamily="34" charset="0"/>
                        </a:rPr>
                        <a:t>Pet Teams AT&amp;SS:</a:t>
                      </a:r>
                    </a:p>
                    <a:p>
                      <a:pPr marL="0" marR="0" lvl="0" indent="0" algn="ctr" defTabSz="914400" rtl="0" eaLnBrk="1" fontAlgn="b" latinLnBrk="0" hangingPunct="1">
                        <a:lnSpc>
                          <a:spcPct val="100000"/>
                        </a:lnSpc>
                        <a:spcBef>
                          <a:spcPts val="0"/>
                        </a:spcBef>
                        <a:spcAft>
                          <a:spcPts val="0"/>
                        </a:spcAft>
                        <a:buClrTx/>
                        <a:buSzTx/>
                        <a:buFontTx/>
                        <a:buNone/>
                        <a:tabLst/>
                        <a:defRPr/>
                      </a:pPr>
                      <a:r>
                        <a:rPr lang="en-US" sz="900" b="0" i="0" u="none" strike="noStrike">
                          <a:solidFill>
                            <a:srgbClr val="000000"/>
                          </a:solidFill>
                          <a:effectLst/>
                          <a:latin typeface="Aptos Narrow" panose="020B0004020202020204" pitchFamily="34" charset="0"/>
                        </a:rPr>
                        <a:t>2XS $10K - $50K / </a:t>
                      </a:r>
                      <a:br>
                        <a:rPr lang="en-US" sz="900" b="0" i="0" u="none" strike="noStrike">
                          <a:solidFill>
                            <a:srgbClr val="000000"/>
                          </a:solidFill>
                          <a:effectLst/>
                          <a:latin typeface="Aptos Narrow" panose="020B0004020202020204" pitchFamily="34" charset="0"/>
                        </a:rPr>
                      </a:br>
                      <a:r>
                        <a:rPr lang="en-US" sz="900" b="0" i="0" u="none" strike="noStrike">
                          <a:solidFill>
                            <a:srgbClr val="000000"/>
                          </a:solidFill>
                          <a:effectLst/>
                          <a:latin typeface="Aptos Narrow" panose="020B0004020202020204" pitchFamily="34" charset="0"/>
                        </a:rPr>
                        <a:t>111 - 556 </a:t>
                      </a:r>
                      <a:r>
                        <a:rPr lang="en-US" sz="900" b="0" i="0" u="none" strike="noStrike" err="1">
                          <a:solidFill>
                            <a:srgbClr val="000000"/>
                          </a:solidFill>
                          <a:effectLst/>
                          <a:latin typeface="Aptos Narrow" panose="020B0004020202020204" pitchFamily="34" charset="0"/>
                        </a:rPr>
                        <a:t>Hrs</a:t>
                      </a:r>
                      <a:endParaRPr lang="en-US" sz="900" b="0" i="0" u="none" strike="noStrike">
                        <a:solidFill>
                          <a:srgbClr val="000000"/>
                        </a:solidFill>
                        <a:effectLst/>
                        <a:latin typeface="Aptos Narrow" panose="020B0004020202020204" pitchFamily="34" charset="0"/>
                      </a:endParaRPr>
                    </a:p>
                    <a:p>
                      <a:pPr algn="ctr" fontAlgn="b">
                        <a:buNone/>
                      </a:pPr>
                      <a:r>
                        <a:rPr lang="en-US" sz="900" b="0" i="0" u="none" strike="noStrike">
                          <a:solidFill>
                            <a:srgbClr val="000000"/>
                          </a:solidFill>
                          <a:effectLst/>
                          <a:highlight>
                            <a:srgbClr val="FFFF00"/>
                          </a:highlight>
                          <a:latin typeface="Aptos Narrow" panose="020B0004020202020204" pitchFamily="34" charset="0"/>
                        </a:rPr>
                        <a:t>FinTech – Pending</a:t>
                      </a:r>
                    </a:p>
                  </a:txBody>
                  <a:tcPr marL="45720" marR="45720" anchor="ctr">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algn="ctr" fontAlgn="b">
                        <a:buNone/>
                      </a:pPr>
                      <a:r>
                        <a:rPr lang="en-US" sz="900" b="0" i="0" u="none" strike="noStrike">
                          <a:solidFill>
                            <a:srgbClr val="000000"/>
                          </a:solidFill>
                          <a:effectLst/>
                          <a:latin typeface="Aptos Narrow" panose="020B0004020202020204" pitchFamily="34" charset="0"/>
                        </a:rPr>
                        <a:t>AT, SS , Fintech</a:t>
                      </a:r>
                    </a:p>
                  </a:txBody>
                  <a:tcPr marL="45720" marR="45720" anchor="ctr">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algn="ctr" fontAlgn="b">
                        <a:buNone/>
                      </a:pPr>
                      <a:r>
                        <a:rPr lang="en-US" sz="900" b="0" i="0" u="none" strike="noStrike">
                          <a:solidFill>
                            <a:srgbClr val="000000"/>
                          </a:solidFill>
                          <a:effectLst/>
                          <a:latin typeface="Aptos Narrow" panose="020B0004020202020204" pitchFamily="34" charset="0"/>
                        </a:rPr>
                        <a:t>4/14/2026</a:t>
                      </a:r>
                    </a:p>
                  </a:txBody>
                  <a:tcPr marL="45720" marR="45720" anchor="ctr">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algn="ctr" fontAlgn="b">
                        <a:buNone/>
                      </a:pPr>
                      <a:r>
                        <a:rPr lang="en-US" sz="900" b="0" i="0" u="none" strike="noStrike">
                          <a:solidFill>
                            <a:srgbClr val="000000"/>
                          </a:solidFill>
                          <a:effectLst/>
                          <a:latin typeface="Aptos Narrow" panose="020B0004020202020204" pitchFamily="34" charset="0"/>
                        </a:rPr>
                        <a:t>6/5/2026</a:t>
                      </a:r>
                    </a:p>
                  </a:txBody>
                  <a:tcPr marL="45720" marR="45720" anchor="ctr">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algn="ctr" fontAlgn="b">
                        <a:buNone/>
                      </a:pPr>
                      <a:r>
                        <a:rPr lang="en-US" sz="900" b="0" i="0" u="none" strike="noStrike">
                          <a:solidFill>
                            <a:srgbClr val="000000"/>
                          </a:solidFill>
                          <a:effectLst/>
                          <a:latin typeface="Aptos Narrow" panose="020B0004020202020204" pitchFamily="34" charset="0"/>
                        </a:rPr>
                        <a:t>Pending</a:t>
                      </a:r>
                    </a:p>
                  </a:txBody>
                  <a:tcPr marL="45720" marR="45720" anchor="ctr">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algn="l" fontAlgn="b">
                        <a:buNone/>
                      </a:pPr>
                      <a:r>
                        <a:rPr lang="en-US" sz="1000" b="0" i="0" u="none" strike="noStrike">
                          <a:solidFill>
                            <a:srgbClr val="000000"/>
                          </a:solidFill>
                          <a:effectLst/>
                          <a:latin typeface="Aptos Narrow" panose="020B0004020202020204" pitchFamily="34" charset="0"/>
                        </a:rPr>
                        <a:t>6/22/26 FinTech engaged on 6/11, awaiting estimate by 7/2, The architect updates to HLA were due 6/19 - missed, Angie will </a:t>
                      </a:r>
                      <a:r>
                        <a:rPr lang="en-US" sz="1000" b="0" i="0" u="none" strike="noStrike" err="1">
                          <a:solidFill>
                            <a:srgbClr val="000000"/>
                          </a:solidFill>
                          <a:effectLst/>
                          <a:latin typeface="Aptos Narrow" panose="020B0004020202020204" pitchFamily="34" charset="0"/>
                        </a:rPr>
                        <a:t>fwp</a:t>
                      </a:r>
                      <a:r>
                        <a:rPr lang="en-US" sz="1000" b="0" i="0" u="none" strike="noStrike">
                          <a:solidFill>
                            <a:srgbClr val="000000"/>
                          </a:solidFill>
                          <a:effectLst/>
                          <a:latin typeface="Aptos Narrow" panose="020B0004020202020204" pitchFamily="34" charset="0"/>
                        </a:rPr>
                        <a:t> with Sathya on 6/22 for new date. During the 6/11 meeting a request to workshop data flow to identify where inconsistencies are happening. Meeting scheduled for 6/26.</a:t>
                      </a:r>
                    </a:p>
                  </a:txBody>
                  <a:tcPr marL="45720" marR="45720" anchor="ctr">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extLst>
                  <a:ext uri="{0D108BD9-81ED-4DB2-BD59-A6C34878D82A}">
                    <a16:rowId xmlns:a16="http://schemas.microsoft.com/office/drawing/2014/main" val="3366491188"/>
                  </a:ext>
                </a:extLst>
              </a:tr>
              <a:tr h="525142">
                <a:tc>
                  <a:txBody>
                    <a:bodyPr/>
                    <a:lstStyle/>
                    <a:p>
                      <a:pPr algn="l" fontAlgn="b">
                        <a:buNone/>
                      </a:pPr>
                      <a:r>
                        <a:rPr lang="en-US" sz="1000" b="1" i="0" u="none" strike="noStrike">
                          <a:solidFill>
                            <a:srgbClr val="000000"/>
                          </a:solidFill>
                          <a:effectLst/>
                          <a:latin typeface="Aptos Narrow" panose="020B0004020202020204" pitchFamily="34" charset="0"/>
                        </a:rPr>
                        <a:t>GIN BPG8 Task Update</a:t>
                      </a:r>
                    </a:p>
                  </a:txBody>
                  <a:tcPr marL="45720" marR="45720" anchor="ctr">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algn="ctr" fontAlgn="b">
                        <a:buNone/>
                      </a:pPr>
                      <a:r>
                        <a:rPr lang="en-US" sz="1000" b="0" i="0" u="none" strike="noStrike">
                          <a:solidFill>
                            <a:srgbClr val="000000"/>
                          </a:solidFill>
                          <a:effectLst/>
                          <a:latin typeface="Aptos Narrow" panose="020B0004020202020204" pitchFamily="34" charset="0"/>
                        </a:rPr>
                        <a:t>H-8</a:t>
                      </a:r>
                    </a:p>
                  </a:txBody>
                  <a:tcPr marL="45720" marR="45720" anchor="ctr">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algn="ctr" fontAlgn="b">
                        <a:buNone/>
                      </a:pPr>
                      <a:r>
                        <a:rPr lang="en-US" sz="900" b="0" i="0" u="none" strike="noStrike">
                          <a:solidFill>
                            <a:srgbClr val="000000"/>
                          </a:solidFill>
                          <a:effectLst/>
                          <a:latin typeface="Aptos Narrow" panose="020B0004020202020204" pitchFamily="34" charset="0"/>
                        </a:rPr>
                        <a:t>2XS $10K - $50K / 111 - 556 </a:t>
                      </a:r>
                      <a:r>
                        <a:rPr lang="en-US" sz="900" b="0" i="0" u="none" strike="noStrike" err="1">
                          <a:solidFill>
                            <a:srgbClr val="000000"/>
                          </a:solidFill>
                          <a:effectLst/>
                          <a:latin typeface="Aptos Narrow" panose="020B0004020202020204" pitchFamily="34" charset="0"/>
                        </a:rPr>
                        <a:t>Hrs</a:t>
                      </a:r>
                      <a:endParaRPr lang="en-US" sz="900" b="0" i="0" u="none" strike="noStrike">
                        <a:solidFill>
                          <a:srgbClr val="000000"/>
                        </a:solidFill>
                        <a:effectLst/>
                        <a:latin typeface="Aptos Narrow" panose="020B0004020202020204" pitchFamily="34" charset="0"/>
                      </a:endParaRPr>
                    </a:p>
                  </a:txBody>
                  <a:tcPr marL="45720" marR="45720" anchor="ctr">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algn="ctr" fontAlgn="b">
                        <a:buNone/>
                      </a:pPr>
                      <a:r>
                        <a:rPr lang="en-US" sz="900" b="0" i="0" u="none" strike="noStrike">
                          <a:solidFill>
                            <a:srgbClr val="000000"/>
                          </a:solidFill>
                          <a:effectLst/>
                          <a:latin typeface="Aptos Narrow" panose="020B0004020202020204" pitchFamily="34" charset="0"/>
                        </a:rPr>
                        <a:t>SS</a:t>
                      </a:r>
                    </a:p>
                    <a:p>
                      <a:pPr algn="ctr" fontAlgn="b">
                        <a:buNone/>
                      </a:pPr>
                      <a:endParaRPr lang="en-US" sz="900" b="0" i="0" u="none" strike="noStrike">
                        <a:solidFill>
                          <a:srgbClr val="000000"/>
                        </a:solidFill>
                        <a:effectLst/>
                        <a:latin typeface="Aptos Narrow" panose="020B0004020202020204" pitchFamily="34" charset="0"/>
                      </a:endParaRPr>
                    </a:p>
                  </a:txBody>
                  <a:tcPr marL="45720" marR="45720" anchor="ctr">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algn="ctr" fontAlgn="b">
                        <a:buNone/>
                      </a:pPr>
                      <a:r>
                        <a:rPr lang="en-US" sz="900" b="0" i="0" u="none" strike="noStrike">
                          <a:solidFill>
                            <a:srgbClr val="000000"/>
                          </a:solidFill>
                          <a:effectLst/>
                          <a:latin typeface="Aptos Narrow" panose="020B0004020202020204" pitchFamily="34" charset="0"/>
                        </a:rPr>
                        <a:t>4/14/2026</a:t>
                      </a:r>
                    </a:p>
                  </a:txBody>
                  <a:tcPr marL="45720" marR="45720" anchor="ctr">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algn="ctr" fontAlgn="b">
                        <a:buNone/>
                      </a:pPr>
                      <a:r>
                        <a:rPr lang="en-US" sz="900" b="0" i="0" u="none" strike="noStrike">
                          <a:solidFill>
                            <a:srgbClr val="000000"/>
                          </a:solidFill>
                          <a:effectLst/>
                          <a:latin typeface="Aptos Narrow" panose="020B0004020202020204" pitchFamily="34" charset="0"/>
                        </a:rPr>
                        <a:t>6/5/2026</a:t>
                      </a:r>
                    </a:p>
                  </a:txBody>
                  <a:tcPr marL="45720" marR="45720" anchor="ctr">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algn="ctr" fontAlgn="b">
                        <a:buNone/>
                      </a:pPr>
                      <a:r>
                        <a:rPr lang="en-US" sz="900" b="0" i="0" u="none" strike="noStrike">
                          <a:solidFill>
                            <a:srgbClr val="000000"/>
                          </a:solidFill>
                          <a:effectLst/>
                          <a:latin typeface="Aptos Narrow" panose="020B0004020202020204" pitchFamily="34" charset="0"/>
                        </a:rPr>
                        <a:t>Pending</a:t>
                      </a:r>
                    </a:p>
                  </a:txBody>
                  <a:tcPr marL="45720" marR="45720" anchor="ctr">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algn="l" fontAlgn="b">
                        <a:buNone/>
                      </a:pPr>
                      <a:r>
                        <a:rPr lang="en-US" sz="1000" b="0" i="0" u="none" strike="noStrike">
                          <a:solidFill>
                            <a:srgbClr val="000000"/>
                          </a:solidFill>
                          <a:effectLst/>
                          <a:latin typeface="Aptos Narrow" panose="020B0004020202020204" pitchFamily="34" charset="0"/>
                        </a:rPr>
                        <a:t>6/4/26- 2XS estimate based on initial discussion and solutioning with Architect. Pending updated HLA documentation if needed.  If approved, planning team will complete documentation needed to move to build. </a:t>
                      </a:r>
                    </a:p>
                  </a:txBody>
                  <a:tcPr marL="45720" marR="45720" anchor="ctr">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extLst>
                  <a:ext uri="{0D108BD9-81ED-4DB2-BD59-A6C34878D82A}">
                    <a16:rowId xmlns:a16="http://schemas.microsoft.com/office/drawing/2014/main" val="2607640160"/>
                  </a:ext>
                </a:extLst>
              </a:tr>
              <a:tr h="385146">
                <a:tc>
                  <a:txBody>
                    <a:bodyPr/>
                    <a:lstStyle/>
                    <a:p>
                      <a:pPr algn="l" fontAlgn="b">
                        <a:buNone/>
                      </a:pPr>
                      <a:r>
                        <a:rPr lang="en-US" sz="1000" b="1" i="0" u="none" strike="noStrike">
                          <a:solidFill>
                            <a:srgbClr val="000000"/>
                          </a:solidFill>
                          <a:effectLst/>
                          <a:latin typeface="Aptos Narrow" panose="020B0004020202020204" pitchFamily="34" charset="0"/>
                        </a:rPr>
                        <a:t>Direct Bill Validation during GIN Bulk Cancellation</a:t>
                      </a:r>
                    </a:p>
                  </a:txBody>
                  <a:tcPr marL="45720" marR="45720" anchor="ctr">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algn="ctr" fontAlgn="b">
                        <a:buNone/>
                      </a:pPr>
                      <a:r>
                        <a:rPr lang="en-US" sz="1000" b="0" i="0" u="none" strike="noStrike">
                          <a:solidFill>
                            <a:srgbClr val="000000"/>
                          </a:solidFill>
                          <a:effectLst/>
                          <a:latin typeface="Aptos Narrow" panose="020B0004020202020204" pitchFamily="34" charset="0"/>
                        </a:rPr>
                        <a:t>H-7</a:t>
                      </a:r>
                    </a:p>
                  </a:txBody>
                  <a:tcPr marL="45720" marR="45720" anchor="ctr">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900" b="0" i="0" u="none" strike="noStrike">
                          <a:solidFill>
                            <a:srgbClr val="000000"/>
                          </a:solidFill>
                          <a:effectLst/>
                          <a:latin typeface="Aptos Narrow" panose="020B0004020202020204" pitchFamily="34" charset="0"/>
                        </a:rPr>
                        <a:t>XS ($50-$100K)</a:t>
                      </a:r>
                    </a:p>
                    <a:p>
                      <a:pPr algn="ctr" fontAlgn="b">
                        <a:buNone/>
                      </a:pPr>
                      <a:endParaRPr lang="en-US" sz="900" b="0" i="0" u="none" strike="noStrike">
                        <a:solidFill>
                          <a:srgbClr val="000000"/>
                        </a:solidFill>
                        <a:effectLst/>
                        <a:latin typeface="Aptos Narrow" panose="020B0004020202020204" pitchFamily="34" charset="0"/>
                      </a:endParaRPr>
                    </a:p>
                  </a:txBody>
                  <a:tcPr marL="45720" marR="45720" anchor="ctr">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algn="ctr" fontAlgn="b">
                        <a:buNone/>
                      </a:pPr>
                      <a:r>
                        <a:rPr lang="en-US" sz="900" b="0" i="0" u="none" strike="noStrike">
                          <a:solidFill>
                            <a:srgbClr val="000000"/>
                          </a:solidFill>
                          <a:effectLst/>
                          <a:latin typeface="Aptos Narrow" panose="020B0004020202020204" pitchFamily="34" charset="0"/>
                        </a:rPr>
                        <a:t>SS, PP</a:t>
                      </a:r>
                    </a:p>
                  </a:txBody>
                  <a:tcPr marL="45720" marR="45720" anchor="ctr">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algn="ctr" fontAlgn="b">
                        <a:buNone/>
                      </a:pPr>
                      <a:r>
                        <a:rPr lang="en-US" sz="900" b="0" i="0" u="none" strike="noStrike">
                          <a:solidFill>
                            <a:srgbClr val="000000"/>
                          </a:solidFill>
                          <a:effectLst/>
                          <a:latin typeface="Aptos Narrow" panose="020B0004020202020204" pitchFamily="34" charset="0"/>
                        </a:rPr>
                        <a:t>4/24/2026</a:t>
                      </a:r>
                    </a:p>
                  </a:txBody>
                  <a:tcPr marL="45720" marR="45720" anchor="ctr">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algn="ctr" fontAlgn="b">
                        <a:buNone/>
                      </a:pPr>
                      <a:r>
                        <a:rPr lang="en-US" sz="900" b="0" i="0" u="none" strike="noStrike">
                          <a:solidFill>
                            <a:srgbClr val="000000"/>
                          </a:solidFill>
                          <a:effectLst/>
                          <a:latin typeface="Aptos Narrow" panose="020B0004020202020204" pitchFamily="34" charset="0"/>
                        </a:rPr>
                        <a:t>5/21/2026</a:t>
                      </a:r>
                    </a:p>
                  </a:txBody>
                  <a:tcPr marL="45720" marR="45720" anchor="ctr">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algn="ctr" fontAlgn="b">
                        <a:buNone/>
                      </a:pPr>
                      <a:r>
                        <a:rPr lang="en-US" sz="900" b="0" i="0" u="none" strike="noStrike">
                          <a:solidFill>
                            <a:srgbClr val="000000"/>
                          </a:solidFill>
                          <a:effectLst/>
                          <a:latin typeface="Aptos Narrow" panose="020B0004020202020204" pitchFamily="34" charset="0"/>
                        </a:rPr>
                        <a:t>Pending </a:t>
                      </a:r>
                    </a:p>
                  </a:txBody>
                  <a:tcPr marL="45720" marR="45720" anchor="ctr">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algn="l" fontAlgn="b">
                        <a:buNone/>
                      </a:pPr>
                      <a:r>
                        <a:rPr lang="en-US" sz="1000" b="0" i="0" u="none" strike="noStrike">
                          <a:solidFill>
                            <a:srgbClr val="000000"/>
                          </a:solidFill>
                          <a:effectLst/>
                          <a:latin typeface="Aptos Narrow" panose="020B0004020202020204" pitchFamily="34" charset="0"/>
                        </a:rPr>
                        <a:t>Estimated as part of the 2027 Payroll Experience roadmap (GIN Bulk Payment Reversals - XS</a:t>
                      </a:r>
                    </a:p>
                  </a:txBody>
                  <a:tcPr marL="45720" marR="45720" anchor="ctr">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extLst>
                  <a:ext uri="{0D108BD9-81ED-4DB2-BD59-A6C34878D82A}">
                    <a16:rowId xmlns:a16="http://schemas.microsoft.com/office/drawing/2014/main" val="3182605789"/>
                  </a:ext>
                </a:extLst>
              </a:tr>
              <a:tr h="533280">
                <a:tc>
                  <a:txBody>
                    <a:bodyPr/>
                    <a:lstStyle/>
                    <a:p>
                      <a:pPr algn="l" fontAlgn="b">
                        <a:buNone/>
                      </a:pPr>
                      <a:r>
                        <a:rPr lang="en-US" sz="1000" b="1" i="0" u="none" strike="noStrike">
                          <a:solidFill>
                            <a:srgbClr val="000000"/>
                          </a:solidFill>
                          <a:effectLst/>
                          <a:latin typeface="Aptos Narrow" panose="020B0004020202020204" pitchFamily="34" charset="0"/>
                        </a:rPr>
                        <a:t>Enable Policy Search in EID in GIN</a:t>
                      </a:r>
                    </a:p>
                  </a:txBody>
                  <a:tcPr marL="45720" marR="45720" anchor="ctr">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algn="ctr" fontAlgn="b">
                        <a:buNone/>
                      </a:pPr>
                      <a:r>
                        <a:rPr lang="en-US" sz="1000" b="0" i="0" u="none" strike="noStrike">
                          <a:solidFill>
                            <a:srgbClr val="000000"/>
                          </a:solidFill>
                          <a:effectLst/>
                          <a:latin typeface="Aptos Narrow" panose="020B0004020202020204" pitchFamily="34" charset="0"/>
                        </a:rPr>
                        <a:t>H-3</a:t>
                      </a:r>
                    </a:p>
                  </a:txBody>
                  <a:tcPr marL="45720" marR="45720" anchor="ctr">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900" b="0" i="0" u="none" strike="noStrike">
                          <a:solidFill>
                            <a:srgbClr val="000000"/>
                          </a:solidFill>
                          <a:effectLst/>
                          <a:latin typeface="Aptos Narrow" panose="020B0004020202020204" pitchFamily="34" charset="0"/>
                        </a:rPr>
                        <a:t>XS ($50-$100K) (preliminary)</a:t>
                      </a:r>
                    </a:p>
                  </a:txBody>
                  <a:tcPr marL="45720" marR="45720" anchor="ctr">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algn="ctr" fontAlgn="b">
                        <a:buNone/>
                      </a:pPr>
                      <a:r>
                        <a:rPr lang="en-US" sz="900" b="0" i="0" u="none" strike="noStrike">
                          <a:solidFill>
                            <a:srgbClr val="000000"/>
                          </a:solidFill>
                          <a:effectLst/>
                          <a:latin typeface="Aptos Narrow" panose="020B0004020202020204" pitchFamily="34" charset="0"/>
                        </a:rPr>
                        <a:t>SS, PP</a:t>
                      </a:r>
                    </a:p>
                  </a:txBody>
                  <a:tcPr marL="45720" marR="45720" anchor="ctr">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algn="ctr" fontAlgn="b">
                        <a:buNone/>
                      </a:pPr>
                      <a:r>
                        <a:rPr lang="en-US" sz="900" b="0" i="0" u="none" strike="noStrike">
                          <a:solidFill>
                            <a:srgbClr val="000000"/>
                          </a:solidFill>
                          <a:effectLst/>
                          <a:latin typeface="Aptos Narrow" panose="020B0004020202020204" pitchFamily="34" charset="0"/>
                        </a:rPr>
                        <a:t>4/24/2026</a:t>
                      </a:r>
                    </a:p>
                  </a:txBody>
                  <a:tcPr marL="45720" marR="45720" anchor="ctr">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algn="ctr" fontAlgn="b">
                        <a:buNone/>
                      </a:pPr>
                      <a:r>
                        <a:rPr lang="en-US" sz="900" b="0" i="0" u="none" strike="noStrike">
                          <a:solidFill>
                            <a:srgbClr val="000000"/>
                          </a:solidFill>
                          <a:effectLst/>
                          <a:latin typeface="Aptos Narrow" panose="020B0004020202020204" pitchFamily="34" charset="0"/>
                        </a:rPr>
                        <a:t>6/5/2026</a:t>
                      </a:r>
                    </a:p>
                  </a:txBody>
                  <a:tcPr marL="45720" marR="45720" anchor="ctr">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Aptos Narrow" panose="020B0004020202020204" pitchFamily="34" charset="0"/>
                          <a:ea typeface="+mn-ea"/>
                          <a:cs typeface="+mn-cs"/>
                        </a:rPr>
                        <a:t>Pending </a:t>
                      </a:r>
                    </a:p>
                  </a:txBody>
                  <a:tcPr marL="45720" marR="45720" anchor="ctr">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000" b="0" i="0" u="none" strike="noStrike">
                          <a:solidFill>
                            <a:srgbClr val="000000"/>
                          </a:solidFill>
                          <a:effectLst/>
                          <a:latin typeface="Aptos Narrow" panose="020B0004020202020204" pitchFamily="34" charset="0"/>
                        </a:rPr>
                        <a:t>5/26/26 - Preliminary budgetary estimate in conversation with Kiran </a:t>
                      </a:r>
                      <a:r>
                        <a:rPr lang="en-US" sz="1000" b="0"/>
                        <a:t>EIN/EID search in GIN: appears to be a new search-field capability using data already in GIN</a:t>
                      </a:r>
                      <a:r>
                        <a:rPr lang="en-US" sz="1000" b="0" i="0" u="none" strike="noStrike">
                          <a:solidFill>
                            <a:srgbClr val="000000"/>
                          </a:solidFill>
                          <a:effectLst/>
                          <a:latin typeface="Aptos Narrow" panose="020B0004020202020204" pitchFamily="34" charset="0"/>
                        </a:rPr>
                        <a:t>.  If approved, planning team will complete documentation needed to move to build. </a:t>
                      </a:r>
                    </a:p>
                  </a:txBody>
                  <a:tcPr marL="45720" marR="45720" anchor="ctr">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extLst>
                  <a:ext uri="{0D108BD9-81ED-4DB2-BD59-A6C34878D82A}">
                    <a16:rowId xmlns:a16="http://schemas.microsoft.com/office/drawing/2014/main" val="1492022150"/>
                  </a:ext>
                </a:extLst>
              </a:tr>
              <a:tr h="533280">
                <a:tc>
                  <a:txBody>
                    <a:bodyPr/>
                    <a:lstStyle/>
                    <a:p>
                      <a:pPr algn="l" fontAlgn="b">
                        <a:buNone/>
                      </a:pPr>
                      <a:r>
                        <a:rPr lang="en-US" sz="1000" b="1" i="0" u="none" strike="noStrike" err="1">
                          <a:solidFill>
                            <a:srgbClr val="000000"/>
                          </a:solidFill>
                          <a:effectLst/>
                          <a:latin typeface="Aptos Narrow" panose="020B0004020202020204" pitchFamily="34" charset="0"/>
                        </a:rPr>
                        <a:t>Tshirt</a:t>
                      </a:r>
                      <a:r>
                        <a:rPr lang="en-US" sz="1000" b="1" i="0" u="none" strike="noStrike">
                          <a:solidFill>
                            <a:srgbClr val="000000"/>
                          </a:solidFill>
                          <a:effectLst/>
                          <a:latin typeface="Aptos Narrow" panose="020B0004020202020204" pitchFamily="34" charset="0"/>
                        </a:rPr>
                        <a:t> est for MPPC Refresh – High Priority</a:t>
                      </a:r>
                    </a:p>
                  </a:txBody>
                  <a:tcPr marL="45720" marR="45720" anchor="ctr">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algn="ctr" fontAlgn="b">
                        <a:buNone/>
                      </a:pPr>
                      <a:r>
                        <a:rPr lang="en-US" sz="1000" b="0" i="0" u="none" strike="noStrike">
                          <a:solidFill>
                            <a:srgbClr val="000000"/>
                          </a:solidFill>
                          <a:effectLst/>
                          <a:latin typeface="Aptos Narrow" panose="020B0004020202020204" pitchFamily="34" charset="0"/>
                        </a:rPr>
                        <a:t>H-1</a:t>
                      </a:r>
                    </a:p>
                  </a:txBody>
                  <a:tcPr marL="45720" marR="45720" anchor="ctr">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algn="ctr" fontAlgn="b">
                        <a:buNone/>
                      </a:pPr>
                      <a:r>
                        <a:rPr lang="en-US" sz="900" b="0" i="0" u="none" strike="noStrike">
                          <a:solidFill>
                            <a:srgbClr val="000000"/>
                          </a:solidFill>
                          <a:effectLst/>
                          <a:latin typeface="Aptos Narrow" panose="020B0004020202020204" pitchFamily="34" charset="0"/>
                        </a:rPr>
                        <a:t>Variable – emailed to stakeholders</a:t>
                      </a:r>
                    </a:p>
                  </a:txBody>
                  <a:tcPr marL="45720" marR="45720" anchor="ctr">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algn="ctr" fontAlgn="b">
                        <a:buNone/>
                      </a:pPr>
                      <a:r>
                        <a:rPr lang="en-US" sz="900" b="0" i="0" u="none" strike="noStrike">
                          <a:solidFill>
                            <a:srgbClr val="000000"/>
                          </a:solidFill>
                          <a:effectLst/>
                          <a:latin typeface="Aptos Narrow" panose="020B0004020202020204" pitchFamily="34" charset="0"/>
                        </a:rPr>
                        <a:t>SS, AT, EW, PR</a:t>
                      </a:r>
                    </a:p>
                  </a:txBody>
                  <a:tcPr marL="45720" marR="45720" anchor="ctr">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algn="ctr" fontAlgn="b">
                        <a:buNone/>
                      </a:pPr>
                      <a:r>
                        <a:rPr lang="en-US" sz="900" b="0" i="0" u="none" strike="noStrike">
                          <a:solidFill>
                            <a:srgbClr val="000000"/>
                          </a:solidFill>
                          <a:effectLst/>
                          <a:latin typeface="Aptos Narrow" panose="020B0004020202020204" pitchFamily="34" charset="0"/>
                        </a:rPr>
                        <a:t>NA</a:t>
                      </a:r>
                    </a:p>
                  </a:txBody>
                  <a:tcPr marL="45720" marR="45720" anchor="ctr">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algn="ctr" fontAlgn="b">
                        <a:buNone/>
                      </a:pPr>
                      <a:r>
                        <a:rPr lang="en-US" sz="900" b="0" i="0" u="none" strike="noStrike">
                          <a:solidFill>
                            <a:srgbClr val="000000"/>
                          </a:solidFill>
                          <a:effectLst/>
                          <a:latin typeface="Aptos Narrow" panose="020B0004020202020204" pitchFamily="34" charset="0"/>
                        </a:rPr>
                        <a:t>6/5/2026</a:t>
                      </a:r>
                    </a:p>
                  </a:txBody>
                  <a:tcPr marL="45720" marR="45720" anchor="ctr">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Aptos Narrow" panose="020B0004020202020204" pitchFamily="34" charset="0"/>
                          <a:ea typeface="+mn-ea"/>
                          <a:cs typeface="+mn-cs"/>
                        </a:rPr>
                        <a:t>Pending </a:t>
                      </a:r>
                    </a:p>
                  </a:txBody>
                  <a:tcPr marL="45720" marR="45720" anchor="ctr">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algn="l" fontAlgn="b">
                        <a:buNone/>
                      </a:pPr>
                      <a:r>
                        <a:rPr lang="en-US" sz="1000" b="0" i="0" u="none" strike="noStrike">
                          <a:solidFill>
                            <a:srgbClr val="000000"/>
                          </a:solidFill>
                          <a:effectLst/>
                          <a:latin typeface="Aptos Narrow" panose="020B0004020202020204" pitchFamily="34" charset="0"/>
                        </a:rPr>
                        <a:t>6/5/26 - Provided budgetary estimate  for High Priority MPPC Product refresh scenarios to </a:t>
                      </a:r>
                      <a:r>
                        <a:rPr lang="en-US" sz="1000" b="0" i="0" u="none" strike="noStrike" err="1">
                          <a:solidFill>
                            <a:srgbClr val="000000"/>
                          </a:solidFill>
                          <a:effectLst/>
                          <a:latin typeface="Aptos Narrow" panose="020B0004020202020204" pitchFamily="34" charset="0"/>
                        </a:rPr>
                        <a:t>OpEX</a:t>
                      </a:r>
                      <a:r>
                        <a:rPr lang="en-US" sz="1000" b="0" i="0" u="none" strike="noStrike">
                          <a:solidFill>
                            <a:srgbClr val="000000"/>
                          </a:solidFill>
                          <a:effectLst/>
                          <a:latin typeface="Aptos Narrow" panose="020B0004020202020204" pitchFamily="34" charset="0"/>
                        </a:rPr>
                        <a:t> and Product requestors.  </a:t>
                      </a:r>
                    </a:p>
                  </a:txBody>
                  <a:tcPr marL="45720" marR="45720" anchor="ctr">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extLst>
                  <a:ext uri="{0D108BD9-81ED-4DB2-BD59-A6C34878D82A}">
                    <a16:rowId xmlns:a16="http://schemas.microsoft.com/office/drawing/2014/main" val="217929367"/>
                  </a:ext>
                </a:extLst>
              </a:tr>
              <a:tr h="533280">
                <a:tc>
                  <a:txBody>
                    <a:bodyPr/>
                    <a:lstStyle/>
                    <a:p>
                      <a:pPr algn="l" fontAlgn="b">
                        <a:buNone/>
                      </a:pPr>
                      <a:r>
                        <a:rPr lang="en-US" sz="1000" b="0" i="0" u="none" strike="noStrike" err="1">
                          <a:solidFill>
                            <a:srgbClr val="000000"/>
                          </a:solidFill>
                          <a:effectLst/>
                          <a:latin typeface="Aptos Narrow" panose="020B0004020202020204" pitchFamily="34" charset="0"/>
                        </a:rPr>
                        <a:t>Tshirt</a:t>
                      </a:r>
                      <a:r>
                        <a:rPr lang="en-US" sz="1000" b="0" i="0" u="none" strike="noStrike">
                          <a:solidFill>
                            <a:srgbClr val="000000"/>
                          </a:solidFill>
                          <a:effectLst/>
                          <a:latin typeface="Aptos Narrow" panose="020B0004020202020204" pitchFamily="34" charset="0"/>
                        </a:rPr>
                        <a:t> est for MPPC Refresh – Medium/Low</a:t>
                      </a:r>
                    </a:p>
                  </a:txBody>
                  <a:tcPr marL="45720" marR="45720" anchor="ctr">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algn="ctr" fontAlgn="b">
                        <a:buNone/>
                      </a:pPr>
                      <a:r>
                        <a:rPr lang="en-US" sz="1000" b="0" i="0" u="none" strike="noStrike">
                          <a:solidFill>
                            <a:srgbClr val="000000"/>
                          </a:solidFill>
                          <a:effectLst/>
                          <a:latin typeface="Aptos Narrow" panose="020B0004020202020204" pitchFamily="34" charset="0"/>
                        </a:rPr>
                        <a:t>H-1</a:t>
                      </a:r>
                    </a:p>
                  </a:txBody>
                  <a:tcPr marL="45720" marR="45720" anchor="ctr">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900" b="0" i="0" u="none" strike="noStrike">
                          <a:solidFill>
                            <a:srgbClr val="000000"/>
                          </a:solidFill>
                          <a:effectLst/>
                          <a:latin typeface="Aptos Narrow" panose="020B0004020202020204" pitchFamily="34" charset="0"/>
                        </a:rPr>
                        <a:t>Variable – emailed to stakeholders</a:t>
                      </a:r>
                    </a:p>
                    <a:p>
                      <a:pPr algn="l" fontAlgn="b">
                        <a:buNone/>
                      </a:pPr>
                      <a:endParaRPr lang="en-US" sz="900" b="0" i="0" u="none" strike="noStrike">
                        <a:solidFill>
                          <a:srgbClr val="000000"/>
                        </a:solidFill>
                        <a:effectLst/>
                        <a:latin typeface="Aptos Narrow" panose="020B0004020202020204" pitchFamily="34" charset="0"/>
                      </a:endParaRPr>
                    </a:p>
                  </a:txBody>
                  <a:tcPr marL="45720" marR="45720" anchor="ctr">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algn="ctr" fontAlgn="b">
                        <a:buNone/>
                      </a:pPr>
                      <a:r>
                        <a:rPr lang="en-US" sz="900" b="0" i="0" u="none" strike="noStrike">
                          <a:solidFill>
                            <a:srgbClr val="000000"/>
                          </a:solidFill>
                          <a:effectLst/>
                          <a:latin typeface="Aptos Narrow" panose="020B0004020202020204" pitchFamily="34" charset="0"/>
                        </a:rPr>
                        <a:t>SS, AT</a:t>
                      </a:r>
                    </a:p>
                  </a:txBody>
                  <a:tcPr marL="45720" marR="45720" anchor="ctr">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algn="l" fontAlgn="b">
                        <a:buNone/>
                      </a:pPr>
                      <a:r>
                        <a:rPr lang="en-US" sz="900" b="0" i="0" u="none" strike="noStrike">
                          <a:solidFill>
                            <a:srgbClr val="000000"/>
                          </a:solidFill>
                          <a:effectLst/>
                          <a:latin typeface="Aptos Narrow" panose="020B0004020202020204" pitchFamily="34" charset="0"/>
                        </a:rPr>
                        <a:t>NA</a:t>
                      </a:r>
                    </a:p>
                  </a:txBody>
                  <a:tcPr marL="45720" marR="45720" anchor="ctr">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algn="l" fontAlgn="b">
                        <a:buNone/>
                      </a:pPr>
                      <a:r>
                        <a:rPr lang="en-US" sz="900" b="0" i="0" u="none" strike="noStrike">
                          <a:solidFill>
                            <a:srgbClr val="000000"/>
                          </a:solidFill>
                          <a:effectLst/>
                          <a:latin typeface="Aptos Narrow" panose="020B0004020202020204" pitchFamily="34" charset="0"/>
                        </a:rPr>
                        <a:t>7/2/26</a:t>
                      </a:r>
                    </a:p>
                    <a:p>
                      <a:pPr algn="l" fontAlgn="b">
                        <a:buNone/>
                      </a:pPr>
                      <a:endParaRPr lang="en-US" sz="900" b="0" i="0" u="none" strike="noStrike">
                        <a:solidFill>
                          <a:srgbClr val="000000"/>
                        </a:solidFill>
                        <a:effectLst/>
                        <a:latin typeface="Aptos Narrow" panose="020B0004020202020204" pitchFamily="34" charset="0"/>
                      </a:endParaRPr>
                    </a:p>
                  </a:txBody>
                  <a:tcPr marL="45720" marR="45720" anchor="ctr">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Aptos Narrow" panose="020B0004020202020204" pitchFamily="34" charset="0"/>
                          <a:ea typeface="+mn-ea"/>
                          <a:cs typeface="+mn-cs"/>
                        </a:rPr>
                        <a:t>Pending </a:t>
                      </a:r>
                    </a:p>
                  </a:txBody>
                  <a:tcPr marL="45720" marR="45720" anchor="ctr">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algn="l" fontAlgn="b">
                        <a:buNone/>
                      </a:pPr>
                      <a:r>
                        <a:rPr lang="en-US" sz="1000" b="0" i="0" u="none" strike="noStrike">
                          <a:solidFill>
                            <a:srgbClr val="000000"/>
                          </a:solidFill>
                          <a:effectLst/>
                          <a:latin typeface="Aptos Narrow" panose="020B0004020202020204" pitchFamily="34" charset="0"/>
                        </a:rPr>
                        <a:t>6/22/26 – Medium and Low Scope items reduced from 9 items to 3. Completion targeted no later than the end of the month.</a:t>
                      </a:r>
                    </a:p>
                  </a:txBody>
                  <a:tcPr marL="45720" marR="45720" anchor="ctr">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extLst>
                  <a:ext uri="{0D108BD9-81ED-4DB2-BD59-A6C34878D82A}">
                    <a16:rowId xmlns:a16="http://schemas.microsoft.com/office/drawing/2014/main" val="3849716150"/>
                  </a:ext>
                </a:extLst>
              </a:tr>
              <a:tr h="533280">
                <a:tc>
                  <a:txBody>
                    <a:bodyPr/>
                    <a:lstStyle/>
                    <a:p>
                      <a:pPr marL="0" algn="l" defTabSz="914400" rtl="0" eaLnBrk="1" fontAlgn="b" latinLnBrk="0" hangingPunct="1">
                        <a:buNone/>
                      </a:pPr>
                      <a:r>
                        <a:rPr lang="en-US" sz="1000" b="1" i="0" u="none" strike="noStrike" kern="1200">
                          <a:solidFill>
                            <a:srgbClr val="000000"/>
                          </a:solidFill>
                          <a:effectLst/>
                          <a:latin typeface="Aptos Narrow" panose="020B0004020202020204" pitchFamily="34" charset="0"/>
                          <a:ea typeface="+mn-ea"/>
                          <a:cs typeface="+mn-cs"/>
                        </a:rPr>
                        <a:t>DNS &amp; Registration Updates from Moniker to </a:t>
                      </a:r>
                      <a:r>
                        <a:rPr lang="en-US" sz="1000" b="1" i="0" u="none" strike="noStrike" kern="1200" err="1">
                          <a:solidFill>
                            <a:srgbClr val="000000"/>
                          </a:solidFill>
                          <a:effectLst/>
                          <a:latin typeface="Aptos Narrow" panose="020B0004020202020204" pitchFamily="34" charset="0"/>
                          <a:ea typeface="+mn-ea"/>
                          <a:cs typeface="+mn-cs"/>
                        </a:rPr>
                        <a:t>CSCGlobal</a:t>
                      </a:r>
                      <a:endParaRPr lang="en-US" sz="1000" b="1" i="0" u="none" strike="noStrike" kern="1200">
                        <a:solidFill>
                          <a:srgbClr val="000000"/>
                        </a:solidFill>
                        <a:effectLst/>
                        <a:latin typeface="Aptos Narrow" panose="020B0004020202020204" pitchFamily="34" charset="0"/>
                        <a:ea typeface="+mn-ea"/>
                        <a:cs typeface="+mn-cs"/>
                      </a:endParaRPr>
                    </a:p>
                  </a:txBody>
                  <a:tcPr marL="0" marR="0" marT="0" marB="0" anchor="ctr">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marL="0" algn="ctr" defTabSz="914400" rtl="0" eaLnBrk="1" fontAlgn="b" latinLnBrk="0" hangingPunct="1">
                        <a:buNone/>
                      </a:pPr>
                      <a:r>
                        <a:rPr lang="en-US" sz="1000" b="0" i="0" u="none" strike="noStrike" kern="1200">
                          <a:solidFill>
                            <a:srgbClr val="000000"/>
                          </a:solidFill>
                          <a:effectLst/>
                          <a:latin typeface="Aptos Narrow" panose="020B0004020202020204" pitchFamily="34" charset="0"/>
                          <a:ea typeface="+mn-ea"/>
                          <a:cs typeface="+mn-cs"/>
                        </a:rPr>
                        <a:t>(blank)</a:t>
                      </a:r>
                    </a:p>
                  </a:txBody>
                  <a:tcPr marL="0" marR="0" marT="0" marB="0" anchor="ctr">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marL="0" algn="ctr" defTabSz="914400" rtl="0" eaLnBrk="1" fontAlgn="b" latinLnBrk="0" hangingPunct="1">
                        <a:buNone/>
                      </a:pPr>
                      <a:r>
                        <a:rPr lang="en-US" sz="1000" b="0" i="0" u="none" strike="noStrike" kern="1200">
                          <a:solidFill>
                            <a:srgbClr val="000000"/>
                          </a:solidFill>
                          <a:effectLst/>
                          <a:latin typeface="Aptos Narrow" panose="020B0004020202020204" pitchFamily="34" charset="0"/>
                          <a:ea typeface="+mn-ea"/>
                          <a:cs typeface="+mn-cs"/>
                        </a:rPr>
                        <a:t>2XS $10K - $50K / 111 - 556 </a:t>
                      </a:r>
                      <a:r>
                        <a:rPr lang="en-US" sz="1000" b="0" i="0" u="none" strike="noStrike" kern="1200" err="1">
                          <a:solidFill>
                            <a:srgbClr val="000000"/>
                          </a:solidFill>
                          <a:effectLst/>
                          <a:latin typeface="Aptos Narrow" panose="020B0004020202020204" pitchFamily="34" charset="0"/>
                          <a:ea typeface="+mn-ea"/>
                          <a:cs typeface="+mn-cs"/>
                        </a:rPr>
                        <a:t>Hrs</a:t>
                      </a:r>
                      <a:endParaRPr lang="en-US" sz="1000" b="0" i="0" u="none" strike="noStrike" kern="1200">
                        <a:solidFill>
                          <a:srgbClr val="000000"/>
                        </a:solidFill>
                        <a:effectLst/>
                        <a:latin typeface="Aptos Narrow" panose="020B0004020202020204" pitchFamily="34" charset="0"/>
                        <a:ea typeface="+mn-ea"/>
                        <a:cs typeface="+mn-cs"/>
                      </a:endParaRPr>
                    </a:p>
                  </a:txBody>
                  <a:tcPr marL="0" marR="0" marT="0" marB="0" anchor="ctr">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marL="0" algn="ctr" defTabSz="914400" rtl="0" eaLnBrk="1" fontAlgn="b" latinLnBrk="0" hangingPunct="1">
                        <a:buNone/>
                      </a:pPr>
                      <a:r>
                        <a:rPr lang="en-US" sz="1000" b="0" i="0" u="none" strike="noStrike" kern="1200">
                          <a:solidFill>
                            <a:srgbClr val="000000"/>
                          </a:solidFill>
                          <a:effectLst/>
                          <a:latin typeface="Aptos Narrow" panose="020B0004020202020204" pitchFamily="34" charset="0"/>
                          <a:ea typeface="+mn-ea"/>
                          <a:cs typeface="+mn-cs"/>
                        </a:rPr>
                        <a:t>No Pet IT</a:t>
                      </a:r>
                    </a:p>
                  </a:txBody>
                  <a:tcPr marL="0" marR="0" marT="0" marB="0" anchor="ctr">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marL="0" algn="ctr" defTabSz="914400" rtl="0" eaLnBrk="1" fontAlgn="b" latinLnBrk="0" hangingPunct="1">
                        <a:buNone/>
                      </a:pPr>
                      <a:r>
                        <a:rPr lang="en-US" sz="1000" b="0" i="0" u="none" strike="noStrike" kern="1200">
                          <a:solidFill>
                            <a:srgbClr val="000000"/>
                          </a:solidFill>
                          <a:effectLst/>
                          <a:latin typeface="Aptos Narrow" panose="020B0004020202020204" pitchFamily="34" charset="0"/>
                          <a:ea typeface="+mn-ea"/>
                          <a:cs typeface="+mn-cs"/>
                        </a:rPr>
                        <a:t>6/5/2026</a:t>
                      </a:r>
                    </a:p>
                  </a:txBody>
                  <a:tcPr marL="0" marR="0" marT="0" marB="0" anchor="ctr">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marL="0" algn="ctr" defTabSz="914400" rtl="0" eaLnBrk="1" fontAlgn="b" latinLnBrk="0" hangingPunct="1">
                        <a:buNone/>
                      </a:pPr>
                      <a:r>
                        <a:rPr lang="en-US" sz="1000" b="0" i="0" u="none" strike="noStrike" kern="1200">
                          <a:solidFill>
                            <a:srgbClr val="000000"/>
                          </a:solidFill>
                          <a:effectLst/>
                          <a:latin typeface="Aptos Narrow" panose="020B0004020202020204" pitchFamily="34" charset="0"/>
                          <a:ea typeface="+mn-ea"/>
                          <a:cs typeface="+mn-cs"/>
                        </a:rPr>
                        <a:t>6/5/2026</a:t>
                      </a:r>
                    </a:p>
                  </a:txBody>
                  <a:tcPr marL="0" marR="0" marT="0" marB="0" anchor="ctr">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marL="0" algn="ctr" defTabSz="914400" rtl="0" eaLnBrk="1" fontAlgn="b" latinLnBrk="0" hangingPunct="1">
                        <a:buNone/>
                      </a:pPr>
                      <a:r>
                        <a:rPr lang="en-US" sz="1000" b="0" i="0" u="none" strike="noStrike" kern="1200">
                          <a:solidFill>
                            <a:srgbClr val="000000"/>
                          </a:solidFill>
                          <a:effectLst/>
                          <a:latin typeface="Aptos Narrow" panose="020B0004020202020204" pitchFamily="34" charset="0"/>
                          <a:ea typeface="+mn-ea"/>
                          <a:cs typeface="+mn-cs"/>
                        </a:rPr>
                        <a:t>Pending</a:t>
                      </a:r>
                    </a:p>
                  </a:txBody>
                  <a:tcPr marL="0" marR="0" marT="0" marB="0" anchor="ctr">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algn="l" fontAlgn="b">
                        <a:buNone/>
                      </a:pPr>
                      <a:r>
                        <a:rPr lang="en-US" sz="1000" b="0" i="0" u="none" strike="noStrike">
                          <a:solidFill>
                            <a:srgbClr val="000000"/>
                          </a:solidFill>
                          <a:effectLst/>
                          <a:latin typeface="Aptos Narrow" panose="020B0004020202020204" pitchFamily="34" charset="0"/>
                        </a:rPr>
                        <a:t>6/5/26 - No IT Involvement - </a:t>
                      </a:r>
                      <a:r>
                        <a:rPr lang="en-US" sz="1000" b="0" i="0" u="none" strike="noStrike" err="1">
                          <a:solidFill>
                            <a:srgbClr val="000000"/>
                          </a:solidFill>
                          <a:effectLst/>
                          <a:latin typeface="Aptos Narrow" panose="020B0004020202020204" pitchFamily="34" charset="0"/>
                        </a:rPr>
                        <a:t>CSCGlobal</a:t>
                      </a:r>
                      <a:r>
                        <a:rPr lang="en-US" sz="1000" b="0" i="0" u="none" strike="noStrike">
                          <a:solidFill>
                            <a:srgbClr val="000000"/>
                          </a:solidFill>
                          <a:effectLst/>
                          <a:latin typeface="Aptos Narrow" panose="020B0004020202020204" pitchFamily="34" charset="0"/>
                        </a:rPr>
                        <a:t> provided estimate (Non Pet Labor) is $50,220.  Once budget center approved, </a:t>
                      </a:r>
                      <a:r>
                        <a:rPr lang="en-US" sz="1000" b="0" i="0" u="none" strike="noStrike" err="1">
                          <a:solidFill>
                            <a:srgbClr val="000000"/>
                          </a:solidFill>
                          <a:effectLst/>
                          <a:latin typeface="Aptos Narrow" panose="020B0004020202020204" pitchFamily="34" charset="0"/>
                        </a:rPr>
                        <a:t>CSCGlobal</a:t>
                      </a:r>
                      <a:r>
                        <a:rPr lang="en-US" sz="1000" b="0" i="0" u="none" strike="noStrike">
                          <a:solidFill>
                            <a:srgbClr val="000000"/>
                          </a:solidFill>
                          <a:effectLst/>
                          <a:latin typeface="Aptos Narrow" panose="020B0004020202020204" pitchFamily="34" charset="0"/>
                        </a:rPr>
                        <a:t> contact and Digital Marketing can begin coordinating migration.  </a:t>
                      </a:r>
                      <a:r>
                        <a:rPr lang="en-US" sz="1000" b="0" i="0" u="none" strike="noStrike">
                          <a:solidFill>
                            <a:srgbClr val="000000"/>
                          </a:solidFill>
                          <a:effectLst/>
                          <a:highlight>
                            <a:srgbClr val="FFFF00"/>
                          </a:highlight>
                          <a:latin typeface="Aptos Narrow" panose="020B0004020202020204" pitchFamily="34" charset="0"/>
                        </a:rPr>
                        <a:t>Need an </a:t>
                      </a:r>
                      <a:r>
                        <a:rPr lang="en-US" sz="1000" b="0" i="0" u="none" strike="noStrike" err="1">
                          <a:solidFill>
                            <a:srgbClr val="000000"/>
                          </a:solidFill>
                          <a:effectLst/>
                          <a:highlight>
                            <a:srgbClr val="FFFF00"/>
                          </a:highlight>
                          <a:latin typeface="Aptos Narrow" panose="020B0004020202020204" pitchFamily="34" charset="0"/>
                        </a:rPr>
                        <a:t>OpEx</a:t>
                      </a:r>
                      <a:r>
                        <a:rPr lang="en-US" sz="1000" b="0" i="0" u="none" strike="noStrike">
                          <a:solidFill>
                            <a:srgbClr val="000000"/>
                          </a:solidFill>
                          <a:effectLst/>
                          <a:highlight>
                            <a:srgbClr val="FFFF00"/>
                          </a:highlight>
                          <a:latin typeface="Aptos Narrow" panose="020B0004020202020204" pitchFamily="34" charset="0"/>
                        </a:rPr>
                        <a:t> decision as to funding source and whether this will be funded from Portfolio or Marketing Business Dept Code.</a:t>
                      </a:r>
                    </a:p>
                  </a:txBody>
                  <a:tcPr marL="45720" marR="45720" anchor="ctr">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extLst>
                  <a:ext uri="{0D108BD9-81ED-4DB2-BD59-A6C34878D82A}">
                    <a16:rowId xmlns:a16="http://schemas.microsoft.com/office/drawing/2014/main" val="2194269943"/>
                  </a:ext>
                </a:extLst>
              </a:tr>
              <a:tr h="533280">
                <a:tc>
                  <a:txBody>
                    <a:bodyPr/>
                    <a:lstStyle/>
                    <a:p>
                      <a:pPr marL="0" algn="l" defTabSz="914400" rtl="0" eaLnBrk="1" fontAlgn="b" latinLnBrk="0" hangingPunct="1">
                        <a:buNone/>
                      </a:pPr>
                      <a:r>
                        <a:rPr lang="en-US" sz="1000" b="1" i="0" u="none" strike="noStrike" kern="1200">
                          <a:solidFill>
                            <a:srgbClr val="000000"/>
                          </a:solidFill>
                          <a:effectLst/>
                          <a:latin typeface="Aptos Narrow" panose="020B0004020202020204" pitchFamily="34" charset="0"/>
                          <a:ea typeface="+mn-ea"/>
                          <a:cs typeface="+mn-cs"/>
                        </a:rPr>
                        <a:t>Create an agent to manage data quality issue submission from business</a:t>
                      </a:r>
                    </a:p>
                  </a:txBody>
                  <a:tcPr marL="0" marR="0" marT="0" marB="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marL="0" algn="l" defTabSz="914400" rtl="0" eaLnBrk="1" fontAlgn="b" latinLnBrk="0" hangingPunct="1">
                        <a:buNone/>
                      </a:pPr>
                      <a:r>
                        <a:rPr lang="en-US" sz="1000" b="0" i="0" u="none" strike="noStrike" kern="1200">
                          <a:solidFill>
                            <a:srgbClr val="000000"/>
                          </a:solidFill>
                          <a:effectLst/>
                          <a:latin typeface="Aptos Narrow" panose="020B0004020202020204" pitchFamily="34" charset="0"/>
                          <a:ea typeface="+mn-ea"/>
                          <a:cs typeface="+mn-cs"/>
                        </a:rPr>
                        <a:t>6</a:t>
                      </a:r>
                    </a:p>
                  </a:txBody>
                  <a:tcPr marL="0" marR="0" marT="0" marB="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000" b="0" i="0" u="none" strike="noStrike" kern="1200">
                          <a:solidFill>
                            <a:srgbClr val="000000"/>
                          </a:solidFill>
                          <a:effectLst/>
                          <a:latin typeface="Aptos Narrow" panose="020B0004020202020204" pitchFamily="34" charset="0"/>
                          <a:ea typeface="+mn-ea"/>
                          <a:cs typeface="+mn-cs"/>
                        </a:rPr>
                        <a:t>2XS $10K - $50K / 111 - 556 </a:t>
                      </a:r>
                      <a:r>
                        <a:rPr lang="en-US" sz="1000" b="0" i="0" u="none" strike="noStrike" kern="1200" err="1">
                          <a:solidFill>
                            <a:srgbClr val="000000"/>
                          </a:solidFill>
                          <a:effectLst/>
                          <a:latin typeface="Aptos Narrow" panose="020B0004020202020204" pitchFamily="34" charset="0"/>
                          <a:ea typeface="+mn-ea"/>
                          <a:cs typeface="+mn-cs"/>
                        </a:rPr>
                        <a:t>Hrs</a:t>
                      </a:r>
                      <a:endParaRPr lang="en-US" sz="1000" b="0" i="0" u="none" strike="noStrike" kern="1200">
                        <a:solidFill>
                          <a:srgbClr val="000000"/>
                        </a:solidFill>
                        <a:effectLst/>
                        <a:latin typeface="Aptos Narrow" panose="020B0004020202020204" pitchFamily="34" charset="0"/>
                        <a:ea typeface="+mn-ea"/>
                        <a:cs typeface="+mn-cs"/>
                      </a:endParaRPr>
                    </a:p>
                    <a:p>
                      <a:pPr marL="0" algn="l" defTabSz="914400" rtl="0" eaLnBrk="1" fontAlgn="b" latinLnBrk="0" hangingPunct="1">
                        <a:buNone/>
                      </a:pPr>
                      <a:endParaRPr lang="en-US" sz="1000" b="0" i="0" u="none" strike="noStrike" kern="1200">
                        <a:solidFill>
                          <a:srgbClr val="000000"/>
                        </a:solidFill>
                        <a:effectLst/>
                        <a:latin typeface="Aptos Narrow" panose="020B0004020202020204" pitchFamily="34" charset="0"/>
                        <a:ea typeface="+mn-ea"/>
                        <a:cs typeface="+mn-cs"/>
                      </a:endParaRPr>
                    </a:p>
                  </a:txBody>
                  <a:tcPr marL="0" marR="0" marT="0" marB="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marL="0" algn="ctr" defTabSz="914400" rtl="0" eaLnBrk="1" fontAlgn="b" latinLnBrk="0" hangingPunct="1">
                        <a:buNone/>
                      </a:pPr>
                      <a:r>
                        <a:rPr lang="en-US" sz="1000" b="0" i="0" u="none" strike="noStrike" kern="1200">
                          <a:solidFill>
                            <a:srgbClr val="000000"/>
                          </a:solidFill>
                          <a:effectLst/>
                          <a:latin typeface="Aptos Narrow" panose="020B0004020202020204" pitchFamily="34" charset="0"/>
                          <a:ea typeface="+mn-ea"/>
                          <a:cs typeface="+mn-cs"/>
                        </a:rPr>
                        <a:t>AT</a:t>
                      </a:r>
                    </a:p>
                  </a:txBody>
                  <a:tcPr marL="0" marR="0" marT="0" marB="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marL="0" algn="l" defTabSz="914400" rtl="0" eaLnBrk="1" fontAlgn="b" latinLnBrk="0" hangingPunct="1">
                        <a:buNone/>
                      </a:pPr>
                      <a:r>
                        <a:rPr lang="en-US" sz="1000" b="0" i="0" u="none" strike="noStrike" kern="1200">
                          <a:solidFill>
                            <a:srgbClr val="000000"/>
                          </a:solidFill>
                          <a:effectLst/>
                          <a:latin typeface="Aptos Narrow" panose="020B0004020202020204" pitchFamily="34" charset="0"/>
                          <a:ea typeface="+mn-ea"/>
                          <a:cs typeface="+mn-cs"/>
                        </a:rPr>
                        <a:t>6/2/26</a:t>
                      </a:r>
                    </a:p>
                  </a:txBody>
                  <a:tcPr marL="0" marR="0" marT="0" marB="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marL="0" algn="l" defTabSz="914400" rtl="0" eaLnBrk="1" fontAlgn="b" latinLnBrk="0" hangingPunct="1">
                        <a:buNone/>
                      </a:pPr>
                      <a:r>
                        <a:rPr lang="en-US" sz="1000" b="0" i="0" u="none" strike="noStrike" kern="1200">
                          <a:solidFill>
                            <a:srgbClr val="000000"/>
                          </a:solidFill>
                          <a:effectLst/>
                          <a:latin typeface="Aptos Narrow" panose="020B0004020202020204" pitchFamily="34" charset="0"/>
                          <a:ea typeface="+mn-ea"/>
                          <a:cs typeface="+mn-cs"/>
                        </a:rPr>
                        <a:t>6/23/202</a:t>
                      </a:r>
                    </a:p>
                  </a:txBody>
                  <a:tcPr marL="0" marR="0" marT="0" marB="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marL="0" algn="l" defTabSz="914400" rtl="0" eaLnBrk="1" fontAlgn="b" latinLnBrk="0" hangingPunct="1">
                        <a:buNone/>
                      </a:pPr>
                      <a:r>
                        <a:rPr lang="en-US" sz="1000" b="0" i="0" u="none" strike="noStrike" kern="1200">
                          <a:solidFill>
                            <a:srgbClr val="000000"/>
                          </a:solidFill>
                          <a:effectLst/>
                          <a:latin typeface="Aptos Narrow" panose="020B0004020202020204" pitchFamily="34" charset="0"/>
                          <a:ea typeface="+mn-ea"/>
                          <a:cs typeface="+mn-cs"/>
                        </a:rPr>
                        <a:t>Pending</a:t>
                      </a:r>
                    </a:p>
                  </a:txBody>
                  <a:tcPr marL="0" marR="0" marT="0" marB="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algn="l" fontAlgn="b">
                        <a:buNone/>
                      </a:pPr>
                      <a:r>
                        <a:rPr lang="en-US" sz="1100" b="0" i="0" u="none" strike="noStrike">
                          <a:solidFill>
                            <a:srgbClr val="000000"/>
                          </a:solidFill>
                          <a:effectLst/>
                          <a:latin typeface="Aptos Narrow" panose="020B0004020202020204" pitchFamily="34" charset="0"/>
                        </a:rPr>
                        <a:t>6/23/26 – Estimated as an iterative build using a resource to design, build, test and iterate on agent capabilities to meet scope, including creating an operational B2R approach</a:t>
                      </a:r>
                    </a:p>
                  </a:txBody>
                  <a:tcPr marL="0" marR="0" marT="0" marB="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extLst>
                  <a:ext uri="{0D108BD9-81ED-4DB2-BD59-A6C34878D82A}">
                    <a16:rowId xmlns:a16="http://schemas.microsoft.com/office/drawing/2014/main" val="4119783682"/>
                  </a:ext>
                </a:extLst>
              </a:tr>
            </a:tbl>
          </a:graphicData>
        </a:graphic>
      </p:graphicFrame>
      <p:sp>
        <p:nvSpPr>
          <p:cNvPr id="5" name="TextBox 4">
            <a:extLst>
              <a:ext uri="{FF2B5EF4-FFF2-40B4-BE49-F238E27FC236}">
                <a16:creationId xmlns:a16="http://schemas.microsoft.com/office/drawing/2014/main" id="{24B61576-C7DA-F043-DC8B-C554798D2BF7}"/>
              </a:ext>
            </a:extLst>
          </p:cNvPr>
          <p:cNvSpPr txBox="1"/>
          <p:nvPr/>
        </p:nvSpPr>
        <p:spPr>
          <a:xfrm>
            <a:off x="302101" y="491171"/>
            <a:ext cx="9763812" cy="338554"/>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Aptos" panose="02110004020202020204"/>
                <a:ea typeface="+mn-ea"/>
                <a:cs typeface="+mn-cs"/>
              </a:rPr>
              <a:t>17 total items pending funding and prioritization </a:t>
            </a:r>
            <a:r>
              <a:rPr lang="en-US" sz="1600">
                <a:solidFill>
                  <a:prstClr val="black"/>
                </a:solidFill>
                <a:latin typeface="Aptos" panose="02110004020202020204"/>
              </a:rPr>
              <a:t>p</a:t>
            </a:r>
            <a:r>
              <a:rPr kumimoji="0" lang="en-US" sz="1600" b="0" i="0" u="none" strike="noStrike" kern="1200" cap="none" spc="0" normalizeH="0" baseline="0" noProof="0">
                <a:ln>
                  <a:noFill/>
                </a:ln>
                <a:solidFill>
                  <a:prstClr val="black"/>
                </a:solidFill>
                <a:effectLst/>
                <a:uLnTx/>
                <a:uFillTx/>
                <a:latin typeface="Aptos" panose="02110004020202020204"/>
                <a:ea typeface="+mn-ea"/>
                <a:cs typeface="+mn-cs"/>
              </a:rPr>
              <a:t>ending </a:t>
            </a:r>
            <a:r>
              <a:rPr lang="en-US" sz="1600">
                <a:solidFill>
                  <a:prstClr val="black"/>
                </a:solidFill>
                <a:latin typeface="Aptos" panose="02110004020202020204"/>
              </a:rPr>
              <a:t>m</a:t>
            </a:r>
            <a:r>
              <a:rPr kumimoji="0" lang="en-US" sz="1600" b="0" i="0" u="none" strike="noStrike" kern="1200" cap="none" spc="0" normalizeH="0" baseline="0" noProof="0">
                <a:ln>
                  <a:noFill/>
                </a:ln>
                <a:solidFill>
                  <a:prstClr val="black"/>
                </a:solidFill>
                <a:effectLst/>
                <a:uLnTx/>
                <a:uFillTx/>
                <a:latin typeface="Aptos" panose="02110004020202020204"/>
                <a:ea typeface="+mn-ea"/>
                <a:cs typeface="+mn-cs"/>
              </a:rPr>
              <a:t>ajor build project estimate submittal</a:t>
            </a:r>
            <a:endParaRPr lang="en-US" sz="1600" b="0" i="0" u="none" strike="noStrike" kern="1200" cap="none" spc="0" normalizeH="0" baseline="0" noProof="0">
              <a:ln>
                <a:noFill/>
              </a:ln>
              <a:solidFill>
                <a:prstClr val="black"/>
              </a:solidFill>
              <a:effectLst/>
              <a:uLnTx/>
              <a:uFillTx/>
              <a:latin typeface="Aptos" panose="02110004020202020204"/>
            </a:endParaRPr>
          </a:p>
        </p:txBody>
      </p:sp>
      <p:grpSp>
        <p:nvGrpSpPr>
          <p:cNvPr id="3" name="Group 2">
            <a:extLst>
              <a:ext uri="{FF2B5EF4-FFF2-40B4-BE49-F238E27FC236}">
                <a16:creationId xmlns:a16="http://schemas.microsoft.com/office/drawing/2014/main" id="{A9ACB3FE-3B26-68C3-7280-B290084325B5}"/>
              </a:ext>
            </a:extLst>
          </p:cNvPr>
          <p:cNvGrpSpPr/>
          <p:nvPr/>
        </p:nvGrpSpPr>
        <p:grpSpPr>
          <a:xfrm>
            <a:off x="9049412" y="3"/>
            <a:ext cx="3014941" cy="998232"/>
            <a:chOff x="7996335" y="4089215"/>
            <a:chExt cx="3004322" cy="1323375"/>
          </a:xfrm>
        </p:grpSpPr>
        <p:pic>
          <p:nvPicPr>
            <p:cNvPr id="6" name="Picture 5">
              <a:extLst>
                <a:ext uri="{FF2B5EF4-FFF2-40B4-BE49-F238E27FC236}">
                  <a16:creationId xmlns:a16="http://schemas.microsoft.com/office/drawing/2014/main" id="{F75D128C-6013-B609-2FF3-CC27C418C96F}"/>
                </a:ext>
              </a:extLst>
            </p:cNvPr>
            <p:cNvPicPr>
              <a:picLocks noChangeAspect="1"/>
            </p:cNvPicPr>
            <p:nvPr/>
          </p:nvPicPr>
          <p:blipFill>
            <a:blip r:embed="rId2"/>
            <a:stretch>
              <a:fillRect/>
            </a:stretch>
          </p:blipFill>
          <p:spPr>
            <a:xfrm>
              <a:off x="9671548" y="4926763"/>
              <a:ext cx="816808" cy="485827"/>
            </a:xfrm>
            <a:prstGeom prst="rect">
              <a:avLst/>
            </a:prstGeom>
          </p:spPr>
        </p:pic>
        <p:pic>
          <p:nvPicPr>
            <p:cNvPr id="7" name="Picture 6">
              <a:extLst>
                <a:ext uri="{FF2B5EF4-FFF2-40B4-BE49-F238E27FC236}">
                  <a16:creationId xmlns:a16="http://schemas.microsoft.com/office/drawing/2014/main" id="{1E2957DB-40BD-8124-76FE-1DB6B81BC6A5}"/>
                </a:ext>
              </a:extLst>
            </p:cNvPr>
            <p:cNvPicPr>
              <a:picLocks noChangeAspect="1"/>
            </p:cNvPicPr>
            <p:nvPr/>
          </p:nvPicPr>
          <p:blipFill>
            <a:blip r:embed="rId3"/>
            <a:stretch>
              <a:fillRect/>
            </a:stretch>
          </p:blipFill>
          <p:spPr>
            <a:xfrm>
              <a:off x="7996335" y="4089215"/>
              <a:ext cx="3004322" cy="1043764"/>
            </a:xfrm>
            <a:prstGeom prst="rect">
              <a:avLst/>
            </a:prstGeom>
          </p:spPr>
        </p:pic>
      </p:grpSp>
    </p:spTree>
    <p:extLst>
      <p:ext uri="{BB962C8B-B14F-4D97-AF65-F5344CB8AC3E}">
        <p14:creationId xmlns:p14="http://schemas.microsoft.com/office/powerpoint/2010/main" val="203416404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7BC7D9-D474-F7FE-4C8E-F88ED45A0A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D3B906-8EB1-FF01-024D-81529EDAE795}"/>
              </a:ext>
            </a:extLst>
          </p:cNvPr>
          <p:cNvSpPr>
            <a:spLocks noGrp="1"/>
          </p:cNvSpPr>
          <p:nvPr>
            <p:ph type="title"/>
          </p:nvPr>
        </p:nvSpPr>
        <p:spPr>
          <a:xfrm>
            <a:off x="197597" y="0"/>
            <a:ext cx="10515600" cy="653214"/>
          </a:xfrm>
        </p:spPr>
        <p:txBody>
          <a:bodyPr>
            <a:normAutofit/>
          </a:bodyPr>
          <a:lstStyle/>
          <a:p>
            <a:r>
              <a:rPr lang="en-US"/>
              <a:t>Pending Funding Backlog</a:t>
            </a:r>
          </a:p>
        </p:txBody>
      </p:sp>
      <p:graphicFrame>
        <p:nvGraphicFramePr>
          <p:cNvPr id="4" name="Table 3">
            <a:extLst>
              <a:ext uri="{FF2B5EF4-FFF2-40B4-BE49-F238E27FC236}">
                <a16:creationId xmlns:a16="http://schemas.microsoft.com/office/drawing/2014/main" id="{67048CDB-514E-9D1C-0CE1-F21FEA6E634A}"/>
              </a:ext>
            </a:extLst>
          </p:cNvPr>
          <p:cNvGraphicFramePr>
            <a:graphicFrameLocks noGrp="1"/>
          </p:cNvGraphicFramePr>
          <p:nvPr/>
        </p:nvGraphicFramePr>
        <p:xfrm>
          <a:off x="124120" y="769026"/>
          <a:ext cx="11943760" cy="6088974"/>
        </p:xfrm>
        <a:graphic>
          <a:graphicData uri="http://schemas.openxmlformats.org/drawingml/2006/table">
            <a:tbl>
              <a:tblPr>
                <a:tableStyleId>{5C22544A-7EE6-4342-B048-85BDC9FD1C3A}</a:tableStyleId>
              </a:tblPr>
              <a:tblGrid>
                <a:gridCol w="2199980">
                  <a:extLst>
                    <a:ext uri="{9D8B030D-6E8A-4147-A177-3AD203B41FA5}">
                      <a16:colId xmlns:a16="http://schemas.microsoft.com/office/drawing/2014/main" val="3471638855"/>
                    </a:ext>
                  </a:extLst>
                </a:gridCol>
                <a:gridCol w="561975">
                  <a:extLst>
                    <a:ext uri="{9D8B030D-6E8A-4147-A177-3AD203B41FA5}">
                      <a16:colId xmlns:a16="http://schemas.microsoft.com/office/drawing/2014/main" val="3028352674"/>
                    </a:ext>
                  </a:extLst>
                </a:gridCol>
                <a:gridCol w="1209675">
                  <a:extLst>
                    <a:ext uri="{9D8B030D-6E8A-4147-A177-3AD203B41FA5}">
                      <a16:colId xmlns:a16="http://schemas.microsoft.com/office/drawing/2014/main" val="1498653313"/>
                    </a:ext>
                  </a:extLst>
                </a:gridCol>
                <a:gridCol w="952500">
                  <a:extLst>
                    <a:ext uri="{9D8B030D-6E8A-4147-A177-3AD203B41FA5}">
                      <a16:colId xmlns:a16="http://schemas.microsoft.com/office/drawing/2014/main" val="3614004200"/>
                    </a:ext>
                  </a:extLst>
                </a:gridCol>
                <a:gridCol w="819150">
                  <a:extLst>
                    <a:ext uri="{9D8B030D-6E8A-4147-A177-3AD203B41FA5}">
                      <a16:colId xmlns:a16="http://schemas.microsoft.com/office/drawing/2014/main" val="426403746"/>
                    </a:ext>
                  </a:extLst>
                </a:gridCol>
                <a:gridCol w="861874">
                  <a:extLst>
                    <a:ext uri="{9D8B030D-6E8A-4147-A177-3AD203B41FA5}">
                      <a16:colId xmlns:a16="http://schemas.microsoft.com/office/drawing/2014/main" val="3578533005"/>
                    </a:ext>
                  </a:extLst>
                </a:gridCol>
                <a:gridCol w="728801">
                  <a:extLst>
                    <a:ext uri="{9D8B030D-6E8A-4147-A177-3AD203B41FA5}">
                      <a16:colId xmlns:a16="http://schemas.microsoft.com/office/drawing/2014/main" val="125616475"/>
                    </a:ext>
                  </a:extLst>
                </a:gridCol>
                <a:gridCol w="4609805">
                  <a:extLst>
                    <a:ext uri="{9D8B030D-6E8A-4147-A177-3AD203B41FA5}">
                      <a16:colId xmlns:a16="http://schemas.microsoft.com/office/drawing/2014/main" val="2731508636"/>
                    </a:ext>
                  </a:extLst>
                </a:gridCol>
              </a:tblGrid>
              <a:tr h="538556">
                <a:tc>
                  <a:txBody>
                    <a:bodyPr/>
                    <a:lstStyle/>
                    <a:p>
                      <a:pPr algn="ctr" fontAlgn="b">
                        <a:buNone/>
                      </a:pPr>
                      <a:r>
                        <a:rPr lang="en-US" sz="1100" u="none" strike="noStrike">
                          <a:solidFill>
                            <a:schemeClr val="tx1"/>
                          </a:solidFill>
                          <a:effectLst/>
                        </a:rPr>
                        <a:t>Description</a:t>
                      </a:r>
                      <a:endParaRPr lang="en-US" sz="1100" b="1" i="0" u="none" strike="noStrike">
                        <a:solidFill>
                          <a:schemeClr val="tx1"/>
                        </a:solidFill>
                        <a:effectLst/>
                        <a:latin typeface="Aptos Narrow" panose="020B0004020202020204" pitchFamily="34" charset="0"/>
                      </a:endParaRPr>
                    </a:p>
                  </a:txBody>
                  <a:tcPr marL="0" marR="0" marT="0" marB="0" anchor="b">
                    <a:lnB w="12700" cap="flat" cmpd="sng" algn="ctr">
                      <a:solidFill>
                        <a:srgbClr val="72B0BD"/>
                      </a:solidFill>
                      <a:prstDash val="solid"/>
                      <a:round/>
                      <a:headEnd type="none" w="med" len="med"/>
                      <a:tailEnd type="none" w="med" len="med"/>
                    </a:lnB>
                    <a:solidFill>
                      <a:schemeClr val="accent4">
                        <a:lumMod val="40000"/>
                        <a:lumOff val="60000"/>
                      </a:schemeClr>
                    </a:solidFill>
                  </a:tcPr>
                </a:tc>
                <a:tc>
                  <a:txBody>
                    <a:bodyPr/>
                    <a:lstStyle/>
                    <a:p>
                      <a:pPr algn="ctr" fontAlgn="b">
                        <a:buNone/>
                      </a:pPr>
                      <a:r>
                        <a:rPr lang="en-US" sz="1100" u="none" strike="noStrike" err="1">
                          <a:solidFill>
                            <a:schemeClr val="tx1"/>
                          </a:solidFill>
                          <a:effectLst/>
                        </a:rPr>
                        <a:t>OpEX</a:t>
                      </a:r>
                      <a:r>
                        <a:rPr lang="en-US" sz="1100" u="none" strike="noStrike">
                          <a:solidFill>
                            <a:schemeClr val="tx1"/>
                          </a:solidFill>
                          <a:effectLst/>
                        </a:rPr>
                        <a:t> Priority</a:t>
                      </a:r>
                      <a:endParaRPr lang="en-US" sz="1100" b="1" i="0" u="none" strike="noStrike">
                        <a:solidFill>
                          <a:schemeClr val="tx1"/>
                        </a:solidFill>
                        <a:effectLst/>
                        <a:latin typeface="Aptos Narrow" panose="020B0004020202020204" pitchFamily="34" charset="0"/>
                      </a:endParaRPr>
                    </a:p>
                  </a:txBody>
                  <a:tcPr marL="0" marR="0" marT="0" marB="0" anchor="b">
                    <a:lnB w="12700" cap="flat" cmpd="sng" algn="ctr">
                      <a:solidFill>
                        <a:srgbClr val="72B0BD"/>
                      </a:solidFill>
                      <a:prstDash val="solid"/>
                      <a:round/>
                      <a:headEnd type="none" w="med" len="med"/>
                      <a:tailEnd type="none" w="med" len="med"/>
                    </a:lnB>
                    <a:solidFill>
                      <a:schemeClr val="accent4">
                        <a:lumMod val="40000"/>
                        <a:lumOff val="60000"/>
                      </a:schemeClr>
                    </a:solidFill>
                  </a:tcPr>
                </a:tc>
                <a:tc>
                  <a:txBody>
                    <a:bodyPr/>
                    <a:lstStyle/>
                    <a:p>
                      <a:pPr algn="ctr" fontAlgn="b">
                        <a:buNone/>
                      </a:pPr>
                      <a:r>
                        <a:rPr lang="en-US" sz="1100" u="none" strike="noStrike">
                          <a:solidFill>
                            <a:schemeClr val="tx1"/>
                          </a:solidFill>
                          <a:effectLst/>
                        </a:rPr>
                        <a:t>Budgetary Estimate (Hours) </a:t>
                      </a:r>
                      <a:endParaRPr lang="en-US" sz="1100" b="1" i="0" u="none" strike="noStrike">
                        <a:solidFill>
                          <a:schemeClr val="tx1"/>
                        </a:solidFill>
                        <a:effectLst/>
                        <a:latin typeface="Aptos Narrow" panose="020B0004020202020204" pitchFamily="34" charset="0"/>
                      </a:endParaRPr>
                    </a:p>
                  </a:txBody>
                  <a:tcPr marL="0" marR="0" marT="0" marB="0" anchor="b">
                    <a:lnB w="12700" cap="flat" cmpd="sng" algn="ctr">
                      <a:solidFill>
                        <a:srgbClr val="72B0BD"/>
                      </a:solidFill>
                      <a:prstDash val="solid"/>
                      <a:round/>
                      <a:headEnd type="none" w="med" len="med"/>
                      <a:tailEnd type="none" w="med" len="med"/>
                    </a:lnB>
                    <a:solidFill>
                      <a:schemeClr val="accent4">
                        <a:lumMod val="40000"/>
                        <a:lumOff val="60000"/>
                      </a:schemeClr>
                    </a:solidFill>
                  </a:tcPr>
                </a:tc>
                <a:tc>
                  <a:txBody>
                    <a:bodyPr/>
                    <a:lstStyle/>
                    <a:p>
                      <a:pPr algn="ctr" fontAlgn="b">
                        <a:buNone/>
                      </a:pPr>
                      <a:r>
                        <a:rPr lang="en-US" sz="1100" b="1" i="0" u="none" strike="noStrike">
                          <a:solidFill>
                            <a:schemeClr val="tx1"/>
                          </a:solidFill>
                          <a:effectLst/>
                          <a:latin typeface="Aptos Narrow" panose="020B0004020202020204" pitchFamily="34" charset="0"/>
                        </a:rPr>
                        <a:t>Team</a:t>
                      </a:r>
                    </a:p>
                    <a:p>
                      <a:pPr algn="ctr" fontAlgn="b">
                        <a:buNone/>
                      </a:pPr>
                      <a:r>
                        <a:rPr lang="en-US" sz="1100" b="1" i="0" u="none" strike="noStrike">
                          <a:solidFill>
                            <a:schemeClr val="tx1"/>
                          </a:solidFill>
                          <a:effectLst/>
                          <a:latin typeface="Aptos Narrow" panose="020B0004020202020204" pitchFamily="34" charset="0"/>
                        </a:rPr>
                        <a:t>Impacts</a:t>
                      </a:r>
                    </a:p>
                    <a:p>
                      <a:pPr algn="ctr" fontAlgn="b">
                        <a:buNone/>
                      </a:pPr>
                      <a:endParaRPr lang="en-US" sz="1100" b="1" i="0" u="none" strike="noStrike">
                        <a:solidFill>
                          <a:schemeClr val="tx1"/>
                        </a:solidFill>
                        <a:effectLst/>
                        <a:latin typeface="Aptos Narrow" panose="020B0004020202020204" pitchFamily="34" charset="0"/>
                      </a:endParaRPr>
                    </a:p>
                  </a:txBody>
                  <a:tcPr marL="0" marR="0" marT="0" marB="0" anchor="b">
                    <a:lnB w="12700" cap="flat" cmpd="sng" algn="ctr">
                      <a:solidFill>
                        <a:srgbClr val="72B0BD"/>
                      </a:solidFill>
                      <a:prstDash val="solid"/>
                      <a:round/>
                      <a:headEnd type="none" w="med" len="med"/>
                      <a:tailEnd type="none" w="med" len="med"/>
                    </a:lnB>
                    <a:solidFill>
                      <a:schemeClr val="accent4">
                        <a:lumMod val="40000"/>
                        <a:lumOff val="60000"/>
                      </a:schemeClr>
                    </a:solidFill>
                  </a:tcPr>
                </a:tc>
                <a:tc>
                  <a:txBody>
                    <a:bodyPr/>
                    <a:lstStyle/>
                    <a:p>
                      <a:pPr algn="ctr" fontAlgn="b">
                        <a:buNone/>
                      </a:pPr>
                      <a:r>
                        <a:rPr lang="en-US" sz="1100" u="none" strike="noStrike">
                          <a:solidFill>
                            <a:schemeClr val="tx1"/>
                          </a:solidFill>
                          <a:effectLst/>
                        </a:rPr>
                        <a:t>IT Rec'd</a:t>
                      </a:r>
                      <a:endParaRPr lang="en-US" sz="1100" b="1" i="0" u="none" strike="noStrike">
                        <a:solidFill>
                          <a:schemeClr val="tx1"/>
                        </a:solidFill>
                        <a:effectLst/>
                        <a:latin typeface="Aptos Narrow" panose="020B0004020202020204" pitchFamily="34" charset="0"/>
                      </a:endParaRPr>
                    </a:p>
                  </a:txBody>
                  <a:tcPr marL="0" marR="0" marT="0" marB="0" anchor="b">
                    <a:lnB w="12700" cap="flat" cmpd="sng" algn="ctr">
                      <a:solidFill>
                        <a:srgbClr val="72B0BD"/>
                      </a:solidFill>
                      <a:prstDash val="solid"/>
                      <a:round/>
                      <a:headEnd type="none" w="med" len="med"/>
                      <a:tailEnd type="none" w="med" len="med"/>
                    </a:lnB>
                    <a:solidFill>
                      <a:schemeClr val="accent4">
                        <a:lumMod val="40000"/>
                        <a:lumOff val="60000"/>
                      </a:schemeClr>
                    </a:solidFill>
                  </a:tcPr>
                </a:tc>
                <a:tc>
                  <a:txBody>
                    <a:bodyPr/>
                    <a:lstStyle/>
                    <a:p>
                      <a:pPr algn="ctr" fontAlgn="b">
                        <a:buNone/>
                      </a:pPr>
                      <a:r>
                        <a:rPr lang="en-US" sz="1100" u="none" strike="noStrike">
                          <a:solidFill>
                            <a:schemeClr val="tx1"/>
                          </a:solidFill>
                          <a:effectLst/>
                        </a:rPr>
                        <a:t>Estimate complete Date</a:t>
                      </a:r>
                      <a:endParaRPr lang="en-US" sz="1100" b="1" i="0" u="none" strike="noStrike">
                        <a:solidFill>
                          <a:schemeClr val="tx1"/>
                        </a:solidFill>
                        <a:effectLst/>
                        <a:latin typeface="Aptos Narrow" panose="020B0004020202020204" pitchFamily="34" charset="0"/>
                      </a:endParaRPr>
                    </a:p>
                  </a:txBody>
                  <a:tcPr marL="0" marR="0" marT="0" marB="0" anchor="b">
                    <a:lnB w="12700" cap="flat" cmpd="sng" algn="ctr">
                      <a:solidFill>
                        <a:srgbClr val="72B0BD"/>
                      </a:solidFill>
                      <a:prstDash val="solid"/>
                      <a:round/>
                      <a:headEnd type="none" w="med" len="med"/>
                      <a:tailEnd type="none" w="med" len="med"/>
                    </a:lnB>
                    <a:solidFill>
                      <a:schemeClr val="accent4">
                        <a:lumMod val="40000"/>
                        <a:lumOff val="60000"/>
                      </a:schemeClr>
                    </a:solidFill>
                  </a:tcPr>
                </a:tc>
                <a:tc>
                  <a:txBody>
                    <a:bodyPr/>
                    <a:lstStyle/>
                    <a:p>
                      <a:pPr algn="ctr" fontAlgn="b">
                        <a:buNone/>
                      </a:pPr>
                      <a:r>
                        <a:rPr lang="en-US" sz="1100" u="none" strike="noStrike">
                          <a:solidFill>
                            <a:schemeClr val="tx1"/>
                          </a:solidFill>
                          <a:effectLst/>
                        </a:rPr>
                        <a:t>Funding Approved Date</a:t>
                      </a:r>
                      <a:endParaRPr lang="en-US" sz="1100" b="1" i="0" u="none" strike="noStrike">
                        <a:solidFill>
                          <a:schemeClr val="tx1"/>
                        </a:solidFill>
                        <a:effectLst/>
                        <a:latin typeface="Aptos Narrow" panose="020B0004020202020204" pitchFamily="34" charset="0"/>
                      </a:endParaRPr>
                    </a:p>
                  </a:txBody>
                  <a:tcPr marL="0" marR="0" marT="0" marB="0" anchor="b">
                    <a:lnB w="12700" cap="flat" cmpd="sng" algn="ctr">
                      <a:solidFill>
                        <a:srgbClr val="72B0BD"/>
                      </a:solidFill>
                      <a:prstDash val="solid"/>
                      <a:round/>
                      <a:headEnd type="none" w="med" len="med"/>
                      <a:tailEnd type="none" w="med" len="med"/>
                    </a:lnB>
                    <a:solidFill>
                      <a:schemeClr val="accent4">
                        <a:lumMod val="40000"/>
                        <a:lumOff val="60000"/>
                      </a:schemeClr>
                    </a:solidFill>
                  </a:tcPr>
                </a:tc>
                <a:tc>
                  <a:txBody>
                    <a:bodyPr/>
                    <a:lstStyle/>
                    <a:p>
                      <a:pPr algn="ctr" fontAlgn="b">
                        <a:buNone/>
                      </a:pPr>
                      <a:r>
                        <a:rPr lang="en-US" sz="1100" u="none" strike="noStrike">
                          <a:solidFill>
                            <a:schemeClr val="tx1"/>
                          </a:solidFill>
                          <a:effectLst/>
                        </a:rPr>
                        <a:t>Comment</a:t>
                      </a:r>
                      <a:endParaRPr lang="en-US" sz="1100" b="1" i="0" u="none" strike="noStrike">
                        <a:solidFill>
                          <a:schemeClr val="tx1"/>
                        </a:solidFill>
                        <a:effectLst/>
                        <a:latin typeface="Aptos Narrow" panose="020B0004020202020204" pitchFamily="34" charset="0"/>
                      </a:endParaRPr>
                    </a:p>
                  </a:txBody>
                  <a:tcPr marL="0" marR="0" marT="0" marB="0" anchor="b">
                    <a:lnB w="12700" cap="flat" cmpd="sng" algn="ctr">
                      <a:solidFill>
                        <a:srgbClr val="72B0BD"/>
                      </a:solidFill>
                      <a:prstDash val="solid"/>
                      <a:round/>
                      <a:headEnd type="none" w="med" len="med"/>
                      <a:tailEnd type="none" w="med" len="med"/>
                    </a:lnB>
                    <a:solidFill>
                      <a:schemeClr val="accent4">
                        <a:lumMod val="40000"/>
                        <a:lumOff val="60000"/>
                      </a:schemeClr>
                    </a:solidFill>
                  </a:tcPr>
                </a:tc>
                <a:extLst>
                  <a:ext uri="{0D108BD9-81ED-4DB2-BD59-A6C34878D82A}">
                    <a16:rowId xmlns:a16="http://schemas.microsoft.com/office/drawing/2014/main" val="2993874157"/>
                  </a:ext>
                </a:extLst>
              </a:tr>
              <a:tr h="490084">
                <a:tc>
                  <a:txBody>
                    <a:bodyPr/>
                    <a:lstStyle/>
                    <a:p>
                      <a:pPr algn="l" fontAlgn="b">
                        <a:buNone/>
                      </a:pPr>
                      <a:r>
                        <a:rPr lang="en-US" sz="1100" b="1" i="0" u="none" strike="noStrike">
                          <a:solidFill>
                            <a:srgbClr val="000000"/>
                          </a:solidFill>
                          <a:effectLst/>
                          <a:latin typeface="Aptos Narrow" panose="020B0004020202020204" pitchFamily="34" charset="0"/>
                        </a:rPr>
                        <a:t>Chase Bank Commerce Platform / Retire Paymentech </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algn="l" fontAlgn="b">
                        <a:buNone/>
                      </a:pPr>
                      <a:r>
                        <a:rPr lang="en-US" sz="1100" b="1" i="0" u="none" strike="noStrike">
                          <a:solidFill>
                            <a:srgbClr val="000000"/>
                          </a:solidFill>
                          <a:effectLst/>
                          <a:latin typeface="Aptos Narrow" panose="020B0004020202020204" pitchFamily="34" charset="0"/>
                        </a:rPr>
                        <a:t>H-3</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algn="l" fontAlgn="b">
                        <a:buNone/>
                      </a:pPr>
                      <a:r>
                        <a:rPr lang="en-US" sz="1100" b="0" i="0" u="none" strike="noStrike">
                          <a:solidFill>
                            <a:srgbClr val="000000"/>
                          </a:solidFill>
                          <a:effectLst/>
                          <a:latin typeface="Aptos Narrow" panose="020B0004020202020204" pitchFamily="34" charset="0"/>
                        </a:rPr>
                        <a:t>2XL$1.5M - $3.M: Mid: $2.3M</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algn="ctr" fontAlgn="b">
                        <a:buNone/>
                      </a:pPr>
                      <a:r>
                        <a:rPr lang="en-US" sz="1100" b="0" i="0" u="none" strike="noStrike">
                          <a:solidFill>
                            <a:srgbClr val="000000"/>
                          </a:solidFill>
                          <a:effectLst/>
                          <a:latin typeface="Aptos Narrow" panose="020B0004020202020204" pitchFamily="34" charset="0"/>
                        </a:rPr>
                        <a:t>EW, SS, PR, GOP, MIM, TB, AT</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algn="r" fontAlgn="b">
                        <a:buNone/>
                      </a:pPr>
                      <a:r>
                        <a:rPr lang="en-US" sz="1100" b="1" i="0" u="none" strike="noStrike">
                          <a:solidFill>
                            <a:srgbClr val="000000"/>
                          </a:solidFill>
                          <a:effectLst/>
                          <a:latin typeface="Aptos Narrow" panose="020B0004020202020204" pitchFamily="34" charset="0"/>
                        </a:rPr>
                        <a:t>12/11/2025</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algn="r" fontAlgn="b">
                        <a:buNone/>
                      </a:pPr>
                      <a:r>
                        <a:rPr lang="en-US" sz="1100" b="0" i="0" u="none" strike="noStrike">
                          <a:solidFill>
                            <a:srgbClr val="000000"/>
                          </a:solidFill>
                          <a:effectLst/>
                          <a:latin typeface="Aptos Narrow" panose="020B0004020202020204" pitchFamily="34" charset="0"/>
                        </a:rPr>
                        <a:t>3/27/2026</a:t>
                      </a:r>
                    </a:p>
                    <a:p>
                      <a:pPr algn="r" fontAlgn="b">
                        <a:buNone/>
                      </a:pPr>
                      <a:r>
                        <a:rPr lang="en-US" sz="800" b="0" i="0" u="none" strike="noStrike">
                          <a:solidFill>
                            <a:srgbClr val="000000"/>
                          </a:solidFill>
                          <a:effectLst/>
                          <a:latin typeface="Aptos Narrow" panose="020B0004020202020204" pitchFamily="34" charset="0"/>
                        </a:rPr>
                        <a:t>U/D:</a:t>
                      </a:r>
                      <a:r>
                        <a:rPr lang="en-US" sz="1100" b="0" i="0" u="none" strike="noStrike">
                          <a:solidFill>
                            <a:srgbClr val="000000"/>
                          </a:solidFill>
                          <a:effectLst/>
                          <a:latin typeface="Aptos Narrow" panose="020B0004020202020204" pitchFamily="34" charset="0"/>
                        </a:rPr>
                        <a:t> 7/6/2026</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algn="l" fontAlgn="b">
                        <a:buNone/>
                      </a:pPr>
                      <a:r>
                        <a:rPr lang="en-US" sz="1100" b="1" i="0" u="none" strike="noStrike">
                          <a:solidFill>
                            <a:srgbClr val="000000"/>
                          </a:solidFill>
                          <a:effectLst/>
                          <a:latin typeface="Aptos Narrow" panose="020B0004020202020204" pitchFamily="34" charset="0"/>
                        </a:rPr>
                        <a:t>(blank)</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algn="l" fontAlgn="b">
                        <a:buNone/>
                      </a:pPr>
                      <a:r>
                        <a:rPr lang="en-US" sz="1100" b="0" i="0" u="none" strike="noStrike">
                          <a:solidFill>
                            <a:srgbClr val="000000"/>
                          </a:solidFill>
                          <a:effectLst/>
                          <a:latin typeface="Aptos Narrow" panose="020B0004020202020204" pitchFamily="34" charset="0"/>
                        </a:rPr>
                        <a:t>7/6/26 – Architect reviewed and updated Estimate for submittal</a:t>
                      </a:r>
                    </a:p>
                    <a:p>
                      <a:pPr algn="l" fontAlgn="b">
                        <a:buNone/>
                      </a:pPr>
                      <a:r>
                        <a:rPr lang="en-US" sz="1100" b="0" i="0" u="none" strike="noStrike">
                          <a:solidFill>
                            <a:srgbClr val="000000"/>
                          </a:solidFill>
                          <a:effectLst/>
                          <a:latin typeface="Aptos Narrow" panose="020B0004020202020204" pitchFamily="34" charset="0"/>
                        </a:rPr>
                        <a:t>6/22/26 - N</a:t>
                      </a:r>
                      <a:r>
                        <a:rPr lang="en-US" sz="1100" b="0" i="0" u="none" strike="noStrike" kern="1200">
                          <a:solidFill>
                            <a:srgbClr val="000000"/>
                          </a:solidFill>
                          <a:effectLst/>
                          <a:latin typeface="Aptos Narrow" panose="020B0004020202020204" pitchFamily="34" charset="0"/>
                          <a:ea typeface="+mn-ea"/>
                          <a:cs typeface="+mn-cs"/>
                        </a:rPr>
                        <a:t>o final decisions have been made yet on the vendor, but the business case is planned for submittal by 6/30.  Naming of the vendor is not a blocker to submission.  Enterprise plans to start in 1Q27 and roll-out iteratively through 2028. Flexibility remains in how and when to migrate Pet. We can work with them on the implementation approach and scheduling.  Enterprise </a:t>
                      </a:r>
                      <a:r>
                        <a:rPr lang="en-US" sz="1100" b="0" i="0" u="none" strike="noStrike">
                          <a:solidFill>
                            <a:srgbClr val="000000"/>
                          </a:solidFill>
                          <a:effectLst/>
                          <a:latin typeface="Aptos Narrow" panose="020B0004020202020204" pitchFamily="34" charset="0"/>
                        </a:rPr>
                        <a:t>Funding Pending – Assuming funding received, target a Plan to Build  exercise by August 2026 to refine and prep for 2027/ 2028 readiness</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extLst>
                  <a:ext uri="{0D108BD9-81ED-4DB2-BD59-A6C34878D82A}">
                    <a16:rowId xmlns:a16="http://schemas.microsoft.com/office/drawing/2014/main" val="1486718395"/>
                  </a:ext>
                </a:extLst>
              </a:tr>
              <a:tr h="360256">
                <a:tc>
                  <a:txBody>
                    <a:bodyPr/>
                    <a:lstStyle/>
                    <a:p>
                      <a:pPr algn="l" fontAlgn="b">
                        <a:buNone/>
                      </a:pPr>
                      <a:r>
                        <a:rPr lang="en-US" sz="1100" b="1" i="0" u="none" strike="noStrike">
                          <a:solidFill>
                            <a:srgbClr val="000000"/>
                          </a:solidFill>
                          <a:effectLst/>
                          <a:latin typeface="Aptos Narrow" panose="020B0004020202020204" pitchFamily="34" charset="0"/>
                        </a:rPr>
                        <a:t>Pet Analytics Model Outputs S3 Bucket</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l" fontAlgn="b">
                        <a:buNone/>
                      </a:pPr>
                      <a:r>
                        <a:rPr lang="en-US" sz="1100" b="1" i="0" u="none" strike="noStrike">
                          <a:solidFill>
                            <a:srgbClr val="000000"/>
                          </a:solidFill>
                          <a:effectLst/>
                          <a:latin typeface="Aptos Narrow" panose="020B0004020202020204" pitchFamily="34" charset="0"/>
                        </a:rPr>
                        <a:t>H-3</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Aptos Narrow" panose="020B0004020202020204" pitchFamily="34" charset="0"/>
                        </a:rPr>
                        <a:t>3XS $1-$10K </a:t>
                      </a:r>
                      <a:r>
                        <a:rPr lang="en-US" sz="1100" b="0" i="0" u="none" strike="noStrike" err="1">
                          <a:solidFill>
                            <a:srgbClr val="000000"/>
                          </a:solidFill>
                          <a:effectLst/>
                          <a:latin typeface="Aptos Narrow" panose="020B0004020202020204" pitchFamily="34" charset="0"/>
                        </a:rPr>
                        <a:t>upto</a:t>
                      </a:r>
                      <a:r>
                        <a:rPr lang="en-US" sz="1100" b="0" i="0" u="none" strike="noStrike">
                          <a:solidFill>
                            <a:srgbClr val="000000"/>
                          </a:solidFill>
                          <a:effectLst/>
                          <a:latin typeface="Aptos Narrow" panose="020B0004020202020204" pitchFamily="34" charset="0"/>
                        </a:rPr>
                        <a:t> 111 </a:t>
                      </a:r>
                      <a:r>
                        <a:rPr lang="en-US" sz="1100" b="0" i="0" u="none" strike="noStrike" err="1">
                          <a:solidFill>
                            <a:srgbClr val="000000"/>
                          </a:solidFill>
                          <a:effectLst/>
                          <a:latin typeface="Aptos Narrow" panose="020B0004020202020204" pitchFamily="34" charset="0"/>
                        </a:rPr>
                        <a:t>hrs</a:t>
                      </a:r>
                      <a:endParaRPr lang="en-US" sz="1100" b="0" i="0" u="none" strike="noStrike">
                        <a:solidFill>
                          <a:srgbClr val="000000"/>
                        </a:solidFill>
                        <a:effectLst/>
                        <a:latin typeface="Aptos Narrow" panose="020B0004020202020204" pitchFamily="34" charset="0"/>
                      </a:endParaRP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ctr" fontAlgn="b">
                        <a:buNone/>
                      </a:pPr>
                      <a:r>
                        <a:rPr lang="en-US" sz="1100" b="0" i="0" u="none" strike="noStrike">
                          <a:solidFill>
                            <a:srgbClr val="000000"/>
                          </a:solidFill>
                          <a:effectLst/>
                          <a:latin typeface="Aptos Narrow" panose="020B0004020202020204" pitchFamily="34" charset="0"/>
                        </a:rPr>
                        <a:t>AT</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r" fontAlgn="b">
                        <a:buNone/>
                      </a:pPr>
                      <a:r>
                        <a:rPr lang="en-US" sz="1100" b="1" i="0" u="none" strike="noStrike">
                          <a:solidFill>
                            <a:srgbClr val="000000"/>
                          </a:solidFill>
                          <a:effectLst/>
                          <a:latin typeface="Aptos Narrow" panose="020B0004020202020204" pitchFamily="34" charset="0"/>
                        </a:rPr>
                        <a:t>1/6/2026</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r" fontAlgn="b">
                        <a:buNone/>
                      </a:pPr>
                      <a:r>
                        <a:rPr lang="en-US" sz="1100" b="0" i="0" u="none" strike="noStrike">
                          <a:solidFill>
                            <a:srgbClr val="000000"/>
                          </a:solidFill>
                          <a:effectLst/>
                          <a:latin typeface="Aptos Narrow" panose="020B0004020202020204" pitchFamily="34" charset="0"/>
                        </a:rPr>
                        <a:t>5/20/2026</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l" fontAlgn="b">
                        <a:buNone/>
                      </a:pPr>
                      <a:r>
                        <a:rPr lang="en-US" sz="1100" b="1" i="0" u="none" strike="noStrike">
                          <a:solidFill>
                            <a:srgbClr val="000000"/>
                          </a:solidFill>
                          <a:effectLst/>
                          <a:latin typeface="Aptos Narrow" panose="020B0004020202020204" pitchFamily="34" charset="0"/>
                        </a:rPr>
                        <a:t>Pending</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Aptos Narrow" panose="020B0004020202020204" pitchFamily="34" charset="0"/>
                        </a:rPr>
                        <a:t>5/26/26 HLA - 3XS completed by Chris 5/20/26.  </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extLst>
                  <a:ext uri="{0D108BD9-81ED-4DB2-BD59-A6C34878D82A}">
                    <a16:rowId xmlns:a16="http://schemas.microsoft.com/office/drawing/2014/main" val="1289107603"/>
                  </a:ext>
                </a:extLst>
              </a:tr>
              <a:tr h="433633">
                <a:tc>
                  <a:txBody>
                    <a:bodyPr/>
                    <a:lstStyle/>
                    <a:p>
                      <a:pPr algn="l" fontAlgn="b">
                        <a:buNone/>
                      </a:pPr>
                      <a:r>
                        <a:rPr lang="en-US" sz="1100" b="1" i="0" u="none" strike="noStrike">
                          <a:solidFill>
                            <a:srgbClr val="000000"/>
                          </a:solidFill>
                          <a:effectLst/>
                          <a:latin typeface="Aptos Narrow" panose="020B0004020202020204" pitchFamily="34" charset="0"/>
                        </a:rPr>
                        <a:t>Claims History Reports for GIN</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l" fontAlgn="b">
                        <a:buNone/>
                      </a:pPr>
                      <a:r>
                        <a:rPr lang="en-US" sz="1100" b="1" i="0" u="none" strike="noStrike">
                          <a:solidFill>
                            <a:srgbClr val="000000"/>
                          </a:solidFill>
                          <a:effectLst/>
                          <a:latin typeface="Aptos Narrow" panose="020B0004020202020204" pitchFamily="34" charset="0"/>
                        </a:rPr>
                        <a:t>(blank)</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Aptos Narrow" panose="020B0004020202020204" pitchFamily="34" charset="0"/>
                        </a:rPr>
                        <a:t>M $300-500K / 3333 -5556 </a:t>
                      </a:r>
                      <a:r>
                        <a:rPr lang="en-US" sz="1100" b="0" i="0" u="none" strike="noStrike" err="1">
                          <a:solidFill>
                            <a:srgbClr val="000000"/>
                          </a:solidFill>
                          <a:effectLst/>
                          <a:latin typeface="Aptos Narrow" panose="020B0004020202020204" pitchFamily="34" charset="0"/>
                        </a:rPr>
                        <a:t>hrs</a:t>
                      </a:r>
                      <a:endParaRPr lang="en-US" sz="1100" b="0" i="0" u="none" strike="noStrike">
                        <a:solidFill>
                          <a:srgbClr val="000000"/>
                        </a:solidFill>
                        <a:effectLst/>
                        <a:latin typeface="Aptos Narrow" panose="020B0004020202020204" pitchFamily="34" charset="0"/>
                      </a:endParaRP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ctr" fontAlgn="b">
                        <a:buNone/>
                      </a:pPr>
                      <a:r>
                        <a:rPr lang="en-US" sz="1100" b="0" i="0" u="none" strike="noStrike">
                          <a:solidFill>
                            <a:srgbClr val="000000"/>
                          </a:solidFill>
                          <a:effectLst/>
                          <a:latin typeface="Aptos Narrow" panose="020B0004020202020204" pitchFamily="34" charset="0"/>
                        </a:rPr>
                        <a:t>AT, MIM, SS , TB</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r" fontAlgn="b">
                        <a:buNone/>
                      </a:pPr>
                      <a:r>
                        <a:rPr lang="en-US" sz="1100" b="1" i="0" u="none" strike="noStrike">
                          <a:solidFill>
                            <a:srgbClr val="000000"/>
                          </a:solidFill>
                          <a:effectLst/>
                          <a:latin typeface="Aptos Narrow" panose="020B0004020202020204" pitchFamily="34" charset="0"/>
                        </a:rPr>
                        <a:t>4/28/2026</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r" fontAlgn="b">
                        <a:buNone/>
                      </a:pPr>
                      <a:r>
                        <a:rPr lang="en-US" sz="1100" b="0" i="0" u="none" strike="noStrike">
                          <a:solidFill>
                            <a:srgbClr val="000000"/>
                          </a:solidFill>
                          <a:effectLst/>
                          <a:latin typeface="Aptos Narrow" panose="020B0004020202020204" pitchFamily="34" charset="0"/>
                        </a:rPr>
                        <a:t>4/28/2026</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l" fontAlgn="b">
                        <a:buNone/>
                      </a:pPr>
                      <a:r>
                        <a:rPr lang="en-US" sz="1100" b="1" i="0" u="none" strike="noStrike">
                          <a:solidFill>
                            <a:srgbClr val="000000"/>
                          </a:solidFill>
                          <a:effectLst/>
                          <a:latin typeface="Aptos Narrow" panose="020B0004020202020204" pitchFamily="34" charset="0"/>
                        </a:rPr>
                        <a:t>Pending</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lvl="0"/>
                      <a:r>
                        <a:rPr lang="en-US" sz="1100" b="0" i="0" u="none" strike="noStrike" kern="1200">
                          <a:solidFill>
                            <a:srgbClr val="000000"/>
                          </a:solidFill>
                          <a:effectLst/>
                          <a:latin typeface="Aptos Narrow" panose="020B0004020202020204" pitchFamily="34" charset="0"/>
                          <a:ea typeface="+mn-ea"/>
                          <a:cs typeface="+mn-cs"/>
                        </a:rPr>
                        <a:t>Implementation complexity is driven primarily by GIN reporting gaps, data architecture setup, and governance considerations. </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extLst>
                  <a:ext uri="{0D108BD9-81ED-4DB2-BD59-A6C34878D82A}">
                    <a16:rowId xmlns:a16="http://schemas.microsoft.com/office/drawing/2014/main" val="2401342091"/>
                  </a:ext>
                </a:extLst>
              </a:tr>
              <a:tr h="408966">
                <a:tc>
                  <a:txBody>
                    <a:bodyPr/>
                    <a:lstStyle/>
                    <a:p>
                      <a:pPr algn="l" fontAlgn="b">
                        <a:buNone/>
                      </a:pPr>
                      <a:r>
                        <a:rPr lang="en-US" sz="1100" b="1" i="0" u="none" strike="noStrike">
                          <a:solidFill>
                            <a:srgbClr val="000000"/>
                          </a:solidFill>
                          <a:effectLst/>
                          <a:latin typeface="Aptos Narrow" panose="020B0004020202020204" pitchFamily="34" charset="0"/>
                        </a:rPr>
                        <a:t>Callback Widget for VB QEC</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l" fontAlgn="b">
                        <a:buNone/>
                      </a:pPr>
                      <a:r>
                        <a:rPr lang="en-US" sz="1100" b="1" i="0" u="none" strike="noStrike">
                          <a:solidFill>
                            <a:srgbClr val="000000"/>
                          </a:solidFill>
                          <a:effectLst/>
                          <a:latin typeface="Aptos Narrow" panose="020B0004020202020204" pitchFamily="34" charset="0"/>
                        </a:rPr>
                        <a:t>(blank)</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Aptos Narrow" panose="020B0004020202020204" pitchFamily="34" charset="0"/>
                        </a:rPr>
                        <a:t>2XS $10K - $50K / 111 - 556 Hrs</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ctr" fontAlgn="b">
                        <a:buNone/>
                      </a:pPr>
                      <a:r>
                        <a:rPr lang="en-US" sz="1100" b="0" i="0" u="none" strike="noStrike">
                          <a:solidFill>
                            <a:srgbClr val="000000"/>
                          </a:solidFill>
                          <a:effectLst/>
                          <a:latin typeface="Aptos Narrow" panose="020B0004020202020204" pitchFamily="34" charset="0"/>
                        </a:rPr>
                        <a:t>EW</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r" fontAlgn="b">
                        <a:buNone/>
                      </a:pPr>
                      <a:r>
                        <a:rPr lang="en-US" sz="1100" b="1" i="0" u="none" strike="noStrike">
                          <a:solidFill>
                            <a:srgbClr val="000000"/>
                          </a:solidFill>
                          <a:effectLst/>
                          <a:latin typeface="Aptos Narrow" panose="020B0004020202020204" pitchFamily="34" charset="0"/>
                        </a:rPr>
                        <a:t>4/28/2026</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r" fontAlgn="b">
                        <a:buNone/>
                      </a:pPr>
                      <a:r>
                        <a:rPr lang="en-US" sz="1100" b="0" i="0" u="none" strike="noStrike">
                          <a:solidFill>
                            <a:srgbClr val="000000"/>
                          </a:solidFill>
                          <a:effectLst/>
                          <a:latin typeface="Aptos Narrow" panose="020B0004020202020204" pitchFamily="34" charset="0"/>
                        </a:rPr>
                        <a:t>4/28/2026</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l" fontAlgn="b">
                        <a:buNone/>
                      </a:pPr>
                      <a:r>
                        <a:rPr lang="en-US" sz="1100" b="1" i="0" u="none" strike="noStrike">
                          <a:solidFill>
                            <a:srgbClr val="000000"/>
                          </a:solidFill>
                          <a:effectLst/>
                          <a:latin typeface="Aptos Narrow" panose="020B0004020202020204" pitchFamily="34" charset="0"/>
                        </a:rPr>
                        <a:t>Pending</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Aptos Narrow" panose="020B0004020202020204" pitchFamily="34" charset="0"/>
                        </a:rPr>
                        <a:t>Provide same capability on PET as currently articulated on MPI – potential for the MPI D2C Refresh to solve, if goal state is moving MPI to PET – this would be a feature that would be duplicated then.</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extLst>
                  <a:ext uri="{0D108BD9-81ED-4DB2-BD59-A6C34878D82A}">
                    <a16:rowId xmlns:a16="http://schemas.microsoft.com/office/drawing/2014/main" val="2607640160"/>
                  </a:ext>
                </a:extLst>
              </a:tr>
              <a:tr h="341197">
                <a:tc>
                  <a:txBody>
                    <a:bodyPr/>
                    <a:lstStyle/>
                    <a:p>
                      <a:pPr algn="l" fontAlgn="b">
                        <a:buNone/>
                      </a:pPr>
                      <a:r>
                        <a:rPr lang="en-US" sz="1100" b="1" i="0" u="none" strike="noStrike">
                          <a:solidFill>
                            <a:srgbClr val="000000"/>
                          </a:solidFill>
                          <a:effectLst/>
                          <a:latin typeface="Aptos Narrow" panose="020B0004020202020204" pitchFamily="34" charset="0"/>
                        </a:rPr>
                        <a:t>Cobranding Capabilities for PET to support Unum</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l" fontAlgn="b">
                        <a:buNone/>
                      </a:pPr>
                      <a:r>
                        <a:rPr lang="en-US" sz="1100" b="1" i="0" u="none" strike="noStrike">
                          <a:solidFill>
                            <a:srgbClr val="000000"/>
                          </a:solidFill>
                          <a:effectLst/>
                          <a:latin typeface="Aptos Narrow" panose="020B0004020202020204" pitchFamily="34" charset="0"/>
                        </a:rPr>
                        <a:t>(blank)</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Aptos Narrow" panose="020B0004020202020204" pitchFamily="34" charset="0"/>
                        </a:rPr>
                        <a:t>XS $50K-$100K 556-1,111 hrs</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ctr" fontAlgn="b">
                        <a:buNone/>
                      </a:pPr>
                      <a:r>
                        <a:rPr lang="en-US" sz="1100" b="0" i="0" u="none" strike="noStrike" err="1">
                          <a:solidFill>
                            <a:srgbClr val="000000"/>
                          </a:solidFill>
                          <a:effectLst/>
                          <a:latin typeface="Aptos Narrow" panose="020B0004020202020204" pitchFamily="34" charset="0"/>
                        </a:rPr>
                        <a:t>Ew</a:t>
                      </a:r>
                      <a:r>
                        <a:rPr lang="en-US" sz="1100" b="0" i="0" u="none" strike="noStrike">
                          <a:solidFill>
                            <a:srgbClr val="000000"/>
                          </a:solidFill>
                          <a:effectLst/>
                          <a:latin typeface="Aptos Narrow" panose="020B0004020202020204" pitchFamily="34" charset="0"/>
                        </a:rPr>
                        <a:t>, Mktg</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r" fontAlgn="b">
                        <a:buNone/>
                      </a:pPr>
                      <a:r>
                        <a:rPr lang="en-US" sz="1100" b="1" i="0" u="none" strike="noStrike">
                          <a:solidFill>
                            <a:srgbClr val="000000"/>
                          </a:solidFill>
                          <a:effectLst/>
                          <a:latin typeface="Aptos Narrow" panose="020B0004020202020204" pitchFamily="34" charset="0"/>
                        </a:rPr>
                        <a:t>5/26/2026</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r" fontAlgn="b">
                        <a:buNone/>
                      </a:pPr>
                      <a:r>
                        <a:rPr lang="en-US" sz="1100" b="0" i="0" u="none" strike="noStrike">
                          <a:solidFill>
                            <a:srgbClr val="000000"/>
                          </a:solidFill>
                          <a:effectLst/>
                          <a:latin typeface="Aptos Narrow" panose="020B0004020202020204" pitchFamily="34" charset="0"/>
                        </a:rPr>
                        <a:t>5/26/2026</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l" fontAlgn="b">
                        <a:buNone/>
                      </a:pPr>
                      <a:r>
                        <a:rPr lang="en-US" sz="1100" b="1" i="0" u="none" strike="noStrike">
                          <a:solidFill>
                            <a:srgbClr val="000000"/>
                          </a:solidFill>
                          <a:effectLst/>
                          <a:latin typeface="Aptos Narrow" panose="020B0004020202020204" pitchFamily="34" charset="0"/>
                        </a:rPr>
                        <a:t>Pending</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Aptos Narrow" panose="020B0004020202020204" pitchFamily="34" charset="0"/>
                        </a:rPr>
                        <a:t>5/26/26- Intake Triage completed, T-shirt estimate of XS submitted to </a:t>
                      </a:r>
                      <a:r>
                        <a:rPr lang="en-US" sz="1100" b="0" i="0" u="none" strike="noStrike" err="1">
                          <a:solidFill>
                            <a:srgbClr val="000000"/>
                          </a:solidFill>
                          <a:effectLst/>
                          <a:latin typeface="Aptos Narrow" panose="020B0004020202020204" pitchFamily="34" charset="0"/>
                        </a:rPr>
                        <a:t>OpEx</a:t>
                      </a:r>
                      <a:r>
                        <a:rPr lang="en-US" sz="1100" b="0" i="0" u="none" strike="noStrike">
                          <a:solidFill>
                            <a:srgbClr val="000000"/>
                          </a:solidFill>
                          <a:effectLst/>
                          <a:latin typeface="Aptos Narrow" panose="020B0004020202020204" pitchFamily="34" charset="0"/>
                        </a:rPr>
                        <a:t>. </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extLst>
                  <a:ext uri="{0D108BD9-81ED-4DB2-BD59-A6C34878D82A}">
                    <a16:rowId xmlns:a16="http://schemas.microsoft.com/office/drawing/2014/main" val="1492022150"/>
                  </a:ext>
                </a:extLst>
              </a:tr>
              <a:tr h="511795">
                <a:tc>
                  <a:txBody>
                    <a:bodyPr/>
                    <a:lstStyle/>
                    <a:p>
                      <a:pPr algn="l" fontAlgn="b">
                        <a:buNone/>
                      </a:pPr>
                      <a:r>
                        <a:rPr lang="en-US" sz="1100" b="1" i="0" u="none" strike="noStrike">
                          <a:solidFill>
                            <a:srgbClr val="000000"/>
                          </a:solidFill>
                          <a:effectLst/>
                          <a:latin typeface="Aptos Narrow" panose="020B0004020202020204" pitchFamily="34" charset="0"/>
                        </a:rPr>
                        <a:t>Remove Utilization Level Capping in PA</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algn="l" fontAlgn="b">
                        <a:buNone/>
                      </a:pPr>
                      <a:r>
                        <a:rPr lang="en-US" sz="1100" b="1" i="0" u="none" strike="noStrike">
                          <a:solidFill>
                            <a:srgbClr val="000000"/>
                          </a:solidFill>
                          <a:effectLst/>
                          <a:latin typeface="Aptos Narrow" panose="020B0004020202020204" pitchFamily="34" charset="0"/>
                        </a:rPr>
                        <a:t>(blank)</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algn="l" fontAlgn="b">
                        <a:buNone/>
                      </a:pPr>
                      <a:r>
                        <a:rPr lang="en-US" sz="1100" b="0" i="0" u="none" strike="noStrike">
                          <a:solidFill>
                            <a:srgbClr val="000000"/>
                          </a:solidFill>
                          <a:effectLst/>
                          <a:latin typeface="Aptos Narrow" panose="020B0004020202020204" pitchFamily="34" charset="0"/>
                        </a:rPr>
                        <a:t>2XS $10K - $50K / 111 - 556 Hrs</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algn="ctr" fontAlgn="b">
                        <a:buNone/>
                      </a:pPr>
                      <a:r>
                        <a:rPr lang="en-US" sz="1100" b="0" i="0" u="none" strike="noStrike">
                          <a:solidFill>
                            <a:srgbClr val="000000"/>
                          </a:solidFill>
                          <a:effectLst/>
                          <a:latin typeface="Aptos Narrow" panose="020B0004020202020204" pitchFamily="34" charset="0"/>
                        </a:rPr>
                        <a:t>SS</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algn="r" fontAlgn="b">
                        <a:buNone/>
                      </a:pPr>
                      <a:r>
                        <a:rPr lang="en-US" sz="1100" b="1" i="0" u="none" strike="noStrike">
                          <a:solidFill>
                            <a:srgbClr val="000000"/>
                          </a:solidFill>
                          <a:effectLst/>
                          <a:latin typeface="Aptos Narrow" panose="020B0004020202020204" pitchFamily="34" charset="0"/>
                        </a:rPr>
                        <a:t>5/26/2026</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algn="r" fontAlgn="b">
                        <a:buNone/>
                      </a:pPr>
                      <a:r>
                        <a:rPr lang="en-US" sz="1100" b="0" i="0" u="none" strike="noStrike">
                          <a:solidFill>
                            <a:srgbClr val="000000"/>
                          </a:solidFill>
                          <a:effectLst/>
                          <a:latin typeface="Aptos Narrow" panose="020B0004020202020204" pitchFamily="34" charset="0"/>
                        </a:rPr>
                        <a:t>5/26/2026</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algn="l" fontAlgn="b">
                        <a:buNone/>
                      </a:pPr>
                      <a:r>
                        <a:rPr lang="en-US" sz="1100" b="1" i="0" u="none" strike="noStrike">
                          <a:solidFill>
                            <a:srgbClr val="000000"/>
                          </a:solidFill>
                          <a:effectLst/>
                          <a:latin typeface="Aptos Narrow" panose="020B0004020202020204" pitchFamily="34" charset="0"/>
                        </a:rPr>
                        <a:t>Pending</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algn="l" fontAlgn="b">
                        <a:buNone/>
                      </a:pPr>
                      <a:r>
                        <a:rPr lang="en-US" sz="1100" b="0" i="0" u="none" strike="noStrike">
                          <a:solidFill>
                            <a:srgbClr val="000000"/>
                          </a:solidFill>
                          <a:effectLst/>
                          <a:latin typeface="Aptos Narrow" panose="020B0004020202020204" pitchFamily="34" charset="0"/>
                        </a:rPr>
                        <a:t>5/26/26- Intake Triaged, T-shirt estimate 2XS submitted to </a:t>
                      </a:r>
                      <a:r>
                        <a:rPr lang="en-US" sz="1100" b="0" i="0" u="none" strike="noStrike" err="1">
                          <a:solidFill>
                            <a:srgbClr val="000000"/>
                          </a:solidFill>
                          <a:effectLst/>
                          <a:latin typeface="Aptos Narrow" panose="020B0004020202020204" pitchFamily="34" charset="0"/>
                        </a:rPr>
                        <a:t>OpEx</a:t>
                      </a:r>
                      <a:r>
                        <a:rPr lang="en-US" sz="1100" b="0" i="0" u="none" strike="noStrike">
                          <a:solidFill>
                            <a:srgbClr val="000000"/>
                          </a:solidFill>
                          <a:effectLst/>
                          <a:latin typeface="Aptos Narrow" panose="020B0004020202020204" pitchFamily="34" charset="0"/>
                        </a:rPr>
                        <a:t> for funding/priority</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extLst>
                  <a:ext uri="{0D108BD9-81ED-4DB2-BD59-A6C34878D82A}">
                    <a16:rowId xmlns:a16="http://schemas.microsoft.com/office/drawing/2014/main" val="217929367"/>
                  </a:ext>
                </a:extLst>
              </a:tr>
              <a:tr h="511795">
                <a:tc>
                  <a:txBody>
                    <a:bodyPr/>
                    <a:lstStyle/>
                    <a:p>
                      <a:pPr marL="0" algn="l" defTabSz="914400" rtl="0" eaLnBrk="1" fontAlgn="b" latinLnBrk="0" hangingPunct="1">
                        <a:buNone/>
                      </a:pPr>
                      <a:r>
                        <a:rPr lang="en-US" sz="1000" b="1" i="0" u="none" strike="noStrike" kern="1200">
                          <a:solidFill>
                            <a:srgbClr val="000000"/>
                          </a:solidFill>
                          <a:effectLst/>
                          <a:latin typeface="Aptos Narrow" panose="020B0004020202020204" pitchFamily="34" charset="0"/>
                          <a:ea typeface="+mn-ea"/>
                          <a:cs typeface="+mn-cs"/>
                        </a:rPr>
                        <a:t>DNS &amp; Registration Updates from Moniker to </a:t>
                      </a:r>
                      <a:r>
                        <a:rPr lang="en-US" sz="1000" b="1" i="0" u="none" strike="noStrike" kern="1200" err="1">
                          <a:solidFill>
                            <a:srgbClr val="000000"/>
                          </a:solidFill>
                          <a:effectLst/>
                          <a:latin typeface="Aptos Narrow" panose="020B0004020202020204" pitchFamily="34" charset="0"/>
                          <a:ea typeface="+mn-ea"/>
                          <a:cs typeface="+mn-cs"/>
                        </a:rPr>
                        <a:t>CSCGlobal</a:t>
                      </a:r>
                      <a:endParaRPr lang="en-US" sz="1000" b="1" i="0" u="none" strike="noStrike" kern="1200">
                        <a:solidFill>
                          <a:srgbClr val="000000"/>
                        </a:solidFill>
                        <a:effectLst/>
                        <a:latin typeface="Aptos Narrow" panose="020B0004020202020204" pitchFamily="34" charset="0"/>
                        <a:ea typeface="+mn-ea"/>
                        <a:cs typeface="+mn-cs"/>
                      </a:endParaRPr>
                    </a:p>
                  </a:txBody>
                  <a:tcPr marL="0" marR="0" marT="0" marB="0" anchor="ctr">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marL="0" algn="ctr" defTabSz="914400" rtl="0" eaLnBrk="1" fontAlgn="b" latinLnBrk="0" hangingPunct="1">
                        <a:buNone/>
                      </a:pPr>
                      <a:r>
                        <a:rPr lang="en-US" sz="1000" b="0" i="0" u="none" strike="noStrike" kern="1200">
                          <a:solidFill>
                            <a:srgbClr val="000000"/>
                          </a:solidFill>
                          <a:effectLst/>
                          <a:latin typeface="Aptos Narrow" panose="020B0004020202020204" pitchFamily="34" charset="0"/>
                          <a:ea typeface="+mn-ea"/>
                          <a:cs typeface="+mn-cs"/>
                        </a:rPr>
                        <a:t>(blank)</a:t>
                      </a:r>
                    </a:p>
                  </a:txBody>
                  <a:tcPr marL="0" marR="0" marT="0" marB="0" anchor="ctr">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marL="0" algn="ctr" defTabSz="914400" rtl="0" eaLnBrk="1" fontAlgn="b" latinLnBrk="0" hangingPunct="1">
                        <a:buNone/>
                      </a:pPr>
                      <a:r>
                        <a:rPr lang="en-US" sz="1000" b="0" i="0" u="none" strike="noStrike" kern="1200">
                          <a:solidFill>
                            <a:srgbClr val="000000"/>
                          </a:solidFill>
                          <a:effectLst/>
                          <a:latin typeface="Aptos Narrow" panose="020B0004020202020204" pitchFamily="34" charset="0"/>
                          <a:ea typeface="+mn-ea"/>
                          <a:cs typeface="+mn-cs"/>
                        </a:rPr>
                        <a:t>2XS $10K - $50K / 111 - 556 </a:t>
                      </a:r>
                      <a:r>
                        <a:rPr lang="en-US" sz="1000" b="0" i="0" u="none" strike="noStrike" kern="1200" err="1">
                          <a:solidFill>
                            <a:srgbClr val="000000"/>
                          </a:solidFill>
                          <a:effectLst/>
                          <a:latin typeface="Aptos Narrow" panose="020B0004020202020204" pitchFamily="34" charset="0"/>
                          <a:ea typeface="+mn-ea"/>
                          <a:cs typeface="+mn-cs"/>
                        </a:rPr>
                        <a:t>Hrs</a:t>
                      </a:r>
                      <a:endParaRPr lang="en-US" sz="1000" b="0" i="0" u="none" strike="noStrike" kern="1200">
                        <a:solidFill>
                          <a:srgbClr val="000000"/>
                        </a:solidFill>
                        <a:effectLst/>
                        <a:latin typeface="Aptos Narrow" panose="020B0004020202020204" pitchFamily="34" charset="0"/>
                        <a:ea typeface="+mn-ea"/>
                        <a:cs typeface="+mn-cs"/>
                      </a:endParaRPr>
                    </a:p>
                  </a:txBody>
                  <a:tcPr marL="0" marR="0" marT="0" marB="0" anchor="ctr">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marL="0" algn="ctr" defTabSz="914400" rtl="0" eaLnBrk="1" fontAlgn="b" latinLnBrk="0" hangingPunct="1">
                        <a:buNone/>
                      </a:pPr>
                      <a:r>
                        <a:rPr lang="en-US" sz="1000" b="0" i="0" u="none" strike="noStrike" kern="1200">
                          <a:solidFill>
                            <a:srgbClr val="000000"/>
                          </a:solidFill>
                          <a:effectLst/>
                          <a:latin typeface="Aptos Narrow" panose="020B0004020202020204" pitchFamily="34" charset="0"/>
                          <a:ea typeface="+mn-ea"/>
                          <a:cs typeface="+mn-cs"/>
                        </a:rPr>
                        <a:t>No Pet IT</a:t>
                      </a:r>
                    </a:p>
                  </a:txBody>
                  <a:tcPr marL="0" marR="0" marT="0" marB="0" anchor="ctr">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marL="0" algn="ctr" defTabSz="914400" rtl="0" eaLnBrk="1" fontAlgn="b" latinLnBrk="0" hangingPunct="1">
                        <a:buNone/>
                      </a:pPr>
                      <a:r>
                        <a:rPr lang="en-US" sz="1000" b="0" i="0" u="none" strike="noStrike" kern="1200">
                          <a:solidFill>
                            <a:srgbClr val="000000"/>
                          </a:solidFill>
                          <a:effectLst/>
                          <a:latin typeface="Aptos Narrow" panose="020B0004020202020204" pitchFamily="34" charset="0"/>
                          <a:ea typeface="+mn-ea"/>
                          <a:cs typeface="+mn-cs"/>
                        </a:rPr>
                        <a:t>6/5/2026</a:t>
                      </a:r>
                    </a:p>
                  </a:txBody>
                  <a:tcPr marL="0" marR="0" marT="0" marB="0" anchor="ctr">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marL="0" algn="ctr" defTabSz="914400" rtl="0" eaLnBrk="1" fontAlgn="b" latinLnBrk="0" hangingPunct="1">
                        <a:buNone/>
                      </a:pPr>
                      <a:r>
                        <a:rPr lang="en-US" sz="1000" b="0" i="0" u="none" strike="noStrike" kern="1200">
                          <a:solidFill>
                            <a:srgbClr val="000000"/>
                          </a:solidFill>
                          <a:effectLst/>
                          <a:latin typeface="Aptos Narrow" panose="020B0004020202020204" pitchFamily="34" charset="0"/>
                          <a:ea typeface="+mn-ea"/>
                          <a:cs typeface="+mn-cs"/>
                        </a:rPr>
                        <a:t>6/5/2026</a:t>
                      </a:r>
                    </a:p>
                  </a:txBody>
                  <a:tcPr marL="0" marR="0" marT="0" marB="0" anchor="ctr">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marL="0" algn="ctr" defTabSz="914400" rtl="0" eaLnBrk="1" fontAlgn="b" latinLnBrk="0" hangingPunct="1">
                        <a:buNone/>
                      </a:pPr>
                      <a:r>
                        <a:rPr lang="en-US" sz="1000" b="0" i="0" u="none" strike="noStrike" kern="1200">
                          <a:solidFill>
                            <a:srgbClr val="000000"/>
                          </a:solidFill>
                          <a:effectLst/>
                          <a:latin typeface="Aptos Narrow" panose="020B0004020202020204" pitchFamily="34" charset="0"/>
                          <a:ea typeface="+mn-ea"/>
                          <a:cs typeface="+mn-cs"/>
                        </a:rPr>
                        <a:t>Pending</a:t>
                      </a:r>
                    </a:p>
                  </a:txBody>
                  <a:tcPr marL="0" marR="0" marT="0" marB="0" anchor="ctr">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algn="l" fontAlgn="b">
                        <a:buNone/>
                      </a:pPr>
                      <a:r>
                        <a:rPr lang="en-US" sz="1000" b="0" i="0" u="none" strike="noStrike">
                          <a:solidFill>
                            <a:srgbClr val="000000"/>
                          </a:solidFill>
                          <a:effectLst/>
                          <a:latin typeface="Aptos Narrow" panose="020B0004020202020204" pitchFamily="34" charset="0"/>
                        </a:rPr>
                        <a:t>6/5/26 - No IT Involvement - </a:t>
                      </a:r>
                      <a:r>
                        <a:rPr lang="en-US" sz="1000" b="0" i="0" u="none" strike="noStrike" err="1">
                          <a:solidFill>
                            <a:srgbClr val="000000"/>
                          </a:solidFill>
                          <a:effectLst/>
                          <a:latin typeface="Aptos Narrow" panose="020B0004020202020204" pitchFamily="34" charset="0"/>
                        </a:rPr>
                        <a:t>CSCGlobal</a:t>
                      </a:r>
                      <a:r>
                        <a:rPr lang="en-US" sz="1000" b="0" i="0" u="none" strike="noStrike">
                          <a:solidFill>
                            <a:srgbClr val="000000"/>
                          </a:solidFill>
                          <a:effectLst/>
                          <a:latin typeface="Aptos Narrow" panose="020B0004020202020204" pitchFamily="34" charset="0"/>
                        </a:rPr>
                        <a:t> provided estimate (Non Pet Labor) is $50,220.  Once budget center approved, </a:t>
                      </a:r>
                      <a:r>
                        <a:rPr lang="en-US" sz="1000" b="0" i="0" u="none" strike="noStrike" err="1">
                          <a:solidFill>
                            <a:srgbClr val="000000"/>
                          </a:solidFill>
                          <a:effectLst/>
                          <a:latin typeface="Aptos Narrow" panose="020B0004020202020204" pitchFamily="34" charset="0"/>
                        </a:rPr>
                        <a:t>CSCGlobal</a:t>
                      </a:r>
                      <a:r>
                        <a:rPr lang="en-US" sz="1000" b="0" i="0" u="none" strike="noStrike">
                          <a:solidFill>
                            <a:srgbClr val="000000"/>
                          </a:solidFill>
                          <a:effectLst/>
                          <a:latin typeface="Aptos Narrow" panose="020B0004020202020204" pitchFamily="34" charset="0"/>
                        </a:rPr>
                        <a:t> contact and Digital Marketing can begin coordinating migration.  </a:t>
                      </a:r>
                      <a:r>
                        <a:rPr lang="en-US" sz="1000" b="0" i="0" u="none" strike="noStrike">
                          <a:solidFill>
                            <a:srgbClr val="000000"/>
                          </a:solidFill>
                          <a:effectLst/>
                          <a:highlight>
                            <a:srgbClr val="FFFF00"/>
                          </a:highlight>
                          <a:latin typeface="Aptos Narrow" panose="020B0004020202020204" pitchFamily="34" charset="0"/>
                        </a:rPr>
                        <a:t>Need an </a:t>
                      </a:r>
                      <a:r>
                        <a:rPr lang="en-US" sz="1000" b="0" i="0" u="none" strike="noStrike" err="1">
                          <a:solidFill>
                            <a:srgbClr val="000000"/>
                          </a:solidFill>
                          <a:effectLst/>
                          <a:highlight>
                            <a:srgbClr val="FFFF00"/>
                          </a:highlight>
                          <a:latin typeface="Aptos Narrow" panose="020B0004020202020204" pitchFamily="34" charset="0"/>
                        </a:rPr>
                        <a:t>OpEx</a:t>
                      </a:r>
                      <a:r>
                        <a:rPr lang="en-US" sz="1000" b="0" i="0" u="none" strike="noStrike">
                          <a:solidFill>
                            <a:srgbClr val="000000"/>
                          </a:solidFill>
                          <a:effectLst/>
                          <a:highlight>
                            <a:srgbClr val="FFFF00"/>
                          </a:highlight>
                          <a:latin typeface="Aptos Narrow" panose="020B0004020202020204" pitchFamily="34" charset="0"/>
                        </a:rPr>
                        <a:t> decision as to funding source and whether this will be funded from Portfolio or Marketing Business Dept Code.</a:t>
                      </a:r>
                    </a:p>
                  </a:txBody>
                  <a:tcPr marL="45720" marR="45720" anchor="ctr">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extLst>
                  <a:ext uri="{0D108BD9-81ED-4DB2-BD59-A6C34878D82A}">
                    <a16:rowId xmlns:a16="http://schemas.microsoft.com/office/drawing/2014/main" val="1673483439"/>
                  </a:ext>
                </a:extLst>
              </a:tr>
              <a:tr h="511795">
                <a:tc>
                  <a:txBody>
                    <a:bodyPr/>
                    <a:lstStyle/>
                    <a:p>
                      <a:pPr marL="0" algn="l" defTabSz="914400" rtl="0" eaLnBrk="1" fontAlgn="b" latinLnBrk="0" hangingPunct="1">
                        <a:buNone/>
                      </a:pPr>
                      <a:r>
                        <a:rPr lang="en-US" sz="1000" b="1" i="0" u="none" strike="noStrike" kern="1200">
                          <a:solidFill>
                            <a:srgbClr val="000000"/>
                          </a:solidFill>
                          <a:effectLst/>
                          <a:latin typeface="Aptos Narrow" panose="020B0004020202020204" pitchFamily="34" charset="0"/>
                          <a:ea typeface="+mn-ea"/>
                          <a:cs typeface="+mn-cs"/>
                        </a:rPr>
                        <a:t>Create an agent to manage data quality issue submission from business</a:t>
                      </a:r>
                    </a:p>
                  </a:txBody>
                  <a:tcPr marL="0" marR="0" marT="0" marB="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marL="0" algn="l" defTabSz="914400" rtl="0" eaLnBrk="1" fontAlgn="b" latinLnBrk="0" hangingPunct="1">
                        <a:buNone/>
                      </a:pPr>
                      <a:r>
                        <a:rPr lang="en-US" sz="1000" b="0" i="0" u="none" strike="noStrike" kern="1200">
                          <a:solidFill>
                            <a:srgbClr val="000000"/>
                          </a:solidFill>
                          <a:effectLst/>
                          <a:latin typeface="Aptos Narrow" panose="020B0004020202020204" pitchFamily="34" charset="0"/>
                          <a:ea typeface="+mn-ea"/>
                          <a:cs typeface="+mn-cs"/>
                        </a:rPr>
                        <a:t>6</a:t>
                      </a:r>
                    </a:p>
                  </a:txBody>
                  <a:tcPr marL="0" marR="0" marT="0" marB="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000" b="0" i="0" u="none" strike="noStrike" kern="1200">
                          <a:solidFill>
                            <a:srgbClr val="000000"/>
                          </a:solidFill>
                          <a:effectLst/>
                          <a:latin typeface="Aptos Narrow" panose="020B0004020202020204" pitchFamily="34" charset="0"/>
                          <a:ea typeface="+mn-ea"/>
                          <a:cs typeface="+mn-cs"/>
                        </a:rPr>
                        <a:t>2XS $10K - $50K / 111 - 556 </a:t>
                      </a:r>
                      <a:r>
                        <a:rPr lang="en-US" sz="1000" b="0" i="0" u="none" strike="noStrike" kern="1200" err="1">
                          <a:solidFill>
                            <a:srgbClr val="000000"/>
                          </a:solidFill>
                          <a:effectLst/>
                          <a:latin typeface="Aptos Narrow" panose="020B0004020202020204" pitchFamily="34" charset="0"/>
                          <a:ea typeface="+mn-ea"/>
                          <a:cs typeface="+mn-cs"/>
                        </a:rPr>
                        <a:t>Hrs</a:t>
                      </a:r>
                      <a:endParaRPr lang="en-US" sz="1000" b="0" i="0" u="none" strike="noStrike" kern="1200">
                        <a:solidFill>
                          <a:srgbClr val="000000"/>
                        </a:solidFill>
                        <a:effectLst/>
                        <a:latin typeface="Aptos Narrow" panose="020B0004020202020204" pitchFamily="34" charset="0"/>
                        <a:ea typeface="+mn-ea"/>
                        <a:cs typeface="+mn-cs"/>
                      </a:endParaRPr>
                    </a:p>
                  </a:txBody>
                  <a:tcPr marL="0" marR="0" marT="0" marB="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marL="0" algn="ctr" defTabSz="914400" rtl="0" eaLnBrk="1" fontAlgn="b" latinLnBrk="0" hangingPunct="1">
                        <a:buNone/>
                      </a:pPr>
                      <a:r>
                        <a:rPr lang="en-US" sz="1000" b="0" i="0" u="none" strike="noStrike" kern="1200">
                          <a:solidFill>
                            <a:srgbClr val="000000"/>
                          </a:solidFill>
                          <a:effectLst/>
                          <a:latin typeface="Aptos Narrow" panose="020B0004020202020204" pitchFamily="34" charset="0"/>
                          <a:ea typeface="+mn-ea"/>
                          <a:cs typeface="+mn-cs"/>
                        </a:rPr>
                        <a:t>AT</a:t>
                      </a:r>
                    </a:p>
                  </a:txBody>
                  <a:tcPr marL="0" marR="0" marT="0" marB="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marL="0" algn="l" defTabSz="914400" rtl="0" eaLnBrk="1" fontAlgn="b" latinLnBrk="0" hangingPunct="1">
                        <a:buNone/>
                      </a:pPr>
                      <a:r>
                        <a:rPr lang="en-US" sz="1000" b="0" i="0" u="none" strike="noStrike" kern="1200">
                          <a:solidFill>
                            <a:srgbClr val="000000"/>
                          </a:solidFill>
                          <a:effectLst/>
                          <a:latin typeface="Aptos Narrow" panose="020B0004020202020204" pitchFamily="34" charset="0"/>
                          <a:ea typeface="+mn-ea"/>
                          <a:cs typeface="+mn-cs"/>
                        </a:rPr>
                        <a:t>6/2/26</a:t>
                      </a:r>
                    </a:p>
                  </a:txBody>
                  <a:tcPr marL="0" marR="0" marT="0" marB="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marL="0" algn="l" defTabSz="914400" rtl="0" eaLnBrk="1" fontAlgn="b" latinLnBrk="0" hangingPunct="1">
                        <a:buNone/>
                      </a:pPr>
                      <a:r>
                        <a:rPr lang="en-US" sz="1000" b="0" i="0" u="none" strike="noStrike" kern="1200">
                          <a:solidFill>
                            <a:srgbClr val="000000"/>
                          </a:solidFill>
                          <a:effectLst/>
                          <a:latin typeface="Aptos Narrow" panose="020B0004020202020204" pitchFamily="34" charset="0"/>
                          <a:ea typeface="+mn-ea"/>
                          <a:cs typeface="+mn-cs"/>
                        </a:rPr>
                        <a:t>6/23/202</a:t>
                      </a:r>
                    </a:p>
                  </a:txBody>
                  <a:tcPr marL="0" marR="0" marT="0" marB="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marL="0" algn="l" defTabSz="914400" rtl="0" eaLnBrk="1" fontAlgn="b" latinLnBrk="0" hangingPunct="1">
                        <a:buNone/>
                      </a:pPr>
                      <a:r>
                        <a:rPr lang="en-US" sz="1000" b="0" i="0" u="none" strike="noStrike" kern="1200">
                          <a:solidFill>
                            <a:srgbClr val="000000"/>
                          </a:solidFill>
                          <a:effectLst/>
                          <a:latin typeface="Aptos Narrow" panose="020B0004020202020204" pitchFamily="34" charset="0"/>
                          <a:ea typeface="+mn-ea"/>
                          <a:cs typeface="+mn-cs"/>
                        </a:rPr>
                        <a:t>Pending</a:t>
                      </a:r>
                    </a:p>
                  </a:txBody>
                  <a:tcPr marL="0" marR="0" marT="0" marB="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algn="l" fontAlgn="b">
                        <a:buNone/>
                      </a:pPr>
                      <a:r>
                        <a:rPr lang="en-US" sz="1100" b="0" i="0" u="none" strike="noStrike">
                          <a:solidFill>
                            <a:srgbClr val="000000"/>
                          </a:solidFill>
                          <a:effectLst/>
                          <a:latin typeface="Aptos Narrow" panose="020B0004020202020204" pitchFamily="34" charset="0"/>
                        </a:rPr>
                        <a:t>6/23/26 – Estimated as an iterative build using a resource to design, build, test and iterate on agent capabilities to meet scope, including creating an operational B2R approach</a:t>
                      </a:r>
                    </a:p>
                  </a:txBody>
                  <a:tcPr marL="0" marR="0" marT="0" marB="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extLst>
                  <a:ext uri="{0D108BD9-81ED-4DB2-BD59-A6C34878D82A}">
                    <a16:rowId xmlns:a16="http://schemas.microsoft.com/office/drawing/2014/main" val="2817625084"/>
                  </a:ext>
                </a:extLst>
              </a:tr>
              <a:tr h="511795">
                <a:tc>
                  <a:txBody>
                    <a:bodyPr/>
                    <a:lstStyle/>
                    <a:p>
                      <a:pPr algn="l" fontAlgn="b">
                        <a:buNone/>
                      </a:pPr>
                      <a:r>
                        <a:rPr lang="en-US" sz="1100" b="1" i="0" u="none" strike="noStrike">
                          <a:solidFill>
                            <a:srgbClr val="000000"/>
                          </a:solidFill>
                          <a:effectLst/>
                          <a:latin typeface="Aptos Narrow" panose="020B0004020202020204" pitchFamily="34" charset="0"/>
                        </a:rPr>
                        <a:t>Enable PED Override for MPPC Payroll</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algn="l" fontAlgn="b">
                        <a:buNone/>
                      </a:pPr>
                      <a:r>
                        <a:rPr lang="en-US" sz="1100" b="1" i="0" u="none" strike="noStrike">
                          <a:solidFill>
                            <a:srgbClr val="000000"/>
                          </a:solidFill>
                          <a:effectLst/>
                          <a:latin typeface="Aptos Narrow" panose="020B0004020202020204" pitchFamily="34" charset="0"/>
                        </a:rPr>
                        <a:t>H3</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marL="0" algn="l" defTabSz="914400" rtl="0" eaLnBrk="1" fontAlgn="b" latinLnBrk="0" hangingPunct="1">
                        <a:buNone/>
                      </a:pPr>
                      <a:r>
                        <a:rPr lang="en-US" sz="1000" b="0" i="0" u="none" strike="noStrike" kern="1200">
                          <a:solidFill>
                            <a:srgbClr val="000000"/>
                          </a:solidFill>
                          <a:effectLst/>
                          <a:latin typeface="Aptos Narrow" panose="020B0004020202020204" pitchFamily="34" charset="0"/>
                          <a:ea typeface="+mn-ea"/>
                          <a:cs typeface="+mn-cs"/>
                        </a:rPr>
                        <a:t>Small $100K-$300K</a:t>
                      </a:r>
                    </a:p>
                  </a:txBody>
                  <a:tcPr marL="0" marR="0" marT="0" marB="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algn="l" fontAlgn="b">
                        <a:buNone/>
                      </a:pPr>
                      <a:r>
                        <a:rPr lang="en-US" sz="1100" b="1" i="0" u="none" strike="noStrike">
                          <a:solidFill>
                            <a:srgbClr val="000000"/>
                          </a:solidFill>
                          <a:effectLst/>
                          <a:latin typeface="Aptos Narrow" panose="020B0004020202020204" pitchFamily="34" charset="0"/>
                        </a:rPr>
                        <a:t>TBD</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algn="l" fontAlgn="b">
                        <a:buNone/>
                      </a:pPr>
                      <a:r>
                        <a:rPr lang="en-US" sz="1100" b="1" i="0" u="none" strike="noStrike">
                          <a:solidFill>
                            <a:srgbClr val="000000"/>
                          </a:solidFill>
                          <a:effectLst/>
                          <a:latin typeface="Aptos Narrow" panose="020B0004020202020204" pitchFamily="34" charset="0"/>
                        </a:rPr>
                        <a:t>2/17/2026</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algn="l" fontAlgn="b">
                        <a:buNone/>
                      </a:pPr>
                      <a:r>
                        <a:rPr lang="en-US" sz="1100" b="0" i="0" u="none" strike="noStrike">
                          <a:solidFill>
                            <a:srgbClr val="000000"/>
                          </a:solidFill>
                          <a:effectLst/>
                          <a:latin typeface="Aptos Narrow" panose="020B0004020202020204" pitchFamily="34" charset="0"/>
                        </a:rPr>
                        <a:t>7/13/26</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algn="l" fontAlgn="b">
                        <a:buNone/>
                      </a:pPr>
                      <a:r>
                        <a:rPr lang="en-US" sz="1100" b="1" i="0" u="none" strike="noStrike">
                          <a:solidFill>
                            <a:srgbClr val="000000"/>
                          </a:solidFill>
                          <a:effectLst/>
                          <a:latin typeface="Aptos Narrow" panose="020B0004020202020204" pitchFamily="34" charset="0"/>
                        </a:rPr>
                        <a:t>Pending</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algn="l" fontAlgn="b">
                        <a:buNone/>
                      </a:pPr>
                      <a:r>
                        <a:rPr lang="en-US" sz="1000" b="0" i="0" u="none" strike="noStrike">
                          <a:solidFill>
                            <a:srgbClr val="000000"/>
                          </a:solidFill>
                          <a:effectLst/>
                          <a:latin typeface="Aptos Narrow" panose="020B0004020202020204" pitchFamily="34" charset="0"/>
                        </a:rPr>
                        <a:t>7/13/26 – Received notice  from Gary that no further work on  business process alignment is needed. Removed block and validated Solution and estimate.,</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extLst>
                  <a:ext uri="{0D108BD9-81ED-4DB2-BD59-A6C34878D82A}">
                    <a16:rowId xmlns:a16="http://schemas.microsoft.com/office/drawing/2014/main" val="3243367701"/>
                  </a:ext>
                </a:extLst>
              </a:tr>
            </a:tbl>
          </a:graphicData>
        </a:graphic>
      </p:graphicFrame>
      <p:sp>
        <p:nvSpPr>
          <p:cNvPr id="5" name="TextBox 4">
            <a:extLst>
              <a:ext uri="{FF2B5EF4-FFF2-40B4-BE49-F238E27FC236}">
                <a16:creationId xmlns:a16="http://schemas.microsoft.com/office/drawing/2014/main" id="{B968B4D8-8878-A843-A8FB-0FCED1B69B1A}"/>
              </a:ext>
            </a:extLst>
          </p:cNvPr>
          <p:cNvSpPr txBox="1"/>
          <p:nvPr/>
        </p:nvSpPr>
        <p:spPr>
          <a:xfrm>
            <a:off x="107302" y="468548"/>
            <a:ext cx="10696190" cy="338554"/>
          </a:xfrm>
          <a:prstGeom prst="rect">
            <a:avLst/>
          </a:prstGeom>
          <a:noFill/>
        </p:spPr>
        <p:txBody>
          <a:bodyPr wrap="square" lIns="91440" tIns="45720" rIns="91440" bIns="45720" rtlCol="0" anchor="t">
            <a:spAutoFit/>
          </a:bodyPr>
          <a:lstStyle/>
          <a:p>
            <a:pPr lvl="0">
              <a:defRPr/>
            </a:pPr>
            <a:r>
              <a:rPr lang="en-US" sz="1600">
                <a:solidFill>
                  <a:prstClr val="black"/>
                </a:solidFill>
              </a:rPr>
              <a:t>17 total items pending funding and prioritization pending major build project estimate submittal</a:t>
            </a:r>
            <a:endParaRPr lang="en-US" sz="1600">
              <a:solidFill>
                <a:prstClr val="black"/>
              </a:solidFill>
              <a:cs typeface="Arial"/>
            </a:endParaRPr>
          </a:p>
        </p:txBody>
      </p:sp>
      <p:grpSp>
        <p:nvGrpSpPr>
          <p:cNvPr id="3" name="Group 2">
            <a:extLst>
              <a:ext uri="{FF2B5EF4-FFF2-40B4-BE49-F238E27FC236}">
                <a16:creationId xmlns:a16="http://schemas.microsoft.com/office/drawing/2014/main" id="{9413A1F8-E837-9A52-5149-A097F120BAC3}"/>
              </a:ext>
            </a:extLst>
          </p:cNvPr>
          <p:cNvGrpSpPr/>
          <p:nvPr/>
        </p:nvGrpSpPr>
        <p:grpSpPr>
          <a:xfrm>
            <a:off x="9629191" y="73824"/>
            <a:ext cx="2435155" cy="842823"/>
            <a:chOff x="7996335" y="4089215"/>
            <a:chExt cx="3004322" cy="1323375"/>
          </a:xfrm>
        </p:grpSpPr>
        <p:pic>
          <p:nvPicPr>
            <p:cNvPr id="6" name="Picture 5">
              <a:extLst>
                <a:ext uri="{FF2B5EF4-FFF2-40B4-BE49-F238E27FC236}">
                  <a16:creationId xmlns:a16="http://schemas.microsoft.com/office/drawing/2014/main" id="{719D80DB-1FB2-3F85-2E03-4276283F7EBD}"/>
                </a:ext>
              </a:extLst>
            </p:cNvPr>
            <p:cNvPicPr>
              <a:picLocks noChangeAspect="1"/>
            </p:cNvPicPr>
            <p:nvPr/>
          </p:nvPicPr>
          <p:blipFill>
            <a:blip r:embed="rId2"/>
            <a:stretch>
              <a:fillRect/>
            </a:stretch>
          </p:blipFill>
          <p:spPr>
            <a:xfrm>
              <a:off x="9671548" y="4926763"/>
              <a:ext cx="816808" cy="485827"/>
            </a:xfrm>
            <a:prstGeom prst="rect">
              <a:avLst/>
            </a:prstGeom>
          </p:spPr>
        </p:pic>
        <p:pic>
          <p:nvPicPr>
            <p:cNvPr id="7" name="Picture 6">
              <a:extLst>
                <a:ext uri="{FF2B5EF4-FFF2-40B4-BE49-F238E27FC236}">
                  <a16:creationId xmlns:a16="http://schemas.microsoft.com/office/drawing/2014/main" id="{DC8D3767-F2EE-4E12-2C20-EC9F905450D3}"/>
                </a:ext>
              </a:extLst>
            </p:cNvPr>
            <p:cNvPicPr>
              <a:picLocks noChangeAspect="1"/>
            </p:cNvPicPr>
            <p:nvPr/>
          </p:nvPicPr>
          <p:blipFill>
            <a:blip r:embed="rId3"/>
            <a:stretch>
              <a:fillRect/>
            </a:stretch>
          </p:blipFill>
          <p:spPr>
            <a:xfrm>
              <a:off x="7996335" y="4089215"/>
              <a:ext cx="3004322" cy="1043764"/>
            </a:xfrm>
            <a:prstGeom prst="rect">
              <a:avLst/>
            </a:prstGeom>
          </p:spPr>
        </p:pic>
      </p:grpSp>
    </p:spTree>
    <p:extLst>
      <p:ext uri="{BB962C8B-B14F-4D97-AF65-F5344CB8AC3E}">
        <p14:creationId xmlns:p14="http://schemas.microsoft.com/office/powerpoint/2010/main" val="81648122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6EC4DB-CB6B-A7D1-3794-C7BE906C7A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1B8538-1C87-6A46-B3F4-276C1E688F15}"/>
              </a:ext>
            </a:extLst>
          </p:cNvPr>
          <p:cNvSpPr>
            <a:spLocks noGrp="1"/>
          </p:cNvSpPr>
          <p:nvPr>
            <p:ph type="title"/>
          </p:nvPr>
        </p:nvSpPr>
        <p:spPr>
          <a:xfrm>
            <a:off x="197597" y="28841"/>
            <a:ext cx="10515600" cy="653214"/>
          </a:xfrm>
        </p:spPr>
        <p:txBody>
          <a:bodyPr vert="horz" lIns="0" tIns="0" rIns="0" bIns="0" rtlCol="0" anchor="t" anchorCtr="0">
            <a:normAutofit/>
          </a:bodyPr>
          <a:lstStyle/>
          <a:p>
            <a:r>
              <a:rPr lang="en-US"/>
              <a:t>Closed / On Hold in Last Month </a:t>
            </a:r>
          </a:p>
        </p:txBody>
      </p:sp>
      <p:graphicFrame>
        <p:nvGraphicFramePr>
          <p:cNvPr id="4" name="Table 3">
            <a:extLst>
              <a:ext uri="{FF2B5EF4-FFF2-40B4-BE49-F238E27FC236}">
                <a16:creationId xmlns:a16="http://schemas.microsoft.com/office/drawing/2014/main" id="{886B956A-7639-7816-1400-B57C1E658652}"/>
              </a:ext>
            </a:extLst>
          </p:cNvPr>
          <p:cNvGraphicFramePr>
            <a:graphicFrameLocks noGrp="1"/>
          </p:cNvGraphicFramePr>
          <p:nvPr/>
        </p:nvGraphicFramePr>
        <p:xfrm>
          <a:off x="124120" y="1145253"/>
          <a:ext cx="11943760" cy="3174180"/>
        </p:xfrm>
        <a:graphic>
          <a:graphicData uri="http://schemas.openxmlformats.org/drawingml/2006/table">
            <a:tbl>
              <a:tblPr>
                <a:tableStyleId>{5C22544A-7EE6-4342-B048-85BDC9FD1C3A}</a:tableStyleId>
              </a:tblPr>
              <a:tblGrid>
                <a:gridCol w="2199980">
                  <a:extLst>
                    <a:ext uri="{9D8B030D-6E8A-4147-A177-3AD203B41FA5}">
                      <a16:colId xmlns:a16="http://schemas.microsoft.com/office/drawing/2014/main" val="3471638855"/>
                    </a:ext>
                  </a:extLst>
                </a:gridCol>
                <a:gridCol w="561975">
                  <a:extLst>
                    <a:ext uri="{9D8B030D-6E8A-4147-A177-3AD203B41FA5}">
                      <a16:colId xmlns:a16="http://schemas.microsoft.com/office/drawing/2014/main" val="3028352674"/>
                    </a:ext>
                  </a:extLst>
                </a:gridCol>
                <a:gridCol w="1209675">
                  <a:extLst>
                    <a:ext uri="{9D8B030D-6E8A-4147-A177-3AD203B41FA5}">
                      <a16:colId xmlns:a16="http://schemas.microsoft.com/office/drawing/2014/main" val="1498653313"/>
                    </a:ext>
                  </a:extLst>
                </a:gridCol>
                <a:gridCol w="952500">
                  <a:extLst>
                    <a:ext uri="{9D8B030D-6E8A-4147-A177-3AD203B41FA5}">
                      <a16:colId xmlns:a16="http://schemas.microsoft.com/office/drawing/2014/main" val="3614004200"/>
                    </a:ext>
                  </a:extLst>
                </a:gridCol>
                <a:gridCol w="819150">
                  <a:extLst>
                    <a:ext uri="{9D8B030D-6E8A-4147-A177-3AD203B41FA5}">
                      <a16:colId xmlns:a16="http://schemas.microsoft.com/office/drawing/2014/main" val="426403746"/>
                    </a:ext>
                  </a:extLst>
                </a:gridCol>
                <a:gridCol w="819150">
                  <a:extLst>
                    <a:ext uri="{9D8B030D-6E8A-4147-A177-3AD203B41FA5}">
                      <a16:colId xmlns:a16="http://schemas.microsoft.com/office/drawing/2014/main" val="3578533005"/>
                    </a:ext>
                  </a:extLst>
                </a:gridCol>
                <a:gridCol w="771525">
                  <a:extLst>
                    <a:ext uri="{9D8B030D-6E8A-4147-A177-3AD203B41FA5}">
                      <a16:colId xmlns:a16="http://schemas.microsoft.com/office/drawing/2014/main" val="125616475"/>
                    </a:ext>
                  </a:extLst>
                </a:gridCol>
                <a:gridCol w="4609805">
                  <a:extLst>
                    <a:ext uri="{9D8B030D-6E8A-4147-A177-3AD203B41FA5}">
                      <a16:colId xmlns:a16="http://schemas.microsoft.com/office/drawing/2014/main" val="2731508636"/>
                    </a:ext>
                  </a:extLst>
                </a:gridCol>
              </a:tblGrid>
              <a:tr h="538556">
                <a:tc>
                  <a:txBody>
                    <a:bodyPr/>
                    <a:lstStyle/>
                    <a:p>
                      <a:pPr algn="ctr" fontAlgn="b">
                        <a:buNone/>
                      </a:pPr>
                      <a:r>
                        <a:rPr lang="en-US" sz="1100" u="none" strike="noStrike">
                          <a:solidFill>
                            <a:schemeClr val="tx1"/>
                          </a:solidFill>
                          <a:effectLst/>
                        </a:rPr>
                        <a:t>Description</a:t>
                      </a:r>
                      <a:endParaRPr lang="en-US" sz="1100" b="1" i="0" u="none" strike="noStrike">
                        <a:solidFill>
                          <a:schemeClr val="tx1"/>
                        </a:solidFill>
                        <a:effectLst/>
                        <a:latin typeface="Aptos Narrow" panose="020B0004020202020204" pitchFamily="34" charset="0"/>
                      </a:endParaRPr>
                    </a:p>
                  </a:txBody>
                  <a:tcPr marL="0" marR="0" marT="0" marB="0" anchor="b">
                    <a:lnB w="12700" cap="flat" cmpd="sng" algn="ctr">
                      <a:solidFill>
                        <a:srgbClr val="72B0BD"/>
                      </a:solidFill>
                      <a:prstDash val="solid"/>
                      <a:round/>
                      <a:headEnd type="none" w="med" len="med"/>
                      <a:tailEnd type="none" w="med" len="med"/>
                    </a:lnB>
                    <a:solidFill>
                      <a:schemeClr val="accent4">
                        <a:lumMod val="40000"/>
                        <a:lumOff val="60000"/>
                      </a:schemeClr>
                    </a:solidFill>
                  </a:tcPr>
                </a:tc>
                <a:tc>
                  <a:txBody>
                    <a:bodyPr/>
                    <a:lstStyle/>
                    <a:p>
                      <a:pPr algn="ctr" fontAlgn="b">
                        <a:buNone/>
                      </a:pPr>
                      <a:r>
                        <a:rPr lang="en-US" sz="1100" u="none" strike="noStrike" err="1">
                          <a:solidFill>
                            <a:schemeClr val="tx1"/>
                          </a:solidFill>
                          <a:effectLst/>
                        </a:rPr>
                        <a:t>OpEX</a:t>
                      </a:r>
                      <a:r>
                        <a:rPr lang="en-US" sz="1100" u="none" strike="noStrike">
                          <a:solidFill>
                            <a:schemeClr val="tx1"/>
                          </a:solidFill>
                          <a:effectLst/>
                        </a:rPr>
                        <a:t> Priority</a:t>
                      </a:r>
                      <a:endParaRPr lang="en-US" sz="1100" b="1" i="0" u="none" strike="noStrike">
                        <a:solidFill>
                          <a:schemeClr val="tx1"/>
                        </a:solidFill>
                        <a:effectLst/>
                        <a:latin typeface="Aptos Narrow" panose="020B0004020202020204" pitchFamily="34" charset="0"/>
                      </a:endParaRPr>
                    </a:p>
                  </a:txBody>
                  <a:tcPr marL="0" marR="0" marT="0" marB="0" anchor="b">
                    <a:lnB w="12700" cap="flat" cmpd="sng" algn="ctr">
                      <a:solidFill>
                        <a:srgbClr val="72B0BD"/>
                      </a:solidFill>
                      <a:prstDash val="solid"/>
                      <a:round/>
                      <a:headEnd type="none" w="med" len="med"/>
                      <a:tailEnd type="none" w="med" len="med"/>
                    </a:lnB>
                    <a:solidFill>
                      <a:schemeClr val="accent4">
                        <a:lumMod val="40000"/>
                        <a:lumOff val="60000"/>
                      </a:schemeClr>
                    </a:solidFill>
                  </a:tcPr>
                </a:tc>
                <a:tc>
                  <a:txBody>
                    <a:bodyPr/>
                    <a:lstStyle/>
                    <a:p>
                      <a:pPr algn="ctr" fontAlgn="b">
                        <a:buNone/>
                      </a:pPr>
                      <a:r>
                        <a:rPr lang="en-US" sz="1100" u="none" strike="noStrike">
                          <a:solidFill>
                            <a:schemeClr val="tx1"/>
                          </a:solidFill>
                          <a:effectLst/>
                        </a:rPr>
                        <a:t>Budgetary Estimate (Hours) </a:t>
                      </a:r>
                      <a:endParaRPr lang="en-US" sz="1100" b="1" i="0" u="none" strike="noStrike">
                        <a:solidFill>
                          <a:schemeClr val="tx1"/>
                        </a:solidFill>
                        <a:effectLst/>
                        <a:latin typeface="Aptos Narrow" panose="020B0004020202020204" pitchFamily="34" charset="0"/>
                      </a:endParaRPr>
                    </a:p>
                  </a:txBody>
                  <a:tcPr marL="0" marR="0" marT="0" marB="0" anchor="b">
                    <a:lnB w="12700" cap="flat" cmpd="sng" algn="ctr">
                      <a:solidFill>
                        <a:srgbClr val="72B0BD"/>
                      </a:solidFill>
                      <a:prstDash val="solid"/>
                      <a:round/>
                      <a:headEnd type="none" w="med" len="med"/>
                      <a:tailEnd type="none" w="med" len="med"/>
                    </a:lnB>
                    <a:solidFill>
                      <a:schemeClr val="accent4">
                        <a:lumMod val="40000"/>
                        <a:lumOff val="60000"/>
                      </a:schemeClr>
                    </a:solidFill>
                  </a:tcPr>
                </a:tc>
                <a:tc>
                  <a:txBody>
                    <a:bodyPr/>
                    <a:lstStyle/>
                    <a:p>
                      <a:pPr algn="ctr" fontAlgn="b">
                        <a:buNone/>
                      </a:pPr>
                      <a:r>
                        <a:rPr lang="en-US" sz="1100" b="1" i="0" u="none" strike="noStrike">
                          <a:solidFill>
                            <a:schemeClr val="tx1"/>
                          </a:solidFill>
                          <a:effectLst/>
                          <a:latin typeface="Aptos Narrow" panose="020B0004020202020204" pitchFamily="34" charset="0"/>
                        </a:rPr>
                        <a:t>Team</a:t>
                      </a:r>
                    </a:p>
                    <a:p>
                      <a:pPr algn="ctr" fontAlgn="b">
                        <a:buNone/>
                      </a:pPr>
                      <a:r>
                        <a:rPr lang="en-US" sz="1100" b="1" i="0" u="none" strike="noStrike">
                          <a:solidFill>
                            <a:schemeClr val="tx1"/>
                          </a:solidFill>
                          <a:effectLst/>
                          <a:latin typeface="Aptos Narrow" panose="020B0004020202020204" pitchFamily="34" charset="0"/>
                        </a:rPr>
                        <a:t>Impacts</a:t>
                      </a:r>
                    </a:p>
                    <a:p>
                      <a:pPr algn="ctr" fontAlgn="b">
                        <a:buNone/>
                      </a:pPr>
                      <a:endParaRPr lang="en-US" sz="1100" b="1" i="0" u="none" strike="noStrike">
                        <a:solidFill>
                          <a:schemeClr val="tx1"/>
                        </a:solidFill>
                        <a:effectLst/>
                        <a:latin typeface="Aptos Narrow" panose="020B0004020202020204" pitchFamily="34" charset="0"/>
                      </a:endParaRPr>
                    </a:p>
                  </a:txBody>
                  <a:tcPr marL="0" marR="0" marT="0" marB="0" anchor="b">
                    <a:lnB w="12700" cap="flat" cmpd="sng" algn="ctr">
                      <a:solidFill>
                        <a:srgbClr val="72B0BD"/>
                      </a:solidFill>
                      <a:prstDash val="solid"/>
                      <a:round/>
                      <a:headEnd type="none" w="med" len="med"/>
                      <a:tailEnd type="none" w="med" len="med"/>
                    </a:lnB>
                    <a:solidFill>
                      <a:schemeClr val="accent4">
                        <a:lumMod val="40000"/>
                        <a:lumOff val="60000"/>
                      </a:schemeClr>
                    </a:solidFill>
                  </a:tcPr>
                </a:tc>
                <a:tc>
                  <a:txBody>
                    <a:bodyPr/>
                    <a:lstStyle/>
                    <a:p>
                      <a:pPr algn="ctr" fontAlgn="b">
                        <a:buNone/>
                      </a:pPr>
                      <a:r>
                        <a:rPr lang="en-US" sz="1100" u="none" strike="noStrike">
                          <a:solidFill>
                            <a:schemeClr val="tx1"/>
                          </a:solidFill>
                          <a:effectLst/>
                        </a:rPr>
                        <a:t>IT Triaged</a:t>
                      </a:r>
                      <a:endParaRPr lang="en-US" sz="1100" b="1" i="0" u="none" strike="noStrike">
                        <a:solidFill>
                          <a:schemeClr val="tx1"/>
                        </a:solidFill>
                        <a:effectLst/>
                        <a:latin typeface="Aptos Narrow" panose="020B0004020202020204" pitchFamily="34" charset="0"/>
                      </a:endParaRPr>
                    </a:p>
                  </a:txBody>
                  <a:tcPr marL="0" marR="0" marT="0" marB="0" anchor="b">
                    <a:lnB w="12700" cap="flat" cmpd="sng" algn="ctr">
                      <a:solidFill>
                        <a:srgbClr val="72B0BD"/>
                      </a:solidFill>
                      <a:prstDash val="solid"/>
                      <a:round/>
                      <a:headEnd type="none" w="med" len="med"/>
                      <a:tailEnd type="none" w="med" len="med"/>
                    </a:lnB>
                    <a:solidFill>
                      <a:schemeClr val="accent4">
                        <a:lumMod val="40000"/>
                        <a:lumOff val="60000"/>
                      </a:schemeClr>
                    </a:solidFill>
                  </a:tcPr>
                </a:tc>
                <a:tc>
                  <a:txBody>
                    <a:bodyPr/>
                    <a:lstStyle/>
                    <a:p>
                      <a:pPr algn="ctr" fontAlgn="b">
                        <a:buNone/>
                      </a:pPr>
                      <a:r>
                        <a:rPr lang="en-US" sz="1100" u="none" strike="noStrike">
                          <a:solidFill>
                            <a:schemeClr val="tx1"/>
                          </a:solidFill>
                          <a:effectLst/>
                        </a:rPr>
                        <a:t>Estimate complete Date</a:t>
                      </a:r>
                      <a:endParaRPr lang="en-US" sz="1100" b="1" i="0" u="none" strike="noStrike">
                        <a:solidFill>
                          <a:schemeClr val="tx1"/>
                        </a:solidFill>
                        <a:effectLst/>
                        <a:latin typeface="Aptos Narrow" panose="020B0004020202020204" pitchFamily="34" charset="0"/>
                      </a:endParaRPr>
                    </a:p>
                  </a:txBody>
                  <a:tcPr marL="0" marR="0" marT="0" marB="0" anchor="b">
                    <a:lnB w="12700" cap="flat" cmpd="sng" algn="ctr">
                      <a:solidFill>
                        <a:srgbClr val="72B0BD"/>
                      </a:solidFill>
                      <a:prstDash val="solid"/>
                      <a:round/>
                      <a:headEnd type="none" w="med" len="med"/>
                      <a:tailEnd type="none" w="med" len="med"/>
                    </a:lnB>
                    <a:solidFill>
                      <a:schemeClr val="accent4">
                        <a:lumMod val="40000"/>
                        <a:lumOff val="60000"/>
                      </a:schemeClr>
                    </a:solidFill>
                  </a:tcPr>
                </a:tc>
                <a:tc>
                  <a:txBody>
                    <a:bodyPr/>
                    <a:lstStyle/>
                    <a:p>
                      <a:pPr algn="ctr" fontAlgn="b">
                        <a:buNone/>
                      </a:pPr>
                      <a:r>
                        <a:rPr lang="en-US" sz="1100" u="none" strike="noStrike">
                          <a:solidFill>
                            <a:schemeClr val="tx1"/>
                          </a:solidFill>
                          <a:effectLst/>
                        </a:rPr>
                        <a:t>Funding Approved Date</a:t>
                      </a:r>
                      <a:endParaRPr lang="en-US" sz="1100" b="1" i="0" u="none" strike="noStrike">
                        <a:solidFill>
                          <a:schemeClr val="tx1"/>
                        </a:solidFill>
                        <a:effectLst/>
                        <a:latin typeface="Aptos Narrow" panose="020B0004020202020204" pitchFamily="34" charset="0"/>
                      </a:endParaRPr>
                    </a:p>
                  </a:txBody>
                  <a:tcPr marL="0" marR="0" marT="0" marB="0" anchor="b">
                    <a:lnB w="12700" cap="flat" cmpd="sng" algn="ctr">
                      <a:solidFill>
                        <a:srgbClr val="72B0BD"/>
                      </a:solidFill>
                      <a:prstDash val="solid"/>
                      <a:round/>
                      <a:headEnd type="none" w="med" len="med"/>
                      <a:tailEnd type="none" w="med" len="med"/>
                    </a:lnB>
                    <a:solidFill>
                      <a:schemeClr val="accent4">
                        <a:lumMod val="40000"/>
                        <a:lumOff val="60000"/>
                      </a:schemeClr>
                    </a:solidFill>
                  </a:tcPr>
                </a:tc>
                <a:tc>
                  <a:txBody>
                    <a:bodyPr/>
                    <a:lstStyle/>
                    <a:p>
                      <a:pPr algn="ctr" fontAlgn="b">
                        <a:buNone/>
                      </a:pPr>
                      <a:r>
                        <a:rPr lang="en-US" sz="1100" u="none" strike="noStrike">
                          <a:solidFill>
                            <a:schemeClr val="tx1"/>
                          </a:solidFill>
                          <a:effectLst/>
                        </a:rPr>
                        <a:t>Comment</a:t>
                      </a:r>
                      <a:endParaRPr lang="en-US" sz="1100" b="1" i="0" u="none" strike="noStrike">
                        <a:solidFill>
                          <a:schemeClr val="tx1"/>
                        </a:solidFill>
                        <a:effectLst/>
                        <a:latin typeface="Aptos Narrow" panose="020B0004020202020204" pitchFamily="34" charset="0"/>
                      </a:endParaRPr>
                    </a:p>
                  </a:txBody>
                  <a:tcPr marL="0" marR="0" marT="0" marB="0" anchor="b">
                    <a:lnB w="12700" cap="flat" cmpd="sng" algn="ctr">
                      <a:solidFill>
                        <a:srgbClr val="72B0BD"/>
                      </a:solidFill>
                      <a:prstDash val="solid"/>
                      <a:round/>
                      <a:headEnd type="none" w="med" len="med"/>
                      <a:tailEnd type="none" w="med" len="med"/>
                    </a:lnB>
                    <a:solidFill>
                      <a:schemeClr val="accent4">
                        <a:lumMod val="40000"/>
                        <a:lumOff val="60000"/>
                      </a:schemeClr>
                    </a:solidFill>
                  </a:tcPr>
                </a:tc>
                <a:extLst>
                  <a:ext uri="{0D108BD9-81ED-4DB2-BD59-A6C34878D82A}">
                    <a16:rowId xmlns:a16="http://schemas.microsoft.com/office/drawing/2014/main" val="2993874157"/>
                  </a:ext>
                </a:extLst>
              </a:tr>
              <a:tr h="852992">
                <a:tc>
                  <a:txBody>
                    <a:bodyPr/>
                    <a:lstStyle/>
                    <a:p>
                      <a:pPr algn="l" fontAlgn="b">
                        <a:buNone/>
                      </a:pPr>
                      <a:r>
                        <a:rPr lang="en-US" sz="1100" b="1" i="0" u="none" strike="noStrike">
                          <a:solidFill>
                            <a:srgbClr val="000000"/>
                          </a:solidFill>
                          <a:effectLst/>
                          <a:latin typeface="Aptos Narrow" panose="020B0004020202020204" pitchFamily="34" charset="0"/>
                        </a:rPr>
                        <a:t>GL vs Pet PIF/DWP Data Definition/Differences</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l" fontAlgn="b">
                        <a:buNone/>
                      </a:pPr>
                      <a:r>
                        <a:rPr lang="en-US" sz="1100" b="1" i="0" u="none" strike="noStrike">
                          <a:solidFill>
                            <a:srgbClr val="000000"/>
                          </a:solidFill>
                          <a:effectLst/>
                          <a:latin typeface="Aptos Narrow" panose="020B0004020202020204" pitchFamily="34" charset="0"/>
                        </a:rPr>
                        <a:t>(blank)</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Aptos Narrow" panose="020B0004020202020204" pitchFamily="34" charset="0"/>
                        </a:rPr>
                        <a:t>20 hours, $1,800</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ctr" fontAlgn="b">
                        <a:buNone/>
                      </a:pPr>
                      <a:r>
                        <a:rPr lang="en-US" sz="1100" b="0" i="0" u="none" strike="noStrike">
                          <a:solidFill>
                            <a:srgbClr val="000000"/>
                          </a:solidFill>
                          <a:effectLst/>
                          <a:latin typeface="Aptos Narrow" panose="020B0004020202020204" pitchFamily="34" charset="0"/>
                        </a:rPr>
                        <a:t>GOP, SS, FIN</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r" fontAlgn="b">
                        <a:buNone/>
                      </a:pPr>
                      <a:r>
                        <a:rPr lang="en-US" sz="1100" b="1" i="0" u="none" strike="noStrike">
                          <a:solidFill>
                            <a:srgbClr val="000000"/>
                          </a:solidFill>
                          <a:effectLst/>
                          <a:latin typeface="Aptos Narrow" panose="020B0004020202020204" pitchFamily="34" charset="0"/>
                        </a:rPr>
                        <a:t>4/16/2026</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r" fontAlgn="b">
                        <a:buNone/>
                      </a:pPr>
                      <a:r>
                        <a:rPr lang="en-US" sz="1100" b="0" i="0" u="none" strike="noStrike">
                          <a:solidFill>
                            <a:srgbClr val="000000"/>
                          </a:solidFill>
                          <a:effectLst/>
                          <a:latin typeface="Aptos Narrow" panose="020B0004020202020204" pitchFamily="34" charset="0"/>
                        </a:rPr>
                        <a:t>5/29/2026</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l" fontAlgn="b">
                        <a:buNone/>
                      </a:pPr>
                      <a:r>
                        <a:rPr lang="en-US" sz="1100" b="1" i="0" u="none" strike="noStrike">
                          <a:solidFill>
                            <a:srgbClr val="000000"/>
                          </a:solidFill>
                          <a:effectLst/>
                          <a:latin typeface="Aptos Narrow" panose="020B0004020202020204" pitchFamily="34" charset="0"/>
                        </a:rPr>
                        <a:t>Denied - Closed</a:t>
                      </a:r>
                    </a:p>
                    <a:p>
                      <a:pPr algn="l" fontAlgn="b">
                        <a:buNone/>
                      </a:pPr>
                      <a:endParaRPr lang="en-US" sz="1100" b="1" i="0" u="none" strike="noStrike">
                        <a:solidFill>
                          <a:srgbClr val="000000"/>
                        </a:solidFill>
                        <a:effectLst/>
                        <a:latin typeface="Aptos Narrow" panose="020B0004020202020204" pitchFamily="34" charset="0"/>
                      </a:endParaRP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Aptos Narrow" panose="020B0004020202020204" pitchFamily="34" charset="0"/>
                        </a:rPr>
                        <a:t>7/7/26 – Closed out as a new intake and moved to PO and operations team to address.</a:t>
                      </a:r>
                    </a:p>
                    <a:p>
                      <a:pPr algn="l" fontAlgn="b">
                        <a:buNone/>
                      </a:pPr>
                      <a:r>
                        <a:rPr lang="en-US" sz="1100" b="0" i="0" u="none" strike="noStrike">
                          <a:solidFill>
                            <a:srgbClr val="000000"/>
                          </a:solidFill>
                          <a:effectLst/>
                          <a:latin typeface="Aptos Narrow" panose="020B0004020202020204" pitchFamily="34" charset="0"/>
                        </a:rPr>
                        <a:t> 6/2/26 - Andromeda  is not inclined to support funding this via Build as it is  an existing system problem with GL Data definition / calculation from REN and GIN. </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extLst>
                  <a:ext uri="{0D108BD9-81ED-4DB2-BD59-A6C34878D82A}">
                    <a16:rowId xmlns:a16="http://schemas.microsoft.com/office/drawing/2014/main" val="3366491188"/>
                  </a:ext>
                </a:extLst>
              </a:tr>
              <a:tr h="852992">
                <a:tc>
                  <a:txBody>
                    <a:bodyPr/>
                    <a:lstStyle/>
                    <a:p>
                      <a:pPr algn="l" fontAlgn="ctr">
                        <a:buNone/>
                      </a:pPr>
                      <a:r>
                        <a:rPr lang="en-US" sz="1100" b="1" i="0" u="none" strike="noStrike">
                          <a:solidFill>
                            <a:srgbClr val="000000"/>
                          </a:solidFill>
                          <a:effectLst/>
                          <a:latin typeface="Aptos Narrow" panose="020B0004020202020204" pitchFamily="34" charset="0"/>
                        </a:rPr>
                        <a:t>Pet Reference Data Standardization - Closed IT Intake</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l" fontAlgn="b">
                        <a:buNone/>
                      </a:pPr>
                      <a:r>
                        <a:rPr lang="en-US" sz="1100" b="1" i="0" u="none" strike="noStrike">
                          <a:solidFill>
                            <a:srgbClr val="000000"/>
                          </a:solidFill>
                          <a:effectLst/>
                          <a:latin typeface="Aptos Narrow" panose="020B0004020202020204" pitchFamily="34" charset="0"/>
                        </a:rPr>
                        <a:t>NA</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Aptos Narrow" panose="020B0004020202020204" pitchFamily="34" charset="0"/>
                        </a:rPr>
                        <a:t>NA</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l" fontAlgn="ctr">
                        <a:buNone/>
                      </a:pPr>
                      <a:r>
                        <a:rPr lang="en-US" sz="1100" b="0" i="0" u="none" strike="noStrike">
                          <a:solidFill>
                            <a:srgbClr val="000000"/>
                          </a:solidFill>
                          <a:effectLst/>
                          <a:latin typeface="Aptos Narrow" panose="020B0004020202020204" pitchFamily="34" charset="0"/>
                        </a:rPr>
                        <a:t>NA</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Aptos Narrow" panose="020B0004020202020204" pitchFamily="34" charset="0"/>
                        </a:rPr>
                        <a:t>6/9/26</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Aptos Narrow" panose="020B0004020202020204" pitchFamily="34" charset="0"/>
                        </a:rPr>
                        <a:t>NA</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l" fontAlgn="b">
                        <a:buNone/>
                      </a:pPr>
                      <a:r>
                        <a:rPr lang="en-US" sz="1100" b="1" i="0" u="none" strike="noStrike">
                          <a:solidFill>
                            <a:srgbClr val="000000"/>
                          </a:solidFill>
                          <a:effectLst/>
                          <a:latin typeface="Aptos Narrow" panose="020B0004020202020204" pitchFamily="34" charset="0"/>
                        </a:rPr>
                        <a:t>NA</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l" fontAlgn="ctr">
                        <a:buNone/>
                      </a:pPr>
                      <a:r>
                        <a:rPr lang="en-US" sz="1100" b="0" i="0" u="none" strike="noStrike">
                          <a:solidFill>
                            <a:srgbClr val="000000"/>
                          </a:solidFill>
                          <a:effectLst/>
                          <a:latin typeface="Aptos Narrow" panose="020B0004020202020204" pitchFamily="34" charset="0"/>
                        </a:rPr>
                        <a:t>6/18/26- Per Focused Architecture &amp; Strategy Meeting 6/18/26- Closed Intake as it represents a business-led enterprise data governance effort currently in strategy and remediation planning. Detailed scoping, governance definition, and prioritization must be completed prior to IT estimation or build engagement. Next Steps have been communicated with Business (Andrea and </a:t>
                      </a:r>
                      <a:r>
                        <a:rPr lang="en-US" sz="1100" b="0" i="0" u="none" strike="noStrike" err="1">
                          <a:solidFill>
                            <a:srgbClr val="000000"/>
                          </a:solidFill>
                          <a:effectLst/>
                          <a:latin typeface="Aptos Narrow" panose="020B0004020202020204" pitchFamily="34" charset="0"/>
                        </a:rPr>
                        <a:t>OpEx</a:t>
                      </a:r>
                      <a:r>
                        <a:rPr lang="en-US" sz="1100" b="0" i="0" u="none" strike="noStrike">
                          <a:solidFill>
                            <a:srgbClr val="000000"/>
                          </a:solidFill>
                          <a:effectLst/>
                          <a:latin typeface="Aptos Narrow" panose="020B0004020202020204" pitchFamily="34" charset="0"/>
                        </a:rPr>
                        <a:t>)</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extLst>
                  <a:ext uri="{0D108BD9-81ED-4DB2-BD59-A6C34878D82A}">
                    <a16:rowId xmlns:a16="http://schemas.microsoft.com/office/drawing/2014/main" val="3537741375"/>
                  </a:ext>
                </a:extLst>
              </a:tr>
              <a:tr h="852992">
                <a:tc>
                  <a:txBody>
                    <a:bodyPr/>
                    <a:lstStyle/>
                    <a:p>
                      <a:pPr algn="l" fontAlgn="b">
                        <a:buNone/>
                      </a:pPr>
                      <a:r>
                        <a:rPr lang="en-US" sz="1100" b="1" i="0" u="none" strike="noStrike">
                          <a:solidFill>
                            <a:srgbClr val="000000"/>
                          </a:solidFill>
                          <a:effectLst/>
                          <a:latin typeface="Aptos Narrow" panose="020B0004020202020204" pitchFamily="34" charset="0"/>
                        </a:rPr>
                        <a:t>Data accuracy reporting for Partners from Snowflake</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l" fontAlgn="b">
                        <a:buNone/>
                      </a:pPr>
                      <a:r>
                        <a:rPr lang="en-US" sz="1100" b="1" i="0" u="none" strike="noStrike">
                          <a:solidFill>
                            <a:srgbClr val="000000"/>
                          </a:solidFill>
                          <a:effectLst/>
                          <a:latin typeface="Aptos Narrow" panose="020B0004020202020204" pitchFamily="34" charset="0"/>
                        </a:rPr>
                        <a:t>(blank)</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Aptos Narrow" panose="020B0004020202020204" pitchFamily="34" charset="0"/>
                        </a:rPr>
                        <a:t>2XS $10K - $50K / 111 - 556 </a:t>
                      </a:r>
                      <a:r>
                        <a:rPr lang="en-US" sz="1100" b="0" i="0" u="none" strike="noStrike" err="1">
                          <a:solidFill>
                            <a:srgbClr val="000000"/>
                          </a:solidFill>
                          <a:effectLst/>
                          <a:latin typeface="Aptos Narrow" panose="020B0004020202020204" pitchFamily="34" charset="0"/>
                        </a:rPr>
                        <a:t>Hrs</a:t>
                      </a:r>
                      <a:endParaRPr lang="en-US" sz="1100" b="0" i="0" u="none" strike="noStrike">
                        <a:solidFill>
                          <a:srgbClr val="000000"/>
                        </a:solidFill>
                        <a:effectLst/>
                        <a:latin typeface="Aptos Narrow" panose="020B0004020202020204" pitchFamily="34" charset="0"/>
                      </a:endParaRP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ctr" fontAlgn="b">
                        <a:buNone/>
                      </a:pPr>
                      <a:r>
                        <a:rPr lang="en-US" sz="1100" b="0" i="0" u="none" strike="noStrike">
                          <a:solidFill>
                            <a:srgbClr val="000000"/>
                          </a:solidFill>
                          <a:effectLst/>
                          <a:latin typeface="Aptos Narrow" panose="020B0004020202020204" pitchFamily="34" charset="0"/>
                        </a:rPr>
                        <a:t>AT</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r" fontAlgn="b">
                        <a:buNone/>
                      </a:pPr>
                      <a:r>
                        <a:rPr lang="en-US" sz="1100" b="1" i="0" u="none" strike="noStrike">
                          <a:solidFill>
                            <a:srgbClr val="000000"/>
                          </a:solidFill>
                          <a:effectLst/>
                          <a:latin typeface="Aptos Narrow" panose="020B0004020202020204" pitchFamily="34" charset="0"/>
                        </a:rPr>
                        <a:t>5/26/2026</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r" fontAlgn="b">
                        <a:buNone/>
                      </a:pPr>
                      <a:r>
                        <a:rPr lang="en-US" sz="1100" b="0" i="0" u="none" strike="noStrike">
                          <a:solidFill>
                            <a:srgbClr val="000000"/>
                          </a:solidFill>
                          <a:effectLst/>
                          <a:latin typeface="Aptos Narrow" panose="020B0004020202020204" pitchFamily="34" charset="0"/>
                        </a:rPr>
                        <a:t>5/26/2026</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l" fontAlgn="b">
                        <a:buNone/>
                      </a:pPr>
                      <a:r>
                        <a:rPr lang="en-US" sz="1100" b="1" i="0" u="none" strike="noStrike">
                          <a:solidFill>
                            <a:srgbClr val="000000"/>
                          </a:solidFill>
                          <a:effectLst/>
                          <a:latin typeface="Aptos Narrow" panose="020B0004020202020204" pitchFamily="34" charset="0"/>
                        </a:rPr>
                        <a:t>Pending</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Aptos Narrow" panose="020B0004020202020204" pitchFamily="34" charset="0"/>
                        </a:rPr>
                        <a:t>6/23/26- per Karthik's email analysis is being treated as RUN (defect/data quality issue). Put on Hold if needs Build funding for new enhancement/requirement or if a production issue can be closed</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extLst>
                  <a:ext uri="{0D108BD9-81ED-4DB2-BD59-A6C34878D82A}">
                    <a16:rowId xmlns:a16="http://schemas.microsoft.com/office/drawing/2014/main" val="3118279275"/>
                  </a:ext>
                </a:extLst>
              </a:tr>
            </a:tbl>
          </a:graphicData>
        </a:graphic>
      </p:graphicFrame>
      <p:sp>
        <p:nvSpPr>
          <p:cNvPr id="5" name="TextBox 4">
            <a:extLst>
              <a:ext uri="{FF2B5EF4-FFF2-40B4-BE49-F238E27FC236}">
                <a16:creationId xmlns:a16="http://schemas.microsoft.com/office/drawing/2014/main" id="{228EC7C2-4B3A-5CDD-F597-67EAAC41807A}"/>
              </a:ext>
            </a:extLst>
          </p:cNvPr>
          <p:cNvSpPr txBox="1"/>
          <p:nvPr/>
        </p:nvSpPr>
        <p:spPr>
          <a:xfrm>
            <a:off x="252189" y="357405"/>
            <a:ext cx="10696190" cy="338554"/>
          </a:xfrm>
          <a:prstGeom prst="rect">
            <a:avLst/>
          </a:prstGeom>
          <a:noFill/>
        </p:spPr>
        <p:txBody>
          <a:bodyPr wrap="square" lIns="91440" tIns="45720" rIns="91440" bIns="45720" rtlCol="0" anchor="t">
            <a:spAutoFit/>
          </a:bodyPr>
          <a:lstStyle/>
          <a:p>
            <a:pPr lvl="0">
              <a:defRPr/>
            </a:pPr>
            <a:r>
              <a:rPr lang="en-US" sz="1600">
                <a:solidFill>
                  <a:prstClr val="black"/>
                </a:solidFill>
              </a:rPr>
              <a:t>Items that were denied funding, de-prioritized, or closed for other reasons in the last month</a:t>
            </a:r>
            <a:endParaRPr lang="en-US" sz="1600">
              <a:solidFill>
                <a:prstClr val="black"/>
              </a:solidFill>
              <a:cs typeface="Arial"/>
            </a:endParaRPr>
          </a:p>
        </p:txBody>
      </p:sp>
      <p:grpSp>
        <p:nvGrpSpPr>
          <p:cNvPr id="3" name="Group 2">
            <a:extLst>
              <a:ext uri="{FF2B5EF4-FFF2-40B4-BE49-F238E27FC236}">
                <a16:creationId xmlns:a16="http://schemas.microsoft.com/office/drawing/2014/main" id="{6885FAB6-52C2-7CFD-9938-CC85944C6432}"/>
              </a:ext>
            </a:extLst>
          </p:cNvPr>
          <p:cNvGrpSpPr/>
          <p:nvPr/>
        </p:nvGrpSpPr>
        <p:grpSpPr>
          <a:xfrm>
            <a:off x="9629191" y="73824"/>
            <a:ext cx="2435155" cy="842823"/>
            <a:chOff x="7996335" y="4089215"/>
            <a:chExt cx="3004322" cy="1323375"/>
          </a:xfrm>
        </p:grpSpPr>
        <p:pic>
          <p:nvPicPr>
            <p:cNvPr id="6" name="Picture 5">
              <a:extLst>
                <a:ext uri="{FF2B5EF4-FFF2-40B4-BE49-F238E27FC236}">
                  <a16:creationId xmlns:a16="http://schemas.microsoft.com/office/drawing/2014/main" id="{CBA3C111-E5ED-15C5-B314-3F41E570309C}"/>
                </a:ext>
              </a:extLst>
            </p:cNvPr>
            <p:cNvPicPr>
              <a:picLocks noChangeAspect="1"/>
            </p:cNvPicPr>
            <p:nvPr/>
          </p:nvPicPr>
          <p:blipFill>
            <a:blip r:embed="rId2"/>
            <a:stretch>
              <a:fillRect/>
            </a:stretch>
          </p:blipFill>
          <p:spPr>
            <a:xfrm>
              <a:off x="9671548" y="4926763"/>
              <a:ext cx="816808" cy="485827"/>
            </a:xfrm>
            <a:prstGeom prst="rect">
              <a:avLst/>
            </a:prstGeom>
          </p:spPr>
        </p:pic>
        <p:pic>
          <p:nvPicPr>
            <p:cNvPr id="7" name="Picture 6">
              <a:extLst>
                <a:ext uri="{FF2B5EF4-FFF2-40B4-BE49-F238E27FC236}">
                  <a16:creationId xmlns:a16="http://schemas.microsoft.com/office/drawing/2014/main" id="{16866666-F4F3-B95E-81D5-EB32182A51A3}"/>
                </a:ext>
              </a:extLst>
            </p:cNvPr>
            <p:cNvPicPr>
              <a:picLocks noChangeAspect="1"/>
            </p:cNvPicPr>
            <p:nvPr/>
          </p:nvPicPr>
          <p:blipFill>
            <a:blip r:embed="rId3"/>
            <a:stretch>
              <a:fillRect/>
            </a:stretch>
          </p:blipFill>
          <p:spPr>
            <a:xfrm>
              <a:off x="7996335" y="4089215"/>
              <a:ext cx="3004322" cy="1043764"/>
            </a:xfrm>
            <a:prstGeom prst="rect">
              <a:avLst/>
            </a:prstGeom>
          </p:spPr>
        </p:pic>
      </p:grpSp>
    </p:spTree>
    <p:extLst>
      <p:ext uri="{BB962C8B-B14F-4D97-AF65-F5344CB8AC3E}">
        <p14:creationId xmlns:p14="http://schemas.microsoft.com/office/powerpoint/2010/main" val="406071426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0A506F-2664-1C52-7295-57C6AC0182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479994-19C2-74EF-70B4-771552B78437}"/>
              </a:ext>
            </a:extLst>
          </p:cNvPr>
          <p:cNvSpPr>
            <a:spLocks noGrp="1"/>
          </p:cNvSpPr>
          <p:nvPr>
            <p:ph type="title"/>
          </p:nvPr>
        </p:nvSpPr>
        <p:spPr>
          <a:xfrm>
            <a:off x="197597" y="28841"/>
            <a:ext cx="10515600" cy="653214"/>
          </a:xfrm>
        </p:spPr>
        <p:txBody>
          <a:bodyPr vert="horz" lIns="0" tIns="0" rIns="0" bIns="0" rtlCol="0" anchor="t" anchorCtr="0">
            <a:normAutofit/>
          </a:bodyPr>
          <a:lstStyle/>
          <a:p>
            <a:r>
              <a:rPr lang="en-US"/>
              <a:t>Plan to Build Start</a:t>
            </a:r>
          </a:p>
        </p:txBody>
      </p:sp>
      <p:graphicFrame>
        <p:nvGraphicFramePr>
          <p:cNvPr id="4" name="Table 3">
            <a:extLst>
              <a:ext uri="{FF2B5EF4-FFF2-40B4-BE49-F238E27FC236}">
                <a16:creationId xmlns:a16="http://schemas.microsoft.com/office/drawing/2014/main" id="{9BDBB8BD-37EA-3AFA-9E93-B3A5E9428F99}"/>
              </a:ext>
            </a:extLst>
          </p:cNvPr>
          <p:cNvGraphicFramePr>
            <a:graphicFrameLocks noGrp="1"/>
          </p:cNvGraphicFramePr>
          <p:nvPr/>
        </p:nvGraphicFramePr>
        <p:xfrm>
          <a:off x="124122" y="1465953"/>
          <a:ext cx="11943756" cy="1849196"/>
        </p:xfrm>
        <a:graphic>
          <a:graphicData uri="http://schemas.openxmlformats.org/drawingml/2006/table">
            <a:tbl>
              <a:tblPr>
                <a:tableStyleId>{5C22544A-7EE6-4342-B048-85BDC9FD1C3A}</a:tableStyleId>
              </a:tblPr>
              <a:tblGrid>
                <a:gridCol w="1479300">
                  <a:extLst>
                    <a:ext uri="{9D8B030D-6E8A-4147-A177-3AD203B41FA5}">
                      <a16:colId xmlns:a16="http://schemas.microsoft.com/office/drawing/2014/main" val="3471638855"/>
                    </a:ext>
                  </a:extLst>
                </a:gridCol>
                <a:gridCol w="731405">
                  <a:extLst>
                    <a:ext uri="{9D8B030D-6E8A-4147-A177-3AD203B41FA5}">
                      <a16:colId xmlns:a16="http://schemas.microsoft.com/office/drawing/2014/main" val="3028352674"/>
                    </a:ext>
                  </a:extLst>
                </a:gridCol>
                <a:gridCol w="1189608">
                  <a:extLst>
                    <a:ext uri="{9D8B030D-6E8A-4147-A177-3AD203B41FA5}">
                      <a16:colId xmlns:a16="http://schemas.microsoft.com/office/drawing/2014/main" val="1498653313"/>
                    </a:ext>
                  </a:extLst>
                </a:gridCol>
                <a:gridCol w="612559">
                  <a:extLst>
                    <a:ext uri="{9D8B030D-6E8A-4147-A177-3AD203B41FA5}">
                      <a16:colId xmlns:a16="http://schemas.microsoft.com/office/drawing/2014/main" val="1557018227"/>
                    </a:ext>
                  </a:extLst>
                </a:gridCol>
                <a:gridCol w="862462">
                  <a:extLst>
                    <a:ext uri="{9D8B030D-6E8A-4147-A177-3AD203B41FA5}">
                      <a16:colId xmlns:a16="http://schemas.microsoft.com/office/drawing/2014/main" val="426403746"/>
                    </a:ext>
                  </a:extLst>
                </a:gridCol>
                <a:gridCol w="753690">
                  <a:extLst>
                    <a:ext uri="{9D8B030D-6E8A-4147-A177-3AD203B41FA5}">
                      <a16:colId xmlns:a16="http://schemas.microsoft.com/office/drawing/2014/main" val="3578533005"/>
                    </a:ext>
                  </a:extLst>
                </a:gridCol>
                <a:gridCol w="718222">
                  <a:extLst>
                    <a:ext uri="{9D8B030D-6E8A-4147-A177-3AD203B41FA5}">
                      <a16:colId xmlns:a16="http://schemas.microsoft.com/office/drawing/2014/main" val="125616475"/>
                    </a:ext>
                  </a:extLst>
                </a:gridCol>
                <a:gridCol w="753689">
                  <a:extLst>
                    <a:ext uri="{9D8B030D-6E8A-4147-A177-3AD203B41FA5}">
                      <a16:colId xmlns:a16="http://schemas.microsoft.com/office/drawing/2014/main" val="3752820406"/>
                    </a:ext>
                  </a:extLst>
                </a:gridCol>
                <a:gridCol w="895560">
                  <a:extLst>
                    <a:ext uri="{9D8B030D-6E8A-4147-A177-3AD203B41FA5}">
                      <a16:colId xmlns:a16="http://schemas.microsoft.com/office/drawing/2014/main" val="1328422513"/>
                    </a:ext>
                  </a:extLst>
                </a:gridCol>
                <a:gridCol w="3947261">
                  <a:extLst>
                    <a:ext uri="{9D8B030D-6E8A-4147-A177-3AD203B41FA5}">
                      <a16:colId xmlns:a16="http://schemas.microsoft.com/office/drawing/2014/main" val="2731508636"/>
                    </a:ext>
                  </a:extLst>
                </a:gridCol>
              </a:tblGrid>
              <a:tr h="538556">
                <a:tc>
                  <a:txBody>
                    <a:bodyPr/>
                    <a:lstStyle/>
                    <a:p>
                      <a:pPr algn="ctr" fontAlgn="b">
                        <a:buNone/>
                      </a:pPr>
                      <a:r>
                        <a:rPr lang="en-US" sz="1100" u="none" strike="noStrike">
                          <a:solidFill>
                            <a:schemeClr val="tx1"/>
                          </a:solidFill>
                          <a:effectLst/>
                        </a:rPr>
                        <a:t>Description</a:t>
                      </a:r>
                      <a:endParaRPr lang="en-US" sz="1100" b="1" i="0" u="none" strike="noStrike">
                        <a:solidFill>
                          <a:schemeClr val="tx1"/>
                        </a:solidFill>
                        <a:effectLst/>
                        <a:latin typeface="Aptos Narrow" panose="020B0004020202020204" pitchFamily="34" charset="0"/>
                      </a:endParaRPr>
                    </a:p>
                  </a:txBody>
                  <a:tcPr marL="0" marR="0" marT="0" marB="0" anchor="b">
                    <a:lnB w="12700" cap="flat" cmpd="sng" algn="ctr">
                      <a:solidFill>
                        <a:srgbClr val="72B0BD"/>
                      </a:solidFill>
                      <a:prstDash val="solid"/>
                      <a:round/>
                      <a:headEnd type="none" w="med" len="med"/>
                      <a:tailEnd type="none" w="med" len="med"/>
                    </a:lnB>
                    <a:solidFill>
                      <a:schemeClr val="accent2">
                        <a:lumMod val="40000"/>
                        <a:lumOff val="60000"/>
                      </a:schemeClr>
                    </a:solidFill>
                  </a:tcPr>
                </a:tc>
                <a:tc>
                  <a:txBody>
                    <a:bodyPr/>
                    <a:lstStyle/>
                    <a:p>
                      <a:pPr algn="ctr" fontAlgn="b">
                        <a:buNone/>
                      </a:pPr>
                      <a:r>
                        <a:rPr lang="en-US" sz="1100" u="none" strike="noStrike" err="1">
                          <a:solidFill>
                            <a:schemeClr val="tx1"/>
                          </a:solidFill>
                          <a:effectLst/>
                        </a:rPr>
                        <a:t>OpEX</a:t>
                      </a:r>
                      <a:r>
                        <a:rPr lang="en-US" sz="1100" u="none" strike="noStrike">
                          <a:solidFill>
                            <a:schemeClr val="tx1"/>
                          </a:solidFill>
                          <a:effectLst/>
                        </a:rPr>
                        <a:t> Priority</a:t>
                      </a:r>
                      <a:endParaRPr lang="en-US" sz="1100" b="1" i="0" u="none" strike="noStrike">
                        <a:solidFill>
                          <a:schemeClr val="tx1"/>
                        </a:solidFill>
                        <a:effectLst/>
                        <a:latin typeface="Aptos Narrow" panose="020B0004020202020204" pitchFamily="34" charset="0"/>
                      </a:endParaRPr>
                    </a:p>
                  </a:txBody>
                  <a:tcPr marL="0" marR="0" marT="0" marB="0" anchor="b">
                    <a:lnB w="12700" cap="flat" cmpd="sng" algn="ctr">
                      <a:solidFill>
                        <a:srgbClr val="72B0BD"/>
                      </a:solidFill>
                      <a:prstDash val="solid"/>
                      <a:round/>
                      <a:headEnd type="none" w="med" len="med"/>
                      <a:tailEnd type="none" w="med" len="med"/>
                    </a:lnB>
                    <a:solidFill>
                      <a:schemeClr val="accent2">
                        <a:lumMod val="40000"/>
                        <a:lumOff val="60000"/>
                      </a:schemeClr>
                    </a:solidFill>
                  </a:tcPr>
                </a:tc>
                <a:tc>
                  <a:txBody>
                    <a:bodyPr/>
                    <a:lstStyle/>
                    <a:p>
                      <a:pPr algn="ctr" fontAlgn="b">
                        <a:buNone/>
                      </a:pPr>
                      <a:r>
                        <a:rPr lang="en-US" sz="1100" u="none" strike="noStrike">
                          <a:solidFill>
                            <a:schemeClr val="tx1"/>
                          </a:solidFill>
                          <a:effectLst/>
                        </a:rPr>
                        <a:t>Budgetary Estimate (Hours) </a:t>
                      </a:r>
                      <a:endParaRPr lang="en-US" sz="1100" b="1" i="0" u="none" strike="noStrike">
                        <a:solidFill>
                          <a:schemeClr val="tx1"/>
                        </a:solidFill>
                        <a:effectLst/>
                        <a:latin typeface="Aptos Narrow" panose="020B0004020202020204" pitchFamily="34" charset="0"/>
                      </a:endParaRPr>
                    </a:p>
                  </a:txBody>
                  <a:tcPr marL="0" marR="0" marT="0" marB="0" anchor="b">
                    <a:lnB w="12700" cap="flat" cmpd="sng" algn="ctr">
                      <a:solidFill>
                        <a:srgbClr val="72B0BD"/>
                      </a:solidFill>
                      <a:prstDash val="solid"/>
                      <a:round/>
                      <a:headEnd type="none" w="med" len="med"/>
                      <a:tailEnd type="none" w="med" len="med"/>
                    </a:lnB>
                    <a:solidFill>
                      <a:schemeClr val="accent2">
                        <a:lumMod val="40000"/>
                        <a:lumOff val="60000"/>
                      </a:schemeClr>
                    </a:solidFill>
                  </a:tcPr>
                </a:tc>
                <a:tc>
                  <a:txBody>
                    <a:bodyPr/>
                    <a:lstStyle/>
                    <a:p>
                      <a:pPr algn="ctr" fontAlgn="b">
                        <a:buNone/>
                      </a:pPr>
                      <a:r>
                        <a:rPr lang="en-US" sz="1100" b="1" i="0" u="none" strike="noStrike">
                          <a:solidFill>
                            <a:schemeClr val="tx1"/>
                          </a:solidFill>
                          <a:effectLst/>
                          <a:latin typeface="Aptos Narrow" panose="020B0004020202020204" pitchFamily="34" charset="0"/>
                        </a:rPr>
                        <a:t>Team Impacts</a:t>
                      </a:r>
                    </a:p>
                  </a:txBody>
                  <a:tcPr marL="0" marR="0" marT="0" marB="0" anchor="b">
                    <a:lnB w="12700" cap="flat" cmpd="sng" algn="ctr">
                      <a:solidFill>
                        <a:srgbClr val="72B0BD"/>
                      </a:solidFill>
                      <a:prstDash val="solid"/>
                      <a:round/>
                      <a:headEnd type="none" w="med" len="med"/>
                      <a:tailEnd type="none" w="med" len="med"/>
                    </a:lnB>
                    <a:solidFill>
                      <a:schemeClr val="accent2">
                        <a:lumMod val="40000"/>
                        <a:lumOff val="60000"/>
                      </a:schemeClr>
                    </a:solidFill>
                  </a:tcPr>
                </a:tc>
                <a:tc>
                  <a:txBody>
                    <a:bodyPr/>
                    <a:lstStyle/>
                    <a:p>
                      <a:pPr algn="ctr" fontAlgn="b">
                        <a:buNone/>
                      </a:pPr>
                      <a:r>
                        <a:rPr lang="en-US" sz="1100" u="none" strike="noStrike">
                          <a:solidFill>
                            <a:schemeClr val="tx1"/>
                          </a:solidFill>
                          <a:effectLst/>
                        </a:rPr>
                        <a:t>IT Rec'd</a:t>
                      </a:r>
                      <a:endParaRPr lang="en-US" sz="1100" b="1" i="0" u="none" strike="noStrike">
                        <a:solidFill>
                          <a:schemeClr val="tx1"/>
                        </a:solidFill>
                        <a:effectLst/>
                        <a:latin typeface="Aptos Narrow" panose="020B0004020202020204" pitchFamily="34" charset="0"/>
                      </a:endParaRPr>
                    </a:p>
                  </a:txBody>
                  <a:tcPr marL="0" marR="0" marT="0" marB="0" anchor="b">
                    <a:lnB w="12700" cap="flat" cmpd="sng" algn="ctr">
                      <a:solidFill>
                        <a:srgbClr val="72B0BD"/>
                      </a:solidFill>
                      <a:prstDash val="solid"/>
                      <a:round/>
                      <a:headEnd type="none" w="med" len="med"/>
                      <a:tailEnd type="none" w="med" len="med"/>
                    </a:lnB>
                    <a:solidFill>
                      <a:schemeClr val="accent2">
                        <a:lumMod val="40000"/>
                        <a:lumOff val="60000"/>
                      </a:schemeClr>
                    </a:solidFill>
                  </a:tcPr>
                </a:tc>
                <a:tc>
                  <a:txBody>
                    <a:bodyPr/>
                    <a:lstStyle/>
                    <a:p>
                      <a:pPr algn="ctr" fontAlgn="b">
                        <a:buNone/>
                      </a:pPr>
                      <a:r>
                        <a:rPr lang="en-US" sz="1100" u="none" strike="noStrike">
                          <a:solidFill>
                            <a:schemeClr val="tx1"/>
                          </a:solidFill>
                          <a:effectLst/>
                        </a:rPr>
                        <a:t>Estimate complete Date</a:t>
                      </a:r>
                      <a:endParaRPr lang="en-US" sz="1100" b="1" i="0" u="none" strike="noStrike">
                        <a:solidFill>
                          <a:schemeClr val="tx1"/>
                        </a:solidFill>
                        <a:effectLst/>
                        <a:latin typeface="Aptos Narrow" panose="020B0004020202020204" pitchFamily="34" charset="0"/>
                      </a:endParaRPr>
                    </a:p>
                  </a:txBody>
                  <a:tcPr marL="0" marR="0" marT="0" marB="0" anchor="b">
                    <a:lnB w="12700" cap="flat" cmpd="sng" algn="ctr">
                      <a:solidFill>
                        <a:srgbClr val="72B0BD"/>
                      </a:solidFill>
                      <a:prstDash val="solid"/>
                      <a:round/>
                      <a:headEnd type="none" w="med" len="med"/>
                      <a:tailEnd type="none" w="med" len="med"/>
                    </a:lnB>
                    <a:solidFill>
                      <a:schemeClr val="accent2">
                        <a:lumMod val="40000"/>
                        <a:lumOff val="60000"/>
                      </a:schemeClr>
                    </a:solidFill>
                  </a:tcPr>
                </a:tc>
                <a:tc>
                  <a:txBody>
                    <a:bodyPr/>
                    <a:lstStyle/>
                    <a:p>
                      <a:pPr algn="ctr" fontAlgn="b">
                        <a:buNone/>
                      </a:pPr>
                      <a:r>
                        <a:rPr lang="en-US" sz="1100" u="none" strike="noStrike">
                          <a:solidFill>
                            <a:schemeClr val="tx1"/>
                          </a:solidFill>
                          <a:effectLst/>
                        </a:rPr>
                        <a:t>Funding Approved Date</a:t>
                      </a:r>
                      <a:endParaRPr lang="en-US" sz="1100" b="1" i="0" u="none" strike="noStrike">
                        <a:solidFill>
                          <a:schemeClr val="tx1"/>
                        </a:solidFill>
                        <a:effectLst/>
                        <a:latin typeface="Aptos Narrow" panose="020B0004020202020204" pitchFamily="34" charset="0"/>
                      </a:endParaRPr>
                    </a:p>
                  </a:txBody>
                  <a:tcPr marL="0" marR="0" marT="0" marB="0" anchor="b">
                    <a:lnB w="12700" cap="flat" cmpd="sng" algn="ctr">
                      <a:solidFill>
                        <a:srgbClr val="72B0BD"/>
                      </a:solidFill>
                      <a:prstDash val="solid"/>
                      <a:round/>
                      <a:headEnd type="none" w="med" len="med"/>
                      <a:tailEnd type="none" w="med" len="med"/>
                    </a:lnB>
                    <a:solidFill>
                      <a:schemeClr val="accent2">
                        <a:lumMod val="40000"/>
                        <a:lumOff val="60000"/>
                      </a:schemeClr>
                    </a:solidFill>
                  </a:tcPr>
                </a:tc>
                <a:tc>
                  <a:txBody>
                    <a:bodyPr/>
                    <a:lstStyle/>
                    <a:p>
                      <a:pPr algn="ctr" fontAlgn="b">
                        <a:buNone/>
                      </a:pPr>
                      <a:r>
                        <a:rPr lang="en-US" sz="1100" b="1" i="0" u="none" strike="noStrike">
                          <a:solidFill>
                            <a:schemeClr val="tx1"/>
                          </a:solidFill>
                          <a:effectLst/>
                          <a:latin typeface="Aptos Narrow" panose="020B0004020202020204" pitchFamily="34" charset="0"/>
                        </a:rPr>
                        <a:t>Target Handoff</a:t>
                      </a:r>
                    </a:p>
                  </a:txBody>
                  <a:tcPr marL="0" marR="0" marT="0" marB="0" anchor="b">
                    <a:lnB w="12700" cap="flat" cmpd="sng" algn="ctr">
                      <a:solidFill>
                        <a:srgbClr val="72B0BD"/>
                      </a:solidFill>
                      <a:prstDash val="solid"/>
                      <a:round/>
                      <a:headEnd type="none" w="med" len="med"/>
                      <a:tailEnd type="none" w="med" len="med"/>
                    </a:lnB>
                    <a:solidFill>
                      <a:schemeClr val="accent2">
                        <a:lumMod val="40000"/>
                        <a:lumOff val="60000"/>
                      </a:schemeClr>
                    </a:solidFill>
                  </a:tcPr>
                </a:tc>
                <a:tc>
                  <a:txBody>
                    <a:bodyPr/>
                    <a:lstStyle/>
                    <a:p>
                      <a:pPr algn="ctr" fontAlgn="b">
                        <a:buNone/>
                      </a:pPr>
                      <a:r>
                        <a:rPr lang="en-US" sz="1100" b="1" i="0" u="none" strike="noStrike">
                          <a:solidFill>
                            <a:schemeClr val="tx1"/>
                          </a:solidFill>
                          <a:effectLst/>
                          <a:latin typeface="Aptos Narrow" panose="020B0004020202020204" pitchFamily="34" charset="0"/>
                        </a:rPr>
                        <a:t>Target Delivery </a:t>
                      </a:r>
                      <a:r>
                        <a:rPr lang="en-US" sz="1100" b="1" i="0" u="none" strike="noStrike" err="1">
                          <a:solidFill>
                            <a:schemeClr val="tx1"/>
                          </a:solidFill>
                          <a:effectLst/>
                          <a:latin typeface="Aptos Narrow" panose="020B0004020202020204" pitchFamily="34" charset="0"/>
                        </a:rPr>
                        <a:t>Qtr</a:t>
                      </a:r>
                      <a:endParaRPr lang="en-US" sz="1100" b="1" i="0" u="none" strike="noStrike">
                        <a:solidFill>
                          <a:schemeClr val="tx1"/>
                        </a:solidFill>
                        <a:effectLst/>
                        <a:latin typeface="Aptos Narrow" panose="020B0004020202020204" pitchFamily="34" charset="0"/>
                      </a:endParaRPr>
                    </a:p>
                  </a:txBody>
                  <a:tcPr marL="0" marR="0" marT="0" marB="0" anchor="b">
                    <a:lnB w="12700" cap="flat" cmpd="sng" algn="ctr">
                      <a:solidFill>
                        <a:srgbClr val="72B0BD"/>
                      </a:solidFill>
                      <a:prstDash val="solid"/>
                      <a:round/>
                      <a:headEnd type="none" w="med" len="med"/>
                      <a:tailEnd type="none" w="med" len="med"/>
                    </a:lnB>
                    <a:solidFill>
                      <a:schemeClr val="accent2">
                        <a:lumMod val="40000"/>
                        <a:lumOff val="60000"/>
                      </a:schemeClr>
                    </a:solidFill>
                  </a:tcPr>
                </a:tc>
                <a:tc>
                  <a:txBody>
                    <a:bodyPr/>
                    <a:lstStyle/>
                    <a:p>
                      <a:pPr algn="ctr" fontAlgn="b">
                        <a:buNone/>
                      </a:pPr>
                      <a:r>
                        <a:rPr lang="en-US" sz="1100" u="none" strike="noStrike">
                          <a:solidFill>
                            <a:schemeClr val="tx1"/>
                          </a:solidFill>
                          <a:effectLst/>
                        </a:rPr>
                        <a:t>Comment</a:t>
                      </a:r>
                      <a:endParaRPr lang="en-US" sz="1100" b="1" i="0" u="none" strike="noStrike">
                        <a:solidFill>
                          <a:schemeClr val="tx1"/>
                        </a:solidFill>
                        <a:effectLst/>
                        <a:latin typeface="Aptos Narrow" panose="020B0004020202020204" pitchFamily="34" charset="0"/>
                      </a:endParaRPr>
                    </a:p>
                  </a:txBody>
                  <a:tcPr marL="0" marR="0" marT="0" marB="0" anchor="b">
                    <a:lnB w="12700" cap="flat" cmpd="sng" algn="ctr">
                      <a:solidFill>
                        <a:srgbClr val="72B0BD"/>
                      </a:solidFill>
                      <a:prstDash val="solid"/>
                      <a:round/>
                      <a:headEnd type="none" w="med" len="med"/>
                      <a:tailEnd type="none" w="med" len="med"/>
                    </a:lnB>
                    <a:solidFill>
                      <a:schemeClr val="accent2">
                        <a:lumMod val="40000"/>
                        <a:lumOff val="60000"/>
                      </a:schemeClr>
                    </a:solidFill>
                  </a:tcPr>
                </a:tc>
                <a:extLst>
                  <a:ext uri="{0D108BD9-81ED-4DB2-BD59-A6C34878D82A}">
                    <a16:rowId xmlns:a16="http://schemas.microsoft.com/office/drawing/2014/main" val="2993874157"/>
                  </a:ext>
                </a:extLst>
              </a:tr>
              <a:tr h="408966">
                <a:tc>
                  <a:txBody>
                    <a:bodyPr/>
                    <a:lstStyle/>
                    <a:p>
                      <a:pPr algn="l" fontAlgn="b">
                        <a:buNone/>
                      </a:pPr>
                      <a:r>
                        <a:rPr lang="en-US" sz="1100" b="0" i="0" u="none" strike="noStrike">
                          <a:solidFill>
                            <a:srgbClr val="000000"/>
                          </a:solidFill>
                          <a:effectLst/>
                          <a:latin typeface="Aptos Narrow" panose="020B0004020202020204" pitchFamily="34" charset="0"/>
                        </a:rPr>
                        <a:t>Aggregator Quote Capability Enablement</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l" fontAlgn="b">
                        <a:buNone/>
                      </a:pPr>
                      <a:r>
                        <a:rPr lang="en-US" sz="1100" b="1" i="0" u="none" strike="noStrike">
                          <a:solidFill>
                            <a:srgbClr val="000000"/>
                          </a:solidFill>
                          <a:effectLst/>
                          <a:latin typeface="Aptos Narrow" panose="020B0004020202020204" pitchFamily="34" charset="0"/>
                        </a:rPr>
                        <a:t>H-1</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Aptos Narrow" panose="020B0004020202020204" pitchFamily="34" charset="0"/>
                        </a:rPr>
                        <a:t>TBD</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ctr" fontAlgn="b">
                        <a:buNone/>
                      </a:pPr>
                      <a:r>
                        <a:rPr lang="en-US" sz="1100" b="0" i="0" u="none" strike="noStrike">
                          <a:solidFill>
                            <a:srgbClr val="000000"/>
                          </a:solidFill>
                          <a:effectLst/>
                          <a:latin typeface="Aptos Narrow" panose="020B0004020202020204" pitchFamily="34" charset="0"/>
                        </a:rPr>
                        <a:t>EW</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r" fontAlgn="b">
                        <a:buNone/>
                      </a:pPr>
                      <a:r>
                        <a:rPr lang="en-US" sz="1100" b="0" i="0" u="none" strike="noStrike">
                          <a:solidFill>
                            <a:srgbClr val="000000"/>
                          </a:solidFill>
                          <a:effectLst/>
                          <a:latin typeface="Aptos Narrow" panose="020B0004020202020204" pitchFamily="34" charset="0"/>
                        </a:rPr>
                        <a:t>5/28/2026</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r" fontAlgn="b">
                        <a:buNone/>
                      </a:pPr>
                      <a:r>
                        <a:rPr lang="en-US" sz="1100" b="0" i="0" u="none" strike="noStrike">
                          <a:solidFill>
                            <a:srgbClr val="000000"/>
                          </a:solidFill>
                          <a:effectLst/>
                          <a:latin typeface="Aptos Narrow" panose="020B0004020202020204" pitchFamily="34" charset="0"/>
                        </a:rPr>
                        <a:t>8/17/2026 (t)</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l" fontAlgn="b">
                        <a:buNone/>
                      </a:pPr>
                      <a:endParaRPr lang="en-US" sz="1100" b="1" i="0" u="none" strike="noStrike">
                        <a:solidFill>
                          <a:srgbClr val="000000"/>
                        </a:solidFill>
                        <a:effectLst/>
                        <a:latin typeface="Aptos Narrow" panose="020B0004020202020204" pitchFamily="34" charset="0"/>
                      </a:endParaRP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l" fontAlgn="b">
                        <a:buNone/>
                      </a:pPr>
                      <a:endParaRPr lang="en-US" sz="1000" b="0" i="0" u="none" strike="noStrike">
                        <a:solidFill>
                          <a:srgbClr val="000000"/>
                        </a:solidFill>
                        <a:effectLst/>
                        <a:latin typeface="Aptos Narrow" panose="020B0004020202020204" pitchFamily="34" charset="0"/>
                      </a:endParaRP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l" fontAlgn="b">
                        <a:buNone/>
                      </a:pPr>
                      <a:r>
                        <a:rPr lang="en-US" sz="1100" b="1" i="0" u="none" strike="noStrike">
                          <a:solidFill>
                            <a:srgbClr val="000000"/>
                          </a:solidFill>
                          <a:effectLst/>
                          <a:latin typeface="Aptos Narrow" panose="020B0004020202020204" pitchFamily="34" charset="0"/>
                        </a:rPr>
                        <a:t>2027</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Note; that if it is decided to move forward, it will need to complete a Plan to Build /project delivery phase before a refined estimate will be available.  Unclear whether it is expected to start this year or next.</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extLst>
                  <a:ext uri="{0D108BD9-81ED-4DB2-BD59-A6C34878D82A}">
                    <a16:rowId xmlns:a16="http://schemas.microsoft.com/office/drawing/2014/main" val="1631737652"/>
                  </a:ext>
                </a:extLst>
              </a:tr>
              <a:tr h="0">
                <a:tc>
                  <a:txBody>
                    <a:bodyPr/>
                    <a:lstStyle/>
                    <a:p>
                      <a:pPr algn="l" fontAlgn="ctr">
                        <a:buNone/>
                      </a:pPr>
                      <a:r>
                        <a:rPr lang="en-US" sz="1100" b="0" i="0" u="none" strike="noStrike">
                          <a:solidFill>
                            <a:srgbClr val="000000"/>
                          </a:solidFill>
                          <a:effectLst/>
                          <a:latin typeface="Aptos Narrow" panose="020B0004020202020204" pitchFamily="34" charset="0"/>
                        </a:rPr>
                        <a:t>TCPA "Consent to Contact" For Outbound Phone Call</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l" fontAlgn="b">
                        <a:buNone/>
                      </a:pPr>
                      <a:endParaRPr lang="en-US" sz="1100" b="1" i="0" u="none" strike="noStrike">
                        <a:solidFill>
                          <a:srgbClr val="000000"/>
                        </a:solidFill>
                        <a:effectLst/>
                        <a:latin typeface="Aptos Narrow" panose="020B0004020202020204" pitchFamily="34" charset="0"/>
                      </a:endParaRP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ctr" fontAlgn="ctr">
                        <a:buNone/>
                      </a:pPr>
                      <a:r>
                        <a:rPr lang="en-US" sz="1100" b="0" i="0" u="none" strike="noStrike">
                          <a:solidFill>
                            <a:srgbClr val="000000"/>
                          </a:solidFill>
                          <a:effectLst/>
                          <a:latin typeface="Aptos Narrow" panose="020B0004020202020204" pitchFamily="34" charset="0"/>
                        </a:rPr>
                        <a:t>EW, GOP, ITC, PR, SS, TB</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r" fontAlgn="ctr">
                        <a:buNone/>
                      </a:pPr>
                      <a:r>
                        <a:rPr lang="en-US" sz="1100" b="0" i="0" u="none" strike="noStrike">
                          <a:solidFill>
                            <a:srgbClr val="000000"/>
                          </a:solidFill>
                          <a:effectLst/>
                          <a:latin typeface="Aptos Narrow" panose="020B0004020202020204" pitchFamily="34" charset="0"/>
                        </a:rPr>
                        <a:t>12/11/2025; resubmitted 6/9/26</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l" fontAlgn="ctr">
                        <a:buNone/>
                      </a:pPr>
                      <a:r>
                        <a:rPr lang="en-US" sz="1100" b="0" i="0" u="none" strike="noStrike">
                          <a:solidFill>
                            <a:srgbClr val="000000"/>
                          </a:solidFill>
                          <a:effectLst/>
                          <a:latin typeface="Aptos Narrow" panose="020B0004020202020204" pitchFamily="34" charset="0"/>
                        </a:rPr>
                        <a:t>7/22/26 (t)</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sz="1100" b="1" i="0" u="none" strike="noStrike">
                        <a:solidFill>
                          <a:srgbClr val="000000"/>
                        </a:solidFill>
                        <a:effectLst/>
                        <a:latin typeface="Aptos Narrow" panose="020B0004020202020204" pitchFamily="34" charset="0"/>
                      </a:endParaRP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l">
                        <a:spcBef>
                          <a:spcPts val="0"/>
                        </a:spcBef>
                      </a:pPr>
                      <a:endParaRPr lang="en-US" sz="1100" b="0" i="0" u="none" strike="noStrike" kern="1200">
                        <a:solidFill>
                          <a:srgbClr val="000000"/>
                        </a:solidFill>
                        <a:effectLst/>
                        <a:highlight>
                          <a:srgbClr val="FFFF00"/>
                        </a:highlight>
                        <a:latin typeface="Aptos Narrow" panose="020B0004020202020204" pitchFamily="34" charset="0"/>
                        <a:ea typeface="+mn-ea"/>
                        <a:cs typeface="+mn-cs"/>
                      </a:endParaRP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sz="1100" b="1" i="0" u="none" strike="noStrike">
                          <a:solidFill>
                            <a:srgbClr val="000000"/>
                          </a:solidFill>
                          <a:effectLst/>
                          <a:latin typeface="Aptos Narrow" panose="020B0004020202020204" pitchFamily="34" charset="0"/>
                        </a:rPr>
                        <a:t>4</a:t>
                      </a:r>
                      <a:r>
                        <a:rPr lang="en-US" sz="1100" b="1" i="0" u="none" strike="noStrike" baseline="30000">
                          <a:solidFill>
                            <a:srgbClr val="000000"/>
                          </a:solidFill>
                          <a:effectLst/>
                          <a:latin typeface="Aptos Narrow" panose="020B0004020202020204" pitchFamily="34" charset="0"/>
                        </a:rPr>
                        <a:t>th</a:t>
                      </a:r>
                      <a:r>
                        <a:rPr lang="en-US" sz="1100" b="1" i="0" u="none" strike="noStrike">
                          <a:solidFill>
                            <a:srgbClr val="000000"/>
                          </a:solidFill>
                          <a:effectLst/>
                          <a:latin typeface="Aptos Narrow" panose="020B0004020202020204" pitchFamily="34" charset="0"/>
                        </a:rPr>
                        <a:t> </a:t>
                      </a:r>
                      <a:r>
                        <a:rPr lang="en-US" sz="1100" b="1" i="0" u="none" strike="noStrike" err="1">
                          <a:solidFill>
                            <a:srgbClr val="000000"/>
                          </a:solidFill>
                          <a:effectLst/>
                          <a:latin typeface="Aptos Narrow" panose="020B0004020202020204" pitchFamily="34" charset="0"/>
                        </a:rPr>
                        <a:t>Qtr</a:t>
                      </a:r>
                      <a:endParaRPr lang="en-US" sz="1100" b="1" i="0" u="none" strike="noStrike">
                        <a:solidFill>
                          <a:srgbClr val="000000"/>
                        </a:solidFill>
                        <a:effectLst/>
                        <a:latin typeface="Aptos Narrow" panose="020B0004020202020204" pitchFamily="34" charset="0"/>
                      </a:endParaRP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l">
                        <a:spcBef>
                          <a:spcPts val="0"/>
                        </a:spcBef>
                      </a:pPr>
                      <a:r>
                        <a:rPr lang="en-US" sz="1100" b="1" i="0" u="none" strike="noStrike">
                          <a:solidFill>
                            <a:srgbClr val="000000"/>
                          </a:solidFill>
                          <a:effectLst/>
                          <a:latin typeface="Aptos Narrow" panose="020B0004020202020204" pitchFamily="34" charset="0"/>
                        </a:rPr>
                        <a:t>Successor to 2027 Edelivery – project, complete a quick pass for initial sizing and to determine if room in 4</a:t>
                      </a:r>
                      <a:r>
                        <a:rPr lang="en-US" sz="1100" b="1" i="0" u="none" strike="noStrike" baseline="30000">
                          <a:solidFill>
                            <a:srgbClr val="000000"/>
                          </a:solidFill>
                          <a:effectLst/>
                          <a:latin typeface="Aptos Narrow" panose="020B0004020202020204" pitchFamily="34" charset="0"/>
                        </a:rPr>
                        <a:t>th</a:t>
                      </a:r>
                      <a:r>
                        <a:rPr lang="en-US" sz="1100" b="1" i="0" u="none" strike="noStrike">
                          <a:solidFill>
                            <a:srgbClr val="000000"/>
                          </a:solidFill>
                          <a:effectLst/>
                          <a:latin typeface="Aptos Narrow" panose="020B0004020202020204" pitchFamily="34" charset="0"/>
                        </a:rPr>
                        <a:t> </a:t>
                      </a:r>
                      <a:r>
                        <a:rPr lang="en-US" sz="1100" b="1" i="0" u="none" strike="noStrike" err="1">
                          <a:solidFill>
                            <a:srgbClr val="000000"/>
                          </a:solidFill>
                          <a:effectLst/>
                          <a:latin typeface="Aptos Narrow" panose="020B0004020202020204" pitchFamily="34" charset="0"/>
                        </a:rPr>
                        <a:t>Qtr</a:t>
                      </a:r>
                      <a:r>
                        <a:rPr lang="en-US" sz="1100" b="1" i="0" u="none" strike="noStrike">
                          <a:solidFill>
                            <a:srgbClr val="000000"/>
                          </a:solidFill>
                          <a:effectLst/>
                          <a:latin typeface="Aptos Narrow" panose="020B0004020202020204" pitchFamily="34" charset="0"/>
                        </a:rPr>
                        <a:t> to start and carry over</a:t>
                      </a:r>
                      <a:endParaRPr lang="en-US" sz="1100" b="0" i="0" u="none" strike="noStrike" kern="1200">
                        <a:solidFill>
                          <a:srgbClr val="000000"/>
                        </a:solidFill>
                        <a:effectLst/>
                        <a:highlight>
                          <a:srgbClr val="FFFF00"/>
                        </a:highlight>
                        <a:latin typeface="Aptos Narrow" panose="020B0004020202020204" pitchFamily="34" charset="0"/>
                        <a:ea typeface="+mn-ea"/>
                        <a:cs typeface="+mn-cs"/>
                      </a:endParaRP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extLst>
                  <a:ext uri="{0D108BD9-81ED-4DB2-BD59-A6C34878D82A}">
                    <a16:rowId xmlns:a16="http://schemas.microsoft.com/office/drawing/2014/main" val="1778190515"/>
                  </a:ext>
                </a:extLst>
              </a:tr>
            </a:tbl>
          </a:graphicData>
        </a:graphic>
      </p:graphicFrame>
      <p:sp>
        <p:nvSpPr>
          <p:cNvPr id="5" name="TextBox 4">
            <a:extLst>
              <a:ext uri="{FF2B5EF4-FFF2-40B4-BE49-F238E27FC236}">
                <a16:creationId xmlns:a16="http://schemas.microsoft.com/office/drawing/2014/main" id="{88E2DDD4-E84E-84E3-EBE6-41C879DCB811}"/>
              </a:ext>
            </a:extLst>
          </p:cNvPr>
          <p:cNvSpPr txBox="1"/>
          <p:nvPr/>
        </p:nvSpPr>
        <p:spPr>
          <a:xfrm>
            <a:off x="242178" y="354807"/>
            <a:ext cx="9496397" cy="646331"/>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solidFill>
                  <a:prstClr val="black"/>
                </a:solidFill>
                <a:latin typeface="Aptos" panose="02110004020202020204"/>
              </a:rPr>
              <a:t>Currently 7</a:t>
            </a:r>
            <a:r>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t> items in Plan to Build / Ready for Hand-off</a:t>
            </a:r>
            <a:r>
              <a:rPr lang="en-US" sz="1200">
                <a:solidFill>
                  <a:prstClr val="black"/>
                </a:solidFill>
                <a:latin typeface="Aptos" panose="02110004020202020204"/>
              </a:rPr>
              <a:t>. 1 (Cookie Banner) will remain on hold pending new tool readiness </a:t>
            </a:r>
            <a:r>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t>recently funded and added to Plan 2 build. 4 ready to hand-off next week with 2 having dependency on contract signage prior to moving to build backlog, and 2 entering into P2B</a:t>
            </a:r>
            <a:endParaRPr lang="en-US" sz="1200" b="0" i="0" u="none" strike="noStrike" kern="1200" cap="none" spc="0" normalizeH="0" baseline="0" noProof="0">
              <a:ln>
                <a:noFill/>
              </a:ln>
              <a:solidFill>
                <a:prstClr val="black"/>
              </a:solidFill>
              <a:effectLst/>
              <a:uLnTx/>
              <a:uFillTx/>
              <a:latin typeface="Aptos" panose="02110004020202020204"/>
            </a:endParaRPr>
          </a:p>
        </p:txBody>
      </p:sp>
      <p:grpSp>
        <p:nvGrpSpPr>
          <p:cNvPr id="3" name="Group 2">
            <a:extLst>
              <a:ext uri="{FF2B5EF4-FFF2-40B4-BE49-F238E27FC236}">
                <a16:creationId xmlns:a16="http://schemas.microsoft.com/office/drawing/2014/main" id="{E968DBF9-8249-914D-BBBA-270078E990E5}"/>
              </a:ext>
            </a:extLst>
          </p:cNvPr>
          <p:cNvGrpSpPr/>
          <p:nvPr/>
        </p:nvGrpSpPr>
        <p:grpSpPr>
          <a:xfrm>
            <a:off x="9681030" y="91711"/>
            <a:ext cx="2435155" cy="813545"/>
            <a:chOff x="7996335" y="4089215"/>
            <a:chExt cx="3004322" cy="1323375"/>
          </a:xfrm>
        </p:grpSpPr>
        <p:pic>
          <p:nvPicPr>
            <p:cNvPr id="6" name="Picture 5">
              <a:extLst>
                <a:ext uri="{FF2B5EF4-FFF2-40B4-BE49-F238E27FC236}">
                  <a16:creationId xmlns:a16="http://schemas.microsoft.com/office/drawing/2014/main" id="{4D80B057-3640-0522-09E6-260020208181}"/>
                </a:ext>
              </a:extLst>
            </p:cNvPr>
            <p:cNvPicPr>
              <a:picLocks noChangeAspect="1"/>
            </p:cNvPicPr>
            <p:nvPr/>
          </p:nvPicPr>
          <p:blipFill>
            <a:blip r:embed="rId2"/>
            <a:stretch>
              <a:fillRect/>
            </a:stretch>
          </p:blipFill>
          <p:spPr>
            <a:xfrm>
              <a:off x="9671548" y="4926763"/>
              <a:ext cx="816808" cy="485827"/>
            </a:xfrm>
            <a:prstGeom prst="rect">
              <a:avLst/>
            </a:prstGeom>
          </p:spPr>
        </p:pic>
        <p:pic>
          <p:nvPicPr>
            <p:cNvPr id="7" name="Picture 6">
              <a:extLst>
                <a:ext uri="{FF2B5EF4-FFF2-40B4-BE49-F238E27FC236}">
                  <a16:creationId xmlns:a16="http://schemas.microsoft.com/office/drawing/2014/main" id="{418AA6EB-3D5C-3E76-A5D5-719876AECF19}"/>
                </a:ext>
              </a:extLst>
            </p:cNvPr>
            <p:cNvPicPr>
              <a:picLocks noChangeAspect="1"/>
            </p:cNvPicPr>
            <p:nvPr/>
          </p:nvPicPr>
          <p:blipFill>
            <a:blip r:embed="rId3"/>
            <a:stretch>
              <a:fillRect/>
            </a:stretch>
          </p:blipFill>
          <p:spPr>
            <a:xfrm>
              <a:off x="7996335" y="4089215"/>
              <a:ext cx="3004322" cy="1043764"/>
            </a:xfrm>
            <a:prstGeom prst="rect">
              <a:avLst/>
            </a:prstGeom>
          </p:spPr>
        </p:pic>
      </p:grpSp>
    </p:spTree>
    <p:extLst>
      <p:ext uri="{BB962C8B-B14F-4D97-AF65-F5344CB8AC3E}">
        <p14:creationId xmlns:p14="http://schemas.microsoft.com/office/powerpoint/2010/main" val="59531288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468CEC-B7FA-4BDA-AD3D-E1AD0C53AA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C9C381-8332-0816-2227-9CA95062D8C2}"/>
              </a:ext>
            </a:extLst>
          </p:cNvPr>
          <p:cNvSpPr>
            <a:spLocks noGrp="1"/>
          </p:cNvSpPr>
          <p:nvPr>
            <p:ph type="title"/>
          </p:nvPr>
        </p:nvSpPr>
        <p:spPr>
          <a:xfrm>
            <a:off x="197597" y="28841"/>
            <a:ext cx="10515600" cy="653214"/>
          </a:xfrm>
        </p:spPr>
        <p:txBody>
          <a:bodyPr vert="horz" lIns="0" tIns="0" rIns="0" bIns="0" rtlCol="0" anchor="t" anchorCtr="0">
            <a:normAutofit/>
          </a:bodyPr>
          <a:lstStyle/>
          <a:p>
            <a:r>
              <a:rPr lang="en-US"/>
              <a:t>Plan to Build /Ready for Hand-off</a:t>
            </a:r>
          </a:p>
        </p:txBody>
      </p:sp>
      <p:graphicFrame>
        <p:nvGraphicFramePr>
          <p:cNvPr id="4" name="Table 3">
            <a:extLst>
              <a:ext uri="{FF2B5EF4-FFF2-40B4-BE49-F238E27FC236}">
                <a16:creationId xmlns:a16="http://schemas.microsoft.com/office/drawing/2014/main" id="{25704B1A-6486-0427-8BF3-85FD3B88DD35}"/>
              </a:ext>
            </a:extLst>
          </p:cNvPr>
          <p:cNvGraphicFramePr>
            <a:graphicFrameLocks noGrp="1"/>
          </p:cNvGraphicFramePr>
          <p:nvPr/>
        </p:nvGraphicFramePr>
        <p:xfrm>
          <a:off x="124122" y="1465953"/>
          <a:ext cx="11943756" cy="4560925"/>
        </p:xfrm>
        <a:graphic>
          <a:graphicData uri="http://schemas.openxmlformats.org/drawingml/2006/table">
            <a:tbl>
              <a:tblPr>
                <a:tableStyleId>{5C22544A-7EE6-4342-B048-85BDC9FD1C3A}</a:tableStyleId>
              </a:tblPr>
              <a:tblGrid>
                <a:gridCol w="1479300">
                  <a:extLst>
                    <a:ext uri="{9D8B030D-6E8A-4147-A177-3AD203B41FA5}">
                      <a16:colId xmlns:a16="http://schemas.microsoft.com/office/drawing/2014/main" val="3471638855"/>
                    </a:ext>
                  </a:extLst>
                </a:gridCol>
                <a:gridCol w="731405">
                  <a:extLst>
                    <a:ext uri="{9D8B030D-6E8A-4147-A177-3AD203B41FA5}">
                      <a16:colId xmlns:a16="http://schemas.microsoft.com/office/drawing/2014/main" val="3028352674"/>
                    </a:ext>
                  </a:extLst>
                </a:gridCol>
                <a:gridCol w="1189608">
                  <a:extLst>
                    <a:ext uri="{9D8B030D-6E8A-4147-A177-3AD203B41FA5}">
                      <a16:colId xmlns:a16="http://schemas.microsoft.com/office/drawing/2014/main" val="1498653313"/>
                    </a:ext>
                  </a:extLst>
                </a:gridCol>
                <a:gridCol w="612559">
                  <a:extLst>
                    <a:ext uri="{9D8B030D-6E8A-4147-A177-3AD203B41FA5}">
                      <a16:colId xmlns:a16="http://schemas.microsoft.com/office/drawing/2014/main" val="1557018227"/>
                    </a:ext>
                  </a:extLst>
                </a:gridCol>
                <a:gridCol w="862462">
                  <a:extLst>
                    <a:ext uri="{9D8B030D-6E8A-4147-A177-3AD203B41FA5}">
                      <a16:colId xmlns:a16="http://schemas.microsoft.com/office/drawing/2014/main" val="426403746"/>
                    </a:ext>
                  </a:extLst>
                </a:gridCol>
                <a:gridCol w="753690">
                  <a:extLst>
                    <a:ext uri="{9D8B030D-6E8A-4147-A177-3AD203B41FA5}">
                      <a16:colId xmlns:a16="http://schemas.microsoft.com/office/drawing/2014/main" val="3578533005"/>
                    </a:ext>
                  </a:extLst>
                </a:gridCol>
                <a:gridCol w="718222">
                  <a:extLst>
                    <a:ext uri="{9D8B030D-6E8A-4147-A177-3AD203B41FA5}">
                      <a16:colId xmlns:a16="http://schemas.microsoft.com/office/drawing/2014/main" val="125616475"/>
                    </a:ext>
                  </a:extLst>
                </a:gridCol>
                <a:gridCol w="753689">
                  <a:extLst>
                    <a:ext uri="{9D8B030D-6E8A-4147-A177-3AD203B41FA5}">
                      <a16:colId xmlns:a16="http://schemas.microsoft.com/office/drawing/2014/main" val="3752820406"/>
                    </a:ext>
                  </a:extLst>
                </a:gridCol>
                <a:gridCol w="895560">
                  <a:extLst>
                    <a:ext uri="{9D8B030D-6E8A-4147-A177-3AD203B41FA5}">
                      <a16:colId xmlns:a16="http://schemas.microsoft.com/office/drawing/2014/main" val="1328422513"/>
                    </a:ext>
                  </a:extLst>
                </a:gridCol>
                <a:gridCol w="3947261">
                  <a:extLst>
                    <a:ext uri="{9D8B030D-6E8A-4147-A177-3AD203B41FA5}">
                      <a16:colId xmlns:a16="http://schemas.microsoft.com/office/drawing/2014/main" val="2731508636"/>
                    </a:ext>
                  </a:extLst>
                </a:gridCol>
              </a:tblGrid>
              <a:tr h="538556">
                <a:tc>
                  <a:txBody>
                    <a:bodyPr/>
                    <a:lstStyle/>
                    <a:p>
                      <a:pPr algn="ctr" fontAlgn="b">
                        <a:buNone/>
                      </a:pPr>
                      <a:r>
                        <a:rPr lang="en-US" sz="1100" u="none" strike="noStrike">
                          <a:solidFill>
                            <a:schemeClr val="tx1"/>
                          </a:solidFill>
                          <a:effectLst/>
                        </a:rPr>
                        <a:t>Description</a:t>
                      </a:r>
                      <a:endParaRPr lang="en-US" sz="1100" b="1" i="0" u="none" strike="noStrike">
                        <a:solidFill>
                          <a:schemeClr val="tx1"/>
                        </a:solidFill>
                        <a:effectLst/>
                        <a:latin typeface="Aptos Narrow" panose="020B0004020202020204" pitchFamily="34" charset="0"/>
                      </a:endParaRPr>
                    </a:p>
                  </a:txBody>
                  <a:tcPr marL="0" marR="0" marT="0" marB="0" anchor="b">
                    <a:lnB w="12700" cap="flat" cmpd="sng" algn="ctr">
                      <a:solidFill>
                        <a:srgbClr val="72B0BD"/>
                      </a:solidFill>
                      <a:prstDash val="solid"/>
                      <a:round/>
                      <a:headEnd type="none" w="med" len="med"/>
                      <a:tailEnd type="none" w="med" len="med"/>
                    </a:lnB>
                    <a:solidFill>
                      <a:schemeClr val="accent2">
                        <a:lumMod val="40000"/>
                        <a:lumOff val="60000"/>
                      </a:schemeClr>
                    </a:solidFill>
                  </a:tcPr>
                </a:tc>
                <a:tc>
                  <a:txBody>
                    <a:bodyPr/>
                    <a:lstStyle/>
                    <a:p>
                      <a:pPr algn="ctr" fontAlgn="b">
                        <a:buNone/>
                      </a:pPr>
                      <a:r>
                        <a:rPr lang="en-US" sz="1100" u="none" strike="noStrike" err="1">
                          <a:solidFill>
                            <a:schemeClr val="tx1"/>
                          </a:solidFill>
                          <a:effectLst/>
                        </a:rPr>
                        <a:t>OpEX</a:t>
                      </a:r>
                      <a:r>
                        <a:rPr lang="en-US" sz="1100" u="none" strike="noStrike">
                          <a:solidFill>
                            <a:schemeClr val="tx1"/>
                          </a:solidFill>
                          <a:effectLst/>
                        </a:rPr>
                        <a:t> Priority</a:t>
                      </a:r>
                      <a:endParaRPr lang="en-US" sz="1100" b="1" i="0" u="none" strike="noStrike">
                        <a:solidFill>
                          <a:schemeClr val="tx1"/>
                        </a:solidFill>
                        <a:effectLst/>
                        <a:latin typeface="Aptos Narrow" panose="020B0004020202020204" pitchFamily="34" charset="0"/>
                      </a:endParaRPr>
                    </a:p>
                  </a:txBody>
                  <a:tcPr marL="0" marR="0" marT="0" marB="0" anchor="b">
                    <a:lnB w="12700" cap="flat" cmpd="sng" algn="ctr">
                      <a:solidFill>
                        <a:srgbClr val="72B0BD"/>
                      </a:solidFill>
                      <a:prstDash val="solid"/>
                      <a:round/>
                      <a:headEnd type="none" w="med" len="med"/>
                      <a:tailEnd type="none" w="med" len="med"/>
                    </a:lnB>
                    <a:solidFill>
                      <a:schemeClr val="accent2">
                        <a:lumMod val="40000"/>
                        <a:lumOff val="60000"/>
                      </a:schemeClr>
                    </a:solidFill>
                  </a:tcPr>
                </a:tc>
                <a:tc>
                  <a:txBody>
                    <a:bodyPr/>
                    <a:lstStyle/>
                    <a:p>
                      <a:pPr algn="ctr" fontAlgn="b">
                        <a:buNone/>
                      </a:pPr>
                      <a:r>
                        <a:rPr lang="en-US" sz="1100" u="none" strike="noStrike">
                          <a:solidFill>
                            <a:schemeClr val="tx1"/>
                          </a:solidFill>
                          <a:effectLst/>
                        </a:rPr>
                        <a:t>Budgetary Estimate (Hours) </a:t>
                      </a:r>
                      <a:endParaRPr lang="en-US" sz="1100" b="1" i="0" u="none" strike="noStrike">
                        <a:solidFill>
                          <a:schemeClr val="tx1"/>
                        </a:solidFill>
                        <a:effectLst/>
                        <a:latin typeface="Aptos Narrow" panose="020B0004020202020204" pitchFamily="34" charset="0"/>
                      </a:endParaRPr>
                    </a:p>
                  </a:txBody>
                  <a:tcPr marL="0" marR="0" marT="0" marB="0" anchor="b">
                    <a:lnB w="12700" cap="flat" cmpd="sng" algn="ctr">
                      <a:solidFill>
                        <a:srgbClr val="72B0BD"/>
                      </a:solidFill>
                      <a:prstDash val="solid"/>
                      <a:round/>
                      <a:headEnd type="none" w="med" len="med"/>
                      <a:tailEnd type="none" w="med" len="med"/>
                    </a:lnB>
                    <a:solidFill>
                      <a:schemeClr val="accent2">
                        <a:lumMod val="40000"/>
                        <a:lumOff val="60000"/>
                      </a:schemeClr>
                    </a:solidFill>
                  </a:tcPr>
                </a:tc>
                <a:tc>
                  <a:txBody>
                    <a:bodyPr/>
                    <a:lstStyle/>
                    <a:p>
                      <a:pPr algn="ctr" fontAlgn="b">
                        <a:buNone/>
                      </a:pPr>
                      <a:r>
                        <a:rPr lang="en-US" sz="1100" b="1" i="0" u="none" strike="noStrike">
                          <a:solidFill>
                            <a:schemeClr val="tx1"/>
                          </a:solidFill>
                          <a:effectLst/>
                          <a:latin typeface="Aptos Narrow" panose="020B0004020202020204" pitchFamily="34" charset="0"/>
                        </a:rPr>
                        <a:t>Team Impacts</a:t>
                      </a:r>
                    </a:p>
                  </a:txBody>
                  <a:tcPr marL="0" marR="0" marT="0" marB="0" anchor="b">
                    <a:lnB w="12700" cap="flat" cmpd="sng" algn="ctr">
                      <a:solidFill>
                        <a:srgbClr val="72B0BD"/>
                      </a:solidFill>
                      <a:prstDash val="solid"/>
                      <a:round/>
                      <a:headEnd type="none" w="med" len="med"/>
                      <a:tailEnd type="none" w="med" len="med"/>
                    </a:lnB>
                    <a:solidFill>
                      <a:schemeClr val="accent2">
                        <a:lumMod val="40000"/>
                        <a:lumOff val="60000"/>
                      </a:schemeClr>
                    </a:solidFill>
                  </a:tcPr>
                </a:tc>
                <a:tc>
                  <a:txBody>
                    <a:bodyPr/>
                    <a:lstStyle/>
                    <a:p>
                      <a:pPr algn="ctr" fontAlgn="b">
                        <a:buNone/>
                      </a:pPr>
                      <a:r>
                        <a:rPr lang="en-US" sz="1100" u="none" strike="noStrike">
                          <a:solidFill>
                            <a:schemeClr val="tx1"/>
                          </a:solidFill>
                          <a:effectLst/>
                        </a:rPr>
                        <a:t>IT Rec'd</a:t>
                      </a:r>
                      <a:endParaRPr lang="en-US" sz="1100" b="1" i="0" u="none" strike="noStrike">
                        <a:solidFill>
                          <a:schemeClr val="tx1"/>
                        </a:solidFill>
                        <a:effectLst/>
                        <a:latin typeface="Aptos Narrow" panose="020B0004020202020204" pitchFamily="34" charset="0"/>
                      </a:endParaRPr>
                    </a:p>
                  </a:txBody>
                  <a:tcPr marL="0" marR="0" marT="0" marB="0" anchor="b">
                    <a:lnB w="12700" cap="flat" cmpd="sng" algn="ctr">
                      <a:solidFill>
                        <a:srgbClr val="72B0BD"/>
                      </a:solidFill>
                      <a:prstDash val="solid"/>
                      <a:round/>
                      <a:headEnd type="none" w="med" len="med"/>
                      <a:tailEnd type="none" w="med" len="med"/>
                    </a:lnB>
                    <a:solidFill>
                      <a:schemeClr val="accent2">
                        <a:lumMod val="40000"/>
                        <a:lumOff val="60000"/>
                      </a:schemeClr>
                    </a:solidFill>
                  </a:tcPr>
                </a:tc>
                <a:tc>
                  <a:txBody>
                    <a:bodyPr/>
                    <a:lstStyle/>
                    <a:p>
                      <a:pPr algn="ctr" fontAlgn="b">
                        <a:buNone/>
                      </a:pPr>
                      <a:r>
                        <a:rPr lang="en-US" sz="1100" u="none" strike="noStrike">
                          <a:solidFill>
                            <a:schemeClr val="tx1"/>
                          </a:solidFill>
                          <a:effectLst/>
                        </a:rPr>
                        <a:t>Estimate complete Date</a:t>
                      </a:r>
                      <a:endParaRPr lang="en-US" sz="1100" b="1" i="0" u="none" strike="noStrike">
                        <a:solidFill>
                          <a:schemeClr val="tx1"/>
                        </a:solidFill>
                        <a:effectLst/>
                        <a:latin typeface="Aptos Narrow" panose="020B0004020202020204" pitchFamily="34" charset="0"/>
                      </a:endParaRPr>
                    </a:p>
                  </a:txBody>
                  <a:tcPr marL="0" marR="0" marT="0" marB="0" anchor="b">
                    <a:lnB w="12700" cap="flat" cmpd="sng" algn="ctr">
                      <a:solidFill>
                        <a:srgbClr val="72B0BD"/>
                      </a:solidFill>
                      <a:prstDash val="solid"/>
                      <a:round/>
                      <a:headEnd type="none" w="med" len="med"/>
                      <a:tailEnd type="none" w="med" len="med"/>
                    </a:lnB>
                    <a:solidFill>
                      <a:schemeClr val="accent2">
                        <a:lumMod val="40000"/>
                        <a:lumOff val="60000"/>
                      </a:schemeClr>
                    </a:solidFill>
                  </a:tcPr>
                </a:tc>
                <a:tc>
                  <a:txBody>
                    <a:bodyPr/>
                    <a:lstStyle/>
                    <a:p>
                      <a:pPr algn="ctr" fontAlgn="b">
                        <a:buNone/>
                      </a:pPr>
                      <a:r>
                        <a:rPr lang="en-US" sz="1100" u="none" strike="noStrike">
                          <a:solidFill>
                            <a:schemeClr val="tx1"/>
                          </a:solidFill>
                          <a:effectLst/>
                        </a:rPr>
                        <a:t>Funding Approved Date</a:t>
                      </a:r>
                      <a:endParaRPr lang="en-US" sz="1100" b="1" i="0" u="none" strike="noStrike">
                        <a:solidFill>
                          <a:schemeClr val="tx1"/>
                        </a:solidFill>
                        <a:effectLst/>
                        <a:latin typeface="Aptos Narrow" panose="020B0004020202020204" pitchFamily="34" charset="0"/>
                      </a:endParaRPr>
                    </a:p>
                  </a:txBody>
                  <a:tcPr marL="0" marR="0" marT="0" marB="0" anchor="b">
                    <a:lnB w="12700" cap="flat" cmpd="sng" algn="ctr">
                      <a:solidFill>
                        <a:srgbClr val="72B0BD"/>
                      </a:solidFill>
                      <a:prstDash val="solid"/>
                      <a:round/>
                      <a:headEnd type="none" w="med" len="med"/>
                      <a:tailEnd type="none" w="med" len="med"/>
                    </a:lnB>
                    <a:solidFill>
                      <a:schemeClr val="accent2">
                        <a:lumMod val="40000"/>
                        <a:lumOff val="60000"/>
                      </a:schemeClr>
                    </a:solidFill>
                  </a:tcPr>
                </a:tc>
                <a:tc>
                  <a:txBody>
                    <a:bodyPr/>
                    <a:lstStyle/>
                    <a:p>
                      <a:pPr algn="ctr" fontAlgn="b">
                        <a:buNone/>
                      </a:pPr>
                      <a:r>
                        <a:rPr lang="en-US" sz="1100" b="1" i="0" u="none" strike="noStrike">
                          <a:solidFill>
                            <a:schemeClr val="tx1"/>
                          </a:solidFill>
                          <a:effectLst/>
                          <a:latin typeface="Aptos Narrow" panose="020B0004020202020204" pitchFamily="34" charset="0"/>
                        </a:rPr>
                        <a:t>Target Handoff</a:t>
                      </a:r>
                    </a:p>
                  </a:txBody>
                  <a:tcPr marL="0" marR="0" marT="0" marB="0" anchor="b">
                    <a:lnB w="12700" cap="flat" cmpd="sng" algn="ctr">
                      <a:solidFill>
                        <a:srgbClr val="72B0BD"/>
                      </a:solidFill>
                      <a:prstDash val="solid"/>
                      <a:round/>
                      <a:headEnd type="none" w="med" len="med"/>
                      <a:tailEnd type="none" w="med" len="med"/>
                    </a:lnB>
                    <a:solidFill>
                      <a:schemeClr val="accent2">
                        <a:lumMod val="40000"/>
                        <a:lumOff val="60000"/>
                      </a:schemeClr>
                    </a:solidFill>
                  </a:tcPr>
                </a:tc>
                <a:tc>
                  <a:txBody>
                    <a:bodyPr/>
                    <a:lstStyle/>
                    <a:p>
                      <a:pPr algn="ctr" fontAlgn="b">
                        <a:buNone/>
                      </a:pPr>
                      <a:r>
                        <a:rPr lang="en-US" sz="1100" b="1" i="0" u="none" strike="noStrike">
                          <a:solidFill>
                            <a:schemeClr val="tx1"/>
                          </a:solidFill>
                          <a:effectLst/>
                          <a:latin typeface="Aptos Narrow" panose="020B0004020202020204" pitchFamily="34" charset="0"/>
                        </a:rPr>
                        <a:t>Target Delivery </a:t>
                      </a:r>
                      <a:r>
                        <a:rPr lang="en-US" sz="1100" b="1" i="0" u="none" strike="noStrike" err="1">
                          <a:solidFill>
                            <a:schemeClr val="tx1"/>
                          </a:solidFill>
                          <a:effectLst/>
                          <a:latin typeface="Aptos Narrow" panose="020B0004020202020204" pitchFamily="34" charset="0"/>
                        </a:rPr>
                        <a:t>Qtr</a:t>
                      </a:r>
                      <a:endParaRPr lang="en-US" sz="1100" b="1" i="0" u="none" strike="noStrike">
                        <a:solidFill>
                          <a:schemeClr val="tx1"/>
                        </a:solidFill>
                        <a:effectLst/>
                        <a:latin typeface="Aptos Narrow" panose="020B0004020202020204" pitchFamily="34" charset="0"/>
                      </a:endParaRPr>
                    </a:p>
                  </a:txBody>
                  <a:tcPr marL="0" marR="0" marT="0" marB="0" anchor="b">
                    <a:lnB w="12700" cap="flat" cmpd="sng" algn="ctr">
                      <a:solidFill>
                        <a:srgbClr val="72B0BD"/>
                      </a:solidFill>
                      <a:prstDash val="solid"/>
                      <a:round/>
                      <a:headEnd type="none" w="med" len="med"/>
                      <a:tailEnd type="none" w="med" len="med"/>
                    </a:lnB>
                    <a:solidFill>
                      <a:schemeClr val="accent2">
                        <a:lumMod val="40000"/>
                        <a:lumOff val="60000"/>
                      </a:schemeClr>
                    </a:solidFill>
                  </a:tcPr>
                </a:tc>
                <a:tc>
                  <a:txBody>
                    <a:bodyPr/>
                    <a:lstStyle/>
                    <a:p>
                      <a:pPr algn="ctr" fontAlgn="b">
                        <a:buNone/>
                      </a:pPr>
                      <a:r>
                        <a:rPr lang="en-US" sz="1100" u="none" strike="noStrike">
                          <a:solidFill>
                            <a:schemeClr val="tx1"/>
                          </a:solidFill>
                          <a:effectLst/>
                        </a:rPr>
                        <a:t>Comment</a:t>
                      </a:r>
                      <a:endParaRPr lang="en-US" sz="1100" b="1" i="0" u="none" strike="noStrike">
                        <a:solidFill>
                          <a:schemeClr val="tx1"/>
                        </a:solidFill>
                        <a:effectLst/>
                        <a:latin typeface="Aptos Narrow" panose="020B0004020202020204" pitchFamily="34" charset="0"/>
                      </a:endParaRPr>
                    </a:p>
                  </a:txBody>
                  <a:tcPr marL="0" marR="0" marT="0" marB="0" anchor="b">
                    <a:lnB w="12700" cap="flat" cmpd="sng" algn="ctr">
                      <a:solidFill>
                        <a:srgbClr val="72B0BD"/>
                      </a:solidFill>
                      <a:prstDash val="solid"/>
                      <a:round/>
                      <a:headEnd type="none" w="med" len="med"/>
                      <a:tailEnd type="none" w="med" len="med"/>
                    </a:lnB>
                    <a:solidFill>
                      <a:schemeClr val="accent2">
                        <a:lumMod val="40000"/>
                        <a:lumOff val="60000"/>
                      </a:schemeClr>
                    </a:solidFill>
                  </a:tcPr>
                </a:tc>
                <a:extLst>
                  <a:ext uri="{0D108BD9-81ED-4DB2-BD59-A6C34878D82A}">
                    <a16:rowId xmlns:a16="http://schemas.microsoft.com/office/drawing/2014/main" val="2993874157"/>
                  </a:ext>
                </a:extLst>
              </a:tr>
              <a:tr h="490084">
                <a:tc>
                  <a:txBody>
                    <a:bodyPr/>
                    <a:lstStyle/>
                    <a:p>
                      <a:pPr algn="l" fontAlgn="b">
                        <a:buNone/>
                      </a:pPr>
                      <a:r>
                        <a:rPr lang="en-US" sz="1100" b="0" i="0" u="none" strike="noStrike">
                          <a:solidFill>
                            <a:srgbClr val="000000"/>
                          </a:solidFill>
                          <a:effectLst/>
                          <a:latin typeface="Aptos Narrow" panose="020B0004020202020204" pitchFamily="34" charset="0"/>
                        </a:rPr>
                        <a:t>Cookie Banner and Footer Links</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algn="l" fontAlgn="b">
                        <a:buNone/>
                      </a:pPr>
                      <a:r>
                        <a:rPr lang="en-US" sz="1100" b="0" i="0" u="none" strike="noStrike">
                          <a:solidFill>
                            <a:srgbClr val="000000"/>
                          </a:solidFill>
                          <a:effectLst/>
                          <a:latin typeface="Aptos Narrow" panose="020B0004020202020204" pitchFamily="34" charset="0"/>
                        </a:rPr>
                        <a:t>(blank)</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algn="l" fontAlgn="b">
                        <a:buNone/>
                      </a:pPr>
                      <a:r>
                        <a:rPr lang="en-US" sz="1100" b="0" i="0" u="none" strike="noStrike">
                          <a:solidFill>
                            <a:srgbClr val="000000"/>
                          </a:solidFill>
                          <a:effectLst/>
                          <a:latin typeface="Aptos Narrow" panose="020B0004020202020204" pitchFamily="34" charset="0"/>
                        </a:rPr>
                        <a:t>2XS $10K - $50K / 111 - 556 </a:t>
                      </a:r>
                      <a:r>
                        <a:rPr lang="en-US" sz="1100" b="0" i="0" u="none" strike="noStrike" err="1">
                          <a:solidFill>
                            <a:srgbClr val="000000"/>
                          </a:solidFill>
                          <a:effectLst/>
                          <a:latin typeface="Aptos Narrow" panose="020B0004020202020204" pitchFamily="34" charset="0"/>
                        </a:rPr>
                        <a:t>Hrs</a:t>
                      </a:r>
                      <a:endParaRPr lang="en-US" sz="1100" b="0" i="0" u="none" strike="noStrike">
                        <a:solidFill>
                          <a:srgbClr val="000000"/>
                        </a:solidFill>
                        <a:effectLst/>
                        <a:latin typeface="Aptos Narrow" panose="020B0004020202020204" pitchFamily="34" charset="0"/>
                      </a:endParaRP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algn="ctr" fontAlgn="b">
                        <a:buNone/>
                      </a:pPr>
                      <a:r>
                        <a:rPr lang="en-US" sz="1100" b="0" i="0" u="none" strike="noStrike">
                          <a:solidFill>
                            <a:srgbClr val="000000"/>
                          </a:solidFill>
                          <a:effectLst/>
                          <a:latin typeface="Aptos Narrow" panose="020B0004020202020204" pitchFamily="34" charset="0"/>
                        </a:rPr>
                        <a:t>EW</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algn="r" fontAlgn="b">
                        <a:buNone/>
                      </a:pPr>
                      <a:r>
                        <a:rPr lang="en-US" sz="1100" b="0" i="0" u="none" strike="noStrike">
                          <a:solidFill>
                            <a:srgbClr val="000000"/>
                          </a:solidFill>
                          <a:effectLst/>
                          <a:latin typeface="Aptos Narrow" panose="020B0004020202020204" pitchFamily="34" charset="0"/>
                        </a:rPr>
                        <a:t>3/31/2026</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algn="r" fontAlgn="b">
                        <a:buNone/>
                      </a:pPr>
                      <a:r>
                        <a:rPr lang="en-US" sz="1100" b="0" i="0" u="none" strike="noStrike">
                          <a:solidFill>
                            <a:srgbClr val="000000"/>
                          </a:solidFill>
                          <a:effectLst/>
                          <a:latin typeface="Aptos Narrow" panose="020B0004020202020204" pitchFamily="34" charset="0"/>
                        </a:rPr>
                        <a:t>5/11/2026</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algn="r" fontAlgn="b">
                        <a:buNone/>
                      </a:pPr>
                      <a:r>
                        <a:rPr lang="en-US" sz="1100" b="0" i="0" u="none" strike="noStrike">
                          <a:solidFill>
                            <a:srgbClr val="000000"/>
                          </a:solidFill>
                          <a:effectLst/>
                          <a:latin typeface="Aptos Narrow" panose="020B0004020202020204" pitchFamily="34" charset="0"/>
                        </a:rPr>
                        <a:t>5/12/2026</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algn="r" fontAlgn="ctr">
                        <a:buNone/>
                      </a:pPr>
                      <a:r>
                        <a:rPr lang="en-US" sz="1100" b="0" i="0" u="none" strike="sngStrike" baseline="0">
                          <a:solidFill>
                            <a:srgbClr val="000000"/>
                          </a:solidFill>
                          <a:effectLst/>
                          <a:latin typeface="Aptos Narrow" panose="020B0004020202020204" pitchFamily="34" charset="0"/>
                        </a:rPr>
                        <a:t>6/3/2026</a:t>
                      </a:r>
                    </a:p>
                    <a:p>
                      <a:pPr algn="r" fontAlgn="ctr">
                        <a:buNone/>
                      </a:pPr>
                      <a:r>
                        <a:rPr lang="en-US" sz="1100" b="0" i="0" u="none" strike="noStrike">
                          <a:solidFill>
                            <a:srgbClr val="000000"/>
                          </a:solidFill>
                          <a:effectLst/>
                          <a:latin typeface="Aptos Narrow" panose="020B0004020202020204" pitchFamily="34" charset="0"/>
                        </a:rPr>
                        <a:t>Jul-26</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algn="ctr" fontAlgn="b">
                        <a:buNone/>
                      </a:pPr>
                      <a:r>
                        <a:rPr lang="en-US" sz="1100" b="0" i="0" u="none" strike="noStrike">
                          <a:solidFill>
                            <a:srgbClr val="000000"/>
                          </a:solidFill>
                          <a:effectLst/>
                          <a:latin typeface="Aptos Narrow" panose="020B0004020202020204" pitchFamily="34" charset="0"/>
                        </a:rPr>
                        <a:t>4</a:t>
                      </a:r>
                      <a:r>
                        <a:rPr lang="en-US" sz="1100" b="0" i="0" u="none" strike="noStrike" baseline="30000">
                          <a:solidFill>
                            <a:srgbClr val="000000"/>
                          </a:solidFill>
                          <a:effectLst/>
                          <a:latin typeface="Aptos Narrow" panose="020B0004020202020204" pitchFamily="34" charset="0"/>
                        </a:rPr>
                        <a:t>th</a:t>
                      </a:r>
                      <a:r>
                        <a:rPr lang="en-US" sz="1100" b="0" i="0" u="none" strike="noStrike">
                          <a:solidFill>
                            <a:srgbClr val="000000"/>
                          </a:solidFill>
                          <a:effectLst/>
                          <a:latin typeface="Aptos Narrow" panose="020B0004020202020204" pitchFamily="34" charset="0"/>
                        </a:rPr>
                        <a:t> Quarter</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algn="l" fontAlgn="b">
                        <a:buNone/>
                      </a:pPr>
                      <a:r>
                        <a:rPr lang="en-US" sz="1100" b="0" i="0" u="none" strike="noStrike">
                          <a:solidFill>
                            <a:srgbClr val="000000"/>
                          </a:solidFill>
                          <a:effectLst/>
                          <a:latin typeface="Aptos Narrow" panose="020B0004020202020204" pitchFamily="34" charset="0"/>
                        </a:rPr>
                        <a:t>6/3/26- Handoff meeting to SEPM Mark.  According to Erica, Moving tools so a decision to </a:t>
                      </a:r>
                      <a:r>
                        <a:rPr lang="en-US" sz="1100" b="0" i="0" u="none" strike="noStrike">
                          <a:solidFill>
                            <a:srgbClr val="000000"/>
                          </a:solidFill>
                          <a:effectLst/>
                          <a:highlight>
                            <a:srgbClr val="FFFF00"/>
                          </a:highlight>
                          <a:latin typeface="Aptos Narrow" panose="020B0004020202020204" pitchFamily="34" charset="0"/>
                        </a:rPr>
                        <a:t>Hold cookie banner work in planning </a:t>
                      </a:r>
                      <a:r>
                        <a:rPr lang="en-US" sz="1100" b="0" i="0" u="none" strike="noStrike">
                          <a:solidFill>
                            <a:srgbClr val="000000"/>
                          </a:solidFill>
                          <a:effectLst/>
                          <a:latin typeface="Aptos Narrow" panose="020B0004020202020204" pitchFamily="34" charset="0"/>
                        </a:rPr>
                        <a:t>until the </a:t>
                      </a:r>
                      <a:r>
                        <a:rPr lang="en-US" sz="1100" b="0" i="0" u="none" strike="noStrike" err="1">
                          <a:solidFill>
                            <a:srgbClr val="000000"/>
                          </a:solidFill>
                          <a:effectLst/>
                          <a:latin typeface="Aptos Narrow" panose="020B0004020202020204" pitchFamily="34" charset="0"/>
                        </a:rPr>
                        <a:t>OneTrust</a:t>
                      </a:r>
                      <a:r>
                        <a:rPr lang="en-US" sz="1100" b="0" i="0" u="none" strike="noStrike">
                          <a:solidFill>
                            <a:srgbClr val="000000"/>
                          </a:solidFill>
                          <a:effectLst/>
                          <a:latin typeface="Aptos Narrow" panose="020B0004020202020204" pitchFamily="34" charset="0"/>
                        </a:rPr>
                        <a:t> transition path is clear enough to avoid immediate rework.</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extLst>
                  <a:ext uri="{0D108BD9-81ED-4DB2-BD59-A6C34878D82A}">
                    <a16:rowId xmlns:a16="http://schemas.microsoft.com/office/drawing/2014/main" val="1486718395"/>
                  </a:ext>
                </a:extLst>
              </a:tr>
              <a:tr h="593308">
                <a:tc>
                  <a:txBody>
                    <a:bodyPr/>
                    <a:lstStyle/>
                    <a:p>
                      <a:pPr algn="l" fontAlgn="b">
                        <a:buNone/>
                      </a:pPr>
                      <a:r>
                        <a:rPr lang="en-US" sz="1100" b="0" i="0" u="none" strike="noStrike">
                          <a:solidFill>
                            <a:srgbClr val="000000"/>
                          </a:solidFill>
                          <a:effectLst/>
                          <a:latin typeface="Aptos Narrow" panose="020B0004020202020204" pitchFamily="34" charset="0"/>
                        </a:rPr>
                        <a:t>Remove Exit Warning on Confirmation Page</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Aptos Narrow" panose="020B0004020202020204" pitchFamily="34" charset="0"/>
                        </a:rPr>
                        <a:t>(blank)</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Aptos Narrow" panose="020B0004020202020204" pitchFamily="34" charset="0"/>
                        </a:rPr>
                        <a:t>3XS $1-$10K upto 111 hrs</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ctr" fontAlgn="b">
                        <a:buNone/>
                      </a:pPr>
                      <a:r>
                        <a:rPr lang="en-US" sz="1100" b="0" i="0" u="none" strike="noStrike">
                          <a:solidFill>
                            <a:srgbClr val="000000"/>
                          </a:solidFill>
                          <a:effectLst/>
                          <a:latin typeface="Aptos Narrow" panose="020B0004020202020204" pitchFamily="34" charset="0"/>
                        </a:rPr>
                        <a:t>EW</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r" fontAlgn="b">
                        <a:buNone/>
                      </a:pPr>
                      <a:r>
                        <a:rPr lang="en-US" sz="1100" b="0" i="0" u="none" strike="noStrike">
                          <a:solidFill>
                            <a:srgbClr val="000000"/>
                          </a:solidFill>
                          <a:effectLst/>
                          <a:latin typeface="Aptos Narrow" panose="020B0004020202020204" pitchFamily="34" charset="0"/>
                        </a:rPr>
                        <a:t>4/10/2026</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r" fontAlgn="b">
                        <a:buNone/>
                      </a:pPr>
                      <a:r>
                        <a:rPr lang="en-US" sz="1100" b="0" i="0" u="none" strike="noStrike">
                          <a:solidFill>
                            <a:srgbClr val="000000"/>
                          </a:solidFill>
                          <a:effectLst/>
                          <a:latin typeface="Aptos Narrow" panose="020B0004020202020204" pitchFamily="34" charset="0"/>
                        </a:rPr>
                        <a:t>5/8/2026</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r" fontAlgn="b">
                        <a:buNone/>
                      </a:pPr>
                      <a:r>
                        <a:rPr lang="en-US" sz="1100" b="0" i="0" u="none" strike="noStrike">
                          <a:solidFill>
                            <a:srgbClr val="000000"/>
                          </a:solidFill>
                          <a:effectLst/>
                          <a:latin typeface="Aptos Narrow" panose="020B0004020202020204" pitchFamily="34" charset="0"/>
                        </a:rPr>
                        <a:t>5/20/2026</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r" fontAlgn="ctr">
                        <a:buNone/>
                      </a:pPr>
                      <a:r>
                        <a:rPr lang="en-US" sz="1100" b="0" i="0" u="none" strike="noStrike">
                          <a:solidFill>
                            <a:srgbClr val="000000"/>
                          </a:solidFill>
                          <a:effectLst/>
                          <a:latin typeface="Aptos Narrow" panose="020B0004020202020204" pitchFamily="34" charset="0"/>
                        </a:rPr>
                        <a:t>7/10/2026</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100" b="0" i="0" u="none" strike="noStrike">
                          <a:solidFill>
                            <a:srgbClr val="000000"/>
                          </a:solidFill>
                          <a:effectLst/>
                          <a:latin typeface="Aptos Narrow" panose="020B0004020202020204" pitchFamily="34" charset="0"/>
                        </a:rPr>
                        <a:t>4</a:t>
                      </a:r>
                      <a:r>
                        <a:rPr lang="en-US" sz="1100" b="0" i="0" u="none" strike="noStrike" baseline="30000">
                          <a:solidFill>
                            <a:srgbClr val="000000"/>
                          </a:solidFill>
                          <a:effectLst/>
                          <a:latin typeface="Aptos Narrow" panose="020B0004020202020204" pitchFamily="34" charset="0"/>
                        </a:rPr>
                        <a:t>th</a:t>
                      </a:r>
                      <a:r>
                        <a:rPr lang="en-US" sz="1100" b="0" i="0" u="none" strike="noStrike">
                          <a:solidFill>
                            <a:srgbClr val="000000"/>
                          </a:solidFill>
                          <a:effectLst/>
                          <a:latin typeface="Aptos Narrow" panose="020B0004020202020204" pitchFamily="34" charset="0"/>
                        </a:rPr>
                        <a:t> Quarter</a:t>
                      </a:r>
                    </a:p>
                    <a:p>
                      <a:pPr algn="r" fontAlgn="b">
                        <a:buNone/>
                      </a:pPr>
                      <a:endParaRPr lang="en-US" sz="1100" b="0" i="0" u="none" strike="noStrike">
                        <a:solidFill>
                          <a:srgbClr val="000000"/>
                        </a:solidFill>
                        <a:effectLst/>
                        <a:latin typeface="Aptos Narrow" panose="020B0004020202020204" pitchFamily="34" charset="0"/>
                      </a:endParaRP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Aptos Narrow" panose="020B0004020202020204" pitchFamily="34" charset="0"/>
                        </a:rPr>
                        <a:t>5/26/26 Kevin approved external funding (Partnership Integrations -non tech)- 5/20. Assigned to Angie for S2L activities 6/1. 6/26 Angie delivered light IPED on 6/16 to Alexis and Charysse in response to email request.</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extLst>
                  <a:ext uri="{0D108BD9-81ED-4DB2-BD59-A6C34878D82A}">
                    <a16:rowId xmlns:a16="http://schemas.microsoft.com/office/drawing/2014/main" val="1289107603"/>
                  </a:ext>
                </a:extLst>
              </a:tr>
              <a:tr h="433633">
                <a:tc>
                  <a:txBody>
                    <a:bodyPr/>
                    <a:lstStyle/>
                    <a:p>
                      <a:pPr algn="l" fontAlgn="b">
                        <a:buNone/>
                      </a:pPr>
                      <a:r>
                        <a:rPr lang="en-US" sz="1100" b="0" i="0" u="none" strike="noStrike">
                          <a:solidFill>
                            <a:srgbClr val="000000"/>
                          </a:solidFill>
                          <a:effectLst/>
                          <a:latin typeface="Aptos Narrow" panose="020B0004020202020204" pitchFamily="34" charset="0"/>
                        </a:rPr>
                        <a:t>GIN Policy Numbers for DOM Events</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Aptos Narrow" panose="020B0004020202020204" pitchFamily="34" charset="0"/>
                        </a:rPr>
                        <a:t>(blank)</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Aptos Narrow" panose="020B0004020202020204" pitchFamily="34" charset="0"/>
                        </a:rPr>
                        <a:t>3XS $1-$10K </a:t>
                      </a:r>
                      <a:r>
                        <a:rPr lang="en-US" sz="1100" b="0" i="0" u="none" strike="noStrike" err="1">
                          <a:solidFill>
                            <a:srgbClr val="000000"/>
                          </a:solidFill>
                          <a:effectLst/>
                          <a:latin typeface="Aptos Narrow" panose="020B0004020202020204" pitchFamily="34" charset="0"/>
                        </a:rPr>
                        <a:t>upto</a:t>
                      </a:r>
                      <a:r>
                        <a:rPr lang="en-US" sz="1100" b="0" i="0" u="none" strike="noStrike">
                          <a:solidFill>
                            <a:srgbClr val="000000"/>
                          </a:solidFill>
                          <a:effectLst/>
                          <a:latin typeface="Aptos Narrow" panose="020B0004020202020204" pitchFamily="34" charset="0"/>
                        </a:rPr>
                        <a:t> 111 </a:t>
                      </a:r>
                      <a:r>
                        <a:rPr lang="en-US" sz="1100" b="0" i="0" u="none" strike="noStrike" err="1">
                          <a:solidFill>
                            <a:srgbClr val="000000"/>
                          </a:solidFill>
                          <a:effectLst/>
                          <a:latin typeface="Aptos Narrow" panose="020B0004020202020204" pitchFamily="34" charset="0"/>
                        </a:rPr>
                        <a:t>hrs</a:t>
                      </a:r>
                      <a:endParaRPr lang="en-US" sz="1100" b="0" i="0" u="none" strike="noStrike">
                        <a:solidFill>
                          <a:srgbClr val="000000"/>
                        </a:solidFill>
                        <a:effectLst/>
                        <a:latin typeface="Aptos Narrow" panose="020B0004020202020204" pitchFamily="34" charset="0"/>
                      </a:endParaRP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ctr" fontAlgn="b">
                        <a:buNone/>
                      </a:pPr>
                      <a:r>
                        <a:rPr lang="en-US" sz="1100" b="0" i="0" u="none" strike="noStrike">
                          <a:solidFill>
                            <a:srgbClr val="000000"/>
                          </a:solidFill>
                          <a:effectLst/>
                          <a:latin typeface="Aptos Narrow" panose="020B0004020202020204" pitchFamily="34" charset="0"/>
                        </a:rPr>
                        <a:t>EW</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r" fontAlgn="b">
                        <a:buNone/>
                      </a:pPr>
                      <a:r>
                        <a:rPr lang="en-US" sz="1100" b="0" i="0" u="none" strike="noStrike">
                          <a:solidFill>
                            <a:srgbClr val="000000"/>
                          </a:solidFill>
                          <a:effectLst/>
                          <a:latin typeface="Aptos Narrow" panose="020B0004020202020204" pitchFamily="34" charset="0"/>
                        </a:rPr>
                        <a:t>4/10/2026</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r" fontAlgn="b">
                        <a:buNone/>
                      </a:pPr>
                      <a:r>
                        <a:rPr lang="en-US" sz="1100" b="0" i="0" u="none" strike="noStrike">
                          <a:solidFill>
                            <a:srgbClr val="000000"/>
                          </a:solidFill>
                          <a:effectLst/>
                          <a:latin typeface="Aptos Narrow" panose="020B0004020202020204" pitchFamily="34" charset="0"/>
                        </a:rPr>
                        <a:t>5/8/2026</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r" fontAlgn="b">
                        <a:buNone/>
                      </a:pPr>
                      <a:r>
                        <a:rPr lang="en-US" sz="1100" b="0" i="0" u="none" strike="noStrike">
                          <a:solidFill>
                            <a:srgbClr val="000000"/>
                          </a:solidFill>
                          <a:effectLst/>
                          <a:latin typeface="Aptos Narrow" panose="020B0004020202020204" pitchFamily="34" charset="0"/>
                        </a:rPr>
                        <a:t>5/20/2026</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r" fontAlgn="ctr">
                        <a:buNone/>
                      </a:pPr>
                      <a:r>
                        <a:rPr lang="en-US" sz="1100" b="0" i="0" u="none" strike="noStrike">
                          <a:solidFill>
                            <a:srgbClr val="000000"/>
                          </a:solidFill>
                          <a:effectLst/>
                          <a:latin typeface="Aptos Narrow" panose="020B0004020202020204" pitchFamily="34" charset="0"/>
                        </a:rPr>
                        <a:t>7/10/2026</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100" b="0" i="0" u="none" strike="noStrike">
                          <a:solidFill>
                            <a:srgbClr val="000000"/>
                          </a:solidFill>
                          <a:effectLst/>
                          <a:latin typeface="Aptos Narrow" panose="020B0004020202020204" pitchFamily="34" charset="0"/>
                        </a:rPr>
                        <a:t>4</a:t>
                      </a:r>
                      <a:r>
                        <a:rPr lang="en-US" sz="1100" b="0" i="0" u="none" strike="noStrike" baseline="30000">
                          <a:solidFill>
                            <a:srgbClr val="000000"/>
                          </a:solidFill>
                          <a:effectLst/>
                          <a:latin typeface="Aptos Narrow" panose="020B0004020202020204" pitchFamily="34" charset="0"/>
                        </a:rPr>
                        <a:t>th</a:t>
                      </a:r>
                      <a:r>
                        <a:rPr lang="en-US" sz="1100" b="0" i="0" u="none" strike="noStrike">
                          <a:solidFill>
                            <a:srgbClr val="000000"/>
                          </a:solidFill>
                          <a:effectLst/>
                          <a:latin typeface="Aptos Narrow" panose="020B0004020202020204" pitchFamily="34" charset="0"/>
                        </a:rPr>
                        <a:t> Quarter</a:t>
                      </a:r>
                    </a:p>
                    <a:p>
                      <a:pPr algn="ctr" fontAlgn="b">
                        <a:buNone/>
                      </a:pPr>
                      <a:endParaRPr lang="en-US" sz="1100" b="0" i="0" u="none" strike="noStrike">
                        <a:solidFill>
                          <a:srgbClr val="000000"/>
                        </a:solidFill>
                        <a:effectLst/>
                        <a:latin typeface="Aptos Narrow" panose="020B0004020202020204" pitchFamily="34" charset="0"/>
                      </a:endParaRP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Aptos Narrow" panose="020B0004020202020204" pitchFamily="34" charset="0"/>
                        </a:rPr>
                        <a:t>5/26/26 Kevin approved external funding (Partnership Integrations -non tech)- 5/20. Assigned to Angie for S2L activities 6/1. 6/26 Angie delivered light IPED on 6/16 to Alexis and Charysse in response to email request.</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extLst>
                  <a:ext uri="{0D108BD9-81ED-4DB2-BD59-A6C34878D82A}">
                    <a16:rowId xmlns:a16="http://schemas.microsoft.com/office/drawing/2014/main" val="2401342091"/>
                  </a:ext>
                </a:extLst>
              </a:tr>
              <a:tr h="641603">
                <a:tc>
                  <a:txBody>
                    <a:bodyPr/>
                    <a:lstStyle/>
                    <a:p>
                      <a:pPr algn="l" fontAlgn="b">
                        <a:buNone/>
                      </a:pPr>
                      <a:r>
                        <a:rPr lang="fr-FR" sz="1100" b="0" i="0" u="none" strike="noStrike">
                          <a:solidFill>
                            <a:srgbClr val="000000"/>
                          </a:solidFill>
                          <a:effectLst/>
                          <a:latin typeface="Aptos Narrow" panose="020B0004020202020204" pitchFamily="34" charset="0"/>
                        </a:rPr>
                        <a:t>Partner P.E.T. Migration/Adoption - </a:t>
                      </a:r>
                      <a:r>
                        <a:rPr lang="fr-FR" sz="1100" b="0" i="0" u="none" strike="noStrike" err="1">
                          <a:solidFill>
                            <a:srgbClr val="000000"/>
                          </a:solidFill>
                          <a:effectLst/>
                          <a:latin typeface="Aptos Narrow" panose="020B0004020202020204" pitchFamily="34" charset="0"/>
                        </a:rPr>
                        <a:t>Aptia</a:t>
                      </a:r>
                      <a:r>
                        <a:rPr lang="fr-FR" sz="1100" b="0" i="0" u="none" strike="noStrike">
                          <a:solidFill>
                            <a:srgbClr val="000000"/>
                          </a:solidFill>
                          <a:effectLst/>
                          <a:latin typeface="Aptos Narrow" panose="020B0004020202020204" pitchFamily="34" charset="0"/>
                        </a:rPr>
                        <a:t> 365 Pet Migration</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Aptos Narrow" panose="020B0004020202020204" pitchFamily="34" charset="0"/>
                        </a:rPr>
                        <a:t>H-5</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Aptos Narrow" panose="020B0004020202020204" pitchFamily="34" charset="0"/>
                        </a:rPr>
                        <a:t>$23 -$25K within  2XS $10K - $50K / 111 - 556 </a:t>
                      </a:r>
                      <a:r>
                        <a:rPr lang="en-US" sz="1100" b="0" i="0" u="none" strike="noStrike" err="1">
                          <a:solidFill>
                            <a:srgbClr val="000000"/>
                          </a:solidFill>
                          <a:effectLst/>
                          <a:latin typeface="Aptos Narrow" panose="020B0004020202020204" pitchFamily="34" charset="0"/>
                        </a:rPr>
                        <a:t>Hrs</a:t>
                      </a:r>
                      <a:endParaRPr lang="en-US" sz="1100" b="0" i="0" u="none" strike="noStrike">
                        <a:solidFill>
                          <a:srgbClr val="000000"/>
                        </a:solidFill>
                        <a:effectLst/>
                        <a:latin typeface="Aptos Narrow" panose="020B0004020202020204" pitchFamily="34" charset="0"/>
                      </a:endParaRP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ctr" fontAlgn="b">
                        <a:buNone/>
                      </a:pPr>
                      <a:r>
                        <a:rPr lang="en-US" sz="1100" b="0" i="0" u="none" strike="noStrike">
                          <a:solidFill>
                            <a:srgbClr val="000000"/>
                          </a:solidFill>
                          <a:effectLst/>
                          <a:latin typeface="Aptos Narrow" panose="020B0004020202020204" pitchFamily="34" charset="0"/>
                        </a:rPr>
                        <a:t>EW</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r" fontAlgn="b">
                        <a:buNone/>
                      </a:pPr>
                      <a:r>
                        <a:rPr lang="en-US" sz="1100" b="0" i="0" u="none" strike="noStrike">
                          <a:solidFill>
                            <a:srgbClr val="000000"/>
                          </a:solidFill>
                          <a:effectLst/>
                          <a:latin typeface="Aptos Narrow" panose="020B0004020202020204" pitchFamily="34" charset="0"/>
                        </a:rPr>
                        <a:t>3/17/2026</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r" fontAlgn="b">
                        <a:buNone/>
                      </a:pPr>
                      <a:r>
                        <a:rPr lang="en-US" sz="1100" b="0" i="0" u="none" strike="noStrike">
                          <a:solidFill>
                            <a:srgbClr val="000000"/>
                          </a:solidFill>
                          <a:effectLst/>
                          <a:latin typeface="Aptos Narrow" panose="020B0004020202020204" pitchFamily="34" charset="0"/>
                        </a:rPr>
                        <a:t>5/11/2026</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r" fontAlgn="b">
                        <a:buNone/>
                      </a:pPr>
                      <a:r>
                        <a:rPr lang="en-US" sz="1100" b="0" i="0" u="none" strike="noStrike">
                          <a:solidFill>
                            <a:srgbClr val="000000"/>
                          </a:solidFill>
                          <a:effectLst/>
                          <a:latin typeface="Aptos Narrow" panose="020B0004020202020204" pitchFamily="34" charset="0"/>
                        </a:rPr>
                        <a:t>5/20/2026</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r" fontAlgn="ctr">
                        <a:buNone/>
                      </a:pPr>
                      <a:r>
                        <a:rPr lang="en-US" sz="1100" b="0" i="0" u="none" strike="noStrike">
                          <a:solidFill>
                            <a:srgbClr val="000000"/>
                          </a:solidFill>
                          <a:effectLst/>
                          <a:latin typeface="Aptos Narrow" panose="020B0004020202020204" pitchFamily="34" charset="0"/>
                        </a:rPr>
                        <a:t>7/10/2026</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100" b="0" i="0" u="none" strike="noStrike">
                          <a:solidFill>
                            <a:srgbClr val="000000"/>
                          </a:solidFill>
                          <a:effectLst/>
                          <a:latin typeface="Aptos Narrow" panose="020B0004020202020204" pitchFamily="34" charset="0"/>
                        </a:rPr>
                        <a:t>4</a:t>
                      </a:r>
                      <a:r>
                        <a:rPr lang="en-US" sz="1100" b="0" i="0" u="none" strike="noStrike" baseline="30000">
                          <a:solidFill>
                            <a:srgbClr val="000000"/>
                          </a:solidFill>
                          <a:effectLst/>
                          <a:latin typeface="Aptos Narrow" panose="020B0004020202020204" pitchFamily="34" charset="0"/>
                        </a:rPr>
                        <a:t>th</a:t>
                      </a:r>
                      <a:r>
                        <a:rPr lang="en-US" sz="1100" b="0" i="0" u="none" strike="noStrike">
                          <a:solidFill>
                            <a:srgbClr val="000000"/>
                          </a:solidFill>
                          <a:effectLst/>
                          <a:latin typeface="Aptos Narrow" panose="020B0004020202020204" pitchFamily="34" charset="0"/>
                        </a:rPr>
                        <a:t> Quarter</a:t>
                      </a:r>
                    </a:p>
                    <a:p>
                      <a:pPr algn="ctr" fontAlgn="b">
                        <a:buNone/>
                      </a:pPr>
                      <a:endParaRPr lang="en-US" sz="1100" b="0" i="0" u="none" strike="noStrike">
                        <a:solidFill>
                          <a:srgbClr val="000000"/>
                        </a:solidFill>
                        <a:effectLst/>
                        <a:latin typeface="Aptos Narrow" panose="020B0004020202020204" pitchFamily="34" charset="0"/>
                      </a:endParaRP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Aptos Narrow" panose="020B0004020202020204" pitchFamily="34" charset="0"/>
                        </a:rPr>
                        <a:t>5/26/26 Kevin approved external funding (Partnership Integrations -non tech)- 5/20. Assigned to Angie for S2L activities 6/1. 6/16/26 - Angie delivered her review of HLA with recommendations.</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extLst>
                  <a:ext uri="{0D108BD9-81ED-4DB2-BD59-A6C34878D82A}">
                    <a16:rowId xmlns:a16="http://schemas.microsoft.com/office/drawing/2014/main" val="3366491188"/>
                  </a:ext>
                </a:extLst>
              </a:tr>
              <a:tr h="408966">
                <a:tc>
                  <a:txBody>
                    <a:bodyPr/>
                    <a:lstStyle/>
                    <a:p>
                      <a:pPr algn="l" fontAlgn="b">
                        <a:buNone/>
                      </a:pPr>
                      <a:r>
                        <a:rPr lang="en-US" sz="1100" b="0" i="0" u="none" strike="noStrike">
                          <a:solidFill>
                            <a:srgbClr val="000000"/>
                          </a:solidFill>
                          <a:effectLst/>
                          <a:latin typeface="Aptos Narrow" panose="020B0004020202020204" pitchFamily="34" charset="0"/>
                        </a:rPr>
                        <a:t>Partner P.E.T. Migration/Adoption - </a:t>
                      </a:r>
                      <a:r>
                        <a:rPr lang="en-US" sz="1100" b="0" i="0" u="none" strike="noStrike" err="1">
                          <a:solidFill>
                            <a:srgbClr val="000000"/>
                          </a:solidFill>
                          <a:effectLst/>
                          <a:latin typeface="Aptos Narrow" panose="020B0004020202020204" pitchFamily="34" charset="0"/>
                        </a:rPr>
                        <a:t>bswift</a:t>
                      </a:r>
                      <a:r>
                        <a:rPr lang="en-US" sz="1100" b="0" i="0" u="none" strike="noStrike">
                          <a:solidFill>
                            <a:srgbClr val="000000"/>
                          </a:solidFill>
                          <a:effectLst/>
                          <a:latin typeface="Aptos Narrow" panose="020B0004020202020204" pitchFamily="34" charset="0"/>
                        </a:rPr>
                        <a:t> PET Migration</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Aptos Narrow" panose="020B0004020202020204" pitchFamily="34" charset="0"/>
                        </a:rPr>
                        <a:t>(blank)</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Aptos Narrow" panose="020B0004020202020204" pitchFamily="34" charset="0"/>
                        </a:rPr>
                        <a:t>$23 -$25K within  2XS $10K - $50K / 111 - 556 </a:t>
                      </a:r>
                      <a:r>
                        <a:rPr lang="en-US" sz="1100" b="0" i="0" u="none" strike="noStrike" err="1">
                          <a:solidFill>
                            <a:srgbClr val="000000"/>
                          </a:solidFill>
                          <a:effectLst/>
                          <a:latin typeface="Aptos Narrow" panose="020B0004020202020204" pitchFamily="34" charset="0"/>
                        </a:rPr>
                        <a:t>Hrs</a:t>
                      </a:r>
                      <a:endParaRPr lang="en-US" sz="1100" b="0" i="0" u="none" strike="noStrike">
                        <a:solidFill>
                          <a:srgbClr val="000000"/>
                        </a:solidFill>
                        <a:effectLst/>
                        <a:latin typeface="Aptos Narrow" panose="020B0004020202020204" pitchFamily="34" charset="0"/>
                      </a:endParaRP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ctr" fontAlgn="b">
                        <a:buNone/>
                      </a:pPr>
                      <a:r>
                        <a:rPr lang="en-US" sz="1100" b="0" i="0" u="none" strike="noStrike">
                          <a:solidFill>
                            <a:srgbClr val="000000"/>
                          </a:solidFill>
                          <a:effectLst/>
                          <a:latin typeface="Aptos Narrow" panose="020B0004020202020204" pitchFamily="34" charset="0"/>
                        </a:rPr>
                        <a:t>EW</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r" fontAlgn="b">
                        <a:buNone/>
                      </a:pPr>
                      <a:r>
                        <a:rPr lang="en-US" sz="1100" b="0" i="0" u="none" strike="noStrike">
                          <a:solidFill>
                            <a:srgbClr val="000000"/>
                          </a:solidFill>
                          <a:effectLst/>
                          <a:latin typeface="Aptos Narrow" panose="020B0004020202020204" pitchFamily="34" charset="0"/>
                        </a:rPr>
                        <a:t>4/24/2026</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r" fontAlgn="b">
                        <a:buNone/>
                      </a:pPr>
                      <a:r>
                        <a:rPr lang="en-US" sz="1100" b="0" i="0" u="none" strike="noStrike">
                          <a:solidFill>
                            <a:srgbClr val="000000"/>
                          </a:solidFill>
                          <a:effectLst/>
                          <a:latin typeface="Aptos Narrow" panose="020B0004020202020204" pitchFamily="34" charset="0"/>
                        </a:rPr>
                        <a:t>5/11/2026</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r" fontAlgn="b">
                        <a:buNone/>
                      </a:pPr>
                      <a:r>
                        <a:rPr lang="en-US" sz="1100" b="0" i="0" u="none" strike="noStrike">
                          <a:solidFill>
                            <a:srgbClr val="000000"/>
                          </a:solidFill>
                          <a:effectLst/>
                          <a:latin typeface="Aptos Narrow" panose="020B0004020202020204" pitchFamily="34" charset="0"/>
                        </a:rPr>
                        <a:t>5/20/2026</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r" fontAlgn="ctr">
                        <a:buNone/>
                      </a:pPr>
                      <a:r>
                        <a:rPr lang="en-US" sz="1100" b="0" i="0" u="none" strike="noStrike">
                          <a:solidFill>
                            <a:srgbClr val="000000"/>
                          </a:solidFill>
                          <a:effectLst/>
                          <a:latin typeface="Aptos Narrow" panose="020B0004020202020204" pitchFamily="34" charset="0"/>
                        </a:rPr>
                        <a:t>7/10/2026</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100" b="0" i="0" u="none" strike="noStrike">
                          <a:solidFill>
                            <a:srgbClr val="000000"/>
                          </a:solidFill>
                          <a:effectLst/>
                          <a:latin typeface="Aptos Narrow" panose="020B0004020202020204" pitchFamily="34" charset="0"/>
                        </a:rPr>
                        <a:t>4</a:t>
                      </a:r>
                      <a:r>
                        <a:rPr lang="en-US" sz="1100" b="0" i="0" u="none" strike="noStrike" baseline="30000">
                          <a:solidFill>
                            <a:srgbClr val="000000"/>
                          </a:solidFill>
                          <a:effectLst/>
                          <a:latin typeface="Aptos Narrow" panose="020B0004020202020204" pitchFamily="34" charset="0"/>
                        </a:rPr>
                        <a:t>th</a:t>
                      </a:r>
                      <a:r>
                        <a:rPr lang="en-US" sz="1100" b="0" i="0" u="none" strike="noStrike">
                          <a:solidFill>
                            <a:srgbClr val="000000"/>
                          </a:solidFill>
                          <a:effectLst/>
                          <a:latin typeface="Aptos Narrow" panose="020B0004020202020204" pitchFamily="34" charset="0"/>
                        </a:rPr>
                        <a:t> Quarter</a:t>
                      </a:r>
                    </a:p>
                    <a:p>
                      <a:pPr algn="ctr" fontAlgn="b">
                        <a:buNone/>
                      </a:pPr>
                      <a:endParaRPr lang="en-US" sz="1100" b="0" i="0" u="none" strike="noStrike">
                        <a:solidFill>
                          <a:srgbClr val="000000"/>
                        </a:solidFill>
                        <a:effectLst/>
                        <a:latin typeface="Aptos Narrow" panose="020B0004020202020204" pitchFamily="34" charset="0"/>
                      </a:endParaRP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Aptos Narrow" panose="020B0004020202020204" pitchFamily="34" charset="0"/>
                        </a:rPr>
                        <a:t>5/26/26 Kevin approved external funding (Partnership Integrations -non tech)- 5/20. Assigned to Angie for S2L activities 6/1. 6/16/26 - Angie delivered her review of HLA with recommendations.</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extLst>
                  <a:ext uri="{0D108BD9-81ED-4DB2-BD59-A6C34878D82A}">
                    <a16:rowId xmlns:a16="http://schemas.microsoft.com/office/drawing/2014/main" val="2607640160"/>
                  </a:ext>
                </a:extLst>
              </a:tr>
              <a:tr h="408966">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l" fontAlgn="b">
                        <a:buNone/>
                      </a:pPr>
                      <a:endParaRPr lang="en-US" sz="1100" b="1" i="0" u="none" strike="noStrike">
                        <a:solidFill>
                          <a:srgbClr val="000000"/>
                        </a:solidFill>
                        <a:effectLst/>
                        <a:latin typeface="Aptos Narrow" panose="020B0004020202020204" pitchFamily="34" charset="0"/>
                      </a:endParaRP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ctr" fontAlgn="b">
                        <a:buNone/>
                      </a:pPr>
                      <a:endParaRPr lang="en-US" sz="1100" b="0" i="0" u="none" strike="noStrike">
                        <a:solidFill>
                          <a:srgbClr val="000000"/>
                        </a:solidFill>
                        <a:effectLst/>
                        <a:latin typeface="Aptos Narrow" panose="020B0004020202020204" pitchFamily="34" charset="0"/>
                      </a:endParaRP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r" fontAlgn="b">
                        <a:buNone/>
                      </a:pPr>
                      <a:endParaRPr lang="en-US" sz="1100" b="0" i="0" u="none" strike="noStrike">
                        <a:solidFill>
                          <a:srgbClr val="000000"/>
                        </a:solidFill>
                        <a:effectLst/>
                        <a:latin typeface="Aptos Narrow" panose="020B0004020202020204" pitchFamily="34" charset="0"/>
                      </a:endParaRP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r" fontAlgn="b">
                        <a:buNone/>
                      </a:pPr>
                      <a:endParaRPr lang="en-US" sz="1100" b="0" i="0" u="none" strike="noStrike">
                        <a:solidFill>
                          <a:srgbClr val="000000"/>
                        </a:solidFill>
                        <a:effectLst/>
                        <a:latin typeface="Aptos Narrow" panose="020B0004020202020204" pitchFamily="34" charset="0"/>
                      </a:endParaRP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l" fontAlgn="b">
                        <a:buNone/>
                      </a:pPr>
                      <a:endParaRPr lang="en-US" sz="1100" b="1" i="0" u="none" strike="noStrike">
                        <a:solidFill>
                          <a:srgbClr val="000000"/>
                        </a:solidFill>
                        <a:effectLst/>
                        <a:latin typeface="Aptos Narrow" panose="020B0004020202020204" pitchFamily="34" charset="0"/>
                      </a:endParaRP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l" fontAlgn="b">
                        <a:buNone/>
                      </a:pPr>
                      <a:endParaRPr lang="en-US" sz="1000" b="0" i="0" u="none" strike="noStrike">
                        <a:solidFill>
                          <a:srgbClr val="000000"/>
                        </a:solidFill>
                        <a:effectLst/>
                        <a:latin typeface="Aptos Narrow" panose="020B0004020202020204" pitchFamily="34" charset="0"/>
                      </a:endParaRP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l" fontAlgn="b">
                        <a:buNone/>
                      </a:pPr>
                      <a:endParaRPr lang="en-US" sz="1100" b="1" i="0" u="none" strike="noStrike">
                        <a:solidFill>
                          <a:srgbClr val="000000"/>
                        </a:solidFill>
                        <a:effectLst/>
                        <a:latin typeface="Aptos Narrow" panose="020B0004020202020204" pitchFamily="34" charset="0"/>
                      </a:endParaRP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l" fontAlgn="b">
                        <a:buNone/>
                      </a:pPr>
                      <a:endParaRPr lang="en-US" sz="1000" b="0" i="0" u="none" strike="noStrike">
                        <a:solidFill>
                          <a:srgbClr val="000000"/>
                        </a:solidFill>
                        <a:effectLst/>
                        <a:latin typeface="Aptos Narrow" panose="020B0004020202020204" pitchFamily="34" charset="0"/>
                      </a:endParaRP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extLst>
                  <a:ext uri="{0D108BD9-81ED-4DB2-BD59-A6C34878D82A}">
                    <a16:rowId xmlns:a16="http://schemas.microsoft.com/office/drawing/2014/main" val="1631737652"/>
                  </a:ext>
                </a:extLst>
              </a:tr>
              <a:tr h="0">
                <a:tc>
                  <a:txBody>
                    <a:bodyPr/>
                    <a:lstStyle/>
                    <a:p>
                      <a:pPr algn="l" fontAlgn="ctr">
                        <a:buNone/>
                      </a:pPr>
                      <a:endParaRPr lang="en-US" sz="1100" b="0" i="0" u="none" strike="noStrike">
                        <a:solidFill>
                          <a:srgbClr val="000000"/>
                        </a:solidFill>
                        <a:effectLst/>
                        <a:latin typeface="Aptos Narrow" panose="020B0004020202020204" pitchFamily="34" charset="0"/>
                      </a:endParaRP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l" fontAlgn="b">
                        <a:buNone/>
                      </a:pPr>
                      <a:endParaRPr lang="en-US" sz="1100" b="1" i="0" u="none" strike="noStrike">
                        <a:solidFill>
                          <a:srgbClr val="000000"/>
                        </a:solidFill>
                        <a:effectLst/>
                        <a:latin typeface="Aptos Narrow" panose="020B0004020202020204" pitchFamily="34" charset="0"/>
                      </a:endParaRP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ctr" fontAlgn="ctr">
                        <a:buNone/>
                      </a:pPr>
                      <a:endParaRPr lang="en-US" sz="1100" b="0" i="0" u="none" strike="noStrike">
                        <a:solidFill>
                          <a:srgbClr val="000000"/>
                        </a:solidFill>
                        <a:effectLst/>
                        <a:latin typeface="Aptos Narrow" panose="020B0004020202020204" pitchFamily="34" charset="0"/>
                      </a:endParaRP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r" fontAlgn="ctr">
                        <a:buNone/>
                      </a:pPr>
                      <a:endParaRPr lang="en-US" sz="1100" b="0" i="0" u="none" strike="noStrike">
                        <a:solidFill>
                          <a:srgbClr val="000000"/>
                        </a:solidFill>
                        <a:effectLst/>
                        <a:latin typeface="Aptos Narrow" panose="020B0004020202020204" pitchFamily="34" charset="0"/>
                      </a:endParaRP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l" fontAlgn="ctr">
                        <a:buNone/>
                      </a:pPr>
                      <a:endParaRPr lang="en-US" sz="1100" b="0" i="0" u="none" strike="noStrike">
                        <a:solidFill>
                          <a:srgbClr val="000000"/>
                        </a:solidFill>
                        <a:effectLst/>
                        <a:latin typeface="Aptos Narrow" panose="020B0004020202020204" pitchFamily="34" charset="0"/>
                      </a:endParaRP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sz="1100" b="1" i="0" u="none" strike="noStrike">
                        <a:solidFill>
                          <a:srgbClr val="000000"/>
                        </a:solidFill>
                        <a:effectLst/>
                        <a:latin typeface="Aptos Narrow" panose="020B0004020202020204" pitchFamily="34" charset="0"/>
                      </a:endParaRP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l">
                        <a:spcBef>
                          <a:spcPts val="0"/>
                        </a:spcBef>
                      </a:pPr>
                      <a:endParaRPr lang="en-US" sz="1100" b="0" i="0" u="none" strike="noStrike" kern="1200">
                        <a:solidFill>
                          <a:srgbClr val="000000"/>
                        </a:solidFill>
                        <a:effectLst/>
                        <a:highlight>
                          <a:srgbClr val="FFFF00"/>
                        </a:highlight>
                        <a:latin typeface="Aptos Narrow" panose="020B0004020202020204" pitchFamily="34" charset="0"/>
                        <a:ea typeface="+mn-ea"/>
                        <a:cs typeface="+mn-cs"/>
                      </a:endParaRP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sz="1100" b="1" i="0" u="none" strike="noStrike">
                        <a:solidFill>
                          <a:srgbClr val="000000"/>
                        </a:solidFill>
                        <a:effectLst/>
                        <a:latin typeface="Aptos Narrow" panose="020B0004020202020204" pitchFamily="34" charset="0"/>
                      </a:endParaRP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l">
                        <a:spcBef>
                          <a:spcPts val="0"/>
                        </a:spcBef>
                      </a:pPr>
                      <a:endParaRPr lang="en-US" sz="1100" b="0" i="0" u="none" strike="noStrike" kern="1200">
                        <a:solidFill>
                          <a:srgbClr val="000000"/>
                        </a:solidFill>
                        <a:effectLst/>
                        <a:highlight>
                          <a:srgbClr val="FFFF00"/>
                        </a:highlight>
                        <a:latin typeface="Aptos Narrow" panose="020B0004020202020204" pitchFamily="34" charset="0"/>
                        <a:ea typeface="+mn-ea"/>
                        <a:cs typeface="+mn-cs"/>
                      </a:endParaRP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extLst>
                  <a:ext uri="{0D108BD9-81ED-4DB2-BD59-A6C34878D82A}">
                    <a16:rowId xmlns:a16="http://schemas.microsoft.com/office/drawing/2014/main" val="1778190515"/>
                  </a:ext>
                </a:extLst>
              </a:tr>
            </a:tbl>
          </a:graphicData>
        </a:graphic>
      </p:graphicFrame>
      <p:sp>
        <p:nvSpPr>
          <p:cNvPr id="5" name="TextBox 4">
            <a:extLst>
              <a:ext uri="{FF2B5EF4-FFF2-40B4-BE49-F238E27FC236}">
                <a16:creationId xmlns:a16="http://schemas.microsoft.com/office/drawing/2014/main" id="{C6FA3BE6-CCCC-31E5-E23F-BB04B938CE79}"/>
              </a:ext>
            </a:extLst>
          </p:cNvPr>
          <p:cNvSpPr txBox="1"/>
          <p:nvPr/>
        </p:nvSpPr>
        <p:spPr>
          <a:xfrm>
            <a:off x="199249" y="354806"/>
            <a:ext cx="9410539" cy="461665"/>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solidFill>
                  <a:prstClr val="black"/>
                </a:solidFill>
                <a:latin typeface="Aptos" panose="02110004020202020204"/>
              </a:rPr>
              <a:t>Currently 5</a:t>
            </a:r>
            <a:r>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t> items in Plan to Build / Ready for Hand-off</a:t>
            </a:r>
            <a:r>
              <a:rPr lang="en-US" sz="1200">
                <a:solidFill>
                  <a:prstClr val="black"/>
                </a:solidFill>
                <a:latin typeface="Aptos" panose="02110004020202020204"/>
              </a:rPr>
              <a:t>. 1 (Cookie Banner) will remain on hold pending new tool readiness </a:t>
            </a:r>
            <a:r>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t>recently funded and added to Plan 2 build. 4 ready to hand-off next week with 2 having dependency on contract signage prior to moving to build backlog</a:t>
            </a:r>
            <a:endParaRPr lang="en-US" sz="1200" b="0" i="0" u="none" strike="noStrike" kern="1200" cap="none" spc="0" normalizeH="0" baseline="0" noProof="0">
              <a:ln>
                <a:noFill/>
              </a:ln>
              <a:solidFill>
                <a:prstClr val="black"/>
              </a:solidFill>
              <a:effectLst/>
              <a:uLnTx/>
              <a:uFillTx/>
              <a:latin typeface="Aptos" panose="02110004020202020204"/>
            </a:endParaRPr>
          </a:p>
        </p:txBody>
      </p:sp>
      <p:grpSp>
        <p:nvGrpSpPr>
          <p:cNvPr id="3" name="Group 2">
            <a:extLst>
              <a:ext uri="{FF2B5EF4-FFF2-40B4-BE49-F238E27FC236}">
                <a16:creationId xmlns:a16="http://schemas.microsoft.com/office/drawing/2014/main" id="{46BBABAA-B772-203F-9D86-38415C26CAF1}"/>
              </a:ext>
            </a:extLst>
          </p:cNvPr>
          <p:cNvGrpSpPr/>
          <p:nvPr/>
        </p:nvGrpSpPr>
        <p:grpSpPr>
          <a:xfrm>
            <a:off x="9681030" y="91711"/>
            <a:ext cx="2435155" cy="813545"/>
            <a:chOff x="7996335" y="4089215"/>
            <a:chExt cx="3004322" cy="1323375"/>
          </a:xfrm>
        </p:grpSpPr>
        <p:pic>
          <p:nvPicPr>
            <p:cNvPr id="6" name="Picture 5">
              <a:extLst>
                <a:ext uri="{FF2B5EF4-FFF2-40B4-BE49-F238E27FC236}">
                  <a16:creationId xmlns:a16="http://schemas.microsoft.com/office/drawing/2014/main" id="{EE0094C0-AD54-32EC-D692-195DD0A78C67}"/>
                </a:ext>
              </a:extLst>
            </p:cNvPr>
            <p:cNvPicPr>
              <a:picLocks noChangeAspect="1"/>
            </p:cNvPicPr>
            <p:nvPr/>
          </p:nvPicPr>
          <p:blipFill>
            <a:blip r:embed="rId2"/>
            <a:stretch>
              <a:fillRect/>
            </a:stretch>
          </p:blipFill>
          <p:spPr>
            <a:xfrm>
              <a:off x="9671548" y="4926763"/>
              <a:ext cx="816808" cy="485827"/>
            </a:xfrm>
            <a:prstGeom prst="rect">
              <a:avLst/>
            </a:prstGeom>
          </p:spPr>
        </p:pic>
        <p:pic>
          <p:nvPicPr>
            <p:cNvPr id="7" name="Picture 6">
              <a:extLst>
                <a:ext uri="{FF2B5EF4-FFF2-40B4-BE49-F238E27FC236}">
                  <a16:creationId xmlns:a16="http://schemas.microsoft.com/office/drawing/2014/main" id="{CC7882DD-D8F0-68A5-B4EE-25D99696B1D6}"/>
                </a:ext>
              </a:extLst>
            </p:cNvPr>
            <p:cNvPicPr>
              <a:picLocks noChangeAspect="1"/>
            </p:cNvPicPr>
            <p:nvPr/>
          </p:nvPicPr>
          <p:blipFill>
            <a:blip r:embed="rId3"/>
            <a:stretch>
              <a:fillRect/>
            </a:stretch>
          </p:blipFill>
          <p:spPr>
            <a:xfrm>
              <a:off x="7996335" y="4089215"/>
              <a:ext cx="3004322" cy="1043764"/>
            </a:xfrm>
            <a:prstGeom prst="rect">
              <a:avLst/>
            </a:prstGeom>
          </p:spPr>
        </p:pic>
      </p:grpSp>
    </p:spTree>
    <p:extLst>
      <p:ext uri="{BB962C8B-B14F-4D97-AF65-F5344CB8AC3E}">
        <p14:creationId xmlns:p14="http://schemas.microsoft.com/office/powerpoint/2010/main" val="281821970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C90A86-1421-7CEF-3533-48AB58CEAA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4233A4-78F3-0092-448A-05C409CD08A8}"/>
              </a:ext>
            </a:extLst>
          </p:cNvPr>
          <p:cNvSpPr>
            <a:spLocks noGrp="1"/>
          </p:cNvSpPr>
          <p:nvPr>
            <p:ph type="title"/>
          </p:nvPr>
        </p:nvSpPr>
        <p:spPr>
          <a:xfrm>
            <a:off x="233274" y="-2285"/>
            <a:ext cx="10338516" cy="680044"/>
          </a:xfrm>
        </p:spPr>
        <p:txBody>
          <a:bodyPr vert="horz" lIns="0" tIns="0" rIns="0" bIns="0" rtlCol="0" anchor="t" anchorCtr="0">
            <a:normAutofit/>
          </a:bodyPr>
          <a:lstStyle/>
          <a:p>
            <a:r>
              <a:rPr lang="en-US"/>
              <a:t>Build Backlog</a:t>
            </a:r>
          </a:p>
        </p:txBody>
      </p:sp>
      <p:graphicFrame>
        <p:nvGraphicFramePr>
          <p:cNvPr id="4" name="Table 3">
            <a:extLst>
              <a:ext uri="{FF2B5EF4-FFF2-40B4-BE49-F238E27FC236}">
                <a16:creationId xmlns:a16="http://schemas.microsoft.com/office/drawing/2014/main" id="{86E15510-09D1-8B5B-730A-C5E77E05D351}"/>
              </a:ext>
            </a:extLst>
          </p:cNvPr>
          <p:cNvGraphicFramePr>
            <a:graphicFrameLocks noGrp="1"/>
          </p:cNvGraphicFramePr>
          <p:nvPr/>
        </p:nvGraphicFramePr>
        <p:xfrm>
          <a:off x="124121" y="1666999"/>
          <a:ext cx="11943759" cy="3418916"/>
        </p:xfrm>
        <a:graphic>
          <a:graphicData uri="http://schemas.openxmlformats.org/drawingml/2006/table">
            <a:tbl>
              <a:tblPr>
                <a:tableStyleId>{5C22544A-7EE6-4342-B048-85BDC9FD1C3A}</a:tableStyleId>
              </a:tblPr>
              <a:tblGrid>
                <a:gridCol w="2076467">
                  <a:extLst>
                    <a:ext uri="{9D8B030D-6E8A-4147-A177-3AD203B41FA5}">
                      <a16:colId xmlns:a16="http://schemas.microsoft.com/office/drawing/2014/main" val="3471638855"/>
                    </a:ext>
                  </a:extLst>
                </a:gridCol>
                <a:gridCol w="657128">
                  <a:extLst>
                    <a:ext uri="{9D8B030D-6E8A-4147-A177-3AD203B41FA5}">
                      <a16:colId xmlns:a16="http://schemas.microsoft.com/office/drawing/2014/main" val="3028352674"/>
                    </a:ext>
                  </a:extLst>
                </a:gridCol>
                <a:gridCol w="1172176">
                  <a:extLst>
                    <a:ext uri="{9D8B030D-6E8A-4147-A177-3AD203B41FA5}">
                      <a16:colId xmlns:a16="http://schemas.microsoft.com/office/drawing/2014/main" val="1498653313"/>
                    </a:ext>
                  </a:extLst>
                </a:gridCol>
                <a:gridCol w="692650">
                  <a:extLst>
                    <a:ext uri="{9D8B030D-6E8A-4147-A177-3AD203B41FA5}">
                      <a16:colId xmlns:a16="http://schemas.microsoft.com/office/drawing/2014/main" val="3250840374"/>
                    </a:ext>
                  </a:extLst>
                </a:gridCol>
                <a:gridCol w="692650">
                  <a:extLst>
                    <a:ext uri="{9D8B030D-6E8A-4147-A177-3AD203B41FA5}">
                      <a16:colId xmlns:a16="http://schemas.microsoft.com/office/drawing/2014/main" val="426403746"/>
                    </a:ext>
                  </a:extLst>
                </a:gridCol>
                <a:gridCol w="666009">
                  <a:extLst>
                    <a:ext uri="{9D8B030D-6E8A-4147-A177-3AD203B41FA5}">
                      <a16:colId xmlns:a16="http://schemas.microsoft.com/office/drawing/2014/main" val="3578533005"/>
                    </a:ext>
                  </a:extLst>
                </a:gridCol>
                <a:gridCol w="763690">
                  <a:extLst>
                    <a:ext uri="{9D8B030D-6E8A-4147-A177-3AD203B41FA5}">
                      <a16:colId xmlns:a16="http://schemas.microsoft.com/office/drawing/2014/main" val="125616475"/>
                    </a:ext>
                  </a:extLst>
                </a:gridCol>
                <a:gridCol w="879132">
                  <a:extLst>
                    <a:ext uri="{9D8B030D-6E8A-4147-A177-3AD203B41FA5}">
                      <a16:colId xmlns:a16="http://schemas.microsoft.com/office/drawing/2014/main" val="3752820406"/>
                    </a:ext>
                  </a:extLst>
                </a:gridCol>
                <a:gridCol w="754810">
                  <a:extLst>
                    <a:ext uri="{9D8B030D-6E8A-4147-A177-3AD203B41FA5}">
                      <a16:colId xmlns:a16="http://schemas.microsoft.com/office/drawing/2014/main" val="2231587161"/>
                    </a:ext>
                  </a:extLst>
                </a:gridCol>
                <a:gridCol w="834732">
                  <a:extLst>
                    <a:ext uri="{9D8B030D-6E8A-4147-A177-3AD203B41FA5}">
                      <a16:colId xmlns:a16="http://schemas.microsoft.com/office/drawing/2014/main" val="1328422513"/>
                    </a:ext>
                  </a:extLst>
                </a:gridCol>
                <a:gridCol w="2754315">
                  <a:extLst>
                    <a:ext uri="{9D8B030D-6E8A-4147-A177-3AD203B41FA5}">
                      <a16:colId xmlns:a16="http://schemas.microsoft.com/office/drawing/2014/main" val="2731508636"/>
                    </a:ext>
                  </a:extLst>
                </a:gridCol>
              </a:tblGrid>
              <a:tr h="538556">
                <a:tc>
                  <a:txBody>
                    <a:bodyPr/>
                    <a:lstStyle/>
                    <a:p>
                      <a:pPr algn="ctr" fontAlgn="b">
                        <a:buNone/>
                      </a:pPr>
                      <a:r>
                        <a:rPr lang="en-US" sz="1100" u="none" strike="noStrike">
                          <a:solidFill>
                            <a:schemeClr val="tx1"/>
                          </a:solidFill>
                          <a:effectLst/>
                        </a:rPr>
                        <a:t>Description</a:t>
                      </a:r>
                      <a:endParaRPr lang="en-US" sz="1100" b="1" i="0" u="none" strike="noStrike">
                        <a:solidFill>
                          <a:schemeClr val="tx1"/>
                        </a:solidFill>
                        <a:effectLst/>
                        <a:latin typeface="Aptos Narrow" panose="020B0004020202020204" pitchFamily="34" charset="0"/>
                      </a:endParaRPr>
                    </a:p>
                  </a:txBody>
                  <a:tcPr marL="0" marR="0" marT="0" marB="0" anchor="b">
                    <a:lnB w="12700" cap="flat" cmpd="sng" algn="ctr">
                      <a:solidFill>
                        <a:srgbClr val="72B0BD"/>
                      </a:solidFill>
                      <a:prstDash val="solid"/>
                      <a:round/>
                      <a:headEnd type="none" w="med" len="med"/>
                      <a:tailEnd type="none" w="med" len="med"/>
                    </a:lnB>
                    <a:solidFill>
                      <a:schemeClr val="accent6">
                        <a:lumMod val="60000"/>
                        <a:lumOff val="40000"/>
                      </a:schemeClr>
                    </a:solidFill>
                  </a:tcPr>
                </a:tc>
                <a:tc>
                  <a:txBody>
                    <a:bodyPr/>
                    <a:lstStyle/>
                    <a:p>
                      <a:pPr algn="ctr" fontAlgn="b">
                        <a:buNone/>
                      </a:pPr>
                      <a:r>
                        <a:rPr lang="en-US" sz="1100" u="none" strike="noStrike" err="1">
                          <a:solidFill>
                            <a:schemeClr val="tx1"/>
                          </a:solidFill>
                          <a:effectLst/>
                        </a:rPr>
                        <a:t>OpEX</a:t>
                      </a:r>
                      <a:r>
                        <a:rPr lang="en-US" sz="1100" u="none" strike="noStrike">
                          <a:solidFill>
                            <a:schemeClr val="tx1"/>
                          </a:solidFill>
                          <a:effectLst/>
                        </a:rPr>
                        <a:t> Priority</a:t>
                      </a:r>
                      <a:endParaRPr lang="en-US" sz="1100" b="1" i="0" u="none" strike="noStrike">
                        <a:solidFill>
                          <a:schemeClr val="tx1"/>
                        </a:solidFill>
                        <a:effectLst/>
                        <a:latin typeface="Aptos Narrow" panose="020B0004020202020204" pitchFamily="34" charset="0"/>
                      </a:endParaRPr>
                    </a:p>
                  </a:txBody>
                  <a:tcPr marL="0" marR="0" marT="0" marB="0" anchor="b">
                    <a:lnB w="12700" cap="flat" cmpd="sng" algn="ctr">
                      <a:solidFill>
                        <a:srgbClr val="72B0BD"/>
                      </a:solidFill>
                      <a:prstDash val="solid"/>
                      <a:round/>
                      <a:headEnd type="none" w="med" len="med"/>
                      <a:tailEnd type="none" w="med" len="med"/>
                    </a:lnB>
                    <a:solidFill>
                      <a:schemeClr val="accent6">
                        <a:lumMod val="60000"/>
                        <a:lumOff val="40000"/>
                      </a:schemeClr>
                    </a:solidFill>
                  </a:tcPr>
                </a:tc>
                <a:tc>
                  <a:txBody>
                    <a:bodyPr/>
                    <a:lstStyle/>
                    <a:p>
                      <a:pPr algn="ctr" fontAlgn="b">
                        <a:buNone/>
                      </a:pPr>
                      <a:r>
                        <a:rPr lang="en-US" sz="1100" u="none" strike="noStrike">
                          <a:solidFill>
                            <a:schemeClr val="tx1"/>
                          </a:solidFill>
                          <a:effectLst/>
                        </a:rPr>
                        <a:t>Budgetary Estimate (Hours) </a:t>
                      </a:r>
                      <a:endParaRPr lang="en-US" sz="1100" b="1" i="0" u="none" strike="noStrike">
                        <a:solidFill>
                          <a:schemeClr val="tx1"/>
                        </a:solidFill>
                        <a:effectLst/>
                        <a:latin typeface="Aptos Narrow" panose="020B0004020202020204" pitchFamily="34" charset="0"/>
                      </a:endParaRPr>
                    </a:p>
                  </a:txBody>
                  <a:tcPr marL="0" marR="0" marT="0" marB="0" anchor="b">
                    <a:lnB w="12700" cap="flat" cmpd="sng" algn="ctr">
                      <a:solidFill>
                        <a:srgbClr val="72B0BD"/>
                      </a:solidFill>
                      <a:prstDash val="solid"/>
                      <a:round/>
                      <a:headEnd type="none" w="med" len="med"/>
                      <a:tailEnd type="none" w="med" len="med"/>
                    </a:lnB>
                    <a:solidFill>
                      <a:schemeClr val="accent6">
                        <a:lumMod val="60000"/>
                        <a:lumOff val="40000"/>
                      </a:schemeClr>
                    </a:solidFill>
                  </a:tcPr>
                </a:tc>
                <a:tc>
                  <a:txBody>
                    <a:bodyPr/>
                    <a:lstStyle/>
                    <a:p>
                      <a:pPr algn="ctr" fontAlgn="b">
                        <a:buNone/>
                      </a:pPr>
                      <a:r>
                        <a:rPr lang="en-US" sz="1100" b="1" i="0" u="none" strike="noStrike">
                          <a:solidFill>
                            <a:schemeClr val="tx1"/>
                          </a:solidFill>
                          <a:effectLst/>
                          <a:latin typeface="Aptos Narrow" panose="020B0004020202020204" pitchFamily="34" charset="0"/>
                        </a:rPr>
                        <a:t>Team Impacts</a:t>
                      </a:r>
                    </a:p>
                  </a:txBody>
                  <a:tcPr marL="0" marR="0" marT="0" marB="0" anchor="b">
                    <a:lnB w="12700" cap="flat" cmpd="sng" algn="ctr">
                      <a:solidFill>
                        <a:srgbClr val="72B0BD"/>
                      </a:solidFill>
                      <a:prstDash val="solid"/>
                      <a:round/>
                      <a:headEnd type="none" w="med" len="med"/>
                      <a:tailEnd type="none" w="med" len="med"/>
                    </a:lnB>
                    <a:solidFill>
                      <a:schemeClr val="accent6">
                        <a:lumMod val="60000"/>
                        <a:lumOff val="40000"/>
                      </a:schemeClr>
                    </a:solidFill>
                  </a:tcPr>
                </a:tc>
                <a:tc>
                  <a:txBody>
                    <a:bodyPr/>
                    <a:lstStyle/>
                    <a:p>
                      <a:pPr algn="ctr" fontAlgn="b">
                        <a:buNone/>
                      </a:pPr>
                      <a:r>
                        <a:rPr lang="en-US" sz="1100" u="none" strike="noStrike">
                          <a:solidFill>
                            <a:schemeClr val="tx1"/>
                          </a:solidFill>
                          <a:effectLst/>
                        </a:rPr>
                        <a:t>IT Rec'd</a:t>
                      </a:r>
                      <a:endParaRPr lang="en-US" sz="1100" b="1" i="0" u="none" strike="noStrike">
                        <a:solidFill>
                          <a:schemeClr val="tx1"/>
                        </a:solidFill>
                        <a:effectLst/>
                        <a:latin typeface="Aptos Narrow" panose="020B0004020202020204" pitchFamily="34" charset="0"/>
                      </a:endParaRPr>
                    </a:p>
                  </a:txBody>
                  <a:tcPr marL="0" marR="0" marT="0" marB="0" anchor="b">
                    <a:lnB w="12700" cap="flat" cmpd="sng" algn="ctr">
                      <a:solidFill>
                        <a:srgbClr val="72B0BD"/>
                      </a:solidFill>
                      <a:prstDash val="solid"/>
                      <a:round/>
                      <a:headEnd type="none" w="med" len="med"/>
                      <a:tailEnd type="none" w="med" len="med"/>
                    </a:lnB>
                    <a:solidFill>
                      <a:schemeClr val="accent6">
                        <a:lumMod val="60000"/>
                        <a:lumOff val="40000"/>
                      </a:schemeClr>
                    </a:solidFill>
                  </a:tcPr>
                </a:tc>
                <a:tc>
                  <a:txBody>
                    <a:bodyPr/>
                    <a:lstStyle/>
                    <a:p>
                      <a:pPr algn="ctr" fontAlgn="b">
                        <a:buNone/>
                      </a:pPr>
                      <a:r>
                        <a:rPr lang="en-US" sz="1100" u="none" strike="noStrike">
                          <a:solidFill>
                            <a:schemeClr val="tx1"/>
                          </a:solidFill>
                          <a:effectLst/>
                        </a:rPr>
                        <a:t>Estimate complete Date</a:t>
                      </a:r>
                      <a:endParaRPr lang="en-US" sz="1100" b="1" i="0" u="none" strike="noStrike">
                        <a:solidFill>
                          <a:schemeClr val="tx1"/>
                        </a:solidFill>
                        <a:effectLst/>
                        <a:latin typeface="Aptos Narrow" panose="020B0004020202020204" pitchFamily="34" charset="0"/>
                      </a:endParaRPr>
                    </a:p>
                  </a:txBody>
                  <a:tcPr marL="0" marR="0" marT="0" marB="0" anchor="b">
                    <a:lnB w="12700" cap="flat" cmpd="sng" algn="ctr">
                      <a:solidFill>
                        <a:srgbClr val="72B0BD"/>
                      </a:solidFill>
                      <a:prstDash val="solid"/>
                      <a:round/>
                      <a:headEnd type="none" w="med" len="med"/>
                      <a:tailEnd type="none" w="med" len="med"/>
                    </a:lnB>
                    <a:solidFill>
                      <a:schemeClr val="accent6">
                        <a:lumMod val="60000"/>
                        <a:lumOff val="40000"/>
                      </a:schemeClr>
                    </a:solidFill>
                  </a:tcPr>
                </a:tc>
                <a:tc>
                  <a:txBody>
                    <a:bodyPr/>
                    <a:lstStyle/>
                    <a:p>
                      <a:pPr algn="ctr" fontAlgn="b">
                        <a:buNone/>
                      </a:pPr>
                      <a:r>
                        <a:rPr lang="en-US" sz="1100" u="none" strike="noStrike">
                          <a:solidFill>
                            <a:schemeClr val="tx1"/>
                          </a:solidFill>
                          <a:effectLst/>
                        </a:rPr>
                        <a:t>Funding Approved Date</a:t>
                      </a:r>
                      <a:endParaRPr lang="en-US" sz="1100" b="1" i="0" u="none" strike="noStrike">
                        <a:solidFill>
                          <a:schemeClr val="tx1"/>
                        </a:solidFill>
                        <a:effectLst/>
                        <a:latin typeface="Aptos Narrow" panose="020B0004020202020204" pitchFamily="34" charset="0"/>
                      </a:endParaRPr>
                    </a:p>
                  </a:txBody>
                  <a:tcPr marL="0" marR="0" marT="0" marB="0" anchor="b">
                    <a:lnB w="12700" cap="flat" cmpd="sng" algn="ctr">
                      <a:solidFill>
                        <a:srgbClr val="72B0BD"/>
                      </a:solidFill>
                      <a:prstDash val="solid"/>
                      <a:round/>
                      <a:headEnd type="none" w="med" len="med"/>
                      <a:tailEnd type="none" w="med" len="med"/>
                    </a:lnB>
                    <a:solidFill>
                      <a:schemeClr val="accent6">
                        <a:lumMod val="60000"/>
                        <a:lumOff val="40000"/>
                      </a:schemeClr>
                    </a:solidFill>
                  </a:tcPr>
                </a:tc>
                <a:tc>
                  <a:txBody>
                    <a:bodyPr/>
                    <a:lstStyle/>
                    <a:p>
                      <a:pPr algn="ctr" fontAlgn="b">
                        <a:buNone/>
                      </a:pPr>
                      <a:r>
                        <a:rPr lang="en-US" sz="1100" b="1" i="0" u="none" strike="noStrike">
                          <a:solidFill>
                            <a:schemeClr val="tx1"/>
                          </a:solidFill>
                          <a:effectLst/>
                          <a:latin typeface="Aptos Narrow" panose="020B0004020202020204" pitchFamily="34" charset="0"/>
                        </a:rPr>
                        <a:t>Target Handoff</a:t>
                      </a:r>
                    </a:p>
                  </a:txBody>
                  <a:tcPr marL="0" marR="0" marT="0" marB="0" anchor="b">
                    <a:lnB w="12700" cap="flat" cmpd="sng" algn="ctr">
                      <a:solidFill>
                        <a:srgbClr val="72B0BD"/>
                      </a:solidFill>
                      <a:prstDash val="solid"/>
                      <a:round/>
                      <a:headEnd type="none" w="med" len="med"/>
                      <a:tailEnd type="none" w="med" len="med"/>
                    </a:lnB>
                    <a:solidFill>
                      <a:schemeClr val="accent6">
                        <a:lumMod val="60000"/>
                        <a:lumOff val="40000"/>
                      </a:schemeClr>
                    </a:solidFill>
                  </a:tcPr>
                </a:tc>
                <a:tc>
                  <a:txBody>
                    <a:bodyPr/>
                    <a:lstStyle/>
                    <a:p>
                      <a:pPr algn="ctr" fontAlgn="b">
                        <a:buNone/>
                      </a:pPr>
                      <a:r>
                        <a:rPr lang="en-US" sz="1100" b="1" i="0" u="none" strike="noStrike">
                          <a:solidFill>
                            <a:schemeClr val="tx1"/>
                          </a:solidFill>
                          <a:effectLst/>
                          <a:latin typeface="Aptos Narrow" panose="020B0004020202020204" pitchFamily="34" charset="0"/>
                        </a:rPr>
                        <a:t>Handoff Type</a:t>
                      </a:r>
                    </a:p>
                  </a:txBody>
                  <a:tcPr marL="0" marR="0" marT="0" marB="0" anchor="b">
                    <a:lnB w="12700" cap="flat" cmpd="sng" algn="ctr">
                      <a:solidFill>
                        <a:srgbClr val="72B0BD"/>
                      </a:solidFill>
                      <a:prstDash val="solid"/>
                      <a:round/>
                      <a:headEnd type="none" w="med" len="med"/>
                      <a:tailEnd type="none" w="med" len="med"/>
                    </a:lnB>
                    <a:solidFill>
                      <a:schemeClr val="accent6">
                        <a:lumMod val="60000"/>
                        <a:lumOff val="40000"/>
                      </a:schemeClr>
                    </a:solidFill>
                  </a:tcPr>
                </a:tc>
                <a:tc>
                  <a:txBody>
                    <a:bodyPr/>
                    <a:lstStyle/>
                    <a:p>
                      <a:pPr algn="ctr" fontAlgn="b">
                        <a:buNone/>
                      </a:pPr>
                      <a:r>
                        <a:rPr lang="en-US" sz="1100" b="1" i="0" u="none" strike="noStrike">
                          <a:solidFill>
                            <a:schemeClr val="tx1"/>
                          </a:solidFill>
                          <a:effectLst/>
                          <a:latin typeface="Aptos Narrow" panose="020B0004020202020204" pitchFamily="34" charset="0"/>
                        </a:rPr>
                        <a:t>Target Delivery </a:t>
                      </a:r>
                      <a:r>
                        <a:rPr lang="en-US" sz="1100" b="1" i="0" u="none" strike="noStrike" err="1">
                          <a:solidFill>
                            <a:schemeClr val="tx1"/>
                          </a:solidFill>
                          <a:effectLst/>
                          <a:latin typeface="Aptos Narrow" panose="020B0004020202020204" pitchFamily="34" charset="0"/>
                        </a:rPr>
                        <a:t>Qtr</a:t>
                      </a:r>
                      <a:endParaRPr lang="en-US" sz="1100" b="1" i="0" u="none" strike="noStrike">
                        <a:solidFill>
                          <a:schemeClr val="tx1"/>
                        </a:solidFill>
                        <a:effectLst/>
                        <a:latin typeface="Aptos Narrow" panose="020B0004020202020204" pitchFamily="34" charset="0"/>
                      </a:endParaRPr>
                    </a:p>
                  </a:txBody>
                  <a:tcPr marL="0" marR="0" marT="0" marB="0" anchor="b">
                    <a:lnB w="12700" cap="flat" cmpd="sng" algn="ctr">
                      <a:solidFill>
                        <a:srgbClr val="72B0BD"/>
                      </a:solidFill>
                      <a:prstDash val="solid"/>
                      <a:round/>
                      <a:headEnd type="none" w="med" len="med"/>
                      <a:tailEnd type="none" w="med" len="med"/>
                    </a:lnB>
                    <a:solidFill>
                      <a:schemeClr val="accent6">
                        <a:lumMod val="60000"/>
                        <a:lumOff val="40000"/>
                      </a:schemeClr>
                    </a:solidFill>
                  </a:tcPr>
                </a:tc>
                <a:tc>
                  <a:txBody>
                    <a:bodyPr/>
                    <a:lstStyle/>
                    <a:p>
                      <a:pPr algn="ctr" fontAlgn="b">
                        <a:buNone/>
                      </a:pPr>
                      <a:r>
                        <a:rPr lang="en-US" sz="1100" u="none" strike="noStrike">
                          <a:solidFill>
                            <a:schemeClr val="tx1"/>
                          </a:solidFill>
                          <a:effectLst/>
                        </a:rPr>
                        <a:t>Comment</a:t>
                      </a:r>
                      <a:endParaRPr lang="en-US" sz="1100" b="1" i="0" u="none" strike="noStrike">
                        <a:solidFill>
                          <a:schemeClr val="tx1"/>
                        </a:solidFill>
                        <a:effectLst/>
                        <a:latin typeface="Aptos Narrow" panose="020B0004020202020204" pitchFamily="34" charset="0"/>
                      </a:endParaRPr>
                    </a:p>
                  </a:txBody>
                  <a:tcPr marL="0" marR="0" marT="0" marB="0" anchor="b">
                    <a:lnB w="12700" cap="flat" cmpd="sng" algn="ctr">
                      <a:solidFill>
                        <a:srgbClr val="72B0BD"/>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2993874157"/>
                  </a:ext>
                </a:extLst>
              </a:tr>
              <a:tr h="641603">
                <a:tc>
                  <a:txBody>
                    <a:bodyPr/>
                    <a:lstStyle/>
                    <a:p>
                      <a:pPr algn="l" fontAlgn="b">
                        <a:buNone/>
                      </a:pPr>
                      <a:r>
                        <a:rPr lang="en-US" sz="1100" b="1" i="0" u="none" strike="noStrike">
                          <a:solidFill>
                            <a:srgbClr val="000000"/>
                          </a:solidFill>
                          <a:effectLst/>
                          <a:latin typeface="Aptos Narrow" panose="020B0004020202020204" pitchFamily="34" charset="0"/>
                        </a:rPr>
                        <a:t>NW Pet: Enhancement for Commission Reporting  - Internal Batch Process Enhancements for Sales Commission reporting</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l" fontAlgn="b">
                        <a:buNone/>
                      </a:pPr>
                      <a:endParaRPr lang="en-US" sz="1100" b="1" i="0" u="none" strike="noStrike">
                        <a:solidFill>
                          <a:srgbClr val="000000"/>
                        </a:solidFill>
                        <a:effectLst/>
                        <a:latin typeface="Aptos Narrow" panose="020B0004020202020204" pitchFamily="34" charset="0"/>
                      </a:endParaRP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Aptos Narrow" panose="020B0004020202020204" pitchFamily="34" charset="0"/>
                        </a:rPr>
                        <a:t>PV Budget: $57,575.04</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ctr" fontAlgn="b">
                        <a:buNone/>
                      </a:pPr>
                      <a:r>
                        <a:rPr lang="en-US" sz="1100" b="0" i="0" u="none" strike="noStrike">
                          <a:solidFill>
                            <a:srgbClr val="000000"/>
                          </a:solidFill>
                          <a:effectLst/>
                          <a:latin typeface="Aptos Narrow" panose="020B0004020202020204" pitchFamily="34" charset="0"/>
                        </a:rPr>
                        <a:t>AT</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l" fontAlgn="b">
                        <a:buNone/>
                      </a:pPr>
                      <a:r>
                        <a:rPr lang="en-US" sz="1100" b="1" i="0" u="none" strike="noStrike">
                          <a:solidFill>
                            <a:srgbClr val="000000"/>
                          </a:solidFill>
                          <a:effectLst/>
                          <a:latin typeface="Aptos Narrow" panose="020B0004020202020204" pitchFamily="34" charset="0"/>
                        </a:rPr>
                        <a:t>NA</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Aptos Narrow" panose="020B0004020202020204" pitchFamily="34" charset="0"/>
                        </a:rPr>
                        <a:t>NA</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l" fontAlgn="b">
                        <a:buNone/>
                      </a:pPr>
                      <a:r>
                        <a:rPr lang="en-US" sz="1100" b="1" i="0" u="none" strike="noStrike">
                          <a:solidFill>
                            <a:srgbClr val="000000"/>
                          </a:solidFill>
                          <a:effectLst/>
                          <a:latin typeface="Aptos Narrow" panose="020B0004020202020204" pitchFamily="34" charset="0"/>
                        </a:rPr>
                        <a:t>1/1/2026</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r" fontAlgn="b">
                        <a:buNone/>
                      </a:pPr>
                      <a:r>
                        <a:rPr lang="en-US" sz="1100" b="0" i="0" u="none" strike="noStrike">
                          <a:solidFill>
                            <a:srgbClr val="000000"/>
                          </a:solidFill>
                          <a:effectLst/>
                          <a:latin typeface="Aptos Narrow" panose="020B0004020202020204" pitchFamily="34" charset="0"/>
                        </a:rPr>
                        <a:t>Sastry has teams and hours</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ctr" fontAlgn="b">
                        <a:buNone/>
                      </a:pPr>
                      <a:r>
                        <a:rPr lang="en-US" sz="1100" b="1" i="0" u="none" strike="noStrike">
                          <a:solidFill>
                            <a:srgbClr val="000000"/>
                          </a:solidFill>
                          <a:effectLst/>
                          <a:latin typeface="Aptos Narrow" panose="020B0004020202020204" pitchFamily="34" charset="0"/>
                        </a:rPr>
                        <a:t>S2L</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ctr" fontAlgn="b">
                        <a:buNone/>
                      </a:pPr>
                      <a:r>
                        <a:rPr lang="en-US" sz="1100" b="1" i="0" u="none" strike="noStrike">
                          <a:solidFill>
                            <a:srgbClr val="000000"/>
                          </a:solidFill>
                          <a:effectLst/>
                          <a:latin typeface="Aptos Narrow" panose="020B0004020202020204" pitchFamily="34" charset="0"/>
                        </a:rPr>
                        <a:t>3</a:t>
                      </a:r>
                      <a:r>
                        <a:rPr lang="en-US" sz="1100" b="1" i="0" u="none" strike="noStrike" baseline="30000">
                          <a:solidFill>
                            <a:srgbClr val="000000"/>
                          </a:solidFill>
                          <a:effectLst/>
                          <a:latin typeface="Aptos Narrow" panose="020B0004020202020204" pitchFamily="34" charset="0"/>
                        </a:rPr>
                        <a:t>rd</a:t>
                      </a:r>
                      <a:r>
                        <a:rPr lang="en-US" sz="1100" b="1" i="0" u="none" strike="noStrike">
                          <a:solidFill>
                            <a:srgbClr val="000000"/>
                          </a:solidFill>
                          <a:effectLst/>
                          <a:latin typeface="Aptos Narrow" panose="020B0004020202020204" pitchFamily="34" charset="0"/>
                        </a:rPr>
                        <a:t> </a:t>
                      </a:r>
                      <a:r>
                        <a:rPr lang="en-US" sz="1100" b="1" i="0" u="none" strike="noStrike" err="1">
                          <a:solidFill>
                            <a:srgbClr val="000000"/>
                          </a:solidFill>
                          <a:effectLst/>
                          <a:latin typeface="Aptos Narrow" panose="020B0004020202020204" pitchFamily="34" charset="0"/>
                        </a:rPr>
                        <a:t>Qtr</a:t>
                      </a:r>
                      <a:endParaRPr lang="en-US" sz="1100" b="1" i="0" u="none" strike="noStrike">
                        <a:solidFill>
                          <a:srgbClr val="000000"/>
                        </a:solidFill>
                        <a:effectLst/>
                        <a:latin typeface="Aptos Narrow" panose="020B0004020202020204" pitchFamily="34" charset="0"/>
                      </a:endParaRPr>
                    </a:p>
                    <a:p>
                      <a:pPr algn="ctr" fontAlgn="b">
                        <a:buNone/>
                      </a:pPr>
                      <a:endParaRPr lang="en-US" sz="1100" b="1" i="0" u="none" strike="noStrike">
                        <a:solidFill>
                          <a:srgbClr val="000000"/>
                        </a:solidFill>
                        <a:effectLst/>
                        <a:latin typeface="Aptos Narrow" panose="020B0004020202020204" pitchFamily="34" charset="0"/>
                      </a:endParaRP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Aptos Narrow" panose="020B0004020202020204" pitchFamily="34" charset="0"/>
                        </a:rPr>
                        <a:t>This is part of the 2026 IT Risk Operations Annual Portfolio.  They are being prioritized and managed by Chalam in coordination with IT leadership</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extLst>
                  <a:ext uri="{0D108BD9-81ED-4DB2-BD59-A6C34878D82A}">
                    <a16:rowId xmlns:a16="http://schemas.microsoft.com/office/drawing/2014/main" val="3366491188"/>
                  </a:ext>
                </a:extLst>
              </a:tr>
              <a:tr h="408966">
                <a:tc>
                  <a:txBody>
                    <a:bodyPr/>
                    <a:lstStyle/>
                    <a:p>
                      <a:pPr algn="l" fontAlgn="b">
                        <a:buNone/>
                      </a:pPr>
                      <a:r>
                        <a:rPr lang="en-US" sz="1100" b="1" i="0" u="none" strike="noStrike">
                          <a:solidFill>
                            <a:srgbClr val="000000"/>
                          </a:solidFill>
                          <a:effectLst/>
                          <a:latin typeface="Aptos Narrow" panose="020B0004020202020204" pitchFamily="34" charset="0"/>
                        </a:rPr>
                        <a:t>PEC Product &amp; Underwriting Enhancements</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l" fontAlgn="b">
                        <a:buNone/>
                      </a:pPr>
                      <a:r>
                        <a:rPr lang="en-US" sz="1100" b="1" i="0" u="none" strike="noStrike">
                          <a:solidFill>
                            <a:srgbClr val="000000"/>
                          </a:solidFill>
                          <a:effectLst/>
                          <a:latin typeface="Aptos Narrow" panose="020B0004020202020204" pitchFamily="34" charset="0"/>
                        </a:rPr>
                        <a:t>P-1</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Aptos Narrow" panose="020B0004020202020204" pitchFamily="34" charset="0"/>
                        </a:rPr>
                        <a:t>S - $100K-$300K; 1111-3333</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ctr" fontAlgn="b">
                        <a:buNone/>
                      </a:pPr>
                      <a:r>
                        <a:rPr lang="en-US" sz="1100" b="0" i="0" u="none" strike="noStrike">
                          <a:solidFill>
                            <a:srgbClr val="000000"/>
                          </a:solidFill>
                          <a:effectLst/>
                          <a:latin typeface="Aptos Narrow" panose="020B0004020202020204" pitchFamily="34" charset="0"/>
                        </a:rPr>
                        <a:t>SS, Doc Sol, AT</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l" fontAlgn="b">
                        <a:buNone/>
                      </a:pPr>
                      <a:r>
                        <a:rPr lang="en-US" sz="1100" b="1" i="0" u="none" strike="noStrike">
                          <a:solidFill>
                            <a:srgbClr val="000000"/>
                          </a:solidFill>
                          <a:effectLst/>
                          <a:latin typeface="Aptos Narrow" panose="020B0004020202020204" pitchFamily="34" charset="0"/>
                        </a:rPr>
                        <a:t>8/19/2025</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Aptos Narrow" panose="020B0004020202020204" pitchFamily="34" charset="0"/>
                        </a:rPr>
                        <a:t>12/3/2025</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l" fontAlgn="b">
                        <a:buNone/>
                      </a:pPr>
                      <a:r>
                        <a:rPr lang="en-US" sz="1100" b="1" i="0" u="none" strike="noStrike">
                          <a:solidFill>
                            <a:srgbClr val="000000"/>
                          </a:solidFill>
                          <a:effectLst/>
                          <a:latin typeface="Aptos Narrow" panose="020B0004020202020204" pitchFamily="34" charset="0"/>
                        </a:rPr>
                        <a:t>3/11/2026</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r" fontAlgn="b">
                        <a:buNone/>
                      </a:pPr>
                      <a:r>
                        <a:rPr lang="en-US" sz="1100" b="0" i="0" u="none" strike="noStrike">
                          <a:solidFill>
                            <a:srgbClr val="000000"/>
                          </a:solidFill>
                          <a:effectLst/>
                          <a:latin typeface="Aptos Narrow" panose="020B0004020202020204" pitchFamily="34" charset="0"/>
                        </a:rPr>
                        <a:t>5/15/2026</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ctr" fontAlgn="b">
                        <a:buNone/>
                      </a:pPr>
                      <a:r>
                        <a:rPr lang="en-US" sz="1100" b="1" i="0" u="none" strike="noStrike">
                          <a:solidFill>
                            <a:srgbClr val="000000"/>
                          </a:solidFill>
                          <a:effectLst/>
                          <a:latin typeface="Aptos Narrow" panose="020B0004020202020204" pitchFamily="34" charset="0"/>
                        </a:rPr>
                        <a:t>Project</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100" b="1" i="0" u="none" strike="noStrike">
                          <a:solidFill>
                            <a:srgbClr val="000000"/>
                          </a:solidFill>
                          <a:effectLst/>
                          <a:latin typeface="Aptos Narrow" panose="020B0004020202020204" pitchFamily="34" charset="0"/>
                        </a:rPr>
                        <a:t>4</a:t>
                      </a:r>
                      <a:r>
                        <a:rPr lang="en-US" sz="1100" b="1" i="0" u="none" strike="noStrike" baseline="30000">
                          <a:solidFill>
                            <a:srgbClr val="000000"/>
                          </a:solidFill>
                          <a:effectLst/>
                          <a:latin typeface="Aptos Narrow" panose="020B0004020202020204" pitchFamily="34" charset="0"/>
                        </a:rPr>
                        <a:t>th</a:t>
                      </a:r>
                      <a:r>
                        <a:rPr lang="en-US" sz="1100" b="1" i="0" u="none" strike="noStrike">
                          <a:solidFill>
                            <a:srgbClr val="000000"/>
                          </a:solidFill>
                          <a:effectLst/>
                          <a:latin typeface="Aptos Narrow" panose="020B0004020202020204" pitchFamily="34" charset="0"/>
                        </a:rPr>
                        <a:t> </a:t>
                      </a:r>
                      <a:r>
                        <a:rPr lang="en-US" sz="1100" b="1" i="0" u="none" strike="noStrike" err="1">
                          <a:solidFill>
                            <a:srgbClr val="000000"/>
                          </a:solidFill>
                          <a:effectLst/>
                          <a:latin typeface="Aptos Narrow" panose="020B0004020202020204" pitchFamily="34" charset="0"/>
                        </a:rPr>
                        <a:t>Qtr</a:t>
                      </a:r>
                      <a:endParaRPr lang="en-US" sz="1100" b="1" i="0" u="none" strike="noStrike">
                        <a:solidFill>
                          <a:srgbClr val="000000"/>
                        </a:solidFill>
                        <a:effectLst/>
                        <a:latin typeface="Aptos Narrow" panose="020B0004020202020204" pitchFamily="34" charset="0"/>
                      </a:endParaRPr>
                    </a:p>
                    <a:p>
                      <a:pPr algn="ctr" fontAlgn="b">
                        <a:buNone/>
                      </a:pPr>
                      <a:endParaRPr lang="en-US" sz="1100" b="1" i="0" u="none" strike="noStrike">
                        <a:solidFill>
                          <a:srgbClr val="000000"/>
                        </a:solidFill>
                        <a:effectLst/>
                        <a:latin typeface="Aptos Narrow" panose="020B0004020202020204" pitchFamily="34" charset="0"/>
                      </a:endParaRP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Aptos Narrow" panose="020B0004020202020204" pitchFamily="34" charset="0"/>
                        </a:rPr>
                        <a:t>P2B transition completed 5/14/26 – Assume 4</a:t>
                      </a:r>
                      <a:r>
                        <a:rPr lang="en-US" sz="1100" b="0" i="0" u="none" strike="noStrike" baseline="30000">
                          <a:solidFill>
                            <a:srgbClr val="000000"/>
                          </a:solidFill>
                          <a:effectLst/>
                          <a:latin typeface="Aptos Narrow" panose="020B0004020202020204" pitchFamily="34" charset="0"/>
                        </a:rPr>
                        <a:t>th</a:t>
                      </a:r>
                      <a:r>
                        <a:rPr lang="en-US" sz="1100" b="0" i="0" u="none" strike="noStrike">
                          <a:solidFill>
                            <a:srgbClr val="000000"/>
                          </a:solidFill>
                          <a:effectLst/>
                          <a:latin typeface="Aptos Narrow" panose="020B0004020202020204" pitchFamily="34" charset="0"/>
                        </a:rPr>
                        <a:t> quarter as Project team coming together now</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extLst>
                  <a:ext uri="{0D108BD9-81ED-4DB2-BD59-A6C34878D82A}">
                    <a16:rowId xmlns:a16="http://schemas.microsoft.com/office/drawing/2014/main" val="2607640160"/>
                  </a:ext>
                </a:extLst>
              </a:tr>
              <a:tr h="341197">
                <a:tc>
                  <a:txBody>
                    <a:bodyPr/>
                    <a:lstStyle/>
                    <a:p>
                      <a:pPr algn="l" fontAlgn="b">
                        <a:buNone/>
                      </a:pPr>
                      <a:r>
                        <a:rPr lang="en-US" sz="1100" b="1" i="0" u="none" strike="noStrike">
                          <a:solidFill>
                            <a:srgbClr val="000000"/>
                          </a:solidFill>
                          <a:effectLst/>
                          <a:latin typeface="Aptos Narrow" panose="020B0004020202020204" pitchFamily="34" charset="0"/>
                        </a:rPr>
                        <a:t>Hard coded Tags Clean up </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l" fontAlgn="b">
                        <a:buNone/>
                      </a:pPr>
                      <a:r>
                        <a:rPr lang="en-US" sz="1100" b="1" i="0" u="none" strike="noStrike">
                          <a:solidFill>
                            <a:srgbClr val="000000"/>
                          </a:solidFill>
                          <a:effectLst/>
                          <a:latin typeface="Aptos Narrow" panose="020B0004020202020204" pitchFamily="34" charset="0"/>
                        </a:rPr>
                        <a:t>(blank)</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Aptos Narrow" panose="020B0004020202020204" pitchFamily="34" charset="0"/>
                        </a:rPr>
                        <a:t>3XS $1-10K, 1-111 hrs</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ctr" fontAlgn="b">
                        <a:buNone/>
                      </a:pPr>
                      <a:r>
                        <a:rPr lang="en-US" sz="1100" b="0" i="0" u="none" strike="noStrike">
                          <a:solidFill>
                            <a:srgbClr val="000000"/>
                          </a:solidFill>
                          <a:effectLst/>
                          <a:latin typeface="Aptos Narrow" panose="020B0004020202020204" pitchFamily="34" charset="0"/>
                        </a:rPr>
                        <a:t>TB, EW , Mktg</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r" fontAlgn="b">
                        <a:buNone/>
                      </a:pPr>
                      <a:r>
                        <a:rPr lang="en-US" sz="1100" b="1" i="0" u="none" strike="noStrike">
                          <a:solidFill>
                            <a:srgbClr val="000000"/>
                          </a:solidFill>
                          <a:effectLst/>
                          <a:latin typeface="Aptos Narrow" panose="020B0004020202020204" pitchFamily="34" charset="0"/>
                        </a:rPr>
                        <a:t>5/26/2026</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r" fontAlgn="b">
                        <a:buNone/>
                      </a:pPr>
                      <a:r>
                        <a:rPr lang="en-US" sz="1100" b="0" i="0" u="none" strike="noStrike">
                          <a:solidFill>
                            <a:srgbClr val="000000"/>
                          </a:solidFill>
                          <a:effectLst/>
                          <a:latin typeface="Aptos Narrow" panose="020B0004020202020204" pitchFamily="34" charset="0"/>
                        </a:rPr>
                        <a:t>5/26/2026</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r" fontAlgn="b">
                        <a:buNone/>
                      </a:pPr>
                      <a:r>
                        <a:rPr lang="en-US" sz="1100" b="1" i="0" u="none" strike="noStrike">
                          <a:solidFill>
                            <a:srgbClr val="000000"/>
                          </a:solidFill>
                          <a:effectLst/>
                          <a:latin typeface="Aptos Narrow" panose="020B0004020202020204" pitchFamily="34" charset="0"/>
                        </a:rPr>
                        <a:t>5/26/2026</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r" fontAlgn="b">
                        <a:buNone/>
                      </a:pPr>
                      <a:r>
                        <a:rPr lang="en-US" sz="1100" b="0" i="0" u="none" strike="noStrike">
                          <a:solidFill>
                            <a:srgbClr val="000000"/>
                          </a:solidFill>
                          <a:effectLst/>
                          <a:latin typeface="Aptos Narrow" panose="020B0004020202020204" pitchFamily="34" charset="0"/>
                        </a:rPr>
                        <a:t>6/5/2026</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100" b="0" i="0" u="none" strike="noStrike">
                          <a:solidFill>
                            <a:srgbClr val="000000"/>
                          </a:solidFill>
                          <a:effectLst/>
                          <a:latin typeface="Aptos Narrow" panose="020B0004020202020204" pitchFamily="34" charset="0"/>
                        </a:rPr>
                        <a:t>S2L</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100" b="0" i="0" u="none" strike="noStrike">
                          <a:solidFill>
                            <a:srgbClr val="000000"/>
                          </a:solidFill>
                          <a:effectLst/>
                          <a:latin typeface="Aptos Narrow" panose="020B0004020202020204" pitchFamily="34" charset="0"/>
                        </a:rPr>
                        <a:t>3</a:t>
                      </a:r>
                      <a:r>
                        <a:rPr lang="en-US" sz="1100" b="0" i="0" u="none" strike="noStrike" baseline="30000">
                          <a:solidFill>
                            <a:srgbClr val="000000"/>
                          </a:solidFill>
                          <a:effectLst/>
                          <a:latin typeface="Aptos Narrow" panose="020B0004020202020204" pitchFamily="34" charset="0"/>
                        </a:rPr>
                        <a:t>rd</a:t>
                      </a:r>
                      <a:r>
                        <a:rPr lang="en-US" sz="1100" b="0" i="0" u="none" strike="noStrike">
                          <a:solidFill>
                            <a:srgbClr val="000000"/>
                          </a:solidFill>
                          <a:effectLst/>
                          <a:latin typeface="Aptos Narrow" panose="020B0004020202020204" pitchFamily="34" charset="0"/>
                        </a:rPr>
                        <a:t> Quarter</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Aptos Narrow" panose="020B0004020202020204" pitchFamily="34" charset="0"/>
                        </a:rPr>
                        <a:t>Handed off to line for immediate support of Adobe Insight to GTM to avoid business impacts with the shut down of </a:t>
                      </a:r>
                      <a:r>
                        <a:rPr lang="en-US" sz="1100" b="0" i="0" u="none" strike="noStrike" err="1">
                          <a:solidFill>
                            <a:srgbClr val="000000"/>
                          </a:solidFill>
                          <a:effectLst/>
                          <a:latin typeface="Aptos Narrow" panose="020B0004020202020204" pitchFamily="34" charset="0"/>
                        </a:rPr>
                        <a:t>Ensighten</a:t>
                      </a:r>
                      <a:endParaRPr lang="en-US" sz="1100" b="0" i="0" u="none" strike="noStrike">
                        <a:solidFill>
                          <a:srgbClr val="000000"/>
                        </a:solidFill>
                        <a:effectLst/>
                        <a:latin typeface="Aptos Narrow" panose="020B0004020202020204" pitchFamily="34" charset="0"/>
                      </a:endParaRP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noFill/>
                  </a:tcPr>
                </a:tc>
                <a:extLst>
                  <a:ext uri="{0D108BD9-81ED-4DB2-BD59-A6C34878D82A}">
                    <a16:rowId xmlns:a16="http://schemas.microsoft.com/office/drawing/2014/main" val="1492022150"/>
                  </a:ext>
                </a:extLst>
              </a:tr>
              <a:tr h="511795">
                <a:tc>
                  <a:txBody>
                    <a:bodyPr/>
                    <a:lstStyle/>
                    <a:p>
                      <a:pPr algn="l" fontAlgn="b">
                        <a:buNone/>
                      </a:pPr>
                      <a:r>
                        <a:rPr lang="en-US" sz="1100" b="0" i="0" u="none" strike="noStrike">
                          <a:solidFill>
                            <a:srgbClr val="000000"/>
                          </a:solidFill>
                          <a:effectLst/>
                          <a:latin typeface="Aptos Narrow" panose="020B0004020202020204" pitchFamily="34" charset="0"/>
                        </a:rPr>
                        <a:t>WA MPI 5% Affinity Discount Removal (</a:t>
                      </a:r>
                      <a:r>
                        <a:rPr lang="en-US" sz="1100" b="0" i="0" u="none" strike="noStrike" err="1">
                          <a:solidFill>
                            <a:srgbClr val="000000"/>
                          </a:solidFill>
                          <a:effectLst/>
                          <a:latin typeface="Aptos Narrow" panose="020B0004020202020204" pitchFamily="34" charset="0"/>
                        </a:rPr>
                        <a:t>OpEx</a:t>
                      </a:r>
                      <a:r>
                        <a:rPr lang="en-US" sz="1100" b="0" i="0" u="none" strike="noStrike">
                          <a:solidFill>
                            <a:srgbClr val="000000"/>
                          </a:solidFill>
                          <a:effectLst/>
                          <a:latin typeface="Aptos Narrow" panose="020B0004020202020204" pitchFamily="34" charset="0"/>
                        </a:rPr>
                        <a:t> #69)</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algn="l" fontAlgn="b">
                        <a:buNone/>
                      </a:pPr>
                      <a:r>
                        <a:rPr lang="en-US" sz="1100" b="0" i="0" u="none" strike="noStrike">
                          <a:solidFill>
                            <a:srgbClr val="000000"/>
                          </a:solidFill>
                          <a:effectLst/>
                          <a:latin typeface="Aptos Narrow" panose="020B0004020202020204" pitchFamily="34" charset="0"/>
                        </a:rPr>
                        <a:t>(blank)</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algn="l" fontAlgn="b">
                        <a:buNone/>
                      </a:pPr>
                      <a:r>
                        <a:rPr lang="en-US" sz="1100" b="0" i="0" u="none" strike="noStrike">
                          <a:solidFill>
                            <a:srgbClr val="000000"/>
                          </a:solidFill>
                          <a:effectLst/>
                          <a:latin typeface="Aptos Narrow" panose="020B0004020202020204" pitchFamily="34" charset="0"/>
                        </a:rPr>
                        <a:t>2XS $10-$50K ; 111-500 </a:t>
                      </a:r>
                      <a:r>
                        <a:rPr lang="en-US" sz="1100" b="0" i="0" u="none" strike="noStrike" err="1">
                          <a:solidFill>
                            <a:srgbClr val="000000"/>
                          </a:solidFill>
                          <a:effectLst/>
                          <a:latin typeface="Aptos Narrow" panose="020B0004020202020204" pitchFamily="34" charset="0"/>
                        </a:rPr>
                        <a:t>hr</a:t>
                      </a:r>
                      <a:endParaRPr lang="en-US" sz="1100" b="0" i="0" u="none" strike="noStrike">
                        <a:solidFill>
                          <a:srgbClr val="000000"/>
                        </a:solidFill>
                        <a:effectLst/>
                        <a:latin typeface="Aptos Narrow" panose="020B0004020202020204" pitchFamily="34" charset="0"/>
                      </a:endParaRP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marL="0" algn="ctr" defTabSz="914400" rtl="0" eaLnBrk="1" fontAlgn="b" latinLnBrk="0" hangingPunct="1">
                        <a:buNone/>
                      </a:pPr>
                      <a:r>
                        <a:rPr lang="en-US" sz="1100" b="0" i="0" u="none" strike="noStrike" kern="1200">
                          <a:solidFill>
                            <a:srgbClr val="000000"/>
                          </a:solidFill>
                          <a:effectLst/>
                          <a:latin typeface="Aptos Narrow" panose="020B0004020202020204" pitchFamily="34" charset="0"/>
                          <a:ea typeface="+mn-ea"/>
                          <a:cs typeface="+mn-cs"/>
                        </a:rPr>
                        <a:t>EW,PR,SS</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marL="0" algn="r" defTabSz="914400" rtl="0" eaLnBrk="1" fontAlgn="b" latinLnBrk="0" hangingPunct="1">
                        <a:buNone/>
                      </a:pPr>
                      <a:r>
                        <a:rPr lang="en-US" sz="1100" b="0" i="0" u="none" strike="noStrike" kern="1200">
                          <a:solidFill>
                            <a:srgbClr val="000000"/>
                          </a:solidFill>
                          <a:effectLst/>
                          <a:latin typeface="Aptos Narrow" panose="020B0004020202020204" pitchFamily="34" charset="0"/>
                          <a:ea typeface="+mn-ea"/>
                          <a:cs typeface="+mn-cs"/>
                        </a:rPr>
                        <a:t>3/30/2026</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marL="0" algn="r" defTabSz="914400" rtl="0" eaLnBrk="1" fontAlgn="b" latinLnBrk="0" hangingPunct="1">
                        <a:buNone/>
                      </a:pPr>
                      <a:r>
                        <a:rPr lang="en-US" sz="1100" b="0" i="0" u="none" strike="noStrike" kern="1200">
                          <a:solidFill>
                            <a:srgbClr val="000000"/>
                          </a:solidFill>
                          <a:effectLst/>
                          <a:latin typeface="Aptos Narrow" panose="020B0004020202020204" pitchFamily="34" charset="0"/>
                          <a:ea typeface="+mn-ea"/>
                          <a:cs typeface="+mn-cs"/>
                        </a:rPr>
                        <a:t>3/30/2026</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marL="0" algn="r" defTabSz="914400" rtl="0" eaLnBrk="1" fontAlgn="b" latinLnBrk="0" hangingPunct="1">
                        <a:buNone/>
                      </a:pPr>
                      <a:r>
                        <a:rPr lang="en-US" sz="1100" b="0" i="0" u="none" strike="noStrike" kern="1200">
                          <a:solidFill>
                            <a:srgbClr val="000000"/>
                          </a:solidFill>
                          <a:effectLst/>
                          <a:latin typeface="Aptos Narrow" panose="020B0004020202020204" pitchFamily="34" charset="0"/>
                          <a:ea typeface="+mn-ea"/>
                          <a:cs typeface="+mn-cs"/>
                        </a:rPr>
                        <a:t>4/2/2026</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marL="0" algn="r" defTabSz="914400" rtl="0" eaLnBrk="1" fontAlgn="b" latinLnBrk="0" hangingPunct="1">
                        <a:buNone/>
                      </a:pPr>
                      <a:r>
                        <a:rPr lang="en-US" sz="1100" b="0" i="0" u="none" strike="noStrike" kern="1200">
                          <a:solidFill>
                            <a:srgbClr val="000000"/>
                          </a:solidFill>
                          <a:effectLst/>
                          <a:latin typeface="Aptos Narrow" panose="020B0004020202020204" pitchFamily="34" charset="0"/>
                          <a:ea typeface="+mn-ea"/>
                          <a:cs typeface="+mn-cs"/>
                        </a:rPr>
                        <a:t>7/1/ 2026</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marL="0" algn="ctr" defTabSz="914400" rtl="0" eaLnBrk="1" fontAlgn="b" latinLnBrk="0" hangingPunct="1">
                        <a:buNone/>
                      </a:pPr>
                      <a:r>
                        <a:rPr lang="en-US" sz="1100" b="0" i="0" u="none" strike="noStrike" kern="1200">
                          <a:solidFill>
                            <a:srgbClr val="000000"/>
                          </a:solidFill>
                          <a:effectLst/>
                          <a:latin typeface="Aptos Narrow" panose="020B0004020202020204" pitchFamily="34" charset="0"/>
                          <a:ea typeface="+mn-ea"/>
                          <a:cs typeface="+mn-cs"/>
                        </a:rPr>
                        <a:t>S2L</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marL="0" algn="ctr" defTabSz="914400" rtl="0" eaLnBrk="1" fontAlgn="b" latinLnBrk="0" hangingPunct="1">
                        <a:buNone/>
                      </a:pPr>
                      <a:r>
                        <a:rPr lang="en-US" sz="1100" b="0" i="0" u="none" strike="noStrike" kern="1200">
                          <a:solidFill>
                            <a:srgbClr val="000000"/>
                          </a:solidFill>
                          <a:effectLst/>
                          <a:latin typeface="Aptos Narrow" panose="020B0004020202020204" pitchFamily="34" charset="0"/>
                          <a:ea typeface="+mn-ea"/>
                          <a:cs typeface="+mn-cs"/>
                        </a:rPr>
                        <a:t>4th  Quarter</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algn="l" fontAlgn="b">
                        <a:buNone/>
                      </a:pPr>
                      <a:r>
                        <a:rPr lang="en-US" sz="1100" b="0" i="0" u="none" strike="noStrike">
                          <a:solidFill>
                            <a:srgbClr val="000000"/>
                          </a:solidFill>
                          <a:effectLst/>
                          <a:latin typeface="Aptos Narrow" panose="020B0004020202020204" pitchFamily="34" charset="0"/>
                        </a:rPr>
                        <a:t>6/10/26- Originally on-hold pending legal input, received duplicate Intake that this effort is approved to move forward as part of Compliance funding. Need Business confirmation that there are no changes to previous IPE then can schedule STL handoff. </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extLst>
                  <a:ext uri="{0D108BD9-81ED-4DB2-BD59-A6C34878D82A}">
                    <a16:rowId xmlns:a16="http://schemas.microsoft.com/office/drawing/2014/main" val="217929367"/>
                  </a:ext>
                </a:extLst>
              </a:tr>
            </a:tbl>
          </a:graphicData>
        </a:graphic>
      </p:graphicFrame>
      <p:sp>
        <p:nvSpPr>
          <p:cNvPr id="5" name="TextBox 4">
            <a:extLst>
              <a:ext uri="{FF2B5EF4-FFF2-40B4-BE49-F238E27FC236}">
                <a16:creationId xmlns:a16="http://schemas.microsoft.com/office/drawing/2014/main" id="{77A459EB-A966-C9EA-7FCB-69E154932E66}"/>
              </a:ext>
            </a:extLst>
          </p:cNvPr>
          <p:cNvSpPr txBox="1"/>
          <p:nvPr/>
        </p:nvSpPr>
        <p:spPr>
          <a:xfrm>
            <a:off x="231445" y="338077"/>
            <a:ext cx="9520731" cy="461665"/>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solidFill>
                  <a:prstClr val="black"/>
                </a:solidFill>
                <a:latin typeface="Aptos" panose="02110004020202020204"/>
              </a:rPr>
              <a:t>Six</a:t>
            </a:r>
            <a:r>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t> items recently funded and added to Plan 2 build.  Two items are security oriented and were included in QPP for 3</a:t>
            </a:r>
            <a:r>
              <a:rPr kumimoji="0" lang="en-US" sz="1200" b="0" i="0" u="none" strike="noStrike" kern="1200" cap="none" spc="0" normalizeH="0" baseline="30000" noProof="0">
                <a:ln>
                  <a:noFill/>
                </a:ln>
                <a:solidFill>
                  <a:prstClr val="black"/>
                </a:solidFill>
                <a:effectLst/>
                <a:uLnTx/>
                <a:uFillTx/>
                <a:latin typeface="Aptos" panose="02110004020202020204"/>
                <a:ea typeface="+mn-ea"/>
                <a:cs typeface="+mn-cs"/>
              </a:rPr>
              <a:t>rd</a:t>
            </a:r>
            <a:r>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t> Quarter delivery.  Remaining 4 are funded directly from Business code and target 4</a:t>
            </a:r>
            <a:r>
              <a:rPr kumimoji="0" lang="en-US" sz="1200" b="0" i="0" u="none" strike="noStrike" kern="1200" cap="none" spc="0" normalizeH="0" baseline="30000" noProof="0">
                <a:ln>
                  <a:noFill/>
                </a:ln>
                <a:solidFill>
                  <a:prstClr val="black"/>
                </a:solidFill>
                <a:effectLst/>
                <a:uLnTx/>
                <a:uFillTx/>
                <a:latin typeface="Aptos" panose="02110004020202020204"/>
                <a:ea typeface="+mn-ea"/>
                <a:cs typeface="+mn-cs"/>
              </a:rPr>
              <a:t>th</a:t>
            </a:r>
            <a:r>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t> </a:t>
            </a:r>
            <a:r>
              <a:rPr kumimoji="0" lang="en-US" sz="1200" b="0" i="0" u="none" strike="noStrike" kern="1200" cap="none" spc="0" normalizeH="0" baseline="0" noProof="0" err="1">
                <a:ln>
                  <a:noFill/>
                </a:ln>
                <a:solidFill>
                  <a:prstClr val="black"/>
                </a:solidFill>
                <a:effectLst/>
                <a:uLnTx/>
                <a:uFillTx/>
                <a:latin typeface="Aptos" panose="02110004020202020204"/>
                <a:ea typeface="+mn-ea"/>
                <a:cs typeface="+mn-cs"/>
              </a:rPr>
              <a:t>qtr</a:t>
            </a:r>
            <a:r>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t> delivery.  2 have a dependency on contract signage prior to execution</a:t>
            </a:r>
          </a:p>
        </p:txBody>
      </p:sp>
      <p:grpSp>
        <p:nvGrpSpPr>
          <p:cNvPr id="3" name="Group 2">
            <a:extLst>
              <a:ext uri="{FF2B5EF4-FFF2-40B4-BE49-F238E27FC236}">
                <a16:creationId xmlns:a16="http://schemas.microsoft.com/office/drawing/2014/main" id="{B92B8E8D-A554-527A-152E-41CD00F16A1E}"/>
              </a:ext>
            </a:extLst>
          </p:cNvPr>
          <p:cNvGrpSpPr/>
          <p:nvPr/>
        </p:nvGrpSpPr>
        <p:grpSpPr>
          <a:xfrm>
            <a:off x="9629191" y="73824"/>
            <a:ext cx="2435155" cy="911208"/>
            <a:chOff x="7996335" y="4089215"/>
            <a:chExt cx="3004322" cy="1323375"/>
          </a:xfrm>
        </p:grpSpPr>
        <p:pic>
          <p:nvPicPr>
            <p:cNvPr id="6" name="Picture 5">
              <a:extLst>
                <a:ext uri="{FF2B5EF4-FFF2-40B4-BE49-F238E27FC236}">
                  <a16:creationId xmlns:a16="http://schemas.microsoft.com/office/drawing/2014/main" id="{138DDDB3-6152-C7A1-21FF-CFE29F6A9F36}"/>
                </a:ext>
              </a:extLst>
            </p:cNvPr>
            <p:cNvPicPr>
              <a:picLocks noChangeAspect="1"/>
            </p:cNvPicPr>
            <p:nvPr/>
          </p:nvPicPr>
          <p:blipFill>
            <a:blip r:embed="rId2"/>
            <a:stretch>
              <a:fillRect/>
            </a:stretch>
          </p:blipFill>
          <p:spPr>
            <a:xfrm>
              <a:off x="9671548" y="4926763"/>
              <a:ext cx="816808" cy="485827"/>
            </a:xfrm>
            <a:prstGeom prst="rect">
              <a:avLst/>
            </a:prstGeom>
          </p:spPr>
        </p:pic>
        <p:pic>
          <p:nvPicPr>
            <p:cNvPr id="7" name="Picture 6">
              <a:extLst>
                <a:ext uri="{FF2B5EF4-FFF2-40B4-BE49-F238E27FC236}">
                  <a16:creationId xmlns:a16="http://schemas.microsoft.com/office/drawing/2014/main" id="{DE07293B-8B9B-5051-68D8-BF1825C070F3}"/>
                </a:ext>
              </a:extLst>
            </p:cNvPr>
            <p:cNvPicPr>
              <a:picLocks noChangeAspect="1"/>
            </p:cNvPicPr>
            <p:nvPr/>
          </p:nvPicPr>
          <p:blipFill>
            <a:blip r:embed="rId3"/>
            <a:stretch>
              <a:fillRect/>
            </a:stretch>
          </p:blipFill>
          <p:spPr>
            <a:xfrm>
              <a:off x="7996335" y="4089215"/>
              <a:ext cx="3004322" cy="1043764"/>
            </a:xfrm>
            <a:prstGeom prst="rect">
              <a:avLst/>
            </a:prstGeom>
          </p:spPr>
        </p:pic>
      </p:grpSp>
    </p:spTree>
    <p:extLst>
      <p:ext uri="{BB962C8B-B14F-4D97-AF65-F5344CB8AC3E}">
        <p14:creationId xmlns:p14="http://schemas.microsoft.com/office/powerpoint/2010/main" val="404846998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2188EF-D4A8-72FC-54E2-3E1835985E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5AA11D-06C3-8FE0-CE7B-DBF3E117CD75}"/>
              </a:ext>
            </a:extLst>
          </p:cNvPr>
          <p:cNvSpPr>
            <a:spLocks noGrp="1"/>
          </p:cNvSpPr>
          <p:nvPr>
            <p:ph type="title"/>
          </p:nvPr>
        </p:nvSpPr>
        <p:spPr>
          <a:xfrm>
            <a:off x="244006" y="-2285"/>
            <a:ext cx="10327784" cy="680044"/>
          </a:xfrm>
        </p:spPr>
        <p:txBody>
          <a:bodyPr vert="horz" lIns="0" tIns="0" rIns="0" bIns="0" rtlCol="0" anchor="t" anchorCtr="0">
            <a:normAutofit/>
          </a:bodyPr>
          <a:lstStyle/>
          <a:p>
            <a:r>
              <a:rPr lang="en-US"/>
              <a:t>Run Handoff</a:t>
            </a:r>
          </a:p>
        </p:txBody>
      </p:sp>
      <p:graphicFrame>
        <p:nvGraphicFramePr>
          <p:cNvPr id="4" name="Table 3">
            <a:extLst>
              <a:ext uri="{FF2B5EF4-FFF2-40B4-BE49-F238E27FC236}">
                <a16:creationId xmlns:a16="http://schemas.microsoft.com/office/drawing/2014/main" id="{C3A5F8FC-1AAE-C574-C9AE-A2572C5DD4CA}"/>
              </a:ext>
            </a:extLst>
          </p:cNvPr>
          <p:cNvGraphicFramePr>
            <a:graphicFrameLocks noGrp="1"/>
          </p:cNvGraphicFramePr>
          <p:nvPr/>
        </p:nvGraphicFramePr>
        <p:xfrm>
          <a:off x="124121" y="1666999"/>
          <a:ext cx="11943757" cy="1300556"/>
        </p:xfrm>
        <a:graphic>
          <a:graphicData uri="http://schemas.openxmlformats.org/drawingml/2006/table">
            <a:tbl>
              <a:tblPr>
                <a:tableStyleId>{5C22544A-7EE6-4342-B048-85BDC9FD1C3A}</a:tableStyleId>
              </a:tblPr>
              <a:tblGrid>
                <a:gridCol w="2204300">
                  <a:extLst>
                    <a:ext uri="{9D8B030D-6E8A-4147-A177-3AD203B41FA5}">
                      <a16:colId xmlns:a16="http://schemas.microsoft.com/office/drawing/2014/main" val="3471638855"/>
                    </a:ext>
                  </a:extLst>
                </a:gridCol>
                <a:gridCol w="697583">
                  <a:extLst>
                    <a:ext uri="{9D8B030D-6E8A-4147-A177-3AD203B41FA5}">
                      <a16:colId xmlns:a16="http://schemas.microsoft.com/office/drawing/2014/main" val="3028352674"/>
                    </a:ext>
                  </a:extLst>
                </a:gridCol>
                <a:gridCol w="1244338">
                  <a:extLst>
                    <a:ext uri="{9D8B030D-6E8A-4147-A177-3AD203B41FA5}">
                      <a16:colId xmlns:a16="http://schemas.microsoft.com/office/drawing/2014/main" val="1498653313"/>
                    </a:ext>
                  </a:extLst>
                </a:gridCol>
                <a:gridCol w="735291">
                  <a:extLst>
                    <a:ext uri="{9D8B030D-6E8A-4147-A177-3AD203B41FA5}">
                      <a16:colId xmlns:a16="http://schemas.microsoft.com/office/drawing/2014/main" val="426403746"/>
                    </a:ext>
                  </a:extLst>
                </a:gridCol>
                <a:gridCol w="707010">
                  <a:extLst>
                    <a:ext uri="{9D8B030D-6E8A-4147-A177-3AD203B41FA5}">
                      <a16:colId xmlns:a16="http://schemas.microsoft.com/office/drawing/2014/main" val="3578533005"/>
                    </a:ext>
                  </a:extLst>
                </a:gridCol>
                <a:gridCol w="810705">
                  <a:extLst>
                    <a:ext uri="{9D8B030D-6E8A-4147-A177-3AD203B41FA5}">
                      <a16:colId xmlns:a16="http://schemas.microsoft.com/office/drawing/2014/main" val="125616475"/>
                    </a:ext>
                  </a:extLst>
                </a:gridCol>
                <a:gridCol w="933254">
                  <a:extLst>
                    <a:ext uri="{9D8B030D-6E8A-4147-A177-3AD203B41FA5}">
                      <a16:colId xmlns:a16="http://schemas.microsoft.com/office/drawing/2014/main" val="3752820406"/>
                    </a:ext>
                  </a:extLst>
                </a:gridCol>
                <a:gridCol w="801278">
                  <a:extLst>
                    <a:ext uri="{9D8B030D-6E8A-4147-A177-3AD203B41FA5}">
                      <a16:colId xmlns:a16="http://schemas.microsoft.com/office/drawing/2014/main" val="2231587161"/>
                    </a:ext>
                  </a:extLst>
                </a:gridCol>
                <a:gridCol w="886120">
                  <a:extLst>
                    <a:ext uri="{9D8B030D-6E8A-4147-A177-3AD203B41FA5}">
                      <a16:colId xmlns:a16="http://schemas.microsoft.com/office/drawing/2014/main" val="1328422513"/>
                    </a:ext>
                  </a:extLst>
                </a:gridCol>
                <a:gridCol w="2923878">
                  <a:extLst>
                    <a:ext uri="{9D8B030D-6E8A-4147-A177-3AD203B41FA5}">
                      <a16:colId xmlns:a16="http://schemas.microsoft.com/office/drawing/2014/main" val="2731508636"/>
                    </a:ext>
                  </a:extLst>
                </a:gridCol>
              </a:tblGrid>
              <a:tr h="538556">
                <a:tc>
                  <a:txBody>
                    <a:bodyPr/>
                    <a:lstStyle/>
                    <a:p>
                      <a:pPr algn="ctr" fontAlgn="b">
                        <a:buNone/>
                      </a:pPr>
                      <a:r>
                        <a:rPr lang="en-US" sz="1100" u="none" strike="noStrike">
                          <a:solidFill>
                            <a:schemeClr val="tx1"/>
                          </a:solidFill>
                          <a:effectLst/>
                        </a:rPr>
                        <a:t>Description</a:t>
                      </a:r>
                      <a:endParaRPr lang="en-US" sz="1100" b="1" i="0" u="none" strike="noStrike">
                        <a:solidFill>
                          <a:schemeClr val="tx1"/>
                        </a:solidFill>
                        <a:effectLst/>
                        <a:latin typeface="Aptos Narrow" panose="020B0004020202020204" pitchFamily="34" charset="0"/>
                      </a:endParaRPr>
                    </a:p>
                  </a:txBody>
                  <a:tcPr marL="0" marR="0" marT="0" marB="0" anchor="b">
                    <a:lnB w="12700" cap="flat" cmpd="sng" algn="ctr">
                      <a:solidFill>
                        <a:srgbClr val="72B0BD"/>
                      </a:solidFill>
                      <a:prstDash val="solid"/>
                      <a:round/>
                      <a:headEnd type="none" w="med" len="med"/>
                      <a:tailEnd type="none" w="med" len="med"/>
                    </a:lnB>
                    <a:solidFill>
                      <a:schemeClr val="accent6">
                        <a:lumMod val="60000"/>
                        <a:lumOff val="40000"/>
                      </a:schemeClr>
                    </a:solidFill>
                  </a:tcPr>
                </a:tc>
                <a:tc>
                  <a:txBody>
                    <a:bodyPr/>
                    <a:lstStyle/>
                    <a:p>
                      <a:pPr algn="ctr" fontAlgn="b">
                        <a:buNone/>
                      </a:pPr>
                      <a:r>
                        <a:rPr lang="en-US" sz="1100" u="none" strike="noStrike" err="1">
                          <a:solidFill>
                            <a:schemeClr val="tx1"/>
                          </a:solidFill>
                          <a:effectLst/>
                        </a:rPr>
                        <a:t>OpEX</a:t>
                      </a:r>
                      <a:r>
                        <a:rPr lang="en-US" sz="1100" u="none" strike="noStrike">
                          <a:solidFill>
                            <a:schemeClr val="tx1"/>
                          </a:solidFill>
                          <a:effectLst/>
                        </a:rPr>
                        <a:t> Priority</a:t>
                      </a:r>
                      <a:endParaRPr lang="en-US" sz="1100" b="1" i="0" u="none" strike="noStrike">
                        <a:solidFill>
                          <a:schemeClr val="tx1"/>
                        </a:solidFill>
                        <a:effectLst/>
                        <a:latin typeface="Aptos Narrow" panose="020B0004020202020204" pitchFamily="34" charset="0"/>
                      </a:endParaRPr>
                    </a:p>
                  </a:txBody>
                  <a:tcPr marL="0" marR="0" marT="0" marB="0" anchor="b">
                    <a:lnB w="12700" cap="flat" cmpd="sng" algn="ctr">
                      <a:solidFill>
                        <a:srgbClr val="72B0BD"/>
                      </a:solidFill>
                      <a:prstDash val="solid"/>
                      <a:round/>
                      <a:headEnd type="none" w="med" len="med"/>
                      <a:tailEnd type="none" w="med" len="med"/>
                    </a:lnB>
                    <a:solidFill>
                      <a:schemeClr val="accent6">
                        <a:lumMod val="60000"/>
                        <a:lumOff val="40000"/>
                      </a:schemeClr>
                    </a:solidFill>
                  </a:tcPr>
                </a:tc>
                <a:tc>
                  <a:txBody>
                    <a:bodyPr/>
                    <a:lstStyle/>
                    <a:p>
                      <a:pPr algn="ctr" fontAlgn="b">
                        <a:buNone/>
                      </a:pPr>
                      <a:r>
                        <a:rPr lang="en-US" sz="1100" u="none" strike="noStrike">
                          <a:solidFill>
                            <a:schemeClr val="tx1"/>
                          </a:solidFill>
                          <a:effectLst/>
                        </a:rPr>
                        <a:t>Budgetary Estimate (Hours) </a:t>
                      </a:r>
                      <a:endParaRPr lang="en-US" sz="1100" b="1" i="0" u="none" strike="noStrike">
                        <a:solidFill>
                          <a:schemeClr val="tx1"/>
                        </a:solidFill>
                        <a:effectLst/>
                        <a:latin typeface="Aptos Narrow" panose="020B0004020202020204" pitchFamily="34" charset="0"/>
                      </a:endParaRPr>
                    </a:p>
                  </a:txBody>
                  <a:tcPr marL="0" marR="0" marT="0" marB="0" anchor="b">
                    <a:lnB w="12700" cap="flat" cmpd="sng" algn="ctr">
                      <a:solidFill>
                        <a:srgbClr val="72B0BD"/>
                      </a:solidFill>
                      <a:prstDash val="solid"/>
                      <a:round/>
                      <a:headEnd type="none" w="med" len="med"/>
                      <a:tailEnd type="none" w="med" len="med"/>
                    </a:lnB>
                    <a:solidFill>
                      <a:schemeClr val="accent6">
                        <a:lumMod val="60000"/>
                        <a:lumOff val="40000"/>
                      </a:schemeClr>
                    </a:solidFill>
                  </a:tcPr>
                </a:tc>
                <a:tc>
                  <a:txBody>
                    <a:bodyPr/>
                    <a:lstStyle/>
                    <a:p>
                      <a:pPr algn="ctr" fontAlgn="b">
                        <a:buNone/>
                      </a:pPr>
                      <a:r>
                        <a:rPr lang="en-US" sz="1100" u="none" strike="noStrike">
                          <a:solidFill>
                            <a:schemeClr val="tx1"/>
                          </a:solidFill>
                          <a:effectLst/>
                        </a:rPr>
                        <a:t>IT Rec'd</a:t>
                      </a:r>
                      <a:endParaRPr lang="en-US" sz="1100" b="1" i="0" u="none" strike="noStrike">
                        <a:solidFill>
                          <a:schemeClr val="tx1"/>
                        </a:solidFill>
                        <a:effectLst/>
                        <a:latin typeface="Aptos Narrow" panose="020B0004020202020204" pitchFamily="34" charset="0"/>
                      </a:endParaRPr>
                    </a:p>
                  </a:txBody>
                  <a:tcPr marL="0" marR="0" marT="0" marB="0" anchor="b">
                    <a:lnB w="12700" cap="flat" cmpd="sng" algn="ctr">
                      <a:solidFill>
                        <a:srgbClr val="72B0BD"/>
                      </a:solidFill>
                      <a:prstDash val="solid"/>
                      <a:round/>
                      <a:headEnd type="none" w="med" len="med"/>
                      <a:tailEnd type="none" w="med" len="med"/>
                    </a:lnB>
                    <a:solidFill>
                      <a:schemeClr val="accent6">
                        <a:lumMod val="60000"/>
                        <a:lumOff val="40000"/>
                      </a:schemeClr>
                    </a:solidFill>
                  </a:tcPr>
                </a:tc>
                <a:tc>
                  <a:txBody>
                    <a:bodyPr/>
                    <a:lstStyle/>
                    <a:p>
                      <a:pPr algn="ctr" fontAlgn="b">
                        <a:buNone/>
                      </a:pPr>
                      <a:r>
                        <a:rPr lang="en-US" sz="1100" u="none" strike="noStrike">
                          <a:solidFill>
                            <a:schemeClr val="tx1"/>
                          </a:solidFill>
                          <a:effectLst/>
                        </a:rPr>
                        <a:t>Estimate complete Date</a:t>
                      </a:r>
                      <a:endParaRPr lang="en-US" sz="1100" b="1" i="0" u="none" strike="noStrike">
                        <a:solidFill>
                          <a:schemeClr val="tx1"/>
                        </a:solidFill>
                        <a:effectLst/>
                        <a:latin typeface="Aptos Narrow" panose="020B0004020202020204" pitchFamily="34" charset="0"/>
                      </a:endParaRPr>
                    </a:p>
                  </a:txBody>
                  <a:tcPr marL="0" marR="0" marT="0" marB="0" anchor="b">
                    <a:lnB w="12700" cap="flat" cmpd="sng" algn="ctr">
                      <a:solidFill>
                        <a:srgbClr val="72B0BD"/>
                      </a:solidFill>
                      <a:prstDash val="solid"/>
                      <a:round/>
                      <a:headEnd type="none" w="med" len="med"/>
                      <a:tailEnd type="none" w="med" len="med"/>
                    </a:lnB>
                    <a:solidFill>
                      <a:schemeClr val="accent6">
                        <a:lumMod val="60000"/>
                        <a:lumOff val="40000"/>
                      </a:schemeClr>
                    </a:solidFill>
                  </a:tcPr>
                </a:tc>
                <a:tc>
                  <a:txBody>
                    <a:bodyPr/>
                    <a:lstStyle/>
                    <a:p>
                      <a:pPr algn="ctr" fontAlgn="b">
                        <a:buNone/>
                      </a:pPr>
                      <a:r>
                        <a:rPr lang="en-US" sz="1100" u="none" strike="noStrike">
                          <a:solidFill>
                            <a:schemeClr val="tx1"/>
                          </a:solidFill>
                          <a:effectLst/>
                        </a:rPr>
                        <a:t>Funding Approved Date</a:t>
                      </a:r>
                      <a:endParaRPr lang="en-US" sz="1100" b="1" i="0" u="none" strike="noStrike">
                        <a:solidFill>
                          <a:schemeClr val="tx1"/>
                        </a:solidFill>
                        <a:effectLst/>
                        <a:latin typeface="Aptos Narrow" panose="020B0004020202020204" pitchFamily="34" charset="0"/>
                      </a:endParaRPr>
                    </a:p>
                  </a:txBody>
                  <a:tcPr marL="0" marR="0" marT="0" marB="0" anchor="b">
                    <a:lnB w="12700" cap="flat" cmpd="sng" algn="ctr">
                      <a:solidFill>
                        <a:srgbClr val="72B0BD"/>
                      </a:solidFill>
                      <a:prstDash val="solid"/>
                      <a:round/>
                      <a:headEnd type="none" w="med" len="med"/>
                      <a:tailEnd type="none" w="med" len="med"/>
                    </a:lnB>
                    <a:solidFill>
                      <a:schemeClr val="accent6">
                        <a:lumMod val="60000"/>
                        <a:lumOff val="40000"/>
                      </a:schemeClr>
                    </a:solidFill>
                  </a:tcPr>
                </a:tc>
                <a:tc>
                  <a:txBody>
                    <a:bodyPr/>
                    <a:lstStyle/>
                    <a:p>
                      <a:pPr algn="ctr" fontAlgn="b">
                        <a:buNone/>
                      </a:pPr>
                      <a:r>
                        <a:rPr lang="en-US" sz="1100" b="1" i="0" u="none" strike="noStrike">
                          <a:solidFill>
                            <a:schemeClr val="tx1"/>
                          </a:solidFill>
                          <a:effectLst/>
                          <a:latin typeface="Aptos Narrow" panose="020B0004020202020204" pitchFamily="34" charset="0"/>
                        </a:rPr>
                        <a:t>Target Handoff</a:t>
                      </a:r>
                    </a:p>
                  </a:txBody>
                  <a:tcPr marL="0" marR="0" marT="0" marB="0" anchor="b">
                    <a:lnB w="12700" cap="flat" cmpd="sng" algn="ctr">
                      <a:solidFill>
                        <a:srgbClr val="72B0BD"/>
                      </a:solidFill>
                      <a:prstDash val="solid"/>
                      <a:round/>
                      <a:headEnd type="none" w="med" len="med"/>
                      <a:tailEnd type="none" w="med" len="med"/>
                    </a:lnB>
                    <a:solidFill>
                      <a:schemeClr val="accent6">
                        <a:lumMod val="60000"/>
                        <a:lumOff val="40000"/>
                      </a:schemeClr>
                    </a:solidFill>
                  </a:tcPr>
                </a:tc>
                <a:tc>
                  <a:txBody>
                    <a:bodyPr/>
                    <a:lstStyle/>
                    <a:p>
                      <a:pPr algn="ctr" fontAlgn="b">
                        <a:buNone/>
                      </a:pPr>
                      <a:r>
                        <a:rPr lang="en-US" sz="1100" b="1" i="0" u="none" strike="noStrike">
                          <a:solidFill>
                            <a:schemeClr val="tx1"/>
                          </a:solidFill>
                          <a:effectLst/>
                          <a:latin typeface="Aptos Narrow" panose="020B0004020202020204" pitchFamily="34" charset="0"/>
                        </a:rPr>
                        <a:t>Handoff Type</a:t>
                      </a:r>
                    </a:p>
                  </a:txBody>
                  <a:tcPr marL="0" marR="0" marT="0" marB="0" anchor="b">
                    <a:lnB w="12700" cap="flat" cmpd="sng" algn="ctr">
                      <a:solidFill>
                        <a:srgbClr val="72B0BD"/>
                      </a:solidFill>
                      <a:prstDash val="solid"/>
                      <a:round/>
                      <a:headEnd type="none" w="med" len="med"/>
                      <a:tailEnd type="none" w="med" len="med"/>
                    </a:lnB>
                    <a:solidFill>
                      <a:schemeClr val="accent6">
                        <a:lumMod val="60000"/>
                        <a:lumOff val="40000"/>
                      </a:schemeClr>
                    </a:solidFill>
                  </a:tcPr>
                </a:tc>
                <a:tc>
                  <a:txBody>
                    <a:bodyPr/>
                    <a:lstStyle/>
                    <a:p>
                      <a:pPr algn="ctr" fontAlgn="b">
                        <a:buNone/>
                      </a:pPr>
                      <a:r>
                        <a:rPr lang="en-US" sz="1100" b="1" i="0" u="none" strike="noStrike">
                          <a:solidFill>
                            <a:schemeClr val="tx1"/>
                          </a:solidFill>
                          <a:effectLst/>
                          <a:latin typeface="Aptos Narrow" panose="020B0004020202020204" pitchFamily="34" charset="0"/>
                        </a:rPr>
                        <a:t>Target Delivery </a:t>
                      </a:r>
                      <a:r>
                        <a:rPr lang="en-US" sz="1100" b="1" i="0" u="none" strike="noStrike" err="1">
                          <a:solidFill>
                            <a:schemeClr val="tx1"/>
                          </a:solidFill>
                          <a:effectLst/>
                          <a:latin typeface="Aptos Narrow" panose="020B0004020202020204" pitchFamily="34" charset="0"/>
                        </a:rPr>
                        <a:t>Qtr</a:t>
                      </a:r>
                      <a:endParaRPr lang="en-US" sz="1100" b="1" i="0" u="none" strike="noStrike">
                        <a:solidFill>
                          <a:schemeClr val="tx1"/>
                        </a:solidFill>
                        <a:effectLst/>
                        <a:latin typeface="Aptos Narrow" panose="020B0004020202020204" pitchFamily="34" charset="0"/>
                      </a:endParaRPr>
                    </a:p>
                  </a:txBody>
                  <a:tcPr marL="0" marR="0" marT="0" marB="0" anchor="b">
                    <a:lnB w="12700" cap="flat" cmpd="sng" algn="ctr">
                      <a:solidFill>
                        <a:srgbClr val="72B0BD"/>
                      </a:solidFill>
                      <a:prstDash val="solid"/>
                      <a:round/>
                      <a:headEnd type="none" w="med" len="med"/>
                      <a:tailEnd type="none" w="med" len="med"/>
                    </a:lnB>
                    <a:solidFill>
                      <a:schemeClr val="accent6">
                        <a:lumMod val="60000"/>
                        <a:lumOff val="40000"/>
                      </a:schemeClr>
                    </a:solidFill>
                  </a:tcPr>
                </a:tc>
                <a:tc>
                  <a:txBody>
                    <a:bodyPr/>
                    <a:lstStyle/>
                    <a:p>
                      <a:pPr algn="ctr" fontAlgn="b">
                        <a:buNone/>
                      </a:pPr>
                      <a:r>
                        <a:rPr lang="en-US" sz="1100" u="none" strike="noStrike">
                          <a:solidFill>
                            <a:schemeClr val="tx1"/>
                          </a:solidFill>
                          <a:effectLst/>
                        </a:rPr>
                        <a:t>Comment</a:t>
                      </a:r>
                      <a:endParaRPr lang="en-US" sz="1100" b="1" i="0" u="none" strike="noStrike">
                        <a:solidFill>
                          <a:schemeClr val="tx1"/>
                        </a:solidFill>
                        <a:effectLst/>
                        <a:latin typeface="Aptos Narrow" panose="020B0004020202020204" pitchFamily="34" charset="0"/>
                      </a:endParaRPr>
                    </a:p>
                  </a:txBody>
                  <a:tcPr marL="0" marR="0" marT="0" marB="0" anchor="b">
                    <a:lnB w="12700" cap="flat" cmpd="sng" algn="ctr">
                      <a:solidFill>
                        <a:srgbClr val="72B0BD"/>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2993874157"/>
                  </a:ext>
                </a:extLst>
              </a:tr>
              <a:tr h="511795">
                <a:tc>
                  <a:txBody>
                    <a:bodyPr/>
                    <a:lstStyle/>
                    <a:p>
                      <a:pPr algn="l" fontAlgn="ctr">
                        <a:buNone/>
                      </a:pPr>
                      <a:r>
                        <a:rPr lang="en-US" sz="1100" b="1" i="0" u="none" strike="noStrike">
                          <a:solidFill>
                            <a:srgbClr val="000000"/>
                          </a:solidFill>
                          <a:effectLst/>
                          <a:latin typeface="Aptos Narrow" panose="020B0004020202020204" pitchFamily="34" charset="0"/>
                        </a:rPr>
                        <a:t>AWS KMS to CMK Migration</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algn="l" fontAlgn="b">
                        <a:buNone/>
                      </a:pPr>
                      <a:r>
                        <a:rPr lang="en-US" sz="1100" b="1" i="0" u="none" strike="noStrike">
                          <a:solidFill>
                            <a:srgbClr val="000000"/>
                          </a:solidFill>
                          <a:effectLst/>
                          <a:latin typeface="Aptos Narrow" panose="020B0004020202020204" pitchFamily="34" charset="0"/>
                        </a:rPr>
                        <a:t>NA</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algn="l" fontAlgn="b">
                        <a:buNone/>
                      </a:pPr>
                      <a:r>
                        <a:rPr lang="en-US" sz="1100" b="0" i="0" u="none" strike="noStrike">
                          <a:solidFill>
                            <a:srgbClr val="000000"/>
                          </a:solidFill>
                          <a:effectLst/>
                          <a:latin typeface="Aptos Narrow" panose="020B0004020202020204" pitchFamily="34" charset="0"/>
                        </a:rPr>
                        <a:t>NA</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algn="l" fontAlgn="ctr">
                        <a:buNone/>
                      </a:pPr>
                      <a:r>
                        <a:rPr lang="en-US" sz="1100" b="1" i="0" u="none" strike="noStrike">
                          <a:solidFill>
                            <a:srgbClr val="000000"/>
                          </a:solidFill>
                          <a:effectLst/>
                          <a:latin typeface="Aptos Narrow" panose="020B0004020202020204" pitchFamily="34" charset="0"/>
                        </a:rPr>
                        <a:t>6/1/26</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algn="l" fontAlgn="b">
                        <a:buNone/>
                      </a:pPr>
                      <a:r>
                        <a:rPr lang="en-US" sz="1100" b="0" i="0" u="none" strike="noStrike">
                          <a:solidFill>
                            <a:srgbClr val="000000"/>
                          </a:solidFill>
                          <a:effectLst/>
                          <a:latin typeface="Aptos Narrow" panose="020B0004020202020204" pitchFamily="34" charset="0"/>
                        </a:rPr>
                        <a:t>NA</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algn="l" fontAlgn="b">
                        <a:buNone/>
                      </a:pPr>
                      <a:r>
                        <a:rPr lang="en-US" sz="1100" b="1" i="0" u="none" strike="noStrike">
                          <a:solidFill>
                            <a:srgbClr val="000000"/>
                          </a:solidFill>
                          <a:effectLst/>
                          <a:latin typeface="Aptos Narrow" panose="020B0004020202020204" pitchFamily="34" charset="0"/>
                        </a:rPr>
                        <a:t>NA</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algn="l" fontAlgn="ctr">
                        <a:buNone/>
                      </a:pPr>
                      <a:r>
                        <a:rPr lang="en-US" sz="1100" b="0" i="0" u="none" strike="noStrike">
                          <a:solidFill>
                            <a:srgbClr val="000000"/>
                          </a:solidFill>
                          <a:effectLst/>
                          <a:latin typeface="Aptos Narrow" panose="020B0004020202020204" pitchFamily="34" charset="0"/>
                        </a:rPr>
                        <a:t>6/8/26</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algn="l" fontAlgn="b">
                        <a:buNone/>
                      </a:pPr>
                      <a:r>
                        <a:rPr lang="en-US" sz="1100" b="0" i="0" u="none" strike="noStrike">
                          <a:solidFill>
                            <a:srgbClr val="000000"/>
                          </a:solidFill>
                          <a:effectLst/>
                          <a:latin typeface="Aptos Narrow" panose="020B0004020202020204" pitchFamily="34" charset="0"/>
                        </a:rPr>
                        <a:t>Moved to Run</a:t>
                      </a: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100" b="0" i="0" u="none" strike="noStrike">
                          <a:solidFill>
                            <a:srgbClr val="000000"/>
                          </a:solidFill>
                          <a:effectLst/>
                          <a:latin typeface="Aptos Narrow" panose="020B0004020202020204" pitchFamily="34" charset="0"/>
                        </a:rPr>
                        <a:t>Completed Triage – SEPMs understood assignment and will ensure cards built for impacted groups., IT request moved to run and closed.</a:t>
                      </a:r>
                    </a:p>
                    <a:p>
                      <a:pPr algn="l" fontAlgn="b">
                        <a:buNone/>
                      </a:pPr>
                      <a:endParaRPr lang="en-US" sz="1100" b="0" i="0" u="none" strike="noStrike">
                        <a:solidFill>
                          <a:srgbClr val="000000"/>
                        </a:solidFill>
                        <a:effectLst/>
                        <a:latin typeface="Aptos Narrow" panose="020B0004020202020204" pitchFamily="34" charset="0"/>
                      </a:endParaRPr>
                    </a:p>
                  </a:txBody>
                  <a:tcPr marL="45720" marR="45720">
                    <a:lnL w="12700" cap="flat" cmpd="sng" algn="ctr">
                      <a:solidFill>
                        <a:srgbClr val="72B0BD"/>
                      </a:solidFill>
                      <a:prstDash val="solid"/>
                      <a:round/>
                      <a:headEnd type="none" w="med" len="med"/>
                      <a:tailEnd type="none" w="med" len="med"/>
                    </a:lnL>
                    <a:lnR w="12700" cap="flat" cmpd="sng" algn="ctr">
                      <a:solidFill>
                        <a:srgbClr val="72B0BD"/>
                      </a:solidFill>
                      <a:prstDash val="solid"/>
                      <a:round/>
                      <a:headEnd type="none" w="med" len="med"/>
                      <a:tailEnd type="none" w="med" len="med"/>
                    </a:lnR>
                    <a:lnT w="12700" cap="flat" cmpd="sng" algn="ctr">
                      <a:solidFill>
                        <a:srgbClr val="72B0BD"/>
                      </a:solidFill>
                      <a:prstDash val="solid"/>
                      <a:round/>
                      <a:headEnd type="none" w="med" len="med"/>
                      <a:tailEnd type="none" w="med" len="med"/>
                    </a:lnT>
                    <a:lnB w="12700" cap="flat" cmpd="sng" algn="ctr">
                      <a:solidFill>
                        <a:srgbClr val="72B0BD"/>
                      </a:solidFill>
                      <a:prstDash val="solid"/>
                      <a:round/>
                      <a:headEnd type="none" w="med" len="med"/>
                      <a:tailEnd type="none" w="med" len="med"/>
                    </a:lnB>
                    <a:solidFill>
                      <a:schemeClr val="bg1"/>
                    </a:solidFill>
                  </a:tcPr>
                </a:tc>
                <a:extLst>
                  <a:ext uri="{0D108BD9-81ED-4DB2-BD59-A6C34878D82A}">
                    <a16:rowId xmlns:a16="http://schemas.microsoft.com/office/drawing/2014/main" val="217929367"/>
                  </a:ext>
                </a:extLst>
              </a:tr>
            </a:tbl>
          </a:graphicData>
        </a:graphic>
      </p:graphicFrame>
      <p:sp>
        <p:nvSpPr>
          <p:cNvPr id="5" name="TextBox 4">
            <a:extLst>
              <a:ext uri="{FF2B5EF4-FFF2-40B4-BE49-F238E27FC236}">
                <a16:creationId xmlns:a16="http://schemas.microsoft.com/office/drawing/2014/main" id="{047F7690-2801-1DE1-1445-80CC8E514ABC}"/>
              </a:ext>
            </a:extLst>
          </p:cNvPr>
          <p:cNvSpPr txBox="1"/>
          <p:nvPr/>
        </p:nvSpPr>
        <p:spPr>
          <a:xfrm>
            <a:off x="263642" y="445401"/>
            <a:ext cx="9365112" cy="338554"/>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a:solidFill>
                  <a:prstClr val="black"/>
                </a:solidFill>
                <a:latin typeface="Aptos" panose="02110004020202020204"/>
              </a:rPr>
              <a:t>One</a:t>
            </a:r>
            <a:r>
              <a:rPr kumimoji="0" lang="en-US" sz="1600" b="0" i="0" u="none" strike="noStrike" kern="1200" cap="none" spc="0" normalizeH="0" baseline="0" noProof="0">
                <a:ln>
                  <a:noFill/>
                </a:ln>
                <a:solidFill>
                  <a:prstClr val="black"/>
                </a:solidFill>
                <a:effectLst/>
                <a:uLnTx/>
                <a:uFillTx/>
                <a:latin typeface="Aptos" panose="02110004020202020204"/>
                <a:ea typeface="+mn-ea"/>
                <a:cs typeface="+mn-cs"/>
              </a:rPr>
              <a:t> item discussed and turned over to SEPMs for Run </a:t>
            </a:r>
            <a:r>
              <a:rPr kumimoji="0" lang="en-US" sz="1600" b="0" i="0" u="none" strike="noStrike" kern="1200" cap="none" spc="0" normalizeH="0" baseline="0" noProof="0" err="1">
                <a:ln>
                  <a:noFill/>
                </a:ln>
                <a:solidFill>
                  <a:prstClr val="black"/>
                </a:solidFill>
                <a:effectLst/>
                <a:uLnTx/>
                <a:uFillTx/>
                <a:latin typeface="Aptos" panose="02110004020202020204"/>
                <a:ea typeface="+mn-ea"/>
                <a:cs typeface="+mn-cs"/>
              </a:rPr>
              <a:t>Mgmt</a:t>
            </a:r>
            <a:endParaRPr kumimoji="0" lang="en-US" sz="1600"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nvGrpSpPr>
          <p:cNvPr id="3" name="Group 2">
            <a:extLst>
              <a:ext uri="{FF2B5EF4-FFF2-40B4-BE49-F238E27FC236}">
                <a16:creationId xmlns:a16="http://schemas.microsoft.com/office/drawing/2014/main" id="{441C6192-69C8-AFAE-5181-12343EE7FE55}"/>
              </a:ext>
            </a:extLst>
          </p:cNvPr>
          <p:cNvGrpSpPr/>
          <p:nvPr/>
        </p:nvGrpSpPr>
        <p:grpSpPr>
          <a:xfrm>
            <a:off x="9629191" y="73824"/>
            <a:ext cx="2435155" cy="911208"/>
            <a:chOff x="7996335" y="4089215"/>
            <a:chExt cx="3004322" cy="1323375"/>
          </a:xfrm>
        </p:grpSpPr>
        <p:pic>
          <p:nvPicPr>
            <p:cNvPr id="6" name="Picture 5">
              <a:extLst>
                <a:ext uri="{FF2B5EF4-FFF2-40B4-BE49-F238E27FC236}">
                  <a16:creationId xmlns:a16="http://schemas.microsoft.com/office/drawing/2014/main" id="{7BCB585C-1B02-BDC3-3971-4226FE290511}"/>
                </a:ext>
              </a:extLst>
            </p:cNvPr>
            <p:cNvPicPr>
              <a:picLocks noChangeAspect="1"/>
            </p:cNvPicPr>
            <p:nvPr/>
          </p:nvPicPr>
          <p:blipFill>
            <a:blip r:embed="rId2"/>
            <a:stretch>
              <a:fillRect/>
            </a:stretch>
          </p:blipFill>
          <p:spPr>
            <a:xfrm>
              <a:off x="9671548" y="4926763"/>
              <a:ext cx="816808" cy="485827"/>
            </a:xfrm>
            <a:prstGeom prst="rect">
              <a:avLst/>
            </a:prstGeom>
          </p:spPr>
        </p:pic>
        <p:pic>
          <p:nvPicPr>
            <p:cNvPr id="7" name="Picture 6">
              <a:extLst>
                <a:ext uri="{FF2B5EF4-FFF2-40B4-BE49-F238E27FC236}">
                  <a16:creationId xmlns:a16="http://schemas.microsoft.com/office/drawing/2014/main" id="{66F83D48-B7F2-1939-5DC3-F710D92BA73D}"/>
                </a:ext>
              </a:extLst>
            </p:cNvPr>
            <p:cNvPicPr>
              <a:picLocks noChangeAspect="1"/>
            </p:cNvPicPr>
            <p:nvPr/>
          </p:nvPicPr>
          <p:blipFill>
            <a:blip r:embed="rId3"/>
            <a:stretch>
              <a:fillRect/>
            </a:stretch>
          </p:blipFill>
          <p:spPr>
            <a:xfrm>
              <a:off x="7996335" y="4089215"/>
              <a:ext cx="3004322" cy="1043764"/>
            </a:xfrm>
            <a:prstGeom prst="rect">
              <a:avLst/>
            </a:prstGeom>
          </p:spPr>
        </p:pic>
      </p:grpSp>
    </p:spTree>
    <p:extLst>
      <p:ext uri="{BB962C8B-B14F-4D97-AF65-F5344CB8AC3E}">
        <p14:creationId xmlns:p14="http://schemas.microsoft.com/office/powerpoint/2010/main" val="20924382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672316-16F4-10A0-4BB0-DE99DBFB6735}"/>
              </a:ext>
            </a:extLst>
          </p:cNvPr>
          <p:cNvSpPr>
            <a:spLocks noGrp="1"/>
          </p:cNvSpPr>
          <p:nvPr>
            <p:ph type="title"/>
          </p:nvPr>
        </p:nvSpPr>
        <p:spPr/>
        <p:txBody>
          <a:bodyPr/>
          <a:lstStyle/>
          <a:p>
            <a:r>
              <a:rPr lang="en-US"/>
              <a:t>Appendix</a:t>
            </a:r>
          </a:p>
        </p:txBody>
      </p:sp>
    </p:spTree>
    <p:extLst>
      <p:ext uri="{BB962C8B-B14F-4D97-AF65-F5344CB8AC3E}">
        <p14:creationId xmlns:p14="http://schemas.microsoft.com/office/powerpoint/2010/main" val="219573812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D333C3-68E3-AC04-B550-73AC11694101}"/>
              </a:ext>
            </a:extLst>
          </p:cNvPr>
          <p:cNvSpPr>
            <a:spLocks noGrp="1"/>
          </p:cNvSpPr>
          <p:nvPr>
            <p:ph type="title"/>
          </p:nvPr>
        </p:nvSpPr>
        <p:spPr/>
        <p:txBody>
          <a:bodyPr/>
          <a:lstStyle/>
          <a:p>
            <a:r>
              <a:rPr lang="en-US"/>
              <a:t>2026 Release Status – Work in Process</a:t>
            </a:r>
          </a:p>
        </p:txBody>
      </p:sp>
    </p:spTree>
    <p:extLst>
      <p:ext uri="{BB962C8B-B14F-4D97-AF65-F5344CB8AC3E}">
        <p14:creationId xmlns:p14="http://schemas.microsoft.com/office/powerpoint/2010/main" val="227463114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4567A24-F1E3-5E28-CBAC-D37D1AB5331B}"/>
              </a:ext>
            </a:extLst>
          </p:cNvPr>
          <p:cNvSpPr>
            <a:spLocks noGrp="1"/>
          </p:cNvSpPr>
          <p:nvPr>
            <p:ph type="sldNum" sz="quarter" idx="4294967295"/>
          </p:nvPr>
        </p:nvSpPr>
        <p:spPr>
          <a:xfrm>
            <a:off x="11379200" y="6599238"/>
            <a:ext cx="812800" cy="182562"/>
          </a:xfrm>
        </p:spPr>
        <p:txBody>
          <a:bodyPr/>
          <a:lstStyle/>
          <a:p>
            <a:r>
              <a:rPr lang="en-US"/>
              <a:t>1</a:t>
            </a:r>
          </a:p>
        </p:txBody>
      </p:sp>
      <p:sp>
        <p:nvSpPr>
          <p:cNvPr id="7" name="Title 1">
            <a:extLst>
              <a:ext uri="{FF2B5EF4-FFF2-40B4-BE49-F238E27FC236}">
                <a16:creationId xmlns:a16="http://schemas.microsoft.com/office/drawing/2014/main" id="{2277CE1F-D6C8-A8D9-BC26-30AF36EB7839}"/>
              </a:ext>
            </a:extLst>
          </p:cNvPr>
          <p:cNvSpPr txBox="1">
            <a:spLocks/>
          </p:cNvSpPr>
          <p:nvPr/>
        </p:nvSpPr>
        <p:spPr>
          <a:xfrm>
            <a:off x="1707908" y="675405"/>
            <a:ext cx="9071200" cy="877729"/>
          </a:xfrm>
          <a:prstGeom prst="rect">
            <a:avLst/>
          </a:prstGeom>
          <a:solidFill>
            <a:srgbClr val="002060"/>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400" b="1">
                <a:solidFill>
                  <a:srgbClr val="FFFFFF"/>
                </a:solidFill>
                <a:latin typeface="Arial" panose="020B0604020202020204" pitchFamily="34" charset="0"/>
                <a:cs typeface="Arial" panose="020B0604020202020204" pitchFamily="34" charset="0"/>
              </a:rPr>
              <a:t>2026 Release Calendar Status</a:t>
            </a:r>
          </a:p>
        </p:txBody>
      </p:sp>
      <p:graphicFrame>
        <p:nvGraphicFramePr>
          <p:cNvPr id="9" name="Content Placeholder 6">
            <a:extLst>
              <a:ext uri="{FF2B5EF4-FFF2-40B4-BE49-F238E27FC236}">
                <a16:creationId xmlns:a16="http://schemas.microsoft.com/office/drawing/2014/main" id="{EC50AD88-6F19-7265-0D1B-8D6071F71A6A}"/>
              </a:ext>
            </a:extLst>
          </p:cNvPr>
          <p:cNvGraphicFramePr>
            <a:graphicFrameLocks/>
          </p:cNvGraphicFramePr>
          <p:nvPr/>
        </p:nvGraphicFramePr>
        <p:xfrm>
          <a:off x="1707908" y="1677015"/>
          <a:ext cx="9071200" cy="4386012"/>
        </p:xfrm>
        <a:graphic>
          <a:graphicData uri="http://schemas.openxmlformats.org/drawingml/2006/table">
            <a:tbl>
              <a:tblPr firstRow="1" bandRow="1">
                <a:tableStyleId>{5C22544A-7EE6-4342-B048-85BDC9FD1C3A}</a:tableStyleId>
              </a:tblPr>
              <a:tblGrid>
                <a:gridCol w="956788">
                  <a:extLst>
                    <a:ext uri="{9D8B030D-6E8A-4147-A177-3AD203B41FA5}">
                      <a16:colId xmlns:a16="http://schemas.microsoft.com/office/drawing/2014/main" val="4167442545"/>
                    </a:ext>
                  </a:extLst>
                </a:gridCol>
                <a:gridCol w="1773936">
                  <a:extLst>
                    <a:ext uri="{9D8B030D-6E8A-4147-A177-3AD203B41FA5}">
                      <a16:colId xmlns:a16="http://schemas.microsoft.com/office/drawing/2014/main" val="258443298"/>
                    </a:ext>
                  </a:extLst>
                </a:gridCol>
                <a:gridCol w="932688">
                  <a:extLst>
                    <a:ext uri="{9D8B030D-6E8A-4147-A177-3AD203B41FA5}">
                      <a16:colId xmlns:a16="http://schemas.microsoft.com/office/drawing/2014/main" val="633811816"/>
                    </a:ext>
                  </a:extLst>
                </a:gridCol>
                <a:gridCol w="1060704">
                  <a:extLst>
                    <a:ext uri="{9D8B030D-6E8A-4147-A177-3AD203B41FA5}">
                      <a16:colId xmlns:a16="http://schemas.microsoft.com/office/drawing/2014/main" val="1124280525"/>
                    </a:ext>
                  </a:extLst>
                </a:gridCol>
                <a:gridCol w="833232">
                  <a:extLst>
                    <a:ext uri="{9D8B030D-6E8A-4147-A177-3AD203B41FA5}">
                      <a16:colId xmlns:a16="http://schemas.microsoft.com/office/drawing/2014/main" val="420331214"/>
                    </a:ext>
                  </a:extLst>
                </a:gridCol>
                <a:gridCol w="1233689">
                  <a:extLst>
                    <a:ext uri="{9D8B030D-6E8A-4147-A177-3AD203B41FA5}">
                      <a16:colId xmlns:a16="http://schemas.microsoft.com/office/drawing/2014/main" val="3246760945"/>
                    </a:ext>
                  </a:extLst>
                </a:gridCol>
                <a:gridCol w="2280163">
                  <a:extLst>
                    <a:ext uri="{9D8B030D-6E8A-4147-A177-3AD203B41FA5}">
                      <a16:colId xmlns:a16="http://schemas.microsoft.com/office/drawing/2014/main" val="620455063"/>
                    </a:ext>
                  </a:extLst>
                </a:gridCol>
              </a:tblGrid>
              <a:tr h="326280">
                <a:tc>
                  <a:txBody>
                    <a:bodyPr/>
                    <a:lstStyle/>
                    <a:p>
                      <a:pPr algn="ctr" fontAlgn="b">
                        <a:buNone/>
                      </a:pPr>
                      <a:r>
                        <a:rPr lang="en-US" sz="900" u="none" strike="noStrike">
                          <a:effectLst/>
                        </a:rPr>
                        <a:t>Target Release Date</a:t>
                      </a:r>
                      <a:endParaRPr lang="en-US" sz="900" b="0" i="0" u="none" strike="noStrike">
                        <a:solidFill>
                          <a:srgbClr val="000000"/>
                        </a:solidFill>
                        <a:effectLst/>
                        <a:latin typeface="Arial" panose="020B0604020202020204" pitchFamily="34" charset="0"/>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tc>
                  <a:txBody>
                    <a:bodyPr/>
                    <a:lstStyle/>
                    <a:p>
                      <a:pPr algn="ctr" fontAlgn="b">
                        <a:buNone/>
                      </a:pPr>
                      <a:r>
                        <a:rPr lang="en-US" sz="900" u="none" strike="noStrike">
                          <a:effectLst/>
                        </a:rPr>
                        <a:t>Project Name</a:t>
                      </a:r>
                      <a:endParaRPr lang="en-US" sz="900" b="0" i="0" u="none" strike="noStrike">
                        <a:solidFill>
                          <a:srgbClr val="000000"/>
                        </a:solidFill>
                        <a:effectLst/>
                        <a:latin typeface="Arial" panose="020B0604020202020204" pitchFamily="34" charset="0"/>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tc>
                  <a:txBody>
                    <a:bodyPr/>
                    <a:lstStyle/>
                    <a:p>
                      <a:pPr algn="ctr" fontAlgn="b">
                        <a:buNone/>
                      </a:pPr>
                      <a:r>
                        <a:rPr lang="en-US" sz="900" u="none" strike="noStrike">
                          <a:effectLst/>
                        </a:rPr>
                        <a:t>Delivery Leader</a:t>
                      </a:r>
                      <a:endParaRPr lang="en-US" sz="900" b="0" i="0" u="none" strike="noStrike">
                        <a:solidFill>
                          <a:srgbClr val="000000"/>
                        </a:solidFill>
                        <a:effectLst/>
                        <a:latin typeface="Arial" panose="020B0604020202020204" pitchFamily="34" charset="0"/>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tc>
                  <a:txBody>
                    <a:bodyPr/>
                    <a:lstStyle/>
                    <a:p>
                      <a:pPr algn="ctr" fontAlgn="b">
                        <a:buNone/>
                      </a:pPr>
                      <a:r>
                        <a:rPr lang="en-US" sz="900" u="none" strike="noStrike">
                          <a:effectLst/>
                        </a:rPr>
                        <a:t>Op Ex Business Lead</a:t>
                      </a:r>
                      <a:endParaRPr lang="en-US" sz="900" b="0" i="0" u="none" strike="noStrike">
                        <a:solidFill>
                          <a:srgbClr val="000000"/>
                        </a:solidFill>
                        <a:effectLst/>
                        <a:latin typeface="Arial" panose="020B0604020202020204" pitchFamily="34" charset="0"/>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tc>
                  <a:txBody>
                    <a:bodyPr/>
                    <a:lstStyle/>
                    <a:p>
                      <a:pPr algn="ctr" fontAlgn="b">
                        <a:buNone/>
                      </a:pPr>
                      <a:r>
                        <a:rPr lang="en-US" sz="900" u="none" strike="noStrike">
                          <a:effectLst/>
                        </a:rPr>
                        <a:t>Status</a:t>
                      </a:r>
                      <a:endParaRPr lang="en-US" sz="900" b="0" i="0" u="none" strike="noStrike">
                        <a:solidFill>
                          <a:srgbClr val="000000"/>
                        </a:solidFill>
                        <a:effectLst/>
                        <a:latin typeface="Arial" panose="020B0604020202020204" pitchFamily="34" charset="0"/>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900" u="none" strike="noStrike">
                          <a:effectLst/>
                        </a:rPr>
                        <a:t>Value Add</a:t>
                      </a:r>
                      <a:endParaRPr lang="en-US" sz="900" b="0" i="0" u="none" strike="noStrike">
                        <a:solidFill>
                          <a:srgbClr val="000000"/>
                        </a:solidFill>
                        <a:effectLst/>
                        <a:latin typeface="Arial" panose="020B0604020202020204" pitchFamily="34" charset="0"/>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tc>
                  <a:txBody>
                    <a:bodyPr/>
                    <a:lstStyle/>
                    <a:p>
                      <a:pPr algn="ctr" fontAlgn="b">
                        <a:buNone/>
                      </a:pPr>
                      <a:r>
                        <a:rPr lang="en-US" sz="900" u="none" strike="noStrike">
                          <a:effectLst/>
                        </a:rPr>
                        <a:t>Note (reason for release date push)</a:t>
                      </a:r>
                      <a:endParaRPr lang="en-US" sz="900" b="0" i="0" u="none" strike="noStrike">
                        <a:solidFill>
                          <a:srgbClr val="000000"/>
                        </a:solidFill>
                        <a:effectLst/>
                        <a:latin typeface="Arial" panose="020B0604020202020204" pitchFamily="34" charset="0"/>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extLst>
                  <a:ext uri="{0D108BD9-81ED-4DB2-BD59-A6C34878D82A}">
                    <a16:rowId xmlns:a16="http://schemas.microsoft.com/office/drawing/2014/main" val="606021483"/>
                  </a:ext>
                </a:extLst>
              </a:tr>
              <a:tr h="182958">
                <a:tc>
                  <a:txBody>
                    <a:bodyPr/>
                    <a:lstStyle/>
                    <a:p>
                      <a:pPr algn="l" fontAlgn="b">
                        <a:buNone/>
                      </a:pPr>
                      <a:r>
                        <a:rPr lang="en-US" sz="900" u="none" strike="noStrike">
                          <a:effectLst/>
                        </a:rPr>
                        <a:t>9/9/2026</a:t>
                      </a:r>
                      <a:endParaRPr lang="en-US" sz="900" b="0" i="0" u="none" strike="noStrike">
                        <a:solidFill>
                          <a:srgbClr val="000000"/>
                        </a:solidFill>
                        <a:effectLst/>
                        <a:latin typeface="Aptos Narrow" panose="020B0004020202020204" pitchFamily="34" charset="0"/>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7FC"/>
                    </a:solidFill>
                  </a:tcPr>
                </a:tc>
                <a:tc>
                  <a:txBody>
                    <a:bodyPr/>
                    <a:lstStyle/>
                    <a:p>
                      <a:pPr algn="l" fontAlgn="b">
                        <a:buNone/>
                      </a:pPr>
                      <a:r>
                        <a:rPr lang="en-US" sz="900" u="none" strike="noStrike">
                          <a:effectLst/>
                        </a:rPr>
                        <a:t>Add a Pet</a:t>
                      </a:r>
                      <a:endParaRPr lang="en-US" sz="900" b="0" i="0" u="none" strike="noStrike">
                        <a:solidFill>
                          <a:srgbClr val="000000"/>
                        </a:solidFill>
                        <a:effectLst/>
                        <a:latin typeface="Aptos Narrow" panose="020B0004020202020204" pitchFamily="34" charset="0"/>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7FC"/>
                    </a:solidFill>
                  </a:tcPr>
                </a:tc>
                <a:tc>
                  <a:txBody>
                    <a:bodyPr/>
                    <a:lstStyle/>
                    <a:p>
                      <a:pPr algn="ctr" fontAlgn="b">
                        <a:buNone/>
                      </a:pPr>
                      <a:r>
                        <a:rPr lang="en-US" sz="900" u="none" strike="noStrike">
                          <a:effectLst/>
                        </a:rPr>
                        <a:t>Rekha K</a:t>
                      </a:r>
                      <a:endParaRPr lang="en-US" sz="900" b="0" i="0" u="none" strike="noStrike">
                        <a:solidFill>
                          <a:srgbClr val="000000"/>
                        </a:solidFill>
                        <a:effectLst/>
                        <a:latin typeface="Aptos Narrow" panose="020B0004020202020204" pitchFamily="34" charset="0"/>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7FC"/>
                    </a:solidFill>
                  </a:tcPr>
                </a:tc>
                <a:tc>
                  <a:txBody>
                    <a:bodyPr/>
                    <a:lstStyle/>
                    <a:p>
                      <a:pPr algn="ctr" fontAlgn="b">
                        <a:buNone/>
                      </a:pPr>
                      <a:r>
                        <a:rPr lang="en-US" sz="900" u="none" strike="noStrike">
                          <a:effectLst/>
                        </a:rPr>
                        <a:t>Nidia Gudino</a:t>
                      </a:r>
                      <a:endParaRPr lang="en-US" sz="900" b="0" i="0" u="none" strike="noStrike">
                        <a:solidFill>
                          <a:srgbClr val="000000"/>
                        </a:solidFill>
                        <a:effectLst/>
                        <a:latin typeface="Aptos Narrow" panose="020B0004020202020204" pitchFamily="34" charset="0"/>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7FC"/>
                    </a:solidFill>
                  </a:tcPr>
                </a:tc>
                <a:tc>
                  <a:txBody>
                    <a:bodyPr/>
                    <a:lstStyle/>
                    <a:p>
                      <a:pPr algn="ctr" fontAlgn="b">
                        <a:buNone/>
                      </a:pPr>
                      <a:r>
                        <a:rPr lang="en-US" sz="900" u="none" strike="noStrike">
                          <a:effectLst/>
                        </a:rPr>
                        <a:t>On Schedule</a:t>
                      </a:r>
                      <a:endParaRPr lang="en-US" sz="900" b="0" i="0" u="none" strike="noStrike">
                        <a:solidFill>
                          <a:srgbClr val="000000"/>
                        </a:solidFill>
                        <a:effectLst/>
                        <a:latin typeface="Aptos Narrow" panose="020B0004020202020204" pitchFamily="34" charset="0"/>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7FC"/>
                    </a:solidFill>
                  </a:tcPr>
                </a:tc>
                <a:tc>
                  <a:txBody>
                    <a:bodyPr/>
                    <a:lstStyle/>
                    <a:p>
                      <a:pPr algn="ctr" fontAlgn="b">
                        <a:buNone/>
                      </a:pPr>
                      <a:endParaRPr lang="en-US" sz="900" b="0" i="0" u="none" strike="noStrike">
                        <a:solidFill>
                          <a:srgbClr val="000000"/>
                        </a:solidFill>
                        <a:effectLst/>
                        <a:latin typeface="Aptos Narrow" panose="020B0004020202020204" pitchFamily="34" charset="0"/>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7FC"/>
                    </a:solidFill>
                  </a:tcPr>
                </a:tc>
                <a:tc>
                  <a:txBody>
                    <a:bodyPr/>
                    <a:lstStyle/>
                    <a:p>
                      <a:pPr algn="ctr" fontAlgn="b">
                        <a:buNone/>
                      </a:pPr>
                      <a:endParaRPr lang="en-US" sz="900" b="0" i="0" u="none" strike="noStrike">
                        <a:solidFill>
                          <a:srgbClr val="000000"/>
                        </a:solidFill>
                        <a:effectLst/>
                        <a:latin typeface="Aptos Narrow" panose="020B0004020202020204" pitchFamily="34" charset="0"/>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7FC"/>
                    </a:solidFill>
                  </a:tcPr>
                </a:tc>
                <a:extLst>
                  <a:ext uri="{0D108BD9-81ED-4DB2-BD59-A6C34878D82A}">
                    <a16:rowId xmlns:a16="http://schemas.microsoft.com/office/drawing/2014/main" val="2375810614"/>
                  </a:ext>
                </a:extLst>
              </a:tr>
              <a:tr h="326280">
                <a:tc>
                  <a:txBody>
                    <a:bodyPr/>
                    <a:lstStyle/>
                    <a:p>
                      <a:pPr algn="l" fontAlgn="b">
                        <a:buNone/>
                      </a:pPr>
                      <a:r>
                        <a:rPr lang="en-US" sz="900" u="none" strike="noStrike">
                          <a:effectLst/>
                        </a:rPr>
                        <a:t>9/9/2026</a:t>
                      </a:r>
                      <a:endParaRPr lang="en-US" sz="900" b="0" i="0" u="none" strike="noStrike">
                        <a:solidFill>
                          <a:srgbClr val="000000"/>
                        </a:solidFill>
                        <a:effectLst/>
                        <a:latin typeface="Aptos Narrow" panose="020B0004020202020204" pitchFamily="34" charset="0"/>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7FC"/>
                    </a:solidFill>
                  </a:tcPr>
                </a:tc>
                <a:tc>
                  <a:txBody>
                    <a:bodyPr/>
                    <a:lstStyle/>
                    <a:p>
                      <a:pPr algn="l" fontAlgn="b">
                        <a:buNone/>
                      </a:pPr>
                      <a:r>
                        <a:rPr lang="en-US" sz="900" u="none" strike="noStrike">
                          <a:effectLst/>
                        </a:rPr>
                        <a:t>MVP3 UW Question Reduction (Find a Vet)</a:t>
                      </a:r>
                      <a:endParaRPr lang="en-US" sz="900" b="0" i="0" u="none" strike="noStrike">
                        <a:solidFill>
                          <a:srgbClr val="000000"/>
                        </a:solidFill>
                        <a:effectLst/>
                        <a:latin typeface="Aptos Narrow" panose="020B0004020202020204" pitchFamily="34" charset="0"/>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7FC"/>
                    </a:solidFill>
                  </a:tcPr>
                </a:tc>
                <a:tc>
                  <a:txBody>
                    <a:bodyPr/>
                    <a:lstStyle/>
                    <a:p>
                      <a:pPr algn="ctr" fontAlgn="b">
                        <a:buNone/>
                      </a:pPr>
                      <a:r>
                        <a:rPr lang="en-US" sz="900" u="none" strike="noStrike">
                          <a:effectLst/>
                        </a:rPr>
                        <a:t>Kinney B</a:t>
                      </a:r>
                      <a:endParaRPr lang="en-US" sz="900" b="0" i="0" u="none" strike="noStrike">
                        <a:solidFill>
                          <a:srgbClr val="000000"/>
                        </a:solidFill>
                        <a:effectLst/>
                        <a:latin typeface="Aptos Narrow" panose="020B0004020202020204" pitchFamily="34" charset="0"/>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7FC"/>
                    </a:solidFill>
                  </a:tcPr>
                </a:tc>
                <a:tc>
                  <a:txBody>
                    <a:bodyPr/>
                    <a:lstStyle/>
                    <a:p>
                      <a:pPr algn="ctr" fontAlgn="b">
                        <a:buNone/>
                      </a:pPr>
                      <a:r>
                        <a:rPr lang="en-US" sz="900" u="none" strike="noStrike">
                          <a:effectLst/>
                        </a:rPr>
                        <a:t>Sara Andrews</a:t>
                      </a:r>
                      <a:endParaRPr lang="en-US" sz="900" b="0" i="0" u="none" strike="noStrike">
                        <a:solidFill>
                          <a:srgbClr val="000000"/>
                        </a:solidFill>
                        <a:effectLst/>
                        <a:latin typeface="Aptos Narrow" panose="020B0004020202020204" pitchFamily="34" charset="0"/>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7FC"/>
                    </a:solidFill>
                  </a:tcPr>
                </a:tc>
                <a:tc>
                  <a:txBody>
                    <a:bodyPr/>
                    <a:lstStyle/>
                    <a:p>
                      <a:pPr algn="ctr" fontAlgn="b">
                        <a:buNone/>
                      </a:pPr>
                      <a:r>
                        <a:rPr lang="en-US" sz="900" u="none" strike="noStrike">
                          <a:effectLst/>
                        </a:rPr>
                        <a:t>On Schedule</a:t>
                      </a:r>
                      <a:endParaRPr lang="en-US" sz="900" b="0" i="0" u="none" strike="noStrike">
                        <a:solidFill>
                          <a:srgbClr val="000000"/>
                        </a:solidFill>
                        <a:effectLst/>
                        <a:latin typeface="Aptos Narrow" panose="020B0004020202020204" pitchFamily="34" charset="0"/>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7FC"/>
                    </a:solidFill>
                  </a:tcPr>
                </a:tc>
                <a:tc>
                  <a:txBody>
                    <a:bodyPr/>
                    <a:lstStyle/>
                    <a:p>
                      <a:pPr algn="ctr" fontAlgn="b">
                        <a:buNone/>
                      </a:pPr>
                      <a:endParaRPr lang="en-US" sz="900" b="0" i="0" u="none" strike="noStrike">
                        <a:solidFill>
                          <a:srgbClr val="000000"/>
                        </a:solidFill>
                        <a:effectLst/>
                        <a:latin typeface="Aptos Narrow" panose="020B0004020202020204" pitchFamily="34" charset="0"/>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7FC"/>
                    </a:solidFill>
                  </a:tcPr>
                </a:tc>
                <a:tc>
                  <a:txBody>
                    <a:bodyPr/>
                    <a:lstStyle/>
                    <a:p>
                      <a:pPr algn="ctr" fontAlgn="b">
                        <a:buNone/>
                      </a:pPr>
                      <a:endParaRPr lang="en-US" sz="900" b="0" i="0" u="none" strike="noStrike">
                        <a:solidFill>
                          <a:srgbClr val="000000"/>
                        </a:solidFill>
                        <a:effectLst/>
                        <a:latin typeface="Aptos Narrow" panose="020B0004020202020204" pitchFamily="34" charset="0"/>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7FC"/>
                    </a:solidFill>
                  </a:tcPr>
                </a:tc>
                <a:extLst>
                  <a:ext uri="{0D108BD9-81ED-4DB2-BD59-A6C34878D82A}">
                    <a16:rowId xmlns:a16="http://schemas.microsoft.com/office/drawing/2014/main" val="2765048570"/>
                  </a:ext>
                </a:extLst>
              </a:tr>
              <a:tr h="182958">
                <a:tc>
                  <a:txBody>
                    <a:bodyPr/>
                    <a:lstStyle/>
                    <a:p>
                      <a:pPr algn="l" fontAlgn="b">
                        <a:buNone/>
                      </a:pPr>
                      <a:r>
                        <a:rPr lang="en-US" sz="900" u="none" strike="noStrike">
                          <a:effectLst/>
                        </a:rPr>
                        <a:t>9/16/2026</a:t>
                      </a:r>
                      <a:endParaRPr lang="en-US" sz="900" b="0" i="0" u="none" strike="noStrike">
                        <a:solidFill>
                          <a:srgbClr val="000000"/>
                        </a:solidFill>
                        <a:effectLst/>
                        <a:latin typeface="Aptos Narrow" panose="020B0004020202020204" pitchFamily="34" charset="0"/>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EF5F0"/>
                    </a:solidFill>
                  </a:tcPr>
                </a:tc>
                <a:tc>
                  <a:txBody>
                    <a:bodyPr/>
                    <a:lstStyle/>
                    <a:p>
                      <a:pPr algn="l" fontAlgn="b">
                        <a:buNone/>
                      </a:pPr>
                      <a:r>
                        <a:rPr lang="en-US" sz="900" u="none" strike="noStrike">
                          <a:effectLst/>
                        </a:rPr>
                        <a:t>Pet Model Law Reboot(Forms)</a:t>
                      </a:r>
                      <a:endParaRPr lang="en-US" sz="900" b="0" i="0" u="none" strike="noStrike">
                        <a:solidFill>
                          <a:srgbClr val="000000"/>
                        </a:solidFill>
                        <a:effectLst/>
                        <a:latin typeface="Aptos Narrow" panose="020B0004020202020204" pitchFamily="34" charset="0"/>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EF5F0"/>
                    </a:solidFill>
                  </a:tcPr>
                </a:tc>
                <a:tc>
                  <a:txBody>
                    <a:bodyPr/>
                    <a:lstStyle/>
                    <a:p>
                      <a:pPr algn="ctr" fontAlgn="b">
                        <a:buNone/>
                      </a:pPr>
                      <a:r>
                        <a:rPr lang="en-US" sz="900" u="none" strike="noStrike">
                          <a:effectLst/>
                        </a:rPr>
                        <a:t>V Dinesh</a:t>
                      </a:r>
                      <a:endParaRPr lang="en-US" sz="900" b="0" i="0" u="none" strike="noStrike">
                        <a:solidFill>
                          <a:srgbClr val="000000"/>
                        </a:solidFill>
                        <a:effectLst/>
                        <a:latin typeface="Aptos Narrow" panose="020B0004020202020204" pitchFamily="34" charset="0"/>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EF5F0"/>
                    </a:solidFill>
                  </a:tcPr>
                </a:tc>
                <a:tc>
                  <a:txBody>
                    <a:bodyPr/>
                    <a:lstStyle/>
                    <a:p>
                      <a:pPr algn="ctr" fontAlgn="b">
                        <a:buNone/>
                      </a:pPr>
                      <a:r>
                        <a:rPr lang="en-US" sz="900" u="none" strike="noStrike">
                          <a:effectLst/>
                        </a:rPr>
                        <a:t>Gary Wilson</a:t>
                      </a:r>
                      <a:endParaRPr lang="en-US" sz="900" b="0" i="0" u="none" strike="noStrike">
                        <a:solidFill>
                          <a:srgbClr val="000000"/>
                        </a:solidFill>
                        <a:effectLst/>
                        <a:latin typeface="Aptos Narrow" panose="020B0004020202020204" pitchFamily="34" charset="0"/>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EF5F0"/>
                    </a:solidFill>
                  </a:tcPr>
                </a:tc>
                <a:tc>
                  <a:txBody>
                    <a:bodyPr/>
                    <a:lstStyle/>
                    <a:p>
                      <a:pPr algn="ctr" fontAlgn="b">
                        <a:buNone/>
                      </a:pPr>
                      <a:r>
                        <a:rPr lang="en-US" sz="900" u="none" strike="noStrike">
                          <a:effectLst/>
                        </a:rPr>
                        <a:t>On Schedule</a:t>
                      </a:r>
                      <a:endParaRPr lang="en-US" sz="900" b="0" i="0" u="none" strike="noStrike">
                        <a:solidFill>
                          <a:srgbClr val="000000"/>
                        </a:solidFill>
                        <a:effectLst/>
                        <a:latin typeface="Aptos Narrow" panose="020B0004020202020204" pitchFamily="34" charset="0"/>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EF5F0"/>
                    </a:solidFill>
                  </a:tcPr>
                </a:tc>
                <a:tc>
                  <a:txBody>
                    <a:bodyPr/>
                    <a:lstStyle/>
                    <a:p>
                      <a:pPr algn="ctr" fontAlgn="b">
                        <a:buNone/>
                      </a:pPr>
                      <a:endParaRPr lang="en-US" sz="900" b="0" i="0" u="none" strike="noStrike">
                        <a:solidFill>
                          <a:srgbClr val="000000"/>
                        </a:solidFill>
                        <a:effectLst/>
                        <a:latin typeface="Aptos Narrow" panose="020B0004020202020204" pitchFamily="34" charset="0"/>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EF5F0"/>
                    </a:solidFill>
                  </a:tcPr>
                </a:tc>
                <a:tc>
                  <a:txBody>
                    <a:bodyPr/>
                    <a:lstStyle/>
                    <a:p>
                      <a:pPr algn="ctr" fontAlgn="b">
                        <a:buNone/>
                      </a:pPr>
                      <a:endParaRPr lang="en-US" sz="900" b="0" i="0" u="none" strike="noStrike">
                        <a:solidFill>
                          <a:srgbClr val="000000"/>
                        </a:solidFill>
                        <a:effectLst/>
                        <a:latin typeface="Aptos Narrow" panose="020B0004020202020204" pitchFamily="34" charset="0"/>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EF5F0"/>
                    </a:solidFill>
                  </a:tcPr>
                </a:tc>
                <a:extLst>
                  <a:ext uri="{0D108BD9-81ED-4DB2-BD59-A6C34878D82A}">
                    <a16:rowId xmlns:a16="http://schemas.microsoft.com/office/drawing/2014/main" val="39147585"/>
                  </a:ext>
                </a:extLst>
              </a:tr>
              <a:tr h="326280">
                <a:tc>
                  <a:txBody>
                    <a:bodyPr/>
                    <a:lstStyle/>
                    <a:p>
                      <a:pPr algn="l" fontAlgn="b">
                        <a:buNone/>
                      </a:pPr>
                      <a:r>
                        <a:rPr lang="en-US" sz="900" u="none" strike="noStrike">
                          <a:effectLst/>
                        </a:rPr>
                        <a:t>9/16/2026</a:t>
                      </a:r>
                      <a:endParaRPr lang="en-US" sz="900" b="0" i="0" u="none" strike="noStrike">
                        <a:solidFill>
                          <a:srgbClr val="000000"/>
                        </a:solidFill>
                        <a:effectLst/>
                        <a:latin typeface="Aptos Narrow" panose="020B0004020202020204" pitchFamily="34" charset="0"/>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EF5F0"/>
                    </a:solidFill>
                  </a:tcPr>
                </a:tc>
                <a:tc>
                  <a:txBody>
                    <a:bodyPr/>
                    <a:lstStyle/>
                    <a:p>
                      <a:pPr algn="l" fontAlgn="b">
                        <a:buNone/>
                      </a:pPr>
                      <a:r>
                        <a:rPr lang="en-US" sz="900" u="none" strike="noStrike">
                          <a:effectLst/>
                        </a:rPr>
                        <a:t>Pricing Segmentation - (R9) NV, AK, ND</a:t>
                      </a:r>
                      <a:endParaRPr lang="en-US" sz="900" b="0" i="0" u="none" strike="noStrike">
                        <a:solidFill>
                          <a:srgbClr val="000000"/>
                        </a:solidFill>
                        <a:effectLst/>
                        <a:latin typeface="Aptos Narrow" panose="020B0004020202020204" pitchFamily="34" charset="0"/>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EF5F0"/>
                    </a:solidFill>
                  </a:tcPr>
                </a:tc>
                <a:tc>
                  <a:txBody>
                    <a:bodyPr/>
                    <a:lstStyle/>
                    <a:p>
                      <a:pPr algn="ctr" fontAlgn="b">
                        <a:buNone/>
                      </a:pPr>
                      <a:r>
                        <a:rPr lang="en-US" sz="900" u="none" strike="noStrike">
                          <a:effectLst/>
                        </a:rPr>
                        <a:t>Kinney B</a:t>
                      </a:r>
                      <a:endParaRPr lang="en-US" sz="900" b="0" i="0" u="none" strike="noStrike">
                        <a:solidFill>
                          <a:srgbClr val="000000"/>
                        </a:solidFill>
                        <a:effectLst/>
                        <a:latin typeface="Aptos Narrow" panose="020B0004020202020204" pitchFamily="34" charset="0"/>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EF5F0"/>
                    </a:solidFill>
                  </a:tcPr>
                </a:tc>
                <a:tc>
                  <a:txBody>
                    <a:bodyPr/>
                    <a:lstStyle/>
                    <a:p>
                      <a:pPr algn="ctr" fontAlgn="b">
                        <a:buNone/>
                      </a:pPr>
                      <a:r>
                        <a:rPr lang="en-US" sz="900" u="none" strike="noStrike">
                          <a:effectLst/>
                        </a:rPr>
                        <a:t>Alex  Suarez</a:t>
                      </a:r>
                      <a:endParaRPr lang="en-US" sz="900" b="0" i="0" u="none" strike="noStrike">
                        <a:solidFill>
                          <a:srgbClr val="000000"/>
                        </a:solidFill>
                        <a:effectLst/>
                        <a:latin typeface="Aptos Narrow" panose="020B0004020202020204" pitchFamily="34" charset="0"/>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EF5F0"/>
                    </a:solidFill>
                  </a:tcPr>
                </a:tc>
                <a:tc>
                  <a:txBody>
                    <a:bodyPr/>
                    <a:lstStyle/>
                    <a:p>
                      <a:pPr algn="ctr" fontAlgn="b">
                        <a:buNone/>
                      </a:pPr>
                      <a:r>
                        <a:rPr lang="en-US" sz="900" u="none" strike="noStrike">
                          <a:effectLst/>
                        </a:rPr>
                        <a:t>On Schedule</a:t>
                      </a:r>
                      <a:endParaRPr lang="en-US" sz="900" b="0" i="0" u="none" strike="noStrike">
                        <a:solidFill>
                          <a:srgbClr val="000000"/>
                        </a:solidFill>
                        <a:effectLst/>
                        <a:latin typeface="Aptos Narrow" panose="020B0004020202020204" pitchFamily="34" charset="0"/>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EF5F0"/>
                    </a:solidFill>
                  </a:tcPr>
                </a:tc>
                <a:tc>
                  <a:txBody>
                    <a:bodyPr/>
                    <a:lstStyle/>
                    <a:p>
                      <a:pPr algn="ctr" fontAlgn="b">
                        <a:buNone/>
                      </a:pPr>
                      <a:endParaRPr lang="en-US" sz="900" b="0" i="0" u="none" strike="noStrike">
                        <a:solidFill>
                          <a:srgbClr val="000000"/>
                        </a:solidFill>
                        <a:effectLst/>
                        <a:latin typeface="Aptos Narrow" panose="020B0004020202020204" pitchFamily="34" charset="0"/>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EF5F0"/>
                    </a:solidFill>
                  </a:tcPr>
                </a:tc>
                <a:tc>
                  <a:txBody>
                    <a:bodyPr/>
                    <a:lstStyle/>
                    <a:p>
                      <a:pPr algn="ctr" fontAlgn="b">
                        <a:buNone/>
                      </a:pPr>
                      <a:endParaRPr lang="en-US" sz="900" b="0" i="0" u="none" strike="noStrike">
                        <a:solidFill>
                          <a:srgbClr val="000000"/>
                        </a:solidFill>
                        <a:effectLst/>
                        <a:latin typeface="Aptos Narrow" panose="020B0004020202020204" pitchFamily="34" charset="0"/>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EF5F0"/>
                    </a:solidFill>
                  </a:tcPr>
                </a:tc>
                <a:extLst>
                  <a:ext uri="{0D108BD9-81ED-4DB2-BD59-A6C34878D82A}">
                    <a16:rowId xmlns:a16="http://schemas.microsoft.com/office/drawing/2014/main" val="3552198339"/>
                  </a:ext>
                </a:extLst>
              </a:tr>
              <a:tr h="326280">
                <a:tc>
                  <a:txBody>
                    <a:bodyPr/>
                    <a:lstStyle/>
                    <a:p>
                      <a:pPr algn="l" fontAlgn="b">
                        <a:buNone/>
                      </a:pPr>
                      <a:r>
                        <a:rPr lang="en-US" sz="900" u="none" strike="noStrike">
                          <a:effectLst/>
                        </a:rPr>
                        <a:t>9/16/2026</a:t>
                      </a:r>
                      <a:endParaRPr lang="en-US" sz="900" b="0" i="0" u="none" strike="noStrike">
                        <a:solidFill>
                          <a:srgbClr val="000000"/>
                        </a:solidFill>
                        <a:effectLst/>
                        <a:latin typeface="Aptos Narrow" panose="020B0004020202020204" pitchFamily="34" charset="0"/>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EF5F0"/>
                    </a:solidFill>
                  </a:tcPr>
                </a:tc>
                <a:tc>
                  <a:txBody>
                    <a:bodyPr/>
                    <a:lstStyle/>
                    <a:p>
                      <a:pPr algn="l" fontAlgn="b">
                        <a:buNone/>
                      </a:pPr>
                      <a:r>
                        <a:rPr lang="en-US" sz="900" u="none" strike="noStrike">
                          <a:effectLst/>
                        </a:rPr>
                        <a:t>MVP3 UW Question Reduction (Find a Vet) - Warranty</a:t>
                      </a:r>
                      <a:endParaRPr lang="en-US" sz="900" b="0" i="0" u="none" strike="noStrike">
                        <a:solidFill>
                          <a:srgbClr val="000000"/>
                        </a:solidFill>
                        <a:effectLst/>
                        <a:latin typeface="Aptos Narrow" panose="020B0004020202020204" pitchFamily="34" charset="0"/>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EF5F0"/>
                    </a:solidFill>
                  </a:tcPr>
                </a:tc>
                <a:tc>
                  <a:txBody>
                    <a:bodyPr/>
                    <a:lstStyle/>
                    <a:p>
                      <a:pPr algn="ctr" fontAlgn="b">
                        <a:buNone/>
                      </a:pPr>
                      <a:r>
                        <a:rPr lang="en-US" sz="900" u="none" strike="noStrike">
                          <a:effectLst/>
                        </a:rPr>
                        <a:t>Kinney B</a:t>
                      </a:r>
                      <a:endParaRPr lang="en-US" sz="900" b="0" i="0" u="none" strike="noStrike">
                        <a:solidFill>
                          <a:srgbClr val="000000"/>
                        </a:solidFill>
                        <a:effectLst/>
                        <a:latin typeface="Aptos Narrow" panose="020B0004020202020204" pitchFamily="34" charset="0"/>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EF5F0"/>
                    </a:solidFill>
                  </a:tcPr>
                </a:tc>
                <a:tc>
                  <a:txBody>
                    <a:bodyPr/>
                    <a:lstStyle/>
                    <a:p>
                      <a:pPr algn="ctr" fontAlgn="b">
                        <a:buNone/>
                      </a:pPr>
                      <a:r>
                        <a:rPr lang="en-US" sz="900" u="none" strike="noStrike">
                          <a:effectLst/>
                        </a:rPr>
                        <a:t>Sara Andrews</a:t>
                      </a:r>
                      <a:endParaRPr lang="en-US" sz="900" b="0" i="0" u="none" strike="noStrike">
                        <a:solidFill>
                          <a:srgbClr val="000000"/>
                        </a:solidFill>
                        <a:effectLst/>
                        <a:latin typeface="Aptos Narrow" panose="020B0004020202020204" pitchFamily="34" charset="0"/>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EF5F0"/>
                    </a:solidFill>
                  </a:tcPr>
                </a:tc>
                <a:tc>
                  <a:txBody>
                    <a:bodyPr/>
                    <a:lstStyle/>
                    <a:p>
                      <a:pPr algn="ctr" fontAlgn="b">
                        <a:buNone/>
                      </a:pPr>
                      <a:r>
                        <a:rPr lang="en-US" sz="900" u="none" strike="noStrike">
                          <a:effectLst/>
                        </a:rPr>
                        <a:t>TBD</a:t>
                      </a:r>
                      <a:endParaRPr lang="en-US" sz="900" b="0" i="0" u="none" strike="noStrike">
                        <a:solidFill>
                          <a:srgbClr val="000000"/>
                        </a:solidFill>
                        <a:effectLst/>
                        <a:latin typeface="Aptos Narrow" panose="020B0004020202020204" pitchFamily="34" charset="0"/>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EF5F0"/>
                    </a:solidFill>
                  </a:tcPr>
                </a:tc>
                <a:tc>
                  <a:txBody>
                    <a:bodyPr/>
                    <a:lstStyle/>
                    <a:p>
                      <a:pPr algn="ctr" fontAlgn="b">
                        <a:buNone/>
                      </a:pPr>
                      <a:endParaRPr lang="en-US" sz="900" b="0" i="0" u="none" strike="noStrike">
                        <a:solidFill>
                          <a:srgbClr val="000000"/>
                        </a:solidFill>
                        <a:effectLst/>
                        <a:latin typeface="Aptos Narrow" panose="020B0004020202020204" pitchFamily="34" charset="0"/>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EF5F0"/>
                    </a:solidFill>
                  </a:tcPr>
                </a:tc>
                <a:tc>
                  <a:txBody>
                    <a:bodyPr/>
                    <a:lstStyle/>
                    <a:p>
                      <a:pPr algn="ctr" fontAlgn="b">
                        <a:buNone/>
                      </a:pPr>
                      <a:endParaRPr lang="en-US" sz="900" b="0" i="0" u="none" strike="noStrike">
                        <a:solidFill>
                          <a:srgbClr val="000000"/>
                        </a:solidFill>
                        <a:effectLst/>
                        <a:latin typeface="Aptos Narrow" panose="020B0004020202020204" pitchFamily="34" charset="0"/>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EF5F0"/>
                    </a:solidFill>
                  </a:tcPr>
                </a:tc>
                <a:extLst>
                  <a:ext uri="{0D108BD9-81ED-4DB2-BD59-A6C34878D82A}">
                    <a16:rowId xmlns:a16="http://schemas.microsoft.com/office/drawing/2014/main" val="2899597630"/>
                  </a:ext>
                </a:extLst>
              </a:tr>
              <a:tr h="182958">
                <a:tc>
                  <a:txBody>
                    <a:bodyPr/>
                    <a:lstStyle/>
                    <a:p>
                      <a:pPr algn="l" fontAlgn="b">
                        <a:buNone/>
                      </a:pPr>
                      <a:r>
                        <a:rPr lang="en-US" sz="900" u="none" strike="noStrike">
                          <a:effectLst/>
                        </a:rPr>
                        <a:t>10/14/2026</a:t>
                      </a:r>
                      <a:endParaRPr lang="en-US" sz="900" b="0" i="0" u="none" strike="noStrike">
                        <a:solidFill>
                          <a:srgbClr val="000000"/>
                        </a:solidFill>
                        <a:effectLst/>
                        <a:latin typeface="Aptos Narrow" panose="020B0004020202020204" pitchFamily="34" charset="0"/>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7FC"/>
                    </a:solidFill>
                  </a:tcPr>
                </a:tc>
                <a:tc>
                  <a:txBody>
                    <a:bodyPr/>
                    <a:lstStyle/>
                    <a:p>
                      <a:pPr algn="l" fontAlgn="b">
                        <a:buNone/>
                      </a:pPr>
                      <a:r>
                        <a:rPr lang="en-US" sz="900" u="none" strike="noStrike">
                          <a:effectLst/>
                        </a:rPr>
                        <a:t>Pricing Segmentation - (R10)</a:t>
                      </a:r>
                      <a:endParaRPr lang="en-US" sz="900" b="0" i="0" u="none" strike="noStrike">
                        <a:solidFill>
                          <a:srgbClr val="000000"/>
                        </a:solidFill>
                        <a:effectLst/>
                        <a:latin typeface="Aptos Narrow" panose="020B0004020202020204" pitchFamily="34" charset="0"/>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7FC"/>
                    </a:solidFill>
                  </a:tcPr>
                </a:tc>
                <a:tc>
                  <a:txBody>
                    <a:bodyPr/>
                    <a:lstStyle/>
                    <a:p>
                      <a:pPr algn="ctr" fontAlgn="b">
                        <a:buNone/>
                      </a:pPr>
                      <a:r>
                        <a:rPr lang="en-US" sz="900" u="none" strike="noStrike">
                          <a:effectLst/>
                        </a:rPr>
                        <a:t>Kinney B</a:t>
                      </a:r>
                      <a:endParaRPr lang="en-US" sz="900" b="0" i="0" u="none" strike="noStrike">
                        <a:solidFill>
                          <a:srgbClr val="000000"/>
                        </a:solidFill>
                        <a:effectLst/>
                        <a:latin typeface="Aptos Narrow" panose="020B0004020202020204" pitchFamily="34" charset="0"/>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7FC"/>
                    </a:solidFill>
                  </a:tcPr>
                </a:tc>
                <a:tc>
                  <a:txBody>
                    <a:bodyPr/>
                    <a:lstStyle/>
                    <a:p>
                      <a:pPr algn="ctr" fontAlgn="b">
                        <a:buNone/>
                      </a:pPr>
                      <a:r>
                        <a:rPr lang="en-US" sz="900" u="none" strike="noStrike">
                          <a:effectLst/>
                        </a:rPr>
                        <a:t>Alex  Suarez</a:t>
                      </a:r>
                      <a:endParaRPr lang="en-US" sz="900" b="0" i="0" u="none" strike="noStrike">
                        <a:solidFill>
                          <a:srgbClr val="000000"/>
                        </a:solidFill>
                        <a:effectLst/>
                        <a:latin typeface="Aptos Narrow" panose="020B0004020202020204" pitchFamily="34" charset="0"/>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7FC"/>
                    </a:solidFill>
                  </a:tcPr>
                </a:tc>
                <a:tc>
                  <a:txBody>
                    <a:bodyPr/>
                    <a:lstStyle/>
                    <a:p>
                      <a:pPr algn="ctr" fontAlgn="b">
                        <a:buNone/>
                      </a:pPr>
                      <a:r>
                        <a:rPr lang="en-US" sz="900" u="none" strike="noStrike">
                          <a:effectLst/>
                        </a:rPr>
                        <a:t>TBD</a:t>
                      </a:r>
                      <a:endParaRPr lang="en-US" sz="900" b="0" i="0" u="none" strike="noStrike">
                        <a:solidFill>
                          <a:srgbClr val="000000"/>
                        </a:solidFill>
                        <a:effectLst/>
                        <a:latin typeface="Aptos Narrow" panose="020B0004020202020204" pitchFamily="34" charset="0"/>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7FC"/>
                    </a:solidFill>
                  </a:tcPr>
                </a:tc>
                <a:tc>
                  <a:txBody>
                    <a:bodyPr/>
                    <a:lstStyle/>
                    <a:p>
                      <a:pPr algn="ctr" fontAlgn="b">
                        <a:buNone/>
                      </a:pPr>
                      <a:endParaRPr lang="en-US" sz="900" b="0" i="0" u="none" strike="noStrike">
                        <a:solidFill>
                          <a:srgbClr val="000000"/>
                        </a:solidFill>
                        <a:effectLst/>
                        <a:latin typeface="Aptos Narrow" panose="020B0004020202020204" pitchFamily="34" charset="0"/>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7FC"/>
                    </a:solidFill>
                  </a:tcPr>
                </a:tc>
                <a:tc>
                  <a:txBody>
                    <a:bodyPr/>
                    <a:lstStyle/>
                    <a:p>
                      <a:pPr algn="ctr" fontAlgn="b">
                        <a:buNone/>
                      </a:pPr>
                      <a:endParaRPr lang="en-US" sz="900" b="0" i="0" u="none" strike="noStrike">
                        <a:solidFill>
                          <a:srgbClr val="000000"/>
                        </a:solidFill>
                        <a:effectLst/>
                        <a:latin typeface="Aptos Narrow" panose="020B0004020202020204" pitchFamily="34" charset="0"/>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7FC"/>
                    </a:solidFill>
                  </a:tcPr>
                </a:tc>
                <a:extLst>
                  <a:ext uri="{0D108BD9-81ED-4DB2-BD59-A6C34878D82A}">
                    <a16:rowId xmlns:a16="http://schemas.microsoft.com/office/drawing/2014/main" val="3487540921"/>
                  </a:ext>
                </a:extLst>
              </a:tr>
              <a:tr h="182958">
                <a:tc>
                  <a:txBody>
                    <a:bodyPr/>
                    <a:lstStyle/>
                    <a:p>
                      <a:pPr algn="l" fontAlgn="b">
                        <a:buNone/>
                      </a:pPr>
                      <a:r>
                        <a:rPr lang="en-US" sz="900" u="none" strike="noStrike">
                          <a:effectLst/>
                        </a:rPr>
                        <a:t>10/14/2026</a:t>
                      </a:r>
                      <a:endParaRPr lang="en-US" sz="900" b="0" i="0" u="none" strike="noStrike">
                        <a:solidFill>
                          <a:srgbClr val="000000"/>
                        </a:solidFill>
                        <a:effectLst/>
                        <a:latin typeface="Aptos Narrow" panose="020B0004020202020204" pitchFamily="34" charset="0"/>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7FC"/>
                    </a:solidFill>
                  </a:tcPr>
                </a:tc>
                <a:tc>
                  <a:txBody>
                    <a:bodyPr/>
                    <a:lstStyle/>
                    <a:p>
                      <a:pPr algn="l" fontAlgn="b">
                        <a:buNone/>
                      </a:pPr>
                      <a:r>
                        <a:rPr lang="en-US" sz="900" u="none" strike="noStrike">
                          <a:effectLst/>
                        </a:rPr>
                        <a:t>UW Optimization MVP1</a:t>
                      </a:r>
                      <a:endParaRPr lang="en-US" sz="900" b="0" i="0" u="none" strike="noStrike">
                        <a:solidFill>
                          <a:srgbClr val="000000"/>
                        </a:solidFill>
                        <a:effectLst/>
                        <a:latin typeface="Aptos Narrow" panose="020B0004020202020204" pitchFamily="34" charset="0"/>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7FC"/>
                    </a:solidFill>
                  </a:tcPr>
                </a:tc>
                <a:tc>
                  <a:txBody>
                    <a:bodyPr/>
                    <a:lstStyle/>
                    <a:p>
                      <a:pPr algn="ctr" fontAlgn="b">
                        <a:buNone/>
                      </a:pPr>
                      <a:r>
                        <a:rPr lang="en-US" sz="900" u="none" strike="noStrike">
                          <a:effectLst/>
                        </a:rPr>
                        <a:t>Lalitha K</a:t>
                      </a:r>
                      <a:endParaRPr lang="en-US" sz="900" b="0" i="0" u="none" strike="noStrike">
                        <a:solidFill>
                          <a:srgbClr val="000000"/>
                        </a:solidFill>
                        <a:effectLst/>
                        <a:latin typeface="Aptos Narrow" panose="020B0004020202020204" pitchFamily="34" charset="0"/>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7FC"/>
                    </a:solidFill>
                  </a:tcPr>
                </a:tc>
                <a:tc>
                  <a:txBody>
                    <a:bodyPr/>
                    <a:lstStyle/>
                    <a:p>
                      <a:pPr algn="ctr" fontAlgn="b">
                        <a:buNone/>
                      </a:pPr>
                      <a:r>
                        <a:rPr lang="en-US" sz="900" u="none" strike="noStrike">
                          <a:effectLst/>
                        </a:rPr>
                        <a:t>Sarah Andrews</a:t>
                      </a:r>
                      <a:endParaRPr lang="en-US" sz="900" b="0" i="0" u="none" strike="noStrike">
                        <a:solidFill>
                          <a:srgbClr val="000000"/>
                        </a:solidFill>
                        <a:effectLst/>
                        <a:latin typeface="Aptos Narrow" panose="020B0004020202020204" pitchFamily="34" charset="0"/>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7FC"/>
                    </a:solidFill>
                  </a:tcPr>
                </a:tc>
                <a:tc>
                  <a:txBody>
                    <a:bodyPr/>
                    <a:lstStyle/>
                    <a:p>
                      <a:pPr algn="ctr" fontAlgn="b">
                        <a:buNone/>
                      </a:pPr>
                      <a:r>
                        <a:rPr lang="en-US" sz="900" u="none" strike="noStrike">
                          <a:effectLst/>
                        </a:rPr>
                        <a:t>TBD</a:t>
                      </a:r>
                      <a:endParaRPr lang="en-US" sz="900" b="0" i="0" u="none" strike="noStrike">
                        <a:solidFill>
                          <a:srgbClr val="000000"/>
                        </a:solidFill>
                        <a:effectLst/>
                        <a:latin typeface="Aptos Narrow" panose="020B0004020202020204" pitchFamily="34" charset="0"/>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7FC"/>
                    </a:solidFill>
                  </a:tcPr>
                </a:tc>
                <a:tc>
                  <a:txBody>
                    <a:bodyPr/>
                    <a:lstStyle/>
                    <a:p>
                      <a:pPr algn="ctr" fontAlgn="b">
                        <a:buNone/>
                      </a:pPr>
                      <a:endParaRPr lang="en-US" sz="900" b="0" i="0" u="none" strike="noStrike">
                        <a:solidFill>
                          <a:srgbClr val="000000"/>
                        </a:solidFill>
                        <a:effectLst/>
                        <a:latin typeface="Aptos Narrow" panose="020B0004020202020204" pitchFamily="34" charset="0"/>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7FC"/>
                    </a:solidFill>
                  </a:tcPr>
                </a:tc>
                <a:tc>
                  <a:txBody>
                    <a:bodyPr/>
                    <a:lstStyle/>
                    <a:p>
                      <a:pPr algn="ctr" fontAlgn="b">
                        <a:buNone/>
                      </a:pPr>
                      <a:endParaRPr lang="en-US" sz="900" b="0" i="0" u="none" strike="noStrike">
                        <a:solidFill>
                          <a:srgbClr val="000000"/>
                        </a:solidFill>
                        <a:effectLst/>
                        <a:latin typeface="Aptos Narrow" panose="020B0004020202020204" pitchFamily="34" charset="0"/>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7FC"/>
                    </a:solidFill>
                  </a:tcPr>
                </a:tc>
                <a:extLst>
                  <a:ext uri="{0D108BD9-81ED-4DB2-BD59-A6C34878D82A}">
                    <a16:rowId xmlns:a16="http://schemas.microsoft.com/office/drawing/2014/main" val="2989830685"/>
                  </a:ext>
                </a:extLst>
              </a:tr>
              <a:tr h="182958">
                <a:tc>
                  <a:txBody>
                    <a:bodyPr/>
                    <a:lstStyle/>
                    <a:p>
                      <a:pPr algn="l" fontAlgn="b">
                        <a:buNone/>
                      </a:pPr>
                      <a:r>
                        <a:rPr lang="en-US" sz="900" u="none" strike="noStrike">
                          <a:effectLst/>
                        </a:rPr>
                        <a:t>11/11/2026</a:t>
                      </a:r>
                      <a:endParaRPr lang="en-US" sz="900" b="0" i="0" u="none" strike="noStrike">
                        <a:solidFill>
                          <a:srgbClr val="000000"/>
                        </a:solidFill>
                        <a:effectLst/>
                        <a:latin typeface="Aptos Narrow" panose="020B0004020202020204" pitchFamily="34" charset="0"/>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EF5F0"/>
                    </a:solidFill>
                  </a:tcPr>
                </a:tc>
                <a:tc>
                  <a:txBody>
                    <a:bodyPr/>
                    <a:lstStyle/>
                    <a:p>
                      <a:pPr algn="l" fontAlgn="b">
                        <a:buNone/>
                      </a:pPr>
                      <a:r>
                        <a:rPr lang="en-US" sz="900" u="none" strike="noStrike">
                          <a:effectLst/>
                        </a:rPr>
                        <a:t>Pricing Segmentation - (R11)</a:t>
                      </a:r>
                      <a:endParaRPr lang="en-US" sz="900" b="0" i="0" u="none" strike="noStrike">
                        <a:solidFill>
                          <a:srgbClr val="000000"/>
                        </a:solidFill>
                        <a:effectLst/>
                        <a:latin typeface="Aptos Narrow" panose="020B0004020202020204" pitchFamily="34" charset="0"/>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EF5F0"/>
                    </a:solidFill>
                  </a:tcPr>
                </a:tc>
                <a:tc>
                  <a:txBody>
                    <a:bodyPr/>
                    <a:lstStyle/>
                    <a:p>
                      <a:pPr algn="ctr" fontAlgn="b">
                        <a:buNone/>
                      </a:pPr>
                      <a:r>
                        <a:rPr lang="en-US" sz="900" u="none" strike="noStrike">
                          <a:effectLst/>
                        </a:rPr>
                        <a:t>Kinney B</a:t>
                      </a:r>
                      <a:endParaRPr lang="en-US" sz="900" b="0" i="0" u="none" strike="noStrike">
                        <a:solidFill>
                          <a:srgbClr val="000000"/>
                        </a:solidFill>
                        <a:effectLst/>
                        <a:latin typeface="Aptos Narrow" panose="020B0004020202020204" pitchFamily="34" charset="0"/>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EF5F0"/>
                    </a:solidFill>
                  </a:tcPr>
                </a:tc>
                <a:tc>
                  <a:txBody>
                    <a:bodyPr/>
                    <a:lstStyle/>
                    <a:p>
                      <a:pPr algn="ctr" fontAlgn="b">
                        <a:buNone/>
                      </a:pPr>
                      <a:r>
                        <a:rPr lang="en-US" sz="900" u="none" strike="noStrike">
                          <a:effectLst/>
                        </a:rPr>
                        <a:t>Alex  Suarez</a:t>
                      </a:r>
                      <a:endParaRPr lang="en-US" sz="900" b="0" i="0" u="none" strike="noStrike">
                        <a:solidFill>
                          <a:srgbClr val="000000"/>
                        </a:solidFill>
                        <a:effectLst/>
                        <a:latin typeface="Aptos Narrow" panose="020B0004020202020204" pitchFamily="34" charset="0"/>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EF5F0"/>
                    </a:solidFill>
                  </a:tcPr>
                </a:tc>
                <a:tc>
                  <a:txBody>
                    <a:bodyPr/>
                    <a:lstStyle/>
                    <a:p>
                      <a:pPr algn="ctr" fontAlgn="b">
                        <a:buNone/>
                      </a:pPr>
                      <a:r>
                        <a:rPr lang="en-US" sz="900" u="none" strike="noStrike">
                          <a:effectLst/>
                        </a:rPr>
                        <a:t>TBD</a:t>
                      </a:r>
                      <a:endParaRPr lang="en-US" sz="900" b="0" i="0" u="none" strike="noStrike">
                        <a:solidFill>
                          <a:srgbClr val="000000"/>
                        </a:solidFill>
                        <a:effectLst/>
                        <a:latin typeface="Aptos Narrow" panose="020B0004020202020204" pitchFamily="34" charset="0"/>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EF5F0"/>
                    </a:solidFill>
                  </a:tcPr>
                </a:tc>
                <a:tc>
                  <a:txBody>
                    <a:bodyPr/>
                    <a:lstStyle/>
                    <a:p>
                      <a:pPr algn="ctr" fontAlgn="b">
                        <a:buNone/>
                      </a:pPr>
                      <a:endParaRPr lang="en-US" sz="900" b="0" i="0" u="none" strike="noStrike">
                        <a:solidFill>
                          <a:srgbClr val="000000"/>
                        </a:solidFill>
                        <a:effectLst/>
                        <a:latin typeface="Aptos Narrow" panose="020B0004020202020204" pitchFamily="34" charset="0"/>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EF5F0"/>
                    </a:solidFill>
                  </a:tcPr>
                </a:tc>
                <a:tc>
                  <a:txBody>
                    <a:bodyPr/>
                    <a:lstStyle/>
                    <a:p>
                      <a:pPr algn="ctr" fontAlgn="b">
                        <a:buNone/>
                      </a:pPr>
                      <a:endParaRPr lang="en-US" sz="900" b="0" i="0" u="none" strike="noStrike">
                        <a:solidFill>
                          <a:srgbClr val="000000"/>
                        </a:solidFill>
                        <a:effectLst/>
                        <a:latin typeface="Aptos Narrow" panose="020B0004020202020204" pitchFamily="34" charset="0"/>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EF5F0"/>
                    </a:solidFill>
                  </a:tcPr>
                </a:tc>
                <a:extLst>
                  <a:ext uri="{0D108BD9-81ED-4DB2-BD59-A6C34878D82A}">
                    <a16:rowId xmlns:a16="http://schemas.microsoft.com/office/drawing/2014/main" val="1840954593"/>
                  </a:ext>
                </a:extLst>
              </a:tr>
              <a:tr h="182958">
                <a:tc>
                  <a:txBody>
                    <a:bodyPr/>
                    <a:lstStyle/>
                    <a:p>
                      <a:pPr algn="l" fontAlgn="b">
                        <a:buNone/>
                      </a:pPr>
                      <a:r>
                        <a:rPr lang="en-US" sz="900" u="none" strike="noStrike">
                          <a:effectLst/>
                        </a:rPr>
                        <a:t>11/11/2026</a:t>
                      </a:r>
                      <a:endParaRPr lang="en-US" sz="900" b="0" i="0" u="none" strike="noStrike">
                        <a:solidFill>
                          <a:srgbClr val="000000"/>
                        </a:solidFill>
                        <a:effectLst/>
                        <a:latin typeface="Aptos Narrow" panose="020B0004020202020204" pitchFamily="34" charset="0"/>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EF5F0"/>
                    </a:solidFill>
                  </a:tcPr>
                </a:tc>
                <a:tc>
                  <a:txBody>
                    <a:bodyPr/>
                    <a:lstStyle/>
                    <a:p>
                      <a:pPr algn="l" fontAlgn="b">
                        <a:buNone/>
                      </a:pPr>
                      <a:r>
                        <a:rPr lang="en-US" sz="900" u="none" strike="noStrike">
                          <a:effectLst/>
                        </a:rPr>
                        <a:t>UW Optimization MVP2</a:t>
                      </a:r>
                      <a:endParaRPr lang="en-US" sz="900" b="0" i="0" u="none" strike="noStrike">
                        <a:solidFill>
                          <a:srgbClr val="000000"/>
                        </a:solidFill>
                        <a:effectLst/>
                        <a:latin typeface="Aptos Narrow" panose="020B0004020202020204" pitchFamily="34" charset="0"/>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EF5F0"/>
                    </a:solidFill>
                  </a:tcPr>
                </a:tc>
                <a:tc>
                  <a:txBody>
                    <a:bodyPr/>
                    <a:lstStyle/>
                    <a:p>
                      <a:pPr algn="ctr" fontAlgn="b">
                        <a:buNone/>
                      </a:pPr>
                      <a:r>
                        <a:rPr lang="en-US" sz="900" u="none" strike="noStrike">
                          <a:effectLst/>
                        </a:rPr>
                        <a:t>Lalitha K</a:t>
                      </a:r>
                      <a:endParaRPr lang="en-US" sz="900" b="0" i="0" u="none" strike="noStrike">
                        <a:solidFill>
                          <a:srgbClr val="000000"/>
                        </a:solidFill>
                        <a:effectLst/>
                        <a:latin typeface="Aptos Narrow" panose="020B0004020202020204" pitchFamily="34" charset="0"/>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EF5F0"/>
                    </a:solidFill>
                  </a:tcPr>
                </a:tc>
                <a:tc>
                  <a:txBody>
                    <a:bodyPr/>
                    <a:lstStyle/>
                    <a:p>
                      <a:pPr algn="ctr" fontAlgn="b">
                        <a:buNone/>
                      </a:pPr>
                      <a:r>
                        <a:rPr lang="en-US" sz="900" u="none" strike="noStrike">
                          <a:effectLst/>
                        </a:rPr>
                        <a:t>Sarah Andrews</a:t>
                      </a:r>
                      <a:endParaRPr lang="en-US" sz="900" b="0" i="0" u="none" strike="noStrike">
                        <a:solidFill>
                          <a:srgbClr val="000000"/>
                        </a:solidFill>
                        <a:effectLst/>
                        <a:latin typeface="Aptos Narrow" panose="020B0004020202020204" pitchFamily="34" charset="0"/>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EF5F0"/>
                    </a:solidFill>
                  </a:tcPr>
                </a:tc>
                <a:tc>
                  <a:txBody>
                    <a:bodyPr/>
                    <a:lstStyle/>
                    <a:p>
                      <a:pPr algn="ctr" fontAlgn="b">
                        <a:buNone/>
                      </a:pPr>
                      <a:r>
                        <a:rPr lang="en-US" sz="900" u="none" strike="noStrike">
                          <a:effectLst/>
                        </a:rPr>
                        <a:t>TBD</a:t>
                      </a:r>
                      <a:endParaRPr lang="en-US" sz="900" b="0" i="0" u="none" strike="noStrike">
                        <a:solidFill>
                          <a:srgbClr val="000000"/>
                        </a:solidFill>
                        <a:effectLst/>
                        <a:latin typeface="Aptos Narrow" panose="020B0004020202020204" pitchFamily="34" charset="0"/>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EF5F0"/>
                    </a:solidFill>
                  </a:tcPr>
                </a:tc>
                <a:tc>
                  <a:txBody>
                    <a:bodyPr/>
                    <a:lstStyle/>
                    <a:p>
                      <a:pPr algn="ctr" fontAlgn="b">
                        <a:buNone/>
                      </a:pPr>
                      <a:endParaRPr lang="en-US" sz="900" b="0" i="0" u="none" strike="noStrike">
                        <a:solidFill>
                          <a:srgbClr val="000000"/>
                        </a:solidFill>
                        <a:effectLst/>
                        <a:latin typeface="Aptos Narrow" panose="020B0004020202020204" pitchFamily="34" charset="0"/>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EF5F0"/>
                    </a:solidFill>
                  </a:tcPr>
                </a:tc>
                <a:tc>
                  <a:txBody>
                    <a:bodyPr/>
                    <a:lstStyle/>
                    <a:p>
                      <a:pPr algn="ctr" fontAlgn="b">
                        <a:buNone/>
                      </a:pPr>
                      <a:endParaRPr lang="en-US" sz="900" b="0" i="0" u="none" strike="noStrike">
                        <a:solidFill>
                          <a:srgbClr val="000000"/>
                        </a:solidFill>
                        <a:effectLst/>
                        <a:latin typeface="Aptos Narrow" panose="020B0004020202020204" pitchFamily="34" charset="0"/>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EF5F0"/>
                    </a:solidFill>
                  </a:tcPr>
                </a:tc>
                <a:extLst>
                  <a:ext uri="{0D108BD9-81ED-4DB2-BD59-A6C34878D82A}">
                    <a16:rowId xmlns:a16="http://schemas.microsoft.com/office/drawing/2014/main" val="2478678738"/>
                  </a:ext>
                </a:extLst>
              </a:tr>
              <a:tr h="182958">
                <a:tc>
                  <a:txBody>
                    <a:bodyPr/>
                    <a:lstStyle/>
                    <a:p>
                      <a:pPr algn="l" fontAlgn="b">
                        <a:buNone/>
                      </a:pPr>
                      <a:r>
                        <a:rPr lang="en-US" sz="900" u="none" strike="noStrike">
                          <a:effectLst/>
                        </a:rPr>
                        <a:t>11/11/2026</a:t>
                      </a:r>
                      <a:endParaRPr lang="en-US" sz="900" b="0" i="0" u="none" strike="noStrike">
                        <a:solidFill>
                          <a:srgbClr val="000000"/>
                        </a:solidFill>
                        <a:effectLst/>
                        <a:latin typeface="Aptos Narrow" panose="020B0004020202020204" pitchFamily="34" charset="0"/>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EF5F0"/>
                    </a:solidFill>
                  </a:tcPr>
                </a:tc>
                <a:tc>
                  <a:txBody>
                    <a:bodyPr/>
                    <a:lstStyle/>
                    <a:p>
                      <a:pPr algn="l" fontAlgn="b">
                        <a:buNone/>
                      </a:pPr>
                      <a:r>
                        <a:rPr lang="en-US" sz="900" u="none" strike="noStrike">
                          <a:effectLst/>
                        </a:rPr>
                        <a:t>Tailwind Phase 1 (Go-Live)</a:t>
                      </a:r>
                      <a:endParaRPr lang="en-US" sz="900" b="0" i="0" u="none" strike="noStrike">
                        <a:solidFill>
                          <a:srgbClr val="000000"/>
                        </a:solidFill>
                        <a:effectLst/>
                        <a:latin typeface="Aptos Narrow" panose="020B0004020202020204" pitchFamily="34" charset="0"/>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EF5F0"/>
                    </a:solidFill>
                  </a:tcPr>
                </a:tc>
                <a:tc>
                  <a:txBody>
                    <a:bodyPr/>
                    <a:lstStyle/>
                    <a:p>
                      <a:pPr algn="ctr" fontAlgn="b">
                        <a:buNone/>
                      </a:pPr>
                      <a:r>
                        <a:rPr lang="en-US" sz="900" u="none" strike="noStrike">
                          <a:effectLst/>
                        </a:rPr>
                        <a:t>Shilpa</a:t>
                      </a:r>
                      <a:endParaRPr lang="en-US" sz="900" b="0" i="0" u="none" strike="noStrike">
                        <a:solidFill>
                          <a:srgbClr val="000000"/>
                        </a:solidFill>
                        <a:effectLst/>
                        <a:latin typeface="Aptos Narrow" panose="020B0004020202020204" pitchFamily="34" charset="0"/>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EF5F0"/>
                    </a:solidFill>
                  </a:tcPr>
                </a:tc>
                <a:tc>
                  <a:txBody>
                    <a:bodyPr/>
                    <a:lstStyle/>
                    <a:p>
                      <a:pPr algn="ctr" fontAlgn="b">
                        <a:buNone/>
                      </a:pPr>
                      <a:r>
                        <a:rPr lang="en-US" sz="900" u="none" strike="noStrike">
                          <a:effectLst/>
                        </a:rPr>
                        <a:t>Dan Clausing</a:t>
                      </a:r>
                      <a:endParaRPr lang="en-US" sz="900" b="0" i="0" u="none" strike="noStrike">
                        <a:solidFill>
                          <a:srgbClr val="000000"/>
                        </a:solidFill>
                        <a:effectLst/>
                        <a:latin typeface="Aptos Narrow" panose="020B0004020202020204" pitchFamily="34" charset="0"/>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EF5F0"/>
                    </a:solidFill>
                  </a:tcPr>
                </a:tc>
                <a:tc>
                  <a:txBody>
                    <a:bodyPr/>
                    <a:lstStyle/>
                    <a:p>
                      <a:pPr algn="ctr" fontAlgn="b">
                        <a:buNone/>
                      </a:pPr>
                      <a:r>
                        <a:rPr lang="en-US" sz="900" u="none" strike="noStrike">
                          <a:effectLst/>
                        </a:rPr>
                        <a:t>TBD</a:t>
                      </a:r>
                      <a:endParaRPr lang="en-US" sz="900" b="0" i="0" u="none" strike="noStrike">
                        <a:solidFill>
                          <a:srgbClr val="000000"/>
                        </a:solidFill>
                        <a:effectLst/>
                        <a:latin typeface="Aptos Narrow" panose="020B0004020202020204" pitchFamily="34" charset="0"/>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EF5F0"/>
                    </a:solidFill>
                  </a:tcPr>
                </a:tc>
                <a:tc>
                  <a:txBody>
                    <a:bodyPr/>
                    <a:lstStyle/>
                    <a:p>
                      <a:pPr algn="ctr" fontAlgn="b">
                        <a:buNone/>
                      </a:pPr>
                      <a:endParaRPr lang="en-US" sz="900" b="0" i="0" u="none" strike="noStrike">
                        <a:solidFill>
                          <a:srgbClr val="000000"/>
                        </a:solidFill>
                        <a:effectLst/>
                        <a:latin typeface="Aptos Narrow" panose="020B0004020202020204" pitchFamily="34" charset="0"/>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EF5F0"/>
                    </a:solidFill>
                  </a:tcPr>
                </a:tc>
                <a:tc>
                  <a:txBody>
                    <a:bodyPr/>
                    <a:lstStyle/>
                    <a:p>
                      <a:pPr algn="ctr" fontAlgn="b">
                        <a:buNone/>
                      </a:pPr>
                      <a:endParaRPr lang="en-US" sz="900" b="0" i="0" u="none" strike="noStrike">
                        <a:solidFill>
                          <a:srgbClr val="000000"/>
                        </a:solidFill>
                        <a:effectLst/>
                        <a:latin typeface="Aptos Narrow" panose="020B0004020202020204" pitchFamily="34" charset="0"/>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EF5F0"/>
                    </a:solidFill>
                  </a:tcPr>
                </a:tc>
                <a:extLst>
                  <a:ext uri="{0D108BD9-81ED-4DB2-BD59-A6C34878D82A}">
                    <a16:rowId xmlns:a16="http://schemas.microsoft.com/office/drawing/2014/main" val="2500911077"/>
                  </a:ext>
                </a:extLst>
              </a:tr>
              <a:tr h="182958">
                <a:tc>
                  <a:txBody>
                    <a:bodyPr/>
                    <a:lstStyle/>
                    <a:p>
                      <a:pPr algn="l" fontAlgn="b">
                        <a:buNone/>
                      </a:pPr>
                      <a:r>
                        <a:rPr lang="en-US" sz="900" u="none" strike="noStrike">
                          <a:effectLst/>
                        </a:rPr>
                        <a:t>11/11/2026</a:t>
                      </a:r>
                      <a:endParaRPr lang="en-US" sz="900" b="0" i="0" u="none" strike="noStrike">
                        <a:solidFill>
                          <a:srgbClr val="000000"/>
                        </a:solidFill>
                        <a:effectLst/>
                        <a:latin typeface="Aptos Narrow" panose="020B0004020202020204" pitchFamily="34" charset="0"/>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EF5F0"/>
                    </a:solidFill>
                  </a:tcPr>
                </a:tc>
                <a:tc>
                  <a:txBody>
                    <a:bodyPr/>
                    <a:lstStyle/>
                    <a:p>
                      <a:pPr algn="l" fontAlgn="b">
                        <a:buNone/>
                      </a:pPr>
                      <a:r>
                        <a:rPr lang="en-US" sz="900" u="none" strike="noStrike">
                          <a:effectLst/>
                        </a:rPr>
                        <a:t>Employer Portal (Go-Live)</a:t>
                      </a:r>
                      <a:endParaRPr lang="en-US" sz="900" b="0" i="0" u="none" strike="noStrike">
                        <a:solidFill>
                          <a:srgbClr val="000000"/>
                        </a:solidFill>
                        <a:effectLst/>
                        <a:latin typeface="Aptos Narrow" panose="020B0004020202020204" pitchFamily="34" charset="0"/>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EF5F0"/>
                    </a:solidFill>
                  </a:tcPr>
                </a:tc>
                <a:tc>
                  <a:txBody>
                    <a:bodyPr/>
                    <a:lstStyle/>
                    <a:p>
                      <a:pPr algn="ctr" fontAlgn="b">
                        <a:buNone/>
                      </a:pPr>
                      <a:r>
                        <a:rPr lang="en-US" sz="900" u="none" strike="noStrike">
                          <a:effectLst/>
                        </a:rPr>
                        <a:t>Ali D </a:t>
                      </a:r>
                      <a:endParaRPr lang="en-US" sz="900" b="0" i="0" u="none" strike="noStrike">
                        <a:solidFill>
                          <a:srgbClr val="000000"/>
                        </a:solidFill>
                        <a:effectLst/>
                        <a:latin typeface="Aptos Narrow" panose="020B0004020202020204" pitchFamily="34" charset="0"/>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EF5F0"/>
                    </a:solidFill>
                  </a:tcPr>
                </a:tc>
                <a:tc>
                  <a:txBody>
                    <a:bodyPr/>
                    <a:lstStyle/>
                    <a:p>
                      <a:pPr algn="ctr" fontAlgn="b">
                        <a:buNone/>
                      </a:pPr>
                      <a:endParaRPr lang="en-US" sz="900" b="0" i="0" u="none" strike="noStrike">
                        <a:solidFill>
                          <a:srgbClr val="000000"/>
                        </a:solidFill>
                        <a:effectLst/>
                        <a:latin typeface="Aptos Narrow" panose="020B0004020202020204" pitchFamily="34" charset="0"/>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EF5F0"/>
                    </a:solidFill>
                  </a:tcPr>
                </a:tc>
                <a:tc>
                  <a:txBody>
                    <a:bodyPr/>
                    <a:lstStyle/>
                    <a:p>
                      <a:pPr algn="ctr" fontAlgn="b">
                        <a:buNone/>
                      </a:pPr>
                      <a:r>
                        <a:rPr lang="en-US" sz="900" u="none" strike="noStrike">
                          <a:effectLst/>
                        </a:rPr>
                        <a:t>TBD</a:t>
                      </a:r>
                      <a:endParaRPr lang="en-US" sz="900" b="0" i="0" u="none" strike="noStrike">
                        <a:solidFill>
                          <a:srgbClr val="000000"/>
                        </a:solidFill>
                        <a:effectLst/>
                        <a:latin typeface="Aptos Narrow" panose="020B0004020202020204" pitchFamily="34" charset="0"/>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EF5F0"/>
                    </a:solidFill>
                  </a:tcPr>
                </a:tc>
                <a:tc>
                  <a:txBody>
                    <a:bodyPr/>
                    <a:lstStyle/>
                    <a:p>
                      <a:pPr algn="ctr" fontAlgn="b">
                        <a:buNone/>
                      </a:pPr>
                      <a:endParaRPr lang="en-US" sz="900" b="0" i="0" u="none" strike="noStrike">
                        <a:solidFill>
                          <a:srgbClr val="000000"/>
                        </a:solidFill>
                        <a:effectLst/>
                        <a:latin typeface="Aptos Narrow" panose="020B0004020202020204" pitchFamily="34" charset="0"/>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EF5F0"/>
                    </a:solidFill>
                  </a:tcPr>
                </a:tc>
                <a:tc>
                  <a:txBody>
                    <a:bodyPr/>
                    <a:lstStyle/>
                    <a:p>
                      <a:pPr algn="ctr" fontAlgn="b">
                        <a:buNone/>
                      </a:pPr>
                      <a:endParaRPr lang="en-US" sz="900" b="0" i="0" u="none" strike="noStrike">
                        <a:solidFill>
                          <a:srgbClr val="000000"/>
                        </a:solidFill>
                        <a:effectLst/>
                        <a:latin typeface="Aptos Narrow" panose="020B0004020202020204" pitchFamily="34" charset="0"/>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EF5F0"/>
                    </a:solidFill>
                  </a:tcPr>
                </a:tc>
                <a:extLst>
                  <a:ext uri="{0D108BD9-81ED-4DB2-BD59-A6C34878D82A}">
                    <a16:rowId xmlns:a16="http://schemas.microsoft.com/office/drawing/2014/main" val="806826658"/>
                  </a:ext>
                </a:extLst>
              </a:tr>
              <a:tr h="182958">
                <a:tc>
                  <a:txBody>
                    <a:bodyPr/>
                    <a:lstStyle/>
                    <a:p>
                      <a:pPr algn="l" fontAlgn="b">
                        <a:buNone/>
                      </a:pPr>
                      <a:r>
                        <a:rPr lang="en-US" sz="900" u="none" strike="noStrike">
                          <a:effectLst/>
                        </a:rPr>
                        <a:t>11/11/2026</a:t>
                      </a:r>
                      <a:endParaRPr lang="en-US" sz="900" b="0" i="0" u="none" strike="noStrike">
                        <a:solidFill>
                          <a:srgbClr val="000000"/>
                        </a:solidFill>
                        <a:effectLst/>
                        <a:latin typeface="Aptos Narrow" panose="020B0004020202020204" pitchFamily="34" charset="0"/>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EF5F0"/>
                    </a:solidFill>
                  </a:tcPr>
                </a:tc>
                <a:tc>
                  <a:txBody>
                    <a:bodyPr/>
                    <a:lstStyle/>
                    <a:p>
                      <a:pPr algn="l" fontAlgn="b">
                        <a:buNone/>
                      </a:pPr>
                      <a:r>
                        <a:rPr lang="en-US" sz="900" u="none" strike="noStrike">
                          <a:effectLst/>
                        </a:rPr>
                        <a:t>Sales Commission Reporting</a:t>
                      </a:r>
                      <a:endParaRPr lang="en-US" sz="900" b="0" i="0" u="none" strike="noStrike">
                        <a:solidFill>
                          <a:srgbClr val="000000"/>
                        </a:solidFill>
                        <a:effectLst/>
                        <a:latin typeface="Aptos Narrow" panose="020B0004020202020204" pitchFamily="34" charset="0"/>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EF5F0"/>
                    </a:solidFill>
                  </a:tcPr>
                </a:tc>
                <a:tc>
                  <a:txBody>
                    <a:bodyPr/>
                    <a:lstStyle/>
                    <a:p>
                      <a:pPr algn="ctr" fontAlgn="b">
                        <a:buNone/>
                      </a:pPr>
                      <a:r>
                        <a:rPr lang="en-US" sz="900" u="none" strike="noStrike">
                          <a:effectLst/>
                        </a:rPr>
                        <a:t>Chalam</a:t>
                      </a:r>
                      <a:endParaRPr lang="en-US" sz="900" b="0" i="0" u="none" strike="noStrike">
                        <a:solidFill>
                          <a:srgbClr val="000000"/>
                        </a:solidFill>
                        <a:effectLst/>
                        <a:latin typeface="Aptos Narrow" panose="020B0004020202020204" pitchFamily="34" charset="0"/>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EF5F0"/>
                    </a:solidFill>
                  </a:tcPr>
                </a:tc>
                <a:tc>
                  <a:txBody>
                    <a:bodyPr/>
                    <a:lstStyle/>
                    <a:p>
                      <a:pPr algn="ctr" fontAlgn="b">
                        <a:buNone/>
                      </a:pPr>
                      <a:r>
                        <a:rPr lang="en-US" sz="900" u="none" strike="noStrike">
                          <a:effectLst/>
                        </a:rPr>
                        <a:t>Ellis Ryan</a:t>
                      </a:r>
                      <a:endParaRPr lang="en-US" sz="900" b="0" i="0" u="none" strike="noStrike">
                        <a:solidFill>
                          <a:srgbClr val="000000"/>
                        </a:solidFill>
                        <a:effectLst/>
                        <a:latin typeface="Aptos Narrow" panose="020B0004020202020204" pitchFamily="34" charset="0"/>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EF5F0"/>
                    </a:solidFill>
                  </a:tcPr>
                </a:tc>
                <a:tc>
                  <a:txBody>
                    <a:bodyPr/>
                    <a:lstStyle/>
                    <a:p>
                      <a:pPr algn="ctr" fontAlgn="b">
                        <a:buNone/>
                      </a:pPr>
                      <a:r>
                        <a:rPr lang="en-US" sz="900" u="none" strike="noStrike">
                          <a:effectLst/>
                        </a:rPr>
                        <a:t>TBD</a:t>
                      </a:r>
                      <a:endParaRPr lang="en-US" sz="900" b="0" i="0" u="none" strike="noStrike">
                        <a:solidFill>
                          <a:srgbClr val="000000"/>
                        </a:solidFill>
                        <a:effectLst/>
                        <a:latin typeface="Aptos Narrow" panose="020B0004020202020204" pitchFamily="34" charset="0"/>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EF5F0"/>
                    </a:solidFill>
                  </a:tcPr>
                </a:tc>
                <a:tc>
                  <a:txBody>
                    <a:bodyPr/>
                    <a:lstStyle/>
                    <a:p>
                      <a:pPr algn="ctr" fontAlgn="b">
                        <a:buNone/>
                      </a:pPr>
                      <a:endParaRPr lang="en-US" sz="900" b="0" i="0" u="none" strike="noStrike">
                        <a:solidFill>
                          <a:srgbClr val="000000"/>
                        </a:solidFill>
                        <a:effectLst/>
                        <a:latin typeface="Aptos Narrow" panose="020B0004020202020204" pitchFamily="34" charset="0"/>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EF5F0"/>
                    </a:solidFill>
                  </a:tcPr>
                </a:tc>
                <a:tc>
                  <a:txBody>
                    <a:bodyPr/>
                    <a:lstStyle/>
                    <a:p>
                      <a:pPr algn="ctr" fontAlgn="b">
                        <a:buNone/>
                      </a:pPr>
                      <a:endParaRPr lang="en-US" sz="900" b="0" i="0" u="none" strike="noStrike">
                        <a:solidFill>
                          <a:srgbClr val="000000"/>
                        </a:solidFill>
                        <a:effectLst/>
                        <a:latin typeface="Aptos Narrow" panose="020B0004020202020204" pitchFamily="34" charset="0"/>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EF5F0"/>
                    </a:solidFill>
                  </a:tcPr>
                </a:tc>
                <a:extLst>
                  <a:ext uri="{0D108BD9-81ED-4DB2-BD59-A6C34878D82A}">
                    <a16:rowId xmlns:a16="http://schemas.microsoft.com/office/drawing/2014/main" val="481490326"/>
                  </a:ext>
                </a:extLst>
              </a:tr>
              <a:tr h="182958">
                <a:tc>
                  <a:txBody>
                    <a:bodyPr/>
                    <a:lstStyle/>
                    <a:p>
                      <a:pPr algn="l" fontAlgn="b">
                        <a:buNone/>
                      </a:pPr>
                      <a:r>
                        <a:rPr lang="en-US" sz="900" u="none" strike="noStrike">
                          <a:effectLst/>
                        </a:rPr>
                        <a:t>11/11/2026</a:t>
                      </a:r>
                      <a:endParaRPr lang="en-US" sz="900" b="0" i="0" u="none" strike="noStrike">
                        <a:solidFill>
                          <a:srgbClr val="000000"/>
                        </a:solidFill>
                        <a:effectLst/>
                        <a:latin typeface="Aptos Narrow" panose="020B0004020202020204" pitchFamily="34" charset="0"/>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EF5F0"/>
                    </a:solidFill>
                  </a:tcPr>
                </a:tc>
                <a:tc>
                  <a:txBody>
                    <a:bodyPr/>
                    <a:lstStyle/>
                    <a:p>
                      <a:pPr algn="l" fontAlgn="b">
                        <a:buNone/>
                      </a:pPr>
                      <a:r>
                        <a:rPr lang="en-US" sz="900" u="none" strike="noStrike">
                          <a:effectLst/>
                        </a:rPr>
                        <a:t>GIN 2026 Update</a:t>
                      </a:r>
                      <a:endParaRPr lang="en-US" sz="900" b="0" i="0" u="none" strike="noStrike">
                        <a:solidFill>
                          <a:srgbClr val="000000"/>
                        </a:solidFill>
                        <a:effectLst/>
                        <a:latin typeface="Aptos Narrow" panose="020B0004020202020204" pitchFamily="34" charset="0"/>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EF5F0"/>
                    </a:solidFill>
                  </a:tcPr>
                </a:tc>
                <a:tc>
                  <a:txBody>
                    <a:bodyPr/>
                    <a:lstStyle/>
                    <a:p>
                      <a:pPr algn="ctr" fontAlgn="b">
                        <a:buNone/>
                      </a:pPr>
                      <a:r>
                        <a:rPr lang="en-US" sz="900" u="none" strike="noStrike">
                          <a:effectLst/>
                        </a:rPr>
                        <a:t>Chalam</a:t>
                      </a:r>
                      <a:endParaRPr lang="en-US" sz="900" b="0" i="0" u="none" strike="noStrike">
                        <a:solidFill>
                          <a:srgbClr val="000000"/>
                        </a:solidFill>
                        <a:effectLst/>
                        <a:latin typeface="Aptos Narrow" panose="020B0004020202020204" pitchFamily="34" charset="0"/>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EF5F0"/>
                    </a:solidFill>
                  </a:tcPr>
                </a:tc>
                <a:tc>
                  <a:txBody>
                    <a:bodyPr/>
                    <a:lstStyle/>
                    <a:p>
                      <a:pPr algn="ctr" fontAlgn="b">
                        <a:buNone/>
                      </a:pPr>
                      <a:r>
                        <a:rPr lang="en-US" sz="900" u="none" strike="noStrike">
                          <a:effectLst/>
                        </a:rPr>
                        <a:t>NA (risk project)</a:t>
                      </a:r>
                      <a:endParaRPr lang="en-US" sz="900" b="0" i="0" u="none" strike="noStrike">
                        <a:solidFill>
                          <a:srgbClr val="000000"/>
                        </a:solidFill>
                        <a:effectLst/>
                        <a:latin typeface="Aptos Narrow" panose="020B0004020202020204" pitchFamily="34" charset="0"/>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EF5F0"/>
                    </a:solidFill>
                  </a:tcPr>
                </a:tc>
                <a:tc>
                  <a:txBody>
                    <a:bodyPr/>
                    <a:lstStyle/>
                    <a:p>
                      <a:pPr algn="ctr" fontAlgn="b">
                        <a:buNone/>
                      </a:pPr>
                      <a:r>
                        <a:rPr lang="en-US" sz="900" u="none" strike="noStrike">
                          <a:effectLst/>
                        </a:rPr>
                        <a:t>TBD</a:t>
                      </a:r>
                      <a:endParaRPr lang="en-US" sz="900" b="0" i="0" u="none" strike="noStrike">
                        <a:solidFill>
                          <a:srgbClr val="000000"/>
                        </a:solidFill>
                        <a:effectLst/>
                        <a:latin typeface="Aptos Narrow" panose="020B0004020202020204" pitchFamily="34" charset="0"/>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EF5F0"/>
                    </a:solidFill>
                  </a:tcPr>
                </a:tc>
                <a:tc>
                  <a:txBody>
                    <a:bodyPr/>
                    <a:lstStyle/>
                    <a:p>
                      <a:pPr algn="ctr" fontAlgn="b">
                        <a:buNone/>
                      </a:pPr>
                      <a:endParaRPr lang="en-US" sz="900" b="0" i="0" u="none" strike="noStrike">
                        <a:solidFill>
                          <a:srgbClr val="000000"/>
                        </a:solidFill>
                        <a:effectLst/>
                        <a:latin typeface="Aptos Narrow" panose="020B0004020202020204" pitchFamily="34" charset="0"/>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EF5F0"/>
                    </a:solidFill>
                  </a:tcPr>
                </a:tc>
                <a:tc>
                  <a:txBody>
                    <a:bodyPr/>
                    <a:lstStyle/>
                    <a:p>
                      <a:pPr algn="ctr" fontAlgn="b">
                        <a:buNone/>
                      </a:pPr>
                      <a:endParaRPr lang="en-US" sz="900" b="0" i="0" u="none" strike="noStrike">
                        <a:solidFill>
                          <a:srgbClr val="000000"/>
                        </a:solidFill>
                        <a:effectLst/>
                        <a:latin typeface="Aptos Narrow" panose="020B0004020202020204" pitchFamily="34" charset="0"/>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EF5F0"/>
                    </a:solidFill>
                  </a:tcPr>
                </a:tc>
                <a:extLst>
                  <a:ext uri="{0D108BD9-81ED-4DB2-BD59-A6C34878D82A}">
                    <a16:rowId xmlns:a16="http://schemas.microsoft.com/office/drawing/2014/main" val="1855251569"/>
                  </a:ext>
                </a:extLst>
              </a:tr>
              <a:tr h="326280">
                <a:tc>
                  <a:txBody>
                    <a:bodyPr/>
                    <a:lstStyle/>
                    <a:p>
                      <a:pPr algn="l" fontAlgn="b">
                        <a:buNone/>
                      </a:pPr>
                      <a:r>
                        <a:rPr lang="en-US" sz="900" u="none" strike="noStrike">
                          <a:effectLst/>
                        </a:rPr>
                        <a:t>11/11/2026</a:t>
                      </a:r>
                      <a:endParaRPr lang="en-US" sz="900" b="0" i="0" u="none" strike="noStrike">
                        <a:solidFill>
                          <a:srgbClr val="000000"/>
                        </a:solidFill>
                        <a:effectLst/>
                        <a:latin typeface="Aptos Narrow" panose="020B0004020202020204" pitchFamily="34" charset="0"/>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EF5F0"/>
                    </a:solidFill>
                  </a:tcPr>
                </a:tc>
                <a:tc>
                  <a:txBody>
                    <a:bodyPr/>
                    <a:lstStyle/>
                    <a:p>
                      <a:pPr algn="l" fontAlgn="b">
                        <a:buNone/>
                      </a:pPr>
                      <a:r>
                        <a:rPr lang="en-US" sz="900" u="none" strike="noStrike">
                          <a:effectLst/>
                        </a:rPr>
                        <a:t>MMPC - Multiple Denial Code Handling Enhancement</a:t>
                      </a:r>
                      <a:endParaRPr lang="en-US" sz="900" b="0" i="0" u="none" strike="noStrike">
                        <a:solidFill>
                          <a:srgbClr val="000000"/>
                        </a:solidFill>
                        <a:effectLst/>
                        <a:latin typeface="Aptos Narrow" panose="020B0004020202020204" pitchFamily="34" charset="0"/>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EF5F0"/>
                    </a:solidFill>
                  </a:tcPr>
                </a:tc>
                <a:tc>
                  <a:txBody>
                    <a:bodyPr/>
                    <a:lstStyle/>
                    <a:p>
                      <a:pPr algn="ctr" fontAlgn="b">
                        <a:buNone/>
                      </a:pPr>
                      <a:r>
                        <a:rPr lang="en-US" sz="900" u="none" strike="noStrike">
                          <a:effectLst/>
                        </a:rPr>
                        <a:t>Kinney B</a:t>
                      </a:r>
                      <a:endParaRPr lang="en-US" sz="900" b="0" i="0" u="none" strike="noStrike">
                        <a:solidFill>
                          <a:srgbClr val="000000"/>
                        </a:solidFill>
                        <a:effectLst/>
                        <a:latin typeface="Aptos Narrow" panose="020B0004020202020204" pitchFamily="34" charset="0"/>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EF5F0"/>
                    </a:solidFill>
                  </a:tcPr>
                </a:tc>
                <a:tc>
                  <a:txBody>
                    <a:bodyPr/>
                    <a:lstStyle/>
                    <a:p>
                      <a:pPr algn="ctr" fontAlgn="b">
                        <a:buNone/>
                      </a:pPr>
                      <a:r>
                        <a:rPr lang="en-US" sz="900" u="none" strike="noStrike">
                          <a:effectLst/>
                        </a:rPr>
                        <a:t>Alex  Suarez</a:t>
                      </a:r>
                      <a:endParaRPr lang="en-US" sz="900" b="0" i="0" u="none" strike="noStrike">
                        <a:solidFill>
                          <a:srgbClr val="000000"/>
                        </a:solidFill>
                        <a:effectLst/>
                        <a:latin typeface="Aptos Narrow" panose="020B0004020202020204" pitchFamily="34" charset="0"/>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EF5F0"/>
                    </a:solidFill>
                  </a:tcPr>
                </a:tc>
                <a:tc>
                  <a:txBody>
                    <a:bodyPr/>
                    <a:lstStyle/>
                    <a:p>
                      <a:pPr algn="ctr" fontAlgn="b">
                        <a:buNone/>
                      </a:pPr>
                      <a:r>
                        <a:rPr lang="en-US" sz="900" u="none" strike="noStrike">
                          <a:effectLst/>
                        </a:rPr>
                        <a:t>TBD</a:t>
                      </a:r>
                      <a:endParaRPr lang="en-US" sz="900" b="0" i="0" u="none" strike="noStrike">
                        <a:solidFill>
                          <a:srgbClr val="000000"/>
                        </a:solidFill>
                        <a:effectLst/>
                        <a:latin typeface="Aptos Narrow" panose="020B0004020202020204" pitchFamily="34" charset="0"/>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EF5F0"/>
                    </a:solidFill>
                  </a:tcPr>
                </a:tc>
                <a:tc>
                  <a:txBody>
                    <a:bodyPr/>
                    <a:lstStyle/>
                    <a:p>
                      <a:pPr algn="ctr" fontAlgn="b">
                        <a:buNone/>
                      </a:pPr>
                      <a:endParaRPr lang="en-US" sz="900" b="0" i="0" u="none" strike="noStrike">
                        <a:solidFill>
                          <a:srgbClr val="000000"/>
                        </a:solidFill>
                        <a:effectLst/>
                        <a:latin typeface="Aptos Narrow" panose="020B0004020202020204" pitchFamily="34" charset="0"/>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EF5F0"/>
                    </a:solidFill>
                  </a:tcPr>
                </a:tc>
                <a:tc>
                  <a:txBody>
                    <a:bodyPr/>
                    <a:lstStyle/>
                    <a:p>
                      <a:pPr algn="ctr" fontAlgn="b">
                        <a:buNone/>
                      </a:pPr>
                      <a:endParaRPr lang="en-US" sz="900" b="0" i="0" u="none" strike="noStrike">
                        <a:solidFill>
                          <a:srgbClr val="000000"/>
                        </a:solidFill>
                        <a:effectLst/>
                        <a:latin typeface="Aptos Narrow" panose="020B0004020202020204" pitchFamily="34" charset="0"/>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EF5F0"/>
                    </a:solidFill>
                  </a:tcPr>
                </a:tc>
                <a:extLst>
                  <a:ext uri="{0D108BD9-81ED-4DB2-BD59-A6C34878D82A}">
                    <a16:rowId xmlns:a16="http://schemas.microsoft.com/office/drawing/2014/main" val="3125944282"/>
                  </a:ext>
                </a:extLst>
              </a:tr>
              <a:tr h="182958">
                <a:tc>
                  <a:txBody>
                    <a:bodyPr/>
                    <a:lstStyle/>
                    <a:p>
                      <a:pPr algn="l" fontAlgn="b">
                        <a:buNone/>
                      </a:pPr>
                      <a:r>
                        <a:rPr lang="en-US" sz="900" u="none" strike="noStrike">
                          <a:effectLst/>
                        </a:rPr>
                        <a:t>11/11/2026</a:t>
                      </a:r>
                      <a:endParaRPr lang="en-US" sz="900" b="0" i="0" u="none" strike="noStrike">
                        <a:solidFill>
                          <a:srgbClr val="000000"/>
                        </a:solidFill>
                        <a:effectLst/>
                        <a:latin typeface="Aptos Narrow" panose="020B0004020202020204" pitchFamily="34" charset="0"/>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EF5F0"/>
                    </a:solidFill>
                  </a:tcPr>
                </a:tc>
                <a:tc>
                  <a:txBody>
                    <a:bodyPr/>
                    <a:lstStyle/>
                    <a:p>
                      <a:pPr algn="l" fontAlgn="b">
                        <a:buNone/>
                      </a:pPr>
                      <a:r>
                        <a:rPr lang="en-US" sz="900" u="none" strike="noStrike">
                          <a:effectLst/>
                        </a:rPr>
                        <a:t>PEC Product &amp; UW Enhancements</a:t>
                      </a:r>
                      <a:endParaRPr lang="en-US" sz="900" b="0" i="0" u="none" strike="noStrike">
                        <a:solidFill>
                          <a:srgbClr val="000000"/>
                        </a:solidFill>
                        <a:effectLst/>
                        <a:latin typeface="Aptos Narrow" panose="020B0004020202020204" pitchFamily="34" charset="0"/>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EF5F0"/>
                    </a:solidFill>
                  </a:tcPr>
                </a:tc>
                <a:tc>
                  <a:txBody>
                    <a:bodyPr/>
                    <a:lstStyle/>
                    <a:p>
                      <a:pPr algn="ctr" fontAlgn="b">
                        <a:buNone/>
                      </a:pPr>
                      <a:r>
                        <a:rPr lang="en-US" sz="900" u="none" strike="noStrike">
                          <a:effectLst/>
                        </a:rPr>
                        <a:t>Kinney B</a:t>
                      </a:r>
                      <a:endParaRPr lang="en-US" sz="900" b="0" i="0" u="none" strike="noStrike">
                        <a:solidFill>
                          <a:srgbClr val="000000"/>
                        </a:solidFill>
                        <a:effectLst/>
                        <a:latin typeface="Aptos Narrow" panose="020B0004020202020204" pitchFamily="34" charset="0"/>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EF5F0"/>
                    </a:solidFill>
                  </a:tcPr>
                </a:tc>
                <a:tc>
                  <a:txBody>
                    <a:bodyPr/>
                    <a:lstStyle/>
                    <a:p>
                      <a:pPr algn="ctr" fontAlgn="b">
                        <a:buNone/>
                      </a:pPr>
                      <a:r>
                        <a:rPr lang="en-US" sz="900" u="none" strike="noStrike">
                          <a:effectLst/>
                        </a:rPr>
                        <a:t>Gary Wilson</a:t>
                      </a:r>
                      <a:endParaRPr lang="en-US" sz="900" b="0" i="0" u="none" strike="noStrike">
                        <a:solidFill>
                          <a:srgbClr val="000000"/>
                        </a:solidFill>
                        <a:effectLst/>
                        <a:latin typeface="Aptos Narrow" panose="020B0004020202020204" pitchFamily="34" charset="0"/>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EF5F0"/>
                    </a:solidFill>
                  </a:tcPr>
                </a:tc>
                <a:tc>
                  <a:txBody>
                    <a:bodyPr/>
                    <a:lstStyle/>
                    <a:p>
                      <a:pPr algn="ctr" fontAlgn="b">
                        <a:buNone/>
                      </a:pPr>
                      <a:r>
                        <a:rPr lang="en-US" sz="900" u="none" strike="noStrike">
                          <a:effectLst/>
                        </a:rPr>
                        <a:t>TBD</a:t>
                      </a:r>
                      <a:endParaRPr lang="en-US" sz="900" b="0" i="0" u="none" strike="noStrike">
                        <a:solidFill>
                          <a:srgbClr val="000000"/>
                        </a:solidFill>
                        <a:effectLst/>
                        <a:latin typeface="Aptos Narrow" panose="020B0004020202020204" pitchFamily="34" charset="0"/>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EF5F0"/>
                    </a:solidFill>
                  </a:tcPr>
                </a:tc>
                <a:tc>
                  <a:txBody>
                    <a:bodyPr/>
                    <a:lstStyle/>
                    <a:p>
                      <a:pPr algn="ctr" fontAlgn="b">
                        <a:buNone/>
                      </a:pPr>
                      <a:endParaRPr lang="en-US" sz="900" b="0" i="0" u="none" strike="noStrike">
                        <a:solidFill>
                          <a:srgbClr val="000000"/>
                        </a:solidFill>
                        <a:effectLst/>
                        <a:latin typeface="Aptos Narrow" panose="020B0004020202020204" pitchFamily="34" charset="0"/>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EF5F0"/>
                    </a:solidFill>
                  </a:tcPr>
                </a:tc>
                <a:tc>
                  <a:txBody>
                    <a:bodyPr/>
                    <a:lstStyle/>
                    <a:p>
                      <a:pPr algn="ctr" fontAlgn="b">
                        <a:buNone/>
                      </a:pPr>
                      <a:endParaRPr lang="en-US" sz="900" b="0" i="0" u="none" strike="noStrike">
                        <a:solidFill>
                          <a:srgbClr val="000000"/>
                        </a:solidFill>
                        <a:effectLst/>
                        <a:latin typeface="Aptos Narrow" panose="020B0004020202020204" pitchFamily="34" charset="0"/>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EF5F0"/>
                    </a:solidFill>
                  </a:tcPr>
                </a:tc>
                <a:extLst>
                  <a:ext uri="{0D108BD9-81ED-4DB2-BD59-A6C34878D82A}">
                    <a16:rowId xmlns:a16="http://schemas.microsoft.com/office/drawing/2014/main" val="2511759832"/>
                  </a:ext>
                </a:extLst>
              </a:tr>
              <a:tr h="182958">
                <a:tc>
                  <a:txBody>
                    <a:bodyPr/>
                    <a:lstStyle/>
                    <a:p>
                      <a:pPr algn="l" fontAlgn="b">
                        <a:buNone/>
                      </a:pPr>
                      <a:r>
                        <a:rPr lang="en-US" sz="900" u="none" strike="noStrike">
                          <a:effectLst/>
                        </a:rPr>
                        <a:t>12/9/2026</a:t>
                      </a:r>
                      <a:endParaRPr lang="en-US" sz="900" b="0" i="0" u="none" strike="noStrike">
                        <a:solidFill>
                          <a:srgbClr val="000000"/>
                        </a:solidFill>
                        <a:effectLst/>
                        <a:latin typeface="Aptos Narrow" panose="020B0004020202020204" pitchFamily="34" charset="0"/>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7FC"/>
                    </a:solidFill>
                  </a:tcPr>
                </a:tc>
                <a:tc>
                  <a:txBody>
                    <a:bodyPr/>
                    <a:lstStyle/>
                    <a:p>
                      <a:pPr algn="l" fontAlgn="b">
                        <a:buNone/>
                      </a:pPr>
                      <a:r>
                        <a:rPr lang="en-US" sz="900" u="none" strike="noStrike">
                          <a:effectLst/>
                        </a:rPr>
                        <a:t>MPPC to MPI</a:t>
                      </a:r>
                      <a:endParaRPr lang="en-US" sz="900" b="0" i="0" u="none" strike="noStrike">
                        <a:solidFill>
                          <a:srgbClr val="000000"/>
                        </a:solidFill>
                        <a:effectLst/>
                        <a:latin typeface="Aptos Narrow" panose="020B0004020202020204" pitchFamily="34" charset="0"/>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7FC"/>
                    </a:solidFill>
                  </a:tcPr>
                </a:tc>
                <a:tc>
                  <a:txBody>
                    <a:bodyPr/>
                    <a:lstStyle/>
                    <a:p>
                      <a:pPr algn="ctr" fontAlgn="b">
                        <a:buNone/>
                      </a:pPr>
                      <a:r>
                        <a:rPr lang="en-US" sz="900" u="none" strike="noStrike">
                          <a:effectLst/>
                        </a:rPr>
                        <a:t>Lalitha K</a:t>
                      </a:r>
                      <a:endParaRPr lang="en-US" sz="900" b="0" i="0" u="none" strike="noStrike">
                        <a:solidFill>
                          <a:srgbClr val="000000"/>
                        </a:solidFill>
                        <a:effectLst/>
                        <a:latin typeface="Aptos Narrow" panose="020B0004020202020204" pitchFamily="34" charset="0"/>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7FC"/>
                    </a:solidFill>
                  </a:tcPr>
                </a:tc>
                <a:tc>
                  <a:txBody>
                    <a:bodyPr/>
                    <a:lstStyle/>
                    <a:p>
                      <a:pPr algn="ctr" fontAlgn="b">
                        <a:buNone/>
                      </a:pPr>
                      <a:r>
                        <a:rPr lang="en-US" sz="900" u="none" strike="noStrike">
                          <a:effectLst/>
                        </a:rPr>
                        <a:t>Gary Wilson</a:t>
                      </a:r>
                      <a:endParaRPr lang="en-US" sz="900" b="0" i="0" u="none" strike="noStrike">
                        <a:solidFill>
                          <a:srgbClr val="000000"/>
                        </a:solidFill>
                        <a:effectLst/>
                        <a:latin typeface="Aptos Narrow" panose="020B0004020202020204" pitchFamily="34" charset="0"/>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7FC"/>
                    </a:solidFill>
                  </a:tcPr>
                </a:tc>
                <a:tc>
                  <a:txBody>
                    <a:bodyPr/>
                    <a:lstStyle/>
                    <a:p>
                      <a:pPr algn="ctr" fontAlgn="b">
                        <a:buNone/>
                      </a:pPr>
                      <a:r>
                        <a:rPr lang="en-US" sz="900" u="none" strike="noStrike">
                          <a:effectLst/>
                        </a:rPr>
                        <a:t>TBD</a:t>
                      </a:r>
                      <a:endParaRPr lang="en-US" sz="900" b="0" i="0" u="none" strike="noStrike">
                        <a:solidFill>
                          <a:srgbClr val="000000"/>
                        </a:solidFill>
                        <a:effectLst/>
                        <a:latin typeface="Aptos Narrow" panose="020B0004020202020204" pitchFamily="34" charset="0"/>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7FC"/>
                    </a:solidFill>
                  </a:tcPr>
                </a:tc>
                <a:tc>
                  <a:txBody>
                    <a:bodyPr/>
                    <a:lstStyle/>
                    <a:p>
                      <a:pPr algn="ctr" fontAlgn="b">
                        <a:buNone/>
                      </a:pPr>
                      <a:endParaRPr lang="en-US" sz="900" b="0" i="0" u="none" strike="noStrike">
                        <a:solidFill>
                          <a:srgbClr val="000000"/>
                        </a:solidFill>
                        <a:effectLst/>
                        <a:latin typeface="Aptos Narrow" panose="020B0004020202020204" pitchFamily="34" charset="0"/>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7FC"/>
                    </a:solidFill>
                  </a:tcPr>
                </a:tc>
                <a:tc>
                  <a:txBody>
                    <a:bodyPr/>
                    <a:lstStyle/>
                    <a:p>
                      <a:pPr algn="ctr" fontAlgn="b">
                        <a:buNone/>
                      </a:pPr>
                      <a:endParaRPr lang="en-US" sz="900" b="0" i="0" u="none" strike="noStrike">
                        <a:solidFill>
                          <a:srgbClr val="000000"/>
                        </a:solidFill>
                        <a:effectLst/>
                        <a:latin typeface="Aptos Narrow" panose="020B0004020202020204" pitchFamily="34" charset="0"/>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7FC"/>
                    </a:solidFill>
                  </a:tcPr>
                </a:tc>
                <a:extLst>
                  <a:ext uri="{0D108BD9-81ED-4DB2-BD59-A6C34878D82A}">
                    <a16:rowId xmlns:a16="http://schemas.microsoft.com/office/drawing/2014/main" val="3978643491"/>
                  </a:ext>
                </a:extLst>
              </a:tr>
              <a:tr h="182958">
                <a:tc>
                  <a:txBody>
                    <a:bodyPr/>
                    <a:lstStyle/>
                    <a:p>
                      <a:pPr algn="l" fontAlgn="b">
                        <a:buNone/>
                      </a:pPr>
                      <a:r>
                        <a:rPr lang="en-US" sz="900" u="none" strike="noStrike">
                          <a:effectLst/>
                        </a:rPr>
                        <a:t>On Hold</a:t>
                      </a:r>
                      <a:endParaRPr lang="en-US" sz="900" b="0" i="0" u="none" strike="noStrike">
                        <a:solidFill>
                          <a:srgbClr val="000000"/>
                        </a:solidFill>
                        <a:effectLst/>
                        <a:latin typeface="Aptos Narrow" panose="020B0004020202020204" pitchFamily="34" charset="0"/>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7FC"/>
                    </a:solidFill>
                  </a:tcPr>
                </a:tc>
                <a:tc>
                  <a:txBody>
                    <a:bodyPr/>
                    <a:lstStyle/>
                    <a:p>
                      <a:pPr algn="l" fontAlgn="b">
                        <a:buNone/>
                      </a:pPr>
                      <a:r>
                        <a:rPr lang="en-US" sz="900" u="none" strike="noStrike">
                          <a:effectLst/>
                        </a:rPr>
                        <a:t>Informatica to Python</a:t>
                      </a:r>
                      <a:endParaRPr lang="en-US" sz="900" b="0" i="0" u="none" strike="noStrike">
                        <a:solidFill>
                          <a:srgbClr val="000000"/>
                        </a:solidFill>
                        <a:effectLst/>
                        <a:latin typeface="Aptos Narrow" panose="020B0004020202020204" pitchFamily="34" charset="0"/>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7FC"/>
                    </a:solidFill>
                  </a:tcPr>
                </a:tc>
                <a:tc>
                  <a:txBody>
                    <a:bodyPr/>
                    <a:lstStyle/>
                    <a:p>
                      <a:pPr algn="ctr" fontAlgn="b">
                        <a:buNone/>
                      </a:pPr>
                      <a:r>
                        <a:rPr lang="en-US" sz="900" u="none" strike="noStrike">
                          <a:effectLst/>
                        </a:rPr>
                        <a:t>Chalam</a:t>
                      </a:r>
                      <a:endParaRPr lang="en-US" sz="900" b="0" i="0" u="none" strike="noStrike">
                        <a:solidFill>
                          <a:srgbClr val="000000"/>
                        </a:solidFill>
                        <a:effectLst/>
                        <a:latin typeface="Aptos Narrow" panose="020B0004020202020204" pitchFamily="34" charset="0"/>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7FC"/>
                    </a:solidFill>
                  </a:tcPr>
                </a:tc>
                <a:tc>
                  <a:txBody>
                    <a:bodyPr/>
                    <a:lstStyle/>
                    <a:p>
                      <a:pPr algn="ctr" fontAlgn="b">
                        <a:buNone/>
                      </a:pPr>
                      <a:r>
                        <a:rPr lang="en-US" sz="900" u="none" strike="noStrike">
                          <a:effectLst/>
                        </a:rPr>
                        <a:t>NA (risk project)</a:t>
                      </a:r>
                      <a:endParaRPr lang="en-US" sz="900" b="0" i="0" u="none" strike="noStrike">
                        <a:solidFill>
                          <a:srgbClr val="000000"/>
                        </a:solidFill>
                        <a:effectLst/>
                        <a:latin typeface="Aptos Narrow" panose="020B0004020202020204" pitchFamily="34" charset="0"/>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7FC"/>
                    </a:solidFill>
                  </a:tcPr>
                </a:tc>
                <a:tc>
                  <a:txBody>
                    <a:bodyPr/>
                    <a:lstStyle/>
                    <a:p>
                      <a:pPr algn="ctr" fontAlgn="b">
                        <a:buNone/>
                      </a:pPr>
                      <a:endParaRPr lang="en-US" sz="900" b="0" i="0" u="none" strike="noStrike">
                        <a:solidFill>
                          <a:srgbClr val="000000"/>
                        </a:solidFill>
                        <a:effectLst/>
                        <a:latin typeface="Aptos Narrow" panose="020B0004020202020204" pitchFamily="34" charset="0"/>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7FC"/>
                    </a:solidFill>
                  </a:tcPr>
                </a:tc>
                <a:tc>
                  <a:txBody>
                    <a:bodyPr/>
                    <a:lstStyle/>
                    <a:p>
                      <a:pPr algn="ctr" fontAlgn="b">
                        <a:buNone/>
                      </a:pPr>
                      <a:endParaRPr lang="en-US" sz="900" b="0" i="0" u="none" strike="noStrike">
                        <a:solidFill>
                          <a:srgbClr val="000000"/>
                        </a:solidFill>
                        <a:effectLst/>
                        <a:latin typeface="Aptos Narrow" panose="020B0004020202020204" pitchFamily="34" charset="0"/>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7FC"/>
                    </a:solidFill>
                  </a:tcPr>
                </a:tc>
                <a:tc>
                  <a:txBody>
                    <a:bodyPr/>
                    <a:lstStyle/>
                    <a:p>
                      <a:pPr algn="ctr" fontAlgn="b">
                        <a:buNone/>
                      </a:pPr>
                      <a:endParaRPr lang="en-US" sz="900" b="0" i="0" u="none" strike="noStrike">
                        <a:solidFill>
                          <a:srgbClr val="000000"/>
                        </a:solidFill>
                        <a:effectLst/>
                        <a:latin typeface="Aptos Narrow" panose="020B0004020202020204" pitchFamily="34" charset="0"/>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7FC"/>
                    </a:solidFill>
                  </a:tcPr>
                </a:tc>
                <a:extLst>
                  <a:ext uri="{0D108BD9-81ED-4DB2-BD59-A6C34878D82A}">
                    <a16:rowId xmlns:a16="http://schemas.microsoft.com/office/drawing/2014/main" val="576475158"/>
                  </a:ext>
                </a:extLst>
              </a:tr>
              <a:tr h="182958">
                <a:tc>
                  <a:txBody>
                    <a:bodyPr/>
                    <a:lstStyle/>
                    <a:p>
                      <a:pPr algn="l" fontAlgn="b">
                        <a:buNone/>
                      </a:pPr>
                      <a:r>
                        <a:rPr lang="en-US" sz="900" u="none" strike="noStrike">
                          <a:effectLst/>
                        </a:rPr>
                        <a:t>12/9/2026</a:t>
                      </a:r>
                      <a:endParaRPr lang="en-US" sz="900" b="0" i="0" u="none" strike="noStrike">
                        <a:solidFill>
                          <a:srgbClr val="000000"/>
                        </a:solidFill>
                        <a:effectLst/>
                        <a:latin typeface="Aptos Narrow" panose="020B0004020202020204" pitchFamily="34" charset="0"/>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7FC"/>
                    </a:solidFill>
                  </a:tcPr>
                </a:tc>
                <a:tc>
                  <a:txBody>
                    <a:bodyPr/>
                    <a:lstStyle/>
                    <a:p>
                      <a:pPr algn="l" fontAlgn="b">
                        <a:buNone/>
                      </a:pPr>
                      <a:r>
                        <a:rPr lang="en-US" sz="900" u="none" strike="noStrike">
                          <a:effectLst/>
                        </a:rPr>
                        <a:t>Employer Portal (Post Prod-Support)</a:t>
                      </a:r>
                      <a:endParaRPr lang="en-US" sz="900" b="0" i="0" u="none" strike="noStrike">
                        <a:solidFill>
                          <a:srgbClr val="000000"/>
                        </a:solidFill>
                        <a:effectLst/>
                        <a:latin typeface="Aptos Narrow" panose="020B0004020202020204" pitchFamily="34" charset="0"/>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7FC"/>
                    </a:solidFill>
                  </a:tcPr>
                </a:tc>
                <a:tc>
                  <a:txBody>
                    <a:bodyPr/>
                    <a:lstStyle/>
                    <a:p>
                      <a:pPr algn="ctr" fontAlgn="b">
                        <a:buNone/>
                      </a:pPr>
                      <a:r>
                        <a:rPr lang="en-US" sz="900" u="none" strike="noStrike">
                          <a:effectLst/>
                        </a:rPr>
                        <a:t>Ali D </a:t>
                      </a:r>
                      <a:endParaRPr lang="en-US" sz="900" b="0" i="0" u="none" strike="noStrike">
                        <a:solidFill>
                          <a:srgbClr val="000000"/>
                        </a:solidFill>
                        <a:effectLst/>
                        <a:latin typeface="Aptos Narrow" panose="020B0004020202020204" pitchFamily="34" charset="0"/>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7FC"/>
                    </a:solidFill>
                  </a:tcPr>
                </a:tc>
                <a:tc>
                  <a:txBody>
                    <a:bodyPr/>
                    <a:lstStyle/>
                    <a:p>
                      <a:pPr algn="ctr" fontAlgn="b">
                        <a:buNone/>
                      </a:pPr>
                      <a:endParaRPr lang="en-US" sz="900" b="0" i="0" u="none" strike="noStrike">
                        <a:solidFill>
                          <a:srgbClr val="000000"/>
                        </a:solidFill>
                        <a:effectLst/>
                        <a:latin typeface="Aptos Narrow" panose="020B0004020202020204" pitchFamily="34" charset="0"/>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7FC"/>
                    </a:solidFill>
                  </a:tcPr>
                </a:tc>
                <a:tc>
                  <a:txBody>
                    <a:bodyPr/>
                    <a:lstStyle/>
                    <a:p>
                      <a:pPr algn="ctr" fontAlgn="b">
                        <a:buNone/>
                      </a:pPr>
                      <a:r>
                        <a:rPr lang="en-US" sz="900" u="none" strike="noStrike">
                          <a:effectLst/>
                        </a:rPr>
                        <a:t>TBD</a:t>
                      </a:r>
                      <a:endParaRPr lang="en-US" sz="900" b="0" i="0" u="none" strike="noStrike">
                        <a:solidFill>
                          <a:srgbClr val="000000"/>
                        </a:solidFill>
                        <a:effectLst/>
                        <a:latin typeface="Aptos Narrow" panose="020B0004020202020204" pitchFamily="34" charset="0"/>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7FC"/>
                    </a:solidFill>
                  </a:tcPr>
                </a:tc>
                <a:tc>
                  <a:txBody>
                    <a:bodyPr/>
                    <a:lstStyle/>
                    <a:p>
                      <a:pPr algn="ctr" fontAlgn="b">
                        <a:buNone/>
                      </a:pPr>
                      <a:endParaRPr lang="en-US" sz="900" b="0" i="0" u="none" strike="noStrike">
                        <a:solidFill>
                          <a:srgbClr val="000000"/>
                        </a:solidFill>
                        <a:effectLst/>
                        <a:latin typeface="Aptos Narrow" panose="020B0004020202020204" pitchFamily="34" charset="0"/>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7FC"/>
                    </a:solidFill>
                  </a:tcPr>
                </a:tc>
                <a:tc>
                  <a:txBody>
                    <a:bodyPr/>
                    <a:lstStyle/>
                    <a:p>
                      <a:pPr algn="ctr" fontAlgn="b">
                        <a:buNone/>
                      </a:pPr>
                      <a:endParaRPr lang="en-US" sz="900" b="0" i="0" u="none" strike="noStrike">
                        <a:solidFill>
                          <a:srgbClr val="000000"/>
                        </a:solidFill>
                        <a:effectLst/>
                        <a:latin typeface="Aptos Narrow" panose="020B0004020202020204" pitchFamily="34" charset="0"/>
                      </a:endParaRPr>
                    </a:p>
                  </a:txBody>
                  <a:tcPr marL="5238" marR="5238" marT="523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7FC"/>
                    </a:solidFill>
                  </a:tcPr>
                </a:tc>
                <a:extLst>
                  <a:ext uri="{0D108BD9-81ED-4DB2-BD59-A6C34878D82A}">
                    <a16:rowId xmlns:a16="http://schemas.microsoft.com/office/drawing/2014/main" val="1059792196"/>
                  </a:ext>
                </a:extLst>
              </a:tr>
            </a:tbl>
          </a:graphicData>
        </a:graphic>
      </p:graphicFrame>
    </p:spTree>
    <p:extLst>
      <p:ext uri="{BB962C8B-B14F-4D97-AF65-F5344CB8AC3E}">
        <p14:creationId xmlns:p14="http://schemas.microsoft.com/office/powerpoint/2010/main" val="81754852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C514A4-C523-37A8-903D-FD6BA0FC3688}"/>
            </a:ext>
          </a:extLst>
        </p:cNvPr>
        <p:cNvGrpSpPr/>
        <p:nvPr/>
      </p:nvGrpSpPr>
      <p:grpSpPr>
        <a:xfrm>
          <a:off x="0" y="0"/>
          <a:ext cx="0" cy="0"/>
          <a:chOff x="0" y="0"/>
          <a:chExt cx="0" cy="0"/>
        </a:xfrm>
      </p:grpSpPr>
      <p:graphicFrame>
        <p:nvGraphicFramePr>
          <p:cNvPr id="3" name="Table 26">
            <a:extLst>
              <a:ext uri="{FF2B5EF4-FFF2-40B4-BE49-F238E27FC236}">
                <a16:creationId xmlns:a16="http://schemas.microsoft.com/office/drawing/2014/main" id="{B8690847-D2B0-A832-1C3F-0D915A7BFF26}"/>
              </a:ext>
            </a:extLst>
          </p:cNvPr>
          <p:cNvGraphicFramePr>
            <a:graphicFrameLocks noGrp="1"/>
          </p:cNvGraphicFramePr>
          <p:nvPr>
            <p:extLst>
              <p:ext uri="{D42A27DB-BD31-4B8C-83A1-F6EECF244321}">
                <p14:modId xmlns:p14="http://schemas.microsoft.com/office/powerpoint/2010/main" val="497917810"/>
              </p:ext>
            </p:extLst>
          </p:nvPr>
        </p:nvGraphicFramePr>
        <p:xfrm>
          <a:off x="81007" y="0"/>
          <a:ext cx="12191238" cy="6694182"/>
        </p:xfrm>
        <a:graphic>
          <a:graphicData uri="http://schemas.openxmlformats.org/drawingml/2006/table">
            <a:tbl>
              <a:tblPr>
                <a:tableStyleId>{5C22544A-7EE6-4342-B048-85BDC9FD1C3A}</a:tableStyleId>
              </a:tblPr>
              <a:tblGrid>
                <a:gridCol w="272510">
                  <a:extLst>
                    <a:ext uri="{9D8B030D-6E8A-4147-A177-3AD203B41FA5}">
                      <a16:colId xmlns:a16="http://schemas.microsoft.com/office/drawing/2014/main" val="2525420652"/>
                    </a:ext>
                  </a:extLst>
                </a:gridCol>
                <a:gridCol w="5039992">
                  <a:extLst>
                    <a:ext uri="{9D8B030D-6E8A-4147-A177-3AD203B41FA5}">
                      <a16:colId xmlns:a16="http://schemas.microsoft.com/office/drawing/2014/main" val="590107795"/>
                    </a:ext>
                  </a:extLst>
                </a:gridCol>
                <a:gridCol w="2405088">
                  <a:extLst>
                    <a:ext uri="{9D8B030D-6E8A-4147-A177-3AD203B41FA5}">
                      <a16:colId xmlns:a16="http://schemas.microsoft.com/office/drawing/2014/main" val="2967749251"/>
                    </a:ext>
                  </a:extLst>
                </a:gridCol>
                <a:gridCol w="771091">
                  <a:extLst>
                    <a:ext uri="{9D8B030D-6E8A-4147-A177-3AD203B41FA5}">
                      <a16:colId xmlns:a16="http://schemas.microsoft.com/office/drawing/2014/main" val="237713812"/>
                    </a:ext>
                  </a:extLst>
                </a:gridCol>
                <a:gridCol w="900890">
                  <a:extLst>
                    <a:ext uri="{9D8B030D-6E8A-4147-A177-3AD203B41FA5}">
                      <a16:colId xmlns:a16="http://schemas.microsoft.com/office/drawing/2014/main" val="1948340634"/>
                    </a:ext>
                  </a:extLst>
                </a:gridCol>
                <a:gridCol w="740579">
                  <a:extLst>
                    <a:ext uri="{9D8B030D-6E8A-4147-A177-3AD203B41FA5}">
                      <a16:colId xmlns:a16="http://schemas.microsoft.com/office/drawing/2014/main" val="1706538460"/>
                    </a:ext>
                  </a:extLst>
                </a:gridCol>
                <a:gridCol w="179978">
                  <a:extLst>
                    <a:ext uri="{9D8B030D-6E8A-4147-A177-3AD203B41FA5}">
                      <a16:colId xmlns:a16="http://schemas.microsoft.com/office/drawing/2014/main" val="3409914011"/>
                    </a:ext>
                  </a:extLst>
                </a:gridCol>
                <a:gridCol w="995270">
                  <a:extLst>
                    <a:ext uri="{9D8B030D-6E8A-4147-A177-3AD203B41FA5}">
                      <a16:colId xmlns:a16="http://schemas.microsoft.com/office/drawing/2014/main" val="932551106"/>
                    </a:ext>
                  </a:extLst>
                </a:gridCol>
                <a:gridCol w="885840">
                  <a:extLst>
                    <a:ext uri="{9D8B030D-6E8A-4147-A177-3AD203B41FA5}">
                      <a16:colId xmlns:a16="http://schemas.microsoft.com/office/drawing/2014/main" val="1827904607"/>
                    </a:ext>
                  </a:extLst>
                </a:gridCol>
              </a:tblGrid>
              <a:tr h="557900">
                <a:tc gridSpan="3">
                  <a:txBody>
                    <a:bodyPr/>
                    <a:lstStyle/>
                    <a:p>
                      <a:pPr marL="0" marR="0" lvl="0" indent="0" algn="l" defTabSz="914400" rtl="0" eaLnBrk="1" fontAlgn="auto" latinLnBrk="0" hangingPunct="1">
                        <a:lnSpc>
                          <a:spcPct val="105000"/>
                        </a:lnSpc>
                        <a:spcBef>
                          <a:spcPts val="0"/>
                        </a:spcBef>
                        <a:spcAft>
                          <a:spcPts val="0"/>
                        </a:spcAft>
                        <a:buClrTx/>
                        <a:buSzTx/>
                        <a:buFont typeface="Calibri" panose="020F0502020204030204" pitchFamily="34" charset="0"/>
                        <a:buNone/>
                        <a:tabLst/>
                        <a:defRPr/>
                      </a:pPr>
                      <a:r>
                        <a:rPr lang="en-US" sz="2400" b="1">
                          <a:solidFill>
                            <a:schemeClr val="bg1"/>
                          </a:solidFill>
                          <a:effectLst/>
                          <a:latin typeface="+mn-lt"/>
                          <a:cs typeface="Arial"/>
                        </a:rPr>
                        <a:t>Nationwide Financial Portfolio Project Detail: Pet (8/26)</a:t>
                      </a:r>
                    </a:p>
                  </a:txBody>
                  <a:tcPr marL="90535" marR="905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47BB"/>
                    </a:solidFill>
                  </a:tcPr>
                </a:tc>
                <a:tc hMerge="1">
                  <a:txBody>
                    <a:bodyPr/>
                    <a:lstStyle/>
                    <a:p>
                      <a:pPr marL="0" marR="0" lvl="0" indent="0">
                        <a:lnSpc>
                          <a:spcPct val="105000"/>
                        </a:lnSpc>
                        <a:spcBef>
                          <a:spcPts val="0"/>
                        </a:spcBef>
                        <a:spcAft>
                          <a:spcPts val="0"/>
                        </a:spcAft>
                        <a:buFont typeface="Calibri" panose="020F0502020204030204" pitchFamily="34" charset="0"/>
                        <a:buNone/>
                      </a:pPr>
                      <a:r>
                        <a:rPr lang="en-US" sz="2400" b="1">
                          <a:solidFill>
                            <a:schemeClr val="bg1"/>
                          </a:solidFill>
                          <a:effectLst/>
                          <a:latin typeface="+mn-lt"/>
                          <a:ea typeface="Times New Roman" panose="02020603050405020304" pitchFamily="18" charset="0"/>
                          <a:cs typeface="Arial"/>
                        </a:rPr>
                        <a:t>Personal Lines $2M+ Project Detail</a:t>
                      </a:r>
                      <a:endParaRPr lang="en-US" sz="2400" b="1">
                        <a:solidFill>
                          <a:schemeClr val="bg1"/>
                        </a:solidFill>
                        <a:effectLst/>
                        <a:latin typeface="+mn-lt"/>
                        <a:ea typeface="Calibri" panose="020F0502020204030204" pitchFamily="34" charset="0"/>
                        <a:cs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47BB"/>
                    </a:solidFill>
                  </a:tcPr>
                </a:tc>
                <a:tc hMerge="1">
                  <a:txBody>
                    <a:bodyPr/>
                    <a:lstStyle/>
                    <a:p>
                      <a:endParaRPr lang="en-US"/>
                    </a:p>
                  </a:txBody>
                  <a:tcPr>
                    <a:lnL w="12700" cap="flat" cmpd="sng" algn="ctr">
                      <a:solidFill>
                        <a:schemeClr val="tx1"/>
                      </a:solidFill>
                      <a:prstDash val="solid"/>
                      <a:round/>
                      <a:headEnd type="none" w="med" len="med"/>
                      <a:tailEnd type="none" w="med" len="med"/>
                    </a:lnL>
                  </a:tcPr>
                </a:tc>
                <a:tc gridSpan="3">
                  <a:txBody>
                    <a:bodyPr/>
                    <a:lstStyle/>
                    <a:p>
                      <a:pPr marL="0" marR="0" lvl="0" indent="0" algn="ctr">
                        <a:lnSpc>
                          <a:spcPct val="105000"/>
                        </a:lnSpc>
                        <a:spcBef>
                          <a:spcPts val="0"/>
                        </a:spcBef>
                        <a:spcAft>
                          <a:spcPts val="0"/>
                        </a:spcAft>
                        <a:buFont typeface="Calibri" panose="020F0502020204030204" pitchFamily="34" charset="0"/>
                        <a:buNone/>
                      </a:pPr>
                      <a:r>
                        <a:rPr lang="en-US" sz="1100" b="1">
                          <a:solidFill>
                            <a:schemeClr val="bg1"/>
                          </a:solidFill>
                          <a:effectLst/>
                          <a:latin typeface="Arial"/>
                          <a:cs typeface="Arial"/>
                        </a:rPr>
                        <a:t>SLT Sponsor:  Joel Carnes / Misty Kuamoo</a:t>
                      </a:r>
                    </a:p>
                  </a:txBody>
                  <a:tcPr marL="90535" marR="905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c hMerge="1">
                  <a:txBody>
                    <a:bodyPr/>
                    <a:lstStyle/>
                    <a:p>
                      <a:endParaRPr lang="en-US"/>
                    </a:p>
                  </a:txBody>
                  <a:tcPr>
                    <a:lnL w="12700" cap="flat" cmpd="sng" algn="ctr">
                      <a:solidFill>
                        <a:schemeClr val="tx1"/>
                      </a:solidFill>
                      <a:prstDash val="solid"/>
                      <a:round/>
                      <a:headEnd type="none" w="med" len="med"/>
                      <a:tailEnd type="none" w="med" len="med"/>
                    </a:lnL>
                  </a:tcPr>
                </a:tc>
                <a:tc hMerge="1">
                  <a:txBody>
                    <a:bodyPr/>
                    <a:lstStyle/>
                    <a:p>
                      <a:endParaRPr lang="en-US"/>
                    </a:p>
                  </a:txBody>
                  <a:tcPr>
                    <a:lnL w="12700" cap="flat" cmpd="sng" algn="ctr">
                      <a:solidFill>
                        <a:schemeClr val="tx1"/>
                      </a:solidFill>
                      <a:prstDash val="solid"/>
                      <a:round/>
                      <a:headEnd type="none" w="med" len="med"/>
                      <a:tailEnd type="none" w="med" len="med"/>
                    </a:lnL>
                  </a:tcPr>
                </a:tc>
                <a:tc gridSpan="3">
                  <a:txBody>
                    <a:bodyPr/>
                    <a:lstStyle/>
                    <a:p>
                      <a:pPr algn="ctr"/>
                      <a:r>
                        <a:rPr lang="en-US" sz="1100" b="1">
                          <a:solidFill>
                            <a:schemeClr val="bg1"/>
                          </a:solidFill>
                          <a:latin typeface="Arial"/>
                          <a:cs typeface="Arial"/>
                        </a:rPr>
                        <a:t>Execution Owner:  Andromeda Thompson / Braden Love</a:t>
                      </a:r>
                    </a:p>
                  </a:txBody>
                  <a:tcPr marL="90535" marR="905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c hMerge="1">
                  <a:txBody>
                    <a:bodyPr/>
                    <a:lstStyle/>
                    <a:p>
                      <a:endParaRPr lang="en-US"/>
                    </a:p>
                  </a:txBody>
                  <a:tcPr>
                    <a:lnL w="12700" cap="flat" cmpd="sng" algn="ctr">
                      <a:solidFill>
                        <a:schemeClr val="tx1"/>
                      </a:solidFill>
                      <a:prstDash val="solid"/>
                      <a:round/>
                      <a:headEnd type="none" w="med" len="med"/>
                      <a:tailEnd type="none" w="med" len="med"/>
                    </a:lnL>
                  </a:tcPr>
                </a:tc>
                <a:tc hMerge="1">
                  <a:txBody>
                    <a:bodyPr/>
                    <a:lstStyle/>
                    <a:p>
                      <a:pPr marL="0" marR="0" lvl="0" indent="0">
                        <a:lnSpc>
                          <a:spcPct val="105000"/>
                        </a:lnSpc>
                        <a:spcBef>
                          <a:spcPts val="0"/>
                        </a:spcBef>
                        <a:spcAft>
                          <a:spcPts val="0"/>
                        </a:spcAft>
                        <a:buFont typeface="Calibri" panose="020F0502020204030204" pitchFamily="34" charset="0"/>
                        <a:buNone/>
                      </a:pPr>
                      <a:endParaRPr lang="en-US" sz="2400" b="1">
                        <a:solidFill>
                          <a:schemeClr val="bg1"/>
                        </a:solidFill>
                        <a:effectLst/>
                        <a:latin typeface="+mn-lt"/>
                        <a:cs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47BB"/>
                    </a:solidFill>
                  </a:tcPr>
                </a:tc>
                <a:extLst>
                  <a:ext uri="{0D108BD9-81ED-4DB2-BD59-A6C34878D82A}">
                    <a16:rowId xmlns:a16="http://schemas.microsoft.com/office/drawing/2014/main" val="1308997112"/>
                  </a:ext>
                </a:extLst>
              </a:tr>
              <a:tr h="71525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b="1" i="0">
                          <a:solidFill>
                            <a:schemeClr val="tx1"/>
                          </a:solidFill>
                          <a:latin typeface="Arial"/>
                          <a:ea typeface="Calibri"/>
                          <a:cs typeface="Arial"/>
                        </a:rPr>
                        <a:t>Y</a:t>
                      </a:r>
                    </a:p>
                  </a:txBody>
                  <a:tcPr marL="95153" marR="95153"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lvl="0" algn="l" fontAlgn="b"/>
                      <a:r>
                        <a:rPr lang="en-US" sz="1800" b="1" i="0" u="none" strike="noStrike" kern="1200">
                          <a:solidFill>
                            <a:schemeClr val="dk1"/>
                          </a:solidFill>
                          <a:effectLst/>
                          <a:latin typeface="+mn-lt"/>
                          <a:ea typeface="+mn-ea"/>
                          <a:cs typeface="+mn-cs"/>
                        </a:rPr>
                        <a:t>Pet Portfolio (Pet Platform Transformation) incl. Payroll Experience &amp; Partner Portal</a:t>
                      </a:r>
                      <a:endParaRPr lang="en-US" sz="1400" b="1" i="0" u="none" strike="noStrike">
                        <a:solidFill>
                          <a:srgbClr val="000000"/>
                        </a:solidFill>
                        <a:effectLst/>
                        <a:latin typeface="Arial"/>
                        <a:cs typeface="Arial"/>
                      </a:endParaRPr>
                    </a:p>
                  </a:txBody>
                  <a:tcPr marL="95153" marR="9911"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14300" marR="0" lvl="0" indent="-11430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black"/>
                          </a:solidFill>
                          <a:effectLst/>
                          <a:uLnTx/>
                          <a:uFillTx/>
                          <a:latin typeface="Arial"/>
                          <a:cs typeface="Arial"/>
                        </a:rPr>
                        <a:t>Capabilities:</a:t>
                      </a:r>
                      <a:r>
                        <a:rPr kumimoji="0" lang="en-US" sz="1100" b="1" i="0" u="none" strike="noStrike" kern="1200" cap="none" spc="0" normalizeH="0" baseline="0" noProof="0">
                          <a:ln>
                            <a:noFill/>
                          </a:ln>
                          <a:solidFill>
                            <a:prstClr val="black"/>
                          </a:solidFill>
                          <a:effectLst/>
                          <a:uLnTx/>
                          <a:uFillTx/>
                          <a:latin typeface="+mn-lt"/>
                          <a:cs typeface="Calibri"/>
                        </a:rPr>
                        <a:t> </a:t>
                      </a:r>
                    </a:p>
                    <a:p>
                      <a:pPr marL="0" marR="0" lvl="0" indent="0"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100" b="0" i="0" u="none" strike="noStrike" kern="1200" cap="none" spc="0" normalizeH="0" baseline="0" noProof="0">
                          <a:ln>
                            <a:noFill/>
                          </a:ln>
                          <a:solidFill>
                            <a:prstClr val="black"/>
                          </a:solidFill>
                          <a:effectLst/>
                          <a:uLnTx/>
                          <a:uFillTx/>
                          <a:latin typeface="+mn-lt"/>
                          <a:cs typeface="Calibri"/>
                        </a:rPr>
                        <a:t>Modernizing policy administration, billing and claims system</a:t>
                      </a:r>
                    </a:p>
                  </a:txBody>
                  <a:tcPr marL="90535" marR="9053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1" i="0" kern="1200">
                          <a:solidFill>
                            <a:schemeClr val="tx1"/>
                          </a:solidFill>
                          <a:latin typeface="Arial"/>
                          <a:ea typeface="+mn-ea"/>
                          <a:cs typeface="Arial"/>
                        </a:rPr>
                        <a:t>Scope:</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1" i="0" kern="1200">
                          <a:solidFill>
                            <a:schemeClr val="tx1"/>
                          </a:solidFill>
                          <a:latin typeface="Arial"/>
                          <a:ea typeface="+mn-ea"/>
                          <a:cs typeface="Arial"/>
                        </a:rPr>
                        <a:t>G</a:t>
                      </a:r>
                    </a:p>
                  </a:txBody>
                  <a:tcPr marL="95153" marR="9515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AD47"/>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1" i="0" kern="1200">
                          <a:solidFill>
                            <a:schemeClr val="tx1"/>
                          </a:solidFill>
                          <a:latin typeface="Arial"/>
                          <a:ea typeface="+mn-ea"/>
                          <a:cs typeface="Arial"/>
                        </a:rPr>
                        <a:t>Schedule:</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1" i="0" kern="1200">
                          <a:solidFill>
                            <a:schemeClr val="tx1"/>
                          </a:solidFill>
                          <a:latin typeface="Arial"/>
                          <a:ea typeface="+mn-ea"/>
                          <a:cs typeface="Arial"/>
                        </a:rPr>
                        <a:t>Y</a:t>
                      </a:r>
                    </a:p>
                  </a:txBody>
                  <a:tcPr marL="95153" marR="9515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1" i="0" kern="1200">
                          <a:solidFill>
                            <a:schemeClr val="tx1"/>
                          </a:solidFill>
                          <a:latin typeface="Arial"/>
                          <a:ea typeface="+mn-ea"/>
                          <a:cs typeface="Arial"/>
                        </a:rPr>
                        <a:t>Budget: </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1" i="0">
                          <a:solidFill>
                            <a:schemeClr val="tx1"/>
                          </a:solidFill>
                          <a:latin typeface="Arial"/>
                          <a:cs typeface="Arial"/>
                        </a:rPr>
                        <a:t>G</a:t>
                      </a:r>
                    </a:p>
                  </a:txBody>
                  <a:tcPr marL="95153" marR="9515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tc hMerge="1">
                  <a:txBody>
                    <a:bodyPr/>
                    <a:lstStyle/>
                    <a:p>
                      <a:pPr marL="0" marR="0" lvl="0" indent="0" algn="ctr" defTabSz="914400" rtl="0" eaLnBrk="1" fontAlgn="auto" latinLnBrk="0" hangingPunct="1">
                        <a:lnSpc>
                          <a:spcPct val="100000"/>
                        </a:lnSpc>
                        <a:spcBef>
                          <a:spcPts val="1800"/>
                        </a:spcBef>
                        <a:spcAft>
                          <a:spcPts val="0"/>
                        </a:spcAft>
                        <a:buClrTx/>
                        <a:buSzTx/>
                        <a:buFontTx/>
                        <a:buNone/>
                        <a:tabLst/>
                        <a:defRPr/>
                      </a:pPr>
                      <a:endParaRPr lang="en-US" sz="1100" b="1" i="0">
                        <a:solidFill>
                          <a:schemeClr val="tx1"/>
                        </a:solidFill>
                        <a:latin typeface="Arial"/>
                        <a:cs typeface="Arial"/>
                      </a:endParaRPr>
                    </a:p>
                  </a:txBody>
                  <a:tcPr marL="95153" marR="9515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1" i="0" kern="1200">
                          <a:solidFill>
                            <a:schemeClr val="tx1"/>
                          </a:solidFill>
                          <a:latin typeface="Arial"/>
                          <a:ea typeface="+mn-ea"/>
                          <a:cs typeface="Arial"/>
                        </a:rPr>
                        <a:t>Actual / Forecast:</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1" i="0" kern="1200">
                          <a:solidFill>
                            <a:schemeClr val="tx1"/>
                          </a:solidFill>
                          <a:latin typeface="Arial"/>
                          <a:ea typeface="+mn-ea"/>
                          <a:cs typeface="Arial"/>
                        </a:rPr>
                        <a:t>G</a:t>
                      </a:r>
                    </a:p>
                  </a:txBody>
                  <a:tcPr marL="95153" marR="9515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1" i="0" kern="1200">
                          <a:solidFill>
                            <a:schemeClr val="tx1"/>
                          </a:solidFill>
                          <a:latin typeface="Arial"/>
                          <a:ea typeface="+mn-ea"/>
                          <a:cs typeface="Arial"/>
                        </a:rPr>
                        <a:t>Biz Case On-Track: </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1" i="0" kern="1200">
                          <a:solidFill>
                            <a:schemeClr val="tx1"/>
                          </a:solidFill>
                          <a:latin typeface="Arial"/>
                          <a:ea typeface="+mn-ea"/>
                          <a:cs typeface="Arial"/>
                        </a:rPr>
                        <a:t>Yes</a:t>
                      </a:r>
                    </a:p>
                  </a:txBody>
                  <a:tcPr marL="95153" marR="9515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extLst>
                  <a:ext uri="{0D108BD9-81ED-4DB2-BD59-A6C34878D82A}">
                    <a16:rowId xmlns:a16="http://schemas.microsoft.com/office/drawing/2014/main" val="3402274444"/>
                  </a:ext>
                </a:extLst>
              </a:tr>
              <a:tr h="257492">
                <a:tc gridSpan="9">
                  <a:txBody>
                    <a:bodyPr/>
                    <a:lstStyle/>
                    <a:p>
                      <a:pPr algn="l"/>
                      <a:r>
                        <a:rPr lang="en-US" sz="1200" b="1" kern="1200">
                          <a:solidFill>
                            <a:schemeClr val="tx1"/>
                          </a:solidFill>
                          <a:latin typeface="Arial"/>
                          <a:ea typeface="+mn-ea"/>
                          <a:cs typeface="Arial"/>
                        </a:rPr>
                        <a:t>Business Case Outcome: </a:t>
                      </a:r>
                      <a:r>
                        <a:rPr lang="en-US" sz="1200" b="0" i="0" kern="1200">
                          <a:solidFill>
                            <a:schemeClr val="dk1"/>
                          </a:solidFill>
                          <a:effectLst/>
                          <a:latin typeface="Arial"/>
                          <a:ea typeface="+mn-ea"/>
                          <a:cs typeface="Arial"/>
                        </a:rPr>
                        <a:t>Platform Modernization - Pricing sophistication, integration capabilities, &amp; technology risk mitigation</a:t>
                      </a:r>
                      <a:endParaRPr lang="en-US" sz="1200" b="0" i="1">
                        <a:solidFill>
                          <a:schemeClr val="tx1"/>
                        </a:solidFill>
                        <a:latin typeface="Arial"/>
                        <a:cs typeface="Arial"/>
                      </a:endParaRPr>
                    </a:p>
                  </a:txBody>
                  <a:tcPr marL="90535" marR="9053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1" i="0" kern="1200">
                          <a:solidFill>
                            <a:schemeClr val="tx1"/>
                          </a:solidFill>
                          <a:latin typeface="+mn-lt"/>
                          <a:ea typeface="+mn-ea"/>
                          <a:cs typeface="Arial"/>
                        </a:rPr>
                        <a:t>Business Case Outcome: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US"/>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1" i="0">
                          <a:solidFill>
                            <a:schemeClr val="tx1"/>
                          </a:solidFill>
                          <a:latin typeface="+mn-lt"/>
                          <a:cs typeface="Arial" panose="020B0604020202020204" pitchFamily="34" charset="0"/>
                        </a:rPr>
                        <a:t>X</a:t>
                      </a: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hMerge="1">
                  <a:txBody>
                    <a:bodyPr/>
                    <a:lstStyle/>
                    <a:p>
                      <a:endParaRPr lang="en-US"/>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hMerge="1">
                  <a:txBody>
                    <a:bodyPr/>
                    <a:lstStyle/>
                    <a:p>
                      <a:endParaRPr lang="en-US"/>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hMerge="1">
                  <a:txBody>
                    <a:bodyPr/>
                    <a:lstStyle/>
                    <a:p>
                      <a:endParaRPr lang="en-US"/>
                    </a:p>
                  </a:txBody>
                  <a:tcPr>
                    <a:lnT w="12700" cap="flat" cmpd="sng" algn="ctr">
                      <a:solidFill>
                        <a:schemeClr val="tx1"/>
                      </a:solidFill>
                      <a:prstDash val="solid"/>
                      <a:round/>
                      <a:headEnd type="none" w="med" len="med"/>
                      <a:tailEnd type="none" w="med" len="med"/>
                    </a:lnT>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1" i="0">
                          <a:solidFill>
                            <a:schemeClr val="tx1"/>
                          </a:solidFill>
                          <a:latin typeface="+mn-lt"/>
                          <a:cs typeface="Arial" panose="020B0604020202020204" pitchFamily="34" charset="0"/>
                        </a:rPr>
                        <a:t>X</a:t>
                      </a: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100" b="1" i="0">
                        <a:solidFill>
                          <a:schemeClr val="tx1"/>
                        </a:solidFill>
                        <a:latin typeface="Arial" panose="020B0604020202020204" pitchFamily="34" charset="0"/>
                        <a:cs typeface="Arial" panose="020B0604020202020204" pitchFamily="34" charset="0"/>
                      </a:endParaRPr>
                    </a:p>
                  </a:txBody>
                  <a:tcP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80770179"/>
                  </a:ext>
                </a:extLst>
              </a:tr>
              <a:tr h="257492">
                <a:tc gridSpan="2">
                  <a:txBody>
                    <a:bodyPr/>
                    <a:lstStyle/>
                    <a:p>
                      <a:pPr marL="0" marR="0" lvl="0" indent="0" algn="l" rtl="0" eaLnBrk="1" fontAlgn="auto" latinLnBrk="0" hangingPunct="1">
                        <a:lnSpc>
                          <a:spcPct val="100000"/>
                        </a:lnSpc>
                        <a:spcBef>
                          <a:spcPts val="0"/>
                        </a:spcBef>
                        <a:spcAft>
                          <a:spcPts val="0"/>
                        </a:spcAft>
                        <a:buClrTx/>
                        <a:buSzTx/>
                        <a:buFontTx/>
                        <a:buNone/>
                      </a:pPr>
                      <a:r>
                        <a:rPr lang="en-US" sz="1200" b="1" i="0" kern="1200">
                          <a:solidFill>
                            <a:schemeClr val="tx1"/>
                          </a:solidFill>
                          <a:latin typeface="Arial"/>
                          <a:ea typeface="+mn-ea"/>
                          <a:cs typeface="Arial"/>
                        </a:rPr>
                        <a:t>Prior Key Milestones Delivered: &lt;30-60-90&gt;</a:t>
                      </a:r>
                    </a:p>
                  </a:txBody>
                  <a:tcPr marL="90535" marR="9053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hMerge="1">
                  <a:txBody>
                    <a:bodyPr/>
                    <a:lstStyle/>
                    <a:p>
                      <a:endParaRPr lang="en-US"/>
                    </a:p>
                  </a:txBody>
                  <a:tcPr/>
                </a:tc>
                <a:tc gridSpan="7">
                  <a:txBody>
                    <a:bodyPr/>
                    <a:lstStyle/>
                    <a:p>
                      <a:r>
                        <a:rPr lang="en-US" sz="1200" b="1" i="0" u="none" strike="noStrike">
                          <a:solidFill>
                            <a:srgbClr val="000000"/>
                          </a:solidFill>
                          <a:effectLst/>
                          <a:latin typeface="Arial"/>
                          <a:cs typeface="Arial"/>
                        </a:rPr>
                        <a:t>Next Key </a:t>
                      </a:r>
                      <a:r>
                        <a:rPr lang="en-US" sz="1200" b="1" i="0" kern="1200">
                          <a:solidFill>
                            <a:schemeClr val="tx1"/>
                          </a:solidFill>
                          <a:latin typeface="Arial"/>
                          <a:ea typeface="+mn-ea"/>
                          <a:cs typeface="Arial"/>
                        </a:rPr>
                        <a:t>Milestones</a:t>
                      </a:r>
                      <a:r>
                        <a:rPr lang="en-US" sz="1200" b="1" i="0" u="none" strike="noStrike">
                          <a:solidFill>
                            <a:srgbClr val="000000"/>
                          </a:solidFill>
                          <a:effectLst/>
                          <a:latin typeface="Arial"/>
                          <a:cs typeface="Arial"/>
                        </a:rPr>
                        <a:t> Planned: </a:t>
                      </a:r>
                      <a:r>
                        <a:rPr lang="en-US" sz="1200" b="1" i="0" kern="1200">
                          <a:solidFill>
                            <a:schemeClr val="tx1"/>
                          </a:solidFill>
                          <a:latin typeface="Arial"/>
                          <a:ea typeface="+mn-ea"/>
                          <a:cs typeface="Arial"/>
                        </a:rPr>
                        <a:t>&lt;30-60-90&gt;</a:t>
                      </a:r>
                      <a:endParaRPr lang="en-US">
                        <a:latin typeface="Arial"/>
                        <a:cs typeface="Arial"/>
                      </a:endParaRPr>
                    </a:p>
                  </a:txBody>
                  <a:tcPr marL="90535" marR="9053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hMerge="1">
                  <a:txBody>
                    <a:bodyPr/>
                    <a:lstStyle/>
                    <a:p>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hMerge="1">
                  <a:txBody>
                    <a:bodyPr/>
                    <a:lstStyle/>
                    <a:p>
                      <a:endParaRPr lang="en-US"/>
                    </a:p>
                  </a:txBody>
                  <a:tcPr>
                    <a:lnL w="12700" cap="flat" cmpd="sng" algn="ctr">
                      <a:solidFill>
                        <a:schemeClr val="tx1"/>
                      </a:solidFill>
                      <a:prstDash val="solid"/>
                      <a:round/>
                      <a:headEnd type="none" w="med" len="med"/>
                      <a:tailEnd type="none" w="med" len="med"/>
                    </a:lnL>
                  </a:tcPr>
                </a:tc>
                <a:tc hMerge="1">
                  <a:txBody>
                    <a:bodyPr/>
                    <a:lstStyle/>
                    <a:p>
                      <a:endParaRPr lang="en-US"/>
                    </a:p>
                  </a:txBody>
                  <a:tcPr>
                    <a:lnL w="12700" cap="flat" cmpd="sng" algn="ctr">
                      <a:solidFill>
                        <a:schemeClr val="tx1"/>
                      </a:solidFill>
                      <a:prstDash val="solid"/>
                      <a:round/>
                      <a:headEnd type="none" w="med" len="med"/>
                      <a:tailEnd type="none" w="med" len="med"/>
                    </a:lnL>
                  </a:tcPr>
                </a:tc>
                <a:tc hMerge="1">
                  <a:txBody>
                    <a:bodyPr/>
                    <a:lstStyle/>
                    <a:p>
                      <a:endParaRPr lang="en-US"/>
                    </a:p>
                  </a:txBody>
                  <a:tcPr/>
                </a:tc>
                <a:tc hMerge="1">
                  <a:txBody>
                    <a:bodyPr/>
                    <a:lstStyle/>
                    <a:p>
                      <a:endParaRPr lang="en-US"/>
                    </a:p>
                  </a:txBody>
                  <a:tcPr>
                    <a:lnT w="12700" cap="flat" cmpd="sng" algn="ctr">
                      <a:solidFill>
                        <a:schemeClr val="tx1"/>
                      </a:solidFill>
                      <a:prstDash val="solid"/>
                      <a:round/>
                      <a:headEnd type="none" w="med" len="med"/>
                      <a:tailEnd type="none" w="med" len="med"/>
                    </a:lnT>
                  </a:tcPr>
                </a:tc>
                <a:tc hMerge="1">
                  <a:txBody>
                    <a:bodyPr/>
                    <a:lstStyle/>
                    <a:p>
                      <a:endParaRPr lang="en-US"/>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526505692"/>
                  </a:ext>
                </a:extLst>
              </a:tr>
              <a:tr h="3581400">
                <a:tc gridSpan="2">
                  <a:txBody>
                    <a:bodyPr/>
                    <a:lstStyle/>
                    <a:p>
                      <a:pPr marL="0" indent="0" algn="l">
                        <a:lnSpc>
                          <a:spcPct val="100000"/>
                        </a:lnSpc>
                        <a:spcBef>
                          <a:spcPts val="0"/>
                        </a:spcBef>
                        <a:spcAft>
                          <a:spcPts val="0"/>
                        </a:spcAft>
                        <a:buFont typeface="Arial" panose="020B0604020202020204" pitchFamily="34" charset="0"/>
                        <a:buNone/>
                      </a:pPr>
                      <a:r>
                        <a:rPr lang="en-US" sz="800" b="1">
                          <a:solidFill>
                            <a:srgbClr val="171717"/>
                          </a:solidFill>
                          <a:latin typeface="Arial" panose="020B0604020202020204" pitchFamily="34" charset="0"/>
                          <a:cs typeface="Arial" panose="020B0604020202020204" pitchFamily="34" charset="0"/>
                        </a:rPr>
                        <a:t>Program status: Yellow. </a:t>
                      </a:r>
                      <a:r>
                        <a:rPr lang="en-US" sz="800">
                          <a:solidFill>
                            <a:srgbClr val="000000"/>
                          </a:solidFill>
                          <a:latin typeface="Arial" panose="020B0604020202020204" pitchFamily="34" charset="0"/>
                          <a:cs typeface="Arial" panose="020B0604020202020204" pitchFamily="34" charset="0"/>
                        </a:rPr>
                        <a:t>Program remains on an executable path; however, Employer Portal schedule contingency has been fully consumed, requiring active risk mitigation to maintain target delivery dates.</a:t>
                      </a:r>
                    </a:p>
                    <a:p>
                      <a:pPr marL="0" indent="0" algn="l">
                        <a:lnSpc>
                          <a:spcPct val="100000"/>
                        </a:lnSpc>
                        <a:spcBef>
                          <a:spcPts val="0"/>
                        </a:spcBef>
                        <a:spcAft>
                          <a:spcPts val="0"/>
                        </a:spcAft>
                        <a:buFont typeface="Arial" panose="020B0604020202020204" pitchFamily="34" charset="0"/>
                        <a:buNone/>
                      </a:pPr>
                      <a:r>
                        <a:rPr lang="en-US" sz="800" b="1">
                          <a:solidFill>
                            <a:srgbClr val="171717"/>
                          </a:solidFill>
                          <a:latin typeface="Arial" panose="020B0604020202020204" pitchFamily="34" charset="0"/>
                          <a:cs typeface="Arial" panose="020B0604020202020204" pitchFamily="34" charset="0"/>
                        </a:rPr>
                        <a:t>Employer Portal: </a:t>
                      </a:r>
                    </a:p>
                    <a:p>
                      <a:pPr marL="628650" lvl="1" indent="-171450" algn="l">
                        <a:lnSpc>
                          <a:spcPct val="100000"/>
                        </a:lnSpc>
                        <a:spcBef>
                          <a:spcPts val="0"/>
                        </a:spcBef>
                        <a:spcAft>
                          <a:spcPts val="0"/>
                        </a:spcAft>
                        <a:buFont typeface="Arial" panose="020B0604020202020204" pitchFamily="34" charset="0"/>
                        <a:buChar char="•"/>
                      </a:pPr>
                      <a:r>
                        <a:rPr lang="en-US" sz="800" b="0">
                          <a:solidFill>
                            <a:srgbClr val="171717"/>
                          </a:solidFill>
                          <a:latin typeface="Arial" panose="020B0604020202020204" pitchFamily="34" charset="0"/>
                          <a:cs typeface="Arial" panose="020B0604020202020204" pitchFamily="34" charset="0"/>
                        </a:rPr>
                        <a:t>Bundle 4 completed, and the first production dark launch was successfully executed.</a:t>
                      </a:r>
                    </a:p>
                    <a:p>
                      <a:pPr marL="628650" lvl="1" indent="-171450" algn="l">
                        <a:lnSpc>
                          <a:spcPct val="100000"/>
                        </a:lnSpc>
                        <a:spcBef>
                          <a:spcPts val="0"/>
                        </a:spcBef>
                        <a:spcAft>
                          <a:spcPts val="0"/>
                        </a:spcAft>
                        <a:buFont typeface="Arial" panose="020B0604020202020204" pitchFamily="34" charset="0"/>
                        <a:buChar char="•"/>
                      </a:pPr>
                      <a:r>
                        <a:rPr lang="en-US" sz="800" b="0">
                          <a:solidFill>
                            <a:srgbClr val="171717"/>
                          </a:solidFill>
                          <a:latin typeface="Arial" panose="020B0604020202020204" pitchFamily="34" charset="0"/>
                          <a:cs typeface="Arial" panose="020B0604020202020204" pitchFamily="34" charset="0"/>
                        </a:rPr>
                        <a:t>Bundle 5 and 6 schedule at risk due to scope change.</a:t>
                      </a:r>
                    </a:p>
                    <a:p>
                      <a:pPr marL="0" lvl="0" indent="0" algn="l">
                        <a:lnSpc>
                          <a:spcPct val="100000"/>
                        </a:lnSpc>
                        <a:spcBef>
                          <a:spcPts val="0"/>
                        </a:spcBef>
                        <a:spcAft>
                          <a:spcPts val="0"/>
                        </a:spcAft>
                        <a:buFont typeface="Arial" panose="020B0604020202020204" pitchFamily="34" charset="0"/>
                        <a:buNone/>
                      </a:pPr>
                      <a:r>
                        <a:rPr lang="en-US" sz="800" b="1">
                          <a:solidFill>
                            <a:srgbClr val="171717"/>
                          </a:solidFill>
                          <a:latin typeface="Arial" panose="020B0604020202020204" pitchFamily="34" charset="0"/>
                          <a:cs typeface="Arial" panose="020B0604020202020204" pitchFamily="34" charset="0"/>
                        </a:rPr>
                        <a:t>Payroll Billing Defects: </a:t>
                      </a:r>
                    </a:p>
                    <a:p>
                      <a:pPr marL="628650" lvl="1" indent="-171450" algn="l">
                        <a:lnSpc>
                          <a:spcPct val="100000"/>
                        </a:lnSpc>
                        <a:spcBef>
                          <a:spcPts val="0"/>
                        </a:spcBef>
                        <a:spcAft>
                          <a:spcPts val="0"/>
                        </a:spcAft>
                        <a:buFont typeface="Arial" panose="020B0604020202020204" pitchFamily="34" charset="0"/>
                        <a:buChar char="•"/>
                      </a:pPr>
                      <a:r>
                        <a:rPr lang="en-US" sz="800">
                          <a:solidFill>
                            <a:srgbClr val="000000"/>
                          </a:solidFill>
                          <a:latin typeface="Arial" panose="020B0604020202020204" pitchFamily="34" charset="0"/>
                          <a:cs typeface="Arial" panose="020B0604020202020204" pitchFamily="34" charset="0"/>
                        </a:rPr>
                        <a:t>Trending Green. Wave 2 was deployed to production on 8/19, one day ahead of plan. Wave 1 was previously deployed.</a:t>
                      </a:r>
                    </a:p>
                    <a:p>
                      <a:pPr marL="0" lvl="0" indent="0" algn="l">
                        <a:lnSpc>
                          <a:spcPct val="100000"/>
                        </a:lnSpc>
                        <a:spcBef>
                          <a:spcPts val="0"/>
                        </a:spcBef>
                        <a:spcAft>
                          <a:spcPts val="0"/>
                        </a:spcAft>
                        <a:buFont typeface="Arial" panose="020B0604020202020204" pitchFamily="34" charset="0"/>
                        <a:buNone/>
                      </a:pPr>
                      <a:r>
                        <a:rPr lang="en-US" sz="800" b="1">
                          <a:solidFill>
                            <a:srgbClr val="171717"/>
                          </a:solidFill>
                          <a:latin typeface="Arial" panose="020B0604020202020204" pitchFamily="34" charset="0"/>
                          <a:cs typeface="Arial" panose="020B0604020202020204" pitchFamily="34" charset="0"/>
                        </a:rPr>
                        <a:t>Policy Migration: </a:t>
                      </a:r>
                    </a:p>
                    <a:p>
                      <a:pPr marL="628650" lvl="1" indent="-171450">
                        <a:spcAft>
                          <a:spcPts val="100"/>
                        </a:spcAft>
                        <a:buFont typeface="Arial" panose="020B0604020202020204" pitchFamily="34" charset="0"/>
                        <a:buChar char="•"/>
                      </a:pPr>
                      <a:r>
                        <a:rPr lang="en-US" sz="800">
                          <a:solidFill>
                            <a:srgbClr val="000000"/>
                          </a:solidFill>
                          <a:latin typeface="Arial" panose="020B0604020202020204" pitchFamily="34" charset="0"/>
                          <a:cs typeface="Arial" panose="020B0604020202020204" pitchFamily="34" charset="0"/>
                        </a:rPr>
                        <a:t>PA and MD releases deployed; validation is underway</a:t>
                      </a:r>
                    </a:p>
                    <a:p>
                      <a:pPr marL="628650" lvl="1" indent="-171450">
                        <a:spcAft>
                          <a:spcPts val="100"/>
                        </a:spcAft>
                        <a:buFont typeface="Arial" panose="020B0604020202020204" pitchFamily="34" charset="0"/>
                        <a:buChar char="•"/>
                      </a:pPr>
                      <a:r>
                        <a:rPr lang="en-US" sz="800">
                          <a:solidFill>
                            <a:srgbClr val="000000"/>
                          </a:solidFill>
                          <a:latin typeface="Arial" panose="020B0604020202020204" pitchFamily="34" charset="0"/>
                          <a:cs typeface="Arial" panose="020B0604020202020204" pitchFamily="34" charset="0"/>
                        </a:rPr>
                        <a:t>Manual Migration discovery has begun. The SOW is currently in development</a:t>
                      </a:r>
                    </a:p>
                    <a:p>
                      <a:pPr algn="l">
                        <a:lnSpc>
                          <a:spcPct val="100000"/>
                        </a:lnSpc>
                        <a:spcBef>
                          <a:spcPts val="0"/>
                        </a:spcBef>
                        <a:spcAft>
                          <a:spcPts val="0"/>
                        </a:spcAft>
                      </a:pPr>
                      <a:r>
                        <a:rPr lang="en-US" sz="800" b="1">
                          <a:solidFill>
                            <a:srgbClr val="171717"/>
                          </a:solidFill>
                          <a:latin typeface="Arial" panose="020B0604020202020204" pitchFamily="34" charset="0"/>
                          <a:cs typeface="Arial" panose="020B0604020202020204" pitchFamily="34" charset="0"/>
                        </a:rPr>
                        <a:t>Major Medical:  </a:t>
                      </a:r>
                    </a:p>
                    <a:p>
                      <a:pPr marL="628650" lvl="1" indent="-171450" algn="l">
                        <a:lnSpc>
                          <a:spcPct val="100000"/>
                        </a:lnSpc>
                        <a:spcBef>
                          <a:spcPts val="0"/>
                        </a:spcBef>
                        <a:spcAft>
                          <a:spcPts val="0"/>
                        </a:spcAft>
                        <a:buFont typeface="Arial" panose="020B0604020202020204" pitchFamily="34" charset="0"/>
                        <a:buChar char="•"/>
                      </a:pPr>
                      <a:r>
                        <a:rPr lang="en-US" sz="800">
                          <a:solidFill>
                            <a:srgbClr val="000000"/>
                          </a:solidFill>
                          <a:latin typeface="Arial" panose="020B0604020202020204" pitchFamily="34" charset="0"/>
                          <a:cs typeface="Arial" panose="020B0604020202020204" pitchFamily="34" charset="0"/>
                        </a:rPr>
                        <a:t>Development is in progress. Resource capacity constraints may impact the schedule</a:t>
                      </a:r>
                    </a:p>
                    <a:p>
                      <a:pPr marL="0" marR="0" lvl="0" indent="0" algn="l" defTabSz="914400" rtl="0" eaLnBrk="1" fontAlgn="auto" latinLnBrk="0" hangingPunct="1">
                        <a:lnSpc>
                          <a:spcPct val="100000"/>
                        </a:lnSpc>
                        <a:spcBef>
                          <a:spcPts val="0"/>
                        </a:spcBef>
                        <a:spcAft>
                          <a:spcPts val="100"/>
                        </a:spcAft>
                        <a:buClrTx/>
                        <a:buSzTx/>
                        <a:buFont typeface="Arial" panose="020B0604020202020204" pitchFamily="34" charset="0"/>
                        <a:buNone/>
                        <a:tabLst/>
                        <a:defRPr/>
                      </a:pPr>
                      <a:endParaRPr lang="en-US" sz="800" b="1">
                        <a:solidFill>
                          <a:srgbClr val="000000"/>
                        </a:solidFill>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100"/>
                        </a:spcAft>
                        <a:buClrTx/>
                        <a:buSzTx/>
                        <a:buFont typeface="Arial" panose="020B0604020202020204" pitchFamily="34" charset="0"/>
                        <a:buNone/>
                        <a:tabLst/>
                        <a:defRPr/>
                      </a:pPr>
                      <a:r>
                        <a:rPr lang="en-US" sz="800" b="1">
                          <a:solidFill>
                            <a:srgbClr val="000000"/>
                          </a:solidFill>
                          <a:latin typeface="Arial" panose="020B0604020202020204" pitchFamily="34" charset="0"/>
                          <a:cs typeface="Arial" panose="020B0604020202020204" pitchFamily="34" charset="0"/>
                        </a:rPr>
                        <a:t>NY/Unapproved State Product Build: </a:t>
                      </a:r>
                      <a:r>
                        <a:rPr lang="en-US" sz="800" b="0">
                          <a:solidFill>
                            <a:srgbClr val="000000"/>
                          </a:solidFill>
                          <a:latin typeface="Arial" panose="020B0604020202020204" pitchFamily="34" charset="0"/>
                          <a:cs typeface="Arial" panose="020B0604020202020204" pitchFamily="34" charset="0"/>
                        </a:rPr>
                        <a:t>SOW development underway with Cognizant</a:t>
                      </a:r>
                    </a:p>
                    <a:p>
                      <a:pPr marL="0" marR="0" lvl="0" indent="0" algn="l" defTabSz="914400" rtl="0" eaLnBrk="1" fontAlgn="auto" latinLnBrk="0" hangingPunct="1">
                        <a:lnSpc>
                          <a:spcPct val="100000"/>
                        </a:lnSpc>
                        <a:spcBef>
                          <a:spcPts val="0"/>
                        </a:spcBef>
                        <a:spcAft>
                          <a:spcPts val="100"/>
                        </a:spcAft>
                        <a:buClrTx/>
                        <a:buSzTx/>
                        <a:buFont typeface="Arial" panose="020B0604020202020204" pitchFamily="34" charset="0"/>
                        <a:buNone/>
                        <a:tabLst/>
                        <a:defRPr/>
                      </a:pPr>
                      <a:r>
                        <a:rPr lang="en-US" sz="800" b="1">
                          <a:solidFill>
                            <a:srgbClr val="000000"/>
                          </a:solidFill>
                          <a:latin typeface="Arial" panose="020B0604020202020204" pitchFamily="34" charset="0"/>
                          <a:cs typeface="Arial" panose="020B0604020202020204" pitchFamily="34" charset="0"/>
                        </a:rPr>
                        <a:t>MM-to-MM :  </a:t>
                      </a:r>
                      <a:r>
                        <a:rPr lang="en-US" sz="800" b="0">
                          <a:solidFill>
                            <a:srgbClr val="171717"/>
                          </a:solidFill>
                          <a:latin typeface="Arial" panose="020B0604020202020204" pitchFamily="34" charset="0"/>
                          <a:cs typeface="Arial" panose="020B0604020202020204" pitchFamily="34" charset="0"/>
                        </a:rPr>
                        <a:t>SOW development underway with ITS</a:t>
                      </a:r>
                    </a:p>
                    <a:p>
                      <a:pPr marL="0" marR="0" lvl="0" indent="0" algn="l" defTabSz="914400" rtl="0" eaLnBrk="1" fontAlgn="auto" latinLnBrk="0" hangingPunct="1">
                        <a:lnSpc>
                          <a:spcPct val="100000"/>
                        </a:lnSpc>
                        <a:spcBef>
                          <a:spcPts val="0"/>
                        </a:spcBef>
                        <a:spcAft>
                          <a:spcPts val="100"/>
                        </a:spcAft>
                        <a:buClrTx/>
                        <a:buSzTx/>
                        <a:buFont typeface="Arial" panose="020B0604020202020204" pitchFamily="34" charset="0"/>
                        <a:buNone/>
                        <a:tabLst/>
                        <a:defRPr/>
                      </a:pPr>
                      <a:endParaRPr lang="en-US" sz="800" b="1">
                        <a:solidFill>
                          <a:srgbClr val="000000"/>
                        </a:solidFill>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100"/>
                        </a:spcAft>
                        <a:buClrTx/>
                        <a:buSzTx/>
                        <a:buFont typeface="Arial" panose="020B0604020202020204" pitchFamily="34" charset="0"/>
                        <a:buNone/>
                        <a:tabLst/>
                        <a:defRPr/>
                      </a:pPr>
                      <a:r>
                        <a:rPr lang="en-US" sz="800" b="1">
                          <a:solidFill>
                            <a:srgbClr val="000000"/>
                          </a:solidFill>
                          <a:latin typeface="Arial" panose="020B0604020202020204" pitchFamily="34" charset="0"/>
                          <a:cs typeface="Arial" panose="020B0604020202020204" pitchFamily="34" charset="0"/>
                        </a:rPr>
                        <a:t>Conversions progress (as of 8/19) </a:t>
                      </a:r>
                      <a:r>
                        <a:rPr lang="en-US" sz="800" i="1">
                          <a:solidFill>
                            <a:srgbClr val="000000"/>
                          </a:solidFill>
                          <a:latin typeface="Arial" panose="020B0604020202020204" pitchFamily="34" charset="0"/>
                          <a:cs typeface="Arial" panose="020B0604020202020204" pitchFamily="34" charset="0"/>
                        </a:rPr>
                        <a:t>excludes Major Medical, legacy products and DOI-unapproved states </a:t>
                      </a:r>
                      <a:r>
                        <a:rPr lang="en-US" sz="900" i="1">
                          <a:solidFill>
                            <a:srgbClr val="000000"/>
                          </a:solidFill>
                          <a:latin typeface="Arial" panose="020B0604020202020204" pitchFamily="34" charset="0"/>
                          <a:cs typeface="Arial" panose="020B0604020202020204" pitchFamily="34" charset="0"/>
                        </a:rPr>
                        <a:t>:</a:t>
                      </a:r>
                    </a:p>
                    <a:p>
                      <a:pPr marL="628650" lvl="1" indent="-171450">
                        <a:spcAft>
                          <a:spcPts val="100"/>
                        </a:spcAft>
                        <a:buFont typeface="Arial" panose="020B0604020202020204" pitchFamily="34" charset="0"/>
                        <a:buChar char="•"/>
                      </a:pPr>
                      <a:endParaRPr lang="en-US" sz="900">
                        <a:solidFill>
                          <a:srgbClr val="000000"/>
                        </a:solidFill>
                        <a:latin typeface="Arial" panose="020B0604020202020204" pitchFamily="34" charset="0"/>
                        <a:cs typeface="Arial" panose="020B0604020202020204" pitchFamily="34" charset="0"/>
                      </a:endParaRPr>
                    </a:p>
                  </a:txBody>
                  <a:tcPr marL="90535" marR="9053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100" b="1" i="0" kern="1200">
                          <a:solidFill>
                            <a:schemeClr val="tx1"/>
                          </a:solidFill>
                          <a:latin typeface="+mn-lt"/>
                          <a:ea typeface="+mn-ea"/>
                          <a:cs typeface="Arial"/>
                        </a:rPr>
                        <a:t>Key Business Outcome Metric (KPI): </a:t>
                      </a:r>
                    </a:p>
                    <a:p>
                      <a:pPr algn="ctr" fontAlgn="b"/>
                      <a:endParaRPr lang="en-US" sz="1100" b="1" i="0" u="none" strike="noStrike">
                        <a:solidFill>
                          <a:srgbClr val="000000"/>
                        </a:solidFill>
                        <a:effectLst/>
                        <a:latin typeface="+mn-l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7">
                  <a:txBody>
                    <a:bodyPr/>
                    <a:lstStyle/>
                    <a:p>
                      <a:pPr algn="l">
                        <a:lnSpc>
                          <a:spcPct val="98000"/>
                        </a:lnSpc>
                        <a:spcBef>
                          <a:spcPts val="0"/>
                        </a:spcBef>
                        <a:spcAft>
                          <a:spcPts val="0"/>
                        </a:spcAft>
                      </a:pPr>
                      <a:r>
                        <a:rPr lang="en-US" sz="800" b="1">
                          <a:solidFill>
                            <a:srgbClr val="171717"/>
                          </a:solidFill>
                          <a:latin typeface="Arial" panose="020B0604020202020204" pitchFamily="34" charset="0"/>
                          <a:cs typeface="Arial" panose="020B0604020202020204" pitchFamily="34" charset="0"/>
                        </a:rPr>
                        <a:t>Employer Portal – Key Milestones</a:t>
                      </a:r>
                    </a:p>
                    <a:p>
                      <a:pPr lvl="1">
                        <a:spcAft>
                          <a:spcPts val="0"/>
                        </a:spcAft>
                      </a:pPr>
                      <a:r>
                        <a:rPr lang="en-US" sz="800" b="0">
                          <a:solidFill>
                            <a:srgbClr val="171717"/>
                          </a:solidFill>
                          <a:latin typeface="Arial" panose="020B0604020202020204" pitchFamily="34" charset="0"/>
                          <a:cs typeface="Arial" panose="020B0604020202020204" pitchFamily="34" charset="0"/>
                        </a:rPr>
                        <a:t>• </a:t>
                      </a:r>
                      <a:r>
                        <a:rPr lang="en-US" sz="800">
                          <a:solidFill>
                            <a:srgbClr val="000000"/>
                          </a:solidFill>
                          <a:latin typeface="Arial" panose="020B0604020202020204" pitchFamily="34" charset="0"/>
                          <a:cs typeface="Arial" panose="020B0604020202020204" pitchFamily="34" charset="0"/>
                        </a:rPr>
                        <a:t>Bundle 5 Testing: 9/29; Bundle 6 Testing: 10/2</a:t>
                      </a:r>
                    </a:p>
                    <a:p>
                      <a:pPr lvl="1" algn="l">
                        <a:lnSpc>
                          <a:spcPct val="98000"/>
                        </a:lnSpc>
                        <a:spcBef>
                          <a:spcPts val="0"/>
                        </a:spcBef>
                        <a:spcAft>
                          <a:spcPts val="0"/>
                        </a:spcAft>
                      </a:pPr>
                      <a:r>
                        <a:rPr lang="en-US" sz="800" b="0">
                          <a:solidFill>
                            <a:srgbClr val="171717"/>
                          </a:solidFill>
                          <a:latin typeface="Arial" panose="020B0604020202020204" pitchFamily="34" charset="0"/>
                          <a:cs typeface="Arial" panose="020B0604020202020204" pitchFamily="34" charset="0"/>
                        </a:rPr>
                        <a:t>• IAM Dark Launch: 10/8</a:t>
                      </a:r>
                    </a:p>
                    <a:p>
                      <a:pPr lvl="1" algn="l">
                        <a:lnSpc>
                          <a:spcPct val="98000"/>
                        </a:lnSpc>
                        <a:spcBef>
                          <a:spcPts val="0"/>
                        </a:spcBef>
                        <a:spcAft>
                          <a:spcPts val="0"/>
                        </a:spcAft>
                      </a:pPr>
                      <a:r>
                        <a:rPr lang="en-US" sz="800" b="0">
                          <a:solidFill>
                            <a:srgbClr val="171717"/>
                          </a:solidFill>
                          <a:latin typeface="Arial" panose="020B0604020202020204" pitchFamily="34" charset="0"/>
                          <a:cs typeface="Arial" panose="020B0604020202020204" pitchFamily="34" charset="0"/>
                        </a:rPr>
                        <a:t>• Portal Dark Launch: 10/21</a:t>
                      </a:r>
                    </a:p>
                    <a:p>
                      <a:pPr lvl="1" algn="l">
                        <a:lnSpc>
                          <a:spcPct val="98000"/>
                        </a:lnSpc>
                        <a:spcBef>
                          <a:spcPts val="0"/>
                        </a:spcBef>
                        <a:spcAft>
                          <a:spcPts val="0"/>
                        </a:spcAft>
                      </a:pPr>
                      <a:r>
                        <a:rPr lang="en-US" sz="800" b="0">
                          <a:solidFill>
                            <a:srgbClr val="171717"/>
                          </a:solidFill>
                          <a:latin typeface="Arial" panose="020B0604020202020204" pitchFamily="34" charset="0"/>
                          <a:cs typeface="Arial" panose="020B0604020202020204" pitchFamily="34" charset="0"/>
                        </a:rPr>
                        <a:t>• Finance Dark Launch: 10/23</a:t>
                      </a:r>
                    </a:p>
                    <a:p>
                      <a:pPr lvl="1" algn="l">
                        <a:lnSpc>
                          <a:spcPct val="98000"/>
                        </a:lnSpc>
                        <a:spcBef>
                          <a:spcPts val="0"/>
                        </a:spcBef>
                        <a:spcAft>
                          <a:spcPts val="0"/>
                        </a:spcAft>
                      </a:pPr>
                      <a:r>
                        <a:rPr lang="en-US" sz="800" b="0">
                          <a:solidFill>
                            <a:srgbClr val="171717"/>
                          </a:solidFill>
                          <a:latin typeface="Arial" panose="020B0604020202020204" pitchFamily="34" charset="0"/>
                          <a:cs typeface="Arial" panose="020B0604020202020204" pitchFamily="34" charset="0"/>
                        </a:rPr>
                        <a:t>• Production Go-Live: 11/11</a:t>
                      </a:r>
                    </a:p>
                    <a:p>
                      <a:pPr lvl="1" algn="l">
                        <a:lnSpc>
                          <a:spcPct val="98000"/>
                        </a:lnSpc>
                        <a:spcBef>
                          <a:spcPts val="0"/>
                        </a:spcBef>
                        <a:spcAft>
                          <a:spcPts val="0"/>
                        </a:spcAft>
                      </a:pPr>
                      <a:r>
                        <a:rPr lang="en-US" sz="800" b="0">
                          <a:solidFill>
                            <a:srgbClr val="171717"/>
                          </a:solidFill>
                          <a:latin typeface="Arial" panose="020B0604020202020204" pitchFamily="34" charset="0"/>
                          <a:cs typeface="Arial" panose="020B0604020202020204" pitchFamily="34" charset="0"/>
                        </a:rPr>
                        <a:t>• Warranty Release: 12/9</a:t>
                      </a:r>
                    </a:p>
                    <a:p>
                      <a:pPr marL="0" marR="0" lvl="0" indent="0" algn="l" defTabSz="914400" rtl="0" eaLnBrk="1" fontAlgn="auto" latinLnBrk="0" hangingPunct="1">
                        <a:lnSpc>
                          <a:spcPct val="98000"/>
                        </a:lnSpc>
                        <a:spcBef>
                          <a:spcPts val="0"/>
                        </a:spcBef>
                        <a:spcAft>
                          <a:spcPts val="0"/>
                        </a:spcAft>
                        <a:buClrTx/>
                        <a:buSzTx/>
                        <a:buFontTx/>
                        <a:buNone/>
                        <a:tabLst/>
                        <a:defRPr/>
                      </a:pPr>
                      <a:r>
                        <a:rPr lang="en-US" sz="800" b="1">
                          <a:solidFill>
                            <a:srgbClr val="171717"/>
                          </a:solidFill>
                          <a:latin typeface="Arial" panose="020B0604020202020204" pitchFamily="34" charset="0"/>
                          <a:cs typeface="Arial" panose="020B0604020202020204" pitchFamily="34" charset="0"/>
                        </a:rPr>
                        <a:t>Payroll Billing Defects: </a:t>
                      </a:r>
                    </a:p>
                    <a:p>
                      <a:pPr marL="628650" marR="0" lvl="1" indent="-171450" algn="l" defTabSz="914400" rtl="0" eaLnBrk="1" fontAlgn="auto" latinLnBrk="0" hangingPunct="1">
                        <a:lnSpc>
                          <a:spcPct val="98000"/>
                        </a:lnSpc>
                        <a:spcBef>
                          <a:spcPts val="0"/>
                        </a:spcBef>
                        <a:spcAft>
                          <a:spcPts val="0"/>
                        </a:spcAft>
                        <a:buClrTx/>
                        <a:buSzTx/>
                        <a:buFont typeface="Arial" panose="020B0604020202020204" pitchFamily="34" charset="0"/>
                        <a:buChar char="•"/>
                        <a:tabLst/>
                        <a:defRPr/>
                      </a:pPr>
                      <a:r>
                        <a:rPr lang="en-US" sz="800">
                          <a:solidFill>
                            <a:srgbClr val="000000"/>
                          </a:solidFill>
                          <a:latin typeface="Arial" panose="020B0604020202020204" pitchFamily="34" charset="0"/>
                          <a:cs typeface="Arial" panose="020B0604020202020204" pitchFamily="34" charset="0"/>
                        </a:rPr>
                        <a:t>Wave 3  deployment scheduled for  9/17</a:t>
                      </a:r>
                    </a:p>
                    <a:p>
                      <a:pPr marL="628650" marR="0" lvl="1" indent="-171450" algn="l" defTabSz="914400" rtl="0" eaLnBrk="1" fontAlgn="auto" latinLnBrk="0" hangingPunct="1">
                        <a:lnSpc>
                          <a:spcPct val="98000"/>
                        </a:lnSpc>
                        <a:spcBef>
                          <a:spcPts val="0"/>
                        </a:spcBef>
                        <a:spcAft>
                          <a:spcPts val="0"/>
                        </a:spcAft>
                        <a:buClrTx/>
                        <a:buSzTx/>
                        <a:buFont typeface="Arial" panose="020B0604020202020204" pitchFamily="34" charset="0"/>
                        <a:buChar char="•"/>
                        <a:tabLst/>
                        <a:defRPr/>
                      </a:pPr>
                      <a:r>
                        <a:rPr lang="en-US" sz="800">
                          <a:solidFill>
                            <a:srgbClr val="000000"/>
                          </a:solidFill>
                          <a:latin typeface="Arial" panose="020B0604020202020204" pitchFamily="34" charset="0"/>
                          <a:cs typeface="Arial" panose="020B0604020202020204" pitchFamily="34" charset="0"/>
                        </a:rPr>
                        <a:t>Wave 4 analysis underway</a:t>
                      </a:r>
                    </a:p>
                    <a:p>
                      <a:pPr algn="l">
                        <a:lnSpc>
                          <a:spcPct val="98000"/>
                        </a:lnSpc>
                        <a:spcBef>
                          <a:spcPts val="0"/>
                        </a:spcBef>
                        <a:spcAft>
                          <a:spcPts val="0"/>
                        </a:spcAft>
                      </a:pPr>
                      <a:endParaRPr lang="en-US" sz="800" b="1">
                        <a:solidFill>
                          <a:srgbClr val="171717"/>
                        </a:solidFill>
                        <a:latin typeface="Arial" panose="020B0604020202020204" pitchFamily="34" charset="0"/>
                        <a:cs typeface="Arial" panose="020B0604020202020204" pitchFamily="34" charset="0"/>
                      </a:endParaRPr>
                    </a:p>
                    <a:p>
                      <a:pPr algn="l">
                        <a:lnSpc>
                          <a:spcPct val="98000"/>
                        </a:lnSpc>
                        <a:spcBef>
                          <a:spcPts val="0"/>
                        </a:spcBef>
                        <a:spcAft>
                          <a:spcPts val="0"/>
                        </a:spcAft>
                      </a:pPr>
                      <a:r>
                        <a:rPr lang="en-US" sz="800" b="1">
                          <a:solidFill>
                            <a:srgbClr val="171717"/>
                          </a:solidFill>
                          <a:latin typeface="Arial" panose="020B0604020202020204" pitchFamily="34" charset="0"/>
                          <a:cs typeface="Arial" panose="020B0604020202020204" pitchFamily="34" charset="0"/>
                        </a:rPr>
                        <a:t>Policy Migration:  </a:t>
                      </a:r>
                      <a:r>
                        <a:rPr lang="en-US" sz="800" b="0">
                          <a:solidFill>
                            <a:srgbClr val="171717"/>
                          </a:solidFill>
                          <a:latin typeface="Arial" panose="020B0604020202020204" pitchFamily="34" charset="0"/>
                          <a:cs typeface="Arial" panose="020B0604020202020204" pitchFamily="34" charset="0"/>
                        </a:rPr>
                        <a:t>Manual Migration SOW approved; Discovery phase completed.</a:t>
                      </a:r>
                    </a:p>
                    <a:p>
                      <a:pPr algn="l">
                        <a:lnSpc>
                          <a:spcPct val="98000"/>
                        </a:lnSpc>
                        <a:spcBef>
                          <a:spcPts val="0"/>
                        </a:spcBef>
                        <a:spcAft>
                          <a:spcPts val="0"/>
                        </a:spcAft>
                      </a:pPr>
                      <a:endParaRPr lang="en-US" sz="800" b="0">
                        <a:solidFill>
                          <a:srgbClr val="171717"/>
                        </a:solidFill>
                        <a:latin typeface="Arial" panose="020B0604020202020204" pitchFamily="34" charset="0"/>
                        <a:cs typeface="Arial" panose="020B0604020202020204" pitchFamily="34" charset="0"/>
                      </a:endParaRPr>
                    </a:p>
                    <a:p>
                      <a:pPr algn="l">
                        <a:lnSpc>
                          <a:spcPct val="98000"/>
                        </a:lnSpc>
                        <a:spcBef>
                          <a:spcPts val="0"/>
                        </a:spcBef>
                        <a:spcAft>
                          <a:spcPts val="0"/>
                        </a:spcAft>
                      </a:pPr>
                      <a:r>
                        <a:rPr lang="en-US" sz="800" b="1">
                          <a:solidFill>
                            <a:srgbClr val="171717"/>
                          </a:solidFill>
                          <a:latin typeface="Arial" panose="020B0604020202020204" pitchFamily="34" charset="0"/>
                          <a:cs typeface="Arial" panose="020B0604020202020204" pitchFamily="34" charset="0"/>
                        </a:rPr>
                        <a:t>MM-to-MM Migration: </a:t>
                      </a:r>
                      <a:r>
                        <a:rPr lang="en-US" sz="800" b="0">
                          <a:solidFill>
                            <a:srgbClr val="171717"/>
                          </a:solidFill>
                          <a:latin typeface="Arial" panose="020B0604020202020204" pitchFamily="34" charset="0"/>
                          <a:cs typeface="Arial" panose="020B0604020202020204" pitchFamily="34" charset="0"/>
                        </a:rPr>
                        <a:t>SOW approved; discover completed.</a:t>
                      </a:r>
                    </a:p>
                    <a:p>
                      <a:pPr algn="l">
                        <a:lnSpc>
                          <a:spcPct val="98000"/>
                        </a:lnSpc>
                        <a:spcBef>
                          <a:spcPts val="0"/>
                        </a:spcBef>
                        <a:spcAft>
                          <a:spcPts val="0"/>
                        </a:spcAft>
                      </a:pPr>
                      <a:endParaRPr lang="en-US" sz="800" b="1">
                        <a:solidFill>
                          <a:srgbClr val="171717"/>
                        </a:solidFill>
                        <a:latin typeface="Arial" panose="020B0604020202020204" pitchFamily="34" charset="0"/>
                        <a:cs typeface="Arial" panose="020B0604020202020204" pitchFamily="34" charset="0"/>
                      </a:endParaRPr>
                    </a:p>
                    <a:p>
                      <a:pPr algn="l">
                        <a:lnSpc>
                          <a:spcPct val="98000"/>
                        </a:lnSpc>
                        <a:spcBef>
                          <a:spcPts val="0"/>
                        </a:spcBef>
                        <a:spcAft>
                          <a:spcPts val="0"/>
                        </a:spcAft>
                      </a:pPr>
                      <a:r>
                        <a:rPr lang="en-US" sz="800" b="1">
                          <a:solidFill>
                            <a:srgbClr val="171717"/>
                          </a:solidFill>
                          <a:latin typeface="Arial" panose="020B0604020202020204" pitchFamily="34" charset="0"/>
                          <a:cs typeface="Arial" panose="020B0604020202020204" pitchFamily="34" charset="0"/>
                        </a:rPr>
                        <a:t>Major Medical Product Build: </a:t>
                      </a:r>
                      <a:r>
                        <a:rPr lang="en-US" sz="800" b="0">
                          <a:solidFill>
                            <a:srgbClr val="171717"/>
                          </a:solidFill>
                          <a:latin typeface="Arial" panose="020B0604020202020204" pitchFamily="34" charset="0"/>
                          <a:cs typeface="Arial" panose="020B0604020202020204" pitchFamily="34" charset="0"/>
                        </a:rPr>
                        <a:t>Resource gap addressed; development is progressing as planned.</a:t>
                      </a:r>
                    </a:p>
                    <a:p>
                      <a:pPr algn="l">
                        <a:lnSpc>
                          <a:spcPct val="98000"/>
                        </a:lnSpc>
                        <a:spcBef>
                          <a:spcPts val="0"/>
                        </a:spcBef>
                        <a:spcAft>
                          <a:spcPts val="0"/>
                        </a:spcAft>
                      </a:pPr>
                      <a:endParaRPr lang="en-US" sz="800" b="1">
                        <a:solidFill>
                          <a:srgbClr val="171717"/>
                        </a:solidFill>
                        <a:latin typeface="Arial" panose="020B0604020202020204" pitchFamily="34" charset="0"/>
                        <a:cs typeface="Arial" panose="020B0604020202020204" pitchFamily="34" charset="0"/>
                      </a:endParaRPr>
                    </a:p>
                    <a:p>
                      <a:pPr algn="l">
                        <a:lnSpc>
                          <a:spcPct val="98000"/>
                        </a:lnSpc>
                        <a:spcBef>
                          <a:spcPts val="0"/>
                        </a:spcBef>
                        <a:spcAft>
                          <a:spcPts val="0"/>
                        </a:spcAft>
                      </a:pPr>
                      <a:r>
                        <a:rPr lang="en-US" sz="800" b="1">
                          <a:solidFill>
                            <a:srgbClr val="171717"/>
                          </a:solidFill>
                          <a:latin typeface="Arial" panose="020B0604020202020204" pitchFamily="34" charset="0"/>
                          <a:cs typeface="Arial" panose="020B0604020202020204" pitchFamily="34" charset="0"/>
                        </a:rPr>
                        <a:t>New York Product Build : </a:t>
                      </a:r>
                      <a:r>
                        <a:rPr lang="en-US" sz="800" b="0">
                          <a:solidFill>
                            <a:srgbClr val="171717"/>
                          </a:solidFill>
                          <a:latin typeface="Arial" panose="020B0604020202020204" pitchFamily="34" charset="0"/>
                          <a:cs typeface="Arial" panose="020B0604020202020204" pitchFamily="34" charset="0"/>
                        </a:rPr>
                        <a:t>SOW finalized. Core team staffed; discovery phase is beginning.</a:t>
                      </a:r>
                    </a:p>
                    <a:p>
                      <a:pPr algn="l">
                        <a:lnSpc>
                          <a:spcPct val="98000"/>
                        </a:lnSpc>
                        <a:spcBef>
                          <a:spcPts val="0"/>
                        </a:spcBef>
                        <a:spcAft>
                          <a:spcPts val="0"/>
                        </a:spcAft>
                      </a:pPr>
                      <a:endParaRPr lang="en-US" sz="800" b="1">
                        <a:solidFill>
                          <a:srgbClr val="171717"/>
                        </a:solidFill>
                        <a:latin typeface="Arial" panose="020B0604020202020204" pitchFamily="34" charset="0"/>
                        <a:cs typeface="Arial" panose="020B0604020202020204" pitchFamily="34" charset="0"/>
                      </a:endParaRPr>
                    </a:p>
                    <a:p>
                      <a:pPr algn="l">
                        <a:lnSpc>
                          <a:spcPct val="98000"/>
                        </a:lnSpc>
                        <a:spcBef>
                          <a:spcPts val="0"/>
                        </a:spcBef>
                        <a:spcAft>
                          <a:spcPts val="0"/>
                        </a:spcAft>
                      </a:pPr>
                      <a:r>
                        <a:rPr lang="en-US" sz="800" b="1" u="sng">
                          <a:solidFill>
                            <a:srgbClr val="171717"/>
                          </a:solidFill>
                          <a:latin typeface="Arial" panose="020B0604020202020204" pitchFamily="34" charset="0"/>
                          <a:cs typeface="Arial" panose="020B0604020202020204" pitchFamily="34" charset="0"/>
                        </a:rPr>
                        <a:t>Key Risks:</a:t>
                      </a:r>
                    </a:p>
                    <a:p>
                      <a:pPr lvl="0" algn="l">
                        <a:lnSpc>
                          <a:spcPct val="98000"/>
                        </a:lnSpc>
                        <a:spcBef>
                          <a:spcPts val="0"/>
                        </a:spcBef>
                        <a:spcAft>
                          <a:spcPts val="0"/>
                        </a:spcAft>
                      </a:pPr>
                      <a:r>
                        <a:rPr lang="en-US" sz="800" b="1">
                          <a:solidFill>
                            <a:srgbClr val="171717"/>
                          </a:solidFill>
                          <a:latin typeface="Arial" panose="020B0604020202020204" pitchFamily="34" charset="0"/>
                          <a:cs typeface="Arial" panose="020B0604020202020204" pitchFamily="34" charset="0"/>
                        </a:rPr>
                        <a:t>Employer Portal Schedule: </a:t>
                      </a:r>
                    </a:p>
                    <a:p>
                      <a:pPr marL="628650" lvl="1" indent="-171450" algn="l">
                        <a:lnSpc>
                          <a:spcPct val="98000"/>
                        </a:lnSpc>
                        <a:spcBef>
                          <a:spcPts val="0"/>
                        </a:spcBef>
                        <a:spcAft>
                          <a:spcPts val="0"/>
                        </a:spcAft>
                        <a:buFont typeface="Arial" panose="020B0604020202020204" pitchFamily="34" charset="0"/>
                        <a:buChar char="•"/>
                      </a:pPr>
                      <a:r>
                        <a:rPr lang="en-US" sz="800" b="1">
                          <a:solidFill>
                            <a:srgbClr val="171717"/>
                          </a:solidFill>
                          <a:latin typeface="Arial" panose="020B0604020202020204" pitchFamily="34" charset="0"/>
                          <a:cs typeface="Arial" panose="020B0604020202020204" pitchFamily="34" charset="0"/>
                        </a:rPr>
                        <a:t>Risk: </a:t>
                      </a:r>
                      <a:r>
                        <a:rPr lang="en-US" sz="800" b="0">
                          <a:solidFill>
                            <a:srgbClr val="171717"/>
                          </a:solidFill>
                          <a:latin typeface="Arial" panose="020B0604020202020204" pitchFamily="34" charset="0"/>
                          <a:cs typeface="Arial" panose="020B0604020202020204" pitchFamily="34" charset="0"/>
                        </a:rPr>
                        <a:t>The approved rebaseline has no remaining schedule contingency. Bundle 6 testing, scope decisions, and defect remediation activities could impact October dark launch milestones and the 11/11 go-live.</a:t>
                      </a:r>
                    </a:p>
                    <a:p>
                      <a:pPr marL="628650" lvl="1" indent="-171450" algn="l">
                        <a:lnSpc>
                          <a:spcPct val="98000"/>
                        </a:lnSpc>
                        <a:spcBef>
                          <a:spcPts val="0"/>
                        </a:spcBef>
                        <a:spcAft>
                          <a:spcPts val="0"/>
                        </a:spcAft>
                        <a:buFont typeface="Arial" panose="020B0604020202020204" pitchFamily="34" charset="0"/>
                        <a:buChar char="•"/>
                      </a:pPr>
                      <a:r>
                        <a:rPr lang="en-US" sz="800" b="1">
                          <a:solidFill>
                            <a:srgbClr val="171717"/>
                          </a:solidFill>
                          <a:latin typeface="Arial" panose="020B0604020202020204" pitchFamily="34" charset="0"/>
                          <a:cs typeface="Arial" panose="020B0604020202020204" pitchFamily="34" charset="0"/>
                        </a:rPr>
                        <a:t>Mitigation: </a:t>
                      </a:r>
                      <a:r>
                        <a:rPr lang="en-US" sz="800" b="0">
                          <a:solidFill>
                            <a:srgbClr val="171717"/>
                          </a:solidFill>
                          <a:latin typeface="Arial" panose="020B0604020202020204" pitchFamily="34" charset="0"/>
                          <a:cs typeface="Arial" panose="020B0604020202020204" pitchFamily="34" charset="0"/>
                        </a:rPr>
                        <a:t>Daily defect and backlog triage is in place; non-MVP scope has been deferred to future releases to protect critical milestones.</a:t>
                      </a:r>
                    </a:p>
                    <a:p>
                      <a:pPr marL="0" lvl="0" indent="0" algn="l">
                        <a:lnSpc>
                          <a:spcPct val="98000"/>
                        </a:lnSpc>
                        <a:spcBef>
                          <a:spcPts val="0"/>
                        </a:spcBef>
                        <a:spcAft>
                          <a:spcPts val="0"/>
                        </a:spcAft>
                        <a:buFont typeface="Arial" panose="020B0604020202020204" pitchFamily="34" charset="0"/>
                        <a:buNone/>
                      </a:pPr>
                      <a:r>
                        <a:rPr lang="en-US" sz="800" b="1">
                          <a:solidFill>
                            <a:srgbClr val="171717"/>
                          </a:solidFill>
                          <a:latin typeface="Arial" panose="020B0604020202020204" pitchFamily="34" charset="0"/>
                          <a:cs typeface="Arial" panose="020B0604020202020204" pitchFamily="34" charset="0"/>
                        </a:rPr>
                        <a:t>2027 Funding: </a:t>
                      </a:r>
                    </a:p>
                    <a:p>
                      <a:pPr marL="628650" lvl="1" indent="-171450" algn="l">
                        <a:lnSpc>
                          <a:spcPct val="98000"/>
                        </a:lnSpc>
                        <a:spcBef>
                          <a:spcPts val="0"/>
                        </a:spcBef>
                        <a:spcAft>
                          <a:spcPts val="0"/>
                        </a:spcAft>
                        <a:buFont typeface="Arial" panose="020B0604020202020204" pitchFamily="34" charset="0"/>
                        <a:buChar char="•"/>
                      </a:pPr>
                      <a:r>
                        <a:rPr lang="en-US" sz="800" b="1">
                          <a:solidFill>
                            <a:srgbClr val="171717"/>
                          </a:solidFill>
                          <a:latin typeface="Arial" panose="020B0604020202020204" pitchFamily="34" charset="0"/>
                          <a:cs typeface="Arial" panose="020B0604020202020204" pitchFamily="34" charset="0"/>
                        </a:rPr>
                        <a:t>Risk: </a:t>
                      </a:r>
                      <a:r>
                        <a:rPr lang="en-US" sz="800" b="0">
                          <a:solidFill>
                            <a:srgbClr val="171717"/>
                          </a:solidFill>
                          <a:latin typeface="Arial" panose="020B0604020202020204" pitchFamily="34" charset="0"/>
                          <a:cs typeface="Arial" panose="020B0604020202020204" pitchFamily="34" charset="0"/>
                        </a:rPr>
                        <a:t>Preliminary forecasts indicate an additional funding requirement of approximately $2M for 2027.</a:t>
                      </a:r>
                    </a:p>
                    <a:p>
                      <a:pPr marL="628650" lvl="1" indent="-171450" algn="l">
                        <a:lnSpc>
                          <a:spcPct val="98000"/>
                        </a:lnSpc>
                        <a:spcBef>
                          <a:spcPts val="0"/>
                        </a:spcBef>
                        <a:spcAft>
                          <a:spcPts val="0"/>
                        </a:spcAft>
                        <a:buFont typeface="Arial" panose="020B0604020202020204" pitchFamily="34" charset="0"/>
                        <a:buChar char="•"/>
                      </a:pPr>
                      <a:r>
                        <a:rPr lang="en-US" sz="800" b="0">
                          <a:solidFill>
                            <a:srgbClr val="171717"/>
                          </a:solidFill>
                          <a:latin typeface="Arial" panose="020B0604020202020204" pitchFamily="34" charset="0"/>
                          <a:cs typeface="Arial" panose="020B0604020202020204" pitchFamily="34" charset="0"/>
                        </a:rPr>
                        <a:t>Mitigation: Pet Portfolio and Finance teams are evaluating funding options and accelerating eligible work into 2026 to reduce 2027 demand.</a:t>
                      </a:r>
                    </a:p>
                  </a:txBody>
                  <a:tcPr mar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lnL w="12700" cap="flat" cmpd="sng" algn="ctr">
                      <a:solidFill>
                        <a:schemeClr val="tx1"/>
                      </a:solidFill>
                      <a:prstDash val="solid"/>
                      <a:round/>
                      <a:headEnd type="none" w="med" len="med"/>
                      <a:tailEnd type="none" w="med" len="med"/>
                    </a:lnL>
                  </a:tcPr>
                </a:tc>
                <a:tc hMerge="1">
                  <a:txBody>
                    <a:bodyPr/>
                    <a:lstStyle/>
                    <a:p>
                      <a:endParaRPr lang="en-US"/>
                    </a:p>
                  </a:txBody>
                  <a:tcPr>
                    <a:lnL w="12700" cap="flat" cmpd="sng" algn="ctr">
                      <a:solidFill>
                        <a:schemeClr val="tx1"/>
                      </a:solidFill>
                      <a:prstDash val="solid"/>
                      <a:round/>
                      <a:headEnd type="none" w="med" len="med"/>
                      <a:tailEnd type="none" w="med" len="med"/>
                    </a:lnL>
                  </a:tcPr>
                </a:tc>
                <a:tc hMerge="1">
                  <a:txBody>
                    <a:bodyPr/>
                    <a:lstStyle/>
                    <a:p>
                      <a:endParaRPr lang="en-US"/>
                    </a:p>
                  </a:txBody>
                  <a:tcPr/>
                </a:tc>
                <a:tc hMerge="1">
                  <a:txBody>
                    <a:bodyPr/>
                    <a:lstStyle/>
                    <a:p>
                      <a:pPr marL="0" marR="0" lvl="0" indent="0" algn="ctr" rtl="0" eaLnBrk="1" fontAlgn="auto" latinLnBrk="0" hangingPunct="1">
                        <a:lnSpc>
                          <a:spcPct val="100000"/>
                        </a:lnSpc>
                        <a:spcBef>
                          <a:spcPts val="0"/>
                        </a:spcBef>
                        <a:spcAft>
                          <a:spcPts val="0"/>
                        </a:spcAft>
                        <a:buClrTx/>
                        <a:buSzTx/>
                        <a:buFontTx/>
                        <a:buNone/>
                      </a:pPr>
                      <a:endParaRPr lang="en-US" sz="1100" b="1" kern="1200">
                        <a:solidFill>
                          <a:schemeClr val="dk1"/>
                        </a:solidFill>
                        <a:effectLst/>
                        <a:latin typeface="+mn-lt"/>
                        <a:ea typeface="+mn-ea"/>
                        <a:cs typeface="Arial" panose="020B0604020202020204" pitchFamily="34" charset="0"/>
                      </a:endParaRPr>
                    </a:p>
                  </a:txBody>
                  <a:tcPr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solid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b="1" i="0" u="none" strike="noStrike">
                        <a:solidFill>
                          <a:srgbClr val="000000"/>
                        </a:solidFill>
                        <a:effectLst/>
                        <a:latin typeface="Arial" panose="020B0604020202020204" pitchFamily="34" charset="0"/>
                        <a:cs typeface="Arial" panose="020B0604020202020204" pitchFamily="34" charset="0"/>
                      </a:endParaRPr>
                    </a:p>
                  </a:txBody>
                  <a:tcPr marL="0" marR="0"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92786969"/>
                  </a:ext>
                </a:extLst>
              </a:tr>
              <a:tr h="201168">
                <a:tc gridSpan="2">
                  <a:txBody>
                    <a:bodyPr/>
                    <a:lstStyle/>
                    <a:p>
                      <a:pPr lvl="0">
                        <a:buNone/>
                      </a:pPr>
                      <a:r>
                        <a:rPr lang="en-US" sz="1200" b="1" i="0" kern="1200">
                          <a:solidFill>
                            <a:schemeClr val="tx1"/>
                          </a:solidFill>
                          <a:latin typeface="Arial" panose="020B0604020202020204" pitchFamily="34" charset="0"/>
                          <a:ea typeface="+mn-ea"/>
                          <a:cs typeface="Arial" panose="020B0604020202020204" pitchFamily="34" charset="0"/>
                        </a:rPr>
                        <a:t>Benefits:</a:t>
                      </a:r>
                      <a:endParaRPr lang="en-US" sz="1200" b="0" i="0" kern="1200">
                        <a:solidFill>
                          <a:schemeClr val="tx1"/>
                        </a:solidFill>
                        <a:latin typeface="Arial" panose="020B0604020202020204" pitchFamily="34" charset="0"/>
                        <a:ea typeface="+mn-ea"/>
                        <a:cs typeface="Arial" panose="020B0604020202020204" pitchFamily="34" charset="0"/>
                      </a:endParaRPr>
                    </a:p>
                  </a:txBody>
                  <a:tcPr marL="90535" marR="9053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hMerge="1">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100" b="1" i="0" kern="1200">
                          <a:solidFill>
                            <a:schemeClr val="tx1"/>
                          </a:solidFill>
                          <a:latin typeface="+mn-lt"/>
                          <a:ea typeface="+mn-ea"/>
                          <a:cs typeface="Arial"/>
                        </a:rPr>
                        <a:t>Key Business Outcome Metric (KPI): </a:t>
                      </a:r>
                    </a:p>
                  </a:txBody>
                  <a:tcPr marL="9525" marR="9525" marT="9525" marB="0" anchor="ctr"/>
                </a:tc>
                <a:tc gridSpan="7">
                  <a:txBody>
                    <a:bodyPr/>
                    <a:lstStyle/>
                    <a:p>
                      <a:pPr lvl="0">
                        <a:buNone/>
                      </a:pPr>
                      <a:r>
                        <a:rPr lang="en-US" sz="900" b="1" i="0" u="none" strike="noStrike" kern="1200">
                          <a:solidFill>
                            <a:schemeClr val="tx1"/>
                          </a:solidFill>
                          <a:effectLst/>
                          <a:latin typeface="Arial"/>
                          <a:ea typeface="+mn-ea"/>
                          <a:cs typeface="Arial"/>
                        </a:rPr>
                        <a:t> </a:t>
                      </a:r>
                      <a:r>
                        <a:rPr lang="en-US" sz="1200" b="1" i="0" u="none" strike="noStrike" kern="1200">
                          <a:solidFill>
                            <a:schemeClr val="tx1"/>
                          </a:solidFill>
                          <a:effectLst/>
                          <a:latin typeface="Arial"/>
                          <a:ea typeface="+mn-ea"/>
                          <a:cs typeface="Arial"/>
                        </a:rPr>
                        <a:t>Key Performance Indicators:</a:t>
                      </a:r>
                      <a:endParaRPr lang="en-US" sz="1100" b="1" i="0" kern="1200">
                        <a:solidFill>
                          <a:schemeClr val="tx1"/>
                        </a:solidFill>
                        <a:latin typeface="Arial"/>
                        <a:ea typeface="+mn-ea"/>
                        <a:cs typeface="Arial"/>
                      </a:endParaRPr>
                    </a:p>
                  </a:txBody>
                  <a:tcPr marL="0" mar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hMerge="1">
                  <a:txBody>
                    <a:bodyPr/>
                    <a:lstStyle/>
                    <a:p>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hMerge="1">
                  <a:txBody>
                    <a:bodyPr/>
                    <a:lstStyle/>
                    <a:p>
                      <a:endParaRPr lang="en-US"/>
                    </a:p>
                  </a:txBody>
                  <a:tcPr>
                    <a:lnL w="12700" cap="flat" cmpd="sng" algn="ctr">
                      <a:solidFill>
                        <a:schemeClr val="tx1"/>
                      </a:solidFill>
                      <a:prstDash val="solid"/>
                      <a:round/>
                      <a:headEnd type="none" w="med" len="med"/>
                      <a:tailEnd type="none" w="med" len="med"/>
                    </a:lnL>
                  </a:tcPr>
                </a:tc>
                <a:tc hMerge="1">
                  <a:txBody>
                    <a:bodyPr/>
                    <a:lstStyle/>
                    <a:p>
                      <a:endParaRPr lang="en-US"/>
                    </a:p>
                  </a:txBody>
                  <a:tcPr/>
                </a:tc>
                <a:tc hMerge="1">
                  <a:txBody>
                    <a:bodyPr/>
                    <a:lstStyle/>
                    <a:p>
                      <a:endParaRPr lang="en-US"/>
                    </a:p>
                  </a:txBody>
                  <a:tcPr/>
                </a:tc>
                <a:tc hMerge="1">
                  <a:txBody>
                    <a:bodyPr/>
                    <a:lstStyle/>
                    <a:p>
                      <a:pPr marL="0" marR="0" lvl="0" indent="0" algn="ctr" rtl="0" eaLnBrk="1" fontAlgn="auto" latinLnBrk="0" hangingPunct="1">
                        <a:lnSpc>
                          <a:spcPct val="100000"/>
                        </a:lnSpc>
                        <a:spcBef>
                          <a:spcPts val="0"/>
                        </a:spcBef>
                        <a:spcAft>
                          <a:spcPts val="0"/>
                        </a:spcAft>
                        <a:buClrTx/>
                        <a:buSzTx/>
                        <a:buFontTx/>
                        <a:buNone/>
                      </a:pPr>
                      <a:endParaRPr lang="en-US" sz="1100" b="1" kern="1200">
                        <a:solidFill>
                          <a:schemeClr val="dk1"/>
                        </a:solidFill>
                        <a:effectLst/>
                        <a:latin typeface="+mn-lt"/>
                        <a:ea typeface="+mn-ea"/>
                        <a:cs typeface="Arial" panose="020B0604020202020204" pitchFamily="34" charset="0"/>
                      </a:endParaRPr>
                    </a:p>
                  </a:txBody>
                  <a:tcPr anchor="ctr">
                    <a:lnT w="12700" cap="flat" cmpd="sng" algn="ctr">
                      <a:solidFill>
                        <a:schemeClr val="tx1"/>
                      </a:solidFill>
                      <a:prstDash val="solid"/>
                      <a:round/>
                      <a:headEnd type="none" w="med" len="med"/>
                      <a:tailEnd type="none" w="med" len="med"/>
                    </a:lnT>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b="1" i="0" u="none" strike="noStrike">
                        <a:solidFill>
                          <a:srgbClr val="000000"/>
                        </a:solidFill>
                        <a:effectLst/>
                        <a:latin typeface="Arial" panose="020B0604020202020204" pitchFamily="34" charset="0"/>
                        <a:cs typeface="Arial" panose="020B0604020202020204" pitchFamily="34" charset="0"/>
                      </a:endParaRPr>
                    </a:p>
                  </a:txBody>
                  <a:tcPr marL="0" marR="0" anchorCtr="1"/>
                </a:tc>
                <a:extLst>
                  <a:ext uri="{0D108BD9-81ED-4DB2-BD59-A6C34878D82A}">
                    <a16:rowId xmlns:a16="http://schemas.microsoft.com/office/drawing/2014/main" val="34340670"/>
                  </a:ext>
                </a:extLst>
              </a:tr>
              <a:tr h="933462">
                <a:tc gridSpan="2">
                  <a:txBody>
                    <a:bodyPr/>
                    <a:lstStyle/>
                    <a:p>
                      <a:pPr marL="0" marR="0" lvl="0" indent="0" algn="l" defTabSz="914400" rtl="0" eaLnBrk="1" fontAlgn="base" latinLnBrk="0" hangingPunct="1">
                        <a:lnSpc>
                          <a:spcPct val="100000"/>
                        </a:lnSpc>
                        <a:spcBef>
                          <a:spcPts val="0"/>
                        </a:spcBef>
                        <a:spcAft>
                          <a:spcPts val="0"/>
                        </a:spcAft>
                        <a:buClrTx/>
                        <a:buSzTx/>
                        <a:buFont typeface="+mj-lt"/>
                        <a:buNone/>
                        <a:tabLst/>
                        <a:defRPr/>
                      </a:pPr>
                      <a:r>
                        <a:rPr lang="en-US" sz="900" b="1" i="0" kern="1200">
                          <a:solidFill>
                            <a:schemeClr val="dk1"/>
                          </a:solidFill>
                          <a:effectLst/>
                          <a:latin typeface="Arial"/>
                          <a:ea typeface="+mn-ea"/>
                          <a:cs typeface="Arial"/>
                        </a:rPr>
                        <a:t>Platform Modernization</a:t>
                      </a:r>
                      <a:r>
                        <a:rPr lang="en-US" sz="900" b="0" i="0" kern="1200">
                          <a:solidFill>
                            <a:schemeClr val="dk1"/>
                          </a:solidFill>
                          <a:effectLst/>
                          <a:latin typeface="Arial"/>
                          <a:ea typeface="+mn-ea"/>
                          <a:cs typeface="Arial"/>
                        </a:rPr>
                        <a:t>:  </a:t>
                      </a:r>
                    </a:p>
                    <a:p>
                      <a:pPr marL="171450" marR="0" lvl="0" indent="-171450" algn="l" defTabSz="914400" rtl="0" eaLnBrk="1" fontAlgn="base" latinLnBrk="0" hangingPunct="1">
                        <a:lnSpc>
                          <a:spcPct val="100000"/>
                        </a:lnSpc>
                        <a:spcBef>
                          <a:spcPts val="0"/>
                        </a:spcBef>
                        <a:spcAft>
                          <a:spcPts val="0"/>
                        </a:spcAft>
                        <a:buClrTx/>
                        <a:buSzTx/>
                        <a:buFont typeface="Arial" panose="020B0604020202020204" pitchFamily="34" charset="0"/>
                        <a:buChar char="•"/>
                        <a:tabLst/>
                        <a:defRPr/>
                      </a:pPr>
                      <a:r>
                        <a:rPr lang="en-US" sz="900" b="0" i="0" kern="1200">
                          <a:solidFill>
                            <a:schemeClr val="dk1"/>
                          </a:solidFill>
                          <a:effectLst/>
                          <a:latin typeface="Arial"/>
                          <a:ea typeface="+mn-ea"/>
                          <a:cs typeface="Arial"/>
                        </a:rPr>
                        <a:t>Pricing sophistication</a:t>
                      </a:r>
                    </a:p>
                    <a:p>
                      <a:pPr marL="171450" marR="0" lvl="0" indent="-171450" algn="l" defTabSz="914400" rtl="0" eaLnBrk="1" fontAlgn="base" latinLnBrk="0" hangingPunct="1">
                        <a:lnSpc>
                          <a:spcPct val="100000"/>
                        </a:lnSpc>
                        <a:spcBef>
                          <a:spcPts val="0"/>
                        </a:spcBef>
                        <a:spcAft>
                          <a:spcPts val="0"/>
                        </a:spcAft>
                        <a:buClrTx/>
                        <a:buSzTx/>
                        <a:buFont typeface="Arial" panose="020B0604020202020204" pitchFamily="34" charset="0"/>
                        <a:buChar char="•"/>
                        <a:tabLst/>
                        <a:defRPr/>
                      </a:pPr>
                      <a:r>
                        <a:rPr lang="en-US" sz="900" b="0" i="0" kern="1200">
                          <a:solidFill>
                            <a:schemeClr val="dk1"/>
                          </a:solidFill>
                          <a:effectLst/>
                          <a:latin typeface="Arial"/>
                          <a:ea typeface="+mn-ea"/>
                          <a:cs typeface="Arial"/>
                        </a:rPr>
                        <a:t>Integration capabilities</a:t>
                      </a:r>
                    </a:p>
                    <a:p>
                      <a:pPr marL="171450" marR="0" lvl="0" indent="-171450" algn="l" defTabSz="914400" rtl="0" eaLnBrk="1" fontAlgn="base" latinLnBrk="0" hangingPunct="1">
                        <a:lnSpc>
                          <a:spcPct val="100000"/>
                        </a:lnSpc>
                        <a:spcBef>
                          <a:spcPts val="0"/>
                        </a:spcBef>
                        <a:spcAft>
                          <a:spcPts val="0"/>
                        </a:spcAft>
                        <a:buClrTx/>
                        <a:buSzTx/>
                        <a:buFont typeface="Arial" panose="020B0604020202020204" pitchFamily="34" charset="0"/>
                        <a:buChar char="•"/>
                        <a:tabLst/>
                        <a:defRPr/>
                      </a:pPr>
                      <a:r>
                        <a:rPr lang="en-US" sz="900" b="0" i="0" kern="1200">
                          <a:solidFill>
                            <a:schemeClr val="dk1"/>
                          </a:solidFill>
                          <a:effectLst/>
                          <a:latin typeface="Arial"/>
                          <a:ea typeface="+mn-ea"/>
                          <a:cs typeface="Arial"/>
                        </a:rPr>
                        <a:t>Technology risk mitigation</a:t>
                      </a:r>
                    </a:p>
                  </a:txBody>
                  <a:tcPr marL="90535" marR="9053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gridSpan="7">
                  <a:txBody>
                    <a:bodyPr/>
                    <a:lstStyle/>
                    <a:p>
                      <a:pPr marL="228600" indent="-228600">
                        <a:buFont typeface="+mj-lt"/>
                        <a:buAutoNum type="arabicPeriod"/>
                      </a:pPr>
                      <a:r>
                        <a:rPr lang="en-US" sz="900" b="0" kern="1200">
                          <a:solidFill>
                            <a:schemeClr val="tx1"/>
                          </a:solidFill>
                          <a:latin typeface="Arial"/>
                          <a:ea typeface="+mn-ea"/>
                          <a:cs typeface="Arial"/>
                        </a:rPr>
                        <a:t>Faster product launches and channel growth</a:t>
                      </a:r>
                    </a:p>
                    <a:p>
                      <a:pPr marL="228600" indent="-228600">
                        <a:buFont typeface="+mj-lt"/>
                        <a:buAutoNum type="arabicPeriod"/>
                      </a:pPr>
                      <a:r>
                        <a:rPr lang="en-US" sz="900" b="0" kern="1200">
                          <a:solidFill>
                            <a:schemeClr val="tx1"/>
                          </a:solidFill>
                          <a:latin typeface="Arial"/>
                          <a:ea typeface="+mn-ea"/>
                          <a:cs typeface="Arial"/>
                        </a:rPr>
                        <a:t>More agile product administration and lifecycle management</a:t>
                      </a:r>
                    </a:p>
                    <a:p>
                      <a:pPr marL="228600" indent="-228600">
                        <a:buFont typeface="+mj-lt"/>
                        <a:buAutoNum type="arabicPeriod"/>
                      </a:pPr>
                      <a:r>
                        <a:rPr lang="en-US" sz="900" b="0" i="0" strike="noStrike" kern="1200">
                          <a:solidFill>
                            <a:schemeClr val="tx1"/>
                          </a:solidFill>
                          <a:effectLst/>
                          <a:latin typeface="Arial"/>
                          <a:ea typeface="+mn-ea"/>
                          <a:cs typeface="Arial"/>
                        </a:rPr>
                        <a:t>Quicker time to market for new products and changes</a:t>
                      </a:r>
                    </a:p>
                    <a:p>
                      <a:pPr marL="228600" indent="-228600">
                        <a:buFont typeface="+mj-lt"/>
                        <a:buAutoNum type="arabicPeriod"/>
                      </a:pPr>
                      <a:r>
                        <a:rPr lang="en-US" sz="900" b="0" i="0" strike="noStrike" kern="1200">
                          <a:solidFill>
                            <a:schemeClr val="tx1"/>
                          </a:solidFill>
                          <a:effectLst/>
                          <a:latin typeface="Arial"/>
                          <a:ea typeface="+mn-ea"/>
                          <a:cs typeface="Arial"/>
                        </a:rPr>
                        <a:t>Better customer and partner experience through self-service</a:t>
                      </a:r>
                    </a:p>
                    <a:p>
                      <a:pPr marL="228600" indent="-228600">
                        <a:buFont typeface="+mj-lt"/>
                        <a:buAutoNum type="arabicPeriod"/>
                      </a:pPr>
                      <a:r>
                        <a:rPr lang="en-US" sz="900" b="0" i="0" strike="noStrike" kern="1200">
                          <a:solidFill>
                            <a:schemeClr val="tx1"/>
                          </a:solidFill>
                          <a:effectLst/>
                          <a:latin typeface="Arial"/>
                          <a:ea typeface="+mn-ea"/>
                          <a:cs typeface="Arial"/>
                        </a:rPr>
                        <a:t>Lower cost and risk through modernization and legacy retirement</a:t>
                      </a:r>
                      <a:endParaRPr lang="en-US" sz="1100" b="0" i="0" u="none" strike="noStrike" kern="1200" cap="none" spc="0" normalizeH="0" baseline="0" noProof="0">
                        <a:ln>
                          <a:noFill/>
                        </a:ln>
                        <a:solidFill>
                          <a:prstClr val="black"/>
                        </a:solidFill>
                        <a:effectLst/>
                        <a:uLnTx/>
                        <a:uFillTx/>
                        <a:latin typeface="Arial"/>
                        <a:ea typeface="+mn-ea"/>
                        <a:cs typeface="Arial"/>
                      </a:endParaRPr>
                    </a:p>
                  </a:txBody>
                  <a:tcPr marL="90535" marR="9053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lnL w="12700" cap="flat" cmpd="sng" algn="ctr">
                      <a:solidFill>
                        <a:schemeClr val="tx1"/>
                      </a:solidFill>
                      <a:prstDash val="solid"/>
                      <a:round/>
                      <a:headEnd type="none" w="med" len="med"/>
                      <a:tailEnd type="none" w="med" len="med"/>
                    </a:ln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562770255"/>
                  </a:ext>
                </a:extLst>
              </a:tr>
            </a:tbl>
          </a:graphicData>
        </a:graphic>
      </p:graphicFrame>
      <p:sp>
        <p:nvSpPr>
          <p:cNvPr id="6" name="Slide Number Placeholder 3">
            <a:extLst>
              <a:ext uri="{FF2B5EF4-FFF2-40B4-BE49-F238E27FC236}">
                <a16:creationId xmlns:a16="http://schemas.microsoft.com/office/drawing/2014/main" id="{ADEA65D8-A62F-D8DC-0271-6F1AC007555F}"/>
              </a:ext>
            </a:extLst>
          </p:cNvPr>
          <p:cNvSpPr>
            <a:spLocks noGrp="1"/>
          </p:cNvSpPr>
          <p:nvPr>
            <p:ph type="sldNum" sz="quarter" idx="12"/>
          </p:nvPr>
        </p:nvSpPr>
        <p:spPr>
          <a:xfrm>
            <a:off x="9166781"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0654EDE-1844-45C5-B77B-942F00315BA8}"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55</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graphicFrame>
        <p:nvGraphicFramePr>
          <p:cNvPr id="10" name="Table 9">
            <a:extLst>
              <a:ext uri="{FF2B5EF4-FFF2-40B4-BE49-F238E27FC236}">
                <a16:creationId xmlns:a16="http://schemas.microsoft.com/office/drawing/2014/main" id="{7B4A27DA-1429-F3F6-385D-DEC4031440EB}"/>
              </a:ext>
            </a:extLst>
          </p:cNvPr>
          <p:cNvGraphicFramePr>
            <a:graphicFrameLocks noGrp="1"/>
          </p:cNvGraphicFramePr>
          <p:nvPr>
            <p:extLst>
              <p:ext uri="{D42A27DB-BD31-4B8C-83A1-F6EECF244321}">
                <p14:modId xmlns:p14="http://schemas.microsoft.com/office/powerpoint/2010/main" val="3815484566"/>
              </p:ext>
            </p:extLst>
          </p:nvPr>
        </p:nvGraphicFramePr>
        <p:xfrm>
          <a:off x="200889" y="4298764"/>
          <a:ext cx="4416553" cy="1132588"/>
        </p:xfrm>
        <a:graphic>
          <a:graphicData uri="http://schemas.openxmlformats.org/drawingml/2006/table">
            <a:tbl>
              <a:tblPr firstRow="1" bandRow="1">
                <a:tableStyleId>{5C22544A-7EE6-4342-B048-85BDC9FD1C3A}</a:tableStyleId>
              </a:tblPr>
              <a:tblGrid>
                <a:gridCol w="883620">
                  <a:extLst>
                    <a:ext uri="{9D8B030D-6E8A-4147-A177-3AD203B41FA5}">
                      <a16:colId xmlns:a16="http://schemas.microsoft.com/office/drawing/2014/main" val="679191874"/>
                    </a:ext>
                  </a:extLst>
                </a:gridCol>
                <a:gridCol w="764868">
                  <a:extLst>
                    <a:ext uri="{9D8B030D-6E8A-4147-A177-3AD203B41FA5}">
                      <a16:colId xmlns:a16="http://schemas.microsoft.com/office/drawing/2014/main" val="840097192"/>
                    </a:ext>
                  </a:extLst>
                </a:gridCol>
                <a:gridCol w="794661">
                  <a:extLst>
                    <a:ext uri="{9D8B030D-6E8A-4147-A177-3AD203B41FA5}">
                      <a16:colId xmlns:a16="http://schemas.microsoft.com/office/drawing/2014/main" val="3377124956"/>
                    </a:ext>
                  </a:extLst>
                </a:gridCol>
                <a:gridCol w="1173886">
                  <a:extLst>
                    <a:ext uri="{9D8B030D-6E8A-4147-A177-3AD203B41FA5}">
                      <a16:colId xmlns:a16="http://schemas.microsoft.com/office/drawing/2014/main" val="864659225"/>
                    </a:ext>
                  </a:extLst>
                </a:gridCol>
                <a:gridCol w="799518">
                  <a:extLst>
                    <a:ext uri="{9D8B030D-6E8A-4147-A177-3AD203B41FA5}">
                      <a16:colId xmlns:a16="http://schemas.microsoft.com/office/drawing/2014/main" val="3415057659"/>
                    </a:ext>
                  </a:extLst>
                </a:gridCol>
              </a:tblGrid>
              <a:tr h="255875">
                <a:tc>
                  <a:txBody>
                    <a:bodyPr/>
                    <a:lstStyle/>
                    <a:p>
                      <a:pPr algn="ctr"/>
                      <a:r>
                        <a:rPr lang="en-US" sz="700">
                          <a:latin typeface="Arial" panose="020B0604020202020204" pitchFamily="34" charset="0"/>
                          <a:cs typeface="Arial" panose="020B0604020202020204" pitchFamily="34" charset="0"/>
                        </a:rPr>
                        <a:t>Product</a:t>
                      </a:r>
                    </a:p>
                  </a:txBody>
                  <a:tcPr anchor="ctr"/>
                </a:tc>
                <a:tc>
                  <a:txBody>
                    <a:bodyPr/>
                    <a:lstStyle/>
                    <a:p>
                      <a:pPr algn="ctr"/>
                      <a:r>
                        <a:rPr lang="en-US" sz="700">
                          <a:latin typeface="Arial" panose="020B0604020202020204" pitchFamily="34" charset="0"/>
                          <a:cs typeface="Arial" panose="020B0604020202020204" pitchFamily="34" charset="0"/>
                        </a:rPr>
                        <a:t>States Deployed</a:t>
                      </a:r>
                    </a:p>
                  </a:txBody>
                  <a:tcPr anchor="ctr"/>
                </a:tc>
                <a:tc>
                  <a:txBody>
                    <a:bodyPr/>
                    <a:lstStyle/>
                    <a:p>
                      <a:pPr algn="ctr"/>
                      <a:r>
                        <a:rPr lang="en-US" sz="700">
                          <a:latin typeface="Arial" panose="020B0604020202020204" pitchFamily="34" charset="0"/>
                          <a:cs typeface="Arial" panose="020B0604020202020204" pitchFamily="34" charset="0"/>
                        </a:rPr>
                        <a:t>Policies Migrated</a:t>
                      </a:r>
                    </a:p>
                  </a:txBody>
                  <a:tcPr anchor="ctr"/>
                </a:tc>
                <a:tc>
                  <a:txBody>
                    <a:bodyPr/>
                    <a:lstStyle/>
                    <a:p>
                      <a:pPr algn="ctr"/>
                      <a:r>
                        <a:rPr lang="en-US" sz="700">
                          <a:latin typeface="Arial" panose="020B0604020202020204" pitchFamily="34" charset="0"/>
                          <a:cs typeface="Arial" panose="020B0604020202020204" pitchFamily="34" charset="0"/>
                        </a:rPr>
                        <a:t>Original Premium Migrated</a:t>
                      </a:r>
                    </a:p>
                  </a:txBody>
                  <a:tcPr anchor="ctr"/>
                </a:tc>
                <a:tc>
                  <a:txBody>
                    <a:bodyPr/>
                    <a:lstStyle/>
                    <a:p>
                      <a:pPr algn="ctr"/>
                      <a:r>
                        <a:rPr lang="en-US" sz="700">
                          <a:latin typeface="Arial" panose="020B0604020202020204" pitchFamily="34" charset="0"/>
                          <a:cs typeface="Arial" panose="020B0604020202020204" pitchFamily="34" charset="0"/>
                        </a:rPr>
                        <a:t>% Complete</a:t>
                      </a:r>
                    </a:p>
                  </a:txBody>
                  <a:tcPr anchor="ctr"/>
                </a:tc>
                <a:extLst>
                  <a:ext uri="{0D108BD9-81ED-4DB2-BD59-A6C34878D82A}">
                    <a16:rowId xmlns:a16="http://schemas.microsoft.com/office/drawing/2014/main" val="3115914163"/>
                  </a:ext>
                </a:extLst>
              </a:tr>
              <a:tr h="173729">
                <a:tc>
                  <a:txBody>
                    <a:bodyPr/>
                    <a:lstStyle/>
                    <a:p>
                      <a:r>
                        <a:rPr lang="en-US" sz="700" b="1">
                          <a:latin typeface="Arial" panose="020B0604020202020204" pitchFamily="34" charset="0"/>
                          <a:cs typeface="Arial" panose="020B0604020202020204" pitchFamily="34" charset="0"/>
                        </a:rPr>
                        <a:t>MM to MPI</a:t>
                      </a:r>
                    </a:p>
                  </a:txBody>
                  <a:tcPr anchor="ctr"/>
                </a:tc>
                <a:tc>
                  <a:txBody>
                    <a:bodyPr/>
                    <a:lstStyle/>
                    <a:p>
                      <a:pPr algn="ctr"/>
                      <a:r>
                        <a:rPr lang="en-US" sz="700">
                          <a:latin typeface="Arial" panose="020B0604020202020204" pitchFamily="34" charset="0"/>
                          <a:cs typeface="Arial" panose="020B0604020202020204" pitchFamily="34" charset="0"/>
                        </a:rPr>
                        <a:t>CA</a:t>
                      </a:r>
                    </a:p>
                  </a:txBody>
                  <a:tcPr anchor="ctr"/>
                </a:tc>
                <a:tc>
                  <a:txBody>
                    <a:bodyPr/>
                    <a:lstStyle/>
                    <a:p>
                      <a:pPr algn="ctr" fontAlgn="base">
                        <a:lnSpc>
                          <a:spcPts val="975"/>
                        </a:lnSpc>
                        <a:buNone/>
                      </a:pPr>
                      <a:r>
                        <a:rPr lang="en-US" sz="700" b="0" i="0">
                          <a:solidFill>
                            <a:srgbClr val="000000"/>
                          </a:solidFill>
                          <a:effectLst/>
                          <a:latin typeface="Arial"/>
                          <a:cs typeface="Arial"/>
                        </a:rPr>
                        <a:t>66,550</a:t>
                      </a:r>
                    </a:p>
                  </a:txBody>
                  <a:tcPr anchor="ctr"/>
                </a:tc>
                <a:tc>
                  <a:txBody>
                    <a:bodyPr/>
                    <a:lstStyle/>
                    <a:p>
                      <a:pPr algn="ctr" fontAlgn="base">
                        <a:lnSpc>
                          <a:spcPts val="975"/>
                        </a:lnSpc>
                        <a:buNone/>
                      </a:pPr>
                      <a:r>
                        <a:rPr lang="en-US" sz="700" b="0" i="0">
                          <a:solidFill>
                            <a:srgbClr val="000000"/>
                          </a:solidFill>
                          <a:effectLst/>
                          <a:latin typeface="Arial"/>
                          <a:cs typeface="Arial"/>
                        </a:rPr>
                        <a:t>$58.6M​</a:t>
                      </a:r>
                    </a:p>
                  </a:txBody>
                  <a:tcPr anchor="ctr"/>
                </a:tc>
                <a:tc>
                  <a:txBody>
                    <a:bodyPr/>
                    <a:lstStyle/>
                    <a:p>
                      <a:pPr algn="ctr" fontAlgn="base">
                        <a:lnSpc>
                          <a:spcPts val="975"/>
                        </a:lnSpc>
                        <a:buNone/>
                      </a:pPr>
                      <a:r>
                        <a:rPr lang="en-US" sz="700" b="0" i="0">
                          <a:solidFill>
                            <a:srgbClr val="000000"/>
                          </a:solidFill>
                          <a:effectLst/>
                          <a:latin typeface="Arial"/>
                          <a:cs typeface="Arial"/>
                        </a:rPr>
                        <a:t>99.7%​</a:t>
                      </a:r>
                    </a:p>
                  </a:txBody>
                  <a:tcPr anchor="ctr"/>
                </a:tc>
                <a:extLst>
                  <a:ext uri="{0D108BD9-81ED-4DB2-BD59-A6C34878D82A}">
                    <a16:rowId xmlns:a16="http://schemas.microsoft.com/office/drawing/2014/main" val="4030249844"/>
                  </a:ext>
                </a:extLst>
              </a:tr>
              <a:tr h="173729">
                <a:tc>
                  <a:txBody>
                    <a:bodyPr/>
                    <a:lstStyle/>
                    <a:p>
                      <a:r>
                        <a:rPr lang="en-US" sz="700" b="1">
                          <a:latin typeface="Arial" panose="020B0604020202020204" pitchFamily="34" charset="0"/>
                          <a:cs typeface="Arial" panose="020B0604020202020204" pitchFamily="34" charset="0"/>
                        </a:rPr>
                        <a:t>MPP to MPPC</a:t>
                      </a:r>
                    </a:p>
                  </a:txBody>
                  <a:tcPr anchor="ctr"/>
                </a:tc>
                <a:tc>
                  <a:txBody>
                    <a:bodyPr/>
                    <a:lstStyle/>
                    <a:p>
                      <a:pPr algn="ctr"/>
                      <a:r>
                        <a:rPr lang="en-US" sz="700">
                          <a:latin typeface="Arial" panose="020B0604020202020204" pitchFamily="34" charset="0"/>
                          <a:cs typeface="Arial" panose="020B0604020202020204" pitchFamily="34" charset="0"/>
                        </a:rPr>
                        <a:t>49</a:t>
                      </a:r>
                    </a:p>
                  </a:txBody>
                  <a:tcPr anchor="ctr"/>
                </a:tc>
                <a:tc>
                  <a:txBody>
                    <a:bodyPr/>
                    <a:lstStyle/>
                    <a:p>
                      <a:pPr algn="ctr" fontAlgn="base">
                        <a:lnSpc>
                          <a:spcPts val="975"/>
                        </a:lnSpc>
                        <a:buNone/>
                      </a:pPr>
                      <a:r>
                        <a:rPr lang="en-US" sz="700" b="0" i="0">
                          <a:solidFill>
                            <a:srgbClr val="000000"/>
                          </a:solidFill>
                          <a:effectLst/>
                          <a:latin typeface="Arial"/>
                          <a:cs typeface="Arial"/>
                        </a:rPr>
                        <a:t>531,739</a:t>
                      </a:r>
                    </a:p>
                  </a:txBody>
                  <a:tcPr anchor="ctr"/>
                </a:tc>
                <a:tc>
                  <a:txBody>
                    <a:bodyPr/>
                    <a:lstStyle/>
                    <a:p>
                      <a:pPr algn="ctr" fontAlgn="base">
                        <a:lnSpc>
                          <a:spcPts val="975"/>
                        </a:lnSpc>
                        <a:buNone/>
                      </a:pPr>
                      <a:r>
                        <a:rPr lang="en-US" sz="700" b="0" i="0">
                          <a:solidFill>
                            <a:srgbClr val="000000"/>
                          </a:solidFill>
                          <a:effectLst/>
                          <a:latin typeface="Arial"/>
                          <a:cs typeface="Arial"/>
                        </a:rPr>
                        <a:t>$424.3M​</a:t>
                      </a:r>
                    </a:p>
                  </a:txBody>
                  <a:tcPr anchor="ctr"/>
                </a:tc>
                <a:tc>
                  <a:txBody>
                    <a:bodyPr/>
                    <a:lstStyle/>
                    <a:p>
                      <a:pPr algn="ctr" fontAlgn="base">
                        <a:lnSpc>
                          <a:spcPts val="975"/>
                        </a:lnSpc>
                        <a:buNone/>
                      </a:pPr>
                      <a:r>
                        <a:rPr lang="en-US" sz="700" b="0" i="0">
                          <a:solidFill>
                            <a:srgbClr val="000000"/>
                          </a:solidFill>
                          <a:effectLst/>
                          <a:latin typeface="Arial"/>
                          <a:cs typeface="Arial"/>
                        </a:rPr>
                        <a:t>86.5%​</a:t>
                      </a:r>
                    </a:p>
                  </a:txBody>
                  <a:tcPr anchor="ctr"/>
                </a:tc>
                <a:extLst>
                  <a:ext uri="{0D108BD9-81ED-4DB2-BD59-A6C34878D82A}">
                    <a16:rowId xmlns:a16="http://schemas.microsoft.com/office/drawing/2014/main" val="1186921205"/>
                  </a:ext>
                </a:extLst>
              </a:tr>
              <a:tr h="173729">
                <a:tc>
                  <a:txBody>
                    <a:bodyPr/>
                    <a:lstStyle/>
                    <a:p>
                      <a:r>
                        <a:rPr lang="en-US" sz="700" b="1">
                          <a:latin typeface="Arial" panose="020B0604020202020204" pitchFamily="34" charset="0"/>
                          <a:cs typeface="Arial" panose="020B0604020202020204" pitchFamily="34" charset="0"/>
                        </a:rPr>
                        <a:t>WP to MPI</a:t>
                      </a:r>
                    </a:p>
                  </a:txBody>
                  <a:tcPr anchor="ctr"/>
                </a:tc>
                <a:tc>
                  <a:txBody>
                    <a:bodyPr/>
                    <a:lstStyle/>
                    <a:p>
                      <a:pPr algn="ctr"/>
                      <a:r>
                        <a:rPr lang="en-US" sz="700">
                          <a:latin typeface="Arial" panose="020B0604020202020204" pitchFamily="34" charset="0"/>
                          <a:cs typeface="Arial" panose="020B0604020202020204" pitchFamily="34" charset="0"/>
                        </a:rPr>
                        <a:t>25</a:t>
                      </a:r>
                    </a:p>
                  </a:txBody>
                  <a:tcPr anchor="ctr"/>
                </a:tc>
                <a:tc>
                  <a:txBody>
                    <a:bodyPr/>
                    <a:lstStyle/>
                    <a:p>
                      <a:pPr algn="ctr" fontAlgn="base">
                        <a:lnSpc>
                          <a:spcPts val="975"/>
                        </a:lnSpc>
                        <a:buNone/>
                      </a:pPr>
                      <a:r>
                        <a:rPr lang="en-US" sz="700" b="0" i="0">
                          <a:solidFill>
                            <a:srgbClr val="000000"/>
                          </a:solidFill>
                          <a:effectLst/>
                          <a:latin typeface="Arial"/>
                          <a:cs typeface="Arial"/>
                        </a:rPr>
                        <a:t>37,946</a:t>
                      </a:r>
                      <a:endParaRPr lang="en-US" sz="700" b="0" i="0">
                        <a:solidFill>
                          <a:srgbClr val="000000"/>
                        </a:solidFill>
                        <a:effectLst/>
                        <a:latin typeface="Arial" panose="020B0604020202020204" pitchFamily="34" charset="0"/>
                        <a:cs typeface="Arial" panose="020B0604020202020204" pitchFamily="34" charset="0"/>
                      </a:endParaRPr>
                    </a:p>
                  </a:txBody>
                  <a:tcPr anchor="ctr"/>
                </a:tc>
                <a:tc>
                  <a:txBody>
                    <a:bodyPr/>
                    <a:lstStyle/>
                    <a:p>
                      <a:pPr algn="ctr" fontAlgn="base">
                        <a:lnSpc>
                          <a:spcPts val="975"/>
                        </a:lnSpc>
                        <a:buNone/>
                      </a:pPr>
                      <a:r>
                        <a:rPr lang="en-US" sz="700" b="0" i="0">
                          <a:solidFill>
                            <a:srgbClr val="000000"/>
                          </a:solidFill>
                          <a:effectLst/>
                          <a:latin typeface="Arial" panose="020B0604020202020204" pitchFamily="34" charset="0"/>
                          <a:cs typeface="Arial" panose="020B0604020202020204" pitchFamily="34" charset="0"/>
                        </a:rPr>
                        <a:t>$81.1M​</a:t>
                      </a:r>
                    </a:p>
                  </a:txBody>
                  <a:tcPr anchor="ctr"/>
                </a:tc>
                <a:tc>
                  <a:txBody>
                    <a:bodyPr/>
                    <a:lstStyle/>
                    <a:p>
                      <a:pPr algn="ctr" fontAlgn="base">
                        <a:lnSpc>
                          <a:spcPts val="975"/>
                        </a:lnSpc>
                        <a:buNone/>
                      </a:pPr>
                      <a:r>
                        <a:rPr lang="en-US" sz="700" b="0" i="0">
                          <a:solidFill>
                            <a:srgbClr val="000000"/>
                          </a:solidFill>
                          <a:effectLst/>
                          <a:latin typeface="Arial"/>
                          <a:cs typeface="Arial"/>
                        </a:rPr>
                        <a:t>79.9%​</a:t>
                      </a:r>
                    </a:p>
                  </a:txBody>
                  <a:tcPr anchor="ctr"/>
                </a:tc>
                <a:extLst>
                  <a:ext uri="{0D108BD9-81ED-4DB2-BD59-A6C34878D82A}">
                    <a16:rowId xmlns:a16="http://schemas.microsoft.com/office/drawing/2014/main" val="4086376779"/>
                  </a:ext>
                </a:extLst>
              </a:tr>
              <a:tr h="173729">
                <a:tc>
                  <a:txBody>
                    <a:bodyPr/>
                    <a:lstStyle/>
                    <a:p>
                      <a:r>
                        <a:rPr lang="en-US" sz="700" b="1">
                          <a:latin typeface="Arial" panose="020B0604020202020204" pitchFamily="34" charset="0"/>
                          <a:cs typeface="Arial" panose="020B0604020202020204" pitchFamily="34" charset="0"/>
                        </a:rPr>
                        <a:t>Total</a:t>
                      </a:r>
                    </a:p>
                  </a:txBody>
                  <a:tcPr anchor="ctr"/>
                </a:tc>
                <a:tc>
                  <a:txBody>
                    <a:bodyPr/>
                    <a:lstStyle/>
                    <a:p>
                      <a:pPr algn="ctr"/>
                      <a:endParaRPr lang="en-US" sz="700">
                        <a:latin typeface="Arial" panose="020B0604020202020204" pitchFamily="34" charset="0"/>
                        <a:cs typeface="Arial" panose="020B0604020202020204" pitchFamily="34" charset="0"/>
                      </a:endParaRPr>
                    </a:p>
                  </a:txBody>
                  <a:tcPr anchor="ctr"/>
                </a:tc>
                <a:tc>
                  <a:txBody>
                    <a:bodyPr/>
                    <a:lstStyle/>
                    <a:p>
                      <a:pPr algn="ctr" fontAlgn="base">
                        <a:lnSpc>
                          <a:spcPts val="975"/>
                        </a:lnSpc>
                        <a:buNone/>
                      </a:pPr>
                      <a:r>
                        <a:rPr lang="en-US" sz="700" b="1" i="0">
                          <a:solidFill>
                            <a:srgbClr val="000000"/>
                          </a:solidFill>
                          <a:effectLst/>
                          <a:latin typeface="Arial"/>
                          <a:cs typeface="Arial"/>
                        </a:rPr>
                        <a:t>635,984</a:t>
                      </a:r>
                    </a:p>
                  </a:txBody>
                  <a:tcPr anchor="ctr"/>
                </a:tc>
                <a:tc>
                  <a:txBody>
                    <a:bodyPr/>
                    <a:lstStyle/>
                    <a:p>
                      <a:pPr algn="ctr" fontAlgn="base">
                        <a:lnSpc>
                          <a:spcPts val="975"/>
                        </a:lnSpc>
                        <a:buNone/>
                      </a:pPr>
                      <a:r>
                        <a:rPr lang="en-US" sz="700" b="1" i="0">
                          <a:solidFill>
                            <a:srgbClr val="000000"/>
                          </a:solidFill>
                          <a:effectLst/>
                          <a:latin typeface="Arial"/>
                          <a:cs typeface="Arial"/>
                        </a:rPr>
                        <a:t>$564 M</a:t>
                      </a:r>
                      <a:r>
                        <a:rPr lang="en-US" sz="700" b="0" i="0">
                          <a:solidFill>
                            <a:srgbClr val="000000"/>
                          </a:solidFill>
                          <a:effectLst/>
                          <a:latin typeface="Arial"/>
                          <a:cs typeface="Arial"/>
                        </a:rPr>
                        <a:t>​</a:t>
                      </a:r>
                    </a:p>
                  </a:txBody>
                  <a:tcPr anchor="ctr"/>
                </a:tc>
                <a:tc>
                  <a:txBody>
                    <a:bodyPr/>
                    <a:lstStyle/>
                    <a:p>
                      <a:pPr algn="ctr" fontAlgn="base">
                        <a:lnSpc>
                          <a:spcPts val="975"/>
                        </a:lnSpc>
                        <a:buNone/>
                      </a:pPr>
                      <a:r>
                        <a:rPr lang="en-US" sz="700" b="1" i="0">
                          <a:solidFill>
                            <a:srgbClr val="000000"/>
                          </a:solidFill>
                          <a:effectLst/>
                          <a:latin typeface="Arial"/>
                          <a:cs typeface="Arial"/>
                        </a:rPr>
                        <a:t>86.6%</a:t>
                      </a:r>
                      <a:r>
                        <a:rPr lang="en-US" sz="700" b="0" i="0">
                          <a:solidFill>
                            <a:srgbClr val="000000"/>
                          </a:solidFill>
                          <a:effectLst/>
                          <a:latin typeface="Arial"/>
                          <a:cs typeface="Arial"/>
                        </a:rPr>
                        <a:t>​</a:t>
                      </a:r>
                    </a:p>
                  </a:txBody>
                  <a:tcPr anchor="ctr"/>
                </a:tc>
                <a:extLst>
                  <a:ext uri="{0D108BD9-81ED-4DB2-BD59-A6C34878D82A}">
                    <a16:rowId xmlns:a16="http://schemas.microsoft.com/office/drawing/2014/main" val="170691192"/>
                  </a:ext>
                </a:extLst>
              </a:tr>
            </a:tbl>
          </a:graphicData>
        </a:graphic>
      </p:graphicFrame>
    </p:spTree>
    <p:extLst>
      <p:ext uri="{BB962C8B-B14F-4D97-AF65-F5344CB8AC3E}">
        <p14:creationId xmlns:p14="http://schemas.microsoft.com/office/powerpoint/2010/main" val="172768674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56660602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Nationwide PPT Theme">
  <a:themeElements>
    <a:clrScheme name="Nationwide">
      <a:dk1>
        <a:srgbClr val="000000"/>
      </a:dk1>
      <a:lt1>
        <a:srgbClr val="FFFFFF"/>
      </a:lt1>
      <a:dk2>
        <a:srgbClr val="141B4D"/>
      </a:dk2>
      <a:lt2>
        <a:srgbClr val="0047BB"/>
      </a:lt2>
      <a:accent1>
        <a:srgbClr val="0047BB"/>
      </a:accent1>
      <a:accent2>
        <a:srgbClr val="141B4D"/>
      </a:accent2>
      <a:accent3>
        <a:srgbClr val="009788"/>
      </a:accent3>
      <a:accent4>
        <a:srgbClr val="005670"/>
      </a:accent4>
      <a:accent5>
        <a:srgbClr val="890C58"/>
      </a:accent5>
      <a:accent6>
        <a:srgbClr val="797166"/>
      </a:accent6>
      <a:hlink>
        <a:srgbClr val="0047BB"/>
      </a:hlink>
      <a:folHlink>
        <a:srgbClr val="0047BB"/>
      </a:folHlink>
    </a:clrScheme>
    <a:fontScheme name="Nationwide default font theme">
      <a:majorFont>
        <a:latin typeface="Georgi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lIns="90000" tIns="46800" rIns="90000" bIns="46800" rtlCol="0" anchor="ctr"/>
      <a:lstStyle>
        <a:defPPr algn="ctr">
          <a:lnSpc>
            <a:spcPct val="90000"/>
          </a:lnSpc>
          <a:defRPr sz="1600"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noAutofit/>
      </a:bodyPr>
      <a:lstStyle>
        <a:defPPr algn="l">
          <a:lnSpc>
            <a:spcPct val="112000"/>
          </a:lnSpc>
          <a:defRPr sz="1400" dirty="0" err="1" smtClean="0">
            <a:solidFill>
              <a:schemeClr val="tx1"/>
            </a:solidFill>
          </a:defRPr>
        </a:defPPr>
      </a:lstStyle>
    </a:txDef>
  </a:objectDefaults>
  <a:extraClrSchemeLst/>
  <a:custClrLst>
    <a:custClr name="Vibrant Blue">
      <a:srgbClr val="0047BB"/>
    </a:custClr>
    <a:custClr name="White">
      <a:srgbClr val="FFFFFF"/>
    </a:custClr>
    <a:custClr name="Dark Blue">
      <a:srgbClr val="141B4D"/>
    </a:custClr>
    <a:custClr name="New Blue">
      <a:srgbClr val="002DA2"/>
    </a:custClr>
    <a:custClr name="Medium Blue">
      <a:srgbClr val="1F74DB"/>
    </a:custClr>
    <a:custClr name="Light Blue">
      <a:srgbClr val="8CC8E9"/>
    </a:custClr>
    <a:custClr name="Mint">
      <a:srgbClr val="6ECEB2"/>
    </a:custClr>
    <a:custClr name="Dark Mint">
      <a:srgbClr val="008775"/>
    </a:custClr>
    <a:custClr name="Sea Blue">
      <a:srgbClr val="72B0BD"/>
    </a:custClr>
    <a:custClr name="Dark Sea Blue">
      <a:srgbClr val="005670"/>
    </a:custClr>
    <a:custClr name="Lavender">
      <a:srgbClr val="D7A9E3"/>
    </a:custClr>
    <a:custClr name="Deep Purple">
      <a:srgbClr val="890C58"/>
    </a:custClr>
    <a:custClr name="Sunburst Orange">
      <a:srgbClr val="FF9800"/>
    </a:custClr>
    <a:custClr name="Cherry Red">
      <a:srgbClr val="CB333B"/>
    </a:custClr>
    <a:custClr name="Lemon Yellow">
      <a:srgbClr val="F9E27D"/>
    </a:custClr>
    <a:custClr name="Dark Mustard">
      <a:srgbClr val="C5A900"/>
    </a:custClr>
    <a:custClr name="Fossil">
      <a:srgbClr val="AFA9A0"/>
    </a:custClr>
    <a:custClr name="Dark Fossil">
      <a:srgbClr val="7A7266"/>
    </a:custClr>
    <a:custClr name="Pale Grey">
      <a:srgbClr val="D0D3D4"/>
    </a:custClr>
    <a:custClr name="Dark Grey">
      <a:srgbClr val="7E7E82"/>
    </a:custClr>
    <a:custClr name="Charcoal">
      <a:srgbClr val="171717"/>
    </a:custClr>
  </a:custClrLst>
  <a:extLst>
    <a:ext uri="{05A4C25C-085E-4340-85A3-A5531E510DB2}">
      <thm15:themeFamily xmlns:thm15="http://schemas.microsoft.com/office/thememl/2012/main" name="Nationwide_16x9_DefaultFonts (2).pptx" id="{4A116120-14DC-44AE-895A-BB9EC9B2E46C}" vid="{87BE85A8-A234-4591-A5EB-9F67432B8DE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Nationwide">
  <a:themeElements>
    <a:clrScheme name="Nationwide">
      <a:dk1>
        <a:srgbClr val="000000"/>
      </a:dk1>
      <a:lt1>
        <a:srgbClr val="FFFFFF"/>
      </a:lt1>
      <a:dk2>
        <a:srgbClr val="141B4D"/>
      </a:dk2>
      <a:lt2>
        <a:srgbClr val="0047BB"/>
      </a:lt2>
      <a:accent1>
        <a:srgbClr val="0047BB"/>
      </a:accent1>
      <a:accent2>
        <a:srgbClr val="141B4D"/>
      </a:accent2>
      <a:accent3>
        <a:srgbClr val="009788"/>
      </a:accent3>
      <a:accent4>
        <a:srgbClr val="005670"/>
      </a:accent4>
      <a:accent5>
        <a:srgbClr val="890C58"/>
      </a:accent5>
      <a:accent6>
        <a:srgbClr val="797166"/>
      </a:accent6>
      <a:hlink>
        <a:srgbClr val="0047BB"/>
      </a:hlink>
      <a:folHlink>
        <a:srgbClr val="0047BB"/>
      </a:folHlink>
    </a:clrScheme>
    <a:fontScheme name="Nationwide default font theme">
      <a:majorFont>
        <a:latin typeface="Georgi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lIns="90000" tIns="46800" rIns="90000" bIns="46800" rtlCol="0" anchor="ctr"/>
      <a:lstStyle>
        <a:defPPr algn="ctr">
          <a:lnSpc>
            <a:spcPct val="90000"/>
          </a:lnSpc>
          <a:defRPr sz="1600"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noAutofit/>
      </a:bodyPr>
      <a:lstStyle>
        <a:defPPr algn="l">
          <a:lnSpc>
            <a:spcPct val="112000"/>
          </a:lnSpc>
          <a:defRPr sz="1400" dirty="0" err="1" smtClean="0">
            <a:solidFill>
              <a:schemeClr val="tx1"/>
            </a:solidFill>
          </a:defRPr>
        </a:defPPr>
      </a:lstStyle>
    </a:txDef>
  </a:objectDefaults>
  <a:extraClrSchemeLst/>
  <a:custClrLst>
    <a:custClr name="Vibrant Blue">
      <a:srgbClr val="0047BB"/>
    </a:custClr>
    <a:custClr name="White">
      <a:srgbClr val="FFFFFF"/>
    </a:custClr>
    <a:custClr name="Dark Blue">
      <a:srgbClr val="141B4D"/>
    </a:custClr>
    <a:custClr name="New Blue">
      <a:srgbClr val="002DA2"/>
    </a:custClr>
    <a:custClr name="Medium Blue">
      <a:srgbClr val="1F74DB"/>
    </a:custClr>
    <a:custClr name="Light Blue">
      <a:srgbClr val="8CC8E9"/>
    </a:custClr>
    <a:custClr name="Mint">
      <a:srgbClr val="6ECEB2"/>
    </a:custClr>
    <a:custClr name="Dark Mint">
      <a:srgbClr val="008775"/>
    </a:custClr>
    <a:custClr name="Sea Blue">
      <a:srgbClr val="72B0BD"/>
    </a:custClr>
    <a:custClr name="Dark Sea Blue">
      <a:srgbClr val="005670"/>
    </a:custClr>
    <a:custClr name="Lavender">
      <a:srgbClr val="D7A9E3"/>
    </a:custClr>
    <a:custClr name="Deep Purple">
      <a:srgbClr val="890C58"/>
    </a:custClr>
    <a:custClr name="Sunburst Orange">
      <a:srgbClr val="FF9800"/>
    </a:custClr>
    <a:custClr name="Cherry Red">
      <a:srgbClr val="CB333B"/>
    </a:custClr>
    <a:custClr name="Lemon Yellow">
      <a:srgbClr val="F9E27D"/>
    </a:custClr>
    <a:custClr name="Dark Mustard">
      <a:srgbClr val="C5A900"/>
    </a:custClr>
    <a:custClr name="Fossil">
      <a:srgbClr val="AFA9A0"/>
    </a:custClr>
    <a:custClr name="Dark Fossil">
      <a:srgbClr val="7A7266"/>
    </a:custClr>
    <a:custClr name="Pale Grey">
      <a:srgbClr val="D0D3D4"/>
    </a:custClr>
    <a:custClr name="Dark Grey">
      <a:srgbClr val="7E7E82"/>
    </a:custClr>
    <a:custClr name="Charcoal">
      <a:srgbClr val="171717"/>
    </a:custClr>
  </a:custClrLst>
  <a:extLst>
    <a:ext uri="{05A4C25C-085E-4340-85A3-A5531E510DB2}">
      <thm15:themeFamily xmlns:thm15="http://schemas.microsoft.com/office/thememl/2012/main" name="Nationwide" id="{8770B975-6170-4C50-83C8-92AD895E586B}" vid="{8A0355FC-28E4-4C9A-BCFB-0A62A5CEE97B}"/>
    </a:ext>
  </a:extLst>
</a:theme>
</file>

<file path=ppt/theme/theme4.xml><?xml version="1.0" encoding="utf-8"?>
<a:theme xmlns:a="http://schemas.openxmlformats.org/drawingml/2006/main" name="3_Office Theme">
  <a:themeElements>
    <a:clrScheme name="Pricing sophisttication">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89F0AB2B94E9164080AE6A7AF0D97188" ma:contentTypeVersion="9" ma:contentTypeDescription="Create a new document." ma:contentTypeScope="" ma:versionID="3b2a4e93513da2868a1dace0c5defd20">
  <xsd:schema xmlns:xsd="http://www.w3.org/2001/XMLSchema" xmlns:xs="http://www.w3.org/2001/XMLSchema" xmlns:p="http://schemas.microsoft.com/office/2006/metadata/properties" xmlns:ns2="2e1d4e07-6760-4f2a-9312-949aaba4a6da" xmlns:ns3="b7d811bb-603c-460a-9cfd-cf190d9133f6" targetNamespace="http://schemas.microsoft.com/office/2006/metadata/properties" ma:root="true" ma:fieldsID="0d96902118c4f37bde9f7d6f0bbef530" ns2:_="" ns3:_="">
    <xsd:import namespace="2e1d4e07-6760-4f2a-9312-949aaba4a6da"/>
    <xsd:import namespace="b7d811bb-603c-460a-9cfd-cf190d9133f6"/>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e1d4e07-6760-4f2a-9312-949aaba4a6d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6db0a7d3-0568-4cb5-b861-555e3d31153d" ma:termSetId="09814cd3-568e-fe90-9814-8d621ff8fb84" ma:anchorId="fba54fb3-c3e1-fe81-a776-ca4b69148c4d" ma:open="true" ma:isKeyword="false">
      <xsd:complexType>
        <xsd:sequence>
          <xsd:element ref="pc:Terms" minOccurs="0" maxOccurs="1"/>
        </xsd:sequence>
      </xsd:complex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7d811bb-603c-460a-9cfd-cf190d9133f6"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3f3a11e6-3e35-4797-b11b-7cd9f7711061}" ma:internalName="TaxCatchAll" ma:showField="CatchAllData" ma:web="b7d811bb-603c-460a-9cfd-cf190d9133f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2e1d4e07-6760-4f2a-9312-949aaba4a6da">
      <Terms xmlns="http://schemas.microsoft.com/office/infopath/2007/PartnerControls"/>
    </lcf76f155ced4ddcb4097134ff3c332f>
    <TaxCatchAll xmlns="b7d811bb-603c-460a-9cfd-cf190d9133f6" xsi:nil="true"/>
  </documentManagement>
</p:properties>
</file>

<file path=customXml/itemProps1.xml><?xml version="1.0" encoding="utf-8"?>
<ds:datastoreItem xmlns:ds="http://schemas.openxmlformats.org/officeDocument/2006/customXml" ds:itemID="{6BB7C299-CEFF-4947-9C2B-F6A727F8194A}">
  <ds:schemaRefs>
    <ds:schemaRef ds:uri="http://schemas.microsoft.com/sharepoint/v3/contenttype/forms"/>
  </ds:schemaRefs>
</ds:datastoreItem>
</file>

<file path=customXml/itemProps2.xml><?xml version="1.0" encoding="utf-8"?>
<ds:datastoreItem xmlns:ds="http://schemas.openxmlformats.org/officeDocument/2006/customXml" ds:itemID="{B53E67FD-55E5-42A9-8F63-0011B941E3FF}"/>
</file>

<file path=customXml/itemProps3.xml><?xml version="1.0" encoding="utf-8"?>
<ds:datastoreItem xmlns:ds="http://schemas.openxmlformats.org/officeDocument/2006/customXml" ds:itemID="{2D42540A-0313-43AB-89B8-EF9A0850FA65}">
  <ds:schemaRefs>
    <ds:schemaRef ds:uri="2e1d4e07-6760-4f2a-9312-949aaba4a6da"/>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Nationwide_16x9_DefaultFonts</Template>
  <Application>Microsoft Office PowerPoint</Application>
  <PresentationFormat>Widescreen</PresentationFormat>
  <Slides>56</Slides>
  <Notes>36</Notes>
  <HiddenSlides>0</HiddenSlides>
  <ScaleCrop>false</ScaleCrop>
  <HeadingPairs>
    <vt:vector size="4" baseType="variant">
      <vt:variant>
        <vt:lpstr>Theme</vt:lpstr>
      </vt:variant>
      <vt:variant>
        <vt:i4>4</vt:i4>
      </vt:variant>
      <vt:variant>
        <vt:lpstr>Slide Titles</vt:lpstr>
      </vt:variant>
      <vt:variant>
        <vt:i4>56</vt:i4>
      </vt:variant>
    </vt:vector>
  </HeadingPairs>
  <TitlesOfParts>
    <vt:vector size="60" baseType="lpstr">
      <vt:lpstr>Nationwide PPT Theme</vt:lpstr>
      <vt:lpstr>Office Theme</vt:lpstr>
      <vt:lpstr>Nationwide</vt:lpstr>
      <vt:lpstr>3_Office Theme</vt:lpstr>
      <vt:lpstr>2026 Weekly Portfolio Status</vt:lpstr>
      <vt:lpstr>Red Projects</vt:lpstr>
      <vt:lpstr>Add-a-Pet Improvements Streamline the add‑a‑pet quote flow to boost conversion by showing the right products and eliminating redundant data entry</vt:lpstr>
      <vt:lpstr>MPPC UW Questions Reduction MVP3</vt:lpstr>
      <vt:lpstr>Yellow Projects</vt:lpstr>
      <vt:lpstr>PowerPoint Presentation</vt:lpstr>
      <vt:lpstr>FirstVet Consultation File - API</vt:lpstr>
      <vt:lpstr>Portal Stabilization </vt:lpstr>
      <vt:lpstr>GIN / Batch Stabilization </vt:lpstr>
      <vt:lpstr>GIN Long Term Stability – Scalability to 1.5-2M policies </vt:lpstr>
      <vt:lpstr>GIN – API V2 to V5 upgrade </vt:lpstr>
      <vt:lpstr>TaiLWIND Flagship AI </vt:lpstr>
      <vt:lpstr>Green Projects</vt:lpstr>
      <vt:lpstr>PPT: Pet REN2GIN Policy Migration</vt:lpstr>
      <vt:lpstr>PPT: Pet Major Medical On GIN</vt:lpstr>
      <vt:lpstr>PowerPoint Presentation</vt:lpstr>
      <vt:lpstr>PPT: NY and Unapproved States Product Build</vt:lpstr>
      <vt:lpstr>MPI Underwriting Optimization MVP1 Increase new business writings by simplifying point-of-sale underwriting and accelerating rule-based decisions</vt:lpstr>
      <vt:lpstr>MPI Underwriting Optimization MVP 2 Increase new business writings by simplifying point-of-sale underwriting and accelerating rule-based decisions</vt:lpstr>
      <vt:lpstr>MPI Underwriting Optimization MVP 3 Increase new business writings by simplifying point-of-sale underwriting and accelerating rule-based decisions.</vt:lpstr>
      <vt:lpstr>MPPC to MPI Conversion at Notice of Cancel Deliver the ability to offer cancelled MPPC policies conversion to MPI upon termination of working with the employer</vt:lpstr>
      <vt:lpstr>PEC Product &amp; Underwriting Enhancements</vt:lpstr>
      <vt:lpstr>Enhance Multi Denial Code Claims Z160/Z151</vt:lpstr>
      <vt:lpstr>MPI Pricing Segmentation Sophistication</vt:lpstr>
      <vt:lpstr>Pet Model Law Reboot  Weekly Status Update</vt:lpstr>
      <vt:lpstr>PowerPoint Presentation</vt:lpstr>
      <vt:lpstr>Refresh the Windows 2022 Server</vt:lpstr>
      <vt:lpstr>NW Pet: Enhancement for Commission Reporting  - Internal Batch </vt:lpstr>
      <vt:lpstr>2026 GIN Updates</vt:lpstr>
      <vt:lpstr>NW Pet: CPP Right to Delete and Right to access (Externally funded)</vt:lpstr>
      <vt:lpstr>NW Pet: Vulnerabilities Remediation</vt:lpstr>
      <vt:lpstr>Projects on Hold</vt:lpstr>
      <vt:lpstr>NW Pet – Convert: Move Informatica Power Center to Python</vt:lpstr>
      <vt:lpstr>Completed Projects</vt:lpstr>
      <vt:lpstr>Pet Paperless eDelivery – Status</vt:lpstr>
      <vt:lpstr>Non-Insurance Bundle v1 (Portfolio ID: 1024485) Providing our VB partners with additional non-insurance options</vt:lpstr>
      <vt:lpstr>Data Center Production Migration</vt:lpstr>
      <vt:lpstr>NW Pet - Update Legacy Portal Interface to UAV3 - CHG0033774 - Deployed</vt:lpstr>
      <vt:lpstr>PowerPoint Presentation</vt:lpstr>
      <vt:lpstr>Talend to Python Migration</vt:lpstr>
      <vt:lpstr>Planning Funnel</vt:lpstr>
      <vt:lpstr>Business Backlog</vt:lpstr>
      <vt:lpstr>Plan Backlog</vt:lpstr>
      <vt:lpstr>HLA Backlog</vt:lpstr>
      <vt:lpstr>Pending Funding Backlog -</vt:lpstr>
      <vt:lpstr>Pending Funding Backlog</vt:lpstr>
      <vt:lpstr>Closed / On Hold in Last Month </vt:lpstr>
      <vt:lpstr>Plan to Build Start</vt:lpstr>
      <vt:lpstr>Plan to Build /Ready for Hand-off</vt:lpstr>
      <vt:lpstr>Build Backlog</vt:lpstr>
      <vt:lpstr>Run Handoff</vt:lpstr>
      <vt:lpstr>Appendix</vt:lpstr>
      <vt:lpstr>2026 Release Status – Work in Process</vt:lpstr>
      <vt:lpstr>PowerPoint Presentation</vt:lpstr>
      <vt:lpstr>PowerPoint Presentation</vt:lpstr>
      <vt:lpstr>PowerPoint Presentation</vt:lpstr>
    </vt:vector>
  </TitlesOfParts>
  <Company>Nationwide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Trudeau, Cindy</dc:creator>
  <cp:revision>1</cp:revision>
  <dcterms:created xsi:type="dcterms:W3CDTF">2026-02-24T14:26:59Z</dcterms:created>
  <dcterms:modified xsi:type="dcterms:W3CDTF">2026-09-01T17:22:59Z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0x01010089F0AB2B94E9164080AE6A7AF0D97188</vt:lpwstr>
  </property>
  <property fmtid="{D5CDD505-2E9C-101B-9397-08002B2CF9AE}" pid="3" name="MSIP_Label_92ea8e88-16c4-4b55-a945-7bd6248db4bf_Enabled">
    <vt:lpwstr>true</vt:lpwstr>
  </property>
  <property fmtid="{D5CDD505-2E9C-101B-9397-08002B2CF9AE}" pid="4" name="MSIP_Label_92ea8e88-16c4-4b55-a945-7bd6248db4bf_SetDate">
    <vt:lpwstr>2023-09-28T14:46:45Z</vt:lpwstr>
  </property>
  <property fmtid="{D5CDD505-2E9C-101B-9397-08002B2CF9AE}" pid="5" name="MSIP_Label_92ea8e88-16c4-4b55-a945-7bd6248db4bf_Method">
    <vt:lpwstr>Standard</vt:lpwstr>
  </property>
  <property fmtid="{D5CDD505-2E9C-101B-9397-08002B2CF9AE}" pid="6" name="MSIP_Label_92ea8e88-16c4-4b55-a945-7bd6248db4bf_Name">
    <vt:lpwstr>Internal</vt:lpwstr>
  </property>
  <property fmtid="{D5CDD505-2E9C-101B-9397-08002B2CF9AE}" pid="7" name="MSIP_Label_92ea8e88-16c4-4b55-a945-7bd6248db4bf_SiteId">
    <vt:lpwstr>22140e4c-d390-45c2-b297-a26c516dc461</vt:lpwstr>
  </property>
  <property fmtid="{D5CDD505-2E9C-101B-9397-08002B2CF9AE}" pid="8" name="MSIP_Label_92ea8e88-16c4-4b55-a945-7bd6248db4bf_ActionId">
    <vt:lpwstr>dcd6a9bd-bbce-4372-a7dd-aa128be87831</vt:lpwstr>
  </property>
  <property fmtid="{D5CDD505-2E9C-101B-9397-08002B2CF9AE}" pid="9" name="MSIP_Label_92ea8e88-16c4-4b55-a945-7bd6248db4bf_ContentBits">
    <vt:lpwstr>0</vt:lpwstr>
  </property>
</Properties>
</file>
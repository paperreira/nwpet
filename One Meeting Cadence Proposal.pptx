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5"/>
    <p:sldId id="263" r:id="rId4"/>
    <p:sldId id="264" r:id="rId3"/>
    <p:sldId id="265" r:id="rId2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9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Recurring attendee-hours per year</c:v>
                </c:pt>
              </c:strCache>
            </c:strRef>
          </c:tx>
          <c:dPt>
            <c:idx val="0"/>
            <c:spPr>
              <a:solidFill>
                <a:srgbClr val="141B4D"/>
              </a:solidFill>
            </c:spPr>
          </c:dPt>
          <c:dPt>
            <c:idx val="1"/>
            <c:spPr>
              <a:solidFill>
                <a:srgbClr val="9DB3DB"/>
              </a:solidFill>
            </c:spPr>
          </c:dPt>
          <c:dPt>
            <c:idx val="2"/>
            <c:spPr>
              <a:solidFill>
                <a:srgbClr val="009788"/>
              </a:solidFill>
            </c:spPr>
          </c:dPt>
          <c:cat>
            <c:strRef>
              <c:f>Sheet1!$A$2:$A$4</c:f>
              <c:strCache>
                <c:ptCount val="3"/>
                <c:pt idx="0">
                  <c:v>Today</c:v>
                </c:pt>
                <c:pt idx="1">
                  <c:v>Tiered proposal</c:v>
                </c:pt>
                <c:pt idx="2">
                  <c:v>One cadence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9480</c:v>
                </c:pt>
                <c:pt idx="1">
                  <c:v>3300</c:v>
                </c:pt>
                <c:pt idx="2">
                  <c:v>1872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5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500000"/>
        <c:axId val="500001"/>
      </c:barChart>
      <c:catAx>
        <c:axId val="500000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3B5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500001"/>
        <c:crosses val="autoZero"/>
        <c:auto val="1"/>
        <c:lblAlgn val="ctr"/>
        <c:lblOffset val="100"/>
        <c:noMultiLvlLbl val="0"/>
      </c:catAx>
      <c:valAx>
        <c:axId val="500001"/>
        <c:scaling/>
        <c:delete/>
        <c:axPos val="l"/>
        <c:majorTickMark val="out"/>
        <c:minorTickMark val="none"/>
        <c:tickLblPos val="nextTo"/>
        <c:crossAx val="500000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method as the tiered proposal. Future hours: 22 projects x 3 required attendees x 0.5 hr x 52 weeks = 1,716; plus one biweekly 60-minute decision forum with 6 attendees = 156. Total 1,872.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slide come from the original Meetings Proposal. Only 8% of recurring hours sit in Small and Straight to the Lines work, so separate size tiers for them save little.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Tier details are taken from the original proposal (slide 5). The $5M figure reflects the current sizing bands as described by the delivery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Replaces four layers and three size tiers with two recurring meetings. The weekly strategy forum is folded into the biweekly Decision Forum.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Checkpoints map to the TPM phased delivery process: Discovery walkthroughs, Gate 1 estimate approval, Gate 2 Go / No-Go and Closing hypercare.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Bare minimum: 3 required people per Project Sync. Adding the Agile Lead as a fourth required attendee raises the total to 2,444 hours, still a 74%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Tiered proposal figure is its three-strategy case (3,300 hours). Today = 9,480 hours from the original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78 = 3 attendees x 0.5 hr x 52 weeks per project. 156 = 6 attendees x 1 hr x 26 forums. If the forum ran weekly, total = 2,028 hours (78.6% reduction).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Savings from cancelled meetings under the skip rule are not counted in the 1,872-hour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success measures as the original proposal, plus cancellations under the skip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slide mirrors the original proposal's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7D43D-C1EE-C8C4-EFCD-8BE2BC4B4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A2FE2E-2040-ED77-5B4C-60AD0D955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AB901-AD8C-EEB0-9138-4C85EC6D9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D268-5451-4E79-85BF-696312FC868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3B94F-8FB3-0F47-B2A2-5207C6255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5840D-D1A7-368B-F292-650A0579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1E28-30C2-405D-86FB-1B2DA406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0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AA83F-0D66-A30D-B81A-B2C37A5F5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CA160-4E04-555A-FD6B-73BC604DC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8B963-94BC-5ABF-EDAC-656371384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D268-5451-4E79-85BF-696312FC868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8D7D0-21B5-214C-6D20-AC0AF2EF4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AEF05-4883-4DE9-7FD8-E27456764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1E28-30C2-405D-86FB-1B2DA406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813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F53C4-1A8F-E638-0FC1-FF4C8D9A0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78FFA-F741-0B2C-5B23-F298DD050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34A79-3182-4873-C02D-FF6AFBDD9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D268-5451-4E79-85BF-696312FC868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E5F70-5AC1-B729-4958-2B6F6BA31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E1F3E-20AE-AD29-2F71-88C59A919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1E28-30C2-405D-86FB-1B2DA406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556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1B690-2720-5112-3FBD-00502DF80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77349-D7FE-81C1-BCA2-0CA151F1C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01A2F-7ED7-F960-5237-2342E5239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F7699-537A-DED6-288C-6E96DA0DA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D268-5451-4E79-85BF-696312FC868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F9E2D-C61A-BDDC-2A14-BD26A3DD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3350F-3D1B-F413-FF21-C25A1BF85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1E28-30C2-405D-86FB-1B2DA406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889E-E810-DB22-2450-B3EC72156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138F8-7FF5-7E8A-B3C5-A9C7BE89A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AE15F3-E7FA-BB96-6B36-A0C080F79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B6E103-4892-9C97-5353-F2EA35A596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985BF9-C8CF-8976-C70E-CDDC1C141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96EDB1-F953-A153-EC00-6C960EE22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D268-5451-4E79-85BF-696312FC868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DE0762-8DB2-88F5-FCA4-98F6CB215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F76DFC-6AD4-FAC0-045A-8F4E92F2D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1E28-30C2-405D-86FB-1B2DA406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09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9859C-C9B1-6AA1-3151-DBE3427D5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1AFE54-B39C-E84F-1FC9-FC09536F4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D268-5451-4E79-85BF-696312FC868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8FFA47-7B75-E42C-4F0C-3B683ADE5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4069C6-59CC-BFD5-CC9C-9FC360418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1E28-30C2-405D-86FB-1B2DA406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077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326CC7-4B48-2B49-3F57-3F73DDE5B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D268-5451-4E79-85BF-696312FC868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362A2D-0C9F-254E-AD9F-827732F2B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73121-5896-DA82-761A-5255F94D3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1E28-30C2-405D-86FB-1B2DA406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725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931FD-988F-F8F3-4EB7-7AFEC1D73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50B29-E8F2-B6F3-4740-3E1781E74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B53DC-0548-7E69-B936-EED654C5C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9E149-C0FE-EF4F-F357-057110631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D268-5451-4E79-85BF-696312FC868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7D5C9-8393-B8B7-7337-345F4A62E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0250F-EBDB-BB2E-6D36-42038B3CC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1E28-30C2-405D-86FB-1B2DA406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168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570F3-54B3-E855-1EC3-0C5CB0270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85A535-AAA5-C04C-81D0-BFE04CEEBF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F5C272-6257-D90D-3C39-0C879558F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D0C52-27E9-DAE7-325D-DA7D422A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D268-5451-4E79-85BF-696312FC868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5D2E0-A484-8E0F-1E1C-CC25E2582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63264-95CA-4DF1-CD93-4B71CE783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1E28-30C2-405D-86FB-1B2DA406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61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25B8B-318A-495C-4F3D-DC9E26433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F0296-E20B-EC4A-FD75-3AE9A8216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C481F-FE8B-1B3E-2C3E-0DF99C357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D268-5451-4E79-85BF-696312FC868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DA00C-A7C1-73F7-85E7-E1C12CAF4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B08FC-4481-1F3B-836F-027EED7C5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1E28-30C2-405D-86FB-1B2DA406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013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DD5593-DF3E-C04A-4CC4-CB552313E1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52007-8EFE-849C-8C55-DF579E3E0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9B2DD-DD4C-1E81-ECBB-7C2BEE1D3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8D268-5451-4E79-85BF-696312FC868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F9762-CC6F-7324-02DB-5C42B9901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D7AAC-320F-E1E4-121C-D9C9F915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1E28-30C2-405D-86FB-1B2DA406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898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8626EF-3FB1-8F67-1036-88DE3792B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DC59D-4AAD-FF11-52D7-22083918E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35E5D-1EA7-FC26-70B1-281011C2AF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58D268-5451-4E79-85BF-696312FC868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6E33D-5B6B-C775-E2C0-66E29D0D2A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D368C-B36B-C3E8-F7D4-6F6BBB51C8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FE1E28-30C2-405D-86FB-1B2DA4063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107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7BB"/>
                </a:solidFill>
                <a:latin typeface="Georgia"/>
                <a:ea typeface="Georgia"/>
                <a:cs typeface="Georgia"/>
              </a:rPr>
              <a:t>One cadence releases 7,608 recurring attendee-hours a year</a:t>
            </a:r>
          </a:p>
        </p:txBody>
      </p:sp>
      <p:cxnSp>
        <p:nvCxnSpPr>
          <p:cNvPr id="3" name="Title rule"/>
          <p:cNvCxnSpPr/>
          <p:nvPr/>
        </p:nvCxnSpPr>
        <p:spPr>
          <a:xfrm>
            <a:off x="411480" y="1051560"/>
            <a:ext cx="11365992" cy="0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tat card 1"/>
          <p:cNvSpPr/>
          <p:nvPr/>
        </p:nvSpPr>
        <p:spPr>
          <a:xfrm>
            <a:off x="411480" y="1417320"/>
            <a:ext cx="3611880" cy="27889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t strip 1"/>
          <p:cNvSpPr/>
          <p:nvPr/>
        </p:nvSpPr>
        <p:spPr>
          <a:xfrm>
            <a:off x="411480" y="1417320"/>
            <a:ext cx="3611880" cy="91440"/>
          </a:xfrm>
          <a:prstGeom prst="rect">
            <a:avLst/>
          </a:prstGeom>
          <a:solidFill>
            <a:srgbClr val="4A5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 1"/>
          <p:cNvSpPr txBox="1"/>
          <p:nvPr/>
        </p:nvSpPr>
        <p:spPr>
          <a:xfrm>
            <a:off x="411480" y="1691640"/>
            <a:ext cx="3611880" cy="105156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9,480</a:t>
            </a:r>
          </a:p>
        </p:txBody>
      </p:sp>
      <p:sp>
        <p:nvSpPr>
          <p:cNvPr id="7" name="Stat unit 1"/>
          <p:cNvSpPr txBox="1"/>
          <p:nvPr/>
        </p:nvSpPr>
        <p:spPr>
          <a:xfrm>
            <a:off x="411480" y="2743200"/>
            <a:ext cx="3611880" cy="36576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1700" b="0" spc="100" dirty="0">
                <a:solidFill>
                  <a:srgbClr val="E6ECF8"/>
                </a:solidFill>
                <a:latin typeface="Arial"/>
                <a:ea typeface="Arial"/>
                <a:cs typeface="Arial"/>
              </a:rPr>
              <a:t>hours</a:t>
            </a:r>
          </a:p>
        </p:txBody>
      </p:sp>
      <p:sp>
        <p:nvSpPr>
          <p:cNvPr id="8" name="Stat label 1"/>
          <p:cNvSpPr txBox="1"/>
          <p:nvPr/>
        </p:nvSpPr>
        <p:spPr>
          <a:xfrm>
            <a:off x="685800" y="3154680"/>
            <a:ext cx="3063240" cy="7772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marL="0" indent="0" algn="ctr">
              <a:buNone/>
            </a:pPr>
            <a:r>
              <a:rPr lang="en-US"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layered recurring attendee-hours</a:t>
            </a:r>
          </a:p>
        </p:txBody>
      </p:sp>
      <p:sp>
        <p:nvSpPr>
          <p:cNvPr id="9" name="Stat card 2"/>
          <p:cNvSpPr/>
          <p:nvPr/>
        </p:nvSpPr>
        <p:spPr>
          <a:xfrm>
            <a:off x="4288536" y="1417320"/>
            <a:ext cx="3611880" cy="2788920"/>
          </a:xfrm>
          <a:prstGeom prst="rect">
            <a:avLst/>
          </a:prstGeom>
          <a:solidFill>
            <a:srgbClr val="004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 strip 2"/>
          <p:cNvSpPr/>
          <p:nvPr/>
        </p:nvSpPr>
        <p:spPr>
          <a:xfrm>
            <a:off x="4288536" y="1417320"/>
            <a:ext cx="3611880" cy="91440"/>
          </a:xfrm>
          <a:prstGeom prst="rect">
            <a:avLst/>
          </a:prstGeom>
          <a:solidFill>
            <a:srgbClr val="4A8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 2"/>
          <p:cNvSpPr txBox="1"/>
          <p:nvPr/>
        </p:nvSpPr>
        <p:spPr>
          <a:xfrm>
            <a:off x="4288536" y="1691640"/>
            <a:ext cx="3611880" cy="105156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1,872</a:t>
            </a:r>
          </a:p>
        </p:txBody>
      </p:sp>
      <p:sp>
        <p:nvSpPr>
          <p:cNvPr id="12" name="Stat unit 2"/>
          <p:cNvSpPr txBox="1"/>
          <p:nvPr/>
        </p:nvSpPr>
        <p:spPr>
          <a:xfrm>
            <a:off x="4288536" y="2743200"/>
            <a:ext cx="3611880" cy="36576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1700" b="0" spc="100" dirty="0">
                <a:solidFill>
                  <a:srgbClr val="E6ECF8"/>
                </a:solidFill>
                <a:latin typeface="Arial"/>
                <a:ea typeface="Arial"/>
                <a:cs typeface="Arial"/>
              </a:rPr>
              <a:t>hours</a:t>
            </a:r>
          </a:p>
        </p:txBody>
      </p:sp>
      <p:sp>
        <p:nvSpPr>
          <p:cNvPr id="13" name="Stat label 2"/>
          <p:cNvSpPr txBox="1"/>
          <p:nvPr/>
        </p:nvSpPr>
        <p:spPr>
          <a:xfrm>
            <a:off x="4562856" y="3154680"/>
            <a:ext cx="3063240" cy="7772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marL="0" indent="0" algn="ctr">
              <a:buNone/>
            </a:pPr>
            <a:r>
              <a:rPr lang="en-US"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Future recurring attendee-hours (one cadence)</a:t>
            </a:r>
          </a:p>
        </p:txBody>
      </p:sp>
      <p:sp>
        <p:nvSpPr>
          <p:cNvPr id="14" name="Stat card 3"/>
          <p:cNvSpPr/>
          <p:nvPr/>
        </p:nvSpPr>
        <p:spPr>
          <a:xfrm>
            <a:off x="8165592" y="1417320"/>
            <a:ext cx="3611880" cy="2788920"/>
          </a:xfrm>
          <a:prstGeom prst="rect">
            <a:avLst/>
          </a:prstGeom>
          <a:solidFill>
            <a:srgbClr val="00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 strip 3"/>
          <p:cNvSpPr/>
          <p:nvPr/>
        </p:nvSpPr>
        <p:spPr>
          <a:xfrm>
            <a:off x="8165592" y="1417320"/>
            <a:ext cx="3611880" cy="91440"/>
          </a:xfrm>
          <a:prstGeom prst="rect">
            <a:avLst/>
          </a:prstGeom>
          <a:solidFill>
            <a:srgbClr val="5CC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 3"/>
          <p:cNvSpPr txBox="1"/>
          <p:nvPr/>
        </p:nvSpPr>
        <p:spPr>
          <a:xfrm>
            <a:off x="8165592" y="1691640"/>
            <a:ext cx="3611880" cy="105156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7,608</a:t>
            </a:r>
          </a:p>
        </p:txBody>
      </p:sp>
      <p:sp>
        <p:nvSpPr>
          <p:cNvPr id="17" name="Stat unit 3"/>
          <p:cNvSpPr txBox="1"/>
          <p:nvPr/>
        </p:nvSpPr>
        <p:spPr>
          <a:xfrm>
            <a:off x="8165592" y="2743200"/>
            <a:ext cx="3611880" cy="36576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1700" b="0" spc="100" dirty="0">
                <a:solidFill>
                  <a:srgbClr val="E6ECF8"/>
                </a:solidFill>
                <a:latin typeface="Arial"/>
                <a:ea typeface="Arial"/>
                <a:cs typeface="Arial"/>
              </a:rPr>
              <a:t>hours released</a:t>
            </a:r>
          </a:p>
        </p:txBody>
      </p:sp>
      <p:sp>
        <p:nvSpPr>
          <p:cNvPr id="18" name="Stat label 3"/>
          <p:cNvSpPr txBox="1"/>
          <p:nvPr/>
        </p:nvSpPr>
        <p:spPr>
          <a:xfrm>
            <a:off x="8439912" y="3154680"/>
            <a:ext cx="3063240" cy="7772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marL="0" indent="0" algn="ctr">
              <a:buNone/>
            </a:pPr>
            <a:r>
              <a:rPr lang="en-US"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80.3% reduction in recurring attendee-hours</a:t>
            </a:r>
          </a:p>
        </p:txBody>
      </p:sp>
      <p:sp>
        <p:nvSpPr>
          <p:cNvPr id="19" name="Value band"/>
          <p:cNvSpPr/>
          <p:nvPr/>
        </p:nvSpPr>
        <p:spPr>
          <a:xfrm>
            <a:off x="411480" y="4526280"/>
            <a:ext cx="11365992" cy="868680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alue accent"/>
          <p:cNvSpPr/>
          <p:nvPr/>
        </p:nvSpPr>
        <p:spPr>
          <a:xfrm>
            <a:off x="411480" y="4526280"/>
            <a:ext cx="73152" cy="868680"/>
          </a:xfrm>
          <a:prstGeom prst="rect">
            <a:avLst/>
          </a:prstGeom>
          <a:solidFill>
            <a:srgbClr val="004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alue text"/>
          <p:cNvSpPr txBox="1"/>
          <p:nvPr/>
        </p:nvSpPr>
        <p:spPr>
          <a:xfrm>
            <a:off x="731520" y="4526280"/>
            <a:ext cx="10972800" cy="86868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7BB"/>
                </a:solidFill>
                <a:latin typeface="Georgia"/>
                <a:ea typeface="Georgia"/>
                <a:cs typeface="Georgia"/>
              </a:rPr>
              <a:t>$760,800  </a:t>
            </a:r>
            <a:r>
              <a:rPr lang="en-US" sz="16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annual capacity value released, valued at $100 per attendee-hour.</a:t>
            </a:r>
          </a:p>
        </p:txBody>
      </p:sp>
      <p:sp>
        <p:nvSpPr>
          <p:cNvPr id="22" name="Footnote"/>
          <p:cNvSpPr txBox="1"/>
          <p:nvPr/>
        </p:nvSpPr>
        <p:spPr>
          <a:xfrm>
            <a:off x="411480" y="5669280"/>
            <a:ext cx="11338560" cy="32004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050" b="0" i="1" dirty="0">
                <a:solidFill>
                  <a:srgbClr val="5F6673"/>
                </a:solidFill>
                <a:latin typeface="Arial"/>
                <a:ea typeface="Arial"/>
                <a:cs typeface="Arial"/>
              </a:rPr>
              <a:t>Recurring run-rate only, using the tiered proposal's method (30-minute meetings, $100 per attendee-hour). Event-based checkpoints are excluded in both models.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7BB"/>
                </a:solidFill>
                <a:latin typeface="Georgia"/>
                <a:ea typeface="Georgia"/>
                <a:cs typeface="Georgia"/>
              </a:rPr>
              <a:t>Meetings are fragmented across 52 types and 22 projects</a:t>
            </a:r>
          </a:p>
        </p:txBody>
      </p:sp>
      <p:cxnSp>
        <p:nvCxnSpPr>
          <p:cNvPr id="3" name="Title rule"/>
          <p:cNvCxnSpPr/>
          <p:nvPr/>
        </p:nvCxnSpPr>
        <p:spPr>
          <a:xfrm>
            <a:off x="411480" y="1051560"/>
            <a:ext cx="11365992" cy="0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act box 1"/>
          <p:cNvSpPr/>
          <p:nvPr/>
        </p:nvSpPr>
        <p:spPr>
          <a:xfrm>
            <a:off x="411480" y="1371600"/>
            <a:ext cx="2670048" cy="1325880"/>
          </a:xfrm>
          <a:prstGeom prst="rect">
            <a:avLst/>
          </a:prstGeom>
          <a:solidFill>
            <a:srgbClr val="EEF2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act 1"/>
          <p:cNvSpPr txBox="1"/>
          <p:nvPr/>
        </p:nvSpPr>
        <p:spPr>
          <a:xfrm>
            <a:off x="411480" y="1463040"/>
            <a:ext cx="2670048" cy="68580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47BB"/>
                </a:solidFill>
                <a:latin typeface="Georgia"/>
                <a:ea typeface="Georgia"/>
                <a:cs typeface="Georgia"/>
              </a:rPr>
              <a:t>52</a:t>
            </a:r>
          </a:p>
        </p:txBody>
      </p:sp>
      <p:sp>
        <p:nvSpPr>
          <p:cNvPr id="6" name="Fact label 1"/>
          <p:cNvSpPr txBox="1"/>
          <p:nvPr/>
        </p:nvSpPr>
        <p:spPr>
          <a:xfrm>
            <a:off x="411480" y="2148840"/>
            <a:ext cx="2670048" cy="41148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15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distinct meeting types</a:t>
            </a:r>
          </a:p>
        </p:txBody>
      </p:sp>
      <p:sp>
        <p:nvSpPr>
          <p:cNvPr id="7" name="Fact box 2"/>
          <p:cNvSpPr/>
          <p:nvPr/>
        </p:nvSpPr>
        <p:spPr>
          <a:xfrm>
            <a:off x="3310128" y="1371600"/>
            <a:ext cx="2670048" cy="1325880"/>
          </a:xfrm>
          <a:prstGeom prst="rect">
            <a:avLst/>
          </a:prstGeom>
          <a:solidFill>
            <a:srgbClr val="EEF2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act 2"/>
          <p:cNvSpPr txBox="1"/>
          <p:nvPr/>
        </p:nvSpPr>
        <p:spPr>
          <a:xfrm>
            <a:off x="3310128" y="1463040"/>
            <a:ext cx="2670048" cy="68580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47BB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9" name="Fact label 2"/>
          <p:cNvSpPr txBox="1"/>
          <p:nvPr/>
        </p:nvSpPr>
        <p:spPr>
          <a:xfrm>
            <a:off x="3310128" y="2148840"/>
            <a:ext cx="2670048" cy="41148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15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projects</a:t>
            </a:r>
          </a:p>
        </p:txBody>
      </p:sp>
      <p:sp>
        <p:nvSpPr>
          <p:cNvPr id="10" name="Fact box 3"/>
          <p:cNvSpPr/>
          <p:nvPr/>
        </p:nvSpPr>
        <p:spPr>
          <a:xfrm>
            <a:off x="6208776" y="1371600"/>
            <a:ext cx="2670048" cy="1325880"/>
          </a:xfrm>
          <a:prstGeom prst="rect">
            <a:avLst/>
          </a:prstGeom>
          <a:solidFill>
            <a:srgbClr val="EEF2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act 3"/>
          <p:cNvSpPr txBox="1"/>
          <p:nvPr/>
        </p:nvSpPr>
        <p:spPr>
          <a:xfrm>
            <a:off x="6208776" y="1463040"/>
            <a:ext cx="2670048" cy="68580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47BB"/>
                </a:solidFill>
                <a:latin typeface="Georgia"/>
                <a:ea typeface="Georgia"/>
                <a:cs typeface="Georgia"/>
              </a:rPr>
              <a:t>31</a:t>
            </a:r>
          </a:p>
        </p:txBody>
      </p:sp>
      <p:sp>
        <p:nvSpPr>
          <p:cNvPr id="12" name="Fact label 3"/>
          <p:cNvSpPr txBox="1"/>
          <p:nvPr/>
        </p:nvSpPr>
        <p:spPr>
          <a:xfrm>
            <a:off x="6208776" y="2148840"/>
            <a:ext cx="2670048" cy="41148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15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recurring meeting types</a:t>
            </a:r>
          </a:p>
        </p:txBody>
      </p:sp>
      <p:sp>
        <p:nvSpPr>
          <p:cNvPr id="13" name="Fact box 4"/>
          <p:cNvSpPr/>
          <p:nvPr/>
        </p:nvSpPr>
        <p:spPr>
          <a:xfrm>
            <a:off x="9107424" y="1371600"/>
            <a:ext cx="2670048" cy="1325880"/>
          </a:xfrm>
          <a:prstGeom prst="rect">
            <a:avLst/>
          </a:prstGeom>
          <a:solidFill>
            <a:srgbClr val="EEF2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act 4"/>
          <p:cNvSpPr txBox="1"/>
          <p:nvPr/>
        </p:nvSpPr>
        <p:spPr>
          <a:xfrm>
            <a:off x="9107424" y="1463040"/>
            <a:ext cx="2670048" cy="68580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47BB"/>
                </a:solidFill>
                <a:latin typeface="Georgia"/>
                <a:ea typeface="Georgia"/>
                <a:cs typeface="Georgia"/>
              </a:rPr>
              <a:t>1.41</a:t>
            </a:r>
          </a:p>
        </p:txBody>
      </p:sp>
      <p:sp>
        <p:nvSpPr>
          <p:cNvPr id="15" name="Fact label 4"/>
          <p:cNvSpPr txBox="1"/>
          <p:nvPr/>
        </p:nvSpPr>
        <p:spPr>
          <a:xfrm>
            <a:off x="9107424" y="2148840"/>
            <a:ext cx="2670048" cy="41148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15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recurring types per project (avg)</a:t>
            </a:r>
          </a:p>
        </p:txBody>
      </p:sp>
      <p:sp>
        <p:nvSpPr>
          <p:cNvPr id="16" name="Bar heading"/>
          <p:cNvSpPr txBox="1"/>
          <p:nvPr/>
        </p:nvSpPr>
        <p:spPr>
          <a:xfrm>
            <a:off x="411480" y="2971800"/>
            <a:ext cx="10972800" cy="36576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41B4D"/>
                </a:solidFill>
                <a:latin typeface="Arial"/>
                <a:ea typeface="Arial"/>
                <a:cs typeface="Arial"/>
              </a:rPr>
              <a:t>Where the recurring hours sit today</a:t>
            </a:r>
          </a:p>
        </p:txBody>
      </p:sp>
      <p:sp>
        <p:nvSpPr>
          <p:cNvPr id="17" name="Bar sub"/>
          <p:cNvSpPr txBox="1"/>
          <p:nvPr/>
        </p:nvSpPr>
        <p:spPr>
          <a:xfrm>
            <a:off x="411480" y="3310128"/>
            <a:ext cx="10972800" cy="32004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300" b="0" dirty="0">
                <a:solidFill>
                  <a:srgbClr val="5F6673"/>
                </a:solidFill>
                <a:latin typeface="Arial"/>
                <a:ea typeface="Arial"/>
                <a:cs typeface="Arial"/>
              </a:rPr>
              <a:t>Share of 9,246 current project recurring attendee-hours</a:t>
            </a:r>
          </a:p>
        </p:txBody>
      </p:sp>
      <p:sp>
        <p:nvSpPr>
          <p:cNvPr id="18" name="Bar medium large"/>
          <p:cNvSpPr/>
          <p:nvPr/>
        </p:nvSpPr>
        <p:spPr>
          <a:xfrm>
            <a:off x="411480" y="3749039"/>
            <a:ext cx="10502176" cy="868680"/>
          </a:xfrm>
          <a:prstGeom prst="rect">
            <a:avLst/>
          </a:prstGeom>
          <a:solidFill>
            <a:srgbClr val="004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small"/>
          <p:cNvSpPr/>
          <p:nvPr/>
        </p:nvSpPr>
        <p:spPr>
          <a:xfrm>
            <a:off x="10913656" y="3749039"/>
            <a:ext cx="863815" cy="868680"/>
          </a:xfrm>
          <a:prstGeom prst="rect">
            <a:avLst/>
          </a:prstGeom>
          <a:solidFill>
            <a:srgbClr val="9DB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label big"/>
          <p:cNvSpPr txBox="1"/>
          <p:nvPr/>
        </p:nvSpPr>
        <p:spPr>
          <a:xfrm>
            <a:off x="594360" y="3749039"/>
            <a:ext cx="5486400" cy="86868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Medium / Large</a:t>
            </a:r>
          </a:p>
          <a:p>
            <a:pPr marL="0" indent="0" algn="l">
              <a:buNone/>
            </a:pPr>
            <a:r>
              <a:rPr lang="en-US"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8,544 hours  (92%)</a:t>
            </a:r>
          </a:p>
        </p:txBody>
      </p:sp>
      <p:sp>
        <p:nvSpPr>
          <p:cNvPr id="21" name="Bar label small"/>
          <p:cNvSpPr txBox="1"/>
          <p:nvPr/>
        </p:nvSpPr>
        <p:spPr>
          <a:xfrm>
            <a:off x="9052560" y="4663440"/>
            <a:ext cx="2724912" cy="5486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41B4D"/>
                </a:solidFill>
                <a:latin typeface="Arial"/>
                <a:ea typeface="Arial"/>
                <a:cs typeface="Arial"/>
              </a:rPr>
              <a:t>Small / Straight to the Lines</a:t>
            </a:r>
          </a:p>
          <a:p>
            <a:pPr marL="0" indent="0" algn="r">
              <a:buNone/>
            </a:pPr>
            <a:r>
              <a:rPr lang="en-US" sz="13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702 hours  (8%)</a:t>
            </a:r>
          </a:p>
        </p:txBody>
      </p:sp>
      <p:sp>
        <p:nvSpPr>
          <p:cNvPr id="22" name="Key message bar"/>
          <p:cNvSpPr/>
          <p:nvPr/>
        </p:nvSpPr>
        <p:spPr>
          <a:xfrm>
            <a:off x="411480" y="5989320"/>
            <a:ext cx="11365992" cy="5029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ey message accent"/>
          <p:cNvSpPr/>
          <p:nvPr/>
        </p:nvSpPr>
        <p:spPr>
          <a:xfrm>
            <a:off x="411480" y="5989320"/>
            <a:ext cx="73152" cy="502920"/>
          </a:xfrm>
          <a:prstGeom prst="rect">
            <a:avLst/>
          </a:prstGeom>
          <a:solidFill>
            <a:srgbClr val="00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Key message"/>
          <p:cNvSpPr txBox="1"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9788"/>
                </a:solidFill>
                <a:latin typeface="Arial"/>
                <a:ea typeface="Arial"/>
                <a:cs typeface="Arial"/>
              </a:rPr>
              <a:t>Key message   </a:t>
            </a:r>
            <a:r>
              <a:rPr lang="en-US"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problem is duplicated coordination, not project size.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7BB"/>
                </a:solidFill>
                <a:latin typeface="Georgia"/>
                <a:ea typeface="Georgia"/>
                <a:cs typeface="Georgia"/>
              </a:rPr>
              <a:t>Sizing by cost alone adds rules without adding control</a:t>
            </a:r>
          </a:p>
        </p:txBody>
      </p:sp>
      <p:cxnSp>
        <p:nvCxnSpPr>
          <p:cNvPr id="3" name="Title rule"/>
          <p:cNvCxnSpPr/>
          <p:nvPr/>
        </p:nvCxnSpPr>
        <p:spPr>
          <a:xfrm>
            <a:off x="411480" y="1051560"/>
            <a:ext cx="11365992" cy="0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er heading"/>
          <p:cNvSpPr txBox="1"/>
          <p:nvPr/>
        </p:nvSpPr>
        <p:spPr>
          <a:xfrm>
            <a:off x="411480" y="1234440"/>
            <a:ext cx="7406640" cy="36576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1B4D"/>
                </a:solidFill>
                <a:latin typeface="Arial"/>
                <a:ea typeface="Arial"/>
                <a:cs typeface="Arial"/>
              </a:rPr>
              <a:t>The tiered proposal: three rule sets for one team</a:t>
            </a:r>
          </a:p>
        </p:txBody>
      </p:sp>
      <p:sp>
        <p:nvSpPr>
          <p:cNvPr id="5" name="Tier header 1"/>
          <p:cNvSpPr/>
          <p:nvPr/>
        </p:nvSpPr>
        <p:spPr>
          <a:xfrm>
            <a:off x="411480" y="1691640"/>
            <a:ext cx="2331720" cy="68580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er name 1"/>
          <p:cNvSpPr txBox="1"/>
          <p:nvPr/>
        </p:nvSpPr>
        <p:spPr>
          <a:xfrm>
            <a:off x="411480" y="1691640"/>
            <a:ext cx="2331720" cy="68580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Medium / Large</a:t>
            </a:r>
          </a:p>
        </p:txBody>
      </p:sp>
      <p:sp>
        <p:nvSpPr>
          <p:cNvPr id="7" name="Tier card 1"/>
          <p:cNvSpPr/>
          <p:nvPr/>
        </p:nvSpPr>
        <p:spPr>
          <a:xfrm>
            <a:off x="411480" y="2377440"/>
            <a:ext cx="23317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er body 1"/>
          <p:cNvSpPr txBox="1"/>
          <p:nvPr/>
        </p:nvSpPr>
        <p:spPr>
          <a:xfrm>
            <a:off x="548640" y="2514600"/>
            <a:ext cx="2057400" cy="19202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1B4D"/>
                </a:solidFill>
                <a:latin typeface="Arial"/>
                <a:ea typeface="Arial"/>
                <a:cs typeface="Arial"/>
              </a:rPr>
              <a:t>Core forum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Weekly, 6 attendees</a:t>
            </a:r>
          </a:p>
          <a:p>
            <a:pPr marL="0" indent="0" algn="l">
              <a:buNone/>
            </a:pPr>
            <a:r>
              <a:rPr lang="en-US" sz="1200" b="1" dirty="0">
                <a:solidFill>
                  <a:srgbClr val="141B4D"/>
                </a:solidFill>
                <a:latin typeface="Arial"/>
                <a:ea typeface="Arial"/>
                <a:cs typeface="Arial"/>
              </a:rPr>
              <a:t>Meeting types</a:t>
            </a:r>
          </a:p>
          <a:p>
            <a:pPr marL="0" indent="0" algn="l">
              <a:buNone/>
            </a:pPr>
            <a:r>
              <a:rPr lang="en-US" sz="14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9 lifecycle + 8 event-based types</a:t>
            </a:r>
          </a:p>
        </p:txBody>
      </p:sp>
      <p:sp>
        <p:nvSpPr>
          <p:cNvPr id="9" name="Tier header 2"/>
          <p:cNvSpPr/>
          <p:nvPr/>
        </p:nvSpPr>
        <p:spPr>
          <a:xfrm>
            <a:off x="2926080" y="1691640"/>
            <a:ext cx="2331720" cy="685800"/>
          </a:xfrm>
          <a:prstGeom prst="rect">
            <a:avLst/>
          </a:prstGeom>
          <a:solidFill>
            <a:srgbClr val="004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ier name 2"/>
          <p:cNvSpPr txBox="1"/>
          <p:nvPr/>
        </p:nvSpPr>
        <p:spPr>
          <a:xfrm>
            <a:off x="2926080" y="1691640"/>
            <a:ext cx="2331720" cy="68580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Small</a:t>
            </a:r>
          </a:p>
        </p:txBody>
      </p:sp>
      <p:sp>
        <p:nvSpPr>
          <p:cNvPr id="11" name="Tier card 2"/>
          <p:cNvSpPr/>
          <p:nvPr/>
        </p:nvSpPr>
        <p:spPr>
          <a:xfrm>
            <a:off x="2926080" y="2377440"/>
            <a:ext cx="23317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ier body 2"/>
          <p:cNvSpPr txBox="1"/>
          <p:nvPr/>
        </p:nvSpPr>
        <p:spPr>
          <a:xfrm>
            <a:off x="3063240" y="2514600"/>
            <a:ext cx="2057400" cy="19202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47BB"/>
                </a:solidFill>
                <a:latin typeface="Arial"/>
                <a:ea typeface="Arial"/>
                <a:cs typeface="Arial"/>
              </a:rPr>
              <a:t>Core forum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Every other week, 6 attendees</a:t>
            </a:r>
          </a:p>
          <a:p>
            <a:pPr marL="0" indent="0" algn="l">
              <a:buNone/>
            </a:pPr>
            <a:r>
              <a:rPr lang="en-US" sz="1200" b="1" dirty="0">
                <a:solidFill>
                  <a:srgbClr val="0047BB"/>
                </a:solidFill>
                <a:latin typeface="Arial"/>
                <a:ea typeface="Arial"/>
                <a:cs typeface="Arial"/>
              </a:rPr>
              <a:t>Meeting types</a:t>
            </a:r>
          </a:p>
          <a:p>
            <a:pPr marL="0" indent="0" algn="l">
              <a:buNone/>
            </a:pPr>
            <a:r>
              <a:rPr lang="en-US" sz="14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3 standard + 2 kickoff types</a:t>
            </a:r>
          </a:p>
        </p:txBody>
      </p:sp>
      <p:sp>
        <p:nvSpPr>
          <p:cNvPr id="13" name="Tier header 3"/>
          <p:cNvSpPr/>
          <p:nvPr/>
        </p:nvSpPr>
        <p:spPr>
          <a:xfrm>
            <a:off x="5440680" y="1691640"/>
            <a:ext cx="2331720" cy="685800"/>
          </a:xfrm>
          <a:prstGeom prst="rect">
            <a:avLst/>
          </a:prstGeom>
          <a:solidFill>
            <a:srgbClr val="005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name 3"/>
          <p:cNvSpPr txBox="1"/>
          <p:nvPr/>
        </p:nvSpPr>
        <p:spPr>
          <a:xfrm>
            <a:off x="5440680" y="1691640"/>
            <a:ext cx="2331720" cy="68580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Straight to the Lines</a:t>
            </a:r>
          </a:p>
        </p:txBody>
      </p:sp>
      <p:sp>
        <p:nvSpPr>
          <p:cNvPr id="15" name="Tier card 3"/>
          <p:cNvSpPr/>
          <p:nvPr/>
        </p:nvSpPr>
        <p:spPr>
          <a:xfrm>
            <a:off x="5440680" y="2377440"/>
            <a:ext cx="23317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body 3"/>
          <p:cNvSpPr txBox="1"/>
          <p:nvPr/>
        </p:nvSpPr>
        <p:spPr>
          <a:xfrm>
            <a:off x="5577840" y="2514600"/>
            <a:ext cx="2057400" cy="19202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566E"/>
                </a:solidFill>
                <a:latin typeface="Arial"/>
                <a:ea typeface="Arial"/>
                <a:cs typeface="Arial"/>
              </a:rPr>
              <a:t>Core forum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lang="en-US" sz="14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Monthly, 4 attendees</a:t>
            </a:r>
          </a:p>
          <a:p>
            <a:pPr marL="0" indent="0" algn="l">
              <a:buNone/>
            </a:pPr>
            <a:r>
              <a:rPr lang="en-US" sz="1200" b="1" dirty="0">
                <a:solidFill>
                  <a:srgbClr val="00566E"/>
                </a:solidFill>
                <a:latin typeface="Arial"/>
                <a:ea typeface="Arial"/>
                <a:cs typeface="Arial"/>
              </a:rPr>
              <a:t>Meeting types</a:t>
            </a:r>
          </a:p>
          <a:p>
            <a:pPr marL="0" indent="0" algn="l">
              <a:buNone/>
            </a:pPr>
            <a:r>
              <a:rPr lang="en-US" sz="14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1 Finance &amp; Risk Review</a:t>
            </a:r>
          </a:p>
        </p:txBody>
      </p:sp>
      <p:sp>
        <p:nvSpPr>
          <p:cNvPr id="17" name="Tier caveat"/>
          <p:cNvSpPr txBox="1"/>
          <p:nvPr/>
        </p:nvSpPr>
        <p:spPr>
          <a:xfrm>
            <a:off x="411480" y="4617720"/>
            <a:ext cx="7406640" cy="5486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buNone/>
            </a:pPr>
            <a:r>
              <a:rPr lang="en-US" sz="1250" b="0" i="1" dirty="0">
                <a:solidFill>
                  <a:srgbClr val="5F6673"/>
                </a:solidFill>
                <a:latin typeface="Arial"/>
                <a:ea typeface="Arial"/>
                <a:cs typeface="Arial"/>
              </a:rPr>
              <a:t>Each project must first be classified, and re-classified when its budget changes. The proposal's own Phase 3 still has to classify two projects and separate Medium from Large.</a:t>
            </a:r>
          </a:p>
        </p:txBody>
      </p:sp>
      <p:sp>
        <p:nvSpPr>
          <p:cNvPr id="18" name="Why panel"/>
          <p:cNvSpPr/>
          <p:nvPr/>
        </p:nvSpPr>
        <p:spPr>
          <a:xfrm>
            <a:off x="8092440" y="1234440"/>
            <a:ext cx="3685032" cy="3931920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Why text"/>
          <p:cNvSpPr txBox="1"/>
          <p:nvPr/>
        </p:nvSpPr>
        <p:spPr>
          <a:xfrm>
            <a:off x="8275320" y="1371600"/>
            <a:ext cx="3383280" cy="3749039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41B4D"/>
                </a:solidFill>
                <a:latin typeface="Arial"/>
                <a:ea typeface="Arial"/>
                <a:cs typeface="Arial"/>
              </a:rPr>
              <a:t>Why one cadence is simpler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lang="en-US" sz="135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Cost does not predict coordination need. Risk, dependencies and the number of teams do.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lang="en-US" sz="135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largest projects are about $5M, so "large" says little about complexity.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lang="en-US" sz="135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Small and Straight to the Lines work holds only 8% of recurring hours.</a:t>
            </a:r>
          </a:p>
          <a:p>
            <a:pPr marL="228600" indent="-228600" algn="l">
              <a:buFont typeface="Arial"/>
              <a:buChar char="•"/>
            </a:pPr>
            <a:r>
              <a:rPr lang="en-US" sz="135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One rule is easier to teach, follow and audit than three.</a:t>
            </a:r>
          </a:p>
        </p:txBody>
      </p:sp>
      <p:sp>
        <p:nvSpPr>
          <p:cNvPr id="20" name="Key message bar"/>
          <p:cNvSpPr/>
          <p:nvPr/>
        </p:nvSpPr>
        <p:spPr>
          <a:xfrm>
            <a:off x="411480" y="5989320"/>
            <a:ext cx="11365992" cy="5029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ey message accent"/>
          <p:cNvSpPr/>
          <p:nvPr/>
        </p:nvSpPr>
        <p:spPr>
          <a:xfrm>
            <a:off x="411480" y="5989320"/>
            <a:ext cx="73152" cy="502920"/>
          </a:xfrm>
          <a:prstGeom prst="rect">
            <a:avLst/>
          </a:prstGeom>
          <a:solidFill>
            <a:srgbClr val="00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ey message"/>
          <p:cNvSpPr txBox="1"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9788"/>
                </a:solidFill>
                <a:latin typeface="Arial"/>
                <a:ea typeface="Arial"/>
                <a:cs typeface="Arial"/>
              </a:rPr>
              <a:t>Key message   </a:t>
            </a:r>
            <a:r>
              <a:rPr lang="en-US"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Let the work's risk add checkpoints, not its budget add meetings.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7BB"/>
                </a:solidFill>
                <a:latin typeface="Georgia"/>
                <a:ea typeface="Georgia"/>
                <a:cs typeface="Georgia"/>
              </a:rPr>
              <a:t>Two recurring meetings, plus checkpoints only when needed</a:t>
            </a:r>
          </a:p>
        </p:txBody>
      </p:sp>
      <p:cxnSp>
        <p:nvCxnSpPr>
          <p:cNvPr id="3" name="Title rule"/>
          <p:cNvCxnSpPr/>
          <p:nvPr/>
        </p:nvCxnSpPr>
        <p:spPr>
          <a:xfrm>
            <a:off x="411480" y="1051560"/>
            <a:ext cx="11365992" cy="0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yer 1 label box"/>
          <p:cNvSpPr/>
          <p:nvPr/>
        </p:nvSpPr>
        <p:spPr>
          <a:xfrm>
            <a:off x="411480" y="1280160"/>
            <a:ext cx="3108960" cy="100584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yer 1 label"/>
          <p:cNvSpPr txBox="1"/>
          <p:nvPr/>
        </p:nvSpPr>
        <p:spPr>
          <a:xfrm>
            <a:off x="640080" y="1280160"/>
            <a:ext cx="2834640" cy="100584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Decision Forum</a:t>
            </a:r>
          </a:p>
        </p:txBody>
      </p:sp>
      <p:sp>
        <p:nvSpPr>
          <p:cNvPr id="6" name="Layer 1 body box"/>
          <p:cNvSpPr/>
          <p:nvPr/>
        </p:nvSpPr>
        <p:spPr>
          <a:xfrm>
            <a:off x="3520440" y="1280160"/>
            <a:ext cx="8257031" cy="1005840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yer 1 text"/>
          <p:cNvSpPr txBox="1"/>
          <p:nvPr/>
        </p:nvSpPr>
        <p:spPr>
          <a:xfrm>
            <a:off x="3749039" y="1280160"/>
            <a:ext cx="6035040" cy="100584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45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One 60-minute forum every other week for portfolio and strategy decisions: escalations, funding, priorities and shared-resource conflicts.</a:t>
            </a:r>
          </a:p>
        </p:txBody>
      </p:sp>
      <p:sp>
        <p:nvSpPr>
          <p:cNvPr id="8" name="Layer 1 badge"/>
          <p:cNvSpPr/>
          <p:nvPr/>
        </p:nvSpPr>
        <p:spPr>
          <a:xfrm>
            <a:off x="10012680" y="1508760"/>
            <a:ext cx="15544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41B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yer 1 badge text"/>
          <p:cNvSpPr txBox="1"/>
          <p:nvPr/>
        </p:nvSpPr>
        <p:spPr>
          <a:xfrm>
            <a:off x="10012680" y="1508760"/>
            <a:ext cx="1554480" cy="54864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D"/>
                </a:solidFill>
                <a:latin typeface="Arial"/>
                <a:ea typeface="Arial"/>
                <a:cs typeface="Arial"/>
              </a:rPr>
              <a:t>6 attendees</a:t>
            </a:r>
          </a:p>
        </p:txBody>
      </p:sp>
      <p:sp>
        <p:nvSpPr>
          <p:cNvPr id="10" name="Layer 2 label box"/>
          <p:cNvSpPr/>
          <p:nvPr/>
        </p:nvSpPr>
        <p:spPr>
          <a:xfrm>
            <a:off x="411480" y="2423160"/>
            <a:ext cx="3108960" cy="1005840"/>
          </a:xfrm>
          <a:prstGeom prst="rect">
            <a:avLst/>
          </a:prstGeom>
          <a:solidFill>
            <a:srgbClr val="004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yer 2 label"/>
          <p:cNvSpPr txBox="1"/>
          <p:nvPr/>
        </p:nvSpPr>
        <p:spPr>
          <a:xfrm>
            <a:off x="640080" y="2423160"/>
            <a:ext cx="2834640" cy="100584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Project Sync</a:t>
            </a:r>
          </a:p>
        </p:txBody>
      </p:sp>
      <p:sp>
        <p:nvSpPr>
          <p:cNvPr id="12" name="Layer 2 body box"/>
          <p:cNvSpPr/>
          <p:nvPr/>
        </p:nvSpPr>
        <p:spPr>
          <a:xfrm>
            <a:off x="3520440" y="2423160"/>
            <a:ext cx="8257031" cy="1005840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yer 2 text"/>
          <p:cNvSpPr txBox="1"/>
          <p:nvPr/>
        </p:nvSpPr>
        <p:spPr>
          <a:xfrm>
            <a:off x="3749039" y="2423160"/>
            <a:ext cx="6035040" cy="100584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45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One 30-minute sync every week for every project, same format for all: progress, risks, dependencies and next decisions.</a:t>
            </a:r>
          </a:p>
        </p:txBody>
      </p:sp>
      <p:sp>
        <p:nvSpPr>
          <p:cNvPr id="14" name="Layer 2 badge"/>
          <p:cNvSpPr/>
          <p:nvPr/>
        </p:nvSpPr>
        <p:spPr>
          <a:xfrm>
            <a:off x="10012680" y="2651760"/>
            <a:ext cx="15544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ayer 2 badge text"/>
          <p:cNvSpPr txBox="1"/>
          <p:nvPr/>
        </p:nvSpPr>
        <p:spPr>
          <a:xfrm>
            <a:off x="10012680" y="2651760"/>
            <a:ext cx="1554480" cy="54864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47BB"/>
                </a:solidFill>
                <a:latin typeface="Arial"/>
                <a:ea typeface="Arial"/>
                <a:cs typeface="Arial"/>
              </a:rPr>
              <a:t>3 attendees</a:t>
            </a:r>
          </a:p>
        </p:txBody>
      </p:sp>
      <p:sp>
        <p:nvSpPr>
          <p:cNvPr id="16" name="Layer 3 label box"/>
          <p:cNvSpPr/>
          <p:nvPr/>
        </p:nvSpPr>
        <p:spPr>
          <a:xfrm>
            <a:off x="411480" y="3566160"/>
            <a:ext cx="3108960" cy="1005840"/>
          </a:xfrm>
          <a:prstGeom prst="rect">
            <a:avLst/>
          </a:prstGeom>
          <a:solidFill>
            <a:srgbClr val="00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ayer 3 label"/>
          <p:cNvSpPr txBox="1"/>
          <p:nvPr/>
        </p:nvSpPr>
        <p:spPr>
          <a:xfrm>
            <a:off x="640080" y="3566160"/>
            <a:ext cx="2834640" cy="100584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Checkpoints</a:t>
            </a:r>
          </a:p>
        </p:txBody>
      </p:sp>
      <p:sp>
        <p:nvSpPr>
          <p:cNvPr id="18" name="Layer 3 body box"/>
          <p:cNvSpPr/>
          <p:nvPr/>
        </p:nvSpPr>
        <p:spPr>
          <a:xfrm>
            <a:off x="3520440" y="3566160"/>
            <a:ext cx="8257031" cy="1005840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ayer 3 text"/>
          <p:cNvSpPr txBox="1"/>
          <p:nvPr/>
        </p:nvSpPr>
        <p:spPr>
          <a:xfrm>
            <a:off x="3749039" y="3566160"/>
            <a:ext cx="6035040" cy="100584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45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Requirements, design, estimate approval, Go / No-Go and closeout, held only when the phase calls for them.</a:t>
            </a:r>
          </a:p>
        </p:txBody>
      </p:sp>
      <p:sp>
        <p:nvSpPr>
          <p:cNvPr id="20" name="Layer 3 badge"/>
          <p:cNvSpPr/>
          <p:nvPr/>
        </p:nvSpPr>
        <p:spPr>
          <a:xfrm>
            <a:off x="10012680" y="3794760"/>
            <a:ext cx="15544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7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ayer 3 badge text"/>
          <p:cNvSpPr txBox="1"/>
          <p:nvPr/>
        </p:nvSpPr>
        <p:spPr>
          <a:xfrm>
            <a:off x="10012680" y="3794760"/>
            <a:ext cx="1554480" cy="54864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788"/>
                </a:solidFill>
                <a:latin typeface="Arial"/>
                <a:ea typeface="Arial"/>
                <a:cs typeface="Arial"/>
              </a:rPr>
              <a:t>Event-based</a:t>
            </a:r>
          </a:p>
        </p:txBody>
      </p:sp>
      <p:sp>
        <p:nvSpPr>
          <p:cNvPr id="22" name="Layer 4 label box"/>
          <p:cNvSpPr/>
          <p:nvPr/>
        </p:nvSpPr>
        <p:spPr>
          <a:xfrm>
            <a:off x="411480" y="4709160"/>
            <a:ext cx="3108960" cy="1005840"/>
          </a:xfrm>
          <a:prstGeom prst="rect">
            <a:avLst/>
          </a:prstGeom>
          <a:solidFill>
            <a:srgbClr val="005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ayer 4 label"/>
          <p:cNvSpPr txBox="1"/>
          <p:nvPr/>
        </p:nvSpPr>
        <p:spPr>
          <a:xfrm>
            <a:off x="640080" y="4709160"/>
            <a:ext cx="2834640" cy="100584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Written Update</a:t>
            </a:r>
          </a:p>
        </p:txBody>
      </p:sp>
      <p:sp>
        <p:nvSpPr>
          <p:cNvPr id="24" name="Layer 4 body box"/>
          <p:cNvSpPr/>
          <p:nvPr/>
        </p:nvSpPr>
        <p:spPr>
          <a:xfrm>
            <a:off x="3520440" y="4709160"/>
            <a:ext cx="8257031" cy="1005840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ayer 4 text"/>
          <p:cNvSpPr txBox="1"/>
          <p:nvPr/>
        </p:nvSpPr>
        <p:spPr>
          <a:xfrm>
            <a:off x="3749039" y="4709160"/>
            <a:ext cx="6035040" cy="100584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45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Status lives in Jira and Planview plus one short weekly written update, so no meeting is needed just to share status.</a:t>
            </a:r>
          </a:p>
        </p:txBody>
      </p:sp>
      <p:sp>
        <p:nvSpPr>
          <p:cNvPr id="26" name="Layer 4 badge"/>
          <p:cNvSpPr/>
          <p:nvPr/>
        </p:nvSpPr>
        <p:spPr>
          <a:xfrm>
            <a:off x="10012680" y="4937760"/>
            <a:ext cx="15544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ayer 4 badge text"/>
          <p:cNvSpPr txBox="1"/>
          <p:nvPr/>
        </p:nvSpPr>
        <p:spPr>
          <a:xfrm>
            <a:off x="10012680" y="4937760"/>
            <a:ext cx="1554480" cy="54864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566E"/>
                </a:solidFill>
                <a:latin typeface="Arial"/>
                <a:ea typeface="Arial"/>
                <a:cs typeface="Arial"/>
              </a:rPr>
              <a:t>No meeting</a:t>
            </a:r>
          </a:p>
        </p:txBody>
      </p:sp>
      <p:sp>
        <p:nvSpPr>
          <p:cNvPr id="28" name="Key message bar"/>
          <p:cNvSpPr/>
          <p:nvPr/>
        </p:nvSpPr>
        <p:spPr>
          <a:xfrm>
            <a:off x="411480" y="5989320"/>
            <a:ext cx="11365992" cy="5029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Key message accent"/>
          <p:cNvSpPr/>
          <p:nvPr/>
        </p:nvSpPr>
        <p:spPr>
          <a:xfrm>
            <a:off x="411480" y="5989320"/>
            <a:ext cx="73152" cy="502920"/>
          </a:xfrm>
          <a:prstGeom prst="rect">
            <a:avLst/>
          </a:prstGeom>
          <a:solidFill>
            <a:srgbClr val="00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Key message"/>
          <p:cNvSpPr txBox="1"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9788"/>
                </a:solidFill>
                <a:latin typeface="Arial"/>
                <a:ea typeface="Arial"/>
                <a:cs typeface="Arial"/>
              </a:rPr>
              <a:t>Key message   </a:t>
            </a:r>
            <a:r>
              <a:rPr lang="en-US"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Same rhythm for every project. Only the checkpoints change with the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7BB"/>
                </a:solidFill>
                <a:latin typeface="Georgia"/>
                <a:ea typeface="Georgia"/>
                <a:cs typeface="Georgia"/>
              </a:rPr>
              <a:t>Every project runs on the same rhythm</a:t>
            </a:r>
          </a:p>
        </p:txBody>
      </p:sp>
      <p:cxnSp>
        <p:nvCxnSpPr>
          <p:cNvPr id="3" name="Title rule"/>
          <p:cNvCxnSpPr/>
          <p:nvPr/>
        </p:nvCxnSpPr>
        <p:spPr>
          <a:xfrm>
            <a:off x="411480" y="1051560"/>
            <a:ext cx="11365992" cy="0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hythm header 1"/>
          <p:cNvSpPr/>
          <p:nvPr/>
        </p:nvSpPr>
        <p:spPr>
          <a:xfrm>
            <a:off x="411480" y="1325880"/>
            <a:ext cx="3636264" cy="777240"/>
          </a:xfrm>
          <a:prstGeom prst="rect">
            <a:avLst/>
          </a:prstGeom>
          <a:solidFill>
            <a:srgbClr val="004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hythm title 1"/>
          <p:cNvSpPr txBox="1"/>
          <p:nvPr/>
        </p:nvSpPr>
        <p:spPr>
          <a:xfrm>
            <a:off x="411480" y="1325880"/>
            <a:ext cx="3636264" cy="77724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Every week</a:t>
            </a:r>
          </a:p>
        </p:txBody>
      </p:sp>
      <p:sp>
        <p:nvSpPr>
          <p:cNvPr id="6" name="Rhythm card 1"/>
          <p:cNvSpPr/>
          <p:nvPr/>
        </p:nvSpPr>
        <p:spPr>
          <a:xfrm>
            <a:off x="411480" y="2103120"/>
            <a:ext cx="363626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hythm chip 1"/>
          <p:cNvSpPr/>
          <p:nvPr/>
        </p:nvSpPr>
        <p:spPr>
          <a:xfrm>
            <a:off x="685800" y="2331720"/>
            <a:ext cx="3087624" cy="594360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hythm meeting 1"/>
          <p:cNvSpPr txBox="1"/>
          <p:nvPr/>
        </p:nvSpPr>
        <p:spPr>
          <a:xfrm>
            <a:off x="822960" y="2331720"/>
            <a:ext cx="2813304" cy="59436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7BB"/>
                </a:solidFill>
                <a:latin typeface="Arial"/>
                <a:ea typeface="Arial"/>
                <a:cs typeface="Arial"/>
              </a:rPr>
              <a:t>Project Sync  |  30 minutes</a:t>
            </a:r>
          </a:p>
        </p:txBody>
      </p:sp>
      <p:sp>
        <p:nvSpPr>
          <p:cNvPr id="9" name="Rhythm items 1"/>
          <p:cNvSpPr txBox="1"/>
          <p:nvPr/>
        </p:nvSpPr>
        <p:spPr>
          <a:xfrm>
            <a:off x="685800" y="3108960"/>
            <a:ext cx="3087624" cy="21488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lang="en-US" sz="14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Who: TPM, Product Owner or Business Lead, Tech Lead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lang="en-US" sz="14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Review the written update; discuss only risks and blockers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lang="en-US" sz="14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Agree next decisions; escalate what the team cannot solve</a:t>
            </a:r>
          </a:p>
        </p:txBody>
      </p:sp>
      <p:sp>
        <p:nvSpPr>
          <p:cNvPr id="10" name="Rhythm header 2"/>
          <p:cNvSpPr/>
          <p:nvPr/>
        </p:nvSpPr>
        <p:spPr>
          <a:xfrm>
            <a:off x="4276344" y="1325880"/>
            <a:ext cx="3636264" cy="77724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hythm title 2"/>
          <p:cNvSpPr txBox="1"/>
          <p:nvPr/>
        </p:nvSpPr>
        <p:spPr>
          <a:xfrm>
            <a:off x="4276344" y="1325880"/>
            <a:ext cx="3636264" cy="77724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Every other week</a:t>
            </a:r>
          </a:p>
        </p:txBody>
      </p:sp>
      <p:sp>
        <p:nvSpPr>
          <p:cNvPr id="12" name="Rhythm card 2"/>
          <p:cNvSpPr/>
          <p:nvPr/>
        </p:nvSpPr>
        <p:spPr>
          <a:xfrm>
            <a:off x="4276344" y="2103120"/>
            <a:ext cx="363626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hythm chip 2"/>
          <p:cNvSpPr/>
          <p:nvPr/>
        </p:nvSpPr>
        <p:spPr>
          <a:xfrm>
            <a:off x="4550664" y="2331720"/>
            <a:ext cx="3087624" cy="594360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hythm meeting 2"/>
          <p:cNvSpPr txBox="1"/>
          <p:nvPr/>
        </p:nvSpPr>
        <p:spPr>
          <a:xfrm>
            <a:off x="4687824" y="2331720"/>
            <a:ext cx="2813304" cy="59436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1B4D"/>
                </a:solidFill>
                <a:latin typeface="Arial"/>
                <a:ea typeface="Arial"/>
                <a:cs typeface="Arial"/>
              </a:rPr>
              <a:t>Decision Forum  |  60 minutes</a:t>
            </a:r>
          </a:p>
        </p:txBody>
      </p:sp>
      <p:sp>
        <p:nvSpPr>
          <p:cNvPr id="15" name="Rhythm items 2"/>
          <p:cNvSpPr txBox="1"/>
          <p:nvPr/>
        </p:nvSpPr>
        <p:spPr>
          <a:xfrm>
            <a:off x="4550664" y="3108960"/>
            <a:ext cx="3087624" cy="21488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lang="en-US" sz="14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Who: Director or AVP chair, portfolio lead, finance, strategy business owners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lang="en-US" sz="14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Each strategy gets a timeboxed slot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lang="en-US" sz="14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Decide escalations, funding, priorities and shared resources</a:t>
            </a:r>
          </a:p>
        </p:txBody>
      </p:sp>
      <p:sp>
        <p:nvSpPr>
          <p:cNvPr id="16" name="Rhythm header 3"/>
          <p:cNvSpPr/>
          <p:nvPr/>
        </p:nvSpPr>
        <p:spPr>
          <a:xfrm>
            <a:off x="8141207" y="1325880"/>
            <a:ext cx="3636264" cy="777240"/>
          </a:xfrm>
          <a:prstGeom prst="rect">
            <a:avLst/>
          </a:prstGeom>
          <a:solidFill>
            <a:srgbClr val="00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hythm title 3"/>
          <p:cNvSpPr txBox="1"/>
          <p:nvPr/>
        </p:nvSpPr>
        <p:spPr>
          <a:xfrm>
            <a:off x="8141207" y="1325880"/>
            <a:ext cx="3636264" cy="77724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When a phase calls for it</a:t>
            </a:r>
          </a:p>
        </p:txBody>
      </p:sp>
      <p:sp>
        <p:nvSpPr>
          <p:cNvPr id="18" name="Rhythm card 3"/>
          <p:cNvSpPr/>
          <p:nvPr/>
        </p:nvSpPr>
        <p:spPr>
          <a:xfrm>
            <a:off x="8141207" y="2103120"/>
            <a:ext cx="363626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hythm chip 3"/>
          <p:cNvSpPr/>
          <p:nvPr/>
        </p:nvSpPr>
        <p:spPr>
          <a:xfrm>
            <a:off x="8415528" y="2331720"/>
            <a:ext cx="3087624" cy="594360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hythm meeting 3"/>
          <p:cNvSpPr txBox="1"/>
          <p:nvPr/>
        </p:nvSpPr>
        <p:spPr>
          <a:xfrm>
            <a:off x="8552687" y="2331720"/>
            <a:ext cx="2813304" cy="59436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9788"/>
                </a:solidFill>
                <a:latin typeface="Arial"/>
                <a:ea typeface="Arial"/>
                <a:cs typeface="Arial"/>
              </a:rPr>
              <a:t>Checkpoints  |  as needed</a:t>
            </a:r>
          </a:p>
        </p:txBody>
      </p:sp>
      <p:sp>
        <p:nvSpPr>
          <p:cNvPr id="21" name="Rhythm items 3"/>
          <p:cNvSpPr txBox="1"/>
          <p:nvPr/>
        </p:nvSpPr>
        <p:spPr>
          <a:xfrm>
            <a:off x="8415528" y="3108960"/>
            <a:ext cx="3087624" cy="214884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lang="en-US" sz="14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Requirements and design walkthroughs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lang="en-US" sz="14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Estimate approval (Gate 1) and Go / No-Go (Gate 2)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lang="en-US" sz="14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Hypercare closeout and retrospective</a:t>
            </a:r>
          </a:p>
        </p:txBody>
      </p:sp>
      <p:sp>
        <p:nvSpPr>
          <p:cNvPr id="22" name="Footnote"/>
          <p:cNvSpPr txBox="1"/>
          <p:nvPr/>
        </p:nvSpPr>
        <p:spPr>
          <a:xfrm>
            <a:off x="411480" y="5532120"/>
            <a:ext cx="11338560" cy="32004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050" b="0" i="1" dirty="0">
                <a:solidFill>
                  <a:srgbClr val="5F6673"/>
                </a:solidFill>
                <a:latin typeface="Arial"/>
                <a:ea typeface="Arial"/>
                <a:cs typeface="Arial"/>
              </a:rPr>
              <a:t>Project size no longer changes the cadence. Larger or riskier work simply passes through more checkpoints.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7BB"/>
                </a:solidFill>
                <a:latin typeface="Georgia"/>
                <a:ea typeface="Georgia"/>
                <a:cs typeface="Georgia"/>
              </a:rPr>
              <a:t>Bare-minimum attendance: deciders attend, others on call</a:t>
            </a:r>
          </a:p>
        </p:txBody>
      </p:sp>
      <p:cxnSp>
        <p:nvCxnSpPr>
          <p:cNvPr id="3" name="Title rule"/>
          <p:cNvCxnSpPr/>
          <p:nvPr/>
        </p:nvCxnSpPr>
        <p:spPr>
          <a:xfrm>
            <a:off x="411480" y="1051560"/>
            <a:ext cx="11365992" cy="0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80160"/>
          <a:ext cx="11365992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3291840"/>
                <a:gridCol w="3429000"/>
                <a:gridCol w="2496312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Meeting</a:t>
                      </a:r>
                    </a:p>
                  </a:txBody>
                  <a:tcPr marL="109728" marR="109728" marT="54864" marB="54864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Must attend</a:t>
                      </a:r>
                    </a:p>
                  </a:txBody>
                  <a:tcPr marL="109728" marR="109728" marT="54864" marB="54864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Joins only when needed</a:t>
                      </a:r>
                    </a:p>
                  </a:txBody>
                  <a:tcPr marL="109728" marR="109728" marT="54864" marB="54864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Gets the written update</a:t>
                      </a:r>
                    </a:p>
                  </a:txBody>
                  <a:tcPr marL="109728" marR="109728" marT="54864" marB="54864" anchor="ctr">
                    <a:solidFill>
                      <a:srgbClr val="141B4D"/>
                    </a:solidFill>
                  </a:tcPr>
                </a:tc>
              </a:tr>
              <a:tr h="130759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1B4D"/>
                          </a:solidFill>
                          <a:latin typeface="Arial"/>
                        </a:rPr>
                        <a:t>Project Sync</a:t>
                      </a:r>
                    </a:p>
                    <a:p>
                      <a:pPr algn="l"/>
                      <a:r>
                        <a:rPr sz="1400" b="0">
                          <a:solidFill>
                            <a:srgbClr val="141B4D"/>
                          </a:solidFill>
                          <a:latin typeface="Arial"/>
                        </a:rPr>
                        <a:t>weekly, 30 min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TPM (runs it)</a:t>
                      </a:r>
                    </a:p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Product Owner or Business Lead</a:t>
                      </a:r>
                    </a:p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Tech Lead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Agile Lead, Architect, QE, Release, SRE, SMEs, for their agenda item only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Agile Leads, sponsors, stakeholders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130759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1B4D"/>
                          </a:solidFill>
                          <a:latin typeface="Arial"/>
                        </a:rPr>
                        <a:t>Decision Forum</a:t>
                      </a:r>
                    </a:p>
                    <a:p>
                      <a:pPr algn="l"/>
                      <a:r>
                        <a:rPr sz="1400" b="0">
                          <a:solidFill>
                            <a:srgbClr val="141B4D"/>
                          </a:solidFill>
                          <a:latin typeface="Arial"/>
                        </a:rPr>
                        <a:t>every other week, 60 min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Director or AVP (chair)</a:t>
                      </a:r>
                    </a:p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Portfolio lead (runs it)</a:t>
                      </a:r>
                    </a:p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Finance partner</a:t>
                      </a:r>
                    </a:p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Strategy business owners (up to 3)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TPMs, for their escalation slot only; architects for cross-project trade-offs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All TPMs and the Planning team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  <a:tr h="130759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1B4D"/>
                          </a:solidFill>
                          <a:latin typeface="Arial"/>
                        </a:rPr>
                        <a:t>Checkpoints</a:t>
                      </a:r>
                    </a:p>
                    <a:p>
                      <a:pPr algn="l"/>
                      <a:r>
                        <a:rPr sz="1400" b="0">
                          <a:solidFill>
                            <a:srgbClr val="141B4D"/>
                          </a:solidFill>
                          <a:latin typeface="Arial"/>
                        </a:rPr>
                        <a:t>as needed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The decision owner and the people doing the work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Example, Go / No-Go: TPM, Release Management, QE lead, Product Owner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Core project team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Key message bar"/>
          <p:cNvSpPr/>
          <p:nvPr/>
        </p:nvSpPr>
        <p:spPr>
          <a:xfrm>
            <a:off x="411480" y="5989320"/>
            <a:ext cx="11365992" cy="5029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ey message accent"/>
          <p:cNvSpPr/>
          <p:nvPr/>
        </p:nvSpPr>
        <p:spPr>
          <a:xfrm>
            <a:off x="411480" y="5989320"/>
            <a:ext cx="73152" cy="502920"/>
          </a:xfrm>
          <a:prstGeom prst="rect">
            <a:avLst/>
          </a:prstGeom>
          <a:solidFill>
            <a:srgbClr val="00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ey message"/>
          <p:cNvSpPr txBox="1"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9788"/>
                </a:solidFill>
                <a:latin typeface="Arial"/>
                <a:ea typeface="Arial"/>
                <a:cs typeface="Arial"/>
              </a:rPr>
              <a:t>Key message   </a:t>
            </a:r>
            <a:r>
              <a:rPr lang="en-US"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Attendance follows decision rights, not awareness.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7BB"/>
                </a:solidFill>
                <a:latin typeface="Georgia"/>
                <a:ea typeface="Georgia"/>
                <a:cs typeface="Georgia"/>
              </a:rPr>
              <a:t>One cadence cuts recurring hours by 80%, versus 65% tiered</a:t>
            </a:r>
          </a:p>
        </p:txBody>
      </p:sp>
      <p:cxnSp>
        <p:nvCxnSpPr>
          <p:cNvPr id="3" name="Title rule"/>
          <p:cNvCxnSpPr/>
          <p:nvPr/>
        </p:nvCxnSpPr>
        <p:spPr>
          <a:xfrm>
            <a:off x="411480" y="1051560"/>
            <a:ext cx="11365992" cy="0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11480" y="1280160"/>
          <a:ext cx="73152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hart card 1"/>
          <p:cNvSpPr/>
          <p:nvPr/>
        </p:nvSpPr>
        <p:spPr>
          <a:xfrm>
            <a:off x="8001000" y="1280160"/>
            <a:ext cx="3776472" cy="137160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 card 1 text"/>
          <p:cNvSpPr txBox="1"/>
          <p:nvPr/>
        </p:nvSpPr>
        <p:spPr>
          <a:xfrm>
            <a:off x="8229600" y="1280160"/>
            <a:ext cx="3474720" cy="137160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9,480 → 1,872</a:t>
            </a:r>
          </a:p>
          <a:p>
            <a:pPr marL="0" indent="0" algn="l">
              <a:buNone/>
            </a:pPr>
            <a:r>
              <a:rPr lang="en-US" sz="1400" b="0" dirty="0">
                <a:solidFill>
                  <a:srgbClr val="E6ECF8"/>
                </a:solidFill>
                <a:latin typeface="Arial"/>
                <a:ea typeface="Arial"/>
                <a:cs typeface="Arial"/>
              </a:rPr>
              <a:t>total recurring attendee-hours</a:t>
            </a:r>
          </a:p>
        </p:txBody>
      </p:sp>
      <p:sp>
        <p:nvSpPr>
          <p:cNvPr id="7" name="Chart card 2"/>
          <p:cNvSpPr/>
          <p:nvPr/>
        </p:nvSpPr>
        <p:spPr>
          <a:xfrm>
            <a:off x="8001000" y="2788920"/>
            <a:ext cx="3776472" cy="1371600"/>
          </a:xfrm>
          <a:prstGeom prst="rect">
            <a:avLst/>
          </a:prstGeom>
          <a:solidFill>
            <a:srgbClr val="00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art card 2 text"/>
          <p:cNvSpPr txBox="1"/>
          <p:nvPr/>
        </p:nvSpPr>
        <p:spPr>
          <a:xfrm>
            <a:off x="8229600" y="2788920"/>
            <a:ext cx="3474720" cy="137160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7,608 hours</a:t>
            </a:r>
          </a:p>
          <a:p>
            <a:pPr marL="0" indent="0" algn="l">
              <a:buNone/>
            </a:pPr>
            <a:r>
              <a:rPr lang="en-US"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released annually</a:t>
            </a:r>
          </a:p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$760,800 at $100 / hour</a:t>
            </a:r>
          </a:p>
        </p:txBody>
      </p:sp>
      <p:sp>
        <p:nvSpPr>
          <p:cNvPr id="9" name="Chart card 3"/>
          <p:cNvSpPr/>
          <p:nvPr/>
        </p:nvSpPr>
        <p:spPr>
          <a:xfrm>
            <a:off x="8001000" y="4297680"/>
            <a:ext cx="3776472" cy="1508760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art card 3 text"/>
          <p:cNvSpPr txBox="1"/>
          <p:nvPr/>
        </p:nvSpPr>
        <p:spPr>
          <a:xfrm>
            <a:off x="8229600" y="4343400"/>
            <a:ext cx="3474720" cy="141732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41B4D"/>
                </a:solidFill>
                <a:latin typeface="Arial"/>
                <a:ea typeface="Arial"/>
                <a:cs typeface="Arial"/>
              </a:rPr>
              <a:t>How 1,872 is built</a:t>
            </a:r>
          </a:p>
          <a:p>
            <a:pPr marL="0" indent="0" algn="l">
              <a:buNone/>
            </a:pPr>
            <a:r>
              <a:rPr lang="en-US" sz="125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Project Syncs   22 x 3 x 30 min x 52 = 1,716</a:t>
            </a:r>
          </a:p>
          <a:p>
            <a:pPr marL="0" indent="0" algn="l">
              <a:buNone/>
            </a:pPr>
            <a:r>
              <a:rPr lang="en-US" sz="125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Decision Forum   6 x 60 min x 26 = 156</a:t>
            </a:r>
          </a:p>
        </p:txBody>
      </p:sp>
      <p:sp>
        <p:nvSpPr>
          <p:cNvPr id="11" name="Key message bar"/>
          <p:cNvSpPr/>
          <p:nvPr/>
        </p:nvSpPr>
        <p:spPr>
          <a:xfrm>
            <a:off x="411480" y="5989320"/>
            <a:ext cx="11365992" cy="5029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ey message accent"/>
          <p:cNvSpPr/>
          <p:nvPr/>
        </p:nvSpPr>
        <p:spPr>
          <a:xfrm>
            <a:off x="411480" y="5989320"/>
            <a:ext cx="73152" cy="502920"/>
          </a:xfrm>
          <a:prstGeom prst="rect">
            <a:avLst/>
          </a:prstGeom>
          <a:solidFill>
            <a:srgbClr val="00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ey message"/>
          <p:cNvSpPr txBox="1"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9788"/>
                </a:solidFill>
                <a:latin typeface="Arial"/>
                <a:ea typeface="Arial"/>
                <a:cs typeface="Arial"/>
              </a:rPr>
              <a:t>Key message   </a:t>
            </a:r>
            <a:r>
              <a:rPr lang="en-US"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cadence releases 1,428 more hours a year than the tiered proposal ($142,800).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7BB"/>
                </a:solidFill>
                <a:latin typeface="Georgia"/>
                <a:ea typeface="Georgia"/>
                <a:cs typeface="Georgia"/>
              </a:rPr>
              <a:t>Side by side: the tiered proposal versus one cadence</a:t>
            </a:r>
          </a:p>
        </p:txBody>
      </p:sp>
      <p:cxnSp>
        <p:nvCxnSpPr>
          <p:cNvPr id="3" name="Title rule"/>
          <p:cNvCxnSpPr/>
          <p:nvPr/>
        </p:nvCxnSpPr>
        <p:spPr>
          <a:xfrm>
            <a:off x="411480" y="1051560"/>
            <a:ext cx="11365992" cy="0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80160"/>
          <a:ext cx="11365991" cy="3877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206240"/>
                <a:gridCol w="4050791"/>
              </a:tblGrid>
              <a:tr h="484632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54864" marB="54864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Tiered proposal</a:t>
                      </a:r>
                    </a:p>
                  </a:txBody>
                  <a:tcPr marL="109728" marR="109728" marT="54864" marB="54864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One cadence</a:t>
                      </a:r>
                    </a:p>
                  </a:txBody>
                  <a:tcPr marL="109728" marR="109728" marT="54864" marB="54864" anchor="ctr">
                    <a:solidFill>
                      <a:srgbClr val="141B4D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1B4D"/>
                          </a:solidFill>
                          <a:latin typeface="Arial"/>
                        </a:rPr>
                        <a:t>Project size tiers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3 (by cost)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1B4D"/>
                          </a:solidFill>
                          <a:latin typeface="Arial"/>
                        </a:rPr>
                        <a:t>Recurring meeting types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Portfolio, strategy and project forums at 3 cadences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2 (Project Sync, Decision Forum)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1B4D"/>
                          </a:solidFill>
                          <a:latin typeface="Arial"/>
                        </a:rPr>
                        <a:t>Project forum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Weekly, every other week or monthly; 6 or 4 attendees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Weekly for all; 3 required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1B4D"/>
                          </a:solidFill>
                          <a:latin typeface="Arial"/>
                        </a:rPr>
                        <a:t>Strategy and portfolio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Weekly per strategy (8) plus portfolio every other week (6)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One forum every other week (6)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1B4D"/>
                          </a:solidFill>
                          <a:latin typeface="Arial"/>
                        </a:rPr>
                        <a:t>Recurring attendee-hours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3,300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47BB"/>
                          </a:solidFill>
                          <a:latin typeface="Arial"/>
                        </a:rPr>
                        <a:t>1,872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1B4D"/>
                          </a:solidFill>
                          <a:latin typeface="Arial"/>
                        </a:rPr>
                        <a:t>Reduction from 9,480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65.2%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47BB"/>
                          </a:solidFill>
                          <a:latin typeface="Arial"/>
                        </a:rPr>
                        <a:t>80.3%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41B4D"/>
                          </a:solidFill>
                          <a:latin typeface="Arial"/>
                        </a:rPr>
                        <a:t>Capacity value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$618,000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047BB"/>
                          </a:solidFill>
                          <a:latin typeface="Arial"/>
                        </a:rPr>
                        <a:t>$760,800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Model band"/>
          <p:cNvSpPr/>
          <p:nvPr/>
        </p:nvSpPr>
        <p:spPr>
          <a:xfrm>
            <a:off x="411480" y="5349240"/>
            <a:ext cx="11365992" cy="502920"/>
          </a:xfrm>
          <a:prstGeom prst="rect">
            <a:avLst/>
          </a:prstGeom>
          <a:solidFill>
            <a:srgbClr val="DC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odel accent"/>
          <p:cNvSpPr/>
          <p:nvPr/>
        </p:nvSpPr>
        <p:spPr>
          <a:xfrm>
            <a:off x="411480" y="5349240"/>
            <a:ext cx="73152" cy="502920"/>
          </a:xfrm>
          <a:prstGeom prst="rect">
            <a:avLst/>
          </a:prstGeom>
          <a:solidFill>
            <a:srgbClr val="004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odel text"/>
          <p:cNvSpPr txBox="1"/>
          <p:nvPr/>
        </p:nvSpPr>
        <p:spPr>
          <a:xfrm>
            <a:off x="685800" y="5349240"/>
            <a:ext cx="10972800" cy="50292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7BB"/>
                </a:solidFill>
                <a:latin typeface="Arial"/>
                <a:ea typeface="Arial"/>
                <a:cs typeface="Arial"/>
              </a:rPr>
              <a:t>Model:  </a:t>
            </a:r>
            <a:r>
              <a:rPr lang="en-US" sz="1500" b="0" i="1" dirty="0">
                <a:solidFill>
                  <a:srgbClr val="1A1A1A"/>
                </a:solidFill>
                <a:latin typeface="Georgia"/>
                <a:ea typeface="Georgia"/>
                <a:cs typeface="Georgia"/>
              </a:rPr>
              <a:t>Future recurring attendee-hours = (projects x 78) + 156.  22 projects = 1,872.</a:t>
            </a:r>
          </a:p>
        </p:txBody>
      </p:sp>
      <p:sp>
        <p:nvSpPr>
          <p:cNvPr id="8" name="Key message bar"/>
          <p:cNvSpPr/>
          <p:nvPr/>
        </p:nvSpPr>
        <p:spPr>
          <a:xfrm>
            <a:off x="411480" y="6035040"/>
            <a:ext cx="11365992" cy="5029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ey message accent"/>
          <p:cNvSpPr/>
          <p:nvPr/>
        </p:nvSpPr>
        <p:spPr>
          <a:xfrm>
            <a:off x="411480" y="6035040"/>
            <a:ext cx="73152" cy="502920"/>
          </a:xfrm>
          <a:prstGeom prst="rect">
            <a:avLst/>
          </a:prstGeom>
          <a:solidFill>
            <a:srgbClr val="00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ey message"/>
          <p:cNvSpPr txBox="1"/>
          <p:nvPr/>
        </p:nvSpPr>
        <p:spPr>
          <a:xfrm>
            <a:off x="640080" y="6035040"/>
            <a:ext cx="10972800" cy="50292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9788"/>
                </a:solidFill>
                <a:latin typeface="Arial"/>
                <a:ea typeface="Arial"/>
                <a:cs typeface="Arial"/>
              </a:rPr>
              <a:t>Key message   </a:t>
            </a:r>
            <a:r>
              <a:rPr lang="en-US"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Conservative: one cadence counts all 22 projects; the tiered model counted 20.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7BB"/>
                </a:solidFill>
                <a:latin typeface="Georgia"/>
                <a:ea typeface="Georgia"/>
                <a:cs typeface="Georgia"/>
              </a:rPr>
              <a:t>Five rules keep the cadence lean</a:t>
            </a:r>
          </a:p>
        </p:txBody>
      </p:sp>
      <p:cxnSp>
        <p:nvCxnSpPr>
          <p:cNvPr id="3" name="Title rule"/>
          <p:cNvCxnSpPr/>
          <p:nvPr/>
        </p:nvCxnSpPr>
        <p:spPr>
          <a:xfrm>
            <a:off x="411480" y="1051560"/>
            <a:ext cx="11365992" cy="0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ule 1 label box"/>
          <p:cNvSpPr/>
          <p:nvPr/>
        </p:nvSpPr>
        <p:spPr>
          <a:xfrm>
            <a:off x="411480" y="1280160"/>
            <a:ext cx="4023360" cy="8046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ule 1 label"/>
          <p:cNvSpPr txBox="1"/>
          <p:nvPr/>
        </p:nvSpPr>
        <p:spPr>
          <a:xfrm>
            <a:off x="640080" y="1280160"/>
            <a:ext cx="3749039" cy="804672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decision, no meeting</a:t>
            </a:r>
          </a:p>
        </p:txBody>
      </p:sp>
      <p:sp>
        <p:nvSpPr>
          <p:cNvPr id="6" name="Rule 1 body box"/>
          <p:cNvSpPr/>
          <p:nvPr/>
        </p:nvSpPr>
        <p:spPr>
          <a:xfrm>
            <a:off x="4434840" y="1280160"/>
            <a:ext cx="7342631" cy="804672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ule 1 text"/>
          <p:cNvSpPr txBox="1"/>
          <p:nvPr/>
        </p:nvSpPr>
        <p:spPr>
          <a:xfrm>
            <a:off x="4663440" y="1280160"/>
            <a:ext cx="6949440" cy="804672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5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Nothing to decide or unblock? Post the written update and cancel.</a:t>
            </a:r>
          </a:p>
        </p:txBody>
      </p:sp>
      <p:sp>
        <p:nvSpPr>
          <p:cNvPr id="8" name="Rule 2 label box"/>
          <p:cNvSpPr/>
          <p:nvPr/>
        </p:nvSpPr>
        <p:spPr>
          <a:xfrm>
            <a:off x="411480" y="2194560"/>
            <a:ext cx="4023360" cy="804672"/>
          </a:xfrm>
          <a:prstGeom prst="rect">
            <a:avLst/>
          </a:prstGeom>
          <a:solidFill>
            <a:srgbClr val="004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ule 2 label"/>
          <p:cNvSpPr txBox="1"/>
          <p:nvPr/>
        </p:nvSpPr>
        <p:spPr>
          <a:xfrm>
            <a:off x="640080" y="2194560"/>
            <a:ext cx="3749039" cy="804672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Update first, meet second</a:t>
            </a:r>
          </a:p>
        </p:txBody>
      </p:sp>
      <p:sp>
        <p:nvSpPr>
          <p:cNvPr id="10" name="Rule 2 body box"/>
          <p:cNvSpPr/>
          <p:nvPr/>
        </p:nvSpPr>
        <p:spPr>
          <a:xfrm>
            <a:off x="4434840" y="2194560"/>
            <a:ext cx="7342631" cy="804672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ule 2 text"/>
          <p:cNvSpPr txBox="1"/>
          <p:nvPr/>
        </p:nvSpPr>
        <p:spPr>
          <a:xfrm>
            <a:off x="4663440" y="2194560"/>
            <a:ext cx="6949440" cy="804672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5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written update goes out before the sync; the meeting covers only risks and decisions.</a:t>
            </a:r>
          </a:p>
        </p:txBody>
      </p:sp>
      <p:sp>
        <p:nvSpPr>
          <p:cNvPr id="12" name="Rule 3 label box"/>
          <p:cNvSpPr/>
          <p:nvPr/>
        </p:nvSpPr>
        <p:spPr>
          <a:xfrm>
            <a:off x="411480" y="3108960"/>
            <a:ext cx="4023360" cy="804672"/>
          </a:xfrm>
          <a:prstGeom prst="rect">
            <a:avLst/>
          </a:prstGeom>
          <a:solidFill>
            <a:srgbClr val="005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ule 3 label"/>
          <p:cNvSpPr txBox="1"/>
          <p:nvPr/>
        </p:nvSpPr>
        <p:spPr>
          <a:xfrm>
            <a:off x="640080" y="3108960"/>
            <a:ext cx="3749039" cy="804672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Specialists by invitation</a:t>
            </a:r>
          </a:p>
        </p:txBody>
      </p:sp>
      <p:sp>
        <p:nvSpPr>
          <p:cNvPr id="14" name="Rule 3 body box"/>
          <p:cNvSpPr/>
          <p:nvPr/>
        </p:nvSpPr>
        <p:spPr>
          <a:xfrm>
            <a:off x="4434840" y="3108960"/>
            <a:ext cx="7342631" cy="804672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ule 3 text"/>
          <p:cNvSpPr txBox="1"/>
          <p:nvPr/>
        </p:nvSpPr>
        <p:spPr>
          <a:xfrm>
            <a:off x="4663440" y="3108960"/>
            <a:ext cx="6949440" cy="804672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5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Architects, QE, Release and SRE join for their agenda item, then leave.</a:t>
            </a:r>
          </a:p>
        </p:txBody>
      </p:sp>
      <p:sp>
        <p:nvSpPr>
          <p:cNvPr id="16" name="Rule 4 label box"/>
          <p:cNvSpPr/>
          <p:nvPr/>
        </p:nvSpPr>
        <p:spPr>
          <a:xfrm>
            <a:off x="411480" y="4023360"/>
            <a:ext cx="4023360" cy="804672"/>
          </a:xfrm>
          <a:prstGeom prst="rect">
            <a:avLst/>
          </a:prstGeom>
          <a:solidFill>
            <a:srgbClr val="00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ule 4 label"/>
          <p:cNvSpPr txBox="1"/>
          <p:nvPr/>
        </p:nvSpPr>
        <p:spPr>
          <a:xfrm>
            <a:off x="640080" y="4023360"/>
            <a:ext cx="3749039" cy="804672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Escalate one level</a:t>
            </a:r>
          </a:p>
        </p:txBody>
      </p:sp>
      <p:sp>
        <p:nvSpPr>
          <p:cNvPr id="18" name="Rule 4 body box"/>
          <p:cNvSpPr/>
          <p:nvPr/>
        </p:nvSpPr>
        <p:spPr>
          <a:xfrm>
            <a:off x="4434840" y="4023360"/>
            <a:ext cx="7342631" cy="804672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ule 4 text"/>
          <p:cNvSpPr txBox="1"/>
          <p:nvPr/>
        </p:nvSpPr>
        <p:spPr>
          <a:xfrm>
            <a:off x="4663440" y="4023360"/>
            <a:ext cx="6949440" cy="804672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5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Project Sync to Decision Forum. Nothing skips a level or gets discussed twice.</a:t>
            </a:r>
          </a:p>
        </p:txBody>
      </p:sp>
      <p:sp>
        <p:nvSpPr>
          <p:cNvPr id="20" name="Rule 5 label box"/>
          <p:cNvSpPr/>
          <p:nvPr/>
        </p:nvSpPr>
        <p:spPr>
          <a:xfrm>
            <a:off x="411480" y="4937760"/>
            <a:ext cx="4023360" cy="804672"/>
          </a:xfrm>
          <a:prstGeom prst="rect">
            <a:avLst/>
          </a:prstGeom>
          <a:solidFill>
            <a:srgbClr val="3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ule 5 label"/>
          <p:cNvSpPr txBox="1"/>
          <p:nvPr/>
        </p:nvSpPr>
        <p:spPr>
          <a:xfrm>
            <a:off x="640080" y="4937760"/>
            <a:ext cx="3749039" cy="804672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decision log</a:t>
            </a:r>
          </a:p>
        </p:txBody>
      </p:sp>
      <p:sp>
        <p:nvSpPr>
          <p:cNvPr id="22" name="Rule 5 body box"/>
          <p:cNvSpPr/>
          <p:nvPr/>
        </p:nvSpPr>
        <p:spPr>
          <a:xfrm>
            <a:off x="4434840" y="4937760"/>
            <a:ext cx="7342631" cy="804672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ule 5 text"/>
          <p:cNvSpPr txBox="1"/>
          <p:nvPr/>
        </p:nvSpPr>
        <p:spPr>
          <a:xfrm>
            <a:off x="4663440" y="4937760"/>
            <a:ext cx="6949440" cy="804672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5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Decisions, risks and actions are recorded once, in the project's RAID and decision log.</a:t>
            </a:r>
          </a:p>
        </p:txBody>
      </p:sp>
      <p:sp>
        <p:nvSpPr>
          <p:cNvPr id="24" name="Key message bar"/>
          <p:cNvSpPr/>
          <p:nvPr/>
        </p:nvSpPr>
        <p:spPr>
          <a:xfrm>
            <a:off x="411480" y="5943600"/>
            <a:ext cx="11365992" cy="5029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Key message accent"/>
          <p:cNvSpPr/>
          <p:nvPr/>
        </p:nvSpPr>
        <p:spPr>
          <a:xfrm>
            <a:off x="411480" y="5943600"/>
            <a:ext cx="73152" cy="502920"/>
          </a:xfrm>
          <a:prstGeom prst="rect">
            <a:avLst/>
          </a:prstGeom>
          <a:solidFill>
            <a:srgbClr val="00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ey message"/>
          <p:cNvSpPr txBox="1"/>
          <p:nvPr/>
        </p:nvSpPr>
        <p:spPr>
          <a:xfrm>
            <a:off x="640080" y="5943600"/>
            <a:ext cx="10972800" cy="50292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9788"/>
                </a:solidFill>
                <a:latin typeface="Arial"/>
                <a:ea typeface="Arial"/>
                <a:cs typeface="Arial"/>
              </a:rPr>
              <a:t>Key message   </a:t>
            </a:r>
            <a:r>
              <a:rPr lang="en-US"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Fewer people in recurring meetings; the right specialists at the right checkpoint.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7BB"/>
                </a:solidFill>
                <a:latin typeface="Georgia"/>
                <a:ea typeface="Georgia"/>
                <a:cs typeface="Georgia"/>
              </a:rPr>
              <a:t>Roll out in three phases</a:t>
            </a:r>
          </a:p>
        </p:txBody>
      </p:sp>
      <p:cxnSp>
        <p:nvCxnSpPr>
          <p:cNvPr id="3" name="Title rule"/>
          <p:cNvCxnSpPr/>
          <p:nvPr/>
        </p:nvCxnSpPr>
        <p:spPr>
          <a:xfrm>
            <a:off x="411480" y="1051560"/>
            <a:ext cx="11365992" cy="0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hase 1 header"/>
          <p:cNvSpPr/>
          <p:nvPr/>
        </p:nvSpPr>
        <p:spPr>
          <a:xfrm>
            <a:off x="411480" y="1325880"/>
            <a:ext cx="3605784" cy="105156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hase 1 title"/>
          <p:cNvSpPr txBox="1"/>
          <p:nvPr/>
        </p:nvSpPr>
        <p:spPr>
          <a:xfrm>
            <a:off x="685800" y="1325880"/>
            <a:ext cx="3240024" cy="105156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400" b="0" spc="100" dirty="0">
                <a:solidFill>
                  <a:srgbClr val="E6ECF8"/>
                </a:solidFill>
                <a:latin typeface="Arial"/>
                <a:ea typeface="Arial"/>
                <a:cs typeface="Arial"/>
              </a:rPr>
              <a:t>Phase 1</a:t>
            </a:r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Standardize</a:t>
            </a:r>
          </a:p>
        </p:txBody>
      </p:sp>
      <p:sp>
        <p:nvSpPr>
          <p:cNvPr id="6" name="Phase 1 card"/>
          <p:cNvSpPr/>
          <p:nvPr/>
        </p:nvSpPr>
        <p:spPr>
          <a:xfrm>
            <a:off x="411480" y="2377440"/>
            <a:ext cx="360578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hase 1 text"/>
          <p:cNvSpPr txBox="1"/>
          <p:nvPr/>
        </p:nvSpPr>
        <p:spPr>
          <a:xfrm>
            <a:off x="685800" y="2560320"/>
            <a:ext cx="3057144" cy="21031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Publish the one-cadence charter, the written-update template and the decision log. Name required attendees for each project.</a:t>
            </a:r>
          </a:p>
        </p:txBody>
      </p:sp>
      <p:sp>
        <p:nvSpPr>
          <p:cNvPr id="8" name="Phase arrow 1"/>
          <p:cNvSpPr/>
          <p:nvPr/>
        </p:nvSpPr>
        <p:spPr>
          <a:xfrm>
            <a:off x="4053840" y="1737360"/>
            <a:ext cx="201168" cy="228600"/>
          </a:xfrm>
          <a:prstGeom prst="rightArrow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hase 2 header"/>
          <p:cNvSpPr/>
          <p:nvPr/>
        </p:nvSpPr>
        <p:spPr>
          <a:xfrm>
            <a:off x="4291584" y="1325880"/>
            <a:ext cx="3605784" cy="1051560"/>
          </a:xfrm>
          <a:prstGeom prst="rect">
            <a:avLst/>
          </a:prstGeom>
          <a:solidFill>
            <a:srgbClr val="004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hase 2 title"/>
          <p:cNvSpPr txBox="1"/>
          <p:nvPr/>
        </p:nvSpPr>
        <p:spPr>
          <a:xfrm>
            <a:off x="4565904" y="1325880"/>
            <a:ext cx="3240024" cy="105156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400" b="0" spc="100" dirty="0">
                <a:solidFill>
                  <a:srgbClr val="E6ECF8"/>
                </a:solidFill>
                <a:latin typeface="Arial"/>
                <a:ea typeface="Arial"/>
                <a:cs typeface="Arial"/>
              </a:rPr>
              <a:t>Phase 2</a:t>
            </a:r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Launch</a:t>
            </a:r>
          </a:p>
        </p:txBody>
      </p:sp>
      <p:sp>
        <p:nvSpPr>
          <p:cNvPr id="11" name="Phase 2 card"/>
          <p:cNvSpPr/>
          <p:nvPr/>
        </p:nvSpPr>
        <p:spPr>
          <a:xfrm>
            <a:off x="4291584" y="2377440"/>
            <a:ext cx="360578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hase 2 text"/>
          <p:cNvSpPr txBox="1"/>
          <p:nvPr/>
        </p:nvSpPr>
        <p:spPr>
          <a:xfrm>
            <a:off x="4565904" y="2560320"/>
            <a:ext cx="3057144" cy="21031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Move every project to the weekly Project Sync. Stand up the Decision Forum. Retire size tiers and duplicate forums.</a:t>
            </a:r>
          </a:p>
        </p:txBody>
      </p:sp>
      <p:sp>
        <p:nvSpPr>
          <p:cNvPr id="13" name="Phase arrow 2"/>
          <p:cNvSpPr/>
          <p:nvPr/>
        </p:nvSpPr>
        <p:spPr>
          <a:xfrm>
            <a:off x="7933943" y="1737360"/>
            <a:ext cx="201168" cy="228600"/>
          </a:xfrm>
          <a:prstGeom prst="rightArrow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ase 3 header"/>
          <p:cNvSpPr/>
          <p:nvPr/>
        </p:nvSpPr>
        <p:spPr>
          <a:xfrm>
            <a:off x="8171687" y="1325880"/>
            <a:ext cx="3605784" cy="1051560"/>
          </a:xfrm>
          <a:prstGeom prst="rect">
            <a:avLst/>
          </a:prstGeom>
          <a:solidFill>
            <a:srgbClr val="00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hase 3 title"/>
          <p:cNvSpPr txBox="1"/>
          <p:nvPr/>
        </p:nvSpPr>
        <p:spPr>
          <a:xfrm>
            <a:off x="8446008" y="1325880"/>
            <a:ext cx="3240024" cy="105156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400" b="0" spc="100" dirty="0">
                <a:solidFill>
                  <a:srgbClr val="E6ECF8"/>
                </a:solidFill>
                <a:latin typeface="Arial"/>
                <a:ea typeface="Arial"/>
                <a:cs typeface="Arial"/>
              </a:rPr>
              <a:t>Phase 3</a:t>
            </a:r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Measure</a:t>
            </a:r>
          </a:p>
        </p:txBody>
      </p:sp>
      <p:sp>
        <p:nvSpPr>
          <p:cNvPr id="16" name="Phase 3 card"/>
          <p:cNvSpPr/>
          <p:nvPr/>
        </p:nvSpPr>
        <p:spPr>
          <a:xfrm>
            <a:off x="8171687" y="2377440"/>
            <a:ext cx="360578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hase 3 text"/>
          <p:cNvSpPr txBox="1"/>
          <p:nvPr/>
        </p:nvSpPr>
        <p:spPr>
          <a:xfrm>
            <a:off x="8446008" y="2560320"/>
            <a:ext cx="3057144" cy="2103120"/>
          </a:xfrm>
          <a:prstGeom prst="rect">
            <a:avLst/>
          </a:prstGeom>
          <a:noFill/>
        </p:spPr>
        <p:txBody>
          <a:bodyPr wrap="square" lIns="45720" tIns="45720" rIns="45720" bIns="4572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Track hours and decisions monthly. After 90 days, adjust attendance or move the forum to weekly only if decisions back up.</a:t>
            </a:r>
          </a:p>
        </p:txBody>
      </p:sp>
      <p:sp>
        <p:nvSpPr>
          <p:cNvPr id="18" name="Track band"/>
          <p:cNvSpPr/>
          <p:nvPr/>
        </p:nvSpPr>
        <p:spPr>
          <a:xfrm>
            <a:off x="411480" y="5029200"/>
            <a:ext cx="11365992" cy="1143000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ck accent"/>
          <p:cNvSpPr/>
          <p:nvPr/>
        </p:nvSpPr>
        <p:spPr>
          <a:xfrm>
            <a:off x="411480" y="5029200"/>
            <a:ext cx="73152" cy="1143000"/>
          </a:xfrm>
          <a:prstGeom prst="rect">
            <a:avLst/>
          </a:prstGeom>
          <a:solidFill>
            <a:srgbClr val="00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rack text"/>
          <p:cNvSpPr txBox="1"/>
          <p:nvPr/>
        </p:nvSpPr>
        <p:spPr>
          <a:xfrm>
            <a:off x="731520" y="5120640"/>
            <a:ext cx="10972800" cy="100584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41B4D"/>
                </a:solidFill>
                <a:latin typeface="Arial"/>
                <a:ea typeface="Arial"/>
                <a:cs typeface="Arial"/>
              </a:rPr>
              <a:t>Track success through</a:t>
            </a:r>
          </a:p>
          <a:p>
            <a:pPr marL="0" indent="0" algn="l">
              <a:buNone/>
            </a:pPr>
            <a:r>
              <a:rPr lang="en-US" sz="14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Recurring meeting count      Attendee-hours      Decisions made      Overdue actions      Meetings cancelled under the skip rule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274320"/>
            <a:ext cx="11338560" cy="68580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47BB"/>
                </a:solidFill>
                <a:latin typeface="Georgia"/>
                <a:ea typeface="Georgia"/>
                <a:cs typeface="Georgia"/>
              </a:rPr>
              <a:t>Decision requested: adopt one cadence for every project</a:t>
            </a:r>
          </a:p>
        </p:txBody>
      </p:sp>
      <p:cxnSp>
        <p:nvCxnSpPr>
          <p:cNvPr id="3" name="Title rule"/>
          <p:cNvCxnSpPr/>
          <p:nvPr/>
        </p:nvCxnSpPr>
        <p:spPr>
          <a:xfrm>
            <a:off x="411480" y="1051560"/>
            <a:ext cx="11365992" cy="0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Ask 1 box"/>
          <p:cNvSpPr/>
          <p:nvPr/>
        </p:nvSpPr>
        <p:spPr>
          <a:xfrm>
            <a:off x="411480" y="1280160"/>
            <a:ext cx="11365992" cy="932688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sk 1 accent"/>
          <p:cNvSpPr/>
          <p:nvPr/>
        </p:nvSpPr>
        <p:spPr>
          <a:xfrm>
            <a:off x="411480" y="1280160"/>
            <a:ext cx="73152" cy="932688"/>
          </a:xfrm>
          <a:prstGeom prst="rect">
            <a:avLst/>
          </a:prstGeom>
          <a:solidFill>
            <a:srgbClr val="00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sk 1 check box"/>
          <p:cNvSpPr/>
          <p:nvPr/>
        </p:nvSpPr>
        <p:spPr>
          <a:xfrm>
            <a:off x="777240" y="1499616"/>
            <a:ext cx="502920" cy="502920"/>
          </a:xfrm>
          <a:prstGeom prst="rect">
            <a:avLst/>
          </a:prstGeom>
          <a:solidFill>
            <a:srgbClr val="004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sk 1 check"/>
          <p:cNvSpPr txBox="1"/>
          <p:nvPr/>
        </p:nvSpPr>
        <p:spPr>
          <a:xfrm>
            <a:off x="777240" y="14996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Ask 1 text"/>
          <p:cNvSpPr txBox="1"/>
          <p:nvPr/>
        </p:nvSpPr>
        <p:spPr>
          <a:xfrm>
            <a:off x="1508760" y="1280160"/>
            <a:ext cx="10058400" cy="932688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6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Adopt one meeting cadence for all projects in place of cost-based size tiers.</a:t>
            </a:r>
          </a:p>
        </p:txBody>
      </p:sp>
      <p:sp>
        <p:nvSpPr>
          <p:cNvPr id="9" name="Ask 2 box"/>
          <p:cNvSpPr/>
          <p:nvPr/>
        </p:nvSpPr>
        <p:spPr>
          <a:xfrm>
            <a:off x="411480" y="2359152"/>
            <a:ext cx="11365992" cy="932688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sk 2 accent"/>
          <p:cNvSpPr/>
          <p:nvPr/>
        </p:nvSpPr>
        <p:spPr>
          <a:xfrm>
            <a:off x="411480" y="2359152"/>
            <a:ext cx="73152" cy="932688"/>
          </a:xfrm>
          <a:prstGeom prst="rect">
            <a:avLst/>
          </a:prstGeom>
          <a:solidFill>
            <a:srgbClr val="00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sk 2 check box"/>
          <p:cNvSpPr/>
          <p:nvPr/>
        </p:nvSpPr>
        <p:spPr>
          <a:xfrm>
            <a:off x="777240" y="2578608"/>
            <a:ext cx="502920" cy="502920"/>
          </a:xfrm>
          <a:prstGeom prst="rect">
            <a:avLst/>
          </a:prstGeom>
          <a:solidFill>
            <a:srgbClr val="004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sk 2 check"/>
          <p:cNvSpPr txBox="1"/>
          <p:nvPr/>
        </p:nvSpPr>
        <p:spPr>
          <a:xfrm>
            <a:off x="777240" y="25786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Ask 2 text"/>
          <p:cNvSpPr txBox="1"/>
          <p:nvPr/>
        </p:nvSpPr>
        <p:spPr>
          <a:xfrm>
            <a:off x="1508760" y="2359152"/>
            <a:ext cx="10058400" cy="932688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6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Approve the two recurring meetings and their required attendees.</a:t>
            </a:r>
          </a:p>
        </p:txBody>
      </p:sp>
      <p:sp>
        <p:nvSpPr>
          <p:cNvPr id="14" name="Ask 3 box"/>
          <p:cNvSpPr/>
          <p:nvPr/>
        </p:nvSpPr>
        <p:spPr>
          <a:xfrm>
            <a:off x="411480" y="3438144"/>
            <a:ext cx="11365992" cy="932688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sk 3 accent"/>
          <p:cNvSpPr/>
          <p:nvPr/>
        </p:nvSpPr>
        <p:spPr>
          <a:xfrm>
            <a:off x="411480" y="3438144"/>
            <a:ext cx="73152" cy="932688"/>
          </a:xfrm>
          <a:prstGeom prst="rect">
            <a:avLst/>
          </a:prstGeom>
          <a:solidFill>
            <a:srgbClr val="00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sk 3 check box"/>
          <p:cNvSpPr/>
          <p:nvPr/>
        </p:nvSpPr>
        <p:spPr>
          <a:xfrm>
            <a:off x="777240" y="3657600"/>
            <a:ext cx="502920" cy="502920"/>
          </a:xfrm>
          <a:prstGeom prst="rect">
            <a:avLst/>
          </a:prstGeom>
          <a:solidFill>
            <a:srgbClr val="004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sk 3 check"/>
          <p:cNvSpPr txBox="1"/>
          <p:nvPr/>
        </p:nvSpPr>
        <p:spPr>
          <a:xfrm>
            <a:off x="777240" y="36576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Ask 3 text"/>
          <p:cNvSpPr txBox="1"/>
          <p:nvPr/>
        </p:nvSpPr>
        <p:spPr>
          <a:xfrm>
            <a:off x="1508760" y="3438144"/>
            <a:ext cx="10058400" cy="932688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6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Accept 1,872 recurring attendee-hours ($760,800 capacity value released) as a directional estimate.</a:t>
            </a:r>
          </a:p>
        </p:txBody>
      </p:sp>
      <p:sp>
        <p:nvSpPr>
          <p:cNvPr id="19" name="Ask 4 box"/>
          <p:cNvSpPr/>
          <p:nvPr/>
        </p:nvSpPr>
        <p:spPr>
          <a:xfrm>
            <a:off x="411480" y="4517136"/>
            <a:ext cx="11365992" cy="932688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sk 4 accent"/>
          <p:cNvSpPr/>
          <p:nvPr/>
        </p:nvSpPr>
        <p:spPr>
          <a:xfrm>
            <a:off x="411480" y="4517136"/>
            <a:ext cx="73152" cy="932688"/>
          </a:xfrm>
          <a:prstGeom prst="rect">
            <a:avLst/>
          </a:prstGeom>
          <a:solidFill>
            <a:srgbClr val="00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sk 4 check box"/>
          <p:cNvSpPr/>
          <p:nvPr/>
        </p:nvSpPr>
        <p:spPr>
          <a:xfrm>
            <a:off x="777240" y="4736592"/>
            <a:ext cx="502920" cy="502920"/>
          </a:xfrm>
          <a:prstGeom prst="rect">
            <a:avLst/>
          </a:prstGeom>
          <a:solidFill>
            <a:srgbClr val="004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sk 4 check"/>
          <p:cNvSpPr txBox="1"/>
          <p:nvPr/>
        </p:nvSpPr>
        <p:spPr>
          <a:xfrm>
            <a:off x="777240" y="47365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3" name="Ask 4 text"/>
          <p:cNvSpPr txBox="1"/>
          <p:nvPr/>
        </p:nvSpPr>
        <p:spPr>
          <a:xfrm>
            <a:off x="1508760" y="4517136"/>
            <a:ext cx="10058400" cy="932688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l">
              <a:buNone/>
            </a:pPr>
            <a:r>
              <a:rPr lang="en-US" sz="1600" b="0" dirty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Review after 90 days; move the Decision Forum to weekly only if decisions back up.</a:t>
            </a:r>
          </a:p>
        </p:txBody>
      </p:sp>
      <p:sp>
        <p:nvSpPr>
          <p:cNvPr id="24" name="Closing bar"/>
          <p:cNvSpPr/>
          <p:nvPr/>
        </p:nvSpPr>
        <p:spPr>
          <a:xfrm>
            <a:off x="411480" y="5715000"/>
            <a:ext cx="11365992" cy="68580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losing line"/>
          <p:cNvSpPr txBox="1"/>
          <p:nvPr/>
        </p:nvSpPr>
        <p:spPr>
          <a:xfrm>
            <a:off x="411480" y="5715000"/>
            <a:ext cx="11365992" cy="685800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noAutofit/>
          </a:bodyPr>
          <a:lstStyle/>
          <a:p>
            <a:pPr marL="0" indent="0" algn="ctr">
              <a:buNone/>
            </a:pPr>
            <a:r>
              <a:rPr lang="en-US" sz="2100" b="1" i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One rhythm.    Fewest people.    Decisions where they belong.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Nationwide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Perreira, Paula</dc:creator>
  <cp:lastModifiedBy>Perreira, Paula</cp:lastModifiedBy>
  <cp:revision>1</cp:revision>
  <dcterms:created xsi:type="dcterms:W3CDTF">2026-10-09T20:29:56Z</dcterms:created>
  <dcterms:modified xsi:type="dcterms:W3CDTF">2026-10-09T20:36:23Z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ea8e88-16c4-4b55-a945-7bd6248db4bf_Enabled">
    <vt:lpwstr>true</vt:lpwstr>
  </property>
  <property fmtid="{D5CDD505-2E9C-101B-9397-08002B2CF9AE}" pid="3" name="MSIP_Label_92ea8e88-16c4-4b55-a945-7bd6248db4bf_SetDate">
    <vt:lpwstr>2026-10-09T20:36:03Z</vt:lpwstr>
  </property>
  <property fmtid="{D5CDD505-2E9C-101B-9397-08002B2CF9AE}" pid="4" name="MSIP_Label_92ea8e88-16c4-4b55-a945-7bd6248db4bf_Method">
    <vt:lpwstr>Standard</vt:lpwstr>
  </property>
  <property fmtid="{D5CDD505-2E9C-101B-9397-08002B2CF9AE}" pid="5" name="MSIP_Label_92ea8e88-16c4-4b55-a945-7bd6248db4bf_Name">
    <vt:lpwstr>Internal</vt:lpwstr>
  </property>
  <property fmtid="{D5CDD505-2E9C-101B-9397-08002B2CF9AE}" pid="6" name="MSIP_Label_92ea8e88-16c4-4b55-a945-7bd6248db4bf_SiteId">
    <vt:lpwstr>22140e4c-d390-45c2-b297-a26c516dc461</vt:lpwstr>
  </property>
  <property fmtid="{D5CDD505-2E9C-101B-9397-08002B2CF9AE}" pid="7" name="MSIP_Label_92ea8e88-16c4-4b55-a945-7bd6248db4bf_ActionId">
    <vt:lpwstr>573a0d9d-858e-41a5-a819-9f40c3a4733c</vt:lpwstr>
  </property>
  <property fmtid="{D5CDD505-2E9C-101B-9397-08002B2CF9AE}" pid="8" name="MSIP_Label_92ea8e88-16c4-4b55-a945-7bd6248db4bf_ContentBits">
    <vt:lpwstr>0</vt:lpwstr>
  </property>
  <property fmtid="{D5CDD505-2E9C-101B-9397-08002B2CF9AE}" pid="9" name="MSIP_Label_92ea8e88-16c4-4b55-a945-7bd6248db4bf_Tag">
    <vt:lpwstr>10, 3, 0, 1</vt:lpwstr>
  </property>
</Properties>
</file>